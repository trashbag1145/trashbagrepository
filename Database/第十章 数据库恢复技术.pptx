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2"/>
  </p:notesMasterIdLst>
  <p:sldIdLst>
    <p:sldId id="541" r:id="rId2"/>
    <p:sldId id="555" r:id="rId3"/>
    <p:sldId id="556" r:id="rId4"/>
    <p:sldId id="557" r:id="rId5"/>
    <p:sldId id="558" r:id="rId6"/>
    <p:sldId id="559" r:id="rId7"/>
    <p:sldId id="560" r:id="rId8"/>
    <p:sldId id="561" r:id="rId9"/>
    <p:sldId id="562" r:id="rId10"/>
    <p:sldId id="563" r:id="rId11"/>
    <p:sldId id="564" r:id="rId12"/>
    <p:sldId id="566" r:id="rId13"/>
    <p:sldId id="567" r:id="rId14"/>
    <p:sldId id="568" r:id="rId15"/>
    <p:sldId id="569" r:id="rId16"/>
    <p:sldId id="572" r:id="rId17"/>
    <p:sldId id="573" r:id="rId18"/>
    <p:sldId id="574" r:id="rId19"/>
    <p:sldId id="575" r:id="rId20"/>
    <p:sldId id="576" r:id="rId21"/>
    <p:sldId id="577" r:id="rId22"/>
    <p:sldId id="619" r:id="rId23"/>
    <p:sldId id="578" r:id="rId24"/>
    <p:sldId id="580" r:id="rId25"/>
    <p:sldId id="581" r:id="rId26"/>
    <p:sldId id="582" r:id="rId27"/>
    <p:sldId id="583" r:id="rId28"/>
    <p:sldId id="584" r:id="rId29"/>
    <p:sldId id="587" r:id="rId30"/>
    <p:sldId id="592" r:id="rId31"/>
    <p:sldId id="608" r:id="rId32"/>
    <p:sldId id="609" r:id="rId33"/>
    <p:sldId id="610" r:id="rId34"/>
    <p:sldId id="611" r:id="rId35"/>
    <p:sldId id="612" r:id="rId36"/>
    <p:sldId id="613" r:id="rId37"/>
    <p:sldId id="614" r:id="rId38"/>
    <p:sldId id="615" r:id="rId39"/>
    <p:sldId id="616" r:id="rId40"/>
    <p:sldId id="617" r:id="rId4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130A36"/>
    <a:srgbClr val="79710F"/>
    <a:srgbClr val="EEE6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32" autoAdjust="0"/>
    <p:restoredTop sz="94660"/>
  </p:normalViewPr>
  <p:slideViewPr>
    <p:cSldViewPr>
      <p:cViewPr>
        <p:scale>
          <a:sx n="71" d="100"/>
          <a:sy n="71" d="100"/>
        </p:scale>
        <p:origin x="94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594" y="122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4A27DF30-61AE-BE16-4F5E-234B2C2F20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D2252BD-7000-B185-11AD-3AF4F6AE3E5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8B2E0F0-02CA-9E59-AE7D-8B86A85963FC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2EB51437-CDE4-9F51-4A0C-68EEE40DCDB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ECDC9E72-2783-9D40-18B5-EFFF10F83F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5EE56338-1C60-F6BE-F351-6506E4EB9C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341E501-F2AE-41B4-9412-CFA8E165D6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C743EC09-7D7F-BC98-9A59-6EDFDA9C6E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5C30098-59F8-4F50-AA2D-3F673ED1555C}" type="slidenum">
              <a:rPr lang="en-US" altLang="zh-CN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FF19049-5569-7E81-0B23-CA8592A840D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3537A7CE-9EA5-2CC0-006E-23C0D1FB86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本章介绍关系数据库的查询优化技术</a:t>
            </a:r>
            <a:r>
              <a:rPr lang="en-US" altLang="zh-CN"/>
              <a:t>.</a:t>
            </a:r>
            <a:r>
              <a:rPr lang="zh-CN" altLang="en-US"/>
              <a:t>为此首先介绍</a:t>
            </a:r>
            <a:r>
              <a:rPr lang="en-US" altLang="zh-CN"/>
              <a:t>RDBMS</a:t>
            </a:r>
            <a:r>
              <a:rPr lang="zh-CN" altLang="en-US"/>
              <a:t>的查询处理步骤</a:t>
            </a:r>
            <a:r>
              <a:rPr lang="en-US" altLang="zh-CN"/>
              <a:t>,</a:t>
            </a:r>
            <a:r>
              <a:rPr lang="zh-CN" altLang="en-US"/>
              <a:t>然后接受查询优化技术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16EE77-4324-9CC3-2D35-5396380B77D5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C059318-170B-FD34-4CED-85C30043CA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4046960-9752-2353-C80E-4E4289F20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F980B306-7416-74FA-EC87-FD240F114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ECD1F5F5-3D49-EFB7-B5A1-535603FD53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38355EF-48E8-50FD-E8CF-73954047E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2D584EB-E9D0-77CA-6F8F-A2AB92688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A4BBDB15-841D-E279-E02F-3AEB5EE08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AEF8E09C-64BD-6852-509C-F29237874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5C041C4A-3E78-F9EA-0061-82CC0D2FC84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32974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974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3BC62EBD-6831-1EA8-EC10-2D5F5361EA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8ED5B55-CE30-0228-1F8A-C020A1BFC8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715000" y="61722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7AD0A28B-DFA2-E7BD-5A7B-84BBDADD23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1CDC8CA-C702-4674-A13D-6D4BA45E11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847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A28D9F7-FBC0-E8D7-7B06-F5736CDA7D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D47728F-5B85-31C7-FE9A-627D235735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410631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F1FB9C4-5939-7FF0-DED8-373A4AD46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7C8FE5A-D808-5B9E-658B-6CB648DA08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999325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3DBE3C7-89D1-2036-E543-A731C260BD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F081AAE-6BEB-692F-4710-CFC316FFFE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39275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28F4AD5-06EB-A8E0-7E3B-101ECED79F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B35475D5-BF70-777B-A23A-15C8E58864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40488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895DBFF-B0E9-18D1-B86D-E184614046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016FC46-F509-F328-8ACD-CBB9432979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1677157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B0C7E66-55A2-F43E-47EA-5EC69F8E91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FD75BAC-DDAD-D6FA-0923-9BF32EDE91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709203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EFB765E-BEF7-25AC-495D-6E1F92D57A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E2200B4-E681-187F-0122-1B8ABEE131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01040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A089C42-6E3E-32CA-8B2F-D7BDE07D1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12723ED-369B-6493-E7BC-5256A89711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421933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FB9022C-EC1E-CD6E-21C5-BE623955AF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478343F-7CC9-821F-19F0-7C6A17806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40426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D0DB303-3A26-0890-FAF2-6B9CC98FA0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F6D8E61-A625-72F5-CCA4-6D28740A4C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815970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3D74E55-F6D7-2A31-670D-A9F2BB3406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190F2E46-445C-F626-EA5D-988295B300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8788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FB22980-3CD5-9C16-4DFA-419C4AA261C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BA54C5E-3A93-B7A6-B879-3748A5E5B52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FB53CAE-F5E4-0521-1D9A-888F944096E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C76D990-9CDD-8282-068D-2517F741495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57E9708-1714-9566-01CD-A32531E1BC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EB1021C-4449-76F2-4E0B-21E04AAF290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3269B659-AE14-83A4-630F-9BC9781CA6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>
              <a:latin typeface="Tahoma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068B4396-9A29-19B3-5F0F-EAA24B3CFB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ADC69712-82C8-3DC0-70C5-1C7C84991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8715" name="Rectangle 11">
            <a:extLst>
              <a:ext uri="{FF2B5EF4-FFF2-40B4-BE49-F238E27FC236}">
                <a16:creationId xmlns:a16="http://schemas.microsoft.com/office/drawing/2014/main" id="{DDE2C719-036F-DC85-0573-D45591C8CFC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8716" name="Rectangle 12">
            <a:extLst>
              <a:ext uri="{FF2B5EF4-FFF2-40B4-BE49-F238E27FC236}">
                <a16:creationId xmlns:a16="http://schemas.microsoft.com/office/drawing/2014/main" id="{9C5130B8-CD65-FB10-15FD-FBD00C53E90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62600" y="6165850"/>
            <a:ext cx="3201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chemeClr val="hlink"/>
                </a:solidFill>
                <a:latin typeface="Principals of Database System"/>
              </a:defRPr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仿宋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页脚占位符 4">
            <a:extLst>
              <a:ext uri="{FF2B5EF4-FFF2-40B4-BE49-F238E27FC236}">
                <a16:creationId xmlns:a16="http://schemas.microsoft.com/office/drawing/2014/main" id="{7B6999BE-4F11-8B70-ECF3-F3D5F07E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8463" y="6356350"/>
            <a:ext cx="3665537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5FE80FB-12D0-EBFD-D204-82D3525BC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990600"/>
            <a:ext cx="79248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b="1">
                <a:latin typeface="Arial Black" panose="020B0A04020102020204" pitchFamily="34" charset="0"/>
                <a:ea typeface="隶书" panose="02010509060101010101" pitchFamily="49" charset="-122"/>
              </a:rPr>
              <a:t>数据库系统概论</a:t>
            </a:r>
            <a:endParaRPr lang="zh-CN" altLang="en-US" sz="4800" b="1">
              <a:latin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Times New Roman" panose="02020603050405020304" pitchFamily="18" charset="0"/>
              </a:rPr>
              <a:t>An Introduction to Database System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 b="1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第十七讲 数据库恢复技术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页脚占位符 4">
            <a:extLst>
              <a:ext uri="{FF2B5EF4-FFF2-40B4-BE49-F238E27FC236}">
                <a16:creationId xmlns:a16="http://schemas.microsoft.com/office/drawing/2014/main" id="{1722F09E-F6E2-8B69-72D2-810CEDC54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3800" y="6165850"/>
            <a:ext cx="37607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77799BF-71F1-C41C-F293-4426A986A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一、什么是事务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0AC53BDD-EAF5-DA49-818B-36B84A04E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事务</a:t>
            </a:r>
            <a:r>
              <a:rPr lang="en-US" altLang="zh-CN" sz="2800"/>
              <a:t>(Transaction)</a:t>
            </a:r>
            <a:r>
              <a:rPr lang="zh-CN" altLang="en-US" sz="2800"/>
              <a:t>是用户定义的一个数据库操作序列，这些操作要么全做，要么全不做，是一个不可分割的工作单位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事务和程序是两个概念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在关系数据库中，一个事务可以是一条</a:t>
            </a:r>
            <a:r>
              <a:rPr lang="en-US" altLang="zh-CN" sz="2400"/>
              <a:t>SQL</a:t>
            </a:r>
            <a:r>
              <a:rPr lang="zh-CN" altLang="en-US" sz="2400"/>
              <a:t>语句，一组</a:t>
            </a:r>
            <a:r>
              <a:rPr lang="en-US" altLang="zh-CN" sz="2400"/>
              <a:t>SQL</a:t>
            </a:r>
            <a:r>
              <a:rPr lang="zh-CN" altLang="en-US" sz="2400"/>
              <a:t>语句或整个程序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一个应用程序通常包含多个事务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r>
              <a:rPr lang="zh-CN" altLang="en-US" sz="2800">
                <a:solidFill>
                  <a:srgbClr val="FF0000"/>
                </a:solidFill>
              </a:rPr>
              <a:t>事务</a:t>
            </a:r>
            <a:r>
              <a:rPr lang="zh-CN" altLang="en-US" sz="2800"/>
              <a:t>是恢复和并发控制的基本单位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页脚占位符 4">
            <a:extLst>
              <a:ext uri="{FF2B5EF4-FFF2-40B4-BE49-F238E27FC236}">
                <a16:creationId xmlns:a16="http://schemas.microsoft.com/office/drawing/2014/main" id="{9BA2F3A1-C15E-841C-C162-45E27A9E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165850"/>
            <a:ext cx="39766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AFA0F9F1-0D01-BA68-39D9-81F960E719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二、事务的特性</a:t>
            </a:r>
            <a:r>
              <a:rPr lang="en-US" altLang="zh-CN"/>
              <a:t>(ACID</a:t>
            </a:r>
            <a:r>
              <a:rPr lang="zh-CN" altLang="en-US"/>
              <a:t>特性</a:t>
            </a:r>
            <a:r>
              <a:rPr lang="en-US" altLang="zh-CN"/>
              <a:t>)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3664CB6-2FF7-D2DF-DA6F-579A6437ED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65175" indent="-485775" eaLnBrk="1" hangingPunct="1">
              <a:buFont typeface="Wingdings" panose="05000000000000000000" pitchFamily="2" charset="2"/>
              <a:buNone/>
            </a:pPr>
            <a:r>
              <a:rPr lang="zh-CN" altLang="en-US" sz="3600"/>
              <a:t>事务的</a:t>
            </a:r>
            <a:r>
              <a:rPr lang="en-US" altLang="zh-CN" sz="3600"/>
              <a:t>ACID</a:t>
            </a:r>
            <a:r>
              <a:rPr lang="zh-CN" altLang="en-US" sz="3600"/>
              <a:t>特性：</a:t>
            </a:r>
          </a:p>
          <a:p>
            <a:pPr marL="765175" indent="-485775" eaLnBrk="1" hangingPunct="1">
              <a:lnSpc>
                <a:spcPct val="130000"/>
              </a:lnSpc>
            </a:pPr>
            <a:r>
              <a:rPr lang="zh-CN" altLang="en-US"/>
              <a:t>原子性（</a:t>
            </a:r>
            <a:r>
              <a:rPr lang="en-US" altLang="zh-CN"/>
              <a:t>Atomicity</a:t>
            </a:r>
            <a:r>
              <a:rPr lang="zh-CN" altLang="en-US"/>
              <a:t>）</a:t>
            </a:r>
          </a:p>
          <a:p>
            <a:pPr marL="765175" indent="-485775" eaLnBrk="1" hangingPunct="1">
              <a:lnSpc>
                <a:spcPct val="130000"/>
              </a:lnSpc>
            </a:pPr>
            <a:r>
              <a:rPr lang="zh-CN" altLang="en-US"/>
              <a:t>一致性（</a:t>
            </a:r>
            <a:r>
              <a:rPr lang="en-US" altLang="zh-CN"/>
              <a:t>Consistency</a:t>
            </a:r>
            <a:r>
              <a:rPr lang="zh-CN" altLang="en-US"/>
              <a:t>）</a:t>
            </a:r>
          </a:p>
          <a:p>
            <a:pPr marL="765175" indent="-485775" eaLnBrk="1" hangingPunct="1">
              <a:lnSpc>
                <a:spcPct val="130000"/>
              </a:lnSpc>
            </a:pPr>
            <a:r>
              <a:rPr lang="zh-CN" altLang="en-US"/>
              <a:t>隔离性（</a:t>
            </a:r>
            <a:r>
              <a:rPr lang="en-US" altLang="zh-CN"/>
              <a:t>Isolation</a:t>
            </a:r>
            <a:r>
              <a:rPr lang="zh-CN" altLang="en-US"/>
              <a:t>）</a:t>
            </a:r>
          </a:p>
          <a:p>
            <a:pPr marL="765175" indent="-485775" eaLnBrk="1" hangingPunct="1">
              <a:lnSpc>
                <a:spcPct val="130000"/>
              </a:lnSpc>
            </a:pPr>
            <a:r>
              <a:rPr lang="zh-CN" altLang="en-US"/>
              <a:t>持续性（</a:t>
            </a:r>
            <a:r>
              <a:rPr lang="en-US" altLang="zh-CN"/>
              <a:t>Durability </a:t>
            </a:r>
            <a:r>
              <a:rPr lang="zh-CN" altLang="en-US"/>
              <a:t>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页脚占位符 4">
            <a:extLst>
              <a:ext uri="{FF2B5EF4-FFF2-40B4-BE49-F238E27FC236}">
                <a16:creationId xmlns:a16="http://schemas.microsoft.com/office/drawing/2014/main" id="{4E2D6E1E-552B-DC30-007E-1ED96CB7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338" y="6165850"/>
            <a:ext cx="390525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E8B9D213-923D-6ED0-8474-FFC55B9B80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10.3  </a:t>
            </a:r>
            <a:r>
              <a:rPr lang="zh-CN" altLang="en-US"/>
              <a:t>故障的种类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1B40593-2FAA-56E6-2B0E-56FCC9876C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600"/>
              <a:t>事务故障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3600"/>
              <a:t>系统故障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3600"/>
              <a:t>介质故障</a:t>
            </a:r>
            <a:endParaRPr lang="en-US" altLang="zh-CN" sz="3600"/>
          </a:p>
          <a:p>
            <a:pPr eaLnBrk="1" hangingPunct="1">
              <a:lnSpc>
                <a:spcPct val="150000"/>
              </a:lnSpc>
            </a:pPr>
            <a:r>
              <a:rPr lang="zh-CN" altLang="en-US" sz="3600"/>
              <a:t>计算机病毒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页脚占位符 4">
            <a:extLst>
              <a:ext uri="{FF2B5EF4-FFF2-40B4-BE49-F238E27FC236}">
                <a16:creationId xmlns:a16="http://schemas.microsoft.com/office/drawing/2014/main" id="{798629BB-227A-1FC2-949A-DECBBE9D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165850"/>
            <a:ext cx="35448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2434DCA7-6ADC-C0CB-A261-F6868987A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一、事务故障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53AA6E4A-1E31-ABD8-9435-E798722CDE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什么是事务故障</a:t>
            </a:r>
            <a:endParaRPr lang="zh-CN" altLang="en-US" sz="2800"/>
          </a:p>
          <a:p>
            <a:pPr lvl="1" eaLnBrk="1" hangingPunct="1"/>
            <a:r>
              <a:rPr lang="zh-CN" altLang="en-US"/>
              <a:t>某个事务在运行过程中由于种种原因未运行至正常终止点就夭折了</a:t>
            </a:r>
          </a:p>
          <a:p>
            <a:pPr eaLnBrk="1" hangingPunct="1"/>
            <a:r>
              <a:rPr lang="zh-CN" altLang="en-US" sz="3600"/>
              <a:t>事务故障的恢复</a:t>
            </a:r>
            <a:endParaRPr lang="zh-CN" altLang="en-US" sz="2800"/>
          </a:p>
          <a:p>
            <a:pPr lvl="1" eaLnBrk="1" hangingPunct="1"/>
            <a:r>
              <a:rPr lang="zh-CN" altLang="en-US"/>
              <a:t>发生事务故障时，夭折的事务可能已把对数据库的部分修改写回磁盘</a:t>
            </a:r>
          </a:p>
          <a:p>
            <a:pPr lvl="1" eaLnBrk="1" hangingPunct="1">
              <a:spcBef>
                <a:spcPct val="50000"/>
              </a:spcBef>
            </a:pPr>
            <a:r>
              <a:rPr lang="zh-CN" altLang="en-US"/>
              <a:t>事务故障的恢复：</a:t>
            </a:r>
            <a:r>
              <a:rPr lang="zh-CN" altLang="en-US">
                <a:solidFill>
                  <a:schemeClr val="accent2"/>
                </a:solidFill>
              </a:rPr>
              <a:t>撤消事务（</a:t>
            </a:r>
            <a:r>
              <a:rPr lang="en-US" altLang="zh-CN">
                <a:solidFill>
                  <a:schemeClr val="accent2"/>
                </a:solidFill>
              </a:rPr>
              <a:t>UNDO</a:t>
            </a:r>
            <a:r>
              <a:rPr lang="zh-CN" altLang="en-US">
                <a:solidFill>
                  <a:schemeClr val="accent2"/>
                </a:solidFill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页脚占位符 4">
            <a:extLst>
              <a:ext uri="{FF2B5EF4-FFF2-40B4-BE49-F238E27FC236}">
                <a16:creationId xmlns:a16="http://schemas.microsoft.com/office/drawing/2014/main" id="{0CDD0377-A626-AB45-2B3E-275EC8A9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32363" y="6165850"/>
            <a:ext cx="38322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04FD596-05DC-F1C3-C8AF-019EF6517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二、系统故障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CF1C545-8429-3B48-8F8F-86B6C3D79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什么是系统故障</a:t>
            </a:r>
          </a:p>
          <a:p>
            <a:pPr lvl="1" eaLnBrk="1" hangingPunct="1">
              <a:spcBef>
                <a:spcPct val="50000"/>
              </a:spcBef>
            </a:pPr>
            <a:r>
              <a:rPr lang="zh-CN" altLang="en-US"/>
              <a:t>整个系统的正常运行突然被破坏</a:t>
            </a:r>
          </a:p>
          <a:p>
            <a:pPr lvl="1" eaLnBrk="1" hangingPunct="1">
              <a:spcBef>
                <a:spcPct val="50000"/>
              </a:spcBef>
            </a:pPr>
            <a:r>
              <a:rPr lang="zh-CN" altLang="en-US"/>
              <a:t>所有正在运行的事务都非正常终止</a:t>
            </a:r>
          </a:p>
          <a:p>
            <a:pPr lvl="1" eaLnBrk="1" hangingPunct="1">
              <a:spcBef>
                <a:spcPct val="50000"/>
              </a:spcBef>
            </a:pPr>
            <a:r>
              <a:rPr lang="zh-CN" altLang="en-US"/>
              <a:t>内存中数据库缓冲区的信息全部丢失</a:t>
            </a:r>
          </a:p>
          <a:p>
            <a:pPr lvl="1" eaLnBrk="1" hangingPunct="1">
              <a:spcBef>
                <a:spcPct val="50000"/>
              </a:spcBef>
            </a:pPr>
            <a:r>
              <a:rPr lang="zh-CN" altLang="en-US"/>
              <a:t>外部存储设备上的数据未受影响</a:t>
            </a:r>
          </a:p>
          <a:p>
            <a:pPr lvl="1" eaLnBrk="1" hangingPunct="1"/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页脚占位符 4">
            <a:extLst>
              <a:ext uri="{FF2B5EF4-FFF2-40B4-BE49-F238E27FC236}">
                <a16:creationId xmlns:a16="http://schemas.microsoft.com/office/drawing/2014/main" id="{5EC5236C-C0A2-717A-CD5F-881CAC34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92725" y="6165850"/>
            <a:ext cx="34718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066A0041-FDB2-3759-0A4D-CF4F0F199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系统故障的恢复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44D3F28-5B32-F571-5F4F-0155077F14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133600"/>
            <a:ext cx="8343900" cy="4114800"/>
          </a:xfrm>
        </p:spPr>
        <p:txBody>
          <a:bodyPr/>
          <a:lstStyle/>
          <a:p>
            <a:pPr eaLnBrk="1" hangingPunct="1"/>
            <a:r>
              <a:rPr lang="en-US" altLang="zh-CN" sz="2800">
                <a:solidFill>
                  <a:schemeClr val="accent2"/>
                </a:solidFill>
              </a:rPr>
              <a:t> </a:t>
            </a:r>
            <a:r>
              <a:rPr lang="zh-CN" altLang="en-US" sz="2800"/>
              <a:t>清除尚未完成的事务对数据库的所有修改</a:t>
            </a:r>
          </a:p>
          <a:p>
            <a:pPr lvl="1" eaLnBrk="1" hangingPunct="1"/>
            <a:r>
              <a:rPr lang="zh-CN" altLang="en-US"/>
              <a:t>系统</a:t>
            </a:r>
            <a:r>
              <a:rPr lang="zh-CN" altLang="en-US">
                <a:solidFill>
                  <a:schemeClr val="accent2"/>
                </a:solidFill>
              </a:rPr>
              <a:t>重新启动时</a:t>
            </a:r>
            <a:r>
              <a:rPr lang="zh-CN" altLang="en-US"/>
              <a:t>，恢复程序要强行撤消（</a:t>
            </a:r>
            <a:r>
              <a:rPr lang="en-US" altLang="zh-CN"/>
              <a:t>UNDO</a:t>
            </a:r>
            <a:r>
              <a:rPr lang="zh-CN" altLang="en-US"/>
              <a:t>）所有未完成事务</a:t>
            </a:r>
            <a:endParaRPr lang="zh-CN" altLang="en-US" sz="2400"/>
          </a:p>
          <a:p>
            <a:pPr eaLnBrk="1" hangingPunct="1"/>
            <a:r>
              <a:rPr lang="zh-CN" altLang="en-US" sz="2800"/>
              <a:t>将缓冲区中已完成事务提交的结果写入数据库</a:t>
            </a:r>
          </a:p>
          <a:p>
            <a:pPr lvl="1" eaLnBrk="1" hangingPunct="1"/>
            <a:r>
              <a:rPr lang="zh-CN" altLang="en-US"/>
              <a:t>系统</a:t>
            </a:r>
            <a:r>
              <a:rPr lang="zh-CN" altLang="en-US">
                <a:solidFill>
                  <a:schemeClr val="accent2"/>
                </a:solidFill>
              </a:rPr>
              <a:t>重新启动时</a:t>
            </a:r>
            <a:r>
              <a:rPr lang="zh-CN" altLang="en-US"/>
              <a:t>，恢复程序需要重做（</a:t>
            </a:r>
            <a:r>
              <a:rPr lang="en-US" altLang="zh-CN"/>
              <a:t>REDO</a:t>
            </a:r>
            <a:r>
              <a:rPr lang="zh-CN" altLang="en-US"/>
              <a:t>）所有已提交的事务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页脚占位符 4">
            <a:extLst>
              <a:ext uri="{FF2B5EF4-FFF2-40B4-BE49-F238E27FC236}">
                <a16:creationId xmlns:a16="http://schemas.microsoft.com/office/drawing/2014/main" id="{98950322-C0CE-1C08-EFC3-F70B56731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32363" y="6165850"/>
            <a:ext cx="38322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73F0BB8-5E11-7462-BCC3-226CACCA72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三、介质故障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EF449519-FFA7-03DF-49AC-A73CDD05A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77724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60000"/>
              </a:spcBef>
            </a:pPr>
            <a:r>
              <a:rPr lang="zh-CN" altLang="en-US"/>
              <a:t>硬件故障使存储在外存中的数据部分丢失或全部丢失</a:t>
            </a:r>
          </a:p>
          <a:p>
            <a:pPr eaLnBrk="1" hangingPunct="1">
              <a:lnSpc>
                <a:spcPct val="110000"/>
              </a:lnSpc>
              <a:spcBef>
                <a:spcPct val="60000"/>
              </a:spcBef>
            </a:pPr>
            <a:r>
              <a:rPr lang="zh-CN" altLang="en-US"/>
              <a:t>介质故障比前两类故障的可能性小得多，但破坏性大得多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页脚占位符 4">
            <a:extLst>
              <a:ext uri="{FF2B5EF4-FFF2-40B4-BE49-F238E27FC236}">
                <a16:creationId xmlns:a16="http://schemas.microsoft.com/office/drawing/2014/main" id="{BA746F4B-40A4-42F0-2037-FFD4613D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165850"/>
            <a:ext cx="39639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14A81EA7-8664-86A0-8C3B-6FC7152169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介质故障的恢复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2FD9AC8-597E-B439-6A64-750AECE52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0413" y="2017713"/>
            <a:ext cx="77724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60000"/>
              </a:spcBef>
            </a:pPr>
            <a:r>
              <a:rPr lang="zh-CN" altLang="en-US">
                <a:solidFill>
                  <a:schemeClr val="accent2"/>
                </a:solidFill>
              </a:rPr>
              <a:t>装入</a:t>
            </a:r>
            <a:r>
              <a:rPr lang="zh-CN" altLang="en-US"/>
              <a:t>数据库发生介质故障前某个时刻的数据</a:t>
            </a:r>
            <a:r>
              <a:rPr lang="zh-CN" altLang="en-US">
                <a:solidFill>
                  <a:schemeClr val="accent2"/>
                </a:solidFill>
              </a:rPr>
              <a:t>副本</a:t>
            </a:r>
            <a:endParaRPr lang="zh-CN" altLang="en-US"/>
          </a:p>
          <a:p>
            <a:pPr eaLnBrk="1" hangingPunct="1">
              <a:lnSpc>
                <a:spcPct val="110000"/>
              </a:lnSpc>
              <a:spcBef>
                <a:spcPct val="60000"/>
              </a:spcBef>
            </a:pPr>
            <a:r>
              <a:rPr lang="zh-CN" altLang="en-US"/>
              <a:t>重做自此时的所有</a:t>
            </a:r>
            <a:r>
              <a:rPr lang="zh-CN" altLang="en-US">
                <a:solidFill>
                  <a:schemeClr val="accent2"/>
                </a:solidFill>
              </a:rPr>
              <a:t>成功事务</a:t>
            </a:r>
            <a:r>
              <a:rPr lang="zh-CN" altLang="en-US"/>
              <a:t>，将这些事务已提交的结果重新记入数据库</a:t>
            </a:r>
          </a:p>
        </p:txBody>
      </p:sp>
      <p:sp>
        <p:nvSpPr>
          <p:cNvPr id="13317" name="Line 4">
            <a:extLst>
              <a:ext uri="{FF2B5EF4-FFF2-40B4-BE49-F238E27FC236}">
                <a16:creationId xmlns:a16="http://schemas.microsoft.com/office/drawing/2014/main" id="{7C6B2D7E-FA5A-4668-DE63-98E61340F6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5257800"/>
            <a:ext cx="6400800" cy="76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3318" name="Line 5">
            <a:extLst>
              <a:ext uri="{FF2B5EF4-FFF2-40B4-BE49-F238E27FC236}">
                <a16:creationId xmlns:a16="http://schemas.microsoft.com/office/drawing/2014/main" id="{D3A9B8A8-F286-9A98-1E71-90817C7D1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5029200"/>
            <a:ext cx="3276600" cy="76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页脚占位符 4">
            <a:extLst>
              <a:ext uri="{FF2B5EF4-FFF2-40B4-BE49-F238E27FC236}">
                <a16:creationId xmlns:a16="http://schemas.microsoft.com/office/drawing/2014/main" id="{2320F998-DCE9-0986-74E5-BB06DD53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32363" y="6165850"/>
            <a:ext cx="38322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B392D21-74C8-89B3-99E6-40CCF1C330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恢复操作的基本原理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A816527-567C-5DB8-04C8-059051BB5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/>
              <a:t>恢复操作的基本原理：</a:t>
            </a:r>
            <a:r>
              <a:rPr lang="zh-CN" altLang="en-US">
                <a:solidFill>
                  <a:schemeClr val="accent2"/>
                </a:solidFill>
              </a:rPr>
              <a:t>冗余</a:t>
            </a:r>
            <a:endParaRPr lang="zh-CN" altLang="en-US"/>
          </a:p>
          <a:p>
            <a:pPr lvl="1" eaLnBrk="1" hangingPunct="1"/>
            <a:r>
              <a:rPr lang="zh-CN" altLang="en-US">
                <a:solidFill>
                  <a:schemeClr val="accent2"/>
                </a:solidFill>
              </a:rPr>
              <a:t>利用</a:t>
            </a:r>
            <a:r>
              <a:rPr lang="zh-CN" altLang="en-US"/>
              <a:t>存储在系统其它地方的</a:t>
            </a:r>
            <a:r>
              <a:rPr lang="zh-CN" altLang="en-US">
                <a:solidFill>
                  <a:schemeClr val="accent2"/>
                </a:solidFill>
              </a:rPr>
              <a:t>冗余数据</a:t>
            </a:r>
            <a:r>
              <a:rPr lang="zh-CN" altLang="en-US"/>
              <a:t>来</a:t>
            </a:r>
            <a:r>
              <a:rPr lang="zh-CN" altLang="en-US">
                <a:solidFill>
                  <a:schemeClr val="accent2"/>
                </a:solidFill>
              </a:rPr>
              <a:t>重建</a:t>
            </a:r>
            <a:r>
              <a:rPr lang="zh-CN" altLang="en-US"/>
              <a:t>数据库中已被破坏或不正确的那部分数据</a:t>
            </a:r>
            <a:endParaRPr lang="en-US" altLang="zh-CN"/>
          </a:p>
          <a:p>
            <a:pPr lvl="1" eaLnBrk="1" hangingPunct="1"/>
            <a:endParaRPr lang="zh-CN" altLang="en-US"/>
          </a:p>
          <a:p>
            <a:pPr eaLnBrk="1" hangingPunct="1"/>
            <a:r>
              <a:rPr lang="zh-CN" altLang="en-US"/>
              <a:t>恢复的实现技术：复杂</a:t>
            </a:r>
          </a:p>
          <a:p>
            <a:pPr lvl="1" eaLnBrk="1" hangingPunct="1"/>
            <a:r>
              <a:rPr lang="zh-CN" altLang="en-US"/>
              <a:t>一个大型数据库产品，恢复子系统的代码要占全部代码的</a:t>
            </a:r>
            <a:r>
              <a:rPr lang="en-US" altLang="zh-CN"/>
              <a:t>10%</a:t>
            </a:r>
            <a:r>
              <a:rPr lang="zh-CN" altLang="en-US"/>
              <a:t>以上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页脚占位符 4">
            <a:extLst>
              <a:ext uri="{FF2B5EF4-FFF2-40B4-BE49-F238E27FC236}">
                <a16:creationId xmlns:a16="http://schemas.microsoft.com/office/drawing/2014/main" id="{788A2B71-ED24-D277-4E39-2400DF01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165850"/>
            <a:ext cx="39766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AD35FB0F-E743-B7DA-C429-EBE359837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10.4  </a:t>
            </a:r>
            <a:r>
              <a:rPr lang="zh-CN" altLang="en-US"/>
              <a:t>恢复的实现技术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330EAD9C-ED54-25EB-1DDF-DC7A7D9C66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2060575"/>
            <a:ext cx="77724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恢复机制涉及的关键问题</a:t>
            </a:r>
            <a:endParaRPr lang="zh-CN" altLang="en-US" sz="28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1. </a:t>
            </a:r>
            <a:r>
              <a:rPr lang="zh-CN" altLang="en-US"/>
              <a:t>如何建立冗余数据</a:t>
            </a:r>
          </a:p>
          <a:p>
            <a:pPr lvl="2" eaLnBrk="1" hangingPunct="1"/>
            <a:r>
              <a:rPr lang="zh-CN" altLang="en-US" sz="2800"/>
              <a:t>数据转储（</a:t>
            </a:r>
            <a:r>
              <a:rPr lang="en-US" altLang="zh-CN" sz="2800"/>
              <a:t>backup</a:t>
            </a:r>
            <a:r>
              <a:rPr lang="zh-CN" altLang="en-US" sz="2800"/>
              <a:t>备份）</a:t>
            </a:r>
          </a:p>
          <a:p>
            <a:pPr lvl="2" eaLnBrk="1" hangingPunct="1"/>
            <a:r>
              <a:rPr lang="zh-CN" altLang="en-US" sz="2800"/>
              <a:t>登录日志文件（</a:t>
            </a:r>
            <a:r>
              <a:rPr lang="en-US" altLang="zh-CN" sz="2800"/>
              <a:t>logging</a:t>
            </a:r>
            <a:r>
              <a:rPr lang="zh-CN" altLang="en-US" sz="2800"/>
              <a:t>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2. </a:t>
            </a:r>
            <a:r>
              <a:rPr lang="zh-CN" altLang="en-US"/>
              <a:t>如何利用这些冗余数据实施数据库恢复</a:t>
            </a:r>
            <a:endParaRPr lang="zh-CN" altLang="en-US" sz="24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　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页脚占位符 4">
            <a:extLst>
              <a:ext uri="{FF2B5EF4-FFF2-40B4-BE49-F238E27FC236}">
                <a16:creationId xmlns:a16="http://schemas.microsoft.com/office/drawing/2014/main" id="{20D99373-C024-48B4-D780-0BE002024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6825" y="6165850"/>
            <a:ext cx="36877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CEE6AE8-8791-A849-6653-9FD1520CC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转储方法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065B7AF-3202-3364-3FEC-0B4BF76CB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1</a:t>
            </a:r>
            <a:r>
              <a:rPr lang="zh-CN" altLang="en-US"/>
              <a:t>．静态转储与动态转储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2</a:t>
            </a:r>
            <a:r>
              <a:rPr lang="zh-CN" altLang="en-US"/>
              <a:t>．海量转储与增量转储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页脚占位符 4">
            <a:extLst>
              <a:ext uri="{FF2B5EF4-FFF2-40B4-BE49-F238E27FC236}">
                <a16:creationId xmlns:a16="http://schemas.microsoft.com/office/drawing/2014/main" id="{FAE6C42D-ECAF-E295-6C3A-4D4F90D1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6825" y="6165850"/>
            <a:ext cx="36877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1C0E84D-28C5-C27B-5D23-97A8C5A06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</a:t>
            </a:r>
            <a:r>
              <a:rPr lang="zh-CN" altLang="en-US"/>
              <a:t>．静态转储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CEC53C0-17C2-3966-2C8B-F0D13B317F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916113"/>
            <a:ext cx="7775575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在系统中无运行事务时进行转储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转储开始时数据库处于一致性状态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转储期间不允许对数据库的任何存取、修改活动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优点：</a:t>
            </a:r>
            <a:r>
              <a:rPr lang="zh-CN" altLang="en-US"/>
              <a:t>实现简单</a:t>
            </a:r>
          </a:p>
          <a:p>
            <a:pPr eaLnBrk="1" hangingPunct="1"/>
            <a:r>
              <a:rPr lang="zh-CN" altLang="en-US" sz="2800"/>
              <a:t>缺点：</a:t>
            </a:r>
            <a:r>
              <a:rPr lang="zh-CN" altLang="en-US"/>
              <a:t>降低了数据库的可用性</a:t>
            </a:r>
          </a:p>
          <a:p>
            <a:pPr lvl="1" eaLnBrk="1" hangingPunct="1"/>
            <a:r>
              <a:rPr lang="zh-CN" altLang="en-US"/>
              <a:t>转储必须等用户事务结束</a:t>
            </a:r>
          </a:p>
          <a:p>
            <a:pPr lvl="1" eaLnBrk="1" hangingPunct="1"/>
            <a:r>
              <a:rPr lang="zh-CN" altLang="en-US"/>
              <a:t>新的事务必须等转储结束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页脚占位符 4">
            <a:extLst>
              <a:ext uri="{FF2B5EF4-FFF2-40B4-BE49-F238E27FC236}">
                <a16:creationId xmlns:a16="http://schemas.microsoft.com/office/drawing/2014/main" id="{376D9F32-5226-E691-2F31-D06DAE73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8263" y="6165850"/>
            <a:ext cx="36163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48A39CEF-8FF0-C45C-C775-865F4318D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动态转储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4E09F019-6D5D-EB0B-BB0E-15C9D79D3D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2017713"/>
            <a:ext cx="8199438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转储操作与用户事务并发进行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转储期间允许对数据库进行存取或修改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优点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/>
              <a:t>不用等待正在运行的用户事务结束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/>
              <a:t>不会影响新事务的运行</a:t>
            </a:r>
            <a:endParaRPr lang="zh-CN" altLang="en-US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动态转储的缺点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/>
              <a:t>不能保证副本中的数据正确有效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页脚占位符 4">
            <a:extLst>
              <a:ext uri="{FF2B5EF4-FFF2-40B4-BE49-F238E27FC236}">
                <a16:creationId xmlns:a16="http://schemas.microsoft.com/office/drawing/2014/main" id="{B5090B19-5FBB-3349-7C2C-DA97CA422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338" y="6165850"/>
            <a:ext cx="390525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65F5D58-D510-33DE-B4F6-947BAB936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动态转储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6DA61AB-4BF0-C068-451A-DC16CD76A9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60000"/>
              </a:spcBef>
            </a:pPr>
            <a:r>
              <a:rPr lang="zh-CN" altLang="en-US"/>
              <a:t>利用动态转储得到的副本进行故障恢复</a:t>
            </a:r>
          </a:p>
          <a:p>
            <a:pPr lvl="1" eaLnBrk="1" hangingPunct="1">
              <a:lnSpc>
                <a:spcPct val="110000"/>
              </a:lnSpc>
              <a:spcBef>
                <a:spcPct val="60000"/>
              </a:spcBef>
            </a:pPr>
            <a:r>
              <a:rPr lang="zh-CN" altLang="en-US" sz="3200"/>
              <a:t>需要把动态转储期间各事务对数据库的修改活动登记下来，建立日志文件</a:t>
            </a:r>
          </a:p>
          <a:p>
            <a:pPr lvl="1" eaLnBrk="1" hangingPunct="1">
              <a:lnSpc>
                <a:spcPct val="110000"/>
              </a:lnSpc>
              <a:spcBef>
                <a:spcPct val="60000"/>
              </a:spcBef>
            </a:pPr>
            <a:r>
              <a:rPr lang="zh-CN" altLang="en-US" sz="3200"/>
              <a:t>后备副本加上日志文件才能把数据库恢复到某一时刻的正确状态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页脚占位符 4">
            <a:extLst>
              <a:ext uri="{FF2B5EF4-FFF2-40B4-BE49-F238E27FC236}">
                <a16:creationId xmlns:a16="http://schemas.microsoft.com/office/drawing/2014/main" id="{FE88FC0E-55F7-DC5C-4E08-E651C1843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6463" y="6165850"/>
            <a:ext cx="40481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45633B0-1E04-32D6-339B-FDBC9C1ECE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</a:t>
            </a:r>
            <a:r>
              <a:rPr lang="zh-CN" altLang="en-US"/>
              <a:t>．海量转储与增量转储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6A8139A8-368F-F07A-DF95-9B1145DE80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海量转储</a:t>
            </a:r>
            <a:r>
              <a:rPr lang="en-US" altLang="zh-CN" sz="2800"/>
              <a:t>: </a:t>
            </a:r>
            <a:r>
              <a:rPr lang="zh-CN" altLang="en-US" sz="2800"/>
              <a:t>每次转储全部数据库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增量转储</a:t>
            </a:r>
            <a:r>
              <a:rPr lang="en-US" altLang="zh-CN" sz="2800"/>
              <a:t>: </a:t>
            </a:r>
            <a:r>
              <a:rPr lang="zh-CN" altLang="en-US" sz="2800"/>
              <a:t>只转储上次海量转储或增量转储后更新过的数据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页脚占位符 4">
            <a:extLst>
              <a:ext uri="{FF2B5EF4-FFF2-40B4-BE49-F238E27FC236}">
                <a16:creationId xmlns:a16="http://schemas.microsoft.com/office/drawing/2014/main" id="{779BB806-026E-3D18-FE36-19B03269A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32363" y="6165850"/>
            <a:ext cx="38322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8593B2F-571C-527D-C3B5-1E2FE7736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</a:t>
            </a:r>
            <a:r>
              <a:rPr lang="zh-CN" altLang="en-US"/>
              <a:t>．转储方法比较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1DF6EE6E-3EE6-48E0-AA07-E84C2A97F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8135938" cy="4114800"/>
          </a:xfrm>
        </p:spPr>
        <p:txBody>
          <a:bodyPr/>
          <a:lstStyle/>
          <a:p>
            <a:pPr eaLnBrk="1" hangingPunct="1"/>
            <a:r>
              <a:rPr lang="zh-CN" altLang="en-US" sz="2800"/>
              <a:t>海量转储与增量转储比较</a:t>
            </a:r>
          </a:p>
          <a:p>
            <a:pPr lvl="1" eaLnBrk="1" hangingPunct="1"/>
            <a:r>
              <a:rPr lang="zh-CN" altLang="en-US"/>
              <a:t>从恢复角度看，使用海量转储得到的后备副本进行恢复往往更方便</a:t>
            </a:r>
          </a:p>
          <a:p>
            <a:pPr lvl="1" eaLnBrk="1" hangingPunct="1"/>
            <a:r>
              <a:rPr lang="zh-CN" altLang="en-US"/>
              <a:t>但如果数据库很大，事务处理又十分频繁，则增量转储方式更实用更有效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页脚占位符 4">
            <a:extLst>
              <a:ext uri="{FF2B5EF4-FFF2-40B4-BE49-F238E27FC236}">
                <a16:creationId xmlns:a16="http://schemas.microsoft.com/office/drawing/2014/main" id="{61511594-A28D-E286-D6FC-85885FC21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165850"/>
            <a:ext cx="35448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07904717-5810-6BFE-6658-78A91F0B3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转储策略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C52ECCFE-429D-DA37-7B8D-A1EED5D0A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989138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400"/>
              <a:t>应定期进行数据转储，制作后备副本。</a:t>
            </a:r>
          </a:p>
          <a:p>
            <a:pPr eaLnBrk="1" hangingPunct="1">
              <a:spcBef>
                <a:spcPct val="40000"/>
              </a:spcBef>
            </a:pPr>
            <a:r>
              <a:rPr lang="zh-CN" altLang="en-US" sz="2400"/>
              <a:t>但转储又是十分耗费时间和资源的，不能频繁进行。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zh-CN" sz="2400"/>
              <a:t>DBA</a:t>
            </a:r>
            <a:r>
              <a:rPr lang="zh-CN" altLang="en-US" sz="2400"/>
              <a:t>应该根据数据库使用情况确定适当的转储周期和转储方法。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    例：</a:t>
            </a:r>
          </a:p>
          <a:p>
            <a:pPr lvl="1" eaLnBrk="1" hangingPunct="1"/>
            <a:r>
              <a:rPr lang="zh-CN" altLang="en-US" sz="2400"/>
              <a:t>每天晚上进行动态增量转储</a:t>
            </a:r>
          </a:p>
          <a:p>
            <a:pPr lvl="1" eaLnBrk="1" hangingPunct="1"/>
            <a:r>
              <a:rPr lang="zh-CN" altLang="en-US" sz="2400"/>
              <a:t>每周进行一次动态海量转储</a:t>
            </a:r>
          </a:p>
          <a:p>
            <a:pPr lvl="1" eaLnBrk="1" hangingPunct="1"/>
            <a:r>
              <a:rPr lang="zh-CN" altLang="en-US" sz="2400"/>
              <a:t>每月进行一次静态海量转储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页脚占位符 4">
            <a:extLst>
              <a:ext uri="{FF2B5EF4-FFF2-40B4-BE49-F238E27FC236}">
                <a16:creationId xmlns:a16="http://schemas.microsoft.com/office/drawing/2014/main" id="{3C5D8DC8-615D-759F-DF99-A2BC5BD8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165850"/>
            <a:ext cx="35448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209DC72F-0BF7-BD56-239D-66ED2B383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10.4.2  </a:t>
            </a:r>
            <a:r>
              <a:rPr lang="zh-CN" altLang="en-US"/>
              <a:t>登记日志文件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BE6AB35-1B10-8C5B-7006-A4196973B6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accent2"/>
                </a:solidFill>
              </a:rPr>
              <a:t>一、日志文件的内容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/>
              <a:t>二、日志文件的用途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/>
              <a:t>三、登记日志文件的原则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页脚占位符 4">
            <a:extLst>
              <a:ext uri="{FF2B5EF4-FFF2-40B4-BE49-F238E27FC236}">
                <a16:creationId xmlns:a16="http://schemas.microsoft.com/office/drawing/2014/main" id="{13E0C5D9-74B0-A683-8A8E-C2B662AA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62600" y="6165850"/>
            <a:ext cx="3581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069245E-E75A-631C-68A8-C04927600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日志文件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13C464B-3677-CA75-117C-983E66DEA4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017713"/>
            <a:ext cx="8199438" cy="41148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日志是日志记录的序列。日志文件</a:t>
            </a:r>
            <a:r>
              <a:rPr lang="en-US" altLang="zh-CN"/>
              <a:t>(log)</a:t>
            </a:r>
            <a:r>
              <a:rPr lang="zh-CN" altLang="en-US"/>
              <a:t>是用来记录事务对数据库的更新操作的文件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/>
              <a:t>用途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/>
              <a:t>进行事务故障恢复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/>
              <a:t>进行系统故障恢复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/>
              <a:t>协助后备副本进行介质故障恢复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页脚占位符 4">
            <a:extLst>
              <a:ext uri="{FF2B5EF4-FFF2-40B4-BE49-F238E27FC236}">
                <a16:creationId xmlns:a16="http://schemas.microsoft.com/office/drawing/2014/main" id="{4822C687-FDA2-9AF7-64EF-3850056A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165850"/>
            <a:ext cx="39766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26CD190-EF18-05B7-384D-F7CC8A2068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60575"/>
            <a:ext cx="8208963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•</a:t>
            </a:r>
            <a:r>
              <a:rPr lang="en-US" altLang="zh-CN" b="1"/>
              <a:t> undo</a:t>
            </a:r>
            <a:r>
              <a:rPr lang="zh-CN" altLang="en-US"/>
              <a:t>日志保证事务的原子性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•</a:t>
            </a:r>
            <a:r>
              <a:rPr lang="en-US" altLang="zh-CN" b="1"/>
              <a:t> redo</a:t>
            </a:r>
            <a:r>
              <a:rPr lang="zh-CN" altLang="en-US"/>
              <a:t>日志保证事务的持久性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•</a:t>
            </a:r>
            <a:r>
              <a:rPr lang="en-US" altLang="zh-CN" b="1"/>
              <a:t> undo/redo</a:t>
            </a:r>
            <a:r>
              <a:rPr lang="zh-CN" altLang="en-US"/>
              <a:t>日志保证事务的原子性和持久性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FA125EB3-BCF7-FFAC-894D-AF0EB5691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几种类型的日志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BBE894E-D3F5-9272-8D67-E69AAF0F13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日志文件的用途（续）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0F300976-FA43-2614-287A-A4F19DBFE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057400"/>
            <a:ext cx="7481887" cy="46482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000" b="1">
                <a:latin typeface="宋体" panose="02010600030101010101" pitchFamily="2" charset="-122"/>
              </a:rPr>
              <a:t>                                                     		        </a:t>
            </a:r>
            <a:r>
              <a:rPr kumimoji="0" lang="zh-CN" altLang="en-US" sz="1600" b="1">
                <a:latin typeface="宋体" panose="02010600030101010101" pitchFamily="2" charset="-122"/>
              </a:rPr>
              <a:t>故障发生点</a:t>
            </a: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 b="1">
                <a:latin typeface="宋体" panose="02010600030101010101" pitchFamily="2" charset="-122"/>
              </a:rPr>
              <a:t>                  　</a:t>
            </a:r>
            <a:r>
              <a:rPr kumimoji="0" lang="zh-CN" altLang="en-US" sz="1600" b="1">
                <a:latin typeface="宋体" panose="02010600030101010101" pitchFamily="2" charset="-122"/>
              </a:rPr>
              <a:t>静态转储          运行事务           ↓</a:t>
            </a: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600" b="1">
                <a:latin typeface="宋体" panose="02010600030101010101" pitchFamily="2" charset="-122"/>
              </a:rPr>
              <a:t>正常运行  </a:t>
            </a:r>
            <a:r>
              <a:rPr kumimoji="0" lang="zh-CN" altLang="en-US" sz="1800" b="1">
                <a:latin typeface="宋体" panose="02010600030101010101" pitchFamily="2" charset="-122"/>
              </a:rPr>
              <a:t> ─┼──────┼──────────┼──</a:t>
            </a:r>
            <a:endParaRPr kumimoji="0" lang="zh-CN" altLang="en-US" sz="1600" b="1">
              <a:latin typeface="宋体" panose="02010600030101010101" pitchFamily="2" charset="-122"/>
            </a:endParaRP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600" b="1">
                <a:latin typeface="宋体" panose="02010600030101010101" pitchFamily="2" charset="-122"/>
              </a:rPr>
              <a:t>             </a:t>
            </a:r>
            <a:r>
              <a:rPr kumimoji="0" lang="en-US" altLang="zh-CN" sz="1600" b="1">
                <a:latin typeface="宋体" panose="02010600030101010101" pitchFamily="2" charset="-122"/>
              </a:rPr>
              <a:t>Ta        　　　Tb                        Tf</a:t>
            </a: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 b="1">
                <a:latin typeface="宋体" panose="02010600030101010101" pitchFamily="2" charset="-122"/>
              </a:rPr>
              <a:t>                                  </a:t>
            </a:r>
            <a:r>
              <a:rPr kumimoji="0" lang="zh-CN" altLang="en-US" sz="1600" b="1">
                <a:latin typeface="宋体" panose="02010600030101010101" pitchFamily="2" charset="-122"/>
              </a:rPr>
              <a:t>登记日志文件</a:t>
            </a: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600" b="1">
                <a:latin typeface="宋体" panose="02010600030101010101" pitchFamily="2" charset="-122"/>
              </a:rPr>
              <a:t>                              └───────────</a:t>
            </a:r>
            <a:r>
              <a:rPr kumimoji="0" lang="zh-CN" altLang="en-US" sz="1400" b="1">
                <a:latin typeface="宋体" panose="02010600030101010101" pitchFamily="2" charset="-122"/>
              </a:rPr>
              <a:t>┴</a:t>
            </a:r>
            <a:r>
              <a:rPr kumimoji="0" lang="zh-CN" altLang="en-US" sz="1600" b="1">
                <a:latin typeface="宋体" panose="02010600030101010101" pitchFamily="2" charset="-122"/>
              </a:rPr>
              <a:t>──</a:t>
            </a: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400" b="1">
              <a:latin typeface="宋体" panose="02010600030101010101" pitchFamily="2" charset="-122"/>
            </a:endParaRP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 b="1">
                <a:latin typeface="宋体" panose="02010600030101010101" pitchFamily="2" charset="-122"/>
              </a:rPr>
              <a:t>                  </a:t>
            </a:r>
            <a:r>
              <a:rPr kumimoji="0" lang="zh-CN" altLang="en-US" sz="1600" b="1">
                <a:latin typeface="宋体" panose="02010600030101010101" pitchFamily="2" charset="-122"/>
              </a:rPr>
              <a:t>重装后备副本   利用日志文件恢复事务     继续运行</a:t>
            </a:r>
            <a:endParaRPr kumimoji="0" lang="zh-CN" altLang="en-US" sz="1400" b="1">
              <a:latin typeface="宋体" panose="02010600030101010101" pitchFamily="2" charset="-122"/>
            </a:endParaRP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600" b="1">
                <a:latin typeface="宋体" panose="02010600030101010101" pitchFamily="2" charset="-122"/>
              </a:rPr>
              <a:t>介质故障恢复</a:t>
            </a:r>
            <a:r>
              <a:rPr kumimoji="0" lang="zh-CN" altLang="en-US" sz="1400" b="1">
                <a:latin typeface="宋体" panose="02010600030101010101" pitchFamily="2" charset="-122"/>
              </a:rPr>
              <a:t> ─────────┴－－－－－</a:t>
            </a:r>
            <a:r>
              <a:rPr kumimoji="0" lang="zh-CN" altLang="en-US" sz="1600" b="1">
                <a:latin typeface="宋体" panose="02010600030101010101" pitchFamily="2" charset="-122"/>
              </a:rPr>
              <a:t>─</a:t>
            </a:r>
            <a:r>
              <a:rPr kumimoji="0" lang="zh-CN" altLang="en-US" sz="1400" b="1">
                <a:latin typeface="宋体" panose="02010600030101010101" pitchFamily="2" charset="-122"/>
              </a:rPr>
              <a:t>－－－－－－－┴──────</a:t>
            </a: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 b="1">
                <a:latin typeface="宋体" panose="02010600030101010101" pitchFamily="2" charset="-122"/>
              </a:rPr>
              <a:t>                                                                </a:t>
            </a:r>
            <a:r>
              <a:rPr kumimoji="0" lang="zh-CN" altLang="en-US" sz="1600" b="1">
                <a:latin typeface="宋体" panose="02010600030101010101" pitchFamily="2" charset="-122"/>
              </a:rPr>
              <a:t>登记日志文件</a:t>
            </a:r>
            <a:endParaRPr kumimoji="0" lang="zh-CN" altLang="en-US" sz="1400" b="1">
              <a:latin typeface="宋体" panose="02010600030101010101" pitchFamily="2" charset="-122"/>
            </a:endParaRPr>
          </a:p>
          <a:p>
            <a:pPr algn="just">
              <a:lnSpc>
                <a:spcPct val="1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400" b="1">
                <a:latin typeface="宋体" panose="02010600030101010101" pitchFamily="2" charset="-122"/>
              </a:rPr>
              <a:t>                                                              └──────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页脚占位符 4">
            <a:extLst>
              <a:ext uri="{FF2B5EF4-FFF2-40B4-BE49-F238E27FC236}">
                <a16:creationId xmlns:a16="http://schemas.microsoft.com/office/drawing/2014/main" id="{CF025EAD-3FEE-EF33-64F8-B02966F9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3800" y="6165850"/>
            <a:ext cx="37607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F36292DD-8872-C7EC-152E-99ABB98F4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登记日志文件的原则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C249136E-D3D4-19C4-3818-9C241DB71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916113"/>
            <a:ext cx="8420100" cy="41148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/>
              <a:t>为保证数据库是可恢复的，登记日志文件时必须遵循两条原则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/>
              <a:t>登记的次序严格按并行事务执行的时间次序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/>
              <a:t>必须先写日志文件，后写数据库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/>
              <a:t>写日志文件操作：把表示这个修改的日志记录</a:t>
            </a: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  写到日志文件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/>
              <a:t>写数据库操作：把对数据的修改写到数据库中</a:t>
            </a:r>
          </a:p>
          <a:p>
            <a:pPr lvl="1" eaLnBrk="1" hangingPunct="1"/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页脚占位符 4">
            <a:extLst>
              <a:ext uri="{FF2B5EF4-FFF2-40B4-BE49-F238E27FC236}">
                <a16:creationId xmlns:a16="http://schemas.microsoft.com/office/drawing/2014/main" id="{279E4795-CAF6-6991-6B54-BC9F576FC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32363" y="6165850"/>
            <a:ext cx="38322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7FB5442-D5D2-4DD2-AA7C-5E6D4CACC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10.5  </a:t>
            </a:r>
            <a:r>
              <a:rPr lang="zh-CN" altLang="en-US"/>
              <a:t>恢复策略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46CA39B-2A62-7006-6F6D-7772FD774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2"/>
                </a:solidFill>
              </a:rPr>
              <a:t>10.5.1  </a:t>
            </a:r>
            <a:r>
              <a:rPr lang="zh-CN" altLang="en-US">
                <a:solidFill>
                  <a:schemeClr val="accent2"/>
                </a:solidFill>
              </a:rPr>
              <a:t>事务故障的恢复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10.5.2  </a:t>
            </a:r>
            <a:r>
              <a:rPr lang="zh-CN" altLang="en-US"/>
              <a:t>系统故障的恢复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10.5.3  </a:t>
            </a:r>
            <a:r>
              <a:rPr lang="zh-CN" altLang="en-US"/>
              <a:t>介质故障的恢复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页脚占位符 4">
            <a:extLst>
              <a:ext uri="{FF2B5EF4-FFF2-40B4-BE49-F238E27FC236}">
                <a16:creationId xmlns:a16="http://schemas.microsoft.com/office/drawing/2014/main" id="{5574BC6E-EFDE-DFF8-03FA-4B52215A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8263" y="6165850"/>
            <a:ext cx="36163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DC998FF-6E8C-36AF-057C-5103A9F1D8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10.5.1  </a:t>
            </a:r>
            <a:r>
              <a:rPr lang="zh-CN" altLang="en-US"/>
              <a:t>事务故障的恢复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C46C82C2-8303-B9D7-4A0F-6ECCB522F4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7772400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/>
              <a:t>事务故障：事务在运行至正常终止点前被中止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/>
              <a:t>恢复方法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由恢复子系统应利用日志文件撤消（</a:t>
            </a:r>
            <a:r>
              <a:rPr lang="en-US" altLang="zh-CN"/>
              <a:t>UNDO</a:t>
            </a:r>
            <a:r>
              <a:rPr lang="zh-CN" altLang="en-US"/>
              <a:t>）此事务已对数据库进行的修改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/>
              <a:t>事务故障的恢复由系统自动完成，不需要用户干预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页脚占位符 4">
            <a:extLst>
              <a:ext uri="{FF2B5EF4-FFF2-40B4-BE49-F238E27FC236}">
                <a16:creationId xmlns:a16="http://schemas.microsoft.com/office/drawing/2014/main" id="{A758B24E-881D-D9F4-2795-CB3E0F1C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8263" y="6165850"/>
            <a:ext cx="36163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B124F00B-D0A1-6025-2304-742E1EC6A4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事务故障的恢复步骤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E20267C4-AB20-3ACD-37FB-775041679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906588"/>
            <a:ext cx="7772400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1. </a:t>
            </a:r>
            <a:r>
              <a:rPr lang="zh-CN" altLang="en-US" sz="2400"/>
              <a:t>反向扫描文件日志（即从最后向前扫描日志文件），查找该事务的更新操作。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2. </a:t>
            </a:r>
            <a:r>
              <a:rPr lang="zh-CN" altLang="en-US" sz="2400"/>
              <a:t>对该事务的更新操作执行逆操作。即将日志记录中</a:t>
            </a:r>
            <a:r>
              <a:rPr lang="zh-CN" altLang="en-US" sz="2400">
                <a:latin typeface="Times New Roman" panose="02020603050405020304" pitchFamily="18" charset="0"/>
              </a:rPr>
              <a:t>“</a:t>
            </a:r>
            <a:r>
              <a:rPr lang="zh-CN" altLang="en-US" sz="2400"/>
              <a:t>更新前的值</a:t>
            </a:r>
            <a:r>
              <a:rPr lang="zh-CN" altLang="en-US" sz="2400">
                <a:latin typeface="Times New Roman" panose="02020603050405020304" pitchFamily="18" charset="0"/>
              </a:rPr>
              <a:t>”</a:t>
            </a:r>
            <a:r>
              <a:rPr lang="zh-CN" altLang="en-US" sz="2400"/>
              <a:t>（</a:t>
            </a:r>
            <a:r>
              <a:rPr lang="en-US" altLang="zh-CN" sz="2400"/>
              <a:t>Befor Image, BI</a:t>
            </a:r>
            <a:r>
              <a:rPr lang="zh-CN" altLang="en-US" sz="2400"/>
              <a:t>）写入数据库。</a:t>
            </a:r>
            <a:endParaRPr lang="zh-CN" altLang="en-US" sz="2800"/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/>
              <a:t>插入操作， </a:t>
            </a:r>
            <a:r>
              <a:rPr lang="zh-CN" altLang="en-US" sz="2000">
                <a:latin typeface="Times New Roman" panose="02020603050405020304" pitchFamily="18" charset="0"/>
              </a:rPr>
              <a:t>“</a:t>
            </a:r>
            <a:r>
              <a:rPr lang="zh-CN" altLang="en-US" sz="2000"/>
              <a:t>更新前的值</a:t>
            </a:r>
            <a:r>
              <a:rPr lang="zh-CN" altLang="en-US" sz="2000">
                <a:latin typeface="Times New Roman" panose="02020603050405020304" pitchFamily="18" charset="0"/>
              </a:rPr>
              <a:t>”</a:t>
            </a:r>
            <a:r>
              <a:rPr lang="zh-CN" altLang="en-US" sz="2000"/>
              <a:t>为空，则相当于做删除操作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/>
              <a:t>删除操作，</a:t>
            </a:r>
            <a:r>
              <a:rPr lang="zh-CN" altLang="en-US" sz="2000">
                <a:latin typeface="Times New Roman" panose="02020603050405020304" pitchFamily="18" charset="0"/>
              </a:rPr>
              <a:t>“</a:t>
            </a:r>
            <a:r>
              <a:rPr lang="zh-CN" altLang="en-US" sz="2000"/>
              <a:t>更新后的值</a:t>
            </a:r>
            <a:r>
              <a:rPr lang="zh-CN" altLang="en-US" sz="2000">
                <a:latin typeface="Times New Roman" panose="02020603050405020304" pitchFamily="18" charset="0"/>
              </a:rPr>
              <a:t>”</a:t>
            </a:r>
            <a:r>
              <a:rPr lang="zh-CN" altLang="en-US" sz="2000"/>
              <a:t>为空，则相当于做插入操作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/>
              <a:t>若是修改操作，则用</a:t>
            </a:r>
            <a:r>
              <a:rPr lang="en-US" altLang="zh-CN" sz="2000"/>
              <a:t>BI </a:t>
            </a:r>
            <a:r>
              <a:rPr lang="zh-CN" altLang="en-US" sz="2000"/>
              <a:t>代替 </a:t>
            </a:r>
            <a:r>
              <a:rPr lang="en-US" altLang="zh-CN" sz="2000"/>
              <a:t>AI</a:t>
            </a:r>
            <a:r>
              <a:rPr lang="zh-CN" altLang="en-US" sz="2000"/>
              <a:t>（</a:t>
            </a:r>
            <a:r>
              <a:rPr lang="en-US" altLang="zh-CN" sz="2000"/>
              <a:t>After Image</a:t>
            </a:r>
            <a:r>
              <a:rPr lang="zh-CN" altLang="en-US" sz="2000"/>
              <a:t>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页脚占位符 4">
            <a:extLst>
              <a:ext uri="{FF2B5EF4-FFF2-40B4-BE49-F238E27FC236}">
                <a16:creationId xmlns:a16="http://schemas.microsoft.com/office/drawing/2014/main" id="{07613251-A043-CA83-CD19-4348A8CA4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3800" y="6165850"/>
            <a:ext cx="37607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1050D7F-9B19-617B-9E71-0422E515A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事务故障的恢复步骤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0190331-CAFF-6981-E714-9675A05AAE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017713"/>
            <a:ext cx="8486775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3. </a:t>
            </a:r>
            <a:r>
              <a:rPr lang="zh-CN" altLang="en-US"/>
              <a:t>继续反向扫描日志文件，查找该事务的其他更新操作，并做同样处理。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4. </a:t>
            </a:r>
            <a:r>
              <a:rPr lang="zh-CN" altLang="en-US"/>
              <a:t>如此处理下去，直至读到此事务的开始标记，事务故障恢复就完成了。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页脚占位符 4">
            <a:extLst>
              <a:ext uri="{FF2B5EF4-FFF2-40B4-BE49-F238E27FC236}">
                <a16:creationId xmlns:a16="http://schemas.microsoft.com/office/drawing/2014/main" id="{E479BF95-89CD-BE0D-28FA-9945E2C9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165850"/>
            <a:ext cx="35448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F113B79F-EF64-1950-DCF8-391BE313C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10.5.2  </a:t>
            </a:r>
            <a:r>
              <a:rPr lang="zh-CN" altLang="en-US"/>
              <a:t>系统故障的恢复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E370BB0-519D-F2F4-387E-31D8DA980F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906588"/>
            <a:ext cx="8591550" cy="4114800"/>
          </a:xfrm>
        </p:spPr>
        <p:txBody>
          <a:bodyPr/>
          <a:lstStyle/>
          <a:p>
            <a:pPr eaLnBrk="1" hangingPunct="1"/>
            <a:r>
              <a:rPr lang="zh-CN" altLang="en-US" sz="2800"/>
              <a:t>系统故障造成数据库不一致状态的原因</a:t>
            </a:r>
          </a:p>
          <a:p>
            <a:pPr lvl="1" eaLnBrk="1" hangingPunct="1"/>
            <a:r>
              <a:rPr lang="zh-CN" altLang="en-US"/>
              <a:t>一些未完成事务对数据库的更新已写入数据库</a:t>
            </a:r>
          </a:p>
          <a:p>
            <a:pPr lvl="1" eaLnBrk="1" hangingPunct="1"/>
            <a:r>
              <a:rPr lang="zh-CN" altLang="en-US"/>
              <a:t>一些已提交事务对数据库的更新还留在缓冲区没来得及写入数据库</a:t>
            </a:r>
          </a:p>
          <a:p>
            <a:pPr eaLnBrk="1" hangingPunct="1"/>
            <a:r>
              <a:rPr lang="zh-CN" altLang="en-US" sz="2800">
                <a:solidFill>
                  <a:srgbClr val="FF0000"/>
                </a:solidFill>
              </a:rPr>
              <a:t>恢复方法</a:t>
            </a:r>
          </a:p>
          <a:p>
            <a:pPr lvl="1" eaLnBrk="1" hangingPunct="1"/>
            <a:r>
              <a:rPr lang="en-US" altLang="zh-CN">
                <a:solidFill>
                  <a:srgbClr val="FF0000"/>
                </a:solidFill>
              </a:rPr>
              <a:t>1. Undo </a:t>
            </a:r>
            <a:r>
              <a:rPr lang="zh-CN" altLang="en-US">
                <a:solidFill>
                  <a:srgbClr val="FF0000"/>
                </a:solidFill>
              </a:rPr>
              <a:t>故障发生时未完成的事务</a:t>
            </a:r>
          </a:p>
          <a:p>
            <a:pPr lvl="1" eaLnBrk="1" hangingPunct="1"/>
            <a:r>
              <a:rPr lang="en-US" altLang="zh-CN">
                <a:solidFill>
                  <a:srgbClr val="FF0000"/>
                </a:solidFill>
              </a:rPr>
              <a:t>2. Redo </a:t>
            </a:r>
            <a:r>
              <a:rPr lang="zh-CN" altLang="en-US">
                <a:solidFill>
                  <a:srgbClr val="FF0000"/>
                </a:solidFill>
              </a:rPr>
              <a:t>已完成的事务</a:t>
            </a:r>
          </a:p>
          <a:p>
            <a:pPr eaLnBrk="1" hangingPunct="1"/>
            <a:r>
              <a:rPr lang="zh-CN" altLang="en-US" sz="2800"/>
              <a:t>系统故障的恢复由系统在</a:t>
            </a:r>
            <a:r>
              <a:rPr lang="zh-CN" altLang="en-US" sz="2800" u="sng"/>
              <a:t>重新启动时</a:t>
            </a:r>
            <a:r>
              <a:rPr lang="zh-CN" altLang="en-US" sz="2800"/>
              <a:t>自动完成，不需要用户干预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页脚占位符 4">
            <a:extLst>
              <a:ext uri="{FF2B5EF4-FFF2-40B4-BE49-F238E27FC236}">
                <a16:creationId xmlns:a16="http://schemas.microsoft.com/office/drawing/2014/main" id="{3D6E149A-973E-11CB-6A14-76CE23B8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6825" y="6165850"/>
            <a:ext cx="36877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13B63BEC-9FD7-17F6-7A72-968B54859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10.5.3  </a:t>
            </a:r>
            <a:r>
              <a:rPr lang="zh-CN" altLang="en-US"/>
              <a:t>介质故障的恢复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3E96E41-FF11-D790-671B-B00945BE2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2060575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1. </a:t>
            </a:r>
            <a:r>
              <a:rPr lang="zh-CN" altLang="en-US"/>
              <a:t>重装数据库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    使数据库恢复到一致性状态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2. </a:t>
            </a:r>
            <a:r>
              <a:rPr lang="zh-CN" altLang="en-US"/>
              <a:t>重做已完成的事务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页脚占位符 4">
            <a:extLst>
              <a:ext uri="{FF2B5EF4-FFF2-40B4-BE49-F238E27FC236}">
                <a16:creationId xmlns:a16="http://schemas.microsoft.com/office/drawing/2014/main" id="{6416A898-EB66-A494-4909-1EEEFB8AD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6825" y="6165850"/>
            <a:ext cx="36877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ECAC0F3-671A-E4FC-A0CB-2E1A01BBC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介质故障的恢复（续）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194F0A61-472E-8520-3D3D-6EEFD8274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介质故障的恢复需要</a:t>
            </a:r>
            <a:r>
              <a:rPr lang="en-US" altLang="zh-CN"/>
              <a:t>DBA</a:t>
            </a:r>
            <a:r>
              <a:rPr lang="zh-CN" altLang="en-US"/>
              <a:t>介入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800"/>
              <a:t>DBA</a:t>
            </a:r>
            <a:r>
              <a:rPr lang="zh-CN" altLang="en-US" sz="2800"/>
              <a:t>的工作</a:t>
            </a: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</a:pPr>
            <a:r>
              <a:rPr lang="zh-CN" altLang="en-US"/>
              <a:t>重装最近转储的数据库副本和有关的各日志文件副本</a:t>
            </a: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</a:pPr>
            <a:r>
              <a:rPr lang="zh-CN" altLang="en-US"/>
              <a:t>执行系统提供的恢复命令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</a:pPr>
            <a:r>
              <a:rPr lang="zh-CN" altLang="en-US" sz="2800"/>
              <a:t>具体的恢复操作仍由</a:t>
            </a:r>
            <a:r>
              <a:rPr lang="en-US" altLang="zh-CN" sz="2800"/>
              <a:t>DBMS</a:t>
            </a:r>
            <a:r>
              <a:rPr lang="zh-CN" altLang="en-US" sz="2800"/>
              <a:t>完成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页脚占位符 4">
            <a:extLst>
              <a:ext uri="{FF2B5EF4-FFF2-40B4-BE49-F238E27FC236}">
                <a16:creationId xmlns:a16="http://schemas.microsoft.com/office/drawing/2014/main" id="{8E046EA3-24BB-D550-5422-FA0C329EB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165850"/>
            <a:ext cx="35448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FF4A65C-9B8E-B41B-0FDE-A65060428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第十章  数据库恢复技术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29E1D97-8FC8-7A8C-C155-FB688CD8A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1989138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10.1  </a:t>
            </a:r>
            <a:r>
              <a:rPr lang="zh-CN" altLang="en-US" sz="2800"/>
              <a:t>事务的基本概念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10.2  </a:t>
            </a:r>
            <a:r>
              <a:rPr lang="zh-CN" altLang="en-US" sz="2800"/>
              <a:t>数据库恢复概述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10.3  </a:t>
            </a:r>
            <a:r>
              <a:rPr lang="zh-CN" altLang="en-US" sz="2800"/>
              <a:t>故障的种类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10.4  </a:t>
            </a:r>
            <a:r>
              <a:rPr lang="zh-CN" altLang="en-US" sz="2800"/>
              <a:t>恢复的实现技术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10.5  </a:t>
            </a:r>
            <a:r>
              <a:rPr lang="zh-CN" altLang="en-US" sz="2800"/>
              <a:t>恢复策略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2"/>
                </a:solidFill>
              </a:rPr>
              <a:t>10.6  </a:t>
            </a:r>
            <a:r>
              <a:rPr lang="zh-CN" altLang="en-US" sz="2800">
                <a:solidFill>
                  <a:schemeClr val="accent2"/>
                </a:solidFill>
              </a:rPr>
              <a:t>数据库镜像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10.7  </a:t>
            </a:r>
            <a:r>
              <a:rPr lang="zh-CN" altLang="en-US" sz="2800"/>
              <a:t>小结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页脚占位符 4">
            <a:extLst>
              <a:ext uri="{FF2B5EF4-FFF2-40B4-BE49-F238E27FC236}">
                <a16:creationId xmlns:a16="http://schemas.microsoft.com/office/drawing/2014/main" id="{CD0CDE9B-9ACF-0F87-6928-310788A0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6825" y="6165850"/>
            <a:ext cx="36877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FAFDEE0-4B4B-4478-362D-CA4C03E68F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10.6  </a:t>
            </a:r>
            <a:r>
              <a:rPr lang="zh-CN" altLang="en-US"/>
              <a:t>数据库镜像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48C9AA70-792A-E639-E7B1-676BBDC5E9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017713"/>
            <a:ext cx="8704263" cy="4114800"/>
          </a:xfrm>
        </p:spPr>
        <p:txBody>
          <a:bodyPr/>
          <a:lstStyle/>
          <a:p>
            <a:pPr eaLnBrk="1" hangingPunct="1"/>
            <a:r>
              <a:rPr lang="zh-CN" altLang="en-US" sz="2800"/>
              <a:t>介质故障是对系统影响最为严重的一种故障，严重影响数据库的可用性</a:t>
            </a:r>
          </a:p>
          <a:p>
            <a:pPr lvl="1" eaLnBrk="1" hangingPunct="1"/>
            <a:r>
              <a:rPr lang="zh-CN" altLang="en-US"/>
              <a:t>介质故障恢复比较费时</a:t>
            </a:r>
          </a:p>
          <a:p>
            <a:pPr lvl="1" eaLnBrk="1" hangingPunct="1"/>
            <a:r>
              <a:rPr lang="zh-CN" altLang="en-US"/>
              <a:t>为预防介质故障，</a:t>
            </a:r>
            <a:r>
              <a:rPr lang="en-US" altLang="zh-CN"/>
              <a:t>DBA</a:t>
            </a:r>
            <a:r>
              <a:rPr lang="zh-CN" altLang="en-US"/>
              <a:t>必须周期性地转储数据库</a:t>
            </a:r>
          </a:p>
          <a:p>
            <a:pPr eaLnBrk="1" hangingPunct="1"/>
            <a:endParaRPr lang="zh-CN" altLang="en-US" sz="2800"/>
          </a:p>
          <a:p>
            <a:pPr eaLnBrk="1" hangingPunct="1"/>
            <a:r>
              <a:rPr lang="zh-CN" altLang="en-US" sz="2800"/>
              <a:t>提高数据库可用性的解决方案</a:t>
            </a:r>
          </a:p>
          <a:p>
            <a:pPr lvl="1" eaLnBrk="1" hangingPunct="1"/>
            <a:r>
              <a:rPr lang="zh-CN" altLang="en-US"/>
              <a:t>数据库镜像（</a:t>
            </a:r>
            <a:r>
              <a:rPr lang="en-US" altLang="zh-CN"/>
              <a:t>Mirror</a:t>
            </a:r>
            <a:r>
              <a:rPr lang="zh-CN" altLang="en-US"/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页脚占位符 4">
            <a:extLst>
              <a:ext uri="{FF2B5EF4-FFF2-40B4-BE49-F238E27FC236}">
                <a16:creationId xmlns:a16="http://schemas.microsoft.com/office/drawing/2014/main" id="{9B764ECC-C318-1208-EF05-5A710735F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8263" y="6165850"/>
            <a:ext cx="36163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CB7FEF5A-05C2-316B-ABDE-8CF9B9DEF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数据库镜像（续）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8F74FD6-9813-3E1E-96B4-0735054A4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8415338" cy="4114800"/>
          </a:xfrm>
        </p:spPr>
        <p:txBody>
          <a:bodyPr/>
          <a:lstStyle/>
          <a:p>
            <a:pPr eaLnBrk="1" hangingPunct="1"/>
            <a:r>
              <a:rPr lang="zh-CN" altLang="en-US"/>
              <a:t>数据库镜像</a:t>
            </a:r>
            <a:endParaRPr lang="zh-CN" altLang="en-US" sz="2800"/>
          </a:p>
          <a:p>
            <a:pPr lvl="1" eaLnBrk="1" hangingPunct="1">
              <a:lnSpc>
                <a:spcPct val="130000"/>
              </a:lnSpc>
              <a:spcBef>
                <a:spcPct val="60000"/>
              </a:spcBef>
            </a:pPr>
            <a:r>
              <a:rPr lang="en-US" altLang="zh-CN"/>
              <a:t>DBMS</a:t>
            </a:r>
            <a:r>
              <a:rPr lang="zh-CN" altLang="en-US"/>
              <a:t>自动把整个数据库或其中的关键数据复制到另一个磁盘上</a:t>
            </a:r>
          </a:p>
          <a:p>
            <a:pPr lvl="1" eaLnBrk="1" hangingPunct="1">
              <a:lnSpc>
                <a:spcPct val="130000"/>
              </a:lnSpc>
              <a:spcBef>
                <a:spcPct val="60000"/>
              </a:spcBef>
            </a:pPr>
            <a:r>
              <a:rPr lang="en-US" altLang="zh-CN"/>
              <a:t>DBMS</a:t>
            </a:r>
            <a:r>
              <a:rPr lang="zh-CN" altLang="en-US"/>
              <a:t>自动保证镜像数据与主数据的一致性</a:t>
            </a:r>
            <a:r>
              <a:rPr lang="en-US" altLang="zh-CN"/>
              <a:t>(</a:t>
            </a:r>
            <a:r>
              <a:rPr lang="zh-CN" altLang="en-US"/>
              <a:t>图</a:t>
            </a:r>
            <a:r>
              <a:rPr lang="en-US" altLang="zh-CN"/>
              <a:t>10.5a)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页脚占位符 4">
            <a:extLst>
              <a:ext uri="{FF2B5EF4-FFF2-40B4-BE49-F238E27FC236}">
                <a16:creationId xmlns:a16="http://schemas.microsoft.com/office/drawing/2014/main" id="{6B20126D-D242-848D-44BF-5BA41EA7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6825" y="6165850"/>
            <a:ext cx="36877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814B560-F9CC-692C-DDFB-47178F3FE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数据库镜像的用途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417B3B32-D6A8-128C-CAB2-2DAF1E633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06588"/>
            <a:ext cx="8218487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/>
              <a:t>出现介质故障时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/>
              <a:t>DBMS</a:t>
            </a:r>
            <a:r>
              <a:rPr lang="zh-CN" altLang="en-US"/>
              <a:t>自动利用镜像磁盘数据进行数据库的恢复，不需要关闭系统和重装数据库副本</a:t>
            </a:r>
            <a:endParaRPr lang="en-US" altLang="zh-CN"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页脚占位符 4">
            <a:extLst>
              <a:ext uri="{FF2B5EF4-FFF2-40B4-BE49-F238E27FC236}">
                <a16:creationId xmlns:a16="http://schemas.microsoft.com/office/drawing/2014/main" id="{CF726240-3636-8387-B77F-71E603D8E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3800" y="6165850"/>
            <a:ext cx="37607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1C88480-7721-D27D-AC04-FAB0CB414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数据库镜像（续）</a:t>
            </a:r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4728C993-21A8-D464-E18E-83C2FF370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2000"/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001838"/>
            <a:ext cx="6592887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页脚占位符 4">
            <a:extLst>
              <a:ext uri="{FF2B5EF4-FFF2-40B4-BE49-F238E27FC236}">
                <a16:creationId xmlns:a16="http://schemas.microsoft.com/office/drawing/2014/main" id="{EA6D162E-7DF4-120F-07E7-308E4AAE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8263" y="6165850"/>
            <a:ext cx="36163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421BE4A-10CC-EABB-0D37-BEB5ED007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第十章  数据库恢复技术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C6B61FC-1C32-18CC-F8BF-56A70DD19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10.1  </a:t>
            </a:r>
            <a:r>
              <a:rPr lang="zh-CN" altLang="en-US" sz="2800"/>
              <a:t>事务的基本概念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10.2  </a:t>
            </a:r>
            <a:r>
              <a:rPr lang="zh-CN" altLang="en-US" sz="2800"/>
              <a:t>数据库恢复概述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10.3  </a:t>
            </a:r>
            <a:r>
              <a:rPr lang="zh-CN" altLang="en-US" sz="2800"/>
              <a:t>故障的种类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10.4  </a:t>
            </a:r>
            <a:r>
              <a:rPr lang="zh-CN" altLang="en-US" sz="2800"/>
              <a:t>恢复的实现技术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10.5  </a:t>
            </a:r>
            <a:r>
              <a:rPr lang="zh-CN" altLang="en-US" sz="2800"/>
              <a:t>恢复策略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10.6  </a:t>
            </a:r>
            <a:r>
              <a:rPr lang="zh-CN" altLang="en-US" sz="2800"/>
              <a:t>具有检查点的恢复技术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10.7  </a:t>
            </a:r>
            <a:r>
              <a:rPr lang="zh-CN" altLang="en-US" sz="2800"/>
              <a:t>数据库镜像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</a:rPr>
              <a:t>10.8  </a:t>
            </a:r>
            <a:r>
              <a:rPr lang="zh-CN" altLang="en-US" sz="2800">
                <a:solidFill>
                  <a:srgbClr val="FF0000"/>
                </a:solidFill>
              </a:rPr>
              <a:t>小结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页脚占位符 4">
            <a:extLst>
              <a:ext uri="{FF2B5EF4-FFF2-40B4-BE49-F238E27FC236}">
                <a16:creationId xmlns:a16="http://schemas.microsoft.com/office/drawing/2014/main" id="{51E055DA-A2EC-15E0-26B2-16DE2239D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165850"/>
            <a:ext cx="39766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152CF3C1-E4A2-306E-BF21-ECEA501F7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10.8  </a:t>
            </a:r>
            <a:r>
              <a:rPr lang="zh-CN" altLang="en-US"/>
              <a:t>小结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FB7F3169-3512-80DC-6951-72BDB990F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051050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800"/>
              <a:t>如果数据库只包含成功事务提交的结果，就说数据库处于一致性状态。</a:t>
            </a:r>
            <a:endParaRPr lang="en-US" altLang="zh-CN" sz="2800"/>
          </a:p>
          <a:p>
            <a:pPr eaLnBrk="1" hangingPunct="1"/>
            <a:r>
              <a:rPr lang="zh-CN" altLang="en-US" sz="2800">
                <a:solidFill>
                  <a:srgbClr val="FF0000"/>
                </a:solidFill>
              </a:rPr>
              <a:t>保证数据一致性</a:t>
            </a:r>
            <a:r>
              <a:rPr lang="zh-CN" altLang="en-US" sz="2800"/>
              <a:t>是对数据库的最基本的要求。</a:t>
            </a:r>
          </a:p>
          <a:p>
            <a:pPr eaLnBrk="1" hangingPunct="1"/>
            <a:endParaRPr lang="zh-CN" altLang="en-US" sz="2800"/>
          </a:p>
          <a:p>
            <a:pPr eaLnBrk="1" hangingPunct="1"/>
            <a:r>
              <a:rPr lang="zh-CN" altLang="en-US" sz="2800">
                <a:solidFill>
                  <a:srgbClr val="FF0000"/>
                </a:solidFill>
              </a:rPr>
              <a:t>事务</a:t>
            </a:r>
            <a:r>
              <a:rPr lang="zh-CN" altLang="en-US" sz="2800"/>
              <a:t>是数据库的逻辑工作单位</a:t>
            </a:r>
          </a:p>
          <a:p>
            <a:pPr lvl="1" eaLnBrk="1" hangingPunct="1"/>
            <a:r>
              <a:rPr lang="en-US" altLang="zh-CN"/>
              <a:t>DBMS</a:t>
            </a:r>
            <a:r>
              <a:rPr lang="zh-CN" altLang="en-US"/>
              <a:t>保证系统中一切事务的原子性、一致性、隔离性和持续性</a:t>
            </a:r>
          </a:p>
          <a:p>
            <a:pPr eaLnBrk="1" hangingPunct="1"/>
            <a:endParaRPr lang="en-US" altLang="zh-CN" sz="2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页脚占位符 4">
            <a:extLst>
              <a:ext uri="{FF2B5EF4-FFF2-40B4-BE49-F238E27FC236}">
                <a16:creationId xmlns:a16="http://schemas.microsoft.com/office/drawing/2014/main" id="{7366C86B-40AB-535F-0C3A-31E11EF52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3800" y="6165850"/>
            <a:ext cx="37607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95C194F5-3E3A-584C-0305-AE645A1A5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小结（续）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7C9C30E6-22A9-8D47-0BF1-3BD6643FD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eaLnBrk="1" hangingPunct="1"/>
            <a:r>
              <a:rPr lang="en-US" altLang="zh-CN" sz="2800"/>
              <a:t>DBMS</a:t>
            </a:r>
            <a:r>
              <a:rPr lang="zh-CN" altLang="en-US" sz="2800"/>
              <a:t>必须对事务故障、系统故障和介质故障进行恢复</a:t>
            </a:r>
          </a:p>
          <a:p>
            <a:pPr eaLnBrk="1" hangingPunct="1"/>
            <a:endParaRPr lang="zh-CN" altLang="en-US" sz="2800"/>
          </a:p>
          <a:p>
            <a:pPr eaLnBrk="1" hangingPunct="1"/>
            <a:r>
              <a:rPr lang="zh-CN" altLang="en-US" sz="2800"/>
              <a:t>恢复中最经常使用的技术：数据库转储和登记日志文件</a:t>
            </a:r>
          </a:p>
          <a:p>
            <a:pPr eaLnBrk="1" hangingPunct="1"/>
            <a:endParaRPr lang="zh-CN" altLang="en-US" sz="2800"/>
          </a:p>
          <a:p>
            <a:pPr eaLnBrk="1" hangingPunct="1"/>
            <a:r>
              <a:rPr lang="zh-CN" altLang="en-US" sz="2800"/>
              <a:t>恢复的基本原理：利用存储在后备副本、日志文件和数据库镜像中的冗余数据来重建数据库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页脚占位符 4">
            <a:extLst>
              <a:ext uri="{FF2B5EF4-FFF2-40B4-BE49-F238E27FC236}">
                <a16:creationId xmlns:a16="http://schemas.microsoft.com/office/drawing/2014/main" id="{78FF39A8-BA86-9330-029A-274AFBCF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8263" y="6165850"/>
            <a:ext cx="36163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EE3BF1A4-0E28-60CD-FE93-3A520F67B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小结（续）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B3A6DBF0-4DB6-8F1F-0F51-0A4B56D16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2017713"/>
            <a:ext cx="8199438" cy="4114800"/>
          </a:xfrm>
        </p:spPr>
        <p:txBody>
          <a:bodyPr/>
          <a:lstStyle/>
          <a:p>
            <a:pPr eaLnBrk="1" hangingPunct="1"/>
            <a:r>
              <a:rPr lang="zh-CN" altLang="en-US"/>
              <a:t>常用恢复技术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事务故障的恢复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CN"/>
              <a:t>UNDO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系统故障的恢复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CN"/>
              <a:t>UNDO + REDO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介质故障的恢复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/>
              <a:t>重装备份并恢复到一致性状态 </a:t>
            </a:r>
            <a:r>
              <a:rPr lang="en-US" altLang="zh-CN"/>
              <a:t>+ REDO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页脚占位符 4">
            <a:extLst>
              <a:ext uri="{FF2B5EF4-FFF2-40B4-BE49-F238E27FC236}">
                <a16:creationId xmlns:a16="http://schemas.microsoft.com/office/drawing/2014/main" id="{87C8EA4B-BBC5-76B4-AF19-705A8E60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76825" y="6165850"/>
            <a:ext cx="36877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400">
                <a:solidFill>
                  <a:schemeClr val="hlink"/>
                </a:solidFill>
                <a:latin typeface="Principals of Database System"/>
              </a:rPr>
              <a:t>An Introduction to Database System</a:t>
            </a: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EEA510E-2644-3FEE-531B-9DF1507C57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小结（续） 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ADB09006-0ED8-654B-48C7-2DED5BB4D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114800"/>
          </a:xfrm>
        </p:spPr>
        <p:txBody>
          <a:bodyPr/>
          <a:lstStyle/>
          <a:p>
            <a:pPr eaLnBrk="1" hangingPunct="1"/>
            <a:r>
              <a:rPr lang="zh-CN" altLang="en-US"/>
              <a:t>提高恢复效率的技术</a:t>
            </a:r>
          </a:p>
          <a:p>
            <a:pPr lvl="1" eaLnBrk="1" hangingPunct="1">
              <a:spcBef>
                <a:spcPct val="60000"/>
              </a:spcBef>
            </a:pPr>
            <a:r>
              <a:rPr lang="zh-CN" altLang="en-US"/>
              <a:t>镜像技术</a:t>
            </a:r>
          </a:p>
          <a:p>
            <a:pPr lvl="2" eaLnBrk="1" hangingPunct="1"/>
            <a:r>
              <a:rPr lang="zh-CN" altLang="en-US" sz="2800"/>
              <a:t>镜像技术可以改善介质故障的恢复效率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q">
  <a:themeElements>
    <a:clrScheme name="">
      <a:dk1>
        <a:srgbClr val="000000"/>
      </a:dk1>
      <a:lt1>
        <a:srgbClr val="FEE8F7"/>
      </a:lt1>
      <a:dk2>
        <a:srgbClr val="333399"/>
      </a:dk2>
      <a:lt2>
        <a:srgbClr val="1C1C1C"/>
      </a:lt2>
      <a:accent1>
        <a:srgbClr val="00E4A8"/>
      </a:accent1>
      <a:accent2>
        <a:srgbClr val="FB2805"/>
      </a:accent2>
      <a:accent3>
        <a:srgbClr val="FEF2FA"/>
      </a:accent3>
      <a:accent4>
        <a:srgbClr val="000000"/>
      </a:accent4>
      <a:accent5>
        <a:srgbClr val="AAEFD1"/>
      </a:accent5>
      <a:accent6>
        <a:srgbClr val="E32304"/>
      </a:accent6>
      <a:hlink>
        <a:srgbClr val="FF0000"/>
      </a:hlink>
      <a:folHlink>
        <a:srgbClr val="3333CC"/>
      </a:folHlink>
    </a:clrScheme>
    <a:fontScheme name="zq">
      <a:majorFont>
        <a:latin typeface="Tahoma"/>
        <a:ea typeface="仿宋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zq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q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q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q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q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q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q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2878</TotalTime>
  <Words>1881</Words>
  <Application>Microsoft Office PowerPoint</Application>
  <PresentationFormat>全屏显示(4:3)</PresentationFormat>
  <Paragraphs>267</Paragraphs>
  <Slides>40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Times New Roman</vt:lpstr>
      <vt:lpstr>宋体</vt:lpstr>
      <vt:lpstr>Arial</vt:lpstr>
      <vt:lpstr>Tahoma</vt:lpstr>
      <vt:lpstr>仿宋_GB2312</vt:lpstr>
      <vt:lpstr>Wingdings</vt:lpstr>
      <vt:lpstr>Principals of Database System</vt:lpstr>
      <vt:lpstr>Arial Black</vt:lpstr>
      <vt:lpstr>隶书</vt:lpstr>
      <vt:lpstr>楷体_GB2312</vt:lpstr>
      <vt:lpstr>zq</vt:lpstr>
      <vt:lpstr>PowerPoint 演示文稿</vt:lpstr>
      <vt:lpstr>一、什么是事务</vt:lpstr>
      <vt:lpstr>二、事务的特性(ACID特性)</vt:lpstr>
      <vt:lpstr>10.3  故障的种类</vt:lpstr>
      <vt:lpstr>一、事务故障</vt:lpstr>
      <vt:lpstr>二、系统故障</vt:lpstr>
      <vt:lpstr>系统故障的恢复</vt:lpstr>
      <vt:lpstr>三、介质故障</vt:lpstr>
      <vt:lpstr>介质故障的恢复</vt:lpstr>
      <vt:lpstr>恢复操作的基本原理</vt:lpstr>
      <vt:lpstr>10.4  恢复的实现技术</vt:lpstr>
      <vt:lpstr>转储方法</vt:lpstr>
      <vt:lpstr>1．静态转储</vt:lpstr>
      <vt:lpstr>动态转储</vt:lpstr>
      <vt:lpstr>动态转储</vt:lpstr>
      <vt:lpstr>2．海量转储与增量转储</vt:lpstr>
      <vt:lpstr>3．转储方法比较</vt:lpstr>
      <vt:lpstr>转储策略</vt:lpstr>
      <vt:lpstr>10.4.2  登记日志文件</vt:lpstr>
      <vt:lpstr>日志文件</vt:lpstr>
      <vt:lpstr>几种类型的日志</vt:lpstr>
      <vt:lpstr>日志文件的用途（续）</vt:lpstr>
      <vt:lpstr>登记日志文件的原则</vt:lpstr>
      <vt:lpstr>10.5  恢复策略</vt:lpstr>
      <vt:lpstr>10.5.1  事务故障的恢复</vt:lpstr>
      <vt:lpstr>事务故障的恢复步骤</vt:lpstr>
      <vt:lpstr>事务故障的恢复步骤</vt:lpstr>
      <vt:lpstr>10.5.2  系统故障的恢复</vt:lpstr>
      <vt:lpstr>10.5.3  介质故障的恢复</vt:lpstr>
      <vt:lpstr>介质故障的恢复（续）</vt:lpstr>
      <vt:lpstr>第十章  数据库恢复技术</vt:lpstr>
      <vt:lpstr>10.6  数据库镜像</vt:lpstr>
      <vt:lpstr>数据库镜像（续）</vt:lpstr>
      <vt:lpstr>数据库镜像的用途</vt:lpstr>
      <vt:lpstr>数据库镜像（续）</vt:lpstr>
      <vt:lpstr>第十章  数据库恢复技术</vt:lpstr>
      <vt:lpstr>10.8  小结</vt:lpstr>
      <vt:lpstr>小结（续）</vt:lpstr>
      <vt:lpstr>小结（续）</vt:lpstr>
      <vt:lpstr>小结（续）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课程名称：数据库系统概论</dc:title>
  <dc:creator>trAshbaG Smile</dc:creator>
  <cp:lastModifiedBy>trAshbaG Smile</cp:lastModifiedBy>
  <cp:revision>179</cp:revision>
  <dcterms:created xsi:type="dcterms:W3CDTF">2000-08-09T08:19:19Z</dcterms:created>
  <dcterms:modified xsi:type="dcterms:W3CDTF">2025-12-24T11:29:43Z</dcterms:modified>
</cp:coreProperties>
</file>