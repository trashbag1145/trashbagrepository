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69"/>
  </p:notesMasterIdLst>
  <p:sldIdLst>
    <p:sldId id="541" r:id="rId2"/>
    <p:sldId id="688" r:id="rId3"/>
    <p:sldId id="689" r:id="rId4"/>
    <p:sldId id="690" r:id="rId5"/>
    <p:sldId id="679" r:id="rId6"/>
    <p:sldId id="691" r:id="rId7"/>
    <p:sldId id="634" r:id="rId8"/>
    <p:sldId id="635" r:id="rId9"/>
    <p:sldId id="636" r:id="rId10"/>
    <p:sldId id="637" r:id="rId11"/>
    <p:sldId id="686" r:id="rId12"/>
    <p:sldId id="638" r:id="rId13"/>
    <p:sldId id="639" r:id="rId14"/>
    <p:sldId id="640" r:id="rId15"/>
    <p:sldId id="687" r:id="rId16"/>
    <p:sldId id="641" r:id="rId17"/>
    <p:sldId id="642" r:id="rId18"/>
    <p:sldId id="643" r:id="rId19"/>
    <p:sldId id="644" r:id="rId20"/>
    <p:sldId id="645" r:id="rId21"/>
    <p:sldId id="646" r:id="rId22"/>
    <p:sldId id="647" r:id="rId23"/>
    <p:sldId id="648" r:id="rId24"/>
    <p:sldId id="649" r:id="rId25"/>
    <p:sldId id="650" r:id="rId26"/>
    <p:sldId id="692" r:id="rId27"/>
    <p:sldId id="693" r:id="rId28"/>
    <p:sldId id="694" r:id="rId29"/>
    <p:sldId id="680" r:id="rId30"/>
    <p:sldId id="681" r:id="rId31"/>
    <p:sldId id="682" r:id="rId32"/>
    <p:sldId id="683" r:id="rId33"/>
    <p:sldId id="684" r:id="rId34"/>
    <p:sldId id="685" r:id="rId35"/>
    <p:sldId id="695" r:id="rId36"/>
    <p:sldId id="696" r:id="rId37"/>
    <p:sldId id="652" r:id="rId38"/>
    <p:sldId id="653" r:id="rId39"/>
    <p:sldId id="654" r:id="rId40"/>
    <p:sldId id="655" r:id="rId41"/>
    <p:sldId id="656" r:id="rId42"/>
    <p:sldId id="657" r:id="rId43"/>
    <p:sldId id="658" r:id="rId44"/>
    <p:sldId id="659" r:id="rId45"/>
    <p:sldId id="660" r:id="rId46"/>
    <p:sldId id="661" r:id="rId47"/>
    <p:sldId id="662" r:id="rId48"/>
    <p:sldId id="663" r:id="rId49"/>
    <p:sldId id="664" r:id="rId50"/>
    <p:sldId id="697" r:id="rId51"/>
    <p:sldId id="665" r:id="rId52"/>
    <p:sldId id="666" r:id="rId53"/>
    <p:sldId id="667" r:id="rId54"/>
    <p:sldId id="668" r:id="rId55"/>
    <p:sldId id="669" r:id="rId56"/>
    <p:sldId id="698" r:id="rId57"/>
    <p:sldId id="670" r:id="rId58"/>
    <p:sldId id="671" r:id="rId59"/>
    <p:sldId id="672" r:id="rId60"/>
    <p:sldId id="673" r:id="rId61"/>
    <p:sldId id="674" r:id="rId62"/>
    <p:sldId id="675" r:id="rId63"/>
    <p:sldId id="676" r:id="rId64"/>
    <p:sldId id="677" r:id="rId65"/>
    <p:sldId id="699" r:id="rId66"/>
    <p:sldId id="678" r:id="rId67"/>
    <p:sldId id="700" r:id="rId68"/>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130A36"/>
    <a:srgbClr val="79710F"/>
    <a:srgbClr val="EEE6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p:cViewPr varScale="1">
        <p:scale>
          <a:sx n="71" d="100"/>
          <a:sy n="71" d="100"/>
        </p:scale>
        <p:origin x="75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3096"/>
    </p:cViewPr>
  </p:sorterViewPr>
  <p:notesViewPr>
    <p:cSldViewPr>
      <p:cViewPr varScale="1">
        <p:scale>
          <a:sx n="36" d="100"/>
          <a:sy n="36" d="100"/>
        </p:scale>
        <p:origin x="-1482"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3BBB4ECD-21D7-71DF-A48D-61198CAE903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46083" name="Rectangle 3">
            <a:extLst>
              <a:ext uri="{FF2B5EF4-FFF2-40B4-BE49-F238E27FC236}">
                <a16:creationId xmlns:a16="http://schemas.microsoft.com/office/drawing/2014/main" id="{CD4F5623-5196-E807-4129-519AA02F6E3F}"/>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3076" name="Rectangle 4">
            <a:extLst>
              <a:ext uri="{FF2B5EF4-FFF2-40B4-BE49-F238E27FC236}">
                <a16:creationId xmlns:a16="http://schemas.microsoft.com/office/drawing/2014/main" id="{C12213AD-49F7-A7EB-2451-34885EB0FE78}"/>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5" name="Rectangle 5">
            <a:extLst>
              <a:ext uri="{FF2B5EF4-FFF2-40B4-BE49-F238E27FC236}">
                <a16:creationId xmlns:a16="http://schemas.microsoft.com/office/drawing/2014/main" id="{758AB811-A3F0-8693-FC0F-685EA4584492}"/>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6086" name="Rectangle 6">
            <a:extLst>
              <a:ext uri="{FF2B5EF4-FFF2-40B4-BE49-F238E27FC236}">
                <a16:creationId xmlns:a16="http://schemas.microsoft.com/office/drawing/2014/main" id="{FD525551-D767-1FD2-0F44-62B941FF9589}"/>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46087" name="Rectangle 7">
            <a:extLst>
              <a:ext uri="{FF2B5EF4-FFF2-40B4-BE49-F238E27FC236}">
                <a16:creationId xmlns:a16="http://schemas.microsoft.com/office/drawing/2014/main" id="{2F92B459-6140-EE94-0FA4-87A425749650}"/>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2E71410A-213A-44BE-A174-59070483A7A5}"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8867934D-59A5-0BAE-D772-B7ED9C322F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457D085-A3B0-4F5A-8500-F5DA3B5A491A}" type="slidenum">
              <a:rPr lang="en-US" altLang="zh-CN"/>
              <a:pPr>
                <a:spcBef>
                  <a:spcPct val="0"/>
                </a:spcBef>
              </a:pPr>
              <a:t>1</a:t>
            </a:fld>
            <a:endParaRPr lang="en-US" altLang="zh-CN"/>
          </a:p>
        </p:txBody>
      </p:sp>
      <p:sp>
        <p:nvSpPr>
          <p:cNvPr id="5123" name="Rectangle 2">
            <a:extLst>
              <a:ext uri="{FF2B5EF4-FFF2-40B4-BE49-F238E27FC236}">
                <a16:creationId xmlns:a16="http://schemas.microsoft.com/office/drawing/2014/main" id="{CB014C83-FF82-A809-4DA5-913318731404}"/>
              </a:ext>
            </a:extLst>
          </p:cNvPr>
          <p:cNvSpPr>
            <a:spLocks noChangeArrowheads="1" noTextEdit="1"/>
          </p:cNvSpPr>
          <p:nvPr>
            <p:ph type="sldImg"/>
          </p:nvPr>
        </p:nvSpPr>
        <p:spPr>
          <a:ln/>
        </p:spPr>
      </p:sp>
      <p:sp>
        <p:nvSpPr>
          <p:cNvPr id="5124" name="Rectangle 3">
            <a:extLst>
              <a:ext uri="{FF2B5EF4-FFF2-40B4-BE49-F238E27FC236}">
                <a16:creationId xmlns:a16="http://schemas.microsoft.com/office/drawing/2014/main" id="{65530C72-9913-E3F1-E3FF-D2702F6AD5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0331117-3581-8191-0433-9BD0DFBDE6E7}"/>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D024ED62-20C1-F740-A495-780B77949EC1}"/>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5FC3F827-ED23-F9CF-E0A8-9FD24B960A97}"/>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sp>
            <p:nvSpPr>
              <p:cNvPr id="11" name="Rectangle 5">
                <a:extLst>
                  <a:ext uri="{FF2B5EF4-FFF2-40B4-BE49-F238E27FC236}">
                    <a16:creationId xmlns:a16="http://schemas.microsoft.com/office/drawing/2014/main" id="{788CCCF3-9C0D-3D94-653F-085DD6309C15}"/>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grpSp>
        <p:grpSp>
          <p:nvGrpSpPr>
            <p:cNvPr id="4" name="Group 6">
              <a:extLst>
                <a:ext uri="{FF2B5EF4-FFF2-40B4-BE49-F238E27FC236}">
                  <a16:creationId xmlns:a16="http://schemas.microsoft.com/office/drawing/2014/main" id="{787CA5D1-AF19-5583-16C8-4ABD00B13035}"/>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FFDFFC34-62D8-F429-61A9-ABE50EA7098B}"/>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sp>
            <p:nvSpPr>
              <p:cNvPr id="9" name="Rectangle 8">
                <a:extLst>
                  <a:ext uri="{FF2B5EF4-FFF2-40B4-BE49-F238E27FC236}">
                    <a16:creationId xmlns:a16="http://schemas.microsoft.com/office/drawing/2014/main" id="{07B8E808-3A1C-A79B-80F4-8C8B5B969DA9}"/>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grpSp>
        <p:sp>
          <p:nvSpPr>
            <p:cNvPr id="5" name="Rectangle 9">
              <a:extLst>
                <a:ext uri="{FF2B5EF4-FFF2-40B4-BE49-F238E27FC236}">
                  <a16:creationId xmlns:a16="http://schemas.microsoft.com/office/drawing/2014/main" id="{50B30326-1482-716C-C15E-E1390D5697C5}"/>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sp>
          <p:nvSpPr>
            <p:cNvPr id="6" name="Rectangle 10">
              <a:extLst>
                <a:ext uri="{FF2B5EF4-FFF2-40B4-BE49-F238E27FC236}">
                  <a16:creationId xmlns:a16="http://schemas.microsoft.com/office/drawing/2014/main" id="{6CF08044-D500-7B47-4BC5-E0C7976C20D7}"/>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sp>
          <p:nvSpPr>
            <p:cNvPr id="7" name="Rectangle 11">
              <a:extLst>
                <a:ext uri="{FF2B5EF4-FFF2-40B4-BE49-F238E27FC236}">
                  <a16:creationId xmlns:a16="http://schemas.microsoft.com/office/drawing/2014/main" id="{15B9BD79-E8FC-06F9-1DD2-642E066304DF}"/>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grpSp>
      <p:sp>
        <p:nvSpPr>
          <p:cNvPr id="329740"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329741"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2" name="Rectangle 14">
            <a:extLst>
              <a:ext uri="{FF2B5EF4-FFF2-40B4-BE49-F238E27FC236}">
                <a16:creationId xmlns:a16="http://schemas.microsoft.com/office/drawing/2014/main" id="{2AC105C8-BE79-EDEB-E2FB-8FF698805FCD}"/>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3" name="Rectangle 15">
            <a:extLst>
              <a:ext uri="{FF2B5EF4-FFF2-40B4-BE49-F238E27FC236}">
                <a16:creationId xmlns:a16="http://schemas.microsoft.com/office/drawing/2014/main" id="{B01B19D3-8AF3-77AF-45E8-243A9ECFF7A8}"/>
              </a:ext>
            </a:extLst>
          </p:cNvPr>
          <p:cNvSpPr>
            <a:spLocks noGrp="1" noChangeArrowheads="1"/>
          </p:cNvSpPr>
          <p:nvPr>
            <p:ph type="ftr" sz="quarter" idx="11"/>
          </p:nvPr>
        </p:nvSpPr>
        <p:spPr>
          <a:xfrm>
            <a:off x="3429000" y="6248400"/>
            <a:ext cx="2895600" cy="457200"/>
          </a:xfrm>
        </p:spPr>
        <p:txBody>
          <a:bodyPr/>
          <a:lstStyle>
            <a:lvl1pPr>
              <a:defRPr>
                <a:solidFill>
                  <a:schemeClr val="bg2"/>
                </a:solidFill>
                <a:latin typeface="+mn-lt"/>
              </a:defRPr>
            </a:lvl1pPr>
          </a:lstStyle>
          <a:p>
            <a:pPr>
              <a:defRPr/>
            </a:pPr>
            <a:r>
              <a:rPr lang="en-US" altLang="zh-CN"/>
              <a:t>An Introduction to Database System</a:t>
            </a:r>
          </a:p>
        </p:txBody>
      </p:sp>
      <p:sp>
        <p:nvSpPr>
          <p:cNvPr id="14" name="Rectangle 16">
            <a:extLst>
              <a:ext uri="{FF2B5EF4-FFF2-40B4-BE49-F238E27FC236}">
                <a16:creationId xmlns:a16="http://schemas.microsoft.com/office/drawing/2014/main" id="{AFD9B239-3A56-8B86-EDB4-806C9828D60D}"/>
              </a:ext>
            </a:extLst>
          </p:cNvPr>
          <p:cNvSpPr>
            <a:spLocks noGrp="1" noChangeArrowheads="1"/>
          </p:cNvSpPr>
          <p:nvPr>
            <p:ph type="sldNum" sz="quarter" idx="12"/>
          </p:nvPr>
        </p:nvSpPr>
        <p:spPr bwMode="auto">
          <a:xfrm>
            <a:off x="68580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eaLnBrk="1" hangingPunct="1">
              <a:defRPr kumimoji="0" sz="1400" smtClean="0">
                <a:solidFill>
                  <a:schemeClr val="bg2"/>
                </a:solidFill>
                <a:latin typeface="Tahoma" panose="020B0604030504040204" pitchFamily="34" charset="0"/>
              </a:defRPr>
            </a:lvl1pPr>
          </a:lstStyle>
          <a:p>
            <a:pPr>
              <a:defRPr/>
            </a:pPr>
            <a:fld id="{CE53091C-76AD-4997-8C9F-966F30C7946B}" type="slidenum">
              <a:rPr lang="en-US" altLang="zh-CN"/>
              <a:pPr>
                <a:defRPr/>
              </a:pPr>
              <a:t>‹#›</a:t>
            </a:fld>
            <a:endParaRPr lang="en-US" altLang="zh-CN"/>
          </a:p>
        </p:txBody>
      </p:sp>
    </p:spTree>
    <p:extLst>
      <p:ext uri="{BB962C8B-B14F-4D97-AF65-F5344CB8AC3E}">
        <p14:creationId xmlns:p14="http://schemas.microsoft.com/office/powerpoint/2010/main" val="223217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CB18C3A9-BA7A-2F4B-A02F-5522EB0E95C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661B6980-1D3C-0F9C-58CA-7AD5A8D1B66B}"/>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1617239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a:extLst>
              <a:ext uri="{FF2B5EF4-FFF2-40B4-BE49-F238E27FC236}">
                <a16:creationId xmlns:a16="http://schemas.microsoft.com/office/drawing/2014/main" id="{3EB51022-E93B-3444-D00F-6B8B0C18FAE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F857070F-34BA-130D-7EFD-C05CE0FEC08E}"/>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94892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10BE6A1C-4A14-50A1-2FCA-729F866A0E8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C5BF9D68-12B5-E743-F79C-8FA47F5C5EFD}"/>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895174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76E7AB2D-AA64-11B7-E80B-D5C1030E265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1027BDC8-0A09-365C-85D9-E0D79CE1C801}"/>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2074105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a:extLst>
              <a:ext uri="{FF2B5EF4-FFF2-40B4-BE49-F238E27FC236}">
                <a16:creationId xmlns:a16="http://schemas.microsoft.com/office/drawing/2014/main" id="{E5EE215A-55E9-57A0-C027-CFBA140C0AC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20855F26-31BF-D29F-2912-A5439A3AAEAD}"/>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976853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8ECBF206-6A43-D0B3-4C4E-7533E006D4D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id="{9580805F-00E6-2990-FDCC-5347F5B3E7E1}"/>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2569447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70EB176B-96BD-64BB-9D58-F676EDCFBE1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DC0F3EE6-19EB-3524-72A2-CDD1291BC8EB}"/>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1473599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7EA11CB8-51AB-5914-0ED1-54606242BB1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AA1F435A-EDB5-F27C-0AA9-A5B0C1905587}"/>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4155948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6FC34289-C7E2-AB96-80AA-45B5A76A943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77238C33-F626-CB1D-3371-806F167E16D2}"/>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2264700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BC20B95F-1E1D-A0CF-E603-01B501A5A60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469C0A08-15FC-25CD-BB85-1A8E3D553677}"/>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40657824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C01F3B49-AB4C-F4B3-2489-5658432E248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AE1B8F50-362E-37F4-46F6-3EFE784A91DE}"/>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3400928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150938" y="617538"/>
            <a:ext cx="7793037" cy="1143000"/>
          </a:xfrm>
        </p:spPr>
        <p:txBody>
          <a:bodyPr/>
          <a:lstStyle/>
          <a:p>
            <a:r>
              <a:rPr lang="zh-CN" altLang="en-US"/>
              <a:t>单击此处编辑母版标题样式</a:t>
            </a:r>
          </a:p>
        </p:txBody>
      </p:sp>
      <p:sp>
        <p:nvSpPr>
          <p:cNvPr id="3" name="内容占位符 2"/>
          <p:cNvSpPr>
            <a:spLocks noGrp="1"/>
          </p:cNvSpPr>
          <p:nvPr>
            <p:ph sz="quarter" idx="1"/>
          </p:nvPr>
        </p:nvSpPr>
        <p:spPr>
          <a:xfrm>
            <a:off x="1182688" y="2017713"/>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145088" y="2017713"/>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1182688" y="4151313"/>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5145088" y="4151313"/>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8E0C9B31-6657-4710-B529-10E5A3A911E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B2A7401A-8DF0-9B2D-0A39-EDA721D32F27}"/>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2011742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0258663-22B9-E8DF-9428-9962A3C3A05F}"/>
              </a:ext>
            </a:extLst>
          </p:cNvPr>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27" name="Rectangle 3">
            <a:extLst>
              <a:ext uri="{FF2B5EF4-FFF2-40B4-BE49-F238E27FC236}">
                <a16:creationId xmlns:a16="http://schemas.microsoft.com/office/drawing/2014/main" id="{D460EC6F-27AA-297C-5D50-20A0416D6291}"/>
              </a:ext>
            </a:extLst>
          </p:cNvPr>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28" name="Rectangle 4">
            <a:extLst>
              <a:ext uri="{FF2B5EF4-FFF2-40B4-BE49-F238E27FC236}">
                <a16:creationId xmlns:a16="http://schemas.microsoft.com/office/drawing/2014/main" id="{64F5F9AC-C00E-6EC1-8ACD-FD241B166737}"/>
              </a:ext>
            </a:extLst>
          </p:cNvPr>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29" name="Rectangle 5">
            <a:extLst>
              <a:ext uri="{FF2B5EF4-FFF2-40B4-BE49-F238E27FC236}">
                <a16:creationId xmlns:a16="http://schemas.microsoft.com/office/drawing/2014/main" id="{FF5FE447-DE5C-773D-C77D-0BEE4CF439AF}"/>
              </a:ext>
            </a:extLst>
          </p:cNvPr>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30" name="Rectangle 6">
            <a:extLst>
              <a:ext uri="{FF2B5EF4-FFF2-40B4-BE49-F238E27FC236}">
                <a16:creationId xmlns:a16="http://schemas.microsoft.com/office/drawing/2014/main" id="{F7599896-1504-4DEF-83E2-7E6D0CF98F36}"/>
              </a:ext>
            </a:extLst>
          </p:cNvPr>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31" name="Rectangle 7">
            <a:extLst>
              <a:ext uri="{FF2B5EF4-FFF2-40B4-BE49-F238E27FC236}">
                <a16:creationId xmlns:a16="http://schemas.microsoft.com/office/drawing/2014/main" id="{4ACDF4FA-7A12-D91A-AFF6-AC6B9ACD98D3}"/>
              </a:ext>
            </a:extLst>
          </p:cNvPr>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32" name="Rectangle 8">
            <a:extLst>
              <a:ext uri="{FF2B5EF4-FFF2-40B4-BE49-F238E27FC236}">
                <a16:creationId xmlns:a16="http://schemas.microsoft.com/office/drawing/2014/main" id="{6242C653-2672-CA67-62C9-45DF5CD25175}"/>
              </a:ext>
            </a:extLst>
          </p:cNvPr>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33" name="Rectangle 9">
            <a:extLst>
              <a:ext uri="{FF2B5EF4-FFF2-40B4-BE49-F238E27FC236}">
                <a16:creationId xmlns:a16="http://schemas.microsoft.com/office/drawing/2014/main" id="{999E6BBF-47D1-82D7-3B33-67BBC1A92520}"/>
              </a:ext>
            </a:extLst>
          </p:cNvPr>
          <p:cNvSpPr>
            <a:spLocks noGrp="1" noChangeArrowheads="1"/>
          </p:cNvSpPr>
          <p:nvPr>
            <p:ph type="title"/>
          </p:nvPr>
        </p:nvSpPr>
        <p:spPr bwMode="auto">
          <a:xfrm>
            <a:off x="1150938" y="617538"/>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a:extLst>
              <a:ext uri="{FF2B5EF4-FFF2-40B4-BE49-F238E27FC236}">
                <a16:creationId xmlns:a16="http://schemas.microsoft.com/office/drawing/2014/main" id="{6ABD5699-4E66-7ABF-D2F6-9588DB9DD661}"/>
              </a:ext>
            </a:extLst>
          </p:cNvPr>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28715" name="Rectangle 11">
            <a:extLst>
              <a:ext uri="{FF2B5EF4-FFF2-40B4-BE49-F238E27FC236}">
                <a16:creationId xmlns:a16="http://schemas.microsoft.com/office/drawing/2014/main" id="{27BE2110-BB90-5D36-D7E9-437773EC33EE}"/>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0" sz="1400">
                <a:latin typeface="+mn-lt"/>
              </a:defRPr>
            </a:lvl1pPr>
          </a:lstStyle>
          <a:p>
            <a:pPr>
              <a:defRPr/>
            </a:pPr>
            <a:endParaRPr lang="en-US" altLang="zh-CN"/>
          </a:p>
        </p:txBody>
      </p:sp>
      <p:sp>
        <p:nvSpPr>
          <p:cNvPr id="328716" name="Rectangle 12">
            <a:extLst>
              <a:ext uri="{FF2B5EF4-FFF2-40B4-BE49-F238E27FC236}">
                <a16:creationId xmlns:a16="http://schemas.microsoft.com/office/drawing/2014/main" id="{1BE0DCD9-F4A8-7713-4BCA-D9865721F934}"/>
              </a:ext>
            </a:extLst>
          </p:cNvPr>
          <p:cNvSpPr>
            <a:spLocks noGrp="1" noChangeArrowheads="1"/>
          </p:cNvSpPr>
          <p:nvPr>
            <p:ph type="ftr" sz="quarter" idx="3"/>
          </p:nvPr>
        </p:nvSpPr>
        <p:spPr bwMode="auto">
          <a:xfrm>
            <a:off x="5029200" y="6165850"/>
            <a:ext cx="3735388"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kumimoji="0" sz="1400">
                <a:solidFill>
                  <a:schemeClr val="hlink"/>
                </a:solidFill>
                <a:latin typeface="Principals of Database System"/>
              </a:defRPr>
            </a:lvl1pPr>
          </a:lstStyle>
          <a:p>
            <a:pPr>
              <a:defRPr/>
            </a:pPr>
            <a:r>
              <a:rPr lang="en-US" altLang="zh-CN"/>
              <a:t>An Introduction to Database System</a:t>
            </a:r>
          </a:p>
        </p:txBody>
      </p:sp>
    </p:spTree>
  </p:cSld>
  <p:clrMap bg1="lt1" tx1="dk1" bg2="lt2" tx2="dk2" accent1="accent1" accent2="accent2" accent3="accent3" accent4="accent4" accent5="accent5" accent6="accent6" hlink="hlink" folHlink="folHlink"/>
  <p:sldLayoutIdLst>
    <p:sldLayoutId id="2147483902"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Lst>
  <p:hf sldNum="0" hdr="0" dt="0"/>
  <p:txStyles>
    <p:titleStyle>
      <a:lvl1pPr algn="l" rtl="0" eaLnBrk="0" fontAlgn="base" hangingPunct="0">
        <a:spcBef>
          <a:spcPct val="0"/>
        </a:spcBef>
        <a:spcAft>
          <a:spcPct val="0"/>
        </a:spcAft>
        <a:defRPr kumimoji="1" sz="3600" b="1">
          <a:solidFill>
            <a:schemeClr val="tx2"/>
          </a:solidFill>
          <a:latin typeface="+mj-lt"/>
          <a:ea typeface="+mj-ea"/>
          <a:cs typeface="+mj-cs"/>
        </a:defRPr>
      </a:lvl1pPr>
      <a:lvl2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2pPr>
      <a:lvl3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3pPr>
      <a:lvl4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4pPr>
      <a:lvl5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5pPr>
      <a:lvl6pPr marL="457200" algn="l" rtl="0" fontAlgn="base">
        <a:spcBef>
          <a:spcPct val="0"/>
        </a:spcBef>
        <a:spcAft>
          <a:spcPct val="0"/>
        </a:spcAft>
        <a:defRPr kumimoji="1" sz="3600" b="1">
          <a:solidFill>
            <a:schemeClr val="tx2"/>
          </a:solidFill>
          <a:latin typeface="Tahoma" pitchFamily="34" charset="0"/>
          <a:ea typeface="仿宋_GB2312" pitchFamily="49" charset="-122"/>
        </a:defRPr>
      </a:lvl6pPr>
      <a:lvl7pPr marL="914400" algn="l" rtl="0" fontAlgn="base">
        <a:spcBef>
          <a:spcPct val="0"/>
        </a:spcBef>
        <a:spcAft>
          <a:spcPct val="0"/>
        </a:spcAft>
        <a:defRPr kumimoji="1" sz="3600" b="1">
          <a:solidFill>
            <a:schemeClr val="tx2"/>
          </a:solidFill>
          <a:latin typeface="Tahoma" pitchFamily="34" charset="0"/>
          <a:ea typeface="仿宋_GB2312" pitchFamily="49" charset="-122"/>
        </a:defRPr>
      </a:lvl7pPr>
      <a:lvl8pPr marL="1371600" algn="l" rtl="0" fontAlgn="base">
        <a:spcBef>
          <a:spcPct val="0"/>
        </a:spcBef>
        <a:spcAft>
          <a:spcPct val="0"/>
        </a:spcAft>
        <a:defRPr kumimoji="1" sz="3600" b="1">
          <a:solidFill>
            <a:schemeClr val="tx2"/>
          </a:solidFill>
          <a:latin typeface="Tahoma" pitchFamily="34" charset="0"/>
          <a:ea typeface="仿宋_GB2312" pitchFamily="49" charset="-122"/>
        </a:defRPr>
      </a:lvl8pPr>
      <a:lvl9pPr marL="1828800" algn="l" rtl="0" fontAlgn="base">
        <a:spcBef>
          <a:spcPct val="0"/>
        </a:spcBef>
        <a:spcAft>
          <a:spcPct val="0"/>
        </a:spcAft>
        <a:defRPr kumimoji="1" sz="3600" b="1">
          <a:solidFill>
            <a:schemeClr val="tx2"/>
          </a:solidFill>
          <a:latin typeface="Tahoma" pitchFamily="34" charset="0"/>
          <a:ea typeface="仿宋_GB2312"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页脚占位符 4">
            <a:extLst>
              <a:ext uri="{FF2B5EF4-FFF2-40B4-BE49-F238E27FC236}">
                <a16:creationId xmlns:a16="http://schemas.microsoft.com/office/drawing/2014/main" id="{77D2C657-AC08-D8C3-454A-0BFBBF39348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099" name="Rectangle 3">
            <a:extLst>
              <a:ext uri="{FF2B5EF4-FFF2-40B4-BE49-F238E27FC236}">
                <a16:creationId xmlns:a16="http://schemas.microsoft.com/office/drawing/2014/main" id="{DB3AC346-C184-3FC2-3C1B-73FC0222B937}"/>
              </a:ext>
            </a:extLst>
          </p:cNvPr>
          <p:cNvSpPr>
            <a:spLocks noChangeArrowheads="1"/>
          </p:cNvSpPr>
          <p:nvPr/>
        </p:nvSpPr>
        <p:spPr bwMode="auto">
          <a:xfrm>
            <a:off x="755650" y="990600"/>
            <a:ext cx="7924800" cy="271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4800" b="1">
                <a:latin typeface="Arial Black" panose="020B0A04020102020204" pitchFamily="34" charset="0"/>
                <a:ea typeface="隶书" panose="02010509060101010101" pitchFamily="49" charset="-122"/>
              </a:rPr>
              <a:t>数据库系统概论</a:t>
            </a:r>
            <a:endParaRPr lang="zh-CN" altLang="en-US" sz="4800" b="1">
              <a:latin typeface="宋体" panose="02010600030101010101" pitchFamily="2" charset="-122"/>
            </a:endParaRPr>
          </a:p>
          <a:p>
            <a:pPr algn="ctr" eaLnBrk="1" hangingPunct="1">
              <a:spcBef>
                <a:spcPct val="0"/>
              </a:spcBef>
              <a:buClrTx/>
              <a:buSzTx/>
              <a:buFontTx/>
              <a:buNone/>
            </a:pPr>
            <a:r>
              <a:rPr lang="en-US" altLang="zh-CN" sz="3600" b="1">
                <a:latin typeface="Times New Roman" panose="02020603050405020304" pitchFamily="18" charset="0"/>
              </a:rPr>
              <a:t>An Introduction to Database System</a:t>
            </a:r>
          </a:p>
          <a:p>
            <a:pPr algn="ctr" eaLnBrk="1" hangingPunct="1">
              <a:spcBef>
                <a:spcPct val="0"/>
              </a:spcBef>
              <a:buClrTx/>
              <a:buSzTx/>
              <a:buFontTx/>
              <a:buNone/>
            </a:pPr>
            <a:endParaRPr lang="en-US" altLang="zh-CN" sz="4400" b="1">
              <a:latin typeface="Times New Roman" panose="02020603050405020304" pitchFamily="18" charset="0"/>
            </a:endParaRPr>
          </a:p>
          <a:p>
            <a:pPr algn="ctr" eaLnBrk="1" hangingPunct="1">
              <a:spcBef>
                <a:spcPct val="0"/>
              </a:spcBef>
              <a:buClrTx/>
              <a:buSzTx/>
              <a:buFontTx/>
              <a:buNone/>
            </a:pPr>
            <a:r>
              <a:rPr lang="zh-CN" altLang="en-US" sz="4400" b="1">
                <a:solidFill>
                  <a:schemeClr val="tx2"/>
                </a:solidFill>
                <a:latin typeface="楷体_GB2312" panose="02010609030101010101" pitchFamily="49" charset="-122"/>
                <a:ea typeface="楷体_GB2312" panose="02010609030101010101" pitchFamily="49" charset="-122"/>
              </a:rPr>
              <a:t>第七章  数据库设计</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34F4A0B-8DD7-5205-DC9D-BA8E232CC703}"/>
              </a:ext>
            </a:extLst>
          </p:cNvPr>
          <p:cNvSpPr>
            <a:spLocks noGrp="1" noChangeArrowheads="1"/>
          </p:cNvSpPr>
          <p:nvPr>
            <p:ph type="title" idx="4294967295"/>
          </p:nvPr>
        </p:nvSpPr>
        <p:spPr/>
        <p:txBody>
          <a:bodyPr/>
          <a:lstStyle/>
          <a:p>
            <a:r>
              <a:rPr lang="zh-CN" altLang="zh-CN"/>
              <a:t>第七章  数据库设计</a:t>
            </a:r>
          </a:p>
        </p:txBody>
      </p:sp>
      <p:sp>
        <p:nvSpPr>
          <p:cNvPr id="6147" name="Rectangle 3">
            <a:extLst>
              <a:ext uri="{FF2B5EF4-FFF2-40B4-BE49-F238E27FC236}">
                <a16:creationId xmlns:a16="http://schemas.microsoft.com/office/drawing/2014/main" id="{3A05E479-F81B-F10A-3DEE-A8ED4AB95EB8}"/>
              </a:ext>
            </a:extLst>
          </p:cNvPr>
          <p:cNvSpPr>
            <a:spLocks noGrp="1" noChangeArrowheads="1"/>
          </p:cNvSpPr>
          <p:nvPr>
            <p:ph idx="4294967295"/>
          </p:nvPr>
        </p:nvSpPr>
        <p:spPr>
          <a:xfrm>
            <a:off x="827088" y="1916113"/>
            <a:ext cx="7859712" cy="4037012"/>
          </a:xfrm>
        </p:spPr>
        <p:txBody>
          <a:bodyPr/>
          <a:lstStyle/>
          <a:p>
            <a:pPr marL="0" indent="0">
              <a:lnSpc>
                <a:spcPct val="150000"/>
              </a:lnSpc>
              <a:buFont typeface="Wingdings" panose="05000000000000000000" pitchFamily="2" charset="2"/>
              <a:buNone/>
            </a:pPr>
            <a:r>
              <a:rPr lang="en-US" altLang="zh-CN" sz="2800"/>
              <a:t>7.1  </a:t>
            </a:r>
            <a:r>
              <a:rPr lang="zh-CN" altLang="en-US" sz="2800"/>
              <a:t>数据库设计概述</a:t>
            </a:r>
          </a:p>
          <a:p>
            <a:pPr marL="0" indent="0">
              <a:lnSpc>
                <a:spcPct val="150000"/>
              </a:lnSpc>
              <a:buFont typeface="Wingdings" panose="05000000000000000000" pitchFamily="2" charset="2"/>
              <a:buNone/>
            </a:pPr>
            <a:r>
              <a:rPr lang="en-US" altLang="zh-CN" sz="2800"/>
              <a:t>7.2  </a:t>
            </a:r>
            <a:r>
              <a:rPr lang="zh-CN" altLang="en-US" sz="2800"/>
              <a:t>需求分析</a:t>
            </a:r>
          </a:p>
          <a:p>
            <a:pPr marL="0" indent="0">
              <a:lnSpc>
                <a:spcPct val="150000"/>
              </a:lnSpc>
              <a:buFont typeface="Wingdings" panose="05000000000000000000" pitchFamily="2" charset="2"/>
              <a:buNone/>
            </a:pPr>
            <a:r>
              <a:rPr lang="en-US" altLang="zh-CN" sz="2800"/>
              <a:t>7.3  </a:t>
            </a:r>
            <a:r>
              <a:rPr lang="zh-CN" altLang="en-US" sz="2800"/>
              <a:t>概念结构设计</a:t>
            </a:r>
          </a:p>
          <a:p>
            <a:pPr marL="0" indent="0">
              <a:lnSpc>
                <a:spcPct val="150000"/>
              </a:lnSpc>
              <a:buFont typeface="Wingdings" panose="05000000000000000000" pitchFamily="2" charset="2"/>
              <a:buNone/>
            </a:pPr>
            <a:r>
              <a:rPr lang="en-US" altLang="zh-CN" sz="2800">
                <a:solidFill>
                  <a:srgbClr val="FF0000"/>
                </a:solidFill>
              </a:rPr>
              <a:t>7.4  </a:t>
            </a:r>
            <a:r>
              <a:rPr lang="zh-CN" altLang="en-US" sz="2800">
                <a:solidFill>
                  <a:srgbClr val="FF0000"/>
                </a:solidFill>
              </a:rPr>
              <a:t>逻辑结构设计</a:t>
            </a:r>
          </a:p>
          <a:p>
            <a:pPr marL="0" indent="0">
              <a:lnSpc>
                <a:spcPct val="150000"/>
              </a:lnSpc>
              <a:buFont typeface="Wingdings" panose="05000000000000000000" pitchFamily="2" charset="2"/>
              <a:buNone/>
            </a:pPr>
            <a:r>
              <a:rPr lang="en-US" altLang="zh-CN" sz="2800"/>
              <a:t>7.5  </a:t>
            </a:r>
            <a:r>
              <a:rPr lang="zh-CN" altLang="en-US" sz="2800"/>
              <a:t>物理结构设计</a:t>
            </a:r>
          </a:p>
          <a:p>
            <a:pPr marL="0" indent="0">
              <a:lnSpc>
                <a:spcPct val="150000"/>
              </a:lnSpc>
              <a:buFont typeface="Wingdings" panose="05000000000000000000" pitchFamily="2" charset="2"/>
              <a:buNone/>
            </a:pPr>
            <a:r>
              <a:rPr lang="en-US" altLang="zh-CN" sz="2800"/>
              <a:t>7.6  </a:t>
            </a:r>
            <a:r>
              <a:rPr lang="zh-CN" altLang="en-US" sz="2800"/>
              <a:t>数据库的实施和维护</a:t>
            </a:r>
          </a:p>
          <a:p>
            <a:pPr marL="0" indent="0">
              <a:lnSpc>
                <a:spcPct val="150000"/>
              </a:lnSpc>
              <a:buFont typeface="Wingdings" panose="05000000000000000000" pitchFamily="2" charset="2"/>
              <a:buNone/>
            </a:pPr>
            <a:r>
              <a:rPr lang="en-US" altLang="zh-CN" sz="2800"/>
              <a:t>7.7  </a:t>
            </a:r>
            <a:r>
              <a:rPr lang="zh-CN" altLang="en-US" sz="2800"/>
              <a:t>小结</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C50B355-BA16-703E-BA16-A1C85B95557C}"/>
              </a:ext>
            </a:extLst>
          </p:cNvPr>
          <p:cNvSpPr>
            <a:spLocks noGrp="1" noChangeArrowheads="1"/>
          </p:cNvSpPr>
          <p:nvPr>
            <p:ph type="title" idx="4294967295"/>
          </p:nvPr>
        </p:nvSpPr>
        <p:spPr/>
        <p:txBody>
          <a:bodyPr/>
          <a:lstStyle/>
          <a:p>
            <a:r>
              <a:rPr lang="en-US" altLang="zh-CN"/>
              <a:t>7.4  </a:t>
            </a:r>
            <a:r>
              <a:rPr lang="zh-CN" altLang="en-US"/>
              <a:t>逻辑结构设计</a:t>
            </a:r>
          </a:p>
        </p:txBody>
      </p:sp>
      <p:sp>
        <p:nvSpPr>
          <p:cNvPr id="7171" name="Rectangle 3">
            <a:extLst>
              <a:ext uri="{FF2B5EF4-FFF2-40B4-BE49-F238E27FC236}">
                <a16:creationId xmlns:a16="http://schemas.microsoft.com/office/drawing/2014/main" id="{E5ACCE63-C0BD-946C-7570-93BD9EBC3746}"/>
              </a:ext>
            </a:extLst>
          </p:cNvPr>
          <p:cNvSpPr>
            <a:spLocks noGrp="1" noChangeArrowheads="1"/>
          </p:cNvSpPr>
          <p:nvPr>
            <p:ph type="body" idx="4294967295"/>
          </p:nvPr>
        </p:nvSpPr>
        <p:spPr>
          <a:xfrm>
            <a:off x="395288" y="1989138"/>
            <a:ext cx="8424862" cy="4114800"/>
          </a:xfrm>
        </p:spPr>
        <p:txBody>
          <a:bodyPr/>
          <a:lstStyle/>
          <a:p>
            <a:pPr>
              <a:lnSpc>
                <a:spcPct val="150000"/>
              </a:lnSpc>
            </a:pPr>
            <a:r>
              <a:rPr lang="zh-CN" altLang="en-US"/>
              <a:t>逻辑结构设计的任务</a:t>
            </a:r>
          </a:p>
          <a:p>
            <a:pPr lvl="1">
              <a:lnSpc>
                <a:spcPct val="150000"/>
              </a:lnSpc>
            </a:pPr>
            <a:r>
              <a:rPr lang="zh-CN" altLang="en-US"/>
              <a:t>把概念结构设计阶段设计好的基本</a:t>
            </a:r>
            <a:r>
              <a:rPr lang="en-US" altLang="zh-CN"/>
              <a:t>E-R</a:t>
            </a:r>
            <a:r>
              <a:rPr lang="zh-CN" altLang="en-US"/>
              <a:t>图转换为与选用数据库管理系统产品所支持的数据模型相符合的逻辑结构</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0474BCE5-295A-7170-46CE-B0C6E6AC1CC7}"/>
              </a:ext>
            </a:extLst>
          </p:cNvPr>
          <p:cNvSpPr>
            <a:spLocks noGrp="1" noChangeArrowheads="1"/>
          </p:cNvSpPr>
          <p:nvPr>
            <p:ph type="title" idx="4294967295"/>
          </p:nvPr>
        </p:nvSpPr>
        <p:spPr/>
        <p:txBody>
          <a:bodyPr/>
          <a:lstStyle/>
          <a:p>
            <a:r>
              <a:rPr lang="en-US" altLang="zh-CN"/>
              <a:t>7.4  </a:t>
            </a:r>
            <a:r>
              <a:rPr lang="zh-CN" altLang="en-US"/>
              <a:t>逻辑结构设计</a:t>
            </a:r>
          </a:p>
        </p:txBody>
      </p:sp>
      <p:sp>
        <p:nvSpPr>
          <p:cNvPr id="8195" name="Rectangle 3">
            <a:extLst>
              <a:ext uri="{FF2B5EF4-FFF2-40B4-BE49-F238E27FC236}">
                <a16:creationId xmlns:a16="http://schemas.microsoft.com/office/drawing/2014/main" id="{951F4C61-2247-D58B-B497-50222B1B595A}"/>
              </a:ext>
            </a:extLst>
          </p:cNvPr>
          <p:cNvSpPr>
            <a:spLocks noGrp="1" noChangeArrowheads="1"/>
          </p:cNvSpPr>
          <p:nvPr>
            <p:ph type="body" idx="4294967295"/>
          </p:nvPr>
        </p:nvSpPr>
        <p:spPr>
          <a:xfrm>
            <a:off x="539750" y="1916113"/>
            <a:ext cx="8075613" cy="4278312"/>
          </a:xfrm>
        </p:spPr>
        <p:txBody>
          <a:bodyPr/>
          <a:lstStyle/>
          <a:p>
            <a:pPr marL="0" indent="0">
              <a:lnSpc>
                <a:spcPct val="150000"/>
              </a:lnSpc>
              <a:buFont typeface="Wingdings" panose="05000000000000000000" pitchFamily="2" charset="2"/>
              <a:buNone/>
            </a:pPr>
            <a:r>
              <a:rPr lang="en-US" altLang="zh-CN">
                <a:solidFill>
                  <a:srgbClr val="FF0000"/>
                </a:solidFill>
              </a:rPr>
              <a:t>7.4.1  E-R</a:t>
            </a:r>
            <a:r>
              <a:rPr lang="zh-CN" altLang="en-US">
                <a:solidFill>
                  <a:srgbClr val="FF0000"/>
                </a:solidFill>
              </a:rPr>
              <a:t>图向关系模型的转换</a:t>
            </a:r>
          </a:p>
          <a:p>
            <a:pPr marL="0" indent="0">
              <a:lnSpc>
                <a:spcPct val="150000"/>
              </a:lnSpc>
              <a:buFont typeface="Wingdings" panose="05000000000000000000" pitchFamily="2" charset="2"/>
              <a:buNone/>
            </a:pPr>
            <a:r>
              <a:rPr lang="en-US" altLang="zh-CN"/>
              <a:t>7.4.2  </a:t>
            </a:r>
            <a:r>
              <a:rPr lang="zh-CN" altLang="en-US"/>
              <a:t>数据模型的优化</a:t>
            </a:r>
            <a:endParaRPr lang="en-US" altLang="zh-CN"/>
          </a:p>
          <a:p>
            <a:pPr marL="0" indent="0">
              <a:lnSpc>
                <a:spcPct val="150000"/>
              </a:lnSpc>
              <a:buFont typeface="Wingdings" panose="05000000000000000000" pitchFamily="2" charset="2"/>
              <a:buNone/>
            </a:pPr>
            <a:r>
              <a:rPr lang="en-US" altLang="zh-CN"/>
              <a:t>7.4.3  </a:t>
            </a:r>
            <a:r>
              <a:rPr lang="zh-CN" altLang="en-US"/>
              <a:t>设计用户子模式</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218" name="Picture 6">
            <a:extLst>
              <a:ext uri="{FF2B5EF4-FFF2-40B4-BE49-F238E27FC236}">
                <a16:creationId xmlns:a16="http://schemas.microsoft.com/office/drawing/2014/main" id="{F1D125A4-7BD5-81BF-C915-7BAC2688FB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
            <a:ext cx="9147175"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页脚占位符 3">
            <a:extLst>
              <a:ext uri="{FF2B5EF4-FFF2-40B4-BE49-F238E27FC236}">
                <a16:creationId xmlns:a16="http://schemas.microsoft.com/office/drawing/2014/main" id="{A4655D35-F269-647B-97BD-9E2D683B310E}"/>
              </a:ext>
            </a:extLst>
          </p:cNvPr>
          <p:cNvSpPr>
            <a:spLocks noGrp="1"/>
          </p:cNvSpPr>
          <p:nvPr>
            <p:ph type="ftr" sz="quarter" idx="11"/>
          </p:nvPr>
        </p:nvSpPr>
        <p:spPr>
          <a:xfrm>
            <a:off x="2571750" y="5643563"/>
            <a:ext cx="4286250"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zh-CN" altLang="en-US" sz="2400" b="1">
                <a:latin typeface="Principals of Database System"/>
              </a:rPr>
              <a:t>学生管理子系统的基本</a:t>
            </a:r>
            <a:r>
              <a:rPr kumimoji="0" lang="en-US" altLang="zh-CN" sz="2400" b="1">
                <a:latin typeface="Principals of Database System"/>
              </a:rPr>
              <a:t>E-R</a:t>
            </a:r>
            <a:r>
              <a:rPr kumimoji="0" lang="zh-CN" altLang="en-US" sz="2400" b="1">
                <a:latin typeface="Principals of Database System"/>
              </a:rPr>
              <a:t>图</a:t>
            </a:r>
            <a:endParaRPr kumimoji="0" lang="en-US" altLang="zh-CN" sz="2400" b="1">
              <a:latin typeface="Principals of Database System"/>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ECE91C1-1E3C-25EC-3666-CDB6918AC1DE}"/>
              </a:ext>
            </a:extLst>
          </p:cNvPr>
          <p:cNvSpPr>
            <a:spLocks noGrp="1" noChangeArrowheads="1"/>
          </p:cNvSpPr>
          <p:nvPr>
            <p:ph type="title" idx="4294967295"/>
          </p:nvPr>
        </p:nvSpPr>
        <p:spPr/>
        <p:txBody>
          <a:bodyPr/>
          <a:lstStyle/>
          <a:p>
            <a:r>
              <a:rPr lang="en-US" altLang="zh-CN"/>
              <a:t>E-R</a:t>
            </a:r>
            <a:r>
              <a:rPr lang="zh-CN" altLang="en-US"/>
              <a:t>图向关系模型的转换（续）</a:t>
            </a:r>
          </a:p>
        </p:txBody>
      </p:sp>
      <p:sp>
        <p:nvSpPr>
          <p:cNvPr id="10243" name="Rectangle 3">
            <a:extLst>
              <a:ext uri="{FF2B5EF4-FFF2-40B4-BE49-F238E27FC236}">
                <a16:creationId xmlns:a16="http://schemas.microsoft.com/office/drawing/2014/main" id="{496D8371-C972-B0E5-38B6-9F33EAAA479A}"/>
              </a:ext>
            </a:extLst>
          </p:cNvPr>
          <p:cNvSpPr>
            <a:spLocks noGrp="1" noChangeArrowheads="1"/>
          </p:cNvSpPr>
          <p:nvPr>
            <p:ph idx="4294967295"/>
          </p:nvPr>
        </p:nvSpPr>
        <p:spPr>
          <a:xfrm>
            <a:off x="323850" y="1916113"/>
            <a:ext cx="8569325" cy="4278312"/>
          </a:xfrm>
        </p:spPr>
        <p:txBody>
          <a:bodyPr/>
          <a:lstStyle/>
          <a:p>
            <a:pPr>
              <a:lnSpc>
                <a:spcPct val="150000"/>
              </a:lnSpc>
            </a:pPr>
            <a:r>
              <a:rPr lang="zh-CN" altLang="en-US"/>
              <a:t>转换内容</a:t>
            </a:r>
          </a:p>
          <a:p>
            <a:pPr lvl="1">
              <a:lnSpc>
                <a:spcPct val="150000"/>
              </a:lnSpc>
            </a:pPr>
            <a:r>
              <a:rPr lang="en-US" altLang="zh-CN"/>
              <a:t>E-R</a:t>
            </a:r>
            <a:r>
              <a:rPr lang="zh-CN" altLang="en-US"/>
              <a:t>图由实体型、实体的属性和实体型之间的联系三个要素组成</a:t>
            </a:r>
          </a:p>
          <a:p>
            <a:pPr lvl="1">
              <a:lnSpc>
                <a:spcPct val="150000"/>
              </a:lnSpc>
            </a:pPr>
            <a:r>
              <a:rPr lang="zh-CN" altLang="en-US"/>
              <a:t>关系模型的逻辑结构是一组关系模式的集合</a:t>
            </a:r>
          </a:p>
          <a:p>
            <a:pPr lvl="1">
              <a:lnSpc>
                <a:spcPct val="150000"/>
              </a:lnSpc>
            </a:pPr>
            <a:r>
              <a:rPr lang="zh-CN" altLang="en-US"/>
              <a:t>将</a:t>
            </a:r>
            <a:r>
              <a:rPr lang="en-US" altLang="zh-CN"/>
              <a:t>E-R</a:t>
            </a:r>
            <a:r>
              <a:rPr lang="zh-CN" altLang="en-US"/>
              <a:t>图转换为关系模型：将实体型、实体的属性和实体型之间的联系转化为关系模式</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4">
            <a:extLst>
              <a:ext uri="{FF2B5EF4-FFF2-40B4-BE49-F238E27FC236}">
                <a16:creationId xmlns:a16="http://schemas.microsoft.com/office/drawing/2014/main" id="{057933EC-BE99-4971-AC68-9ED7F0FFF35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1267" name="Rectangle 2">
            <a:extLst>
              <a:ext uri="{FF2B5EF4-FFF2-40B4-BE49-F238E27FC236}">
                <a16:creationId xmlns:a16="http://schemas.microsoft.com/office/drawing/2014/main" id="{6A50A579-3B41-5D76-50C0-3367B81BBA2B}"/>
              </a:ext>
            </a:extLst>
          </p:cNvPr>
          <p:cNvSpPr>
            <a:spLocks noGrp="1" noChangeArrowheads="1"/>
          </p:cNvSpPr>
          <p:nvPr>
            <p:ph type="title"/>
          </p:nvPr>
        </p:nvSpPr>
        <p:spPr/>
        <p:txBody>
          <a:bodyPr/>
          <a:lstStyle/>
          <a:p>
            <a:pPr eaLnBrk="1" hangingPunct="1"/>
            <a:r>
              <a:rPr lang="en-US" altLang="zh-CN"/>
              <a:t>E-R</a:t>
            </a:r>
            <a:r>
              <a:rPr lang="zh-CN" altLang="en-US"/>
              <a:t>图向关系模型的转换</a:t>
            </a:r>
          </a:p>
        </p:txBody>
      </p:sp>
      <p:sp>
        <p:nvSpPr>
          <p:cNvPr id="509955" name="Rectangle 3">
            <a:extLst>
              <a:ext uri="{FF2B5EF4-FFF2-40B4-BE49-F238E27FC236}">
                <a16:creationId xmlns:a16="http://schemas.microsoft.com/office/drawing/2014/main" id="{5A9F94D4-3868-A278-8F3D-22FFBC469733}"/>
              </a:ext>
            </a:extLst>
          </p:cNvPr>
          <p:cNvSpPr>
            <a:spLocks noGrp="1" noChangeArrowheads="1"/>
          </p:cNvSpPr>
          <p:nvPr>
            <p:ph type="body" idx="1"/>
          </p:nvPr>
        </p:nvSpPr>
        <p:spPr>
          <a:xfrm>
            <a:off x="684213" y="1844675"/>
            <a:ext cx="7772400" cy="4114800"/>
          </a:xfrm>
        </p:spPr>
        <p:txBody>
          <a:bodyPr/>
          <a:lstStyle/>
          <a:p>
            <a:pPr eaLnBrk="1" hangingPunct="1">
              <a:lnSpc>
                <a:spcPct val="90000"/>
              </a:lnSpc>
              <a:defRPr/>
            </a:pPr>
            <a:r>
              <a:rPr lang="zh-CN" altLang="en-US" sz="3600" dirty="0"/>
              <a:t>转换原则</a:t>
            </a:r>
            <a:endParaRPr lang="zh-CN" altLang="en-US" dirty="0"/>
          </a:p>
          <a:p>
            <a:pPr lvl="4" eaLnBrk="1" hangingPunct="1">
              <a:lnSpc>
                <a:spcPct val="90000"/>
              </a:lnSpc>
              <a:buFont typeface="Wingdings" panose="05000000000000000000" pitchFamily="2" charset="2"/>
              <a:buNone/>
              <a:defRPr/>
            </a:pPr>
            <a:endParaRPr lang="zh-CN" altLang="en-US" sz="1800" dirty="0"/>
          </a:p>
          <a:p>
            <a:pPr eaLnBrk="1" hangingPunct="1">
              <a:lnSpc>
                <a:spcPct val="90000"/>
              </a:lnSpc>
              <a:buFont typeface="Wingdings" panose="05000000000000000000" pitchFamily="2" charset="2"/>
              <a:buNone/>
              <a:defRPr/>
            </a:pPr>
            <a:r>
              <a:rPr lang="zh-CN" altLang="en-US" sz="2800" dirty="0"/>
              <a:t>⒈ 一个</a:t>
            </a:r>
            <a:r>
              <a:rPr lang="zh-CN" altLang="en-US" sz="2800" dirty="0">
                <a:solidFill>
                  <a:schemeClr val="accent2"/>
                </a:solidFill>
              </a:rPr>
              <a:t>实体型</a:t>
            </a:r>
            <a:r>
              <a:rPr lang="zh-CN" altLang="en-US" sz="2800" dirty="0"/>
              <a:t>转换为一个关系模式。</a:t>
            </a:r>
          </a:p>
          <a:p>
            <a:pPr lvl="1" eaLnBrk="1" hangingPunct="1">
              <a:lnSpc>
                <a:spcPct val="90000"/>
              </a:lnSpc>
              <a:defRPr/>
            </a:pPr>
            <a:r>
              <a:rPr lang="zh-CN" altLang="en-US" i="1" dirty="0">
                <a:solidFill>
                  <a:schemeClr val="accent2"/>
                </a:solidFill>
                <a:effectLst>
                  <a:outerShdw blurRad="38100" dist="38100" dir="2700000" algn="tl">
                    <a:srgbClr val="000000"/>
                  </a:outerShdw>
                </a:effectLst>
              </a:rPr>
              <a:t>关系的属性</a:t>
            </a:r>
            <a:r>
              <a:rPr lang="zh-CN" altLang="en-US" dirty="0">
                <a:solidFill>
                  <a:schemeClr val="accent2"/>
                </a:solidFill>
              </a:rPr>
              <a:t>：</a:t>
            </a:r>
            <a:r>
              <a:rPr lang="zh-CN" altLang="en-US" dirty="0"/>
              <a:t>实体型的属性</a:t>
            </a:r>
          </a:p>
          <a:p>
            <a:pPr lvl="1" eaLnBrk="1" hangingPunct="1">
              <a:lnSpc>
                <a:spcPct val="90000"/>
              </a:lnSpc>
              <a:defRPr/>
            </a:pPr>
            <a:r>
              <a:rPr lang="zh-CN" altLang="en-US" i="1" dirty="0">
                <a:solidFill>
                  <a:schemeClr val="accent2"/>
                </a:solidFill>
                <a:effectLst>
                  <a:outerShdw blurRad="38100" dist="38100" dir="2700000" algn="tl">
                    <a:srgbClr val="000000"/>
                  </a:outerShdw>
                </a:effectLst>
              </a:rPr>
              <a:t>关系的码</a:t>
            </a:r>
            <a:r>
              <a:rPr lang="zh-CN" altLang="en-US" dirty="0">
                <a:solidFill>
                  <a:schemeClr val="accent2"/>
                </a:solidFill>
              </a:rPr>
              <a:t>：</a:t>
            </a:r>
            <a:r>
              <a:rPr lang="zh-CN" altLang="en-US" dirty="0"/>
              <a:t>实体型的码</a:t>
            </a:r>
          </a:p>
          <a:p>
            <a:pPr lvl="1" eaLnBrk="1" hangingPunct="1">
              <a:lnSpc>
                <a:spcPct val="90000"/>
              </a:lnSpc>
              <a:buFont typeface="Wingdings" panose="05000000000000000000" pitchFamily="2" charset="2"/>
              <a:buNone/>
              <a:defRPr/>
            </a:pPr>
            <a:r>
              <a:rPr lang="zh-CN" altLang="en-US" sz="2400" dirty="0"/>
              <a:t>例，学生实体可以转换为如下关系模式：</a:t>
            </a:r>
          </a:p>
          <a:p>
            <a:pPr lvl="1" eaLnBrk="1" hangingPunct="1">
              <a:lnSpc>
                <a:spcPct val="90000"/>
              </a:lnSpc>
              <a:buFont typeface="Wingdings" panose="05000000000000000000" pitchFamily="2" charset="2"/>
              <a:buNone/>
              <a:defRPr/>
            </a:pPr>
            <a:r>
              <a:rPr lang="zh-CN" altLang="en-US" sz="2400" dirty="0"/>
              <a:t>　　学生（</a:t>
            </a:r>
            <a:r>
              <a:rPr lang="zh-CN" altLang="en-US" sz="2400" u="sng" dirty="0"/>
              <a:t>学号</a:t>
            </a:r>
            <a:r>
              <a:rPr lang="zh-CN" altLang="en-US" sz="2400" dirty="0"/>
              <a:t>，姓名，出生日期，所在系，</a:t>
            </a:r>
          </a:p>
          <a:p>
            <a:pPr lvl="1" eaLnBrk="1" hangingPunct="1">
              <a:lnSpc>
                <a:spcPct val="90000"/>
              </a:lnSpc>
              <a:buFont typeface="Wingdings" panose="05000000000000000000" pitchFamily="2" charset="2"/>
              <a:buNone/>
              <a:defRPr/>
            </a:pPr>
            <a:r>
              <a:rPr lang="zh-CN" altLang="en-US" sz="2400" dirty="0"/>
              <a:t>                   年级，平均成绩）</a:t>
            </a:r>
          </a:p>
          <a:p>
            <a:pPr lvl="1" eaLnBrk="1" hangingPunct="1">
              <a:lnSpc>
                <a:spcPct val="90000"/>
              </a:lnSpc>
              <a:buFont typeface="Wingdings" panose="05000000000000000000" pitchFamily="2" charset="2"/>
              <a:buNone/>
              <a:defRPr/>
            </a:pPr>
            <a:r>
              <a:rPr lang="zh-CN" altLang="en-US" sz="2400" dirty="0"/>
              <a:t>    性别、宿舍、班级、档案材料、教师、课程、教室、教科书都分别转换为一个关系模式。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09955">
                                            <p:txEl>
                                              <p:pRg st="0" end="0"/>
                                            </p:txEl>
                                          </p:spTgt>
                                        </p:tgtEl>
                                        <p:attrNameLst>
                                          <p:attrName>style.visibility</p:attrName>
                                        </p:attrNameLst>
                                      </p:cBhvr>
                                      <p:to>
                                        <p:strVal val="visible"/>
                                      </p:to>
                                    </p:set>
                                    <p:animEffect transition="in" filter="box(in)">
                                      <p:cBhvr>
                                        <p:cTn id="7" dur="500"/>
                                        <p:tgtEl>
                                          <p:spTgt spid="509955">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09955">
                                            <p:txEl>
                                              <p:pRg st="2" end="2"/>
                                            </p:txEl>
                                          </p:spTgt>
                                        </p:tgtEl>
                                        <p:attrNameLst>
                                          <p:attrName>style.visibility</p:attrName>
                                        </p:attrNameLst>
                                      </p:cBhvr>
                                      <p:to>
                                        <p:strVal val="visible"/>
                                      </p:to>
                                    </p:set>
                                    <p:animEffect transition="in" filter="box(in)">
                                      <p:cBhvr>
                                        <p:cTn id="10" dur="500"/>
                                        <p:tgtEl>
                                          <p:spTgt spid="509955">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509955">
                                            <p:txEl>
                                              <p:pRg st="3" end="3"/>
                                            </p:txEl>
                                          </p:spTgt>
                                        </p:tgtEl>
                                        <p:attrNameLst>
                                          <p:attrName>style.visibility</p:attrName>
                                        </p:attrNameLst>
                                      </p:cBhvr>
                                      <p:to>
                                        <p:strVal val="visible"/>
                                      </p:to>
                                    </p:set>
                                    <p:animEffect transition="in" filter="box(in)">
                                      <p:cBhvr>
                                        <p:cTn id="13" dur="500"/>
                                        <p:tgtEl>
                                          <p:spTgt spid="509955">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509955">
                                            <p:txEl>
                                              <p:pRg st="4" end="4"/>
                                            </p:txEl>
                                          </p:spTgt>
                                        </p:tgtEl>
                                        <p:attrNameLst>
                                          <p:attrName>style.visibility</p:attrName>
                                        </p:attrNameLst>
                                      </p:cBhvr>
                                      <p:to>
                                        <p:strVal val="visible"/>
                                      </p:to>
                                    </p:set>
                                    <p:animEffect transition="in" filter="box(in)">
                                      <p:cBhvr>
                                        <p:cTn id="16" dur="500"/>
                                        <p:tgtEl>
                                          <p:spTgt spid="509955">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nodeType="clickEffect">
                                  <p:stCondLst>
                                    <p:cond delay="0"/>
                                  </p:stCondLst>
                                  <p:childTnLst>
                                    <p:set>
                                      <p:cBhvr>
                                        <p:cTn id="20" dur="1" fill="hold">
                                          <p:stCondLst>
                                            <p:cond delay="0"/>
                                          </p:stCondLst>
                                        </p:cTn>
                                        <p:tgtEl>
                                          <p:spTgt spid="509955">
                                            <p:txEl>
                                              <p:pRg st="5" end="5"/>
                                            </p:txEl>
                                          </p:spTgt>
                                        </p:tgtEl>
                                        <p:attrNameLst>
                                          <p:attrName>style.visibility</p:attrName>
                                        </p:attrNameLst>
                                      </p:cBhvr>
                                      <p:to>
                                        <p:strVal val="visible"/>
                                      </p:to>
                                    </p:set>
                                    <p:animEffect transition="in" filter="box(in)">
                                      <p:cBhvr>
                                        <p:cTn id="21" dur="500"/>
                                        <p:tgtEl>
                                          <p:spTgt spid="509955">
                                            <p:txEl>
                                              <p:pRg st="5" end="5"/>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509955">
                                            <p:txEl>
                                              <p:pRg st="6" end="6"/>
                                            </p:txEl>
                                          </p:spTgt>
                                        </p:tgtEl>
                                        <p:attrNameLst>
                                          <p:attrName>style.visibility</p:attrName>
                                        </p:attrNameLst>
                                      </p:cBhvr>
                                      <p:to>
                                        <p:strVal val="visible"/>
                                      </p:to>
                                    </p:set>
                                    <p:animEffect transition="in" filter="box(in)">
                                      <p:cBhvr>
                                        <p:cTn id="24" dur="500"/>
                                        <p:tgtEl>
                                          <p:spTgt spid="509955">
                                            <p:txEl>
                                              <p:pRg st="6" end="6"/>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509955">
                                            <p:txEl>
                                              <p:pRg st="7" end="7"/>
                                            </p:txEl>
                                          </p:spTgt>
                                        </p:tgtEl>
                                        <p:attrNameLst>
                                          <p:attrName>style.visibility</p:attrName>
                                        </p:attrNameLst>
                                      </p:cBhvr>
                                      <p:to>
                                        <p:strVal val="visible"/>
                                      </p:to>
                                    </p:set>
                                    <p:animEffect transition="in" filter="box(in)">
                                      <p:cBhvr>
                                        <p:cTn id="27" dur="500"/>
                                        <p:tgtEl>
                                          <p:spTgt spid="509955">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509955">
                                            <p:txEl>
                                              <p:pRg st="8" end="8"/>
                                            </p:txEl>
                                          </p:spTgt>
                                        </p:tgtEl>
                                        <p:attrNameLst>
                                          <p:attrName>style.visibility</p:attrName>
                                        </p:attrNameLst>
                                      </p:cBhvr>
                                      <p:to>
                                        <p:strVal val="visible"/>
                                      </p:to>
                                    </p:set>
                                    <p:animEffect transition="in" filter="box(in)">
                                      <p:cBhvr>
                                        <p:cTn id="32" dur="500"/>
                                        <p:tgtEl>
                                          <p:spTgt spid="50995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页脚占位符 4">
            <a:extLst>
              <a:ext uri="{FF2B5EF4-FFF2-40B4-BE49-F238E27FC236}">
                <a16:creationId xmlns:a16="http://schemas.microsoft.com/office/drawing/2014/main" id="{AD016B08-200B-1E3E-BE89-E330484AEB3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2291" name="Rectangle 2">
            <a:extLst>
              <a:ext uri="{FF2B5EF4-FFF2-40B4-BE49-F238E27FC236}">
                <a16:creationId xmlns:a16="http://schemas.microsoft.com/office/drawing/2014/main" id="{B0626995-8798-03EF-B173-2695C68001A9}"/>
              </a:ext>
            </a:extLst>
          </p:cNvPr>
          <p:cNvSpPr>
            <a:spLocks noGrp="1" noChangeArrowheads="1"/>
          </p:cNvSpPr>
          <p:nvPr>
            <p:ph type="title"/>
          </p:nvPr>
        </p:nvSpPr>
        <p:spPr/>
        <p:txBody>
          <a:bodyPr/>
          <a:lstStyle/>
          <a:p>
            <a:pPr eaLnBrk="1" hangingPunct="1"/>
            <a:r>
              <a:rPr lang="en-US" altLang="zh-CN"/>
              <a:t> </a:t>
            </a:r>
          </a:p>
        </p:txBody>
      </p:sp>
      <p:grpSp>
        <p:nvGrpSpPr>
          <p:cNvPr id="12292" name="Group 3">
            <a:extLst>
              <a:ext uri="{FF2B5EF4-FFF2-40B4-BE49-F238E27FC236}">
                <a16:creationId xmlns:a16="http://schemas.microsoft.com/office/drawing/2014/main" id="{883BFA01-F211-EF01-3096-CFA5F4C8AAF3}"/>
              </a:ext>
            </a:extLst>
          </p:cNvPr>
          <p:cNvGrpSpPr>
            <a:grpSpLocks/>
          </p:cNvGrpSpPr>
          <p:nvPr/>
        </p:nvGrpSpPr>
        <p:grpSpPr bwMode="auto">
          <a:xfrm>
            <a:off x="1066800" y="2133600"/>
            <a:ext cx="7467600" cy="2590800"/>
            <a:chOff x="672" y="1248"/>
            <a:chExt cx="4416" cy="1440"/>
          </a:xfrm>
        </p:grpSpPr>
        <p:sp>
          <p:nvSpPr>
            <p:cNvPr id="12293" name="Rectangle 4">
              <a:extLst>
                <a:ext uri="{FF2B5EF4-FFF2-40B4-BE49-F238E27FC236}">
                  <a16:creationId xmlns:a16="http://schemas.microsoft.com/office/drawing/2014/main" id="{121AC63C-23C5-F8EB-2117-03757A24415F}"/>
                </a:ext>
              </a:extLst>
            </p:cNvPr>
            <p:cNvSpPr>
              <a:spLocks noChangeArrowheads="1"/>
            </p:cNvSpPr>
            <p:nvPr/>
          </p:nvSpPr>
          <p:spPr bwMode="auto">
            <a:xfrm>
              <a:off x="2592" y="1248"/>
              <a:ext cx="671" cy="38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学生</a:t>
              </a:r>
            </a:p>
          </p:txBody>
        </p:sp>
        <p:sp>
          <p:nvSpPr>
            <p:cNvPr id="12294" name="Oval 5">
              <a:extLst>
                <a:ext uri="{FF2B5EF4-FFF2-40B4-BE49-F238E27FC236}">
                  <a16:creationId xmlns:a16="http://schemas.microsoft.com/office/drawing/2014/main" id="{F30C5903-5852-38FC-39C3-4DAA6E203542}"/>
                </a:ext>
              </a:extLst>
            </p:cNvPr>
            <p:cNvSpPr>
              <a:spLocks noChangeArrowheads="1"/>
            </p:cNvSpPr>
            <p:nvPr/>
          </p:nvSpPr>
          <p:spPr bwMode="auto">
            <a:xfrm>
              <a:off x="672" y="2160"/>
              <a:ext cx="576" cy="4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2400" b="1">
                  <a:latin typeface="Times New Roman" panose="02020603050405020304" pitchFamily="18" charset="0"/>
                </a:rPr>
                <a:t> </a:t>
              </a:r>
              <a:r>
                <a:rPr kumimoji="0" lang="zh-CN" altLang="en-US" sz="2400" b="1" u="sng">
                  <a:latin typeface="Times New Roman" panose="02020603050405020304" pitchFamily="18" charset="0"/>
                </a:rPr>
                <a:t>学号</a:t>
              </a:r>
            </a:p>
          </p:txBody>
        </p:sp>
        <p:sp>
          <p:nvSpPr>
            <p:cNvPr id="12295" name="Oval 6">
              <a:extLst>
                <a:ext uri="{FF2B5EF4-FFF2-40B4-BE49-F238E27FC236}">
                  <a16:creationId xmlns:a16="http://schemas.microsoft.com/office/drawing/2014/main" id="{4EA9AAC6-072E-CFFC-FB93-C94B3D3A2F72}"/>
                </a:ext>
              </a:extLst>
            </p:cNvPr>
            <p:cNvSpPr>
              <a:spLocks noChangeArrowheads="1"/>
            </p:cNvSpPr>
            <p:nvPr/>
          </p:nvSpPr>
          <p:spPr bwMode="auto">
            <a:xfrm>
              <a:off x="2112" y="2112"/>
              <a:ext cx="624" cy="576"/>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出生</a:t>
              </a:r>
            </a:p>
            <a:p>
              <a:pPr algn="ctr">
                <a:spcBef>
                  <a:spcPct val="0"/>
                </a:spcBef>
                <a:buClrTx/>
                <a:buSzTx/>
                <a:buFontTx/>
                <a:buNone/>
              </a:pPr>
              <a:r>
                <a:rPr kumimoji="0" lang="zh-CN" altLang="en-US" sz="2400" b="1">
                  <a:latin typeface="Times New Roman" panose="02020603050405020304" pitchFamily="18" charset="0"/>
                </a:rPr>
                <a:t>日期</a:t>
              </a:r>
            </a:p>
          </p:txBody>
        </p:sp>
        <p:sp>
          <p:nvSpPr>
            <p:cNvPr id="12296" name="Oval 7">
              <a:extLst>
                <a:ext uri="{FF2B5EF4-FFF2-40B4-BE49-F238E27FC236}">
                  <a16:creationId xmlns:a16="http://schemas.microsoft.com/office/drawing/2014/main" id="{8CF56217-54A2-2E46-C193-237DA5E18722}"/>
                </a:ext>
              </a:extLst>
            </p:cNvPr>
            <p:cNvSpPr>
              <a:spLocks noChangeArrowheads="1"/>
            </p:cNvSpPr>
            <p:nvPr/>
          </p:nvSpPr>
          <p:spPr bwMode="auto">
            <a:xfrm>
              <a:off x="3744" y="2160"/>
              <a:ext cx="528" cy="4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年级</a:t>
              </a:r>
            </a:p>
          </p:txBody>
        </p:sp>
        <p:sp>
          <p:nvSpPr>
            <p:cNvPr id="12297" name="Line 8">
              <a:extLst>
                <a:ext uri="{FF2B5EF4-FFF2-40B4-BE49-F238E27FC236}">
                  <a16:creationId xmlns:a16="http://schemas.microsoft.com/office/drawing/2014/main" id="{DBB76F6C-ABF7-B794-EA6E-034AF312CD67}"/>
                </a:ext>
              </a:extLst>
            </p:cNvPr>
            <p:cNvSpPr>
              <a:spLocks noChangeShapeType="1"/>
            </p:cNvSpPr>
            <p:nvPr/>
          </p:nvSpPr>
          <p:spPr bwMode="auto">
            <a:xfrm flipH="1">
              <a:off x="1056" y="1632"/>
              <a:ext cx="1536" cy="5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8" name="Line 9">
              <a:extLst>
                <a:ext uri="{FF2B5EF4-FFF2-40B4-BE49-F238E27FC236}">
                  <a16:creationId xmlns:a16="http://schemas.microsoft.com/office/drawing/2014/main" id="{32F640F7-1532-A736-72EF-B0AA2E474F2F}"/>
                </a:ext>
              </a:extLst>
            </p:cNvPr>
            <p:cNvSpPr>
              <a:spLocks noChangeShapeType="1"/>
            </p:cNvSpPr>
            <p:nvPr/>
          </p:nvSpPr>
          <p:spPr bwMode="auto">
            <a:xfrm flipH="1">
              <a:off x="2496" y="1632"/>
              <a:ext cx="432" cy="4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9" name="Line 10">
              <a:extLst>
                <a:ext uri="{FF2B5EF4-FFF2-40B4-BE49-F238E27FC236}">
                  <a16:creationId xmlns:a16="http://schemas.microsoft.com/office/drawing/2014/main" id="{B1F4CD8C-BC5D-90C3-C120-235743DCD057}"/>
                </a:ext>
              </a:extLst>
            </p:cNvPr>
            <p:cNvSpPr>
              <a:spLocks noChangeShapeType="1"/>
            </p:cNvSpPr>
            <p:nvPr/>
          </p:nvSpPr>
          <p:spPr bwMode="auto">
            <a:xfrm>
              <a:off x="3072" y="1632"/>
              <a:ext cx="816" cy="5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0" name="Oval 11">
              <a:extLst>
                <a:ext uri="{FF2B5EF4-FFF2-40B4-BE49-F238E27FC236}">
                  <a16:creationId xmlns:a16="http://schemas.microsoft.com/office/drawing/2014/main" id="{100D98A5-8C97-7BB1-494B-3540108829E7}"/>
                </a:ext>
              </a:extLst>
            </p:cNvPr>
            <p:cNvSpPr>
              <a:spLocks noChangeArrowheads="1"/>
            </p:cNvSpPr>
            <p:nvPr/>
          </p:nvSpPr>
          <p:spPr bwMode="auto">
            <a:xfrm>
              <a:off x="2880" y="2112"/>
              <a:ext cx="624" cy="576"/>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所在系 </a:t>
              </a:r>
            </a:p>
          </p:txBody>
        </p:sp>
        <p:sp>
          <p:nvSpPr>
            <p:cNvPr id="12301" name="Line 12">
              <a:extLst>
                <a:ext uri="{FF2B5EF4-FFF2-40B4-BE49-F238E27FC236}">
                  <a16:creationId xmlns:a16="http://schemas.microsoft.com/office/drawing/2014/main" id="{244CD10F-E608-2C1E-A385-48104C9B07D8}"/>
                </a:ext>
              </a:extLst>
            </p:cNvPr>
            <p:cNvSpPr>
              <a:spLocks noChangeShapeType="1"/>
            </p:cNvSpPr>
            <p:nvPr/>
          </p:nvSpPr>
          <p:spPr bwMode="auto">
            <a:xfrm>
              <a:off x="2976" y="1632"/>
              <a:ext cx="192" cy="4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2" name="Oval 13">
              <a:extLst>
                <a:ext uri="{FF2B5EF4-FFF2-40B4-BE49-F238E27FC236}">
                  <a16:creationId xmlns:a16="http://schemas.microsoft.com/office/drawing/2014/main" id="{B6543721-3316-AB60-E817-8435C80EAA3D}"/>
                </a:ext>
              </a:extLst>
            </p:cNvPr>
            <p:cNvSpPr>
              <a:spLocks noChangeArrowheads="1"/>
            </p:cNvSpPr>
            <p:nvPr/>
          </p:nvSpPr>
          <p:spPr bwMode="auto">
            <a:xfrm>
              <a:off x="4512" y="2112"/>
              <a:ext cx="576" cy="576"/>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平均</a:t>
              </a:r>
            </a:p>
            <a:p>
              <a:pPr algn="ctr">
                <a:spcBef>
                  <a:spcPct val="0"/>
                </a:spcBef>
                <a:buClrTx/>
                <a:buSzTx/>
                <a:buFontTx/>
                <a:buNone/>
              </a:pPr>
              <a:r>
                <a:rPr kumimoji="0" lang="zh-CN" altLang="en-US" sz="2400" b="1">
                  <a:latin typeface="Times New Roman" panose="02020603050405020304" pitchFamily="18" charset="0"/>
                </a:rPr>
                <a:t>成绩</a:t>
              </a:r>
            </a:p>
          </p:txBody>
        </p:sp>
        <p:sp>
          <p:nvSpPr>
            <p:cNvPr id="12303" name="Oval 14">
              <a:extLst>
                <a:ext uri="{FF2B5EF4-FFF2-40B4-BE49-F238E27FC236}">
                  <a16:creationId xmlns:a16="http://schemas.microsoft.com/office/drawing/2014/main" id="{2DDE2BA0-425E-60F4-60FF-D18590808973}"/>
                </a:ext>
              </a:extLst>
            </p:cNvPr>
            <p:cNvSpPr>
              <a:spLocks noChangeArrowheads="1"/>
            </p:cNvSpPr>
            <p:nvPr/>
          </p:nvSpPr>
          <p:spPr bwMode="auto">
            <a:xfrm>
              <a:off x="1392" y="2112"/>
              <a:ext cx="576" cy="528"/>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姓名</a:t>
              </a:r>
            </a:p>
          </p:txBody>
        </p:sp>
        <p:sp>
          <p:nvSpPr>
            <p:cNvPr id="12304" name="Line 15">
              <a:extLst>
                <a:ext uri="{FF2B5EF4-FFF2-40B4-BE49-F238E27FC236}">
                  <a16:creationId xmlns:a16="http://schemas.microsoft.com/office/drawing/2014/main" id="{51D04063-5302-4987-3EAD-07EB8BB12802}"/>
                </a:ext>
              </a:extLst>
            </p:cNvPr>
            <p:cNvSpPr>
              <a:spLocks noChangeShapeType="1"/>
            </p:cNvSpPr>
            <p:nvPr/>
          </p:nvSpPr>
          <p:spPr bwMode="auto">
            <a:xfrm flipV="1">
              <a:off x="1728" y="1632"/>
              <a:ext cx="1056" cy="4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5" name="Line 16">
              <a:extLst>
                <a:ext uri="{FF2B5EF4-FFF2-40B4-BE49-F238E27FC236}">
                  <a16:creationId xmlns:a16="http://schemas.microsoft.com/office/drawing/2014/main" id="{9F964A0E-D97C-42BB-2072-BFE8CC2BE2F8}"/>
                </a:ext>
              </a:extLst>
            </p:cNvPr>
            <p:cNvSpPr>
              <a:spLocks noChangeShapeType="1"/>
            </p:cNvSpPr>
            <p:nvPr/>
          </p:nvSpPr>
          <p:spPr bwMode="auto">
            <a:xfrm>
              <a:off x="3264" y="1632"/>
              <a:ext cx="1440" cy="5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4">
            <a:extLst>
              <a:ext uri="{FF2B5EF4-FFF2-40B4-BE49-F238E27FC236}">
                <a16:creationId xmlns:a16="http://schemas.microsoft.com/office/drawing/2014/main" id="{E753E285-B72C-6147-26BA-24B470267E9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3315" name="Rectangle 2">
            <a:extLst>
              <a:ext uri="{FF2B5EF4-FFF2-40B4-BE49-F238E27FC236}">
                <a16:creationId xmlns:a16="http://schemas.microsoft.com/office/drawing/2014/main" id="{9EA48974-FFFA-78B6-9BA6-AA4992F03187}"/>
              </a:ext>
            </a:extLst>
          </p:cNvPr>
          <p:cNvSpPr>
            <a:spLocks noGrp="1" noChangeArrowheads="1"/>
          </p:cNvSpPr>
          <p:nvPr>
            <p:ph type="title"/>
          </p:nvPr>
        </p:nvSpPr>
        <p:spPr/>
        <p:txBody>
          <a:bodyPr/>
          <a:lstStyle/>
          <a:p>
            <a:pPr eaLnBrk="1" hangingPunct="1"/>
            <a:r>
              <a:rPr lang="en-US" altLang="zh-CN"/>
              <a:t>E-R</a:t>
            </a:r>
            <a:r>
              <a:rPr lang="zh-CN" altLang="en-US"/>
              <a:t>图向关系模型的转换（续）</a:t>
            </a:r>
          </a:p>
        </p:txBody>
      </p:sp>
      <p:sp>
        <p:nvSpPr>
          <p:cNvPr id="512003" name="Rectangle 3">
            <a:extLst>
              <a:ext uri="{FF2B5EF4-FFF2-40B4-BE49-F238E27FC236}">
                <a16:creationId xmlns:a16="http://schemas.microsoft.com/office/drawing/2014/main" id="{F04C9679-7909-C7F6-46C8-7C591AA85F5C}"/>
              </a:ext>
            </a:extLst>
          </p:cNvPr>
          <p:cNvSpPr>
            <a:spLocks noGrp="1" noChangeArrowheads="1"/>
          </p:cNvSpPr>
          <p:nvPr>
            <p:ph type="body" idx="1"/>
          </p:nvPr>
        </p:nvSpPr>
        <p:spPr>
          <a:xfrm>
            <a:off x="250825" y="2017713"/>
            <a:ext cx="8704263" cy="4114800"/>
          </a:xfrm>
        </p:spPr>
        <p:txBody>
          <a:bodyPr/>
          <a:lstStyle/>
          <a:p>
            <a:pPr eaLnBrk="1" hangingPunct="1">
              <a:buFont typeface="Wingdings" panose="05000000000000000000" pitchFamily="2" charset="2"/>
              <a:buNone/>
              <a:defRPr/>
            </a:pPr>
            <a:r>
              <a:rPr lang="en-US" altLang="zh-CN" sz="2800" dirty="0"/>
              <a:t>⒉ </a:t>
            </a:r>
            <a:r>
              <a:rPr lang="zh-CN" altLang="en-US" sz="2800" dirty="0"/>
              <a:t>一个</a:t>
            </a:r>
            <a:r>
              <a:rPr lang="en-US" altLang="zh-CN" sz="2800" dirty="0">
                <a:solidFill>
                  <a:schemeClr val="accent2"/>
                </a:solidFill>
              </a:rPr>
              <a:t>m:n</a:t>
            </a:r>
            <a:r>
              <a:rPr lang="zh-CN" altLang="en-US" sz="2800" dirty="0">
                <a:solidFill>
                  <a:schemeClr val="accent2"/>
                </a:solidFill>
              </a:rPr>
              <a:t>联系</a:t>
            </a:r>
            <a:r>
              <a:rPr lang="zh-CN" altLang="en-US" sz="2800" dirty="0"/>
              <a:t>转换为一个关系模式。</a:t>
            </a:r>
          </a:p>
          <a:p>
            <a:pPr lvl="1" eaLnBrk="1" hangingPunct="1">
              <a:defRPr/>
            </a:pPr>
            <a:r>
              <a:rPr lang="zh-CN" altLang="en-US" i="1" dirty="0">
                <a:solidFill>
                  <a:schemeClr val="accent2"/>
                </a:solidFill>
                <a:effectLst>
                  <a:outerShdw blurRad="38100" dist="38100" dir="2700000" algn="tl">
                    <a:srgbClr val="000000"/>
                  </a:outerShdw>
                </a:effectLst>
              </a:rPr>
              <a:t>关系的属性</a:t>
            </a:r>
            <a:r>
              <a:rPr lang="zh-CN" altLang="en-US" dirty="0">
                <a:solidFill>
                  <a:schemeClr val="accent2"/>
                </a:solidFill>
              </a:rPr>
              <a:t>：</a:t>
            </a:r>
            <a:r>
              <a:rPr lang="zh-CN" altLang="en-US" dirty="0"/>
              <a:t>与该联系相连的各实体的码以及联系本身的</a:t>
            </a:r>
            <a:r>
              <a:rPr lang="zh-CN" altLang="en-US" dirty="0">
                <a:solidFill>
                  <a:srgbClr val="FF0000"/>
                </a:solidFill>
              </a:rPr>
              <a:t>属性</a:t>
            </a:r>
          </a:p>
          <a:p>
            <a:pPr lvl="1" eaLnBrk="1" hangingPunct="1">
              <a:defRPr/>
            </a:pPr>
            <a:r>
              <a:rPr lang="zh-CN" altLang="en-US" i="1" dirty="0">
                <a:solidFill>
                  <a:schemeClr val="accent2"/>
                </a:solidFill>
                <a:effectLst>
                  <a:outerShdw blurRad="38100" dist="38100" dir="2700000" algn="tl">
                    <a:srgbClr val="000000"/>
                  </a:outerShdw>
                </a:effectLst>
              </a:rPr>
              <a:t>关系的码</a:t>
            </a:r>
            <a:r>
              <a:rPr lang="zh-CN" altLang="en-US" dirty="0">
                <a:solidFill>
                  <a:schemeClr val="accent2"/>
                </a:solidFill>
              </a:rPr>
              <a:t>：</a:t>
            </a:r>
            <a:r>
              <a:rPr lang="zh-CN" altLang="en-US" dirty="0"/>
              <a:t>各实体码的组合</a:t>
            </a:r>
          </a:p>
          <a:p>
            <a:pPr eaLnBrk="1" hangingPunct="1">
              <a:buFont typeface="Wingdings" panose="05000000000000000000" pitchFamily="2" charset="2"/>
              <a:buNone/>
              <a:defRPr/>
            </a:pPr>
            <a:r>
              <a:rPr lang="zh-CN" altLang="en-US" sz="2800" dirty="0"/>
              <a:t>	例，</a:t>
            </a:r>
            <a:r>
              <a:rPr lang="zh-CN" altLang="en-US" sz="2800" dirty="0">
                <a:latin typeface="Times New Roman"/>
              </a:rPr>
              <a:t>“</a:t>
            </a:r>
            <a:r>
              <a:rPr lang="zh-CN" altLang="en-US" sz="2800" dirty="0"/>
              <a:t>选修</a:t>
            </a:r>
            <a:r>
              <a:rPr lang="zh-CN" altLang="en-US" sz="2800" dirty="0">
                <a:latin typeface="Times New Roman"/>
              </a:rPr>
              <a:t>”</a:t>
            </a:r>
            <a:r>
              <a:rPr lang="zh-CN" altLang="en-US" sz="2800" dirty="0"/>
              <a:t>联系是一个</a:t>
            </a:r>
            <a:r>
              <a:rPr lang="en-US" altLang="zh-CN" sz="2800" dirty="0"/>
              <a:t>m:n</a:t>
            </a:r>
            <a:r>
              <a:rPr lang="zh-CN" altLang="en-US" sz="2800" dirty="0"/>
              <a:t>联系，可以将它转换为如下关系模式，其中学号与课程号为关系的组合码：</a:t>
            </a:r>
          </a:p>
          <a:p>
            <a:pPr eaLnBrk="1" hangingPunct="1">
              <a:buFont typeface="Wingdings" panose="05000000000000000000" pitchFamily="2" charset="2"/>
              <a:buNone/>
              <a:defRPr/>
            </a:pPr>
            <a:r>
              <a:rPr lang="zh-CN" altLang="en-US" sz="2800" dirty="0"/>
              <a:t>　　选修（</a:t>
            </a:r>
            <a:r>
              <a:rPr lang="zh-CN" altLang="en-US" sz="2800" u="sng" dirty="0"/>
              <a:t>学号</a:t>
            </a:r>
            <a:r>
              <a:rPr lang="zh-CN" altLang="en-US" sz="2800" dirty="0"/>
              <a:t>，</a:t>
            </a:r>
            <a:r>
              <a:rPr lang="zh-CN" altLang="en-US" sz="2800" u="sng" dirty="0"/>
              <a:t>课程号</a:t>
            </a:r>
            <a:r>
              <a:rPr lang="zh-CN" altLang="en-US" sz="2800" dirty="0"/>
              <a:t>，成绩）</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12003">
                                            <p:txEl>
                                              <p:pRg st="0" end="0"/>
                                            </p:txEl>
                                          </p:spTgt>
                                        </p:tgtEl>
                                        <p:attrNameLst>
                                          <p:attrName>style.visibility</p:attrName>
                                        </p:attrNameLst>
                                      </p:cBhvr>
                                      <p:to>
                                        <p:strVal val="visible"/>
                                      </p:to>
                                    </p:set>
                                    <p:animEffect transition="in" filter="box(in)">
                                      <p:cBhvr>
                                        <p:cTn id="7" dur="500"/>
                                        <p:tgtEl>
                                          <p:spTgt spid="512003">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12003">
                                            <p:txEl>
                                              <p:pRg st="1" end="1"/>
                                            </p:txEl>
                                          </p:spTgt>
                                        </p:tgtEl>
                                        <p:attrNameLst>
                                          <p:attrName>style.visibility</p:attrName>
                                        </p:attrNameLst>
                                      </p:cBhvr>
                                      <p:to>
                                        <p:strVal val="visible"/>
                                      </p:to>
                                    </p:set>
                                    <p:animEffect transition="in" filter="box(in)">
                                      <p:cBhvr>
                                        <p:cTn id="10" dur="500"/>
                                        <p:tgtEl>
                                          <p:spTgt spid="512003">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512003">
                                            <p:txEl>
                                              <p:pRg st="2" end="2"/>
                                            </p:txEl>
                                          </p:spTgt>
                                        </p:tgtEl>
                                        <p:attrNameLst>
                                          <p:attrName>style.visibility</p:attrName>
                                        </p:attrNameLst>
                                      </p:cBhvr>
                                      <p:to>
                                        <p:strVal val="visible"/>
                                      </p:to>
                                    </p:set>
                                    <p:animEffect transition="in" filter="box(in)">
                                      <p:cBhvr>
                                        <p:cTn id="13" dur="500"/>
                                        <p:tgtEl>
                                          <p:spTgt spid="51200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nodeType="clickEffect">
                                  <p:stCondLst>
                                    <p:cond delay="0"/>
                                  </p:stCondLst>
                                  <p:childTnLst>
                                    <p:set>
                                      <p:cBhvr>
                                        <p:cTn id="17" dur="1" fill="hold">
                                          <p:stCondLst>
                                            <p:cond delay="0"/>
                                          </p:stCondLst>
                                        </p:cTn>
                                        <p:tgtEl>
                                          <p:spTgt spid="512003">
                                            <p:txEl>
                                              <p:pRg st="3" end="3"/>
                                            </p:txEl>
                                          </p:spTgt>
                                        </p:tgtEl>
                                        <p:attrNameLst>
                                          <p:attrName>style.visibility</p:attrName>
                                        </p:attrNameLst>
                                      </p:cBhvr>
                                      <p:to>
                                        <p:strVal val="visible"/>
                                      </p:to>
                                    </p:set>
                                    <p:animEffect transition="in" filter="box(in)">
                                      <p:cBhvr>
                                        <p:cTn id="18" dur="500"/>
                                        <p:tgtEl>
                                          <p:spTgt spid="512003">
                                            <p:txEl>
                                              <p:pRg st="3" end="3"/>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512003">
                                            <p:txEl>
                                              <p:pRg st="4" end="4"/>
                                            </p:txEl>
                                          </p:spTgt>
                                        </p:tgtEl>
                                        <p:attrNameLst>
                                          <p:attrName>style.visibility</p:attrName>
                                        </p:attrNameLst>
                                      </p:cBhvr>
                                      <p:to>
                                        <p:strVal val="visible"/>
                                      </p:to>
                                    </p:set>
                                    <p:animEffect transition="in" filter="box(in)">
                                      <p:cBhvr>
                                        <p:cTn id="21" dur="500"/>
                                        <p:tgtEl>
                                          <p:spTgt spid="5120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页脚占位符 4">
            <a:extLst>
              <a:ext uri="{FF2B5EF4-FFF2-40B4-BE49-F238E27FC236}">
                <a16:creationId xmlns:a16="http://schemas.microsoft.com/office/drawing/2014/main" id="{73EF956A-B73C-827E-344E-515F35CE30E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4339" name="Rectangle 2">
            <a:extLst>
              <a:ext uri="{FF2B5EF4-FFF2-40B4-BE49-F238E27FC236}">
                <a16:creationId xmlns:a16="http://schemas.microsoft.com/office/drawing/2014/main" id="{AEAE2DEE-DF28-CC4D-FB15-FECEBDF6EA87}"/>
              </a:ext>
            </a:extLst>
          </p:cNvPr>
          <p:cNvSpPr>
            <a:spLocks noGrp="1" noChangeArrowheads="1"/>
          </p:cNvSpPr>
          <p:nvPr>
            <p:ph type="title"/>
          </p:nvPr>
        </p:nvSpPr>
        <p:spPr/>
        <p:txBody>
          <a:bodyPr/>
          <a:lstStyle/>
          <a:p>
            <a:pPr eaLnBrk="1" hangingPunct="1"/>
            <a:r>
              <a:rPr lang="en-US" altLang="zh-CN"/>
              <a:t>E-R</a:t>
            </a:r>
            <a:r>
              <a:rPr lang="zh-CN" altLang="en-US"/>
              <a:t>图向关系模型的转换（续）</a:t>
            </a:r>
          </a:p>
        </p:txBody>
      </p:sp>
      <p:sp>
        <p:nvSpPr>
          <p:cNvPr id="513027" name="Rectangle 3">
            <a:extLst>
              <a:ext uri="{FF2B5EF4-FFF2-40B4-BE49-F238E27FC236}">
                <a16:creationId xmlns:a16="http://schemas.microsoft.com/office/drawing/2014/main" id="{30DC9D0E-BAA8-C3F2-D09C-4FD138032D74}"/>
              </a:ext>
            </a:extLst>
          </p:cNvPr>
          <p:cNvSpPr>
            <a:spLocks noGrp="1" noChangeArrowheads="1"/>
          </p:cNvSpPr>
          <p:nvPr>
            <p:ph type="body" idx="1"/>
          </p:nvPr>
        </p:nvSpPr>
        <p:spPr>
          <a:xfrm>
            <a:off x="468313" y="2017713"/>
            <a:ext cx="8486775" cy="4114800"/>
          </a:xfrm>
        </p:spPr>
        <p:txBody>
          <a:bodyPr/>
          <a:lstStyle/>
          <a:p>
            <a:pPr eaLnBrk="1" hangingPunct="1">
              <a:buFont typeface="Wingdings" panose="05000000000000000000" pitchFamily="2" charset="2"/>
              <a:buNone/>
              <a:defRPr/>
            </a:pPr>
            <a:r>
              <a:rPr lang="en-US" altLang="zh-CN" sz="2800" dirty="0"/>
              <a:t>⒊ </a:t>
            </a:r>
            <a:r>
              <a:rPr lang="zh-CN" altLang="en-US" sz="2800" dirty="0"/>
              <a:t>一个</a:t>
            </a:r>
            <a:r>
              <a:rPr lang="en-US" altLang="zh-CN" sz="2800" dirty="0">
                <a:solidFill>
                  <a:schemeClr val="accent2"/>
                </a:solidFill>
              </a:rPr>
              <a:t>1:n</a:t>
            </a:r>
            <a:r>
              <a:rPr lang="zh-CN" altLang="en-US" sz="2800" dirty="0">
                <a:solidFill>
                  <a:schemeClr val="accent2"/>
                </a:solidFill>
              </a:rPr>
              <a:t>联系</a:t>
            </a:r>
            <a:r>
              <a:rPr lang="zh-CN" altLang="en-US" sz="2800" dirty="0"/>
              <a:t>可以转换为一个独立的关系模式，也可以与</a:t>
            </a:r>
            <a:r>
              <a:rPr lang="en-US" altLang="zh-CN" sz="2800" dirty="0"/>
              <a:t>n</a:t>
            </a:r>
            <a:r>
              <a:rPr lang="zh-CN" altLang="en-US" sz="2800" dirty="0"/>
              <a:t>端对应的关系模式合并。</a:t>
            </a:r>
          </a:p>
          <a:p>
            <a:pPr lvl="1" eaLnBrk="1" hangingPunct="1">
              <a:spcBef>
                <a:spcPct val="50000"/>
              </a:spcBef>
              <a:defRPr/>
            </a:pPr>
            <a:r>
              <a:rPr lang="en-US" altLang="zh-CN" dirty="0"/>
              <a:t>1) </a:t>
            </a:r>
            <a:r>
              <a:rPr lang="zh-CN" altLang="en-US" dirty="0"/>
              <a:t>转换为一个独立的关系模式</a:t>
            </a:r>
          </a:p>
          <a:p>
            <a:pPr lvl="2" eaLnBrk="1" hangingPunct="1">
              <a:spcBef>
                <a:spcPct val="60000"/>
              </a:spcBef>
              <a:defRPr/>
            </a:pPr>
            <a:r>
              <a:rPr lang="zh-CN" altLang="en-US" sz="2800" i="1" dirty="0">
                <a:solidFill>
                  <a:schemeClr val="accent2"/>
                </a:solidFill>
                <a:effectLst>
                  <a:outerShdw blurRad="38100" dist="38100" dir="2700000" algn="tl">
                    <a:srgbClr val="000000"/>
                  </a:outerShdw>
                </a:effectLst>
              </a:rPr>
              <a:t>关系的属性</a:t>
            </a:r>
            <a:r>
              <a:rPr lang="zh-CN" altLang="en-US" sz="2800" dirty="0">
                <a:solidFill>
                  <a:schemeClr val="accent2"/>
                </a:solidFill>
              </a:rPr>
              <a:t>：</a:t>
            </a:r>
            <a:r>
              <a:rPr lang="zh-CN" altLang="en-US" sz="2800" dirty="0"/>
              <a:t>与该联系相连的各实体的码以及联系本身的属性</a:t>
            </a:r>
          </a:p>
          <a:p>
            <a:pPr lvl="2" eaLnBrk="1" hangingPunct="1">
              <a:spcBef>
                <a:spcPct val="60000"/>
              </a:spcBef>
              <a:defRPr/>
            </a:pPr>
            <a:r>
              <a:rPr lang="zh-CN" altLang="en-US" sz="2800" i="1" dirty="0">
                <a:solidFill>
                  <a:schemeClr val="accent2"/>
                </a:solidFill>
                <a:effectLst>
                  <a:outerShdw blurRad="38100" dist="38100" dir="2700000" algn="tl">
                    <a:srgbClr val="000000"/>
                  </a:outerShdw>
                </a:effectLst>
              </a:rPr>
              <a:t>关系的码</a:t>
            </a:r>
            <a:r>
              <a:rPr lang="zh-CN" altLang="en-US" sz="2800" dirty="0">
                <a:solidFill>
                  <a:schemeClr val="accent2"/>
                </a:solidFill>
              </a:rPr>
              <a:t>：</a:t>
            </a:r>
            <a:r>
              <a:rPr lang="en-US" altLang="zh-CN" sz="2800" dirty="0"/>
              <a:t>n</a:t>
            </a:r>
            <a:r>
              <a:rPr lang="zh-CN" altLang="en-US" sz="2800" dirty="0"/>
              <a:t>端实体的码</a:t>
            </a:r>
          </a:p>
          <a:p>
            <a:pPr lvl="1" eaLnBrk="1" hangingPunct="1">
              <a:defRPr/>
            </a:pP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13027">
                                            <p:txEl>
                                              <p:pRg st="1" end="1"/>
                                            </p:txEl>
                                          </p:spTgt>
                                        </p:tgtEl>
                                        <p:attrNameLst>
                                          <p:attrName>style.visibility</p:attrName>
                                        </p:attrNameLst>
                                      </p:cBhvr>
                                      <p:to>
                                        <p:strVal val="visible"/>
                                      </p:to>
                                    </p:set>
                                    <p:animEffect transition="in" filter="box(in)">
                                      <p:cBhvr>
                                        <p:cTn id="7" dur="500"/>
                                        <p:tgtEl>
                                          <p:spTgt spid="513027">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13027">
                                            <p:txEl>
                                              <p:pRg st="2" end="2"/>
                                            </p:txEl>
                                          </p:spTgt>
                                        </p:tgtEl>
                                        <p:attrNameLst>
                                          <p:attrName>style.visibility</p:attrName>
                                        </p:attrNameLst>
                                      </p:cBhvr>
                                      <p:to>
                                        <p:strVal val="visible"/>
                                      </p:to>
                                    </p:set>
                                    <p:animEffect transition="in" filter="box(in)">
                                      <p:cBhvr>
                                        <p:cTn id="10" dur="500"/>
                                        <p:tgtEl>
                                          <p:spTgt spid="513027">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513027">
                                            <p:txEl>
                                              <p:pRg st="3" end="3"/>
                                            </p:txEl>
                                          </p:spTgt>
                                        </p:tgtEl>
                                        <p:attrNameLst>
                                          <p:attrName>style.visibility</p:attrName>
                                        </p:attrNameLst>
                                      </p:cBhvr>
                                      <p:to>
                                        <p:strVal val="visible"/>
                                      </p:to>
                                    </p:set>
                                    <p:animEffect transition="in" filter="box(in)">
                                      <p:cBhvr>
                                        <p:cTn id="13" dur="500"/>
                                        <p:tgtEl>
                                          <p:spTgt spid="5130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a:extLst>
              <a:ext uri="{FF2B5EF4-FFF2-40B4-BE49-F238E27FC236}">
                <a16:creationId xmlns:a16="http://schemas.microsoft.com/office/drawing/2014/main" id="{125DB30C-D81D-416E-7DF2-DC97F713EB3A}"/>
              </a:ext>
            </a:extLst>
          </p:cNvPr>
          <p:cNvSpPr>
            <a:spLocks noGrp="1" noChangeArrowheads="1"/>
          </p:cNvSpPr>
          <p:nvPr>
            <p:ph type="title"/>
          </p:nvPr>
        </p:nvSpPr>
        <p:spPr/>
        <p:txBody>
          <a:bodyPr/>
          <a:lstStyle/>
          <a:p>
            <a:r>
              <a:rPr lang="zh-CN" altLang="en-US"/>
              <a:t>例子</a:t>
            </a:r>
          </a:p>
        </p:txBody>
      </p:sp>
      <p:sp>
        <p:nvSpPr>
          <p:cNvPr id="3" name="内容占位符 2">
            <a:extLst>
              <a:ext uri="{FF2B5EF4-FFF2-40B4-BE49-F238E27FC236}">
                <a16:creationId xmlns:a16="http://schemas.microsoft.com/office/drawing/2014/main" id="{8718DB8E-E195-E26D-C652-7A42B5A22C12}"/>
              </a:ext>
            </a:extLst>
          </p:cNvPr>
          <p:cNvSpPr>
            <a:spLocks noGrp="1" noChangeArrowheads="1"/>
          </p:cNvSpPr>
          <p:nvPr>
            <p:ph idx="1"/>
          </p:nvPr>
        </p:nvSpPr>
        <p:spPr>
          <a:xfrm>
            <a:off x="395288" y="2017713"/>
            <a:ext cx="8559800" cy="4114800"/>
          </a:xfrm>
        </p:spPr>
        <p:txBody>
          <a:bodyPr/>
          <a:lstStyle/>
          <a:p>
            <a:pPr eaLnBrk="1" hangingPunct="1">
              <a:buFont typeface="Wingdings" panose="05000000000000000000" pitchFamily="2" charset="2"/>
              <a:buNone/>
            </a:pPr>
            <a:r>
              <a:rPr lang="zh-CN" altLang="en-US">
                <a:latin typeface="Times New Roman" panose="02020603050405020304" pitchFamily="18" charset="0"/>
              </a:rPr>
              <a:t>班级与学生之间“</a:t>
            </a:r>
            <a:r>
              <a:rPr lang="zh-CN" altLang="en-US"/>
              <a:t>组成</a:t>
            </a:r>
            <a:r>
              <a:rPr lang="zh-CN" altLang="en-US">
                <a:latin typeface="Times New Roman" panose="02020603050405020304" pitchFamily="18" charset="0"/>
              </a:rPr>
              <a:t>”</a:t>
            </a:r>
            <a:r>
              <a:rPr lang="zh-CN" altLang="en-US"/>
              <a:t>联系为</a:t>
            </a:r>
            <a:r>
              <a:rPr lang="en-US" altLang="zh-CN"/>
              <a:t>1:n</a:t>
            </a:r>
            <a:r>
              <a:rPr lang="zh-CN" altLang="en-US"/>
              <a:t>联系。</a:t>
            </a:r>
          </a:p>
          <a:p>
            <a:pPr eaLnBrk="1" hangingPunct="1">
              <a:buFont typeface="Wingdings" panose="05000000000000000000" pitchFamily="2" charset="2"/>
              <a:buNone/>
            </a:pPr>
            <a:r>
              <a:rPr lang="zh-CN" altLang="en-US"/>
              <a:t>	将其转换为关系模式：</a:t>
            </a:r>
          </a:p>
          <a:p>
            <a:pPr eaLnBrk="1" hangingPunct="1">
              <a:buFont typeface="Wingdings" panose="05000000000000000000" pitchFamily="2" charset="2"/>
              <a:buNone/>
            </a:pPr>
            <a:r>
              <a:rPr lang="zh-CN" altLang="en-US"/>
              <a:t> </a:t>
            </a:r>
            <a:r>
              <a:rPr lang="en-US" altLang="zh-CN"/>
              <a:t>1)</a:t>
            </a:r>
            <a:r>
              <a:rPr lang="zh-CN" altLang="en-US"/>
              <a:t>使其成为一个独立的关系模式：</a:t>
            </a:r>
          </a:p>
          <a:p>
            <a:pPr eaLnBrk="1" hangingPunct="1">
              <a:buFont typeface="Wingdings" panose="05000000000000000000" pitchFamily="2" charset="2"/>
              <a:buNone/>
            </a:pPr>
            <a:r>
              <a:rPr lang="zh-CN" altLang="en-US"/>
              <a:t>　　组成（</a:t>
            </a:r>
            <a:r>
              <a:rPr lang="zh-CN" altLang="en-US" u="sng"/>
              <a:t>学号</a:t>
            </a:r>
            <a:r>
              <a:rPr lang="zh-CN" altLang="en-US"/>
              <a:t>，班级号，平均成绩）</a:t>
            </a:r>
          </a:p>
          <a:p>
            <a:endParaRPr lang="zh-CN" altLang="en-US"/>
          </a:p>
        </p:txBody>
      </p:sp>
      <p:sp>
        <p:nvSpPr>
          <p:cNvPr id="15364" name="页脚占位符 3">
            <a:extLst>
              <a:ext uri="{FF2B5EF4-FFF2-40B4-BE49-F238E27FC236}">
                <a16:creationId xmlns:a16="http://schemas.microsoft.com/office/drawing/2014/main" id="{A05A925A-A9D6-D1C4-D3C6-F353AFC09F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ox(in)">
                                      <p:cBhvr>
                                        <p:cTn id="7" dur="500"/>
                                        <p:tgtEl>
                                          <p:spTgt spid="3">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ox(in)">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a:extLst>
              <a:ext uri="{FF2B5EF4-FFF2-40B4-BE49-F238E27FC236}">
                <a16:creationId xmlns:a16="http://schemas.microsoft.com/office/drawing/2014/main" id="{4F3ABCE1-EEB1-0803-2FA8-C0D077F69AE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6387" name="Rectangle 2">
            <a:extLst>
              <a:ext uri="{FF2B5EF4-FFF2-40B4-BE49-F238E27FC236}">
                <a16:creationId xmlns:a16="http://schemas.microsoft.com/office/drawing/2014/main" id="{D6D5DEE4-1CFC-5C9D-F44C-94682BF0E5E1}"/>
              </a:ext>
            </a:extLst>
          </p:cNvPr>
          <p:cNvSpPr>
            <a:spLocks noGrp="1" noChangeArrowheads="1"/>
          </p:cNvSpPr>
          <p:nvPr>
            <p:ph type="title"/>
          </p:nvPr>
        </p:nvSpPr>
        <p:spPr/>
        <p:txBody>
          <a:bodyPr/>
          <a:lstStyle/>
          <a:p>
            <a:pPr eaLnBrk="1" hangingPunct="1"/>
            <a:r>
              <a:rPr lang="en-US" altLang="zh-CN"/>
              <a:t>E-R</a:t>
            </a:r>
            <a:r>
              <a:rPr lang="zh-CN" altLang="en-US"/>
              <a:t>图向关系模型的转换（续）</a:t>
            </a:r>
          </a:p>
        </p:txBody>
      </p:sp>
      <p:sp>
        <p:nvSpPr>
          <p:cNvPr id="514051" name="Rectangle 3">
            <a:extLst>
              <a:ext uri="{FF2B5EF4-FFF2-40B4-BE49-F238E27FC236}">
                <a16:creationId xmlns:a16="http://schemas.microsoft.com/office/drawing/2014/main" id="{D435D846-3C92-63CA-BEDA-C307CB4D37D2}"/>
              </a:ext>
            </a:extLst>
          </p:cNvPr>
          <p:cNvSpPr>
            <a:spLocks noGrp="1" noChangeArrowheads="1"/>
          </p:cNvSpPr>
          <p:nvPr>
            <p:ph type="body" idx="1"/>
          </p:nvPr>
        </p:nvSpPr>
        <p:spPr>
          <a:xfrm>
            <a:off x="250825" y="2017713"/>
            <a:ext cx="8704263" cy="4114800"/>
          </a:xfrm>
        </p:spPr>
        <p:txBody>
          <a:bodyPr/>
          <a:lstStyle/>
          <a:p>
            <a:pPr eaLnBrk="1" hangingPunct="1">
              <a:buFont typeface="Wingdings" panose="05000000000000000000" pitchFamily="2" charset="2"/>
              <a:buNone/>
              <a:defRPr/>
            </a:pPr>
            <a:r>
              <a:rPr lang="en-US" altLang="zh-CN" sz="2800" dirty="0"/>
              <a:t>⒊ </a:t>
            </a:r>
            <a:r>
              <a:rPr lang="zh-CN" altLang="en-US" sz="2800" dirty="0"/>
              <a:t>一个</a:t>
            </a:r>
            <a:r>
              <a:rPr lang="en-US" altLang="zh-CN" sz="2800" dirty="0">
                <a:solidFill>
                  <a:schemeClr val="accent2"/>
                </a:solidFill>
              </a:rPr>
              <a:t>1:n</a:t>
            </a:r>
            <a:r>
              <a:rPr lang="zh-CN" altLang="en-US" sz="2800" dirty="0">
                <a:solidFill>
                  <a:schemeClr val="accent2"/>
                </a:solidFill>
              </a:rPr>
              <a:t>联系</a:t>
            </a:r>
            <a:r>
              <a:rPr lang="zh-CN" altLang="en-US" sz="2800" dirty="0"/>
              <a:t>可以转换为一个独立的关系模式，也可以与</a:t>
            </a:r>
            <a:r>
              <a:rPr lang="en-US" altLang="zh-CN" sz="2800" dirty="0"/>
              <a:t>n</a:t>
            </a:r>
            <a:r>
              <a:rPr lang="zh-CN" altLang="en-US" sz="2800" dirty="0"/>
              <a:t>端对应的关系模式合并。</a:t>
            </a:r>
          </a:p>
          <a:p>
            <a:pPr lvl="1" eaLnBrk="1" hangingPunct="1">
              <a:spcBef>
                <a:spcPct val="50000"/>
              </a:spcBef>
              <a:defRPr/>
            </a:pPr>
            <a:r>
              <a:rPr lang="en-US" altLang="zh-CN" dirty="0"/>
              <a:t>2) </a:t>
            </a:r>
            <a:r>
              <a:rPr lang="zh-CN" altLang="en-US" dirty="0"/>
              <a:t>与</a:t>
            </a:r>
            <a:r>
              <a:rPr lang="en-US" altLang="zh-CN" dirty="0"/>
              <a:t>n</a:t>
            </a:r>
            <a:r>
              <a:rPr lang="zh-CN" altLang="en-US" dirty="0"/>
              <a:t>端对应的关系模式合并</a:t>
            </a:r>
          </a:p>
          <a:p>
            <a:pPr lvl="2" eaLnBrk="1" hangingPunct="1">
              <a:spcBef>
                <a:spcPct val="50000"/>
              </a:spcBef>
              <a:defRPr/>
            </a:pPr>
            <a:r>
              <a:rPr lang="zh-CN" altLang="en-US" sz="2800" i="1" dirty="0">
                <a:solidFill>
                  <a:schemeClr val="accent2"/>
                </a:solidFill>
                <a:effectLst>
                  <a:outerShdw blurRad="38100" dist="38100" dir="2700000" algn="tl">
                    <a:srgbClr val="000000"/>
                  </a:outerShdw>
                </a:effectLst>
              </a:rPr>
              <a:t>合并后关系的属性</a:t>
            </a:r>
            <a:r>
              <a:rPr lang="zh-CN" altLang="en-US" sz="2800" dirty="0">
                <a:solidFill>
                  <a:schemeClr val="accent2"/>
                </a:solidFill>
              </a:rPr>
              <a:t>：</a:t>
            </a:r>
            <a:r>
              <a:rPr lang="zh-CN" altLang="en-US" sz="2800" dirty="0"/>
              <a:t>在</a:t>
            </a:r>
            <a:r>
              <a:rPr lang="en-US" altLang="zh-CN" sz="2800" dirty="0"/>
              <a:t>n</a:t>
            </a:r>
            <a:r>
              <a:rPr lang="zh-CN" altLang="en-US" sz="2800" dirty="0"/>
              <a:t>端关系中加入</a:t>
            </a:r>
            <a:r>
              <a:rPr lang="en-US" altLang="zh-CN" sz="2800" dirty="0"/>
              <a:t>1</a:t>
            </a:r>
            <a:r>
              <a:rPr lang="zh-CN" altLang="en-US" sz="2800" dirty="0"/>
              <a:t>端关系的码和联系本身的属性</a:t>
            </a:r>
          </a:p>
          <a:p>
            <a:pPr lvl="2" eaLnBrk="1" hangingPunct="1">
              <a:spcBef>
                <a:spcPct val="50000"/>
              </a:spcBef>
              <a:defRPr/>
            </a:pPr>
            <a:r>
              <a:rPr lang="zh-CN" altLang="en-US" sz="2800" i="1" dirty="0">
                <a:solidFill>
                  <a:schemeClr val="accent2"/>
                </a:solidFill>
                <a:effectLst>
                  <a:outerShdw blurRad="38100" dist="38100" dir="2700000" algn="tl">
                    <a:srgbClr val="000000"/>
                  </a:outerShdw>
                </a:effectLst>
              </a:rPr>
              <a:t>合并后关系的码</a:t>
            </a:r>
            <a:r>
              <a:rPr lang="zh-CN" altLang="en-US" sz="2800" dirty="0">
                <a:solidFill>
                  <a:schemeClr val="accent2"/>
                </a:solidFill>
              </a:rPr>
              <a:t>：</a:t>
            </a:r>
            <a:r>
              <a:rPr lang="zh-CN" altLang="en-US" sz="2800" dirty="0"/>
              <a:t>不变</a:t>
            </a:r>
          </a:p>
          <a:p>
            <a:pPr lvl="1" eaLnBrk="1" hangingPunct="1">
              <a:spcBef>
                <a:spcPct val="50000"/>
              </a:spcBef>
              <a:defRPr/>
            </a:pPr>
            <a:r>
              <a:rPr lang="zh-CN" altLang="en-US" dirty="0"/>
              <a:t>可以减少系统中的关系个数，一般情况下更倾向于采用这种方法</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14051">
                                            <p:txEl>
                                              <p:pRg st="1" end="1"/>
                                            </p:txEl>
                                          </p:spTgt>
                                        </p:tgtEl>
                                        <p:attrNameLst>
                                          <p:attrName>style.visibility</p:attrName>
                                        </p:attrNameLst>
                                      </p:cBhvr>
                                      <p:to>
                                        <p:strVal val="visible"/>
                                      </p:to>
                                    </p:set>
                                    <p:animEffect transition="in" filter="box(in)">
                                      <p:cBhvr>
                                        <p:cTn id="7" dur="500"/>
                                        <p:tgtEl>
                                          <p:spTgt spid="514051">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14051">
                                            <p:txEl>
                                              <p:pRg st="2" end="2"/>
                                            </p:txEl>
                                          </p:spTgt>
                                        </p:tgtEl>
                                        <p:attrNameLst>
                                          <p:attrName>style.visibility</p:attrName>
                                        </p:attrNameLst>
                                      </p:cBhvr>
                                      <p:to>
                                        <p:strVal val="visible"/>
                                      </p:to>
                                    </p:set>
                                    <p:animEffect transition="in" filter="box(in)">
                                      <p:cBhvr>
                                        <p:cTn id="10" dur="500"/>
                                        <p:tgtEl>
                                          <p:spTgt spid="514051">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514051">
                                            <p:txEl>
                                              <p:pRg st="3" end="3"/>
                                            </p:txEl>
                                          </p:spTgt>
                                        </p:tgtEl>
                                        <p:attrNameLst>
                                          <p:attrName>style.visibility</p:attrName>
                                        </p:attrNameLst>
                                      </p:cBhvr>
                                      <p:to>
                                        <p:strVal val="visible"/>
                                      </p:to>
                                    </p:set>
                                    <p:animEffect transition="in" filter="box(in)">
                                      <p:cBhvr>
                                        <p:cTn id="13" dur="500"/>
                                        <p:tgtEl>
                                          <p:spTgt spid="514051">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514051">
                                            <p:txEl>
                                              <p:pRg st="4" end="4"/>
                                            </p:txEl>
                                          </p:spTgt>
                                        </p:tgtEl>
                                        <p:attrNameLst>
                                          <p:attrName>style.visibility</p:attrName>
                                        </p:attrNameLst>
                                      </p:cBhvr>
                                      <p:to>
                                        <p:strVal val="visible"/>
                                      </p:to>
                                    </p:set>
                                    <p:animEffect transition="in" filter="box(in)">
                                      <p:cBhvr>
                                        <p:cTn id="16" dur="500"/>
                                        <p:tgtEl>
                                          <p:spTgt spid="5140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4">
            <a:extLst>
              <a:ext uri="{FF2B5EF4-FFF2-40B4-BE49-F238E27FC236}">
                <a16:creationId xmlns:a16="http://schemas.microsoft.com/office/drawing/2014/main" id="{D52AF3DB-F80F-875B-1054-8EB513F1516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7411" name="Rectangle 2">
            <a:extLst>
              <a:ext uri="{FF2B5EF4-FFF2-40B4-BE49-F238E27FC236}">
                <a16:creationId xmlns:a16="http://schemas.microsoft.com/office/drawing/2014/main" id="{B0C95235-C95C-16A5-8379-43AC8061E0D4}"/>
              </a:ext>
            </a:extLst>
          </p:cNvPr>
          <p:cNvSpPr>
            <a:spLocks noGrp="1" noChangeArrowheads="1"/>
          </p:cNvSpPr>
          <p:nvPr>
            <p:ph type="title"/>
          </p:nvPr>
        </p:nvSpPr>
        <p:spPr/>
        <p:txBody>
          <a:bodyPr/>
          <a:lstStyle/>
          <a:p>
            <a:pPr eaLnBrk="1" hangingPunct="1"/>
            <a:r>
              <a:rPr lang="en-US" altLang="zh-CN"/>
              <a:t>E-R</a:t>
            </a:r>
            <a:r>
              <a:rPr lang="zh-CN" altLang="en-US"/>
              <a:t>图向关系模型的转换（续）</a:t>
            </a:r>
          </a:p>
        </p:txBody>
      </p:sp>
      <p:sp>
        <p:nvSpPr>
          <p:cNvPr id="10244" name="Rectangle 3">
            <a:extLst>
              <a:ext uri="{FF2B5EF4-FFF2-40B4-BE49-F238E27FC236}">
                <a16:creationId xmlns:a16="http://schemas.microsoft.com/office/drawing/2014/main" id="{06A1B306-83F8-D6EB-DEF6-9DD578399855}"/>
              </a:ext>
            </a:extLst>
          </p:cNvPr>
          <p:cNvSpPr>
            <a:spLocks noGrp="1" noChangeArrowheads="1"/>
          </p:cNvSpPr>
          <p:nvPr>
            <p:ph type="body" idx="1"/>
          </p:nvPr>
        </p:nvSpPr>
        <p:spPr>
          <a:xfrm>
            <a:off x="539750" y="2017713"/>
            <a:ext cx="8415338" cy="4114800"/>
          </a:xfrm>
        </p:spPr>
        <p:txBody>
          <a:bodyPr/>
          <a:lstStyle/>
          <a:p>
            <a:pPr eaLnBrk="1" hangingPunct="1">
              <a:buFont typeface="Wingdings" panose="05000000000000000000" pitchFamily="2" charset="2"/>
              <a:buNone/>
            </a:pPr>
            <a:r>
              <a:rPr lang="zh-CN" altLang="en-US" sz="2800">
                <a:latin typeface="Times New Roman" panose="02020603050405020304" pitchFamily="18" charset="0"/>
              </a:rPr>
              <a:t>班级与学生之间的“</a:t>
            </a:r>
            <a:r>
              <a:rPr lang="zh-CN" altLang="en-US" sz="2800"/>
              <a:t>组成</a:t>
            </a:r>
            <a:r>
              <a:rPr lang="zh-CN" altLang="en-US" sz="2800">
                <a:latin typeface="Times New Roman" panose="02020603050405020304" pitchFamily="18" charset="0"/>
              </a:rPr>
              <a:t>”</a:t>
            </a:r>
            <a:r>
              <a:rPr lang="zh-CN" altLang="en-US" sz="2800"/>
              <a:t>联系为</a:t>
            </a:r>
            <a:r>
              <a:rPr lang="en-US" altLang="zh-CN" sz="2800"/>
              <a:t>1:n</a:t>
            </a:r>
            <a:r>
              <a:rPr lang="zh-CN" altLang="en-US" sz="2800"/>
              <a:t>联系。</a:t>
            </a:r>
          </a:p>
          <a:p>
            <a:pPr eaLnBrk="1" hangingPunct="1">
              <a:buFont typeface="Wingdings" panose="05000000000000000000" pitchFamily="2" charset="2"/>
              <a:buNone/>
            </a:pPr>
            <a:r>
              <a:rPr lang="zh-CN" altLang="en-US" sz="2800"/>
              <a:t>	</a:t>
            </a:r>
          </a:p>
          <a:p>
            <a:pPr eaLnBrk="1" hangingPunct="1">
              <a:buFont typeface="Wingdings" panose="05000000000000000000" pitchFamily="2" charset="2"/>
              <a:buNone/>
            </a:pPr>
            <a:r>
              <a:rPr lang="zh-CN" altLang="en-US" sz="2800"/>
              <a:t> </a:t>
            </a:r>
            <a:r>
              <a:rPr lang="en-US" altLang="zh-CN" sz="2800"/>
              <a:t>2)</a:t>
            </a:r>
            <a:r>
              <a:rPr lang="zh-CN" altLang="en-US" sz="2800"/>
              <a:t>将其学生关系模式合并：</a:t>
            </a:r>
          </a:p>
          <a:p>
            <a:pPr eaLnBrk="1" hangingPunct="1">
              <a:buFont typeface="Wingdings" panose="05000000000000000000" pitchFamily="2" charset="2"/>
              <a:buNone/>
            </a:pPr>
            <a:r>
              <a:rPr lang="zh-CN" altLang="en-US" sz="2800"/>
              <a:t>		学生（</a:t>
            </a:r>
            <a:r>
              <a:rPr lang="zh-CN" altLang="en-US" sz="2800" u="sng"/>
              <a:t>学号</a:t>
            </a:r>
            <a:r>
              <a:rPr lang="zh-CN" altLang="en-US" sz="2800"/>
              <a:t>，姓名，出生日期，所在系，</a:t>
            </a:r>
          </a:p>
          <a:p>
            <a:pPr eaLnBrk="1" hangingPunct="1">
              <a:buFont typeface="Wingdings" panose="05000000000000000000" pitchFamily="2" charset="2"/>
              <a:buNone/>
            </a:pPr>
            <a:r>
              <a:rPr lang="zh-CN" altLang="en-US" sz="2800"/>
              <a:t>                      年级，</a:t>
            </a:r>
            <a:r>
              <a:rPr lang="zh-CN" altLang="en-US" sz="2800">
                <a:solidFill>
                  <a:schemeClr val="accent2"/>
                </a:solidFill>
              </a:rPr>
              <a:t>班级号</a:t>
            </a:r>
            <a:r>
              <a:rPr lang="zh-CN" altLang="en-US" sz="2800"/>
              <a:t>，平均成绩）</a:t>
            </a:r>
          </a:p>
          <a:p>
            <a:pPr eaLnBrk="1" hangingPunct="1">
              <a:buFont typeface="Wingdings" panose="05000000000000000000" pitchFamily="2" charset="2"/>
              <a:buNone/>
            </a:pPr>
            <a:endParaRPr lang="en-US" altLang="zh-CN"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244">
                                            <p:txEl>
                                              <p:pRg st="2" end="2"/>
                                            </p:txEl>
                                          </p:spTgt>
                                        </p:tgtEl>
                                        <p:attrNameLst>
                                          <p:attrName>style.visibility</p:attrName>
                                        </p:attrNameLst>
                                      </p:cBhvr>
                                      <p:to>
                                        <p:strVal val="visible"/>
                                      </p:to>
                                    </p:set>
                                    <p:animEffect transition="in" filter="box(in)">
                                      <p:cBhvr>
                                        <p:cTn id="7" dur="500"/>
                                        <p:tgtEl>
                                          <p:spTgt spid="10244">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0244">
                                            <p:txEl>
                                              <p:pRg st="3" end="3"/>
                                            </p:txEl>
                                          </p:spTgt>
                                        </p:tgtEl>
                                        <p:attrNameLst>
                                          <p:attrName>style.visibility</p:attrName>
                                        </p:attrNameLst>
                                      </p:cBhvr>
                                      <p:to>
                                        <p:strVal val="visible"/>
                                      </p:to>
                                    </p:set>
                                    <p:animEffect transition="in" filter="box(in)">
                                      <p:cBhvr>
                                        <p:cTn id="10" dur="500"/>
                                        <p:tgtEl>
                                          <p:spTgt spid="10244">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0244">
                                            <p:txEl>
                                              <p:pRg st="4" end="4"/>
                                            </p:txEl>
                                          </p:spTgt>
                                        </p:tgtEl>
                                        <p:attrNameLst>
                                          <p:attrName>style.visibility</p:attrName>
                                        </p:attrNameLst>
                                      </p:cBhvr>
                                      <p:to>
                                        <p:strVal val="visible"/>
                                      </p:to>
                                    </p:set>
                                    <p:animEffect transition="in" filter="box(in)">
                                      <p:cBhvr>
                                        <p:cTn id="13" dur="500"/>
                                        <p:tgtEl>
                                          <p:spTgt spid="1024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4">
            <a:extLst>
              <a:ext uri="{FF2B5EF4-FFF2-40B4-BE49-F238E27FC236}">
                <a16:creationId xmlns:a16="http://schemas.microsoft.com/office/drawing/2014/main" id="{E71C6FC6-DD74-1A3F-DC22-6C0671B3BAA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8435" name="Rectangle 2">
            <a:extLst>
              <a:ext uri="{FF2B5EF4-FFF2-40B4-BE49-F238E27FC236}">
                <a16:creationId xmlns:a16="http://schemas.microsoft.com/office/drawing/2014/main" id="{0A62E775-F1D4-DA89-3F90-E2EEB75E0AF8}"/>
              </a:ext>
            </a:extLst>
          </p:cNvPr>
          <p:cNvSpPr>
            <a:spLocks noGrp="1" noChangeArrowheads="1"/>
          </p:cNvSpPr>
          <p:nvPr>
            <p:ph type="title"/>
          </p:nvPr>
        </p:nvSpPr>
        <p:spPr/>
        <p:txBody>
          <a:bodyPr/>
          <a:lstStyle/>
          <a:p>
            <a:pPr eaLnBrk="1" hangingPunct="1"/>
            <a:r>
              <a:rPr lang="en-US" altLang="zh-CN"/>
              <a:t>E-R</a:t>
            </a:r>
            <a:r>
              <a:rPr lang="zh-CN" altLang="en-US"/>
              <a:t>图向关系模型的转换（续）</a:t>
            </a:r>
          </a:p>
        </p:txBody>
      </p:sp>
      <p:sp>
        <p:nvSpPr>
          <p:cNvPr id="516099" name="Rectangle 3">
            <a:extLst>
              <a:ext uri="{FF2B5EF4-FFF2-40B4-BE49-F238E27FC236}">
                <a16:creationId xmlns:a16="http://schemas.microsoft.com/office/drawing/2014/main" id="{3DE2D17E-CAB6-85F0-AC4A-61315C559F90}"/>
              </a:ext>
            </a:extLst>
          </p:cNvPr>
          <p:cNvSpPr>
            <a:spLocks noGrp="1" noChangeArrowheads="1"/>
          </p:cNvSpPr>
          <p:nvPr>
            <p:ph type="body" idx="1"/>
          </p:nvPr>
        </p:nvSpPr>
        <p:spPr>
          <a:xfrm>
            <a:off x="755650" y="1989138"/>
            <a:ext cx="7772400" cy="3970337"/>
          </a:xfrm>
        </p:spPr>
        <p:txBody>
          <a:bodyPr/>
          <a:lstStyle/>
          <a:p>
            <a:pPr eaLnBrk="1" hangingPunct="1">
              <a:buFont typeface="Wingdings" panose="05000000000000000000" pitchFamily="2" charset="2"/>
              <a:buNone/>
              <a:defRPr/>
            </a:pPr>
            <a:r>
              <a:rPr lang="en-US" altLang="zh-CN" sz="2800" dirty="0"/>
              <a:t>⒋ </a:t>
            </a:r>
            <a:r>
              <a:rPr lang="zh-CN" altLang="en-US" sz="2800" dirty="0"/>
              <a:t>一个</a:t>
            </a:r>
            <a:r>
              <a:rPr lang="en-US" altLang="zh-CN" sz="2800" dirty="0">
                <a:solidFill>
                  <a:schemeClr val="accent2"/>
                </a:solidFill>
              </a:rPr>
              <a:t>1:1</a:t>
            </a:r>
            <a:r>
              <a:rPr lang="zh-CN" altLang="en-US" sz="2800" dirty="0">
                <a:solidFill>
                  <a:schemeClr val="accent2"/>
                </a:solidFill>
              </a:rPr>
              <a:t>联系</a:t>
            </a:r>
            <a:r>
              <a:rPr lang="zh-CN" altLang="en-US" sz="2800" dirty="0"/>
              <a:t>可以转换为一个独立的关系模式，也可以与任意一端对应的关系模式合并。</a:t>
            </a:r>
          </a:p>
          <a:p>
            <a:pPr lvl="1" eaLnBrk="1" hangingPunct="1">
              <a:spcBef>
                <a:spcPct val="60000"/>
              </a:spcBef>
              <a:defRPr/>
            </a:pPr>
            <a:r>
              <a:rPr lang="en-US" altLang="zh-CN" dirty="0"/>
              <a:t>1) </a:t>
            </a:r>
            <a:r>
              <a:rPr lang="zh-CN" altLang="en-US" dirty="0"/>
              <a:t>转换为一个独立的关系模式</a:t>
            </a:r>
          </a:p>
          <a:p>
            <a:pPr lvl="2" eaLnBrk="1" hangingPunct="1">
              <a:spcBef>
                <a:spcPct val="60000"/>
              </a:spcBef>
              <a:defRPr/>
            </a:pPr>
            <a:r>
              <a:rPr lang="zh-CN" altLang="en-US" sz="2800" i="1" dirty="0">
                <a:solidFill>
                  <a:schemeClr val="accent2"/>
                </a:solidFill>
                <a:effectLst>
                  <a:outerShdw blurRad="38100" dist="38100" dir="2700000" algn="tl">
                    <a:srgbClr val="000000"/>
                  </a:outerShdw>
                </a:effectLst>
              </a:rPr>
              <a:t>关系的属性</a:t>
            </a:r>
            <a:r>
              <a:rPr lang="zh-CN" altLang="en-US" sz="2800" dirty="0">
                <a:solidFill>
                  <a:schemeClr val="accent2"/>
                </a:solidFill>
              </a:rPr>
              <a:t>：</a:t>
            </a:r>
            <a:r>
              <a:rPr lang="zh-CN" altLang="en-US" sz="2800" dirty="0"/>
              <a:t>与该联系相连的各实体的码以及联系本身的属性</a:t>
            </a:r>
          </a:p>
          <a:p>
            <a:pPr lvl="2" eaLnBrk="1" hangingPunct="1">
              <a:spcBef>
                <a:spcPct val="60000"/>
              </a:spcBef>
              <a:defRPr/>
            </a:pPr>
            <a:r>
              <a:rPr lang="zh-CN" altLang="en-US" sz="2800" i="1" dirty="0">
                <a:solidFill>
                  <a:schemeClr val="accent2"/>
                </a:solidFill>
                <a:effectLst>
                  <a:outerShdw blurRad="38100" dist="38100" dir="2700000" algn="tl">
                    <a:srgbClr val="000000"/>
                  </a:outerShdw>
                </a:effectLst>
              </a:rPr>
              <a:t>关系的候选码</a:t>
            </a:r>
            <a:r>
              <a:rPr lang="zh-CN" altLang="en-US" sz="2800" dirty="0">
                <a:solidFill>
                  <a:schemeClr val="accent2"/>
                </a:solidFill>
              </a:rPr>
              <a:t>：</a:t>
            </a:r>
            <a:r>
              <a:rPr lang="zh-CN" altLang="en-US" sz="2800" dirty="0"/>
              <a:t>每个实体的码均是该关系的候选码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16099">
                                            <p:txEl>
                                              <p:pRg st="1" end="1"/>
                                            </p:txEl>
                                          </p:spTgt>
                                        </p:tgtEl>
                                        <p:attrNameLst>
                                          <p:attrName>style.visibility</p:attrName>
                                        </p:attrNameLst>
                                      </p:cBhvr>
                                      <p:to>
                                        <p:strVal val="visible"/>
                                      </p:to>
                                    </p:set>
                                    <p:animEffect transition="in" filter="box(in)">
                                      <p:cBhvr>
                                        <p:cTn id="7" dur="500"/>
                                        <p:tgtEl>
                                          <p:spTgt spid="516099">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16099">
                                            <p:txEl>
                                              <p:pRg st="2" end="2"/>
                                            </p:txEl>
                                          </p:spTgt>
                                        </p:tgtEl>
                                        <p:attrNameLst>
                                          <p:attrName>style.visibility</p:attrName>
                                        </p:attrNameLst>
                                      </p:cBhvr>
                                      <p:to>
                                        <p:strVal val="visible"/>
                                      </p:to>
                                    </p:set>
                                    <p:animEffect transition="in" filter="box(in)">
                                      <p:cBhvr>
                                        <p:cTn id="10" dur="500"/>
                                        <p:tgtEl>
                                          <p:spTgt spid="516099">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516099">
                                            <p:txEl>
                                              <p:pRg st="3" end="3"/>
                                            </p:txEl>
                                          </p:spTgt>
                                        </p:tgtEl>
                                        <p:attrNameLst>
                                          <p:attrName>style.visibility</p:attrName>
                                        </p:attrNameLst>
                                      </p:cBhvr>
                                      <p:to>
                                        <p:strVal val="visible"/>
                                      </p:to>
                                    </p:set>
                                    <p:animEffect transition="in" filter="box(in)">
                                      <p:cBhvr>
                                        <p:cTn id="13" dur="500"/>
                                        <p:tgtEl>
                                          <p:spTgt spid="5160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C8330C82-BD4D-F751-118E-EF1A0A61896F}"/>
              </a:ext>
            </a:extLst>
          </p:cNvPr>
          <p:cNvSpPr>
            <a:spLocks noGrp="1" noChangeArrowheads="1"/>
          </p:cNvSpPr>
          <p:nvPr>
            <p:ph type="title"/>
          </p:nvPr>
        </p:nvSpPr>
        <p:spPr/>
        <p:txBody>
          <a:bodyPr/>
          <a:lstStyle/>
          <a:p>
            <a:endParaRPr lang="zh-CN" altLang="en-US"/>
          </a:p>
        </p:txBody>
      </p:sp>
      <p:sp>
        <p:nvSpPr>
          <p:cNvPr id="19459" name="内容占位符 2">
            <a:extLst>
              <a:ext uri="{FF2B5EF4-FFF2-40B4-BE49-F238E27FC236}">
                <a16:creationId xmlns:a16="http://schemas.microsoft.com/office/drawing/2014/main" id="{A0E893C8-6EF5-43F0-6FCF-8CDF326F043D}"/>
              </a:ext>
            </a:extLst>
          </p:cNvPr>
          <p:cNvSpPr>
            <a:spLocks noGrp="1" noChangeArrowheads="1"/>
          </p:cNvSpPr>
          <p:nvPr>
            <p:ph idx="1"/>
          </p:nvPr>
        </p:nvSpPr>
        <p:spPr>
          <a:xfrm>
            <a:off x="468313" y="2060575"/>
            <a:ext cx="8064500" cy="4114800"/>
          </a:xfrm>
        </p:spPr>
        <p:txBody>
          <a:bodyPr/>
          <a:lstStyle/>
          <a:p>
            <a:pPr eaLnBrk="1" hangingPunct="1">
              <a:lnSpc>
                <a:spcPct val="90000"/>
              </a:lnSpc>
              <a:buFont typeface="Wingdings" panose="05000000000000000000" pitchFamily="2" charset="2"/>
              <a:buNone/>
            </a:pPr>
            <a:r>
              <a:rPr lang="zh-CN" altLang="en-US"/>
              <a:t>例，教师与班级之间的</a:t>
            </a:r>
            <a:r>
              <a:rPr lang="zh-CN" altLang="en-US">
                <a:latin typeface="Times New Roman" panose="02020603050405020304" pitchFamily="18" charset="0"/>
              </a:rPr>
              <a:t>“</a:t>
            </a:r>
            <a:r>
              <a:rPr lang="zh-CN" altLang="en-US"/>
              <a:t>管理</a:t>
            </a:r>
            <a:r>
              <a:rPr lang="zh-CN" altLang="en-US">
                <a:latin typeface="Times New Roman" panose="02020603050405020304" pitchFamily="18" charset="0"/>
              </a:rPr>
              <a:t>”</a:t>
            </a:r>
            <a:r>
              <a:rPr lang="zh-CN" altLang="en-US"/>
              <a:t>联系为</a:t>
            </a:r>
            <a:r>
              <a:rPr lang="en-US" altLang="zh-CN"/>
              <a:t>1:1</a:t>
            </a:r>
            <a:r>
              <a:rPr lang="zh-CN" altLang="en-US"/>
              <a:t>联系，可以转换：</a:t>
            </a:r>
          </a:p>
          <a:p>
            <a:pPr eaLnBrk="1" hangingPunct="1">
              <a:lnSpc>
                <a:spcPct val="90000"/>
              </a:lnSpc>
              <a:buFont typeface="Wingdings" panose="05000000000000000000" pitchFamily="2" charset="2"/>
              <a:buNone/>
            </a:pPr>
            <a:r>
              <a:rPr lang="zh-CN" altLang="en-US"/>
              <a:t>（</a:t>
            </a:r>
            <a:r>
              <a:rPr lang="en-US" altLang="zh-CN"/>
              <a:t>1</a:t>
            </a:r>
            <a:r>
              <a:rPr lang="zh-CN" altLang="en-US"/>
              <a:t>）转换为一个独立的关系模式：</a:t>
            </a:r>
          </a:p>
          <a:p>
            <a:pPr eaLnBrk="1" hangingPunct="1">
              <a:lnSpc>
                <a:spcPct val="90000"/>
              </a:lnSpc>
              <a:buFont typeface="Wingdings" panose="05000000000000000000" pitchFamily="2" charset="2"/>
              <a:buNone/>
            </a:pPr>
            <a:r>
              <a:rPr lang="zh-CN" altLang="en-US"/>
              <a:t>     		</a:t>
            </a:r>
            <a:r>
              <a:rPr lang="zh-CN" altLang="en-US" sz="2800"/>
              <a:t>管理（</a:t>
            </a:r>
            <a:r>
              <a:rPr lang="zh-CN" altLang="en-US" sz="2800" u="sng"/>
              <a:t>职工号</a:t>
            </a:r>
            <a:r>
              <a:rPr lang="zh-CN" altLang="en-US" sz="2800"/>
              <a:t>，班级号）</a:t>
            </a:r>
          </a:p>
          <a:p>
            <a:pPr eaLnBrk="1" hangingPunct="1">
              <a:lnSpc>
                <a:spcPct val="90000"/>
              </a:lnSpc>
              <a:buFont typeface="Wingdings" panose="05000000000000000000" pitchFamily="2" charset="2"/>
              <a:buNone/>
            </a:pPr>
            <a:r>
              <a:rPr lang="zh-CN" altLang="en-US" sz="2800"/>
              <a:t>     或		管理（职工号，</a:t>
            </a:r>
            <a:r>
              <a:rPr lang="zh-CN" altLang="en-US" sz="2800" u="sng"/>
              <a:t>班级号</a:t>
            </a:r>
            <a:r>
              <a:rPr lang="zh-CN" altLang="en-US" sz="2800"/>
              <a:t>）</a:t>
            </a:r>
          </a:p>
          <a:p>
            <a:endParaRPr lang="zh-CN" altLang="en-US"/>
          </a:p>
        </p:txBody>
      </p:sp>
      <p:sp>
        <p:nvSpPr>
          <p:cNvPr id="19460" name="页脚占位符 3">
            <a:extLst>
              <a:ext uri="{FF2B5EF4-FFF2-40B4-BE49-F238E27FC236}">
                <a16:creationId xmlns:a16="http://schemas.microsoft.com/office/drawing/2014/main" id="{8457D06C-C598-1540-DECB-21A2800BA2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4">
            <a:extLst>
              <a:ext uri="{FF2B5EF4-FFF2-40B4-BE49-F238E27FC236}">
                <a16:creationId xmlns:a16="http://schemas.microsoft.com/office/drawing/2014/main" id="{A4047E1E-B3DE-9AEE-BE99-04333D9C5E5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0483" name="Rectangle 2">
            <a:extLst>
              <a:ext uri="{FF2B5EF4-FFF2-40B4-BE49-F238E27FC236}">
                <a16:creationId xmlns:a16="http://schemas.microsoft.com/office/drawing/2014/main" id="{06E58747-3C81-7042-C91C-84C9932F480D}"/>
              </a:ext>
            </a:extLst>
          </p:cNvPr>
          <p:cNvSpPr>
            <a:spLocks noGrp="1" noChangeArrowheads="1"/>
          </p:cNvSpPr>
          <p:nvPr>
            <p:ph type="title"/>
          </p:nvPr>
        </p:nvSpPr>
        <p:spPr/>
        <p:txBody>
          <a:bodyPr/>
          <a:lstStyle/>
          <a:p>
            <a:pPr eaLnBrk="1" hangingPunct="1"/>
            <a:r>
              <a:rPr lang="en-US" altLang="zh-CN"/>
              <a:t>E-R</a:t>
            </a:r>
            <a:r>
              <a:rPr lang="zh-CN" altLang="en-US"/>
              <a:t>图向关系模型的转换（续）</a:t>
            </a:r>
          </a:p>
        </p:txBody>
      </p:sp>
      <p:sp>
        <p:nvSpPr>
          <p:cNvPr id="517123" name="Rectangle 3">
            <a:extLst>
              <a:ext uri="{FF2B5EF4-FFF2-40B4-BE49-F238E27FC236}">
                <a16:creationId xmlns:a16="http://schemas.microsoft.com/office/drawing/2014/main" id="{0AD63288-5512-01A9-EC1B-8E7BDFF656C7}"/>
              </a:ext>
            </a:extLst>
          </p:cNvPr>
          <p:cNvSpPr>
            <a:spLocks noGrp="1" noChangeArrowheads="1"/>
          </p:cNvSpPr>
          <p:nvPr>
            <p:ph type="body" idx="1"/>
          </p:nvPr>
        </p:nvSpPr>
        <p:spPr>
          <a:xfrm>
            <a:off x="539750" y="2017713"/>
            <a:ext cx="8415338" cy="4114800"/>
          </a:xfrm>
        </p:spPr>
        <p:txBody>
          <a:bodyPr/>
          <a:lstStyle/>
          <a:p>
            <a:pPr eaLnBrk="1" hangingPunct="1">
              <a:buFont typeface="Wingdings" panose="05000000000000000000" pitchFamily="2" charset="2"/>
              <a:buNone/>
              <a:defRPr/>
            </a:pPr>
            <a:r>
              <a:rPr lang="en-US" altLang="zh-CN" sz="2800" dirty="0"/>
              <a:t>⒋ </a:t>
            </a:r>
            <a:r>
              <a:rPr lang="zh-CN" altLang="en-US" sz="2800" dirty="0"/>
              <a:t>一个</a:t>
            </a:r>
            <a:r>
              <a:rPr lang="en-US" altLang="zh-CN" sz="2800" dirty="0">
                <a:solidFill>
                  <a:schemeClr val="accent2"/>
                </a:solidFill>
              </a:rPr>
              <a:t>1:1</a:t>
            </a:r>
            <a:r>
              <a:rPr lang="zh-CN" altLang="en-US" sz="2800" dirty="0">
                <a:solidFill>
                  <a:schemeClr val="accent2"/>
                </a:solidFill>
              </a:rPr>
              <a:t>联系</a:t>
            </a:r>
            <a:r>
              <a:rPr lang="zh-CN" altLang="en-US" sz="2800" dirty="0"/>
              <a:t>可以转换为一个独立的关系模式，也可以与任意一端对应的关系模式合并。</a:t>
            </a:r>
          </a:p>
          <a:p>
            <a:pPr lvl="1" eaLnBrk="1" hangingPunct="1">
              <a:spcBef>
                <a:spcPct val="60000"/>
              </a:spcBef>
              <a:defRPr/>
            </a:pPr>
            <a:r>
              <a:rPr lang="en-US" altLang="zh-CN" dirty="0"/>
              <a:t>2) </a:t>
            </a:r>
            <a:r>
              <a:rPr lang="zh-CN" altLang="en-US" dirty="0"/>
              <a:t>与某一端对应的关系模式合并</a:t>
            </a:r>
          </a:p>
          <a:p>
            <a:pPr lvl="2" eaLnBrk="1" hangingPunct="1">
              <a:spcBef>
                <a:spcPct val="60000"/>
              </a:spcBef>
              <a:defRPr/>
            </a:pPr>
            <a:r>
              <a:rPr lang="zh-CN" altLang="en-US" sz="2800" i="1" dirty="0">
                <a:solidFill>
                  <a:schemeClr val="accent2"/>
                </a:solidFill>
                <a:effectLst>
                  <a:outerShdw blurRad="38100" dist="38100" dir="2700000" algn="tl">
                    <a:srgbClr val="000000"/>
                  </a:outerShdw>
                </a:effectLst>
              </a:rPr>
              <a:t>合并后关系的属性</a:t>
            </a:r>
            <a:r>
              <a:rPr lang="zh-CN" altLang="en-US" sz="2800" dirty="0">
                <a:solidFill>
                  <a:schemeClr val="accent2"/>
                </a:solidFill>
              </a:rPr>
              <a:t>：</a:t>
            </a:r>
            <a:r>
              <a:rPr lang="zh-CN" altLang="en-US" sz="2800" dirty="0"/>
              <a:t>加入对应关系的码和联系本身的属性</a:t>
            </a:r>
          </a:p>
          <a:p>
            <a:pPr lvl="2" eaLnBrk="1" hangingPunct="1">
              <a:spcBef>
                <a:spcPct val="50000"/>
              </a:spcBef>
              <a:defRPr/>
            </a:pPr>
            <a:r>
              <a:rPr lang="zh-CN" altLang="en-US" sz="2800" i="1" dirty="0">
                <a:solidFill>
                  <a:schemeClr val="accent2"/>
                </a:solidFill>
                <a:effectLst>
                  <a:outerShdw blurRad="38100" dist="38100" dir="2700000" algn="tl">
                    <a:srgbClr val="000000"/>
                  </a:outerShdw>
                </a:effectLst>
              </a:rPr>
              <a:t>合并后关系的码</a:t>
            </a:r>
            <a:r>
              <a:rPr lang="zh-CN" altLang="en-US" sz="2800" dirty="0">
                <a:solidFill>
                  <a:schemeClr val="accent2"/>
                </a:solidFill>
              </a:rPr>
              <a:t>：</a:t>
            </a:r>
            <a:r>
              <a:rPr lang="zh-CN" altLang="en-US" sz="2800" dirty="0"/>
              <a:t>不变</a:t>
            </a:r>
          </a:p>
          <a:p>
            <a:pPr lvl="1" eaLnBrk="1" hangingPunct="1">
              <a:spcBef>
                <a:spcPct val="60000"/>
              </a:spcBef>
              <a:defRPr/>
            </a:pPr>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页脚占位符 4">
            <a:extLst>
              <a:ext uri="{FF2B5EF4-FFF2-40B4-BE49-F238E27FC236}">
                <a16:creationId xmlns:a16="http://schemas.microsoft.com/office/drawing/2014/main" id="{48074E1E-0A9F-A02E-E85C-15CBCA05E6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1507" name="Rectangle 2">
            <a:extLst>
              <a:ext uri="{FF2B5EF4-FFF2-40B4-BE49-F238E27FC236}">
                <a16:creationId xmlns:a16="http://schemas.microsoft.com/office/drawing/2014/main" id="{75A202D9-290C-5B6D-F032-605761C3DCA7}"/>
              </a:ext>
            </a:extLst>
          </p:cNvPr>
          <p:cNvSpPr>
            <a:spLocks noGrp="1" noChangeArrowheads="1"/>
          </p:cNvSpPr>
          <p:nvPr>
            <p:ph type="title"/>
          </p:nvPr>
        </p:nvSpPr>
        <p:spPr/>
        <p:txBody>
          <a:bodyPr/>
          <a:lstStyle/>
          <a:p>
            <a:pPr eaLnBrk="1" hangingPunct="1"/>
            <a:r>
              <a:rPr lang="en-US" altLang="zh-CN"/>
              <a:t>E-R</a:t>
            </a:r>
            <a:r>
              <a:rPr lang="zh-CN" altLang="en-US"/>
              <a:t>图向关系模型的转换（续）</a:t>
            </a:r>
          </a:p>
        </p:txBody>
      </p:sp>
      <p:sp>
        <p:nvSpPr>
          <p:cNvPr id="13316" name="Rectangle 3">
            <a:extLst>
              <a:ext uri="{FF2B5EF4-FFF2-40B4-BE49-F238E27FC236}">
                <a16:creationId xmlns:a16="http://schemas.microsoft.com/office/drawing/2014/main" id="{53C0564B-5230-45E1-6690-563870A07277}"/>
              </a:ext>
            </a:extLst>
          </p:cNvPr>
          <p:cNvSpPr>
            <a:spLocks noGrp="1" noChangeArrowheads="1"/>
          </p:cNvSpPr>
          <p:nvPr>
            <p:ph type="body" idx="1"/>
          </p:nvPr>
        </p:nvSpPr>
        <p:spPr>
          <a:xfrm>
            <a:off x="395288" y="1916113"/>
            <a:ext cx="8748712" cy="4114800"/>
          </a:xfrm>
        </p:spPr>
        <p:txBody>
          <a:bodyPr/>
          <a:lstStyle/>
          <a:p>
            <a:pPr eaLnBrk="1" hangingPunct="1">
              <a:lnSpc>
                <a:spcPct val="90000"/>
              </a:lnSpc>
              <a:buFont typeface="Wingdings" panose="05000000000000000000" pitchFamily="2" charset="2"/>
              <a:buNone/>
            </a:pPr>
            <a:r>
              <a:rPr lang="zh-CN" altLang="en-US" sz="2800"/>
              <a:t>例，教师与班级的</a:t>
            </a:r>
            <a:r>
              <a:rPr lang="zh-CN" altLang="en-US" sz="2800">
                <a:latin typeface="Times New Roman" panose="02020603050405020304" pitchFamily="18" charset="0"/>
              </a:rPr>
              <a:t>“</a:t>
            </a:r>
            <a:r>
              <a:rPr lang="zh-CN" altLang="en-US" sz="2800"/>
              <a:t>管理</a:t>
            </a:r>
            <a:r>
              <a:rPr lang="zh-CN" altLang="en-US" sz="2800">
                <a:latin typeface="Times New Roman" panose="02020603050405020304" pitchFamily="18" charset="0"/>
              </a:rPr>
              <a:t>”</a:t>
            </a:r>
            <a:r>
              <a:rPr lang="zh-CN" altLang="en-US" sz="2800"/>
              <a:t>联系为</a:t>
            </a:r>
            <a:r>
              <a:rPr lang="en-US" altLang="zh-CN" sz="2800"/>
              <a:t>1:1</a:t>
            </a:r>
            <a:r>
              <a:rPr lang="zh-CN" altLang="en-US" sz="2800"/>
              <a:t>联系，可以转换：</a:t>
            </a:r>
          </a:p>
          <a:p>
            <a:pPr eaLnBrk="1" hangingPunct="1">
              <a:lnSpc>
                <a:spcPct val="90000"/>
              </a:lnSpc>
              <a:buFont typeface="Wingdings" panose="05000000000000000000" pitchFamily="2" charset="2"/>
              <a:buNone/>
            </a:pPr>
            <a:endParaRPr lang="en-US" altLang="zh-CN" sz="2800"/>
          </a:p>
          <a:p>
            <a:pPr eaLnBrk="1" hangingPunct="1">
              <a:lnSpc>
                <a:spcPct val="90000"/>
              </a:lnSpc>
              <a:buFont typeface="Wingdings" panose="05000000000000000000" pitchFamily="2" charset="2"/>
              <a:buNone/>
            </a:pPr>
            <a:r>
              <a:rPr lang="zh-CN" altLang="en-US" sz="2800"/>
              <a:t>（</a:t>
            </a:r>
            <a:r>
              <a:rPr lang="en-US" altLang="zh-CN" sz="2800"/>
              <a:t>2</a:t>
            </a:r>
            <a:r>
              <a:rPr lang="zh-CN" altLang="en-US" sz="2800"/>
              <a:t>）</a:t>
            </a:r>
            <a:r>
              <a:rPr lang="zh-CN" altLang="en-US" sz="2800">
                <a:latin typeface="Times New Roman" panose="02020603050405020304" pitchFamily="18" charset="0"/>
              </a:rPr>
              <a:t>“</a:t>
            </a:r>
            <a:r>
              <a:rPr lang="zh-CN" altLang="en-US" sz="2800"/>
              <a:t>管理</a:t>
            </a:r>
            <a:r>
              <a:rPr lang="zh-CN" altLang="en-US" sz="2800">
                <a:latin typeface="Times New Roman" panose="02020603050405020304" pitchFamily="18" charset="0"/>
              </a:rPr>
              <a:t>”</a:t>
            </a:r>
            <a:r>
              <a:rPr lang="zh-CN" altLang="en-US" sz="2800"/>
              <a:t>联系与班级关系模式合并，则只需在班级关系中加入教师关系的码，即职工号：</a:t>
            </a:r>
          </a:p>
          <a:p>
            <a:pPr eaLnBrk="1" hangingPunct="1">
              <a:lnSpc>
                <a:spcPct val="90000"/>
              </a:lnSpc>
              <a:buFont typeface="Wingdings" panose="05000000000000000000" pitchFamily="2" charset="2"/>
              <a:buNone/>
            </a:pPr>
            <a:r>
              <a:rPr lang="zh-CN" altLang="en-US" sz="2800"/>
              <a:t>　　	班级：（</a:t>
            </a:r>
            <a:r>
              <a:rPr lang="zh-CN" altLang="en-US" sz="2800" u="sng"/>
              <a:t>班级号</a:t>
            </a:r>
            <a:r>
              <a:rPr lang="zh-CN" altLang="en-US" sz="2800"/>
              <a:t>，学生人数，</a:t>
            </a:r>
            <a:r>
              <a:rPr lang="zh-CN" altLang="en-US" sz="2800">
                <a:solidFill>
                  <a:schemeClr val="accent2"/>
                </a:solidFill>
              </a:rPr>
              <a:t>职工号</a:t>
            </a:r>
            <a:r>
              <a:rPr lang="zh-CN" altLang="en-US" sz="2800"/>
              <a:t>）</a:t>
            </a:r>
            <a:endParaRPr lang="en-US" altLang="zh-CN" sz="2800"/>
          </a:p>
          <a:p>
            <a:pPr eaLnBrk="1" hangingPunct="1">
              <a:lnSpc>
                <a:spcPct val="90000"/>
              </a:lnSpc>
              <a:buFont typeface="Wingdings" panose="05000000000000000000" pitchFamily="2" charset="2"/>
              <a:buNone/>
            </a:pPr>
            <a:endParaRPr lang="zh-CN" altLang="en-US" sz="2800"/>
          </a:p>
          <a:p>
            <a:pPr eaLnBrk="1" hangingPunct="1">
              <a:lnSpc>
                <a:spcPct val="90000"/>
              </a:lnSpc>
              <a:buFont typeface="Wingdings" panose="05000000000000000000" pitchFamily="2" charset="2"/>
              <a:buNone/>
            </a:pPr>
            <a:r>
              <a:rPr lang="zh-CN" altLang="en-US" sz="2800"/>
              <a:t>（</a:t>
            </a:r>
            <a:r>
              <a:rPr lang="en-US" altLang="zh-CN" sz="2800"/>
              <a:t>3</a:t>
            </a:r>
            <a:r>
              <a:rPr lang="zh-CN" altLang="en-US" sz="2800"/>
              <a:t>）</a:t>
            </a:r>
            <a:r>
              <a:rPr lang="zh-CN" altLang="en-US" sz="2800">
                <a:latin typeface="Times New Roman" panose="02020603050405020304" pitchFamily="18" charset="0"/>
              </a:rPr>
              <a:t>“</a:t>
            </a:r>
            <a:r>
              <a:rPr lang="zh-CN" altLang="en-US" sz="2800"/>
              <a:t>管理</a:t>
            </a:r>
            <a:r>
              <a:rPr lang="zh-CN" altLang="en-US" sz="2800">
                <a:latin typeface="Times New Roman" panose="02020603050405020304" pitchFamily="18" charset="0"/>
              </a:rPr>
              <a:t>”</a:t>
            </a:r>
            <a:r>
              <a:rPr lang="zh-CN" altLang="en-US" sz="2800"/>
              <a:t>联系与教师关系模式合并，则只需在教师关系中加入班级关系的码，即班级号：</a:t>
            </a:r>
          </a:p>
          <a:p>
            <a:pPr eaLnBrk="1" hangingPunct="1">
              <a:lnSpc>
                <a:spcPct val="90000"/>
              </a:lnSpc>
              <a:buFont typeface="Wingdings" panose="05000000000000000000" pitchFamily="2" charset="2"/>
              <a:buNone/>
            </a:pPr>
            <a:r>
              <a:rPr lang="zh-CN" altLang="en-US" sz="2800"/>
              <a:t>	教师：（</a:t>
            </a:r>
            <a:r>
              <a:rPr lang="zh-CN" altLang="en-US" sz="2800" u="sng"/>
              <a:t>职工号</a:t>
            </a:r>
            <a:r>
              <a:rPr lang="zh-CN" altLang="en-US" sz="2800"/>
              <a:t>，姓名，性别，职称，</a:t>
            </a:r>
            <a:r>
              <a:rPr lang="zh-CN" altLang="en-US" sz="2800">
                <a:solidFill>
                  <a:schemeClr val="accent2"/>
                </a:solidFill>
              </a:rPr>
              <a:t>班级号</a:t>
            </a:r>
            <a:r>
              <a:rPr lang="zh-CN" altLang="en-US" sz="2800"/>
              <a:t>，</a:t>
            </a:r>
          </a:p>
          <a:p>
            <a:pPr eaLnBrk="1" hangingPunct="1">
              <a:lnSpc>
                <a:spcPct val="90000"/>
              </a:lnSpc>
              <a:buFont typeface="Wingdings" panose="05000000000000000000" pitchFamily="2" charset="2"/>
              <a:buNone/>
            </a:pPr>
            <a:r>
              <a:rPr lang="zh-CN" altLang="en-US" sz="2800"/>
              <a:t>       是否为优秀班主任）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3316">
                                            <p:txEl>
                                              <p:pRg st="2" end="2"/>
                                            </p:txEl>
                                          </p:spTgt>
                                        </p:tgtEl>
                                        <p:attrNameLst>
                                          <p:attrName>style.visibility</p:attrName>
                                        </p:attrNameLst>
                                      </p:cBhvr>
                                      <p:to>
                                        <p:strVal val="visible"/>
                                      </p:to>
                                    </p:set>
                                    <p:animEffect transition="in" filter="box(in)">
                                      <p:cBhvr>
                                        <p:cTn id="7" dur="500"/>
                                        <p:tgtEl>
                                          <p:spTgt spid="13316">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3316">
                                            <p:txEl>
                                              <p:pRg st="3" end="3"/>
                                            </p:txEl>
                                          </p:spTgt>
                                        </p:tgtEl>
                                        <p:attrNameLst>
                                          <p:attrName>style.visibility</p:attrName>
                                        </p:attrNameLst>
                                      </p:cBhvr>
                                      <p:to>
                                        <p:strVal val="visible"/>
                                      </p:to>
                                    </p:set>
                                    <p:animEffect transition="in" filter="box(in)">
                                      <p:cBhvr>
                                        <p:cTn id="10" dur="500"/>
                                        <p:tgtEl>
                                          <p:spTgt spid="13316">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13316">
                                            <p:txEl>
                                              <p:pRg st="5" end="5"/>
                                            </p:txEl>
                                          </p:spTgt>
                                        </p:tgtEl>
                                        <p:attrNameLst>
                                          <p:attrName>style.visibility</p:attrName>
                                        </p:attrNameLst>
                                      </p:cBhvr>
                                      <p:to>
                                        <p:strVal val="visible"/>
                                      </p:to>
                                    </p:set>
                                    <p:animEffect transition="in" filter="box(in)">
                                      <p:cBhvr>
                                        <p:cTn id="15" dur="500"/>
                                        <p:tgtEl>
                                          <p:spTgt spid="13316">
                                            <p:txEl>
                                              <p:pRg st="5" end="5"/>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13316">
                                            <p:txEl>
                                              <p:pRg st="6" end="6"/>
                                            </p:txEl>
                                          </p:spTgt>
                                        </p:tgtEl>
                                        <p:attrNameLst>
                                          <p:attrName>style.visibility</p:attrName>
                                        </p:attrNameLst>
                                      </p:cBhvr>
                                      <p:to>
                                        <p:strVal val="visible"/>
                                      </p:to>
                                    </p:set>
                                    <p:animEffect transition="in" filter="box(in)">
                                      <p:cBhvr>
                                        <p:cTn id="18" dur="500"/>
                                        <p:tgtEl>
                                          <p:spTgt spid="13316">
                                            <p:txEl>
                                              <p:pRg st="6" end="6"/>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13316">
                                            <p:txEl>
                                              <p:pRg st="7" end="7"/>
                                            </p:txEl>
                                          </p:spTgt>
                                        </p:tgtEl>
                                        <p:attrNameLst>
                                          <p:attrName>style.visibility</p:attrName>
                                        </p:attrNameLst>
                                      </p:cBhvr>
                                      <p:to>
                                        <p:strVal val="visible"/>
                                      </p:to>
                                    </p:set>
                                    <p:animEffect transition="in" filter="box(in)">
                                      <p:cBhvr>
                                        <p:cTn id="21" dur="500"/>
                                        <p:tgtEl>
                                          <p:spTgt spid="1331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页脚占位符 4">
            <a:extLst>
              <a:ext uri="{FF2B5EF4-FFF2-40B4-BE49-F238E27FC236}">
                <a16:creationId xmlns:a16="http://schemas.microsoft.com/office/drawing/2014/main" id="{3ACE86F1-2C93-82DD-1071-8A41F940759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2531" name="Rectangle 2">
            <a:extLst>
              <a:ext uri="{FF2B5EF4-FFF2-40B4-BE49-F238E27FC236}">
                <a16:creationId xmlns:a16="http://schemas.microsoft.com/office/drawing/2014/main" id="{23C1E6E8-2FE8-F7F5-03DC-5F8B692A108D}"/>
              </a:ext>
            </a:extLst>
          </p:cNvPr>
          <p:cNvSpPr>
            <a:spLocks noGrp="1" noChangeArrowheads="1"/>
          </p:cNvSpPr>
          <p:nvPr>
            <p:ph type="title"/>
          </p:nvPr>
        </p:nvSpPr>
        <p:spPr/>
        <p:txBody>
          <a:bodyPr/>
          <a:lstStyle/>
          <a:p>
            <a:pPr eaLnBrk="1" hangingPunct="1"/>
            <a:r>
              <a:rPr lang="en-US" altLang="zh-CN"/>
              <a:t>E-R</a:t>
            </a:r>
            <a:r>
              <a:rPr lang="zh-CN" altLang="en-US"/>
              <a:t>图向关系模型的转换（续）</a:t>
            </a:r>
          </a:p>
        </p:txBody>
      </p:sp>
      <p:sp>
        <p:nvSpPr>
          <p:cNvPr id="14340" name="Rectangle 3">
            <a:extLst>
              <a:ext uri="{FF2B5EF4-FFF2-40B4-BE49-F238E27FC236}">
                <a16:creationId xmlns:a16="http://schemas.microsoft.com/office/drawing/2014/main" id="{24C2BC20-71FC-C195-5FE4-11EBF584B8CD}"/>
              </a:ext>
            </a:extLst>
          </p:cNvPr>
          <p:cNvSpPr>
            <a:spLocks noGrp="1" noChangeArrowheads="1"/>
          </p:cNvSpPr>
          <p:nvPr>
            <p:ph type="body" idx="1"/>
          </p:nvPr>
        </p:nvSpPr>
        <p:spPr>
          <a:xfrm>
            <a:off x="250825" y="1989138"/>
            <a:ext cx="8642350" cy="4114800"/>
          </a:xfrm>
        </p:spPr>
        <p:txBody>
          <a:bodyPr/>
          <a:lstStyle/>
          <a:p>
            <a:pPr eaLnBrk="1" hangingPunct="1">
              <a:buFont typeface="Wingdings" panose="05000000000000000000" pitchFamily="2" charset="2"/>
              <a:buNone/>
            </a:pPr>
            <a:r>
              <a:rPr lang="zh-CN" altLang="en-US" sz="2800"/>
              <a:t>注意：</a:t>
            </a:r>
          </a:p>
          <a:p>
            <a:pPr eaLnBrk="1" hangingPunct="1">
              <a:buFont typeface="Monotype Sorts" pitchFamily="2" charset="2"/>
              <a:buChar char="u"/>
            </a:pPr>
            <a:r>
              <a:rPr lang="zh-CN" altLang="en-US" sz="2400"/>
              <a:t>从理论上讲，</a:t>
            </a:r>
            <a:r>
              <a:rPr lang="en-US" altLang="zh-CN" sz="2400"/>
              <a:t>1:1</a:t>
            </a:r>
            <a:r>
              <a:rPr lang="zh-CN" altLang="en-US" sz="2400"/>
              <a:t>联系可以与任意一端对应的关系模式合并。</a:t>
            </a:r>
          </a:p>
          <a:p>
            <a:pPr eaLnBrk="1" hangingPunct="1">
              <a:buFont typeface="Monotype Sorts" pitchFamily="2" charset="2"/>
              <a:buChar char="u"/>
            </a:pPr>
            <a:r>
              <a:rPr lang="zh-CN" altLang="en-US" sz="2400"/>
              <a:t>但在一些情况下，与不同的关系模式合并效率会大不一样。因此究竟应该与哪端的关系模式合并需要依应用的具体情况而定。</a:t>
            </a:r>
          </a:p>
          <a:p>
            <a:pPr eaLnBrk="1" hangingPunct="1">
              <a:buFont typeface="Monotype Sorts" pitchFamily="2" charset="2"/>
              <a:buChar char="u"/>
            </a:pPr>
            <a:r>
              <a:rPr lang="zh-CN" altLang="en-US" sz="2400"/>
              <a:t>由于连接操作是最费时的操作，所以一般应以尽量减少连接操作为目标。</a:t>
            </a:r>
          </a:p>
          <a:p>
            <a:pPr eaLnBrk="1" hangingPunct="1">
              <a:buFont typeface="Wingdings" panose="05000000000000000000" pitchFamily="2" charset="2"/>
              <a:buNone/>
            </a:pPr>
            <a:r>
              <a:rPr lang="zh-CN" altLang="en-US" sz="2400"/>
              <a:t>    例如，如果经常要查询某个班级的班主任，则将管理联系与班级关系合并更好些。</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4340">
                                            <p:txEl>
                                              <p:pRg st="3" end="3"/>
                                            </p:txEl>
                                          </p:spTgt>
                                        </p:tgtEl>
                                        <p:attrNameLst>
                                          <p:attrName>style.visibility</p:attrName>
                                        </p:attrNameLst>
                                      </p:cBhvr>
                                      <p:to>
                                        <p:strVal val="visible"/>
                                      </p:to>
                                    </p:set>
                                    <p:animEffect transition="in" filter="box(in)">
                                      <p:cBhvr>
                                        <p:cTn id="7" dur="500"/>
                                        <p:tgtEl>
                                          <p:spTgt spid="14340">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4340">
                                            <p:txEl>
                                              <p:pRg st="4" end="4"/>
                                            </p:txEl>
                                          </p:spTgt>
                                        </p:tgtEl>
                                        <p:attrNameLst>
                                          <p:attrName>style.visibility</p:attrName>
                                        </p:attrNameLst>
                                      </p:cBhvr>
                                      <p:to>
                                        <p:strVal val="visible"/>
                                      </p:to>
                                    </p:set>
                                    <p:animEffect transition="in" filter="box(in)">
                                      <p:cBhvr>
                                        <p:cTn id="10" dur="500"/>
                                        <p:tgtEl>
                                          <p:spTgt spid="1434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页脚占位符 4">
            <a:extLst>
              <a:ext uri="{FF2B5EF4-FFF2-40B4-BE49-F238E27FC236}">
                <a16:creationId xmlns:a16="http://schemas.microsoft.com/office/drawing/2014/main" id="{DB2909BD-01B7-AF09-C4B6-3C0CC6217E4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3555" name="Rectangle 2">
            <a:extLst>
              <a:ext uri="{FF2B5EF4-FFF2-40B4-BE49-F238E27FC236}">
                <a16:creationId xmlns:a16="http://schemas.microsoft.com/office/drawing/2014/main" id="{94143B3F-5E2A-4C06-A33F-0E6C5D038C84}"/>
              </a:ext>
            </a:extLst>
          </p:cNvPr>
          <p:cNvSpPr>
            <a:spLocks noGrp="1" noChangeArrowheads="1"/>
          </p:cNvSpPr>
          <p:nvPr>
            <p:ph type="title"/>
          </p:nvPr>
        </p:nvSpPr>
        <p:spPr/>
        <p:txBody>
          <a:bodyPr/>
          <a:lstStyle/>
          <a:p>
            <a:pPr eaLnBrk="1" hangingPunct="1"/>
            <a:r>
              <a:rPr lang="en-US" altLang="zh-CN"/>
              <a:t>E-R</a:t>
            </a:r>
            <a:r>
              <a:rPr lang="zh-CN" altLang="en-US"/>
              <a:t>图向关系模型的转换（续）</a:t>
            </a:r>
          </a:p>
        </p:txBody>
      </p:sp>
      <p:sp>
        <p:nvSpPr>
          <p:cNvPr id="520195" name="Rectangle 3">
            <a:extLst>
              <a:ext uri="{FF2B5EF4-FFF2-40B4-BE49-F238E27FC236}">
                <a16:creationId xmlns:a16="http://schemas.microsoft.com/office/drawing/2014/main" id="{8DDA371B-7C2A-CB2A-28EF-B07354AF2EA7}"/>
              </a:ext>
            </a:extLst>
          </p:cNvPr>
          <p:cNvSpPr>
            <a:spLocks noGrp="1" noChangeArrowheads="1"/>
          </p:cNvSpPr>
          <p:nvPr>
            <p:ph type="body" idx="1"/>
          </p:nvPr>
        </p:nvSpPr>
        <p:spPr>
          <a:xfrm>
            <a:off x="684213" y="1844675"/>
            <a:ext cx="7772400" cy="4114800"/>
          </a:xfrm>
        </p:spPr>
        <p:txBody>
          <a:bodyPr/>
          <a:lstStyle/>
          <a:p>
            <a:pPr eaLnBrk="1" hangingPunct="1">
              <a:lnSpc>
                <a:spcPct val="110000"/>
              </a:lnSpc>
              <a:buFont typeface="Wingdings" panose="05000000000000000000" pitchFamily="2" charset="2"/>
              <a:buNone/>
              <a:defRPr/>
            </a:pPr>
            <a:r>
              <a:rPr lang="en-US" altLang="zh-CN" sz="2800" dirty="0"/>
              <a:t>⒌ </a:t>
            </a:r>
            <a:r>
              <a:rPr lang="zh-CN" altLang="en-US" sz="2800" dirty="0"/>
              <a:t>三个或三个以上实体间的一个</a:t>
            </a:r>
            <a:r>
              <a:rPr lang="zh-CN" altLang="en-US" sz="2800" dirty="0">
                <a:solidFill>
                  <a:schemeClr val="accent2"/>
                </a:solidFill>
              </a:rPr>
              <a:t>多元联系</a:t>
            </a:r>
            <a:r>
              <a:rPr lang="zh-CN" altLang="en-US" sz="2800" dirty="0"/>
              <a:t>转换为一个关系模式。</a:t>
            </a:r>
          </a:p>
          <a:p>
            <a:pPr lvl="1" eaLnBrk="1" hangingPunct="1">
              <a:lnSpc>
                <a:spcPct val="110000"/>
              </a:lnSpc>
              <a:defRPr/>
            </a:pPr>
            <a:r>
              <a:rPr lang="zh-CN" altLang="en-US" i="1" dirty="0">
                <a:solidFill>
                  <a:schemeClr val="accent2"/>
                </a:solidFill>
                <a:effectLst>
                  <a:outerShdw blurRad="38100" dist="38100" dir="2700000" algn="tl">
                    <a:srgbClr val="000000"/>
                  </a:outerShdw>
                </a:effectLst>
              </a:rPr>
              <a:t>关系的属性</a:t>
            </a:r>
            <a:r>
              <a:rPr lang="zh-CN" altLang="en-US" dirty="0">
                <a:solidFill>
                  <a:schemeClr val="accent2"/>
                </a:solidFill>
              </a:rPr>
              <a:t>：</a:t>
            </a:r>
            <a:r>
              <a:rPr lang="zh-CN" altLang="en-US" dirty="0"/>
              <a:t>与该多元联系相连的各实体的码以及联系本身的属性</a:t>
            </a:r>
          </a:p>
          <a:p>
            <a:pPr lvl="1" eaLnBrk="1" hangingPunct="1">
              <a:lnSpc>
                <a:spcPct val="110000"/>
              </a:lnSpc>
              <a:defRPr/>
            </a:pPr>
            <a:r>
              <a:rPr lang="zh-CN" altLang="en-US" i="1" dirty="0">
                <a:solidFill>
                  <a:schemeClr val="accent2"/>
                </a:solidFill>
                <a:effectLst>
                  <a:outerShdw blurRad="38100" dist="38100" dir="2700000" algn="tl">
                    <a:srgbClr val="000000"/>
                  </a:outerShdw>
                </a:effectLst>
              </a:rPr>
              <a:t>关系的码</a:t>
            </a:r>
            <a:r>
              <a:rPr lang="zh-CN" altLang="en-US" dirty="0">
                <a:solidFill>
                  <a:schemeClr val="accent2"/>
                </a:solidFill>
              </a:rPr>
              <a:t>：</a:t>
            </a:r>
            <a:r>
              <a:rPr lang="zh-CN" altLang="en-US" dirty="0"/>
              <a:t>各实体码的组合</a:t>
            </a:r>
            <a:endParaRPr lang="zh-CN" altLang="en-US" sz="2400" dirty="0"/>
          </a:p>
          <a:p>
            <a:pPr eaLnBrk="1" hangingPunct="1">
              <a:lnSpc>
                <a:spcPct val="90000"/>
              </a:lnSpc>
              <a:buFont typeface="Wingdings" panose="05000000000000000000" pitchFamily="2" charset="2"/>
              <a:buNone/>
              <a:defRPr/>
            </a:pPr>
            <a:r>
              <a:rPr lang="zh-CN" altLang="en-US" sz="2800" dirty="0"/>
              <a:t>	例，</a:t>
            </a:r>
            <a:r>
              <a:rPr lang="zh-CN" altLang="en-US" sz="2800" dirty="0">
                <a:latin typeface="Times New Roman"/>
              </a:rPr>
              <a:t>“</a:t>
            </a:r>
            <a:r>
              <a:rPr lang="zh-CN" altLang="en-US" sz="2800" dirty="0"/>
              <a:t>讲授</a:t>
            </a:r>
            <a:r>
              <a:rPr lang="zh-CN" altLang="en-US" sz="2800" dirty="0">
                <a:latin typeface="Times New Roman"/>
              </a:rPr>
              <a:t>”</a:t>
            </a:r>
            <a:r>
              <a:rPr lang="zh-CN" altLang="en-US" sz="2800" dirty="0"/>
              <a:t>联系是一个三元联系，可以将它转换为如下关系模式，其中课程号、职工号和书号为关系的组合码：</a:t>
            </a:r>
          </a:p>
          <a:p>
            <a:pPr eaLnBrk="1" hangingPunct="1">
              <a:lnSpc>
                <a:spcPct val="90000"/>
              </a:lnSpc>
              <a:buFont typeface="Wingdings" panose="05000000000000000000" pitchFamily="2" charset="2"/>
              <a:buNone/>
              <a:defRPr/>
            </a:pPr>
            <a:r>
              <a:rPr lang="zh-CN" altLang="en-US" sz="2800" dirty="0"/>
              <a:t>　　讲授（</a:t>
            </a:r>
            <a:r>
              <a:rPr lang="zh-CN" altLang="en-US" sz="2800" u="sng" dirty="0"/>
              <a:t>课程号，职工号，书号</a:t>
            </a:r>
            <a:r>
              <a:rPr lang="zh-CN" altLang="en-US" sz="2800"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20195">
                                            <p:txEl>
                                              <p:pRg st="3" end="3"/>
                                            </p:txEl>
                                          </p:spTgt>
                                        </p:tgtEl>
                                        <p:attrNameLst>
                                          <p:attrName>style.visibility</p:attrName>
                                        </p:attrNameLst>
                                      </p:cBhvr>
                                      <p:to>
                                        <p:strVal val="visible"/>
                                      </p:to>
                                    </p:set>
                                    <p:animEffect transition="in" filter="box(in)">
                                      <p:cBhvr>
                                        <p:cTn id="7" dur="500"/>
                                        <p:tgtEl>
                                          <p:spTgt spid="520195">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20195">
                                            <p:txEl>
                                              <p:pRg st="4" end="4"/>
                                            </p:txEl>
                                          </p:spTgt>
                                        </p:tgtEl>
                                        <p:attrNameLst>
                                          <p:attrName>style.visibility</p:attrName>
                                        </p:attrNameLst>
                                      </p:cBhvr>
                                      <p:to>
                                        <p:strVal val="visible"/>
                                      </p:to>
                                    </p:set>
                                    <p:animEffect transition="in" filter="box(in)">
                                      <p:cBhvr>
                                        <p:cTn id="10" dur="500"/>
                                        <p:tgtEl>
                                          <p:spTgt spid="5201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页脚占位符 4">
            <a:extLst>
              <a:ext uri="{FF2B5EF4-FFF2-40B4-BE49-F238E27FC236}">
                <a16:creationId xmlns:a16="http://schemas.microsoft.com/office/drawing/2014/main" id="{5F063464-0191-E0D2-0307-5E962BD134B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4579" name="Rectangle 2">
            <a:extLst>
              <a:ext uri="{FF2B5EF4-FFF2-40B4-BE49-F238E27FC236}">
                <a16:creationId xmlns:a16="http://schemas.microsoft.com/office/drawing/2014/main" id="{5B4B75C7-4F56-1CD0-543D-B88309A4794E}"/>
              </a:ext>
            </a:extLst>
          </p:cNvPr>
          <p:cNvSpPr>
            <a:spLocks noGrp="1" noChangeArrowheads="1"/>
          </p:cNvSpPr>
          <p:nvPr>
            <p:ph type="title"/>
          </p:nvPr>
        </p:nvSpPr>
        <p:spPr/>
        <p:txBody>
          <a:bodyPr/>
          <a:lstStyle/>
          <a:p>
            <a:pPr eaLnBrk="1" hangingPunct="1"/>
            <a:r>
              <a:rPr lang="en-US" altLang="zh-CN"/>
              <a:t>E-R</a:t>
            </a:r>
            <a:r>
              <a:rPr lang="zh-CN" altLang="en-US"/>
              <a:t>图向关系模型的转换（续）</a:t>
            </a:r>
          </a:p>
        </p:txBody>
      </p:sp>
      <p:sp>
        <p:nvSpPr>
          <p:cNvPr id="16388" name="Rectangle 3">
            <a:extLst>
              <a:ext uri="{FF2B5EF4-FFF2-40B4-BE49-F238E27FC236}">
                <a16:creationId xmlns:a16="http://schemas.microsoft.com/office/drawing/2014/main" id="{8E5B7ECA-78A9-14CB-762C-C670BA32EC9A}"/>
              </a:ext>
            </a:extLst>
          </p:cNvPr>
          <p:cNvSpPr>
            <a:spLocks noGrp="1" noChangeArrowheads="1"/>
          </p:cNvSpPr>
          <p:nvPr>
            <p:ph type="body" idx="1"/>
          </p:nvPr>
        </p:nvSpPr>
        <p:spPr>
          <a:xfrm>
            <a:off x="395288" y="2017713"/>
            <a:ext cx="8559800" cy="4114800"/>
          </a:xfrm>
        </p:spPr>
        <p:txBody>
          <a:bodyPr/>
          <a:lstStyle/>
          <a:p>
            <a:pPr eaLnBrk="1" hangingPunct="1">
              <a:buFont typeface="Wingdings" panose="05000000000000000000" pitchFamily="2" charset="2"/>
              <a:buNone/>
            </a:pPr>
            <a:r>
              <a:rPr lang="en-US" altLang="zh-CN" sz="2800"/>
              <a:t>⒍ </a:t>
            </a:r>
            <a:r>
              <a:rPr lang="zh-CN" altLang="en-US" sz="2800"/>
              <a:t>同一实体集的实体间的联系，即</a:t>
            </a:r>
            <a:r>
              <a:rPr lang="zh-CN" altLang="en-US" sz="2800">
                <a:solidFill>
                  <a:schemeClr val="accent2"/>
                </a:solidFill>
              </a:rPr>
              <a:t>自联系</a:t>
            </a:r>
            <a:r>
              <a:rPr lang="zh-CN" altLang="en-US" sz="2800"/>
              <a:t>，也可按上述</a:t>
            </a:r>
            <a:r>
              <a:rPr lang="en-US" altLang="zh-CN" sz="2800"/>
              <a:t>1:1</a:t>
            </a:r>
            <a:r>
              <a:rPr lang="zh-CN" altLang="en-US" sz="2800"/>
              <a:t>、</a:t>
            </a:r>
            <a:r>
              <a:rPr lang="en-US" altLang="zh-CN" sz="2800"/>
              <a:t>1:n</a:t>
            </a:r>
            <a:r>
              <a:rPr lang="zh-CN" altLang="en-US" sz="2800"/>
              <a:t>和</a:t>
            </a:r>
            <a:r>
              <a:rPr lang="en-US" altLang="zh-CN" sz="2800"/>
              <a:t>m:n</a:t>
            </a:r>
            <a:r>
              <a:rPr lang="zh-CN" altLang="en-US" sz="2800"/>
              <a:t>三种情况分别处理。</a:t>
            </a:r>
          </a:p>
          <a:p>
            <a:pPr eaLnBrk="1" hangingPunct="1">
              <a:buFont typeface="Wingdings" panose="05000000000000000000" pitchFamily="2" charset="2"/>
              <a:buNone/>
            </a:pPr>
            <a:endParaRPr lang="zh-CN" altLang="en-US" sz="2800">
              <a:solidFill>
                <a:schemeClr val="accent2"/>
              </a:solidFill>
            </a:endParaRPr>
          </a:p>
          <a:p>
            <a:pPr eaLnBrk="1" hangingPunct="1">
              <a:buFont typeface="Wingdings" panose="05000000000000000000" pitchFamily="2" charset="2"/>
              <a:buNone/>
            </a:pPr>
            <a:r>
              <a:rPr lang="zh-CN" altLang="en-US" sz="2800"/>
              <a:t>	例，如果教师实体集内部存在领导与被领导的</a:t>
            </a:r>
            <a:r>
              <a:rPr lang="en-US" altLang="zh-CN" sz="2800"/>
              <a:t>1:n</a:t>
            </a:r>
            <a:r>
              <a:rPr lang="zh-CN" altLang="en-US" sz="2800"/>
              <a:t>自联系，可以将该联系与教师实体合并，这时主码职工号将多次出现，但作用不同，可用不同的属性名加以区分：</a:t>
            </a:r>
          </a:p>
          <a:p>
            <a:pPr eaLnBrk="1" hangingPunct="1">
              <a:buFont typeface="Wingdings" panose="05000000000000000000" pitchFamily="2" charset="2"/>
              <a:buNone/>
            </a:pPr>
            <a:r>
              <a:rPr lang="zh-CN" altLang="en-US" sz="2800"/>
              <a:t>教师：｛</a:t>
            </a:r>
            <a:r>
              <a:rPr lang="zh-CN" altLang="en-US" sz="2800" u="sng"/>
              <a:t>职工号</a:t>
            </a:r>
            <a:r>
              <a:rPr lang="zh-CN" altLang="en-US" sz="2800"/>
              <a:t>，姓名，性别，职称，</a:t>
            </a:r>
            <a:r>
              <a:rPr lang="zh-CN" altLang="en-US" sz="2800">
                <a:solidFill>
                  <a:schemeClr val="accent2"/>
                </a:solidFill>
              </a:rPr>
              <a:t>系主任</a:t>
            </a:r>
            <a:r>
              <a:rPr lang="zh-CN" altLang="en-US" sz="28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6388">
                                            <p:txEl>
                                              <p:pRg st="2" end="2"/>
                                            </p:txEl>
                                          </p:spTgt>
                                        </p:tgtEl>
                                        <p:attrNameLst>
                                          <p:attrName>style.visibility</p:attrName>
                                        </p:attrNameLst>
                                      </p:cBhvr>
                                      <p:to>
                                        <p:strVal val="visible"/>
                                      </p:to>
                                    </p:set>
                                    <p:animEffect transition="in" filter="box(in)">
                                      <p:cBhvr>
                                        <p:cTn id="7" dur="500"/>
                                        <p:tgtEl>
                                          <p:spTgt spid="16388">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6388">
                                            <p:txEl>
                                              <p:pRg st="3" end="3"/>
                                            </p:txEl>
                                          </p:spTgt>
                                        </p:tgtEl>
                                        <p:attrNameLst>
                                          <p:attrName>style.visibility</p:attrName>
                                        </p:attrNameLst>
                                      </p:cBhvr>
                                      <p:to>
                                        <p:strVal val="visible"/>
                                      </p:to>
                                    </p:set>
                                    <p:animEffect transition="in" filter="box(in)">
                                      <p:cBhvr>
                                        <p:cTn id="10" dur="500"/>
                                        <p:tgtEl>
                                          <p:spTgt spid="1638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页脚占位符 4">
            <a:extLst>
              <a:ext uri="{FF2B5EF4-FFF2-40B4-BE49-F238E27FC236}">
                <a16:creationId xmlns:a16="http://schemas.microsoft.com/office/drawing/2014/main" id="{F281CD51-D109-CB5D-1C2C-824D4DB3C37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5603" name="Rectangle 2">
            <a:extLst>
              <a:ext uri="{FF2B5EF4-FFF2-40B4-BE49-F238E27FC236}">
                <a16:creationId xmlns:a16="http://schemas.microsoft.com/office/drawing/2014/main" id="{F97B904D-F1E6-0FC2-21BE-4A2D9927223E}"/>
              </a:ext>
            </a:extLst>
          </p:cNvPr>
          <p:cNvSpPr>
            <a:spLocks noGrp="1" noChangeArrowheads="1"/>
          </p:cNvSpPr>
          <p:nvPr>
            <p:ph type="title"/>
          </p:nvPr>
        </p:nvSpPr>
        <p:spPr/>
        <p:txBody>
          <a:bodyPr/>
          <a:lstStyle/>
          <a:p>
            <a:pPr eaLnBrk="1" hangingPunct="1"/>
            <a:r>
              <a:rPr lang="en-US" altLang="zh-CN"/>
              <a:t>E-R</a:t>
            </a:r>
            <a:r>
              <a:rPr lang="zh-CN" altLang="en-US"/>
              <a:t>图向关系模型的转换（续）</a:t>
            </a:r>
          </a:p>
        </p:txBody>
      </p:sp>
      <p:sp>
        <p:nvSpPr>
          <p:cNvPr id="25604" name="Rectangle 3">
            <a:extLst>
              <a:ext uri="{FF2B5EF4-FFF2-40B4-BE49-F238E27FC236}">
                <a16:creationId xmlns:a16="http://schemas.microsoft.com/office/drawing/2014/main" id="{6D933C97-C02D-603D-CD5A-A29AAB4DE1B0}"/>
              </a:ext>
            </a:extLst>
          </p:cNvPr>
          <p:cNvSpPr>
            <a:spLocks noGrp="1" noChangeArrowheads="1"/>
          </p:cNvSpPr>
          <p:nvPr>
            <p:ph type="body" idx="1"/>
          </p:nvPr>
        </p:nvSpPr>
        <p:spPr>
          <a:xfrm>
            <a:off x="468313" y="2017713"/>
            <a:ext cx="8486775" cy="4114800"/>
          </a:xfrm>
        </p:spPr>
        <p:txBody>
          <a:bodyPr/>
          <a:lstStyle/>
          <a:p>
            <a:pPr eaLnBrk="1" hangingPunct="1">
              <a:lnSpc>
                <a:spcPct val="110000"/>
              </a:lnSpc>
              <a:spcBef>
                <a:spcPct val="50000"/>
              </a:spcBef>
              <a:buFont typeface="Wingdings" panose="05000000000000000000" pitchFamily="2" charset="2"/>
              <a:buNone/>
            </a:pPr>
            <a:r>
              <a:rPr lang="en-US" altLang="zh-CN" sz="2800"/>
              <a:t>⒎ </a:t>
            </a:r>
            <a:r>
              <a:rPr lang="zh-CN" altLang="en-US" sz="2800">
                <a:solidFill>
                  <a:schemeClr val="accent2"/>
                </a:solidFill>
              </a:rPr>
              <a:t>具有相同码的关系模式可合并。</a:t>
            </a:r>
          </a:p>
          <a:p>
            <a:pPr lvl="1" eaLnBrk="1" hangingPunct="1">
              <a:lnSpc>
                <a:spcPct val="110000"/>
              </a:lnSpc>
              <a:spcBef>
                <a:spcPct val="50000"/>
              </a:spcBef>
            </a:pPr>
            <a:r>
              <a:rPr lang="zh-CN" altLang="en-US"/>
              <a:t>目的：减少系统中的关系个数。</a:t>
            </a:r>
          </a:p>
          <a:p>
            <a:pPr lvl="1" eaLnBrk="1" hangingPunct="1">
              <a:lnSpc>
                <a:spcPct val="110000"/>
              </a:lnSpc>
              <a:spcBef>
                <a:spcPct val="50000"/>
              </a:spcBef>
            </a:pPr>
            <a:r>
              <a:rPr lang="zh-CN" altLang="en-US"/>
              <a:t>合并方法：将其中一个关系模式的全部属性加入到另一个关系模式中，然后去掉其中的同义属性（可能同名也可能不同名），并适当调整属性的次序。</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页脚占位符 4">
            <a:extLst>
              <a:ext uri="{FF2B5EF4-FFF2-40B4-BE49-F238E27FC236}">
                <a16:creationId xmlns:a16="http://schemas.microsoft.com/office/drawing/2014/main" id="{6B1676E1-E6EA-1190-8D2C-60CD2418475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6627" name="Rectangle 2">
            <a:extLst>
              <a:ext uri="{FF2B5EF4-FFF2-40B4-BE49-F238E27FC236}">
                <a16:creationId xmlns:a16="http://schemas.microsoft.com/office/drawing/2014/main" id="{04351B22-CDAE-4800-6CA2-55DE8A099A74}"/>
              </a:ext>
            </a:extLst>
          </p:cNvPr>
          <p:cNvSpPr>
            <a:spLocks noGrp="1" noChangeArrowheads="1"/>
          </p:cNvSpPr>
          <p:nvPr>
            <p:ph type="title"/>
          </p:nvPr>
        </p:nvSpPr>
        <p:spPr/>
        <p:txBody>
          <a:bodyPr/>
          <a:lstStyle/>
          <a:p>
            <a:pPr eaLnBrk="1" hangingPunct="1"/>
            <a:r>
              <a:rPr lang="en-US" altLang="zh-CN"/>
              <a:t>E-R</a:t>
            </a:r>
            <a:r>
              <a:rPr lang="zh-CN" altLang="en-US"/>
              <a:t>图向关系模型的转换（续）</a:t>
            </a:r>
          </a:p>
        </p:txBody>
      </p:sp>
      <p:sp>
        <p:nvSpPr>
          <p:cNvPr id="18436" name="Rectangle 3">
            <a:extLst>
              <a:ext uri="{FF2B5EF4-FFF2-40B4-BE49-F238E27FC236}">
                <a16:creationId xmlns:a16="http://schemas.microsoft.com/office/drawing/2014/main" id="{5AA20674-AC84-B268-A699-0DCE95CEEA12}"/>
              </a:ext>
            </a:extLst>
          </p:cNvPr>
          <p:cNvSpPr>
            <a:spLocks noGrp="1" noChangeArrowheads="1"/>
          </p:cNvSpPr>
          <p:nvPr>
            <p:ph type="body" idx="1"/>
          </p:nvPr>
        </p:nvSpPr>
        <p:spPr>
          <a:xfrm>
            <a:off x="827088" y="1916113"/>
            <a:ext cx="7772400" cy="4114800"/>
          </a:xfrm>
        </p:spPr>
        <p:txBody>
          <a:bodyPr/>
          <a:lstStyle/>
          <a:p>
            <a:pPr eaLnBrk="1" hangingPunct="1">
              <a:buFont typeface="Wingdings" panose="05000000000000000000" pitchFamily="2" charset="2"/>
              <a:buNone/>
            </a:pPr>
            <a:r>
              <a:rPr lang="zh-CN" altLang="en-US" sz="2800"/>
              <a:t>例，</a:t>
            </a:r>
            <a:r>
              <a:rPr lang="zh-CN" altLang="en-US" sz="2800">
                <a:latin typeface="Times New Roman" panose="02020603050405020304" pitchFamily="18" charset="0"/>
              </a:rPr>
              <a:t>“</a:t>
            </a:r>
            <a:r>
              <a:rPr lang="zh-CN" altLang="en-US" sz="2800"/>
              <a:t>拥有</a:t>
            </a:r>
            <a:r>
              <a:rPr lang="zh-CN" altLang="en-US" sz="2800">
                <a:latin typeface="Times New Roman" panose="02020603050405020304" pitchFamily="18" charset="0"/>
              </a:rPr>
              <a:t>”</a:t>
            </a:r>
            <a:r>
              <a:rPr lang="zh-CN" altLang="en-US" sz="2800"/>
              <a:t>关系模式：</a:t>
            </a:r>
          </a:p>
          <a:p>
            <a:pPr lvl="1" eaLnBrk="1" hangingPunct="1">
              <a:buFont typeface="Wingdings" panose="05000000000000000000" pitchFamily="2" charset="2"/>
              <a:buNone/>
            </a:pPr>
            <a:r>
              <a:rPr lang="zh-CN" altLang="en-US" sz="2400"/>
              <a:t>　拥有（</a:t>
            </a:r>
            <a:r>
              <a:rPr lang="zh-CN" altLang="en-US" sz="2400" u="sng"/>
              <a:t>学号</a:t>
            </a:r>
            <a:r>
              <a:rPr lang="zh-CN" altLang="en-US" sz="2400"/>
              <a:t>，性别）</a:t>
            </a:r>
          </a:p>
          <a:p>
            <a:pPr eaLnBrk="1" hangingPunct="1">
              <a:buFont typeface="Wingdings" panose="05000000000000000000" pitchFamily="2" charset="2"/>
              <a:buNone/>
            </a:pPr>
            <a:r>
              <a:rPr lang="zh-CN" altLang="en-US" sz="2800"/>
              <a:t>与学生关系模式：</a:t>
            </a:r>
          </a:p>
          <a:p>
            <a:pPr lvl="1" eaLnBrk="1" hangingPunct="1">
              <a:buFont typeface="Wingdings" panose="05000000000000000000" pitchFamily="2" charset="2"/>
              <a:buNone/>
            </a:pPr>
            <a:r>
              <a:rPr lang="zh-CN" altLang="en-US" sz="2400"/>
              <a:t>    学生（</a:t>
            </a:r>
            <a:r>
              <a:rPr lang="zh-CN" altLang="en-US" sz="2400" u="sng"/>
              <a:t>学号</a:t>
            </a:r>
            <a:r>
              <a:rPr lang="zh-CN" altLang="en-US" sz="2400"/>
              <a:t>，姓名，出生日期，所在系，年级，</a:t>
            </a:r>
          </a:p>
          <a:p>
            <a:pPr lvl="1" eaLnBrk="1" hangingPunct="1">
              <a:buFont typeface="Wingdings" panose="05000000000000000000" pitchFamily="2" charset="2"/>
              <a:buNone/>
            </a:pPr>
            <a:r>
              <a:rPr lang="zh-CN" altLang="en-US" sz="2400"/>
              <a:t>                班级号，平均成绩）</a:t>
            </a:r>
          </a:p>
          <a:p>
            <a:pPr eaLnBrk="1" hangingPunct="1">
              <a:buFont typeface="Wingdings" panose="05000000000000000000" pitchFamily="2" charset="2"/>
              <a:buNone/>
            </a:pPr>
            <a:r>
              <a:rPr lang="zh-CN" altLang="en-US" sz="2800"/>
              <a:t>都以学号为码，可以将它们合并为一个关系模式：</a:t>
            </a:r>
          </a:p>
          <a:p>
            <a:pPr lvl="1" eaLnBrk="1" hangingPunct="1">
              <a:buFont typeface="Wingdings" panose="05000000000000000000" pitchFamily="2" charset="2"/>
              <a:buNone/>
            </a:pPr>
            <a:r>
              <a:rPr lang="zh-CN" altLang="en-US" sz="2400"/>
              <a:t>　学生（</a:t>
            </a:r>
            <a:r>
              <a:rPr lang="zh-CN" altLang="en-US" sz="2400" u="sng"/>
              <a:t>学号</a:t>
            </a:r>
            <a:r>
              <a:rPr lang="zh-CN" altLang="en-US" sz="2400"/>
              <a:t>，姓名，性别，出生日期，所在系，</a:t>
            </a:r>
          </a:p>
          <a:p>
            <a:pPr lvl="1" eaLnBrk="1" hangingPunct="1">
              <a:buFont typeface="Wingdings" panose="05000000000000000000" pitchFamily="2" charset="2"/>
              <a:buNone/>
            </a:pPr>
            <a:r>
              <a:rPr lang="zh-CN" altLang="en-US" sz="2400"/>
              <a:t>                年级，班级号，平均成绩）</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8436">
                                            <p:txEl>
                                              <p:pRg st="5" end="5"/>
                                            </p:txEl>
                                          </p:spTgt>
                                        </p:tgtEl>
                                        <p:attrNameLst>
                                          <p:attrName>style.visibility</p:attrName>
                                        </p:attrNameLst>
                                      </p:cBhvr>
                                      <p:to>
                                        <p:strVal val="visible"/>
                                      </p:to>
                                    </p:set>
                                    <p:animEffect transition="in" filter="box(in)">
                                      <p:cBhvr>
                                        <p:cTn id="7" dur="500"/>
                                        <p:tgtEl>
                                          <p:spTgt spid="18436">
                                            <p:txEl>
                                              <p:pRg st="5" end="5"/>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8436">
                                            <p:txEl>
                                              <p:pRg st="6" end="6"/>
                                            </p:txEl>
                                          </p:spTgt>
                                        </p:tgtEl>
                                        <p:attrNameLst>
                                          <p:attrName>style.visibility</p:attrName>
                                        </p:attrNameLst>
                                      </p:cBhvr>
                                      <p:to>
                                        <p:strVal val="visible"/>
                                      </p:to>
                                    </p:set>
                                    <p:animEffect transition="in" filter="box(in)">
                                      <p:cBhvr>
                                        <p:cTn id="10" dur="500"/>
                                        <p:tgtEl>
                                          <p:spTgt spid="18436">
                                            <p:txEl>
                                              <p:pRg st="6" end="6"/>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8436">
                                            <p:txEl>
                                              <p:pRg st="7" end="7"/>
                                            </p:txEl>
                                          </p:spTgt>
                                        </p:tgtEl>
                                        <p:attrNameLst>
                                          <p:attrName>style.visibility</p:attrName>
                                        </p:attrNameLst>
                                      </p:cBhvr>
                                      <p:to>
                                        <p:strVal val="visible"/>
                                      </p:to>
                                    </p:set>
                                    <p:animEffect transition="in" filter="box(in)">
                                      <p:cBhvr>
                                        <p:cTn id="13" dur="500"/>
                                        <p:tgtEl>
                                          <p:spTgt spid="1843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页脚占位符 4">
            <a:extLst>
              <a:ext uri="{FF2B5EF4-FFF2-40B4-BE49-F238E27FC236}">
                <a16:creationId xmlns:a16="http://schemas.microsoft.com/office/drawing/2014/main" id="{9C0D55D9-7706-0157-7D1F-43E9429D66D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7651" name="Rectangle 2">
            <a:extLst>
              <a:ext uri="{FF2B5EF4-FFF2-40B4-BE49-F238E27FC236}">
                <a16:creationId xmlns:a16="http://schemas.microsoft.com/office/drawing/2014/main" id="{783416E7-8ADD-0DFE-59E4-374FFA488EB4}"/>
              </a:ext>
            </a:extLst>
          </p:cNvPr>
          <p:cNvSpPr>
            <a:spLocks noGrp="1" noChangeArrowheads="1"/>
          </p:cNvSpPr>
          <p:nvPr>
            <p:ph type="title"/>
          </p:nvPr>
        </p:nvSpPr>
        <p:spPr/>
        <p:txBody>
          <a:bodyPr/>
          <a:lstStyle/>
          <a:p>
            <a:pPr eaLnBrk="1" hangingPunct="1"/>
            <a:r>
              <a:rPr lang="en-US" altLang="zh-CN"/>
              <a:t>E-R</a:t>
            </a:r>
            <a:r>
              <a:rPr lang="zh-CN" altLang="en-US"/>
              <a:t>图向关系模型的转换（续）</a:t>
            </a:r>
          </a:p>
        </p:txBody>
      </p:sp>
      <p:sp>
        <p:nvSpPr>
          <p:cNvPr id="27652" name="Rectangle 3">
            <a:extLst>
              <a:ext uri="{FF2B5EF4-FFF2-40B4-BE49-F238E27FC236}">
                <a16:creationId xmlns:a16="http://schemas.microsoft.com/office/drawing/2014/main" id="{295A1A91-BD81-77B9-86D3-B4B88C06406D}"/>
              </a:ext>
            </a:extLst>
          </p:cNvPr>
          <p:cNvSpPr>
            <a:spLocks noGrp="1" noChangeArrowheads="1"/>
          </p:cNvSpPr>
          <p:nvPr>
            <p:ph type="body" idx="1"/>
          </p:nvPr>
        </p:nvSpPr>
        <p:spPr>
          <a:xfrm>
            <a:off x="539750" y="2060575"/>
            <a:ext cx="8280400" cy="4114800"/>
          </a:xfrm>
        </p:spPr>
        <p:txBody>
          <a:bodyPr/>
          <a:lstStyle/>
          <a:p>
            <a:pPr eaLnBrk="1" hangingPunct="1">
              <a:lnSpc>
                <a:spcPct val="90000"/>
              </a:lnSpc>
            </a:pPr>
            <a:r>
              <a:rPr lang="zh-CN" altLang="en-US" sz="2800"/>
              <a:t>按照上述七条原则，学生管理子系统中的</a:t>
            </a:r>
            <a:r>
              <a:rPr lang="en-US" altLang="zh-CN" sz="2800"/>
              <a:t>18</a:t>
            </a:r>
            <a:r>
              <a:rPr lang="zh-CN" altLang="en-US" sz="2800"/>
              <a:t>个实体和联系可以转换为下列关系模型：</a:t>
            </a:r>
          </a:p>
          <a:p>
            <a:pPr eaLnBrk="1" hangingPunct="1">
              <a:lnSpc>
                <a:spcPct val="90000"/>
              </a:lnSpc>
              <a:buFont typeface="Wingdings" panose="05000000000000000000" pitchFamily="2" charset="2"/>
              <a:buNone/>
            </a:pPr>
            <a:r>
              <a:rPr lang="zh-CN" altLang="en-US" sz="2800"/>
              <a:t>    学生（</a:t>
            </a:r>
            <a:r>
              <a:rPr lang="zh-CN" altLang="en-US" sz="2800" u="sng"/>
              <a:t>学号</a:t>
            </a:r>
            <a:r>
              <a:rPr lang="zh-CN" altLang="en-US" sz="2800"/>
              <a:t>，姓名，性别，出生日期，所在系， </a:t>
            </a:r>
          </a:p>
          <a:p>
            <a:pPr eaLnBrk="1" hangingPunct="1">
              <a:lnSpc>
                <a:spcPct val="90000"/>
              </a:lnSpc>
              <a:buFont typeface="Wingdings" panose="05000000000000000000" pitchFamily="2" charset="2"/>
              <a:buNone/>
            </a:pPr>
            <a:r>
              <a:rPr lang="zh-CN" altLang="en-US" sz="2800"/>
              <a:t>                年级，班级号，平均成绩，档案号）</a:t>
            </a:r>
          </a:p>
          <a:p>
            <a:pPr eaLnBrk="1" hangingPunct="1">
              <a:lnSpc>
                <a:spcPct val="90000"/>
              </a:lnSpc>
              <a:buFont typeface="Wingdings" panose="05000000000000000000" pitchFamily="2" charset="2"/>
              <a:buNone/>
            </a:pPr>
            <a:r>
              <a:rPr lang="zh-CN" altLang="en-US" sz="2800"/>
              <a:t>	性别（</a:t>
            </a:r>
            <a:r>
              <a:rPr lang="zh-CN" altLang="en-US" sz="2800" u="sng"/>
              <a:t>性别</a:t>
            </a:r>
            <a:r>
              <a:rPr lang="zh-CN" altLang="en-US" sz="2800"/>
              <a:t>，宿舍楼）</a:t>
            </a:r>
          </a:p>
          <a:p>
            <a:pPr eaLnBrk="1" hangingPunct="1">
              <a:lnSpc>
                <a:spcPct val="90000"/>
              </a:lnSpc>
              <a:buFont typeface="Wingdings" panose="05000000000000000000" pitchFamily="2" charset="2"/>
              <a:buNone/>
            </a:pPr>
            <a:r>
              <a:rPr lang="zh-CN" altLang="en-US" sz="2800"/>
              <a:t>    宿舍（</a:t>
            </a:r>
            <a:r>
              <a:rPr lang="zh-CN" altLang="en-US" sz="2800" u="sng"/>
              <a:t>宿舍编号</a:t>
            </a:r>
            <a:r>
              <a:rPr lang="zh-CN" altLang="en-US" sz="2800"/>
              <a:t>，地址，性别，人数）</a:t>
            </a:r>
          </a:p>
          <a:p>
            <a:pPr eaLnBrk="1" hangingPunct="1">
              <a:lnSpc>
                <a:spcPct val="90000"/>
              </a:lnSpc>
              <a:buFont typeface="Wingdings" panose="05000000000000000000" pitchFamily="2" charset="2"/>
              <a:buNone/>
            </a:pPr>
            <a:r>
              <a:rPr lang="zh-CN" altLang="en-US" sz="2800"/>
              <a:t>　班级（</a:t>
            </a:r>
            <a:r>
              <a:rPr lang="zh-CN" altLang="en-US" sz="2800" u="sng"/>
              <a:t>班级号</a:t>
            </a:r>
            <a:r>
              <a:rPr lang="zh-CN" altLang="en-US" sz="2800"/>
              <a:t>，学生人数）</a:t>
            </a:r>
          </a:p>
          <a:p>
            <a:pPr eaLnBrk="1" hangingPunct="1">
              <a:lnSpc>
                <a:spcPct val="90000"/>
              </a:lnSpc>
              <a:buFont typeface="Wingdings" panose="05000000000000000000" pitchFamily="2" charset="2"/>
              <a:buNone/>
            </a:pPr>
            <a:r>
              <a:rPr lang="zh-CN" altLang="en-US" sz="2800"/>
              <a:t> 	教师（</a:t>
            </a:r>
            <a:r>
              <a:rPr lang="zh-CN" altLang="en-US" sz="2800" u="sng"/>
              <a:t>职工号</a:t>
            </a:r>
            <a:r>
              <a:rPr lang="zh-CN" altLang="en-US" sz="2800"/>
              <a:t>，姓名，性别，职称，班级号</a:t>
            </a:r>
            <a:r>
              <a:rPr lang="zh-CN" altLang="en-US" sz="2400"/>
              <a:t>，</a:t>
            </a:r>
          </a:p>
          <a:p>
            <a:pPr eaLnBrk="1" hangingPunct="1">
              <a:lnSpc>
                <a:spcPct val="90000"/>
              </a:lnSpc>
              <a:buFont typeface="Wingdings" panose="05000000000000000000" pitchFamily="2" charset="2"/>
              <a:buNone/>
            </a:pPr>
            <a:r>
              <a:rPr lang="zh-CN" altLang="en-US" sz="2400"/>
              <a:t>                  </a:t>
            </a:r>
            <a:r>
              <a:rPr lang="zh-CN" altLang="en-US" sz="2800"/>
              <a:t>是否为优秀班主任）　</a:t>
            </a:r>
            <a:r>
              <a:rPr lang="zh-CN" altLang="en-US" sz="240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页脚占位符 4">
            <a:extLst>
              <a:ext uri="{FF2B5EF4-FFF2-40B4-BE49-F238E27FC236}">
                <a16:creationId xmlns:a16="http://schemas.microsoft.com/office/drawing/2014/main" id="{4CC67A5A-7719-CAB0-07F0-3CFF53185D1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8675" name="Rectangle 2">
            <a:extLst>
              <a:ext uri="{FF2B5EF4-FFF2-40B4-BE49-F238E27FC236}">
                <a16:creationId xmlns:a16="http://schemas.microsoft.com/office/drawing/2014/main" id="{5FD31F38-0ECF-A87F-937B-CBE080F22B08}"/>
              </a:ext>
            </a:extLst>
          </p:cNvPr>
          <p:cNvSpPr>
            <a:spLocks noGrp="1" noChangeArrowheads="1"/>
          </p:cNvSpPr>
          <p:nvPr>
            <p:ph type="title"/>
          </p:nvPr>
        </p:nvSpPr>
        <p:spPr/>
        <p:txBody>
          <a:bodyPr/>
          <a:lstStyle/>
          <a:p>
            <a:pPr eaLnBrk="1" hangingPunct="1"/>
            <a:r>
              <a:rPr lang="en-US" altLang="zh-CN"/>
              <a:t>E-R</a:t>
            </a:r>
            <a:r>
              <a:rPr lang="zh-CN" altLang="en-US"/>
              <a:t>图向关系模型的转换（续）</a:t>
            </a:r>
          </a:p>
        </p:txBody>
      </p:sp>
      <p:sp>
        <p:nvSpPr>
          <p:cNvPr id="28676" name="Rectangle 3">
            <a:extLst>
              <a:ext uri="{FF2B5EF4-FFF2-40B4-BE49-F238E27FC236}">
                <a16:creationId xmlns:a16="http://schemas.microsoft.com/office/drawing/2014/main" id="{19B4EED1-EE0A-FCDB-CDFF-C064CF7D6A46}"/>
              </a:ext>
            </a:extLst>
          </p:cNvPr>
          <p:cNvSpPr>
            <a:spLocks noGrp="1" noChangeArrowheads="1"/>
          </p:cNvSpPr>
          <p:nvPr>
            <p:ph type="body" idx="1"/>
          </p:nvPr>
        </p:nvSpPr>
        <p:spPr>
          <a:xfrm>
            <a:off x="539750" y="2060575"/>
            <a:ext cx="7772400" cy="4114800"/>
          </a:xfrm>
        </p:spPr>
        <p:txBody>
          <a:bodyPr/>
          <a:lstStyle/>
          <a:p>
            <a:pPr eaLnBrk="1" hangingPunct="1">
              <a:buFont typeface="Wingdings" panose="05000000000000000000" pitchFamily="2" charset="2"/>
              <a:buNone/>
            </a:pPr>
            <a:r>
              <a:rPr lang="en-US" altLang="zh-CN" sz="2800"/>
              <a:t>	   </a:t>
            </a:r>
            <a:r>
              <a:rPr lang="zh-CN" altLang="en-US" sz="2800"/>
              <a:t>教学（</a:t>
            </a:r>
            <a:r>
              <a:rPr lang="zh-CN" altLang="en-US" sz="2800" u="sng"/>
              <a:t>职工号，学号</a:t>
            </a:r>
            <a:r>
              <a:rPr lang="zh-CN" altLang="en-US" sz="2800"/>
              <a:t>）</a:t>
            </a:r>
          </a:p>
          <a:p>
            <a:pPr eaLnBrk="1" hangingPunct="1">
              <a:buFont typeface="Wingdings" panose="05000000000000000000" pitchFamily="2" charset="2"/>
              <a:buNone/>
            </a:pPr>
            <a:r>
              <a:rPr lang="zh-CN" altLang="en-US" sz="2800"/>
              <a:t>　　课程（</a:t>
            </a:r>
            <a:r>
              <a:rPr lang="zh-CN" altLang="en-US" sz="2800" u="sng"/>
              <a:t>课程号</a:t>
            </a:r>
            <a:r>
              <a:rPr lang="zh-CN" altLang="en-US" sz="2800"/>
              <a:t>，课程名，学分，教室号）</a:t>
            </a:r>
          </a:p>
          <a:p>
            <a:pPr eaLnBrk="1" hangingPunct="1">
              <a:buFont typeface="Wingdings" panose="05000000000000000000" pitchFamily="2" charset="2"/>
              <a:buNone/>
            </a:pPr>
            <a:r>
              <a:rPr lang="zh-CN" altLang="en-US" sz="2800"/>
              <a:t>　　选修（</a:t>
            </a:r>
            <a:r>
              <a:rPr lang="zh-CN" altLang="en-US" sz="2800" u="sng"/>
              <a:t>学号，课程号</a:t>
            </a:r>
            <a:r>
              <a:rPr lang="zh-CN" altLang="en-US" sz="2800"/>
              <a:t>，成绩）</a:t>
            </a:r>
          </a:p>
          <a:p>
            <a:pPr eaLnBrk="1" hangingPunct="1">
              <a:buFont typeface="Wingdings" panose="05000000000000000000" pitchFamily="2" charset="2"/>
              <a:buNone/>
            </a:pPr>
            <a:r>
              <a:rPr lang="zh-CN" altLang="en-US" sz="2800"/>
              <a:t>　　教科书（</a:t>
            </a:r>
            <a:r>
              <a:rPr lang="zh-CN" altLang="en-US" sz="2800" u="sng"/>
              <a:t>书号</a:t>
            </a:r>
            <a:r>
              <a:rPr lang="zh-CN" altLang="en-US" sz="2800"/>
              <a:t>，书名，价钱）</a:t>
            </a:r>
          </a:p>
          <a:p>
            <a:pPr eaLnBrk="1" hangingPunct="1">
              <a:buFont typeface="Wingdings" panose="05000000000000000000" pitchFamily="2" charset="2"/>
              <a:buNone/>
            </a:pPr>
            <a:r>
              <a:rPr lang="zh-CN" altLang="en-US" sz="2800"/>
              <a:t>　　教室（</a:t>
            </a:r>
            <a:r>
              <a:rPr lang="zh-CN" altLang="en-US" sz="2800" u="sng"/>
              <a:t>教室编号</a:t>
            </a:r>
            <a:r>
              <a:rPr lang="zh-CN" altLang="en-US" sz="2800"/>
              <a:t>，地址，容量）</a:t>
            </a:r>
          </a:p>
          <a:p>
            <a:pPr eaLnBrk="1" hangingPunct="1">
              <a:buFont typeface="Wingdings" panose="05000000000000000000" pitchFamily="2" charset="2"/>
              <a:buNone/>
            </a:pPr>
            <a:r>
              <a:rPr lang="zh-CN" altLang="en-US" sz="2800"/>
              <a:t>　　讲授（</a:t>
            </a:r>
            <a:r>
              <a:rPr lang="zh-CN" altLang="en-US" sz="2800" u="sng"/>
              <a:t>课程号，教师号，书号</a:t>
            </a:r>
            <a:r>
              <a:rPr lang="zh-CN" altLang="en-US" sz="2800"/>
              <a:t>）</a:t>
            </a:r>
          </a:p>
          <a:p>
            <a:pPr eaLnBrk="1" hangingPunct="1">
              <a:buFont typeface="Wingdings" panose="05000000000000000000" pitchFamily="2" charset="2"/>
              <a:buNone/>
            </a:pPr>
            <a:r>
              <a:rPr lang="zh-CN" altLang="en-US" sz="2800"/>
              <a:t>　　档案材料（</a:t>
            </a:r>
            <a:r>
              <a:rPr lang="zh-CN" altLang="en-US" sz="2800" u="sng"/>
              <a:t>档案号，</a:t>
            </a:r>
            <a:r>
              <a:rPr lang="en-US" altLang="zh-CN" sz="2800">
                <a:latin typeface="Times New Roman" panose="02020603050405020304" pitchFamily="18" charset="0"/>
              </a:rPr>
              <a:t>……</a:t>
            </a:r>
            <a:r>
              <a:rPr lang="zh-CN" altLang="en-US" sz="2800"/>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页脚占位符 4">
            <a:extLst>
              <a:ext uri="{FF2B5EF4-FFF2-40B4-BE49-F238E27FC236}">
                <a16:creationId xmlns:a16="http://schemas.microsoft.com/office/drawing/2014/main" id="{714C77CD-1277-5143-04FC-9DC8580BAD9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9699" name="Rectangle 2">
            <a:extLst>
              <a:ext uri="{FF2B5EF4-FFF2-40B4-BE49-F238E27FC236}">
                <a16:creationId xmlns:a16="http://schemas.microsoft.com/office/drawing/2014/main" id="{7E766BD1-417A-F27B-AF5E-EF133887F1DF}"/>
              </a:ext>
            </a:extLst>
          </p:cNvPr>
          <p:cNvSpPr>
            <a:spLocks noGrp="1" noChangeArrowheads="1"/>
          </p:cNvSpPr>
          <p:nvPr>
            <p:ph type="title"/>
          </p:nvPr>
        </p:nvSpPr>
        <p:spPr/>
        <p:txBody>
          <a:bodyPr/>
          <a:lstStyle/>
          <a:p>
            <a:pPr eaLnBrk="1" hangingPunct="1"/>
            <a:r>
              <a:rPr lang="en-US" altLang="zh-CN"/>
              <a:t>E-R</a:t>
            </a:r>
            <a:r>
              <a:rPr lang="zh-CN" altLang="en-US"/>
              <a:t>图向关系模型的转换（续）</a:t>
            </a:r>
          </a:p>
        </p:txBody>
      </p:sp>
      <p:sp>
        <p:nvSpPr>
          <p:cNvPr id="29700" name="Rectangle 3">
            <a:extLst>
              <a:ext uri="{FF2B5EF4-FFF2-40B4-BE49-F238E27FC236}">
                <a16:creationId xmlns:a16="http://schemas.microsoft.com/office/drawing/2014/main" id="{350641E5-B3D9-E8E0-F385-EF5CD86F9DC4}"/>
              </a:ext>
            </a:extLst>
          </p:cNvPr>
          <p:cNvSpPr>
            <a:spLocks noGrp="1" noChangeArrowheads="1"/>
          </p:cNvSpPr>
          <p:nvPr>
            <p:ph type="body" idx="1"/>
          </p:nvPr>
        </p:nvSpPr>
        <p:spPr>
          <a:xfrm>
            <a:off x="684213" y="1844675"/>
            <a:ext cx="7772400" cy="4114800"/>
          </a:xfrm>
        </p:spPr>
        <p:txBody>
          <a:bodyPr/>
          <a:lstStyle/>
          <a:p>
            <a:pPr eaLnBrk="1" hangingPunct="1"/>
            <a:r>
              <a:rPr lang="zh-CN" altLang="en-US"/>
              <a:t>该关系模型由</a:t>
            </a:r>
            <a:r>
              <a:rPr lang="en-US" altLang="zh-CN"/>
              <a:t>12</a:t>
            </a:r>
            <a:r>
              <a:rPr lang="zh-CN" altLang="en-US"/>
              <a:t>个关系模式组成。</a:t>
            </a:r>
          </a:p>
          <a:p>
            <a:pPr eaLnBrk="1" hangingPunct="1">
              <a:buFont typeface="Wingdings" panose="05000000000000000000" pitchFamily="2" charset="2"/>
              <a:buNone/>
            </a:pPr>
            <a:r>
              <a:rPr lang="zh-CN" altLang="en-US" sz="2800"/>
              <a:t>其中：</a:t>
            </a:r>
            <a:endParaRPr lang="zh-CN" altLang="en-US"/>
          </a:p>
          <a:p>
            <a:pPr lvl="1" eaLnBrk="1" hangingPunct="1"/>
            <a:r>
              <a:rPr lang="zh-CN" altLang="en-US"/>
              <a:t>学生关系模式包含了</a:t>
            </a:r>
            <a:r>
              <a:rPr lang="zh-CN" altLang="en-US">
                <a:latin typeface="Times New Roman" panose="02020603050405020304" pitchFamily="18" charset="0"/>
              </a:rPr>
              <a:t>“</a:t>
            </a:r>
            <a:r>
              <a:rPr lang="zh-CN" altLang="en-US"/>
              <a:t>拥有</a:t>
            </a:r>
            <a:r>
              <a:rPr lang="zh-CN" altLang="en-US">
                <a:latin typeface="Times New Roman" panose="02020603050405020304" pitchFamily="18" charset="0"/>
              </a:rPr>
              <a:t>”</a:t>
            </a:r>
            <a:r>
              <a:rPr lang="zh-CN" altLang="en-US"/>
              <a:t>联系、</a:t>
            </a:r>
            <a:r>
              <a:rPr lang="zh-CN" altLang="en-US">
                <a:latin typeface="Times New Roman" panose="02020603050405020304" pitchFamily="18" charset="0"/>
              </a:rPr>
              <a:t>“</a:t>
            </a:r>
            <a:r>
              <a:rPr lang="zh-CN" altLang="en-US"/>
              <a:t>组成</a:t>
            </a:r>
            <a:r>
              <a:rPr lang="zh-CN" altLang="en-US">
                <a:latin typeface="Times New Roman" panose="02020603050405020304" pitchFamily="18" charset="0"/>
              </a:rPr>
              <a:t>”</a:t>
            </a:r>
            <a:r>
              <a:rPr lang="zh-CN" altLang="en-US"/>
              <a:t>联系、</a:t>
            </a:r>
            <a:r>
              <a:rPr lang="zh-CN" altLang="en-US">
                <a:latin typeface="Times New Roman" panose="02020603050405020304" pitchFamily="18" charset="0"/>
              </a:rPr>
              <a:t>“</a:t>
            </a:r>
            <a:r>
              <a:rPr lang="zh-CN" altLang="en-US"/>
              <a:t>归档</a:t>
            </a:r>
            <a:r>
              <a:rPr lang="zh-CN" altLang="en-US">
                <a:latin typeface="Times New Roman" panose="02020603050405020304" pitchFamily="18" charset="0"/>
              </a:rPr>
              <a:t>”</a:t>
            </a:r>
            <a:r>
              <a:rPr lang="zh-CN" altLang="en-US"/>
              <a:t>联系所对应的关系模式</a:t>
            </a:r>
          </a:p>
          <a:p>
            <a:pPr lvl="1" eaLnBrk="1" hangingPunct="1"/>
            <a:r>
              <a:rPr lang="zh-CN" altLang="en-US"/>
              <a:t>教师关系模式包含了</a:t>
            </a:r>
            <a:r>
              <a:rPr lang="zh-CN" altLang="en-US">
                <a:latin typeface="Times New Roman" panose="02020603050405020304" pitchFamily="18" charset="0"/>
              </a:rPr>
              <a:t>“</a:t>
            </a:r>
            <a:r>
              <a:rPr lang="zh-CN" altLang="en-US"/>
              <a:t>管理</a:t>
            </a:r>
            <a:r>
              <a:rPr lang="zh-CN" altLang="en-US">
                <a:latin typeface="Times New Roman" panose="02020603050405020304" pitchFamily="18" charset="0"/>
              </a:rPr>
              <a:t>”</a:t>
            </a:r>
            <a:r>
              <a:rPr lang="zh-CN" altLang="en-US"/>
              <a:t>联系所对应的关系模式；</a:t>
            </a:r>
          </a:p>
          <a:p>
            <a:pPr lvl="1" eaLnBrk="1" hangingPunct="1"/>
            <a:r>
              <a:rPr lang="zh-CN" altLang="en-US"/>
              <a:t>宿舍关系模式包含了</a:t>
            </a:r>
            <a:r>
              <a:rPr lang="zh-CN" altLang="en-US">
                <a:latin typeface="Times New Roman" panose="02020603050405020304" pitchFamily="18" charset="0"/>
              </a:rPr>
              <a:t>“</a:t>
            </a:r>
            <a:r>
              <a:rPr lang="zh-CN" altLang="en-US"/>
              <a:t>住宿</a:t>
            </a:r>
            <a:r>
              <a:rPr lang="zh-CN" altLang="en-US">
                <a:latin typeface="Times New Roman" panose="02020603050405020304" pitchFamily="18" charset="0"/>
              </a:rPr>
              <a:t>”</a:t>
            </a:r>
            <a:r>
              <a:rPr lang="zh-CN" altLang="en-US"/>
              <a:t>联系所对应的关系模式；</a:t>
            </a:r>
          </a:p>
          <a:p>
            <a:pPr lvl="1" eaLnBrk="1" hangingPunct="1"/>
            <a:r>
              <a:rPr lang="zh-CN" altLang="en-US"/>
              <a:t>课程关系模式包含了</a:t>
            </a:r>
            <a:r>
              <a:rPr lang="zh-CN" altLang="en-US">
                <a:latin typeface="Times New Roman" panose="02020603050405020304" pitchFamily="18" charset="0"/>
              </a:rPr>
              <a:t>“</a:t>
            </a:r>
            <a:r>
              <a:rPr lang="zh-CN" altLang="en-US"/>
              <a:t>开设</a:t>
            </a:r>
            <a:r>
              <a:rPr lang="zh-CN" altLang="en-US">
                <a:latin typeface="Times New Roman" panose="02020603050405020304" pitchFamily="18" charset="0"/>
              </a:rPr>
              <a:t>”</a:t>
            </a:r>
            <a:r>
              <a:rPr lang="zh-CN" altLang="en-US"/>
              <a:t>联系所对应的关系模式</a:t>
            </a:r>
            <a:r>
              <a:rPr lang="zh-CN" altLang="en-US" sz="240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92E3C91-3C95-DBBE-2C05-C74579FED9C7}"/>
              </a:ext>
            </a:extLst>
          </p:cNvPr>
          <p:cNvSpPr>
            <a:spLocks noGrp="1" noChangeArrowheads="1"/>
          </p:cNvSpPr>
          <p:nvPr>
            <p:ph type="title" idx="4294967295"/>
          </p:nvPr>
        </p:nvSpPr>
        <p:spPr/>
        <p:txBody>
          <a:bodyPr/>
          <a:lstStyle/>
          <a:p>
            <a:r>
              <a:rPr lang="en-US" altLang="zh-CN"/>
              <a:t>7.4  </a:t>
            </a:r>
            <a:r>
              <a:rPr lang="zh-CN" altLang="en-US"/>
              <a:t>逻辑结构设计</a:t>
            </a:r>
          </a:p>
        </p:txBody>
      </p:sp>
      <p:sp>
        <p:nvSpPr>
          <p:cNvPr id="30723" name="Rectangle 3">
            <a:extLst>
              <a:ext uri="{FF2B5EF4-FFF2-40B4-BE49-F238E27FC236}">
                <a16:creationId xmlns:a16="http://schemas.microsoft.com/office/drawing/2014/main" id="{47029F99-817B-61A5-25C6-2A1D221B191B}"/>
              </a:ext>
            </a:extLst>
          </p:cNvPr>
          <p:cNvSpPr>
            <a:spLocks noGrp="1" noChangeArrowheads="1"/>
          </p:cNvSpPr>
          <p:nvPr>
            <p:ph type="body" idx="4294967295"/>
          </p:nvPr>
        </p:nvSpPr>
        <p:spPr>
          <a:xfrm>
            <a:off x="755650" y="1916113"/>
            <a:ext cx="7931150" cy="4278312"/>
          </a:xfrm>
        </p:spPr>
        <p:txBody>
          <a:bodyPr/>
          <a:lstStyle/>
          <a:p>
            <a:pPr marL="0" indent="0">
              <a:lnSpc>
                <a:spcPct val="150000"/>
              </a:lnSpc>
              <a:buFont typeface="Wingdings" panose="05000000000000000000" pitchFamily="2" charset="2"/>
              <a:buNone/>
            </a:pPr>
            <a:r>
              <a:rPr lang="en-US" altLang="zh-CN"/>
              <a:t>7.4.1  E-R</a:t>
            </a:r>
            <a:r>
              <a:rPr lang="zh-CN" altLang="en-US"/>
              <a:t>图向关系模型的转换</a:t>
            </a:r>
          </a:p>
          <a:p>
            <a:pPr marL="0" indent="0">
              <a:lnSpc>
                <a:spcPct val="150000"/>
              </a:lnSpc>
              <a:buFont typeface="Wingdings" panose="05000000000000000000" pitchFamily="2" charset="2"/>
              <a:buNone/>
            </a:pPr>
            <a:r>
              <a:rPr lang="en-US" altLang="zh-CN">
                <a:solidFill>
                  <a:srgbClr val="FF0000"/>
                </a:solidFill>
              </a:rPr>
              <a:t>7.4.2  </a:t>
            </a:r>
            <a:r>
              <a:rPr lang="zh-CN" altLang="en-US">
                <a:solidFill>
                  <a:srgbClr val="FF0000"/>
                </a:solidFill>
              </a:rPr>
              <a:t>数据模型的优化</a:t>
            </a:r>
            <a:endParaRPr lang="en-US" altLang="zh-CN">
              <a:solidFill>
                <a:srgbClr val="FF0000"/>
              </a:solidFill>
            </a:endParaRPr>
          </a:p>
          <a:p>
            <a:pPr marL="0" indent="0">
              <a:lnSpc>
                <a:spcPct val="150000"/>
              </a:lnSpc>
              <a:buFont typeface="Wingdings" panose="05000000000000000000" pitchFamily="2" charset="2"/>
              <a:buNone/>
            </a:pPr>
            <a:r>
              <a:rPr lang="en-US" altLang="zh-CN"/>
              <a:t>7.4.3  </a:t>
            </a:r>
            <a:r>
              <a:rPr lang="zh-CN" altLang="en-US"/>
              <a:t>设计用户子模式</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DD064FFE-F2C5-5DA6-8824-ACD311E94EE7}"/>
              </a:ext>
            </a:extLst>
          </p:cNvPr>
          <p:cNvSpPr>
            <a:spLocks noGrp="1" noChangeArrowheads="1"/>
          </p:cNvSpPr>
          <p:nvPr>
            <p:ph type="title" idx="4294967295"/>
          </p:nvPr>
        </p:nvSpPr>
        <p:spPr/>
        <p:txBody>
          <a:bodyPr/>
          <a:lstStyle/>
          <a:p>
            <a:r>
              <a:rPr lang="en-US" altLang="zh-CN"/>
              <a:t>7.4.2  </a:t>
            </a:r>
            <a:r>
              <a:rPr lang="zh-CN" altLang="en-US"/>
              <a:t>数据模型的优化</a:t>
            </a:r>
          </a:p>
        </p:txBody>
      </p:sp>
      <p:sp>
        <p:nvSpPr>
          <p:cNvPr id="31747" name="Rectangle 3">
            <a:extLst>
              <a:ext uri="{FF2B5EF4-FFF2-40B4-BE49-F238E27FC236}">
                <a16:creationId xmlns:a16="http://schemas.microsoft.com/office/drawing/2014/main" id="{BDBFD2D8-B9DC-DEB1-B822-0387BD07C9F7}"/>
              </a:ext>
            </a:extLst>
          </p:cNvPr>
          <p:cNvSpPr>
            <a:spLocks noGrp="1" noChangeArrowheads="1"/>
          </p:cNvSpPr>
          <p:nvPr>
            <p:ph idx="4294967295"/>
          </p:nvPr>
        </p:nvSpPr>
        <p:spPr>
          <a:xfrm>
            <a:off x="107950" y="2017713"/>
            <a:ext cx="9036050" cy="4114800"/>
          </a:xfrm>
        </p:spPr>
        <p:txBody>
          <a:bodyPr/>
          <a:lstStyle/>
          <a:p>
            <a:pPr>
              <a:lnSpc>
                <a:spcPct val="120000"/>
              </a:lnSpc>
            </a:pPr>
            <a:r>
              <a:rPr lang="zh-CN" altLang="en-US" sz="2800"/>
              <a:t>一般的数据模型还需要向特定数据库管理系统规定的模型进行转换。</a:t>
            </a:r>
          </a:p>
          <a:p>
            <a:pPr lvl="3">
              <a:lnSpc>
                <a:spcPct val="120000"/>
              </a:lnSpc>
            </a:pPr>
            <a:endParaRPr lang="zh-CN" altLang="en-US" sz="1600"/>
          </a:p>
          <a:p>
            <a:pPr>
              <a:lnSpc>
                <a:spcPct val="120000"/>
              </a:lnSpc>
            </a:pPr>
            <a:r>
              <a:rPr lang="zh-CN" altLang="en-US" sz="2800"/>
              <a:t>转换的主要依据是所选用的数据库管理系统的功能及限制。没有通用规则。</a:t>
            </a:r>
          </a:p>
          <a:p>
            <a:pPr lvl="4">
              <a:lnSpc>
                <a:spcPct val="120000"/>
              </a:lnSpc>
            </a:pPr>
            <a:endParaRPr lang="zh-CN" altLang="en-US" sz="1600"/>
          </a:p>
          <a:p>
            <a:pPr>
              <a:lnSpc>
                <a:spcPct val="120000"/>
              </a:lnSpc>
            </a:pPr>
            <a:r>
              <a:rPr lang="zh-CN" altLang="en-US" sz="2800"/>
              <a:t>对于关系模型来说，这种转换通常都比较简单。</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25FFBD9-9335-BC82-9D05-023B8AE674A1}"/>
              </a:ext>
            </a:extLst>
          </p:cNvPr>
          <p:cNvSpPr>
            <a:spLocks noGrp="1" noChangeArrowheads="1"/>
          </p:cNvSpPr>
          <p:nvPr>
            <p:ph type="title" idx="4294967295"/>
          </p:nvPr>
        </p:nvSpPr>
        <p:spPr/>
        <p:txBody>
          <a:bodyPr/>
          <a:lstStyle/>
          <a:p>
            <a:r>
              <a:rPr lang="zh-CN" altLang="en-US"/>
              <a:t>数据模型的优化（续）</a:t>
            </a:r>
          </a:p>
        </p:txBody>
      </p:sp>
      <p:sp>
        <p:nvSpPr>
          <p:cNvPr id="32771" name="Rectangle 3">
            <a:extLst>
              <a:ext uri="{FF2B5EF4-FFF2-40B4-BE49-F238E27FC236}">
                <a16:creationId xmlns:a16="http://schemas.microsoft.com/office/drawing/2014/main" id="{7AF8426D-16B0-B360-7E56-7F345E797A66}"/>
              </a:ext>
            </a:extLst>
          </p:cNvPr>
          <p:cNvSpPr>
            <a:spLocks noGrp="1" noChangeArrowheads="1"/>
          </p:cNvSpPr>
          <p:nvPr>
            <p:ph idx="4294967295"/>
          </p:nvPr>
        </p:nvSpPr>
        <p:spPr>
          <a:xfrm>
            <a:off x="188913" y="2133600"/>
            <a:ext cx="8775700" cy="4114800"/>
          </a:xfrm>
        </p:spPr>
        <p:txBody>
          <a:bodyPr/>
          <a:lstStyle/>
          <a:p>
            <a:pPr>
              <a:lnSpc>
                <a:spcPct val="120000"/>
              </a:lnSpc>
            </a:pPr>
            <a:r>
              <a:rPr lang="zh-CN" altLang="zh-CN" sz="2800"/>
              <a:t>数据库逻辑设计的结果不是唯一的。</a:t>
            </a:r>
          </a:p>
          <a:p>
            <a:pPr>
              <a:lnSpc>
                <a:spcPct val="120000"/>
              </a:lnSpc>
            </a:pPr>
            <a:r>
              <a:rPr lang="zh-CN" altLang="zh-CN" sz="2800"/>
              <a:t>得到初步数据模型后，还应该适当地修改、调整数据模型的结构，以进一步提高数据库应用系统的性能，这就是数据模型的优化。</a:t>
            </a:r>
          </a:p>
          <a:p>
            <a:pPr>
              <a:lnSpc>
                <a:spcPct val="120000"/>
              </a:lnSpc>
            </a:pPr>
            <a:r>
              <a:rPr lang="zh-CN" altLang="zh-CN" sz="2800"/>
              <a:t>关系数据模型的优化通常以</a:t>
            </a:r>
            <a:r>
              <a:rPr lang="zh-CN" altLang="zh-CN" sz="2800">
                <a:solidFill>
                  <a:srgbClr val="FF0000"/>
                </a:solidFill>
              </a:rPr>
              <a:t>规范化理论</a:t>
            </a:r>
            <a:r>
              <a:rPr lang="zh-CN" altLang="zh-CN" sz="2800"/>
              <a:t>为指导。</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页脚占位符 4">
            <a:extLst>
              <a:ext uri="{FF2B5EF4-FFF2-40B4-BE49-F238E27FC236}">
                <a16:creationId xmlns:a16="http://schemas.microsoft.com/office/drawing/2014/main" id="{6DDA27DE-2761-E743-7E51-575217E32EE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3795" name="Rectangle 2">
            <a:extLst>
              <a:ext uri="{FF2B5EF4-FFF2-40B4-BE49-F238E27FC236}">
                <a16:creationId xmlns:a16="http://schemas.microsoft.com/office/drawing/2014/main" id="{96EDF693-E822-8D5C-ADB7-EA176BF000DA}"/>
              </a:ext>
            </a:extLst>
          </p:cNvPr>
          <p:cNvSpPr>
            <a:spLocks noGrp="1" noChangeArrowheads="1"/>
          </p:cNvSpPr>
          <p:nvPr>
            <p:ph type="title"/>
          </p:nvPr>
        </p:nvSpPr>
        <p:spPr/>
        <p:txBody>
          <a:bodyPr/>
          <a:lstStyle/>
          <a:p>
            <a:pPr eaLnBrk="1" hangingPunct="1"/>
            <a:r>
              <a:rPr lang="zh-CN" altLang="en-US"/>
              <a:t>数据模型的优化</a:t>
            </a:r>
          </a:p>
        </p:txBody>
      </p:sp>
      <p:sp>
        <p:nvSpPr>
          <p:cNvPr id="22532" name="Rectangle 3">
            <a:extLst>
              <a:ext uri="{FF2B5EF4-FFF2-40B4-BE49-F238E27FC236}">
                <a16:creationId xmlns:a16="http://schemas.microsoft.com/office/drawing/2014/main" id="{FD270527-BDA1-D4A5-C132-0876C6D58D87}"/>
              </a:ext>
            </a:extLst>
          </p:cNvPr>
          <p:cNvSpPr>
            <a:spLocks noGrp="1" noChangeArrowheads="1"/>
          </p:cNvSpPr>
          <p:nvPr>
            <p:ph type="body" idx="1"/>
          </p:nvPr>
        </p:nvSpPr>
        <p:spPr>
          <a:xfrm>
            <a:off x="611188" y="2017713"/>
            <a:ext cx="8343900" cy="4114800"/>
          </a:xfrm>
        </p:spPr>
        <p:txBody>
          <a:bodyPr/>
          <a:lstStyle/>
          <a:p>
            <a:pPr marL="609600" indent="-609600" eaLnBrk="1" hangingPunct="1">
              <a:lnSpc>
                <a:spcPct val="90000"/>
              </a:lnSpc>
              <a:buFont typeface="Wingdings" panose="05000000000000000000" pitchFamily="2" charset="2"/>
              <a:buNone/>
            </a:pPr>
            <a:r>
              <a:rPr lang="en-US" altLang="zh-CN"/>
              <a:t>⒈ </a:t>
            </a:r>
            <a:r>
              <a:rPr lang="zh-CN" altLang="en-US"/>
              <a:t>确定数据依赖</a:t>
            </a:r>
          </a:p>
          <a:p>
            <a:pPr marL="609600" indent="-609600" eaLnBrk="1" hangingPunct="1">
              <a:lnSpc>
                <a:spcPct val="90000"/>
              </a:lnSpc>
              <a:spcBef>
                <a:spcPct val="60000"/>
              </a:spcBef>
              <a:buFont typeface="Wingdings" panose="05000000000000000000" pitchFamily="2" charset="2"/>
              <a:buNone/>
            </a:pPr>
            <a:r>
              <a:rPr lang="zh-CN" altLang="en-US" sz="2400"/>
              <a:t>例，课程关系模式内部存在下列数据依赖：</a:t>
            </a:r>
          </a:p>
          <a:p>
            <a:pPr marL="609600" indent="-609600" eaLnBrk="1" hangingPunct="1">
              <a:lnSpc>
                <a:spcPct val="90000"/>
              </a:lnSpc>
              <a:buFont typeface="Wingdings" panose="05000000000000000000" pitchFamily="2" charset="2"/>
              <a:buNone/>
            </a:pPr>
            <a:r>
              <a:rPr lang="zh-CN" altLang="en-US" sz="2400"/>
              <a:t>     　　 课程号→课程名</a:t>
            </a:r>
          </a:p>
          <a:p>
            <a:pPr marL="609600" indent="-609600" eaLnBrk="1" hangingPunct="1">
              <a:lnSpc>
                <a:spcPct val="90000"/>
              </a:lnSpc>
              <a:buFont typeface="Wingdings" panose="05000000000000000000" pitchFamily="2" charset="2"/>
              <a:buNone/>
            </a:pPr>
            <a:r>
              <a:rPr lang="zh-CN" altLang="en-US" sz="2400"/>
              <a:t>　　      课程号→学分</a:t>
            </a:r>
          </a:p>
          <a:p>
            <a:pPr marL="609600" indent="-609600" eaLnBrk="1" hangingPunct="1">
              <a:lnSpc>
                <a:spcPct val="90000"/>
              </a:lnSpc>
              <a:buFont typeface="Wingdings" panose="05000000000000000000" pitchFamily="2" charset="2"/>
              <a:buNone/>
            </a:pPr>
            <a:r>
              <a:rPr lang="zh-CN" altLang="en-US" sz="2400"/>
              <a:t>            课程号→教室号</a:t>
            </a:r>
          </a:p>
          <a:p>
            <a:pPr marL="609600" indent="-609600" eaLnBrk="1" hangingPunct="1">
              <a:lnSpc>
                <a:spcPct val="90000"/>
              </a:lnSpc>
              <a:buFont typeface="Wingdings" panose="05000000000000000000" pitchFamily="2" charset="2"/>
              <a:buNone/>
            </a:pPr>
            <a:endParaRPr lang="zh-CN" altLang="en-US" sz="2400"/>
          </a:p>
          <a:p>
            <a:pPr marL="609600" indent="-609600" eaLnBrk="1" hangingPunct="1">
              <a:lnSpc>
                <a:spcPct val="90000"/>
              </a:lnSpc>
              <a:buFont typeface="Wingdings" panose="05000000000000000000" pitchFamily="2" charset="2"/>
              <a:buNone/>
            </a:pPr>
            <a:r>
              <a:rPr lang="zh-CN" altLang="en-US" sz="2400"/>
              <a:t>　     选修关系模式中存在下列数据依赖：</a:t>
            </a:r>
          </a:p>
          <a:p>
            <a:pPr marL="609600" indent="-609600" eaLnBrk="1" hangingPunct="1">
              <a:lnSpc>
                <a:spcPct val="90000"/>
              </a:lnSpc>
              <a:buFont typeface="Wingdings" panose="05000000000000000000" pitchFamily="2" charset="2"/>
              <a:buNone/>
            </a:pPr>
            <a:r>
              <a:rPr lang="zh-CN" altLang="en-US" sz="2400"/>
              <a:t>　　      （学号，课程号）→成绩</a:t>
            </a:r>
            <a:endParaRPr lang="zh-CN" altLang="en-US" sz="2000"/>
          </a:p>
          <a:p>
            <a:pPr marL="609600" indent="-609600" eaLnBrk="1" hangingPunct="1">
              <a:lnSpc>
                <a:spcPct val="90000"/>
              </a:lnSpc>
              <a:spcBef>
                <a:spcPct val="60000"/>
              </a:spcBef>
              <a:buFont typeface="Wingdings" panose="05000000000000000000" pitchFamily="2" charset="2"/>
              <a:buNone/>
            </a:pPr>
            <a:r>
              <a:rPr lang="zh-CN" altLang="en-US" sz="20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2532">
                                            <p:txEl>
                                              <p:pRg st="1" end="1"/>
                                            </p:txEl>
                                          </p:spTgt>
                                        </p:tgtEl>
                                        <p:attrNameLst>
                                          <p:attrName>style.visibility</p:attrName>
                                        </p:attrNameLst>
                                      </p:cBhvr>
                                      <p:to>
                                        <p:strVal val="visible"/>
                                      </p:to>
                                    </p:set>
                                    <p:animEffect transition="in" filter="box(in)">
                                      <p:cBhvr>
                                        <p:cTn id="7" dur="500"/>
                                        <p:tgtEl>
                                          <p:spTgt spid="22532">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2532">
                                            <p:txEl>
                                              <p:pRg st="2" end="2"/>
                                            </p:txEl>
                                          </p:spTgt>
                                        </p:tgtEl>
                                        <p:attrNameLst>
                                          <p:attrName>style.visibility</p:attrName>
                                        </p:attrNameLst>
                                      </p:cBhvr>
                                      <p:to>
                                        <p:strVal val="visible"/>
                                      </p:to>
                                    </p:set>
                                    <p:animEffect transition="in" filter="box(in)">
                                      <p:cBhvr>
                                        <p:cTn id="10" dur="500"/>
                                        <p:tgtEl>
                                          <p:spTgt spid="22532">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2532">
                                            <p:txEl>
                                              <p:pRg st="3" end="3"/>
                                            </p:txEl>
                                          </p:spTgt>
                                        </p:tgtEl>
                                        <p:attrNameLst>
                                          <p:attrName>style.visibility</p:attrName>
                                        </p:attrNameLst>
                                      </p:cBhvr>
                                      <p:to>
                                        <p:strVal val="visible"/>
                                      </p:to>
                                    </p:set>
                                    <p:animEffect transition="in" filter="box(in)">
                                      <p:cBhvr>
                                        <p:cTn id="13" dur="500"/>
                                        <p:tgtEl>
                                          <p:spTgt spid="22532">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2532">
                                            <p:txEl>
                                              <p:pRg st="4" end="4"/>
                                            </p:txEl>
                                          </p:spTgt>
                                        </p:tgtEl>
                                        <p:attrNameLst>
                                          <p:attrName>style.visibility</p:attrName>
                                        </p:attrNameLst>
                                      </p:cBhvr>
                                      <p:to>
                                        <p:strVal val="visible"/>
                                      </p:to>
                                    </p:set>
                                    <p:animEffect transition="in" filter="box(in)">
                                      <p:cBhvr>
                                        <p:cTn id="16" dur="500"/>
                                        <p:tgtEl>
                                          <p:spTgt spid="22532">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nodeType="clickEffect">
                                  <p:stCondLst>
                                    <p:cond delay="0"/>
                                  </p:stCondLst>
                                  <p:childTnLst>
                                    <p:set>
                                      <p:cBhvr>
                                        <p:cTn id="20" dur="1" fill="hold">
                                          <p:stCondLst>
                                            <p:cond delay="0"/>
                                          </p:stCondLst>
                                        </p:cTn>
                                        <p:tgtEl>
                                          <p:spTgt spid="22532">
                                            <p:txEl>
                                              <p:pRg st="6" end="6"/>
                                            </p:txEl>
                                          </p:spTgt>
                                        </p:tgtEl>
                                        <p:attrNameLst>
                                          <p:attrName>style.visibility</p:attrName>
                                        </p:attrNameLst>
                                      </p:cBhvr>
                                      <p:to>
                                        <p:strVal val="visible"/>
                                      </p:to>
                                    </p:set>
                                    <p:animEffect transition="in" filter="box(in)">
                                      <p:cBhvr>
                                        <p:cTn id="21" dur="500"/>
                                        <p:tgtEl>
                                          <p:spTgt spid="22532">
                                            <p:txEl>
                                              <p:pRg st="6" end="6"/>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22532">
                                            <p:txEl>
                                              <p:pRg st="7" end="7"/>
                                            </p:txEl>
                                          </p:spTgt>
                                        </p:tgtEl>
                                        <p:attrNameLst>
                                          <p:attrName>style.visibility</p:attrName>
                                        </p:attrNameLst>
                                      </p:cBhvr>
                                      <p:to>
                                        <p:strVal val="visible"/>
                                      </p:to>
                                    </p:set>
                                    <p:animEffect transition="in" filter="box(in)">
                                      <p:cBhvr>
                                        <p:cTn id="24" dur="500"/>
                                        <p:tgtEl>
                                          <p:spTgt spid="2253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页脚占位符 4">
            <a:extLst>
              <a:ext uri="{FF2B5EF4-FFF2-40B4-BE49-F238E27FC236}">
                <a16:creationId xmlns:a16="http://schemas.microsoft.com/office/drawing/2014/main" id="{5AA4D9CE-8103-C2D9-B6CE-1E8D5CC2A4E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4819" name="Rectangle 2">
            <a:extLst>
              <a:ext uri="{FF2B5EF4-FFF2-40B4-BE49-F238E27FC236}">
                <a16:creationId xmlns:a16="http://schemas.microsoft.com/office/drawing/2014/main" id="{6CCD79C3-3EC0-B240-0009-4101E0E7DDC9}"/>
              </a:ext>
            </a:extLst>
          </p:cNvPr>
          <p:cNvSpPr>
            <a:spLocks noGrp="1" noChangeArrowheads="1"/>
          </p:cNvSpPr>
          <p:nvPr>
            <p:ph type="title"/>
          </p:nvPr>
        </p:nvSpPr>
        <p:spPr/>
        <p:txBody>
          <a:bodyPr/>
          <a:lstStyle/>
          <a:p>
            <a:pPr eaLnBrk="1" hangingPunct="1"/>
            <a:r>
              <a:rPr lang="zh-CN" altLang="en-US"/>
              <a:t>数据模型的优化（续）</a:t>
            </a:r>
          </a:p>
        </p:txBody>
      </p:sp>
      <p:sp>
        <p:nvSpPr>
          <p:cNvPr id="23556" name="Rectangle 3">
            <a:extLst>
              <a:ext uri="{FF2B5EF4-FFF2-40B4-BE49-F238E27FC236}">
                <a16:creationId xmlns:a16="http://schemas.microsoft.com/office/drawing/2014/main" id="{0F2F1089-B6A3-3B8B-2291-2287E622554E}"/>
              </a:ext>
            </a:extLst>
          </p:cNvPr>
          <p:cNvSpPr>
            <a:spLocks noGrp="1" noChangeArrowheads="1"/>
          </p:cNvSpPr>
          <p:nvPr>
            <p:ph type="body" idx="1"/>
          </p:nvPr>
        </p:nvSpPr>
        <p:spPr>
          <a:xfrm>
            <a:off x="611188" y="1944688"/>
            <a:ext cx="8343900" cy="4652962"/>
          </a:xfrm>
        </p:spPr>
        <p:txBody>
          <a:bodyPr/>
          <a:lstStyle/>
          <a:p>
            <a:pPr marL="609600" indent="-609600" eaLnBrk="1" hangingPunct="1">
              <a:lnSpc>
                <a:spcPct val="80000"/>
              </a:lnSpc>
              <a:buFont typeface="Wingdings" panose="05000000000000000000" pitchFamily="2" charset="2"/>
              <a:buNone/>
            </a:pPr>
            <a:r>
              <a:rPr lang="en-US" altLang="zh-CN" sz="2400"/>
              <a:t>	</a:t>
            </a:r>
            <a:r>
              <a:rPr lang="zh-CN" altLang="en-US" sz="2400"/>
              <a:t>学生关系模式中存在下列数据依赖：</a:t>
            </a:r>
          </a:p>
          <a:p>
            <a:pPr marL="609600" indent="-609600" eaLnBrk="1" hangingPunct="1">
              <a:lnSpc>
                <a:spcPct val="80000"/>
              </a:lnSpc>
              <a:buFont typeface="Wingdings" panose="05000000000000000000" pitchFamily="2" charset="2"/>
              <a:buNone/>
            </a:pPr>
            <a:r>
              <a:rPr lang="zh-CN" altLang="en-US" sz="2400"/>
              <a:t>　        学号→姓名</a:t>
            </a:r>
          </a:p>
          <a:p>
            <a:pPr marL="609600" indent="-609600" eaLnBrk="1" hangingPunct="1">
              <a:lnSpc>
                <a:spcPct val="80000"/>
              </a:lnSpc>
              <a:buFont typeface="Wingdings" panose="05000000000000000000" pitchFamily="2" charset="2"/>
              <a:buNone/>
            </a:pPr>
            <a:r>
              <a:rPr lang="zh-CN" altLang="en-US" sz="2400"/>
              <a:t>　        学号→性别</a:t>
            </a:r>
          </a:p>
          <a:p>
            <a:pPr marL="609600" indent="-609600" eaLnBrk="1" hangingPunct="1">
              <a:lnSpc>
                <a:spcPct val="80000"/>
              </a:lnSpc>
              <a:buFont typeface="Wingdings" panose="05000000000000000000" pitchFamily="2" charset="2"/>
              <a:buNone/>
            </a:pPr>
            <a:r>
              <a:rPr lang="zh-CN" altLang="en-US" sz="2400"/>
              <a:t>　        学号→出生日期</a:t>
            </a:r>
          </a:p>
          <a:p>
            <a:pPr marL="609600" indent="-609600" eaLnBrk="1" hangingPunct="1">
              <a:lnSpc>
                <a:spcPct val="80000"/>
              </a:lnSpc>
              <a:buFont typeface="Wingdings" panose="05000000000000000000" pitchFamily="2" charset="2"/>
              <a:buNone/>
            </a:pPr>
            <a:r>
              <a:rPr lang="zh-CN" altLang="en-US" sz="2400"/>
              <a:t>　        学号→所在系</a:t>
            </a:r>
          </a:p>
          <a:p>
            <a:pPr marL="609600" indent="-609600" eaLnBrk="1" hangingPunct="1">
              <a:lnSpc>
                <a:spcPct val="80000"/>
              </a:lnSpc>
              <a:buFont typeface="Wingdings" panose="05000000000000000000" pitchFamily="2" charset="2"/>
              <a:buNone/>
            </a:pPr>
            <a:r>
              <a:rPr lang="zh-CN" altLang="en-US" sz="2400"/>
              <a:t>	    学号→年级</a:t>
            </a:r>
          </a:p>
          <a:p>
            <a:pPr marL="609600" indent="-609600" eaLnBrk="1" hangingPunct="1">
              <a:lnSpc>
                <a:spcPct val="80000"/>
              </a:lnSpc>
              <a:buFont typeface="Wingdings" panose="05000000000000000000" pitchFamily="2" charset="2"/>
              <a:buNone/>
            </a:pPr>
            <a:r>
              <a:rPr lang="zh-CN" altLang="en-US" sz="2400"/>
              <a:t>　        学号→班级号</a:t>
            </a:r>
          </a:p>
          <a:p>
            <a:pPr marL="609600" indent="-609600" eaLnBrk="1" hangingPunct="1">
              <a:lnSpc>
                <a:spcPct val="80000"/>
              </a:lnSpc>
              <a:buFont typeface="Wingdings" panose="05000000000000000000" pitchFamily="2" charset="2"/>
              <a:buNone/>
            </a:pPr>
            <a:r>
              <a:rPr lang="zh-CN" altLang="en-US" sz="2400"/>
              <a:t>　        学号→平均成绩</a:t>
            </a:r>
          </a:p>
          <a:p>
            <a:pPr marL="609600" indent="-609600" eaLnBrk="1" hangingPunct="1">
              <a:lnSpc>
                <a:spcPct val="80000"/>
              </a:lnSpc>
              <a:buFont typeface="Wingdings" panose="05000000000000000000" pitchFamily="2" charset="2"/>
              <a:buNone/>
            </a:pPr>
            <a:r>
              <a:rPr lang="zh-CN" altLang="en-US" sz="2400"/>
              <a:t>　        学号→档案号</a:t>
            </a:r>
          </a:p>
          <a:p>
            <a:pPr marL="609600" indent="-609600" eaLnBrk="1" hangingPunct="1">
              <a:lnSpc>
                <a:spcPct val="140000"/>
              </a:lnSpc>
              <a:buFont typeface="Wingdings" panose="05000000000000000000" pitchFamily="2" charset="2"/>
              <a:buNone/>
            </a:pPr>
            <a:r>
              <a:rPr lang="zh-CN" altLang="en-US" sz="2400"/>
              <a:t>	学生关系模式的学号与选修关系模式的学号之间存在数据依赖：     学生</a:t>
            </a:r>
            <a:r>
              <a:rPr lang="en-US" altLang="zh-CN" sz="2400"/>
              <a:t>.</a:t>
            </a:r>
            <a:r>
              <a:rPr lang="zh-CN" altLang="en-US" sz="2400"/>
              <a:t>学号→选修</a:t>
            </a:r>
            <a:r>
              <a:rPr lang="en-US" altLang="zh-CN" sz="2400"/>
              <a:t>.</a:t>
            </a:r>
            <a:r>
              <a:rPr lang="zh-CN" altLang="en-US" sz="2400"/>
              <a:t>学号</a:t>
            </a:r>
            <a:r>
              <a:rPr lang="zh-CN" altLang="en-US" sz="20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3556">
                                            <p:txEl>
                                              <p:pRg st="9" end="9"/>
                                            </p:txEl>
                                          </p:spTgt>
                                        </p:tgtEl>
                                        <p:attrNameLst>
                                          <p:attrName>style.visibility</p:attrName>
                                        </p:attrNameLst>
                                      </p:cBhvr>
                                      <p:to>
                                        <p:strVal val="visible"/>
                                      </p:to>
                                    </p:set>
                                    <p:animEffect transition="in" filter="box(in)">
                                      <p:cBhvr>
                                        <p:cTn id="7" dur="500"/>
                                        <p:tgtEl>
                                          <p:spTgt spid="2355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页脚占位符 4">
            <a:extLst>
              <a:ext uri="{FF2B5EF4-FFF2-40B4-BE49-F238E27FC236}">
                <a16:creationId xmlns:a16="http://schemas.microsoft.com/office/drawing/2014/main" id="{A523D32A-41C9-75F5-F5F2-05AF0FE3B54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5843" name="Rectangle 2">
            <a:extLst>
              <a:ext uri="{FF2B5EF4-FFF2-40B4-BE49-F238E27FC236}">
                <a16:creationId xmlns:a16="http://schemas.microsoft.com/office/drawing/2014/main" id="{10CD7BBD-1EDA-A6BB-DD16-D56371A64367}"/>
              </a:ext>
            </a:extLst>
          </p:cNvPr>
          <p:cNvSpPr>
            <a:spLocks noGrp="1" noChangeArrowheads="1"/>
          </p:cNvSpPr>
          <p:nvPr>
            <p:ph type="title"/>
          </p:nvPr>
        </p:nvSpPr>
        <p:spPr/>
        <p:txBody>
          <a:bodyPr/>
          <a:lstStyle/>
          <a:p>
            <a:pPr eaLnBrk="1" hangingPunct="1"/>
            <a:r>
              <a:rPr lang="zh-CN" altLang="en-US"/>
              <a:t>数据模型的优化（续）</a:t>
            </a:r>
          </a:p>
        </p:txBody>
      </p:sp>
      <p:sp>
        <p:nvSpPr>
          <p:cNvPr id="24580" name="Rectangle 3">
            <a:extLst>
              <a:ext uri="{FF2B5EF4-FFF2-40B4-BE49-F238E27FC236}">
                <a16:creationId xmlns:a16="http://schemas.microsoft.com/office/drawing/2014/main" id="{28B4376B-D952-A672-CF5F-3CC64299807A}"/>
              </a:ext>
            </a:extLst>
          </p:cNvPr>
          <p:cNvSpPr>
            <a:spLocks noGrp="1" noChangeArrowheads="1"/>
          </p:cNvSpPr>
          <p:nvPr>
            <p:ph type="body" idx="1"/>
          </p:nvPr>
        </p:nvSpPr>
        <p:spPr>
          <a:xfrm>
            <a:off x="468313" y="2017713"/>
            <a:ext cx="8486775" cy="4114800"/>
          </a:xfrm>
        </p:spPr>
        <p:txBody>
          <a:bodyPr/>
          <a:lstStyle/>
          <a:p>
            <a:pPr marL="609600" indent="-609600" eaLnBrk="1" hangingPunct="1">
              <a:lnSpc>
                <a:spcPct val="110000"/>
              </a:lnSpc>
              <a:buFont typeface="Wingdings" panose="05000000000000000000" pitchFamily="2" charset="2"/>
              <a:buNone/>
              <a:defRPr/>
            </a:pPr>
            <a:r>
              <a:rPr lang="en-US" altLang="zh-CN" sz="2400" dirty="0"/>
              <a:t>⒉  </a:t>
            </a:r>
            <a:r>
              <a:rPr lang="zh-CN" altLang="en-US" sz="2400" dirty="0"/>
              <a:t>对于各个关系模式之间的数据依赖进行极小化处理，消除冗余的联系。</a:t>
            </a:r>
          </a:p>
          <a:p>
            <a:pPr marL="609600" indent="-609600" eaLnBrk="1" hangingPunct="1">
              <a:buFont typeface="Wingdings" panose="05000000000000000000" pitchFamily="2" charset="2"/>
              <a:buNone/>
              <a:defRPr/>
            </a:pPr>
            <a:r>
              <a:rPr lang="zh-CN" altLang="en-US" sz="2400" dirty="0"/>
              <a:t>⒊  按照数据依赖的理论对关系模式逐一进行分析，考查是否存在部分函数依赖、传递函数依赖、多值依赖等，确定各关系模式分别属于第几范式</a:t>
            </a:r>
          </a:p>
          <a:p>
            <a:pPr marL="609600" indent="-609600" eaLnBrk="1" hangingPunct="1">
              <a:buFont typeface="Wingdings" panose="05000000000000000000" pitchFamily="2" charset="2"/>
              <a:buNone/>
              <a:defRPr/>
            </a:pPr>
            <a:r>
              <a:rPr lang="zh-CN" altLang="en-US" sz="2400" dirty="0"/>
              <a:t>⒋   按照需求分析阶段得到的各种应用对数据处理的要求，分析对于这样的应用环境这些模式是否合适，确定是否要对它们进行合并或分解。</a:t>
            </a:r>
          </a:p>
          <a:p>
            <a:pPr marL="609600" indent="-609600" eaLnBrk="1" hangingPunct="1">
              <a:buFont typeface="Wingdings" panose="05000000000000000000" pitchFamily="2" charset="2"/>
              <a:buNone/>
              <a:defRPr/>
            </a:pPr>
            <a:r>
              <a:rPr lang="en-US" altLang="zh-CN" sz="2400" dirty="0">
                <a:latin typeface="+mn-ea"/>
              </a:rPr>
              <a:t> 5. </a:t>
            </a:r>
            <a:r>
              <a:rPr lang="zh-CN" altLang="en-US" sz="2400" dirty="0"/>
              <a:t>对关系模式进行必要的分解或合并</a:t>
            </a:r>
          </a:p>
          <a:p>
            <a:pPr marL="609600" indent="-609600" eaLnBrk="1" hangingPunct="1">
              <a:buFont typeface="Wingdings" panose="05000000000000000000" pitchFamily="2" charset="2"/>
              <a:buNone/>
              <a:defRPr/>
            </a:pP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4580">
                                            <p:txEl>
                                              <p:pRg st="1" end="1"/>
                                            </p:txEl>
                                          </p:spTgt>
                                        </p:tgtEl>
                                        <p:attrNameLst>
                                          <p:attrName>style.visibility</p:attrName>
                                        </p:attrNameLst>
                                      </p:cBhvr>
                                      <p:to>
                                        <p:strVal val="visible"/>
                                      </p:to>
                                    </p:set>
                                    <p:animEffect transition="in" filter="box(in)">
                                      <p:cBhvr>
                                        <p:cTn id="7" dur="500"/>
                                        <p:tgtEl>
                                          <p:spTgt spid="2458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4580">
                                            <p:txEl>
                                              <p:pRg st="2" end="2"/>
                                            </p:txEl>
                                          </p:spTgt>
                                        </p:tgtEl>
                                        <p:attrNameLst>
                                          <p:attrName>style.visibility</p:attrName>
                                        </p:attrNameLst>
                                      </p:cBhvr>
                                      <p:to>
                                        <p:strVal val="visible"/>
                                      </p:to>
                                    </p:set>
                                    <p:animEffect transition="in" filter="box(in)">
                                      <p:cBhvr>
                                        <p:cTn id="12" dur="500"/>
                                        <p:tgtEl>
                                          <p:spTgt spid="2458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4580">
                                            <p:txEl>
                                              <p:pRg st="3" end="3"/>
                                            </p:txEl>
                                          </p:spTgt>
                                        </p:tgtEl>
                                        <p:attrNameLst>
                                          <p:attrName>style.visibility</p:attrName>
                                        </p:attrNameLst>
                                      </p:cBhvr>
                                      <p:to>
                                        <p:strVal val="visible"/>
                                      </p:to>
                                    </p:set>
                                    <p:animEffect transition="in" filter="box(in)">
                                      <p:cBhvr>
                                        <p:cTn id="17" dur="500"/>
                                        <p:tgtEl>
                                          <p:spTgt spid="2458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页脚占位符 4">
            <a:extLst>
              <a:ext uri="{FF2B5EF4-FFF2-40B4-BE49-F238E27FC236}">
                <a16:creationId xmlns:a16="http://schemas.microsoft.com/office/drawing/2014/main" id="{636C5A00-6DBB-FAB0-E734-51A3CEC9CD2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6867" name="Rectangle 2">
            <a:extLst>
              <a:ext uri="{FF2B5EF4-FFF2-40B4-BE49-F238E27FC236}">
                <a16:creationId xmlns:a16="http://schemas.microsoft.com/office/drawing/2014/main" id="{FA0FF07D-0205-9486-933B-37F932299DC7}"/>
              </a:ext>
            </a:extLst>
          </p:cNvPr>
          <p:cNvSpPr>
            <a:spLocks noGrp="1" noChangeArrowheads="1"/>
          </p:cNvSpPr>
          <p:nvPr>
            <p:ph type="title"/>
          </p:nvPr>
        </p:nvSpPr>
        <p:spPr/>
        <p:txBody>
          <a:bodyPr/>
          <a:lstStyle/>
          <a:p>
            <a:pPr eaLnBrk="1" hangingPunct="1"/>
            <a:r>
              <a:rPr lang="en-US" altLang="zh-CN"/>
              <a:t>7.4.3  </a:t>
            </a:r>
            <a:r>
              <a:rPr lang="zh-CN" altLang="en-US"/>
              <a:t>设计用户子模式（</a:t>
            </a:r>
            <a:r>
              <a:rPr lang="zh-CN" altLang="en-US">
                <a:solidFill>
                  <a:srgbClr val="FF0000"/>
                </a:solidFill>
              </a:rPr>
              <a:t>视图</a:t>
            </a:r>
            <a:r>
              <a:rPr lang="zh-CN" altLang="en-US"/>
              <a:t>）</a:t>
            </a:r>
          </a:p>
        </p:txBody>
      </p:sp>
      <p:sp>
        <p:nvSpPr>
          <p:cNvPr id="25604" name="Rectangle 3">
            <a:extLst>
              <a:ext uri="{FF2B5EF4-FFF2-40B4-BE49-F238E27FC236}">
                <a16:creationId xmlns:a16="http://schemas.microsoft.com/office/drawing/2014/main" id="{913DA88D-C039-BEFE-1003-D4C7CDC372BF}"/>
              </a:ext>
            </a:extLst>
          </p:cNvPr>
          <p:cNvSpPr>
            <a:spLocks noGrp="1" noChangeArrowheads="1"/>
          </p:cNvSpPr>
          <p:nvPr>
            <p:ph type="body" idx="1"/>
          </p:nvPr>
        </p:nvSpPr>
        <p:spPr>
          <a:xfrm>
            <a:off x="611188" y="2017713"/>
            <a:ext cx="8343900" cy="4114800"/>
          </a:xfrm>
        </p:spPr>
        <p:txBody>
          <a:bodyPr/>
          <a:lstStyle/>
          <a:p>
            <a:pPr marL="533400" indent="-533400" eaLnBrk="1" hangingPunct="1">
              <a:lnSpc>
                <a:spcPct val="120000"/>
              </a:lnSpc>
              <a:buFont typeface="Wingdings" panose="05000000000000000000" pitchFamily="2" charset="2"/>
              <a:buAutoNum type="arabicPeriod"/>
            </a:pPr>
            <a:r>
              <a:rPr lang="zh-CN" altLang="en-US"/>
              <a:t>使用更符合用户习惯的别名</a:t>
            </a:r>
          </a:p>
          <a:p>
            <a:pPr marL="533400" indent="-533400" eaLnBrk="1" hangingPunct="1">
              <a:lnSpc>
                <a:spcPct val="120000"/>
              </a:lnSpc>
              <a:buFont typeface="Wingdings" panose="05000000000000000000" pitchFamily="2" charset="2"/>
              <a:buAutoNum type="arabicPeriod"/>
            </a:pPr>
            <a:r>
              <a:rPr lang="zh-CN" altLang="en-US"/>
              <a:t>针对不同级别的用户定义不同的外模式，以满足系统对安全性的要求。</a:t>
            </a:r>
          </a:p>
          <a:p>
            <a:pPr marL="533400" indent="-533400" eaLnBrk="1" hangingPunct="1">
              <a:lnSpc>
                <a:spcPct val="120000"/>
              </a:lnSpc>
              <a:buFont typeface="Wingdings" panose="05000000000000000000" pitchFamily="2" charset="2"/>
              <a:buAutoNum type="arabicPeriod"/>
            </a:pPr>
            <a:r>
              <a:rPr lang="zh-CN" altLang="en-US"/>
              <a:t>简化用户对系统的使用</a:t>
            </a:r>
          </a:p>
          <a:p>
            <a:pPr marL="533400" indent="-533400" eaLnBrk="1" hangingPunct="1">
              <a:buFont typeface="Wingdings" panose="05000000000000000000" pitchFamily="2" charset="2"/>
              <a:buNone/>
            </a:pPr>
            <a:r>
              <a:rPr lang="zh-CN" altLang="en-US" sz="28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5604">
                                            <p:txEl>
                                              <p:pRg st="0" end="0"/>
                                            </p:txEl>
                                          </p:spTgt>
                                        </p:tgtEl>
                                        <p:attrNameLst>
                                          <p:attrName>style.visibility</p:attrName>
                                        </p:attrNameLst>
                                      </p:cBhvr>
                                      <p:to>
                                        <p:strVal val="visible"/>
                                      </p:to>
                                    </p:set>
                                    <p:animEffect transition="in" filter="box(in)">
                                      <p:cBhvr>
                                        <p:cTn id="7" dur="500"/>
                                        <p:tgtEl>
                                          <p:spTgt spid="25604">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5604">
                                            <p:txEl>
                                              <p:pRg st="1" end="1"/>
                                            </p:txEl>
                                          </p:spTgt>
                                        </p:tgtEl>
                                        <p:attrNameLst>
                                          <p:attrName>style.visibility</p:attrName>
                                        </p:attrNameLst>
                                      </p:cBhvr>
                                      <p:to>
                                        <p:strVal val="visible"/>
                                      </p:to>
                                    </p:set>
                                    <p:animEffect transition="in" filter="box(in)">
                                      <p:cBhvr>
                                        <p:cTn id="10" dur="500"/>
                                        <p:tgtEl>
                                          <p:spTgt spid="25604">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5604">
                                            <p:txEl>
                                              <p:pRg st="2" end="2"/>
                                            </p:txEl>
                                          </p:spTgt>
                                        </p:tgtEl>
                                        <p:attrNameLst>
                                          <p:attrName>style.visibility</p:attrName>
                                        </p:attrNameLst>
                                      </p:cBhvr>
                                      <p:to>
                                        <p:strVal val="visible"/>
                                      </p:to>
                                    </p:set>
                                    <p:animEffect transition="in" filter="box(in)">
                                      <p:cBhvr>
                                        <p:cTn id="13" dur="500"/>
                                        <p:tgtEl>
                                          <p:spTgt spid="2560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页脚占位符 4">
            <a:extLst>
              <a:ext uri="{FF2B5EF4-FFF2-40B4-BE49-F238E27FC236}">
                <a16:creationId xmlns:a16="http://schemas.microsoft.com/office/drawing/2014/main" id="{05AEEB0B-394C-2579-9A6E-581D1E12BB1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7891" name="Rectangle 2">
            <a:extLst>
              <a:ext uri="{FF2B5EF4-FFF2-40B4-BE49-F238E27FC236}">
                <a16:creationId xmlns:a16="http://schemas.microsoft.com/office/drawing/2014/main" id="{3105E2D3-7C45-F257-1AAF-D403D01CB557}"/>
              </a:ext>
            </a:extLst>
          </p:cNvPr>
          <p:cNvSpPr>
            <a:spLocks noGrp="1" noChangeArrowheads="1"/>
          </p:cNvSpPr>
          <p:nvPr>
            <p:ph type="title"/>
          </p:nvPr>
        </p:nvSpPr>
        <p:spPr/>
        <p:txBody>
          <a:bodyPr/>
          <a:lstStyle/>
          <a:p>
            <a:pPr eaLnBrk="1" hangingPunct="1"/>
            <a:r>
              <a:rPr lang="zh-CN" altLang="en-US"/>
              <a:t>设计用户子模式（续）</a:t>
            </a:r>
          </a:p>
        </p:txBody>
      </p:sp>
      <p:sp>
        <p:nvSpPr>
          <p:cNvPr id="26628" name="Rectangle 3">
            <a:extLst>
              <a:ext uri="{FF2B5EF4-FFF2-40B4-BE49-F238E27FC236}">
                <a16:creationId xmlns:a16="http://schemas.microsoft.com/office/drawing/2014/main" id="{27B178F4-7A52-D447-B57C-3D2F66435D37}"/>
              </a:ext>
            </a:extLst>
          </p:cNvPr>
          <p:cNvSpPr>
            <a:spLocks noGrp="1" noChangeArrowheads="1"/>
          </p:cNvSpPr>
          <p:nvPr>
            <p:ph type="body" idx="1"/>
          </p:nvPr>
        </p:nvSpPr>
        <p:spPr>
          <a:xfrm>
            <a:off x="539750" y="1700213"/>
            <a:ext cx="8353425" cy="4572000"/>
          </a:xfrm>
        </p:spPr>
        <p:txBody>
          <a:bodyPr/>
          <a:lstStyle/>
          <a:p>
            <a:pPr eaLnBrk="1" hangingPunct="1">
              <a:lnSpc>
                <a:spcPct val="120000"/>
              </a:lnSpc>
              <a:buFont typeface="Wingdings" panose="05000000000000000000" pitchFamily="2" charset="2"/>
              <a:buNone/>
            </a:pPr>
            <a:r>
              <a:rPr lang="zh-CN" altLang="en-US" sz="2800"/>
              <a:t>例：</a:t>
            </a:r>
          </a:p>
          <a:p>
            <a:pPr eaLnBrk="1" hangingPunct="1">
              <a:lnSpc>
                <a:spcPct val="110000"/>
              </a:lnSpc>
              <a:buFont typeface="Wingdings" panose="05000000000000000000" pitchFamily="2" charset="2"/>
              <a:buNone/>
            </a:pPr>
            <a:r>
              <a:rPr lang="zh-CN" altLang="en-US" sz="2800"/>
              <a:t>	教师关系模式中包括职工号、姓名、性别、出生日期、婚姻状况、学历、学位、政治面貌、职称、职务、工资、工龄、教学效果等属性。</a:t>
            </a:r>
          </a:p>
          <a:p>
            <a:pPr lvl="1" eaLnBrk="1" hangingPunct="1">
              <a:buFont typeface="Wingdings" panose="05000000000000000000" pitchFamily="2" charset="2"/>
              <a:buNone/>
            </a:pPr>
            <a:r>
              <a:rPr lang="zh-CN" altLang="en-US">
                <a:solidFill>
                  <a:srgbClr val="2355F3"/>
                </a:solidFill>
              </a:rPr>
              <a:t>   学籍管理应用</a:t>
            </a:r>
            <a:r>
              <a:rPr lang="zh-CN" altLang="en-US"/>
              <a:t>只能查询教师的职工号、姓名、性别、职称数据；</a:t>
            </a:r>
          </a:p>
          <a:p>
            <a:pPr lvl="1" eaLnBrk="1" hangingPunct="1">
              <a:buFont typeface="Wingdings" panose="05000000000000000000" pitchFamily="2" charset="2"/>
              <a:buNone/>
            </a:pPr>
            <a:r>
              <a:rPr lang="zh-CN" altLang="en-US"/>
              <a:t>   </a:t>
            </a:r>
            <a:r>
              <a:rPr lang="zh-CN" altLang="en-US">
                <a:solidFill>
                  <a:srgbClr val="2355F3"/>
                </a:solidFill>
              </a:rPr>
              <a:t>课程管理应用</a:t>
            </a:r>
            <a:r>
              <a:rPr lang="zh-CN" altLang="en-US"/>
              <a:t>只能查询教师的职工号、姓名、性别、学历、学位、职称、教学效果数据；</a:t>
            </a:r>
          </a:p>
          <a:p>
            <a:pPr lvl="1" eaLnBrk="1" hangingPunct="1">
              <a:buFont typeface="Wingdings" panose="05000000000000000000" pitchFamily="2" charset="2"/>
              <a:buNone/>
            </a:pPr>
            <a:r>
              <a:rPr lang="zh-CN" altLang="en-US"/>
              <a:t>   </a:t>
            </a:r>
            <a:r>
              <a:rPr lang="zh-CN" altLang="en-US">
                <a:solidFill>
                  <a:srgbClr val="2355F3"/>
                </a:solidFill>
              </a:rPr>
              <a:t>教师管理应用</a:t>
            </a:r>
            <a:r>
              <a:rPr lang="zh-CN" altLang="en-US"/>
              <a:t>则可以查询教师的全部数据。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6628">
                                            <p:txEl>
                                              <p:pRg st="2" end="2"/>
                                            </p:txEl>
                                          </p:spTgt>
                                        </p:tgtEl>
                                        <p:attrNameLst>
                                          <p:attrName>style.visibility</p:attrName>
                                        </p:attrNameLst>
                                      </p:cBhvr>
                                      <p:to>
                                        <p:strVal val="visible"/>
                                      </p:to>
                                    </p:set>
                                    <p:animEffect transition="in" filter="box(in)">
                                      <p:cBhvr>
                                        <p:cTn id="7" dur="500"/>
                                        <p:tgtEl>
                                          <p:spTgt spid="26628">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6628">
                                            <p:txEl>
                                              <p:pRg st="3" end="3"/>
                                            </p:txEl>
                                          </p:spTgt>
                                        </p:tgtEl>
                                        <p:attrNameLst>
                                          <p:attrName>style.visibility</p:attrName>
                                        </p:attrNameLst>
                                      </p:cBhvr>
                                      <p:to>
                                        <p:strVal val="visible"/>
                                      </p:to>
                                    </p:set>
                                    <p:animEffect transition="in" filter="box(in)">
                                      <p:cBhvr>
                                        <p:cTn id="10" dur="500"/>
                                        <p:tgtEl>
                                          <p:spTgt spid="26628">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6628">
                                            <p:txEl>
                                              <p:pRg st="4" end="4"/>
                                            </p:txEl>
                                          </p:spTgt>
                                        </p:tgtEl>
                                        <p:attrNameLst>
                                          <p:attrName>style.visibility</p:attrName>
                                        </p:attrNameLst>
                                      </p:cBhvr>
                                      <p:to>
                                        <p:strVal val="visible"/>
                                      </p:to>
                                    </p:set>
                                    <p:animEffect transition="in" filter="box(in)">
                                      <p:cBhvr>
                                        <p:cTn id="13" dur="500"/>
                                        <p:tgtEl>
                                          <p:spTgt spid="266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4">
            <a:extLst>
              <a:ext uri="{FF2B5EF4-FFF2-40B4-BE49-F238E27FC236}">
                <a16:creationId xmlns:a16="http://schemas.microsoft.com/office/drawing/2014/main" id="{D21DB017-74F4-AA86-F18C-7E9C0B9797F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8915" name="Rectangle 2">
            <a:extLst>
              <a:ext uri="{FF2B5EF4-FFF2-40B4-BE49-F238E27FC236}">
                <a16:creationId xmlns:a16="http://schemas.microsoft.com/office/drawing/2014/main" id="{33C8FFC7-2B13-1E48-F907-56875F1F6B06}"/>
              </a:ext>
            </a:extLst>
          </p:cNvPr>
          <p:cNvSpPr>
            <a:spLocks noGrp="1" noChangeArrowheads="1"/>
          </p:cNvSpPr>
          <p:nvPr>
            <p:ph type="title"/>
          </p:nvPr>
        </p:nvSpPr>
        <p:spPr/>
        <p:txBody>
          <a:bodyPr/>
          <a:lstStyle/>
          <a:p>
            <a:pPr eaLnBrk="1" hangingPunct="1"/>
            <a:r>
              <a:rPr lang="zh-CN" altLang="en-US"/>
              <a:t>设计用户子模式（续）</a:t>
            </a:r>
          </a:p>
        </p:txBody>
      </p:sp>
      <p:sp>
        <p:nvSpPr>
          <p:cNvPr id="27652" name="Rectangle 3">
            <a:extLst>
              <a:ext uri="{FF2B5EF4-FFF2-40B4-BE49-F238E27FC236}">
                <a16:creationId xmlns:a16="http://schemas.microsoft.com/office/drawing/2014/main" id="{922D9304-B76E-CCBD-64B1-79223E8BF679}"/>
              </a:ext>
            </a:extLst>
          </p:cNvPr>
          <p:cNvSpPr>
            <a:spLocks noGrp="1" noChangeArrowheads="1"/>
          </p:cNvSpPr>
          <p:nvPr>
            <p:ph type="body" idx="1"/>
          </p:nvPr>
        </p:nvSpPr>
        <p:spPr>
          <a:xfrm>
            <a:off x="684213" y="1844675"/>
            <a:ext cx="8135937" cy="4114800"/>
          </a:xfrm>
        </p:spPr>
        <p:txBody>
          <a:bodyPr/>
          <a:lstStyle/>
          <a:p>
            <a:pPr eaLnBrk="1" hangingPunct="1">
              <a:buFont typeface="Wingdings" panose="05000000000000000000" pitchFamily="2" charset="2"/>
              <a:buNone/>
            </a:pPr>
            <a:r>
              <a:rPr lang="zh-CN" altLang="en-US" sz="2800"/>
              <a:t>定义两个外模式：</a:t>
            </a:r>
          </a:p>
          <a:p>
            <a:pPr lvl="1" eaLnBrk="1" hangingPunct="1">
              <a:buFont typeface="Wingdings" panose="05000000000000000000" pitchFamily="2" charset="2"/>
              <a:buNone/>
            </a:pPr>
            <a:r>
              <a:rPr lang="zh-CN" altLang="en-US"/>
              <a:t>教师</a:t>
            </a:r>
            <a:r>
              <a:rPr lang="en-US" altLang="zh-CN"/>
              <a:t>_</a:t>
            </a:r>
            <a:r>
              <a:rPr lang="zh-CN" altLang="en-US"/>
              <a:t>学籍管理</a:t>
            </a:r>
            <a:r>
              <a:rPr lang="en-US" altLang="zh-CN"/>
              <a:t>(</a:t>
            </a:r>
            <a:r>
              <a:rPr lang="zh-CN" altLang="en-US"/>
              <a:t>职工号，姓名，性别，职称</a:t>
            </a:r>
            <a:r>
              <a:rPr lang="en-US" altLang="zh-CN"/>
              <a:t>)</a:t>
            </a:r>
          </a:p>
          <a:p>
            <a:pPr lvl="1" eaLnBrk="1" hangingPunct="1">
              <a:lnSpc>
                <a:spcPct val="90000"/>
              </a:lnSpc>
              <a:buFont typeface="Wingdings" panose="05000000000000000000" pitchFamily="2" charset="2"/>
              <a:buNone/>
            </a:pPr>
            <a:r>
              <a:rPr lang="zh-CN" altLang="en-US"/>
              <a:t>教师</a:t>
            </a:r>
            <a:r>
              <a:rPr lang="en-US" altLang="zh-CN"/>
              <a:t>_</a:t>
            </a:r>
            <a:r>
              <a:rPr lang="zh-CN" altLang="en-US"/>
              <a:t>课程管理</a:t>
            </a:r>
            <a:r>
              <a:rPr lang="en-US" altLang="zh-CN"/>
              <a:t>(</a:t>
            </a:r>
            <a:r>
              <a:rPr lang="zh-CN" altLang="en-US"/>
              <a:t>工号，姓名，性别，学历，</a:t>
            </a:r>
          </a:p>
          <a:p>
            <a:pPr lvl="1" eaLnBrk="1" hangingPunct="1">
              <a:lnSpc>
                <a:spcPct val="90000"/>
              </a:lnSpc>
              <a:buFont typeface="Wingdings" panose="05000000000000000000" pitchFamily="2" charset="2"/>
              <a:buNone/>
            </a:pPr>
            <a:r>
              <a:rPr lang="zh-CN" altLang="en-US"/>
              <a:t>                           学位，职称，教学效果</a:t>
            </a:r>
            <a:r>
              <a:rPr lang="en-US" altLang="zh-CN"/>
              <a:t>)</a:t>
            </a:r>
          </a:p>
          <a:p>
            <a:pPr eaLnBrk="1" hangingPunct="1">
              <a:spcBef>
                <a:spcPct val="50000"/>
              </a:spcBef>
              <a:buFont typeface="Wingdings" panose="05000000000000000000" pitchFamily="2" charset="2"/>
              <a:buNone/>
            </a:pPr>
            <a:r>
              <a:rPr lang="zh-CN" altLang="en-US" sz="2800"/>
              <a:t>授权学籍管理应用只能访问教师</a:t>
            </a:r>
            <a:r>
              <a:rPr lang="en-US" altLang="zh-CN" sz="2800"/>
              <a:t>_</a:t>
            </a:r>
            <a:r>
              <a:rPr lang="zh-CN" altLang="en-US" sz="2800"/>
              <a:t>学籍管理视图</a:t>
            </a:r>
          </a:p>
          <a:p>
            <a:pPr eaLnBrk="1" hangingPunct="1">
              <a:buFont typeface="Wingdings" panose="05000000000000000000" pitchFamily="2" charset="2"/>
              <a:buNone/>
            </a:pPr>
            <a:r>
              <a:rPr lang="zh-CN" altLang="en-US" sz="2800"/>
              <a:t>授权课程管理应用只能访问教师</a:t>
            </a:r>
            <a:r>
              <a:rPr lang="en-US" altLang="zh-CN" sz="2800"/>
              <a:t>_</a:t>
            </a:r>
            <a:r>
              <a:rPr lang="zh-CN" altLang="en-US" sz="2800"/>
              <a:t>课程管理视图</a:t>
            </a:r>
          </a:p>
          <a:p>
            <a:pPr eaLnBrk="1" hangingPunct="1">
              <a:buFont typeface="Wingdings" panose="05000000000000000000" pitchFamily="2" charset="2"/>
              <a:buNone/>
            </a:pPr>
            <a:r>
              <a:rPr lang="zh-CN" altLang="en-US" sz="2800"/>
              <a:t>授权教师管理应用能访问教师表</a:t>
            </a:r>
          </a:p>
          <a:p>
            <a:pPr eaLnBrk="1" hangingPunct="1">
              <a:spcBef>
                <a:spcPct val="40000"/>
              </a:spcBef>
              <a:buFont typeface="Wingdings" panose="05000000000000000000" pitchFamily="2" charset="2"/>
              <a:buNone/>
            </a:pPr>
            <a:r>
              <a:rPr lang="zh-CN" altLang="en-US" sz="2800"/>
              <a:t>这样就可以防止用户非法访问本来不允许他们查询的数据，保证了系统的安全性。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7652">
                                            <p:txEl>
                                              <p:pRg st="4" end="4"/>
                                            </p:txEl>
                                          </p:spTgt>
                                        </p:tgtEl>
                                        <p:attrNameLst>
                                          <p:attrName>style.visibility</p:attrName>
                                        </p:attrNameLst>
                                      </p:cBhvr>
                                      <p:to>
                                        <p:strVal val="visible"/>
                                      </p:to>
                                    </p:set>
                                    <p:animEffect transition="in" filter="box(in)">
                                      <p:cBhvr>
                                        <p:cTn id="7" dur="500"/>
                                        <p:tgtEl>
                                          <p:spTgt spid="27652">
                                            <p:txEl>
                                              <p:pRg st="4"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7652">
                                            <p:txEl>
                                              <p:pRg st="5" end="5"/>
                                            </p:txEl>
                                          </p:spTgt>
                                        </p:tgtEl>
                                        <p:attrNameLst>
                                          <p:attrName>style.visibility</p:attrName>
                                        </p:attrNameLst>
                                      </p:cBhvr>
                                      <p:to>
                                        <p:strVal val="visible"/>
                                      </p:to>
                                    </p:set>
                                    <p:animEffect transition="in" filter="box(in)">
                                      <p:cBhvr>
                                        <p:cTn id="10" dur="500"/>
                                        <p:tgtEl>
                                          <p:spTgt spid="27652">
                                            <p:txEl>
                                              <p:pRg st="5" end="5"/>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7652">
                                            <p:txEl>
                                              <p:pRg st="6" end="6"/>
                                            </p:txEl>
                                          </p:spTgt>
                                        </p:tgtEl>
                                        <p:attrNameLst>
                                          <p:attrName>style.visibility</p:attrName>
                                        </p:attrNameLst>
                                      </p:cBhvr>
                                      <p:to>
                                        <p:strVal val="visible"/>
                                      </p:to>
                                    </p:set>
                                    <p:animEffect transition="in" filter="box(in)">
                                      <p:cBhvr>
                                        <p:cTn id="13" dur="500"/>
                                        <p:tgtEl>
                                          <p:spTgt spid="27652">
                                            <p:txEl>
                                              <p:pRg st="6" end="6"/>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7652">
                                            <p:txEl>
                                              <p:pRg st="7" end="7"/>
                                            </p:txEl>
                                          </p:spTgt>
                                        </p:tgtEl>
                                        <p:attrNameLst>
                                          <p:attrName>style.visibility</p:attrName>
                                        </p:attrNameLst>
                                      </p:cBhvr>
                                      <p:to>
                                        <p:strVal val="visible"/>
                                      </p:to>
                                    </p:set>
                                    <p:animEffect transition="in" filter="box(in)">
                                      <p:cBhvr>
                                        <p:cTn id="16" dur="500"/>
                                        <p:tgtEl>
                                          <p:spTgt spid="2765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439180A0-B4C6-979E-7446-08358CA5F404}"/>
              </a:ext>
            </a:extLst>
          </p:cNvPr>
          <p:cNvSpPr>
            <a:spLocks noGrp="1" noChangeArrowheads="1"/>
          </p:cNvSpPr>
          <p:nvPr>
            <p:ph type="title" idx="4294967295"/>
          </p:nvPr>
        </p:nvSpPr>
        <p:spPr/>
        <p:txBody>
          <a:bodyPr/>
          <a:lstStyle/>
          <a:p>
            <a:r>
              <a:rPr lang="zh-CN" altLang="zh-CN"/>
              <a:t>第七章  数据库设计</a:t>
            </a:r>
          </a:p>
        </p:txBody>
      </p:sp>
      <p:sp>
        <p:nvSpPr>
          <p:cNvPr id="39939" name="Rectangle 3">
            <a:extLst>
              <a:ext uri="{FF2B5EF4-FFF2-40B4-BE49-F238E27FC236}">
                <a16:creationId xmlns:a16="http://schemas.microsoft.com/office/drawing/2014/main" id="{2849551F-02E6-6764-1092-803DE6342811}"/>
              </a:ext>
            </a:extLst>
          </p:cNvPr>
          <p:cNvSpPr>
            <a:spLocks noGrp="1" noChangeArrowheads="1"/>
          </p:cNvSpPr>
          <p:nvPr>
            <p:ph idx="4294967295"/>
          </p:nvPr>
        </p:nvSpPr>
        <p:spPr>
          <a:xfrm>
            <a:off x="755650" y="1844675"/>
            <a:ext cx="7931150" cy="4108450"/>
          </a:xfrm>
        </p:spPr>
        <p:txBody>
          <a:bodyPr/>
          <a:lstStyle/>
          <a:p>
            <a:pPr marL="0" indent="0">
              <a:lnSpc>
                <a:spcPct val="150000"/>
              </a:lnSpc>
              <a:buFont typeface="Wingdings" panose="05000000000000000000" pitchFamily="2" charset="2"/>
              <a:buNone/>
            </a:pPr>
            <a:r>
              <a:rPr lang="en-US" altLang="zh-CN" sz="2800"/>
              <a:t>7.1  </a:t>
            </a:r>
            <a:r>
              <a:rPr lang="zh-CN" altLang="en-US" sz="2800"/>
              <a:t>数据库设计概述</a:t>
            </a:r>
          </a:p>
          <a:p>
            <a:pPr marL="0" indent="0">
              <a:lnSpc>
                <a:spcPct val="150000"/>
              </a:lnSpc>
              <a:buFont typeface="Wingdings" panose="05000000000000000000" pitchFamily="2" charset="2"/>
              <a:buNone/>
            </a:pPr>
            <a:r>
              <a:rPr lang="en-US" altLang="zh-CN" sz="2800"/>
              <a:t>7.2  </a:t>
            </a:r>
            <a:r>
              <a:rPr lang="zh-CN" altLang="en-US" sz="2800"/>
              <a:t>需求分析</a:t>
            </a:r>
          </a:p>
          <a:p>
            <a:pPr marL="0" indent="0">
              <a:lnSpc>
                <a:spcPct val="150000"/>
              </a:lnSpc>
              <a:buFont typeface="Wingdings" panose="05000000000000000000" pitchFamily="2" charset="2"/>
              <a:buNone/>
            </a:pPr>
            <a:r>
              <a:rPr lang="en-US" altLang="zh-CN" sz="2800"/>
              <a:t>7.3  </a:t>
            </a:r>
            <a:r>
              <a:rPr lang="zh-CN" altLang="en-US" sz="2800"/>
              <a:t>概念结构设计</a:t>
            </a:r>
          </a:p>
          <a:p>
            <a:pPr marL="0" indent="0">
              <a:lnSpc>
                <a:spcPct val="150000"/>
              </a:lnSpc>
              <a:buFont typeface="Wingdings" panose="05000000000000000000" pitchFamily="2" charset="2"/>
              <a:buNone/>
            </a:pPr>
            <a:r>
              <a:rPr lang="en-US" altLang="zh-CN" sz="2800"/>
              <a:t>7.4  </a:t>
            </a:r>
            <a:r>
              <a:rPr lang="zh-CN" altLang="en-US" sz="2800"/>
              <a:t>逻辑结构设计</a:t>
            </a:r>
          </a:p>
          <a:p>
            <a:pPr marL="0" indent="0">
              <a:lnSpc>
                <a:spcPct val="150000"/>
              </a:lnSpc>
              <a:buFont typeface="Wingdings" panose="05000000000000000000" pitchFamily="2" charset="2"/>
              <a:buNone/>
            </a:pPr>
            <a:r>
              <a:rPr lang="en-US" altLang="zh-CN" sz="2800">
                <a:solidFill>
                  <a:srgbClr val="FF0000"/>
                </a:solidFill>
              </a:rPr>
              <a:t>7.5  </a:t>
            </a:r>
            <a:r>
              <a:rPr lang="zh-CN" altLang="en-US" sz="2800">
                <a:solidFill>
                  <a:srgbClr val="FF0000"/>
                </a:solidFill>
              </a:rPr>
              <a:t>物理结构设计</a:t>
            </a:r>
          </a:p>
          <a:p>
            <a:pPr marL="0" indent="0">
              <a:lnSpc>
                <a:spcPct val="150000"/>
              </a:lnSpc>
              <a:buFont typeface="Wingdings" panose="05000000000000000000" pitchFamily="2" charset="2"/>
              <a:buNone/>
            </a:pPr>
            <a:r>
              <a:rPr lang="en-US" altLang="zh-CN" sz="2800"/>
              <a:t>7.6  </a:t>
            </a:r>
            <a:r>
              <a:rPr lang="zh-CN" altLang="en-US" sz="2800"/>
              <a:t>数据库的实施和维护</a:t>
            </a:r>
          </a:p>
          <a:p>
            <a:pPr marL="0" indent="0">
              <a:lnSpc>
                <a:spcPct val="150000"/>
              </a:lnSpc>
              <a:buFont typeface="Wingdings" panose="05000000000000000000" pitchFamily="2" charset="2"/>
              <a:buNone/>
            </a:pPr>
            <a:r>
              <a:rPr lang="en-US" altLang="zh-CN" sz="2800"/>
              <a:t>7.7  </a:t>
            </a:r>
            <a:r>
              <a:rPr lang="zh-CN" altLang="en-US" sz="2800"/>
              <a:t>小结</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6E20FF2C-6165-0A32-38AE-149B61FEA857}"/>
              </a:ext>
            </a:extLst>
          </p:cNvPr>
          <p:cNvSpPr>
            <a:spLocks noGrp="1" noChangeArrowheads="1"/>
          </p:cNvSpPr>
          <p:nvPr>
            <p:ph type="title" idx="4294967295"/>
          </p:nvPr>
        </p:nvSpPr>
        <p:spPr/>
        <p:txBody>
          <a:bodyPr/>
          <a:lstStyle/>
          <a:p>
            <a:r>
              <a:rPr lang="en-US" altLang="zh-CN"/>
              <a:t>7.5  </a:t>
            </a:r>
            <a:r>
              <a:rPr lang="zh-CN" altLang="en-US"/>
              <a:t>数据库的物理设计</a:t>
            </a:r>
          </a:p>
        </p:txBody>
      </p:sp>
      <p:sp>
        <p:nvSpPr>
          <p:cNvPr id="40963" name="Rectangle 3">
            <a:extLst>
              <a:ext uri="{FF2B5EF4-FFF2-40B4-BE49-F238E27FC236}">
                <a16:creationId xmlns:a16="http://schemas.microsoft.com/office/drawing/2014/main" id="{5F86F704-3141-3683-7DA6-A2ABB7FB5AFD}"/>
              </a:ext>
            </a:extLst>
          </p:cNvPr>
          <p:cNvSpPr>
            <a:spLocks noGrp="1" noChangeArrowheads="1"/>
          </p:cNvSpPr>
          <p:nvPr>
            <p:ph idx="4294967295"/>
          </p:nvPr>
        </p:nvSpPr>
        <p:spPr>
          <a:xfrm>
            <a:off x="250825" y="1916113"/>
            <a:ext cx="8713788" cy="4278312"/>
          </a:xfrm>
        </p:spPr>
        <p:txBody>
          <a:bodyPr/>
          <a:lstStyle/>
          <a:p>
            <a:pPr>
              <a:lnSpc>
                <a:spcPct val="150000"/>
              </a:lnSpc>
            </a:pPr>
            <a:r>
              <a:rPr lang="zh-CN" altLang="en-US"/>
              <a:t>什么是数据库的物理设计</a:t>
            </a:r>
          </a:p>
          <a:p>
            <a:pPr lvl="1">
              <a:lnSpc>
                <a:spcPct val="150000"/>
              </a:lnSpc>
            </a:pPr>
            <a:r>
              <a:rPr lang="zh-CN" altLang="en-US" sz="2400"/>
              <a:t>数据库在物理设备上的</a:t>
            </a:r>
            <a:r>
              <a:rPr lang="zh-CN" altLang="en-US" sz="2400">
                <a:solidFill>
                  <a:srgbClr val="FF0000"/>
                </a:solidFill>
              </a:rPr>
              <a:t>存储结构</a:t>
            </a:r>
            <a:r>
              <a:rPr lang="zh-CN" altLang="en-US" sz="2400"/>
              <a:t>与</a:t>
            </a:r>
            <a:r>
              <a:rPr lang="zh-CN" altLang="en-US" sz="2400">
                <a:solidFill>
                  <a:srgbClr val="FF0000"/>
                </a:solidFill>
              </a:rPr>
              <a:t>存取方法</a:t>
            </a:r>
            <a:r>
              <a:rPr lang="zh-CN" altLang="en-US" sz="2400"/>
              <a:t>称为数据库的物理结构，它依赖于选定的数据库管理系统。</a:t>
            </a:r>
          </a:p>
          <a:p>
            <a:pPr lvl="1">
              <a:lnSpc>
                <a:spcPct val="150000"/>
              </a:lnSpc>
            </a:pPr>
            <a:endParaRPr lang="en-US" altLang="zh-CN" sz="2400"/>
          </a:p>
          <a:p>
            <a:pPr lvl="1">
              <a:lnSpc>
                <a:spcPct val="150000"/>
              </a:lnSpc>
            </a:pPr>
            <a:r>
              <a:rPr lang="zh-CN" altLang="en-US" sz="2400"/>
              <a:t>为一个给定的逻辑数据模型选取一个最适合应用要求的物理结构的过程，就是数据库的物理设计。</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页脚占位符 4">
            <a:extLst>
              <a:ext uri="{FF2B5EF4-FFF2-40B4-BE49-F238E27FC236}">
                <a16:creationId xmlns:a16="http://schemas.microsoft.com/office/drawing/2014/main" id="{583B22EF-5B44-01C5-5AFA-2D2378C78CA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1987" name="Rectangle 2">
            <a:extLst>
              <a:ext uri="{FF2B5EF4-FFF2-40B4-BE49-F238E27FC236}">
                <a16:creationId xmlns:a16="http://schemas.microsoft.com/office/drawing/2014/main" id="{9A953E59-7813-E99E-3C4C-898F629BAF68}"/>
              </a:ext>
            </a:extLst>
          </p:cNvPr>
          <p:cNvSpPr>
            <a:spLocks noGrp="1" noChangeArrowheads="1"/>
          </p:cNvSpPr>
          <p:nvPr>
            <p:ph type="title"/>
          </p:nvPr>
        </p:nvSpPr>
        <p:spPr/>
        <p:txBody>
          <a:bodyPr/>
          <a:lstStyle/>
          <a:p>
            <a:pPr eaLnBrk="1" hangingPunct="1"/>
            <a:r>
              <a:rPr lang="en-US" altLang="zh-CN"/>
              <a:t>7.5  </a:t>
            </a:r>
            <a:r>
              <a:rPr lang="zh-CN" altLang="en-US"/>
              <a:t>数据库的物理设计</a:t>
            </a:r>
          </a:p>
        </p:txBody>
      </p:sp>
      <p:sp>
        <p:nvSpPr>
          <p:cNvPr id="28676" name="Rectangle 3">
            <a:extLst>
              <a:ext uri="{FF2B5EF4-FFF2-40B4-BE49-F238E27FC236}">
                <a16:creationId xmlns:a16="http://schemas.microsoft.com/office/drawing/2014/main" id="{F45330D3-791F-DB01-F4A1-B72E287FBC03}"/>
              </a:ext>
            </a:extLst>
          </p:cNvPr>
          <p:cNvSpPr>
            <a:spLocks noGrp="1" noChangeArrowheads="1"/>
          </p:cNvSpPr>
          <p:nvPr>
            <p:ph type="body" idx="1"/>
          </p:nvPr>
        </p:nvSpPr>
        <p:spPr>
          <a:xfrm>
            <a:off x="179388" y="2017713"/>
            <a:ext cx="8775700" cy="4114800"/>
          </a:xfrm>
        </p:spPr>
        <p:txBody>
          <a:bodyPr/>
          <a:lstStyle/>
          <a:p>
            <a:pPr eaLnBrk="1" hangingPunct="1">
              <a:lnSpc>
                <a:spcPct val="90000"/>
              </a:lnSpc>
            </a:pPr>
            <a:r>
              <a:rPr lang="zh-CN" altLang="en-US" sz="3600"/>
              <a:t>数据库物理设计的步骤</a:t>
            </a:r>
          </a:p>
          <a:p>
            <a:pPr lvl="1" eaLnBrk="1" hangingPunct="1">
              <a:lnSpc>
                <a:spcPct val="90000"/>
              </a:lnSpc>
              <a:spcBef>
                <a:spcPct val="50000"/>
              </a:spcBef>
            </a:pPr>
            <a:r>
              <a:rPr lang="zh-CN" altLang="en-US"/>
              <a:t>确定数据库的物理结构（</a:t>
            </a:r>
            <a:r>
              <a:rPr lang="zh-CN" altLang="en-US">
                <a:solidFill>
                  <a:srgbClr val="FF0000"/>
                </a:solidFill>
              </a:rPr>
              <a:t>存取方法和存储结构</a:t>
            </a:r>
            <a:r>
              <a:rPr lang="zh-CN" altLang="en-US"/>
              <a:t>）</a:t>
            </a:r>
          </a:p>
          <a:p>
            <a:pPr lvl="1" eaLnBrk="1" hangingPunct="1">
              <a:lnSpc>
                <a:spcPct val="90000"/>
              </a:lnSpc>
              <a:spcBef>
                <a:spcPct val="50000"/>
              </a:spcBef>
            </a:pPr>
            <a:r>
              <a:rPr lang="zh-CN" altLang="en-US"/>
              <a:t>对物理结构进行评价，评价的重点是时间和空间效率</a:t>
            </a:r>
          </a:p>
          <a:p>
            <a:pPr lvl="1" eaLnBrk="1" hangingPunct="1">
              <a:spcBef>
                <a:spcPct val="50000"/>
              </a:spcBef>
            </a:pPr>
            <a:r>
              <a:rPr lang="zh-CN" altLang="en-US"/>
              <a:t>如果评价结果满足原设计要求则可进入到物理实施阶段，否则，就需要重新设计或修改物理结构，有时甚至要返回逻辑设计阶段修改数据模型。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8676">
                                            <p:txEl>
                                              <p:pRg st="1" end="1"/>
                                            </p:txEl>
                                          </p:spTgt>
                                        </p:tgtEl>
                                        <p:attrNameLst>
                                          <p:attrName>style.visibility</p:attrName>
                                        </p:attrNameLst>
                                      </p:cBhvr>
                                      <p:to>
                                        <p:strVal val="visible"/>
                                      </p:to>
                                    </p:set>
                                    <p:animEffect transition="in" filter="box(in)">
                                      <p:cBhvr>
                                        <p:cTn id="7" dur="500"/>
                                        <p:tgtEl>
                                          <p:spTgt spid="2867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8676">
                                            <p:txEl>
                                              <p:pRg st="2" end="2"/>
                                            </p:txEl>
                                          </p:spTgt>
                                        </p:tgtEl>
                                        <p:attrNameLst>
                                          <p:attrName>style.visibility</p:attrName>
                                        </p:attrNameLst>
                                      </p:cBhvr>
                                      <p:to>
                                        <p:strVal val="visible"/>
                                      </p:to>
                                    </p:set>
                                    <p:animEffect transition="in" filter="box(in)">
                                      <p:cBhvr>
                                        <p:cTn id="12" dur="500"/>
                                        <p:tgtEl>
                                          <p:spTgt spid="28676">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8676">
                                            <p:txEl>
                                              <p:pRg st="3" end="3"/>
                                            </p:txEl>
                                          </p:spTgt>
                                        </p:tgtEl>
                                        <p:attrNameLst>
                                          <p:attrName>style.visibility</p:attrName>
                                        </p:attrNameLst>
                                      </p:cBhvr>
                                      <p:to>
                                        <p:strVal val="visible"/>
                                      </p:to>
                                    </p:set>
                                    <p:animEffect transition="in" filter="box(in)">
                                      <p:cBhvr>
                                        <p:cTn id="17" dur="500"/>
                                        <p:tgtEl>
                                          <p:spTgt spid="2867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4">
            <a:extLst>
              <a:ext uri="{FF2B5EF4-FFF2-40B4-BE49-F238E27FC236}">
                <a16:creationId xmlns:a16="http://schemas.microsoft.com/office/drawing/2014/main" id="{2C199A43-7F3B-C580-1860-A33877826F2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3011" name="Rectangle 3">
            <a:extLst>
              <a:ext uri="{FF2B5EF4-FFF2-40B4-BE49-F238E27FC236}">
                <a16:creationId xmlns:a16="http://schemas.microsoft.com/office/drawing/2014/main" id="{6C130001-EA9E-81ED-82F1-5211CA0BCD64}"/>
              </a:ext>
            </a:extLst>
          </p:cNvPr>
          <p:cNvSpPr>
            <a:spLocks noGrp="1" noChangeArrowheads="1"/>
          </p:cNvSpPr>
          <p:nvPr>
            <p:ph type="body" idx="1"/>
          </p:nvPr>
        </p:nvSpPr>
        <p:spPr>
          <a:xfrm>
            <a:off x="795338" y="2017713"/>
            <a:ext cx="7772400" cy="4114800"/>
          </a:xfrm>
        </p:spPr>
        <p:txBody>
          <a:bodyPr/>
          <a:lstStyle/>
          <a:p>
            <a:pPr eaLnBrk="1" hangingPunct="1">
              <a:buFont typeface="Wingdings" panose="05000000000000000000" pitchFamily="2" charset="2"/>
              <a:buNone/>
            </a:pPr>
            <a:r>
              <a:rPr lang="en-US" altLang="zh-CN"/>
              <a:t> </a:t>
            </a:r>
          </a:p>
        </p:txBody>
      </p:sp>
      <p:grpSp>
        <p:nvGrpSpPr>
          <p:cNvPr id="43012" name="Group 4">
            <a:extLst>
              <a:ext uri="{FF2B5EF4-FFF2-40B4-BE49-F238E27FC236}">
                <a16:creationId xmlns:a16="http://schemas.microsoft.com/office/drawing/2014/main" id="{67B4A8AA-7EA6-5F2B-EDC8-C2BDC152A36E}"/>
              </a:ext>
            </a:extLst>
          </p:cNvPr>
          <p:cNvGrpSpPr>
            <a:grpSpLocks/>
          </p:cNvGrpSpPr>
          <p:nvPr/>
        </p:nvGrpSpPr>
        <p:grpSpPr bwMode="auto">
          <a:xfrm>
            <a:off x="755650" y="1600200"/>
            <a:ext cx="7696200" cy="4225925"/>
            <a:chOff x="624" y="1008"/>
            <a:chExt cx="4848" cy="2662"/>
          </a:xfrm>
        </p:grpSpPr>
        <p:sp>
          <p:nvSpPr>
            <p:cNvPr id="43016" name="Rectangle 5">
              <a:extLst>
                <a:ext uri="{FF2B5EF4-FFF2-40B4-BE49-F238E27FC236}">
                  <a16:creationId xmlns:a16="http://schemas.microsoft.com/office/drawing/2014/main" id="{67BFDE52-4373-8C28-4585-F91340B655E4}"/>
                </a:ext>
              </a:extLst>
            </p:cNvPr>
            <p:cNvSpPr>
              <a:spLocks noChangeArrowheads="1"/>
            </p:cNvSpPr>
            <p:nvPr/>
          </p:nvSpPr>
          <p:spPr bwMode="auto">
            <a:xfrm>
              <a:off x="1432" y="1008"/>
              <a:ext cx="2936" cy="1638"/>
            </a:xfrm>
            <a:prstGeom prst="rect">
              <a:avLst/>
            </a:prstGeom>
            <a:solidFill>
              <a:schemeClr val="bg1"/>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2400" b="1">
                  <a:latin typeface="Times New Roman" panose="02020603050405020304" pitchFamily="18" charset="0"/>
                </a:rPr>
                <a:t>数据库物理设计</a:t>
              </a:r>
            </a:p>
          </p:txBody>
        </p:sp>
        <p:sp>
          <p:nvSpPr>
            <p:cNvPr id="43017" name="Line 6">
              <a:extLst>
                <a:ext uri="{FF2B5EF4-FFF2-40B4-BE49-F238E27FC236}">
                  <a16:creationId xmlns:a16="http://schemas.microsoft.com/office/drawing/2014/main" id="{1E09A9C3-A326-5D82-BCDD-819C8F99C6B0}"/>
                </a:ext>
              </a:extLst>
            </p:cNvPr>
            <p:cNvSpPr>
              <a:spLocks noChangeShapeType="1"/>
            </p:cNvSpPr>
            <p:nvPr/>
          </p:nvSpPr>
          <p:spPr bwMode="auto">
            <a:xfrm>
              <a:off x="983" y="1827"/>
              <a:ext cx="71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18" name="Oval 7">
              <a:extLst>
                <a:ext uri="{FF2B5EF4-FFF2-40B4-BE49-F238E27FC236}">
                  <a16:creationId xmlns:a16="http://schemas.microsoft.com/office/drawing/2014/main" id="{8BF4E487-2A19-5D54-69E0-1C29441101AC}"/>
                </a:ext>
              </a:extLst>
            </p:cNvPr>
            <p:cNvSpPr>
              <a:spLocks noChangeArrowheads="1"/>
            </p:cNvSpPr>
            <p:nvPr/>
          </p:nvSpPr>
          <p:spPr bwMode="auto">
            <a:xfrm>
              <a:off x="1679" y="1418"/>
              <a:ext cx="762" cy="921"/>
            </a:xfrm>
            <a:prstGeom prst="ellipse">
              <a:avLst/>
            </a:prstGeom>
            <a:solidFill>
              <a:schemeClr val="bg1"/>
            </a:solidFill>
            <a:ln w="952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a:latin typeface="Times New Roman" panose="02020603050405020304" pitchFamily="18" charset="0"/>
                </a:rPr>
                <a:t>确定数据库的物理结构</a:t>
              </a:r>
              <a:endParaRPr lang="zh-CN" altLang="en-US" sz="1000" b="1">
                <a:latin typeface="Times New Roman" panose="02020603050405020304" pitchFamily="18" charset="0"/>
              </a:endParaRPr>
            </a:p>
            <a:p>
              <a:pPr algn="ctr" eaLnBrk="1" hangingPunct="1">
                <a:spcBef>
                  <a:spcPct val="0"/>
                </a:spcBef>
                <a:buClrTx/>
                <a:buSzTx/>
                <a:buFontTx/>
                <a:buNone/>
              </a:pPr>
              <a:endParaRPr lang="en-US" altLang="zh-CN" sz="1000" b="1">
                <a:latin typeface="Times New Roman" panose="02020603050405020304" pitchFamily="18" charset="0"/>
              </a:endParaRPr>
            </a:p>
          </p:txBody>
        </p:sp>
        <p:sp>
          <p:nvSpPr>
            <p:cNvPr id="43019" name="Line 8">
              <a:extLst>
                <a:ext uri="{FF2B5EF4-FFF2-40B4-BE49-F238E27FC236}">
                  <a16:creationId xmlns:a16="http://schemas.microsoft.com/office/drawing/2014/main" id="{9C295029-CFD8-DA98-5506-F8E36330EF66}"/>
                </a:ext>
              </a:extLst>
            </p:cNvPr>
            <p:cNvSpPr>
              <a:spLocks noChangeShapeType="1"/>
            </p:cNvSpPr>
            <p:nvPr/>
          </p:nvSpPr>
          <p:spPr bwMode="auto">
            <a:xfrm>
              <a:off x="2448" y="1824"/>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20" name="Oval 9">
              <a:extLst>
                <a:ext uri="{FF2B5EF4-FFF2-40B4-BE49-F238E27FC236}">
                  <a16:creationId xmlns:a16="http://schemas.microsoft.com/office/drawing/2014/main" id="{EAE0231D-0909-B2E6-97F8-76E01C573F47}"/>
                </a:ext>
              </a:extLst>
            </p:cNvPr>
            <p:cNvSpPr>
              <a:spLocks noChangeArrowheads="1"/>
            </p:cNvSpPr>
            <p:nvPr/>
          </p:nvSpPr>
          <p:spPr bwMode="auto">
            <a:xfrm>
              <a:off x="3168" y="1440"/>
              <a:ext cx="857" cy="921"/>
            </a:xfrm>
            <a:prstGeom prst="ellipse">
              <a:avLst/>
            </a:prstGeom>
            <a:solidFill>
              <a:schemeClr val="bg1"/>
            </a:solidFill>
            <a:ln w="952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a:latin typeface="Times New Roman" panose="02020603050405020304" pitchFamily="18" charset="0"/>
                </a:rPr>
                <a:t>评价数据库的物理结构</a:t>
              </a:r>
              <a:endParaRPr lang="zh-CN" altLang="en-US" sz="1000" b="1">
                <a:latin typeface="Times New Roman" panose="02020603050405020304" pitchFamily="18" charset="0"/>
              </a:endParaRPr>
            </a:p>
            <a:p>
              <a:pPr algn="ctr" eaLnBrk="1" hangingPunct="1">
                <a:spcBef>
                  <a:spcPct val="0"/>
                </a:spcBef>
                <a:buClrTx/>
                <a:buSzTx/>
                <a:buFontTx/>
                <a:buNone/>
              </a:pPr>
              <a:endParaRPr lang="en-US" altLang="zh-CN" sz="1800">
                <a:latin typeface="Times New Roman" panose="02020603050405020304" pitchFamily="18" charset="0"/>
              </a:endParaRPr>
            </a:p>
          </p:txBody>
        </p:sp>
        <p:sp>
          <p:nvSpPr>
            <p:cNvPr id="43021" name="Line 10">
              <a:extLst>
                <a:ext uri="{FF2B5EF4-FFF2-40B4-BE49-F238E27FC236}">
                  <a16:creationId xmlns:a16="http://schemas.microsoft.com/office/drawing/2014/main" id="{27393CC4-169A-8135-12B1-75ABF2FE991F}"/>
                </a:ext>
              </a:extLst>
            </p:cNvPr>
            <p:cNvSpPr>
              <a:spLocks noChangeShapeType="1"/>
            </p:cNvSpPr>
            <p:nvPr/>
          </p:nvSpPr>
          <p:spPr bwMode="auto">
            <a:xfrm>
              <a:off x="4032" y="1824"/>
              <a:ext cx="812"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22" name="Line 11">
              <a:extLst>
                <a:ext uri="{FF2B5EF4-FFF2-40B4-BE49-F238E27FC236}">
                  <a16:creationId xmlns:a16="http://schemas.microsoft.com/office/drawing/2014/main" id="{6F69DA29-A3B4-70A5-19A2-EFF7583365EA}"/>
                </a:ext>
              </a:extLst>
            </p:cNvPr>
            <p:cNvSpPr>
              <a:spLocks noChangeShapeType="1"/>
            </p:cNvSpPr>
            <p:nvPr/>
          </p:nvSpPr>
          <p:spPr bwMode="auto">
            <a:xfrm>
              <a:off x="4664" y="1725"/>
              <a:ext cx="0" cy="2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3" name="Line 12">
              <a:extLst>
                <a:ext uri="{FF2B5EF4-FFF2-40B4-BE49-F238E27FC236}">
                  <a16:creationId xmlns:a16="http://schemas.microsoft.com/office/drawing/2014/main" id="{00B9B87B-1511-DE6A-A750-D59BDEDE7ADA}"/>
                </a:ext>
              </a:extLst>
            </p:cNvPr>
            <p:cNvSpPr>
              <a:spLocks noChangeShapeType="1"/>
            </p:cNvSpPr>
            <p:nvPr/>
          </p:nvSpPr>
          <p:spPr bwMode="auto">
            <a:xfrm>
              <a:off x="1296" y="1728"/>
              <a:ext cx="1" cy="2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4" name="Text Box 13">
              <a:extLst>
                <a:ext uri="{FF2B5EF4-FFF2-40B4-BE49-F238E27FC236}">
                  <a16:creationId xmlns:a16="http://schemas.microsoft.com/office/drawing/2014/main" id="{D78C5CC0-7119-235D-E4F0-2AD862AA5EE9}"/>
                </a:ext>
              </a:extLst>
            </p:cNvPr>
            <p:cNvSpPr txBox="1">
              <a:spLocks noChangeArrowheads="1"/>
            </p:cNvSpPr>
            <p:nvPr/>
          </p:nvSpPr>
          <p:spPr bwMode="auto">
            <a:xfrm>
              <a:off x="624" y="1930"/>
              <a:ext cx="718" cy="3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2000" b="1">
                  <a:latin typeface="Times New Roman" panose="02020603050405020304" pitchFamily="18" charset="0"/>
                </a:rPr>
                <a:t>逻辑结</a:t>
              </a:r>
            </a:p>
            <a:p>
              <a:pPr algn="just" eaLnBrk="1" hangingPunct="1">
                <a:spcBef>
                  <a:spcPct val="0"/>
                </a:spcBef>
                <a:buClrTx/>
                <a:buSzTx/>
                <a:buFontTx/>
                <a:buNone/>
              </a:pPr>
              <a:r>
                <a:rPr lang="zh-CN" altLang="en-US" sz="2000" b="1">
                  <a:latin typeface="Times New Roman" panose="02020603050405020304" pitchFamily="18" charset="0"/>
                </a:rPr>
                <a:t>构设计</a:t>
              </a:r>
              <a:endParaRPr lang="zh-CN" altLang="en-US" sz="1000" b="1">
                <a:latin typeface="Times New Roman" panose="02020603050405020304" pitchFamily="18" charset="0"/>
              </a:endParaRPr>
            </a:p>
          </p:txBody>
        </p:sp>
        <p:sp>
          <p:nvSpPr>
            <p:cNvPr id="43025" name="Text Box 14">
              <a:extLst>
                <a:ext uri="{FF2B5EF4-FFF2-40B4-BE49-F238E27FC236}">
                  <a16:creationId xmlns:a16="http://schemas.microsoft.com/office/drawing/2014/main" id="{0922041D-0C3D-6D2E-1D8A-E8E2549DE55B}"/>
                </a:ext>
              </a:extLst>
            </p:cNvPr>
            <p:cNvSpPr txBox="1">
              <a:spLocks noChangeArrowheads="1"/>
            </p:cNvSpPr>
            <p:nvPr/>
          </p:nvSpPr>
          <p:spPr bwMode="auto">
            <a:xfrm>
              <a:off x="4664" y="1930"/>
              <a:ext cx="808" cy="3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2000" b="1">
                  <a:latin typeface="Times New Roman" panose="02020603050405020304" pitchFamily="18" charset="0"/>
                </a:rPr>
                <a:t>数据库</a:t>
              </a:r>
            </a:p>
            <a:p>
              <a:pPr algn="just" eaLnBrk="1" hangingPunct="1">
                <a:spcBef>
                  <a:spcPct val="0"/>
                </a:spcBef>
                <a:buClrTx/>
                <a:buSzTx/>
                <a:buFontTx/>
                <a:buNone/>
              </a:pPr>
              <a:r>
                <a:rPr lang="zh-CN" altLang="en-US" sz="2000" b="1">
                  <a:latin typeface="Times New Roman" panose="02020603050405020304" pitchFamily="18" charset="0"/>
                </a:rPr>
                <a:t>实施</a:t>
              </a:r>
              <a:endParaRPr lang="zh-CN" altLang="en-US" sz="1600" b="1">
                <a:latin typeface="Times New Roman" panose="02020603050405020304" pitchFamily="18" charset="0"/>
              </a:endParaRPr>
            </a:p>
          </p:txBody>
        </p:sp>
        <p:sp>
          <p:nvSpPr>
            <p:cNvPr id="43026" name="AutoShape 15">
              <a:extLst>
                <a:ext uri="{FF2B5EF4-FFF2-40B4-BE49-F238E27FC236}">
                  <a16:creationId xmlns:a16="http://schemas.microsoft.com/office/drawing/2014/main" id="{13617179-ADF5-A254-9E8B-8279F2094660}"/>
                </a:ext>
              </a:extLst>
            </p:cNvPr>
            <p:cNvSpPr>
              <a:spLocks noChangeArrowheads="1"/>
            </p:cNvSpPr>
            <p:nvPr/>
          </p:nvSpPr>
          <p:spPr bwMode="auto">
            <a:xfrm>
              <a:off x="4574" y="3056"/>
              <a:ext cx="449" cy="614"/>
            </a:xfrm>
            <a:prstGeom prst="octagon">
              <a:avLst>
                <a:gd name="adj" fmla="val 29287"/>
              </a:avLst>
            </a:prstGeom>
            <a:solidFill>
              <a:schemeClr val="bg1"/>
            </a:solidFill>
            <a:ln w="9525">
              <a:solidFill>
                <a:srgbClr val="000000"/>
              </a:solidFill>
              <a:miter lim="800000"/>
              <a:headEnd/>
              <a:tailEnd/>
            </a:ln>
          </p:spPr>
          <p:txBody>
            <a:bodyPr lIns="0" tIns="0" rIns="0" b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a:latin typeface="Times New Roman" panose="02020603050405020304" pitchFamily="18" charset="0"/>
                </a:rPr>
                <a:t>物理</a:t>
              </a:r>
            </a:p>
            <a:p>
              <a:pPr algn="ctr" eaLnBrk="1" hangingPunct="1">
                <a:spcBef>
                  <a:spcPct val="0"/>
                </a:spcBef>
                <a:buClrTx/>
                <a:buSzTx/>
                <a:buFontTx/>
                <a:buNone/>
              </a:pPr>
              <a:r>
                <a:rPr lang="zh-CN" altLang="en-US" sz="1800" b="1">
                  <a:latin typeface="Times New Roman" panose="02020603050405020304" pitchFamily="18" charset="0"/>
                </a:rPr>
                <a:t>模型</a:t>
              </a:r>
              <a:endParaRPr lang="zh-CN" altLang="en-US" sz="1000" b="1">
                <a:latin typeface="Times New Roman" panose="02020603050405020304" pitchFamily="18" charset="0"/>
              </a:endParaRPr>
            </a:p>
          </p:txBody>
        </p:sp>
        <p:sp>
          <p:nvSpPr>
            <p:cNvPr id="43027" name="AutoShape 16">
              <a:extLst>
                <a:ext uri="{FF2B5EF4-FFF2-40B4-BE49-F238E27FC236}">
                  <a16:creationId xmlns:a16="http://schemas.microsoft.com/office/drawing/2014/main" id="{EC872D2F-F355-4F2B-3D5A-51E175AC45FB}"/>
                </a:ext>
              </a:extLst>
            </p:cNvPr>
            <p:cNvSpPr>
              <a:spLocks noChangeArrowheads="1"/>
            </p:cNvSpPr>
            <p:nvPr/>
          </p:nvSpPr>
          <p:spPr bwMode="auto">
            <a:xfrm rot="3331037">
              <a:off x="647" y="2553"/>
              <a:ext cx="651" cy="126"/>
            </a:xfrm>
            <a:prstGeom prst="rightArrow">
              <a:avLst>
                <a:gd name="adj1" fmla="val 50000"/>
                <a:gd name="adj2" fmla="val 129167"/>
              </a:avLst>
            </a:prstGeom>
            <a:solidFill>
              <a:schemeClr val="bg1"/>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
          <p:nvSpPr>
            <p:cNvPr id="43028" name="AutoShape 17">
              <a:extLst>
                <a:ext uri="{FF2B5EF4-FFF2-40B4-BE49-F238E27FC236}">
                  <a16:creationId xmlns:a16="http://schemas.microsoft.com/office/drawing/2014/main" id="{5783CF2D-2121-91A2-9159-63112A2A225A}"/>
                </a:ext>
              </a:extLst>
            </p:cNvPr>
            <p:cNvSpPr>
              <a:spLocks noChangeArrowheads="1"/>
            </p:cNvSpPr>
            <p:nvPr/>
          </p:nvSpPr>
          <p:spPr bwMode="auto">
            <a:xfrm rot="2916161">
              <a:off x="3865" y="2582"/>
              <a:ext cx="1085" cy="92"/>
            </a:xfrm>
            <a:prstGeom prst="rightArrow">
              <a:avLst>
                <a:gd name="adj1" fmla="val 50000"/>
                <a:gd name="adj2" fmla="val 294837"/>
              </a:avLst>
            </a:prstGeom>
            <a:solidFill>
              <a:schemeClr val="bg1"/>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
          <p:nvSpPr>
            <p:cNvPr id="43029" name="AutoShape 18">
              <a:extLst>
                <a:ext uri="{FF2B5EF4-FFF2-40B4-BE49-F238E27FC236}">
                  <a16:creationId xmlns:a16="http://schemas.microsoft.com/office/drawing/2014/main" id="{29B714C9-87E3-F43A-6313-825134994A41}"/>
                </a:ext>
              </a:extLst>
            </p:cNvPr>
            <p:cNvSpPr>
              <a:spLocks noChangeArrowheads="1"/>
            </p:cNvSpPr>
            <p:nvPr/>
          </p:nvSpPr>
          <p:spPr bwMode="auto">
            <a:xfrm rot="-2736863">
              <a:off x="1156" y="2500"/>
              <a:ext cx="827" cy="95"/>
            </a:xfrm>
            <a:prstGeom prst="rightArrow">
              <a:avLst>
                <a:gd name="adj1" fmla="val 50000"/>
                <a:gd name="adj2" fmla="val 217632"/>
              </a:avLst>
            </a:prstGeom>
            <a:solidFill>
              <a:schemeClr val="bg1"/>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grpSp>
      <p:sp>
        <p:nvSpPr>
          <p:cNvPr id="43013" name="Freeform 19">
            <a:extLst>
              <a:ext uri="{FF2B5EF4-FFF2-40B4-BE49-F238E27FC236}">
                <a16:creationId xmlns:a16="http://schemas.microsoft.com/office/drawing/2014/main" id="{51605A5C-60DD-473F-7B9A-80C94CAC692F}"/>
              </a:ext>
            </a:extLst>
          </p:cNvPr>
          <p:cNvSpPr>
            <a:spLocks/>
          </p:cNvSpPr>
          <p:nvPr/>
        </p:nvSpPr>
        <p:spPr bwMode="auto">
          <a:xfrm>
            <a:off x="3422650" y="2286000"/>
            <a:ext cx="1295400" cy="312738"/>
          </a:xfrm>
          <a:custGeom>
            <a:avLst/>
            <a:gdLst>
              <a:gd name="T0" fmla="*/ 2147483646 w 816"/>
              <a:gd name="T1" fmla="*/ 2147483646 h 197"/>
              <a:gd name="T2" fmla="*/ 2147483646 w 816"/>
              <a:gd name="T3" fmla="*/ 2147483646 h 197"/>
              <a:gd name="T4" fmla="*/ 2147483646 w 816"/>
              <a:gd name="T5" fmla="*/ 2147483646 h 197"/>
              <a:gd name="T6" fmla="*/ 2147483646 w 816"/>
              <a:gd name="T7" fmla="*/ 2147483646 h 197"/>
              <a:gd name="T8" fmla="*/ 2147483646 w 816"/>
              <a:gd name="T9" fmla="*/ 2147483646 h 197"/>
              <a:gd name="T10" fmla="*/ 2147483646 w 816"/>
              <a:gd name="T11" fmla="*/ 2147483646 h 197"/>
              <a:gd name="T12" fmla="*/ 0 w 816"/>
              <a:gd name="T13" fmla="*/ 2147483646 h 197"/>
              <a:gd name="T14" fmla="*/ 0 60000 65536"/>
              <a:gd name="T15" fmla="*/ 0 60000 65536"/>
              <a:gd name="T16" fmla="*/ 0 60000 65536"/>
              <a:gd name="T17" fmla="*/ 0 60000 65536"/>
              <a:gd name="T18" fmla="*/ 0 60000 65536"/>
              <a:gd name="T19" fmla="*/ 0 60000 65536"/>
              <a:gd name="T20" fmla="*/ 0 60000 65536"/>
              <a:gd name="T21" fmla="*/ 0 w 816"/>
              <a:gd name="T22" fmla="*/ 0 h 197"/>
              <a:gd name="T23" fmla="*/ 816 w 816"/>
              <a:gd name="T24" fmla="*/ 197 h 1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6" h="197">
                <a:moveTo>
                  <a:pt x="816" y="197"/>
                </a:moveTo>
                <a:cubicBezTo>
                  <a:pt x="790" y="174"/>
                  <a:pt x="711" y="92"/>
                  <a:pt x="658" y="61"/>
                </a:cubicBezTo>
                <a:cubicBezTo>
                  <a:pt x="605" y="30"/>
                  <a:pt x="555" y="18"/>
                  <a:pt x="501" y="9"/>
                </a:cubicBezTo>
                <a:cubicBezTo>
                  <a:pt x="447" y="0"/>
                  <a:pt x="381" y="3"/>
                  <a:pt x="336" y="5"/>
                </a:cubicBezTo>
                <a:cubicBezTo>
                  <a:pt x="291" y="7"/>
                  <a:pt x="268" y="10"/>
                  <a:pt x="228" y="22"/>
                </a:cubicBezTo>
                <a:cubicBezTo>
                  <a:pt x="188" y="34"/>
                  <a:pt x="135" y="54"/>
                  <a:pt x="97" y="75"/>
                </a:cubicBezTo>
                <a:cubicBezTo>
                  <a:pt x="59" y="96"/>
                  <a:pt x="20" y="134"/>
                  <a:pt x="0" y="149"/>
                </a:cubicBezTo>
              </a:path>
            </a:pathLst>
          </a:custGeom>
          <a:noFill/>
          <a:ln w="9525">
            <a:solidFill>
              <a:srgbClr val="000000"/>
            </a:solidFill>
            <a:prstDash val="sysDot"/>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14" name="Freeform 20">
            <a:extLst>
              <a:ext uri="{FF2B5EF4-FFF2-40B4-BE49-F238E27FC236}">
                <a16:creationId xmlns:a16="http://schemas.microsoft.com/office/drawing/2014/main" id="{6F413745-C78F-25FC-E49F-7042E7F9F736}"/>
              </a:ext>
            </a:extLst>
          </p:cNvPr>
          <p:cNvSpPr>
            <a:spLocks/>
          </p:cNvSpPr>
          <p:nvPr/>
        </p:nvSpPr>
        <p:spPr bwMode="auto">
          <a:xfrm>
            <a:off x="1062038" y="2057400"/>
            <a:ext cx="3732212" cy="573088"/>
          </a:xfrm>
          <a:custGeom>
            <a:avLst/>
            <a:gdLst>
              <a:gd name="T0" fmla="*/ 2147483646 w 2351"/>
              <a:gd name="T1" fmla="*/ 2147483646 h 361"/>
              <a:gd name="T2" fmla="*/ 2147483646 w 2351"/>
              <a:gd name="T3" fmla="*/ 2147483646 h 361"/>
              <a:gd name="T4" fmla="*/ 2147483646 w 2351"/>
              <a:gd name="T5" fmla="*/ 2147483646 h 361"/>
              <a:gd name="T6" fmla="*/ 2147483646 w 2351"/>
              <a:gd name="T7" fmla="*/ 2147483646 h 361"/>
              <a:gd name="T8" fmla="*/ 2147483646 w 2351"/>
              <a:gd name="T9" fmla="*/ 2147483646 h 361"/>
              <a:gd name="T10" fmla="*/ 2147483646 w 2351"/>
              <a:gd name="T11" fmla="*/ 2147483646 h 361"/>
              <a:gd name="T12" fmla="*/ 2147483646 w 2351"/>
              <a:gd name="T13" fmla="*/ 2147483646 h 361"/>
              <a:gd name="T14" fmla="*/ 0 w 2351"/>
              <a:gd name="T15" fmla="*/ 2147483646 h 361"/>
              <a:gd name="T16" fmla="*/ 0 60000 65536"/>
              <a:gd name="T17" fmla="*/ 0 60000 65536"/>
              <a:gd name="T18" fmla="*/ 0 60000 65536"/>
              <a:gd name="T19" fmla="*/ 0 60000 65536"/>
              <a:gd name="T20" fmla="*/ 0 60000 65536"/>
              <a:gd name="T21" fmla="*/ 0 60000 65536"/>
              <a:gd name="T22" fmla="*/ 0 60000 65536"/>
              <a:gd name="T23" fmla="*/ 0 60000 65536"/>
              <a:gd name="T24" fmla="*/ 0 w 2351"/>
              <a:gd name="T25" fmla="*/ 0 h 361"/>
              <a:gd name="T26" fmla="*/ 2351 w 2351"/>
              <a:gd name="T27" fmla="*/ 361 h 36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51" h="361">
                <a:moveTo>
                  <a:pt x="2351" y="264"/>
                </a:moveTo>
                <a:cubicBezTo>
                  <a:pt x="2293" y="236"/>
                  <a:pt x="2108" y="133"/>
                  <a:pt x="2000" y="91"/>
                </a:cubicBezTo>
                <a:cubicBezTo>
                  <a:pt x="1892" y="50"/>
                  <a:pt x="1783" y="29"/>
                  <a:pt x="1701" y="15"/>
                </a:cubicBezTo>
                <a:cubicBezTo>
                  <a:pt x="1619" y="0"/>
                  <a:pt x="1619" y="5"/>
                  <a:pt x="1509" y="5"/>
                </a:cubicBezTo>
                <a:cubicBezTo>
                  <a:pt x="1399" y="5"/>
                  <a:pt x="1174" y="6"/>
                  <a:pt x="1036" y="15"/>
                </a:cubicBezTo>
                <a:cubicBezTo>
                  <a:pt x="897" y="24"/>
                  <a:pt x="798" y="37"/>
                  <a:pt x="678" y="60"/>
                </a:cubicBezTo>
                <a:cubicBezTo>
                  <a:pt x="558" y="84"/>
                  <a:pt x="429" y="105"/>
                  <a:pt x="316" y="155"/>
                </a:cubicBezTo>
                <a:cubicBezTo>
                  <a:pt x="203" y="205"/>
                  <a:pt x="66" y="318"/>
                  <a:pt x="0" y="361"/>
                </a:cubicBezTo>
              </a:path>
            </a:pathLst>
          </a:custGeom>
          <a:noFill/>
          <a:ln w="9525">
            <a:solidFill>
              <a:srgbClr val="000000"/>
            </a:solidFill>
            <a:prstDash val="sysDot"/>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15" name="AutoShape 21">
            <a:extLst>
              <a:ext uri="{FF2B5EF4-FFF2-40B4-BE49-F238E27FC236}">
                <a16:creationId xmlns:a16="http://schemas.microsoft.com/office/drawing/2014/main" id="{706F2BE9-65B4-70DE-873C-9A3C23B50D73}"/>
              </a:ext>
            </a:extLst>
          </p:cNvPr>
          <p:cNvSpPr>
            <a:spLocks noChangeArrowheads="1"/>
          </p:cNvSpPr>
          <p:nvPr/>
        </p:nvSpPr>
        <p:spPr bwMode="auto">
          <a:xfrm>
            <a:off x="1289050" y="4648200"/>
            <a:ext cx="712788" cy="974725"/>
          </a:xfrm>
          <a:prstGeom prst="octagon">
            <a:avLst>
              <a:gd name="adj" fmla="val 29287"/>
            </a:avLst>
          </a:prstGeom>
          <a:solidFill>
            <a:schemeClr val="bg1"/>
          </a:solidFill>
          <a:ln w="9525">
            <a:solidFill>
              <a:srgbClr val="000000"/>
            </a:solidFill>
            <a:miter lim="800000"/>
            <a:headEnd/>
            <a:tailEnd/>
          </a:ln>
        </p:spPr>
        <p:txBody>
          <a:bodyPr lIns="0" tIns="0" rIns="0" b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a:latin typeface="Times New Roman" panose="02020603050405020304" pitchFamily="18" charset="0"/>
              </a:rPr>
              <a:t>逻辑</a:t>
            </a:r>
          </a:p>
          <a:p>
            <a:pPr algn="ctr" eaLnBrk="1" hangingPunct="1">
              <a:spcBef>
                <a:spcPct val="0"/>
              </a:spcBef>
              <a:buClrTx/>
              <a:buSzTx/>
              <a:buFontTx/>
              <a:buNone/>
            </a:pPr>
            <a:r>
              <a:rPr lang="zh-CN" altLang="en-US" sz="1800" b="1">
                <a:latin typeface="Times New Roman" panose="02020603050405020304" pitchFamily="18" charset="0"/>
              </a:rPr>
              <a:t>模型</a:t>
            </a:r>
            <a:endParaRPr lang="zh-CN" altLang="en-US" sz="1000" b="1">
              <a:latin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页脚占位符 4">
            <a:extLst>
              <a:ext uri="{FF2B5EF4-FFF2-40B4-BE49-F238E27FC236}">
                <a16:creationId xmlns:a16="http://schemas.microsoft.com/office/drawing/2014/main" id="{AA976700-6145-BED0-AA24-76699D22F09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4035" name="Rectangle 2">
            <a:extLst>
              <a:ext uri="{FF2B5EF4-FFF2-40B4-BE49-F238E27FC236}">
                <a16:creationId xmlns:a16="http://schemas.microsoft.com/office/drawing/2014/main" id="{17469C17-2CB4-E65F-2B6A-D519A7F31ABC}"/>
              </a:ext>
            </a:extLst>
          </p:cNvPr>
          <p:cNvSpPr>
            <a:spLocks noGrp="1" noChangeArrowheads="1"/>
          </p:cNvSpPr>
          <p:nvPr>
            <p:ph type="title"/>
          </p:nvPr>
        </p:nvSpPr>
        <p:spPr/>
        <p:txBody>
          <a:bodyPr/>
          <a:lstStyle/>
          <a:p>
            <a:pPr eaLnBrk="1" hangingPunct="1"/>
            <a:r>
              <a:rPr lang="zh-CN" altLang="en-US" sz="2800"/>
              <a:t>数据库的物理设计的内容和方法（续）</a:t>
            </a:r>
          </a:p>
        </p:txBody>
      </p:sp>
      <p:sp>
        <p:nvSpPr>
          <p:cNvPr id="44036" name="Rectangle 3">
            <a:extLst>
              <a:ext uri="{FF2B5EF4-FFF2-40B4-BE49-F238E27FC236}">
                <a16:creationId xmlns:a16="http://schemas.microsoft.com/office/drawing/2014/main" id="{F066E54D-8E2A-DE6A-756A-C8DB6191D804}"/>
              </a:ext>
            </a:extLst>
          </p:cNvPr>
          <p:cNvSpPr>
            <a:spLocks noGrp="1" noChangeArrowheads="1"/>
          </p:cNvSpPr>
          <p:nvPr>
            <p:ph type="body" idx="1"/>
          </p:nvPr>
        </p:nvSpPr>
        <p:spPr>
          <a:xfrm>
            <a:off x="395288" y="2017713"/>
            <a:ext cx="8559800" cy="4114800"/>
          </a:xfrm>
        </p:spPr>
        <p:txBody>
          <a:bodyPr/>
          <a:lstStyle/>
          <a:p>
            <a:pPr eaLnBrk="1" hangingPunct="1"/>
            <a:r>
              <a:rPr lang="zh-CN" altLang="en-US" sz="3600"/>
              <a:t>关系数据库物理设计的内容</a:t>
            </a:r>
          </a:p>
          <a:p>
            <a:pPr lvl="1" eaLnBrk="1" hangingPunct="1">
              <a:lnSpc>
                <a:spcPct val="160000"/>
              </a:lnSpc>
            </a:pPr>
            <a:r>
              <a:rPr lang="en-US" altLang="zh-CN"/>
              <a:t>1. </a:t>
            </a:r>
            <a:r>
              <a:rPr lang="zh-CN" altLang="en-US"/>
              <a:t>为关系模式选择</a:t>
            </a:r>
            <a:r>
              <a:rPr lang="zh-CN" altLang="en-US">
                <a:solidFill>
                  <a:schemeClr val="accent2"/>
                </a:solidFill>
              </a:rPr>
              <a:t>存取方法</a:t>
            </a:r>
            <a:r>
              <a:rPr lang="en-US" altLang="zh-CN"/>
              <a:t>(</a:t>
            </a:r>
            <a:r>
              <a:rPr lang="zh-CN" altLang="en-US"/>
              <a:t>建立存取路径</a:t>
            </a:r>
            <a:r>
              <a:rPr lang="en-US" altLang="zh-CN"/>
              <a:t>)</a:t>
            </a:r>
          </a:p>
          <a:p>
            <a:pPr lvl="1" eaLnBrk="1" hangingPunct="1">
              <a:lnSpc>
                <a:spcPct val="160000"/>
              </a:lnSpc>
            </a:pPr>
            <a:r>
              <a:rPr lang="en-US" altLang="zh-CN"/>
              <a:t>2.  </a:t>
            </a:r>
            <a:r>
              <a:rPr lang="zh-CN" altLang="en-US"/>
              <a:t>设计关系、索引等数据库文件的</a:t>
            </a:r>
            <a:r>
              <a:rPr lang="zh-CN" altLang="en-US">
                <a:solidFill>
                  <a:schemeClr val="accent2"/>
                </a:solidFill>
              </a:rPr>
              <a:t>物理存储结构</a:t>
            </a: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页脚占位符 4">
            <a:extLst>
              <a:ext uri="{FF2B5EF4-FFF2-40B4-BE49-F238E27FC236}">
                <a16:creationId xmlns:a16="http://schemas.microsoft.com/office/drawing/2014/main" id="{3CBAF5CB-C2D2-4164-5A96-34CC35762E1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5059" name="Rectangle 2">
            <a:extLst>
              <a:ext uri="{FF2B5EF4-FFF2-40B4-BE49-F238E27FC236}">
                <a16:creationId xmlns:a16="http://schemas.microsoft.com/office/drawing/2014/main" id="{A8EA5FFE-7B0B-FC27-D10C-2B95405629A8}"/>
              </a:ext>
            </a:extLst>
          </p:cNvPr>
          <p:cNvSpPr>
            <a:spLocks noGrp="1" noChangeArrowheads="1"/>
          </p:cNvSpPr>
          <p:nvPr>
            <p:ph type="title"/>
          </p:nvPr>
        </p:nvSpPr>
        <p:spPr/>
        <p:txBody>
          <a:bodyPr/>
          <a:lstStyle/>
          <a:p>
            <a:pPr eaLnBrk="1" hangingPunct="1"/>
            <a:r>
              <a:rPr lang="zh-CN" altLang="en-US"/>
              <a:t>关系模式存取方法选择（续）</a:t>
            </a:r>
          </a:p>
        </p:txBody>
      </p:sp>
      <p:sp>
        <p:nvSpPr>
          <p:cNvPr id="45060" name="Rectangle 3">
            <a:extLst>
              <a:ext uri="{FF2B5EF4-FFF2-40B4-BE49-F238E27FC236}">
                <a16:creationId xmlns:a16="http://schemas.microsoft.com/office/drawing/2014/main" id="{BDC30C07-6826-5E10-BE32-344F0BFCA9FE}"/>
              </a:ext>
            </a:extLst>
          </p:cNvPr>
          <p:cNvSpPr>
            <a:spLocks noGrp="1" noChangeArrowheads="1"/>
          </p:cNvSpPr>
          <p:nvPr>
            <p:ph type="body" idx="1"/>
          </p:nvPr>
        </p:nvSpPr>
        <p:spPr>
          <a:xfrm>
            <a:off x="395288" y="2017713"/>
            <a:ext cx="8559800" cy="4114800"/>
          </a:xfrm>
        </p:spPr>
        <p:txBody>
          <a:bodyPr/>
          <a:lstStyle/>
          <a:p>
            <a:pPr eaLnBrk="1" hangingPunct="1"/>
            <a:r>
              <a:rPr lang="en-US" altLang="zh-CN" sz="3600"/>
              <a:t>DBMS</a:t>
            </a:r>
            <a:r>
              <a:rPr lang="zh-CN" altLang="en-US" sz="3600"/>
              <a:t>常用存取方法</a:t>
            </a:r>
          </a:p>
          <a:p>
            <a:pPr lvl="1" eaLnBrk="1" hangingPunct="1">
              <a:lnSpc>
                <a:spcPct val="140000"/>
              </a:lnSpc>
            </a:pPr>
            <a:r>
              <a:rPr lang="zh-CN" altLang="en-US"/>
              <a:t>索引方法，目前主要是</a:t>
            </a:r>
            <a:r>
              <a:rPr lang="en-US" altLang="zh-CN"/>
              <a:t>B</a:t>
            </a:r>
            <a:r>
              <a:rPr lang="en-US" altLang="zh-CN" baseline="30000"/>
              <a:t>+</a:t>
            </a:r>
            <a:r>
              <a:rPr lang="zh-CN" altLang="en-US"/>
              <a:t>树索引方法</a:t>
            </a:r>
          </a:p>
          <a:p>
            <a:pPr lvl="1" eaLnBrk="1" hangingPunct="1">
              <a:lnSpc>
                <a:spcPct val="140000"/>
              </a:lnSpc>
            </a:pPr>
            <a:r>
              <a:rPr lang="zh-CN" altLang="en-US"/>
              <a:t>聚簇（</a:t>
            </a:r>
            <a:r>
              <a:rPr lang="en-US" altLang="zh-CN"/>
              <a:t>Cluster</a:t>
            </a:r>
            <a:r>
              <a:rPr lang="zh-CN" altLang="en-US"/>
              <a:t>）方法</a:t>
            </a:r>
          </a:p>
          <a:p>
            <a:pPr lvl="1" eaLnBrk="1" hangingPunct="1">
              <a:lnSpc>
                <a:spcPct val="140000"/>
              </a:lnSpc>
            </a:pPr>
            <a:r>
              <a:rPr lang="en-US" altLang="zh-CN"/>
              <a:t>HASH</a:t>
            </a:r>
            <a:r>
              <a:rPr lang="zh-CN" altLang="en-US"/>
              <a:t>方法</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页脚占位符 4">
            <a:extLst>
              <a:ext uri="{FF2B5EF4-FFF2-40B4-BE49-F238E27FC236}">
                <a16:creationId xmlns:a16="http://schemas.microsoft.com/office/drawing/2014/main" id="{8B6234D0-1B31-165A-3FB6-25D4926D134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6083" name="Rectangle 2">
            <a:extLst>
              <a:ext uri="{FF2B5EF4-FFF2-40B4-BE49-F238E27FC236}">
                <a16:creationId xmlns:a16="http://schemas.microsoft.com/office/drawing/2014/main" id="{7E88B3B7-8C8F-3942-1809-1FE88DE9D7F7}"/>
              </a:ext>
            </a:extLst>
          </p:cNvPr>
          <p:cNvSpPr>
            <a:spLocks noGrp="1" noChangeArrowheads="1"/>
          </p:cNvSpPr>
          <p:nvPr>
            <p:ph type="title"/>
          </p:nvPr>
        </p:nvSpPr>
        <p:spPr/>
        <p:txBody>
          <a:bodyPr/>
          <a:lstStyle/>
          <a:p>
            <a:pPr eaLnBrk="1" hangingPunct="1"/>
            <a:r>
              <a:rPr lang="zh-CN" altLang="en-US"/>
              <a:t>一、索引存取方法的选择</a:t>
            </a:r>
          </a:p>
        </p:txBody>
      </p:sp>
      <p:sp>
        <p:nvSpPr>
          <p:cNvPr id="46084" name="Rectangle 3">
            <a:extLst>
              <a:ext uri="{FF2B5EF4-FFF2-40B4-BE49-F238E27FC236}">
                <a16:creationId xmlns:a16="http://schemas.microsoft.com/office/drawing/2014/main" id="{05EFCD28-D6B3-7ECE-021E-384C17163A53}"/>
              </a:ext>
            </a:extLst>
          </p:cNvPr>
          <p:cNvSpPr>
            <a:spLocks noGrp="1" noChangeArrowheads="1"/>
          </p:cNvSpPr>
          <p:nvPr>
            <p:ph type="body" idx="1"/>
          </p:nvPr>
        </p:nvSpPr>
        <p:spPr>
          <a:xfrm>
            <a:off x="468313" y="2017713"/>
            <a:ext cx="8486775" cy="4114800"/>
          </a:xfrm>
        </p:spPr>
        <p:txBody>
          <a:bodyPr/>
          <a:lstStyle/>
          <a:p>
            <a:pPr eaLnBrk="1" hangingPunct="1"/>
            <a:r>
              <a:rPr lang="zh-CN" altLang="en-US" sz="3600"/>
              <a:t>选择索引存取方法的主要内容</a:t>
            </a:r>
          </a:p>
          <a:p>
            <a:pPr eaLnBrk="1" hangingPunct="1">
              <a:lnSpc>
                <a:spcPct val="130000"/>
              </a:lnSpc>
              <a:buFont typeface="Wingdings" panose="05000000000000000000" pitchFamily="2" charset="2"/>
              <a:buNone/>
            </a:pPr>
            <a:r>
              <a:rPr lang="zh-CN" altLang="en-US"/>
              <a:t>	</a:t>
            </a:r>
            <a:r>
              <a:rPr lang="zh-CN" altLang="en-US" sz="2800"/>
              <a:t>根据应用要求确定</a:t>
            </a:r>
          </a:p>
          <a:p>
            <a:pPr lvl="1" eaLnBrk="1" hangingPunct="1">
              <a:lnSpc>
                <a:spcPct val="140000"/>
              </a:lnSpc>
            </a:pPr>
            <a:r>
              <a:rPr lang="zh-CN" altLang="en-US"/>
              <a:t> 对哪些属性列建立索引</a:t>
            </a:r>
          </a:p>
          <a:p>
            <a:pPr lvl="1" eaLnBrk="1" hangingPunct="1">
              <a:lnSpc>
                <a:spcPct val="140000"/>
              </a:lnSpc>
            </a:pPr>
            <a:r>
              <a:rPr lang="zh-CN" altLang="en-US"/>
              <a:t> 对哪些属性列建立组合索引</a:t>
            </a:r>
          </a:p>
          <a:p>
            <a:pPr lvl="1" eaLnBrk="1" hangingPunct="1">
              <a:lnSpc>
                <a:spcPct val="140000"/>
              </a:lnSpc>
            </a:pPr>
            <a:r>
              <a:rPr lang="zh-CN" altLang="en-US"/>
              <a:t> 对哪些索引要设计为唯一索引</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页脚占位符 4">
            <a:extLst>
              <a:ext uri="{FF2B5EF4-FFF2-40B4-BE49-F238E27FC236}">
                <a16:creationId xmlns:a16="http://schemas.microsoft.com/office/drawing/2014/main" id="{89F5995F-3A61-2132-018D-2C762B592BB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7107" name="Rectangle 2">
            <a:extLst>
              <a:ext uri="{FF2B5EF4-FFF2-40B4-BE49-F238E27FC236}">
                <a16:creationId xmlns:a16="http://schemas.microsoft.com/office/drawing/2014/main" id="{35BB252D-B31B-E2EC-CF7C-39885FE593A3}"/>
              </a:ext>
            </a:extLst>
          </p:cNvPr>
          <p:cNvSpPr>
            <a:spLocks noGrp="1" noChangeArrowheads="1"/>
          </p:cNvSpPr>
          <p:nvPr>
            <p:ph type="title"/>
          </p:nvPr>
        </p:nvSpPr>
        <p:spPr/>
        <p:txBody>
          <a:bodyPr/>
          <a:lstStyle/>
          <a:p>
            <a:pPr eaLnBrk="1" hangingPunct="1"/>
            <a:r>
              <a:rPr lang="zh-CN" altLang="en-US"/>
              <a:t>索引存取方法的选择（续）</a:t>
            </a:r>
          </a:p>
        </p:txBody>
      </p:sp>
      <p:sp>
        <p:nvSpPr>
          <p:cNvPr id="33796" name="Rectangle 3">
            <a:extLst>
              <a:ext uri="{FF2B5EF4-FFF2-40B4-BE49-F238E27FC236}">
                <a16:creationId xmlns:a16="http://schemas.microsoft.com/office/drawing/2014/main" id="{EAFEA3AF-C8E6-DEEA-AC85-46F0A608F9A2}"/>
              </a:ext>
            </a:extLst>
          </p:cNvPr>
          <p:cNvSpPr>
            <a:spLocks noGrp="1" noChangeArrowheads="1"/>
          </p:cNvSpPr>
          <p:nvPr>
            <p:ph type="body" idx="1"/>
          </p:nvPr>
        </p:nvSpPr>
        <p:spPr>
          <a:xfrm>
            <a:off x="395288" y="1989138"/>
            <a:ext cx="8132762" cy="4114800"/>
          </a:xfrm>
        </p:spPr>
        <p:txBody>
          <a:bodyPr/>
          <a:lstStyle/>
          <a:p>
            <a:pPr eaLnBrk="1" hangingPunct="1"/>
            <a:r>
              <a:rPr lang="zh-CN" altLang="en-US"/>
              <a:t>选择索引存取方法的一般规则</a:t>
            </a:r>
            <a:endParaRPr lang="zh-CN" altLang="en-US" sz="2800"/>
          </a:p>
          <a:p>
            <a:pPr lvl="1" eaLnBrk="1" hangingPunct="1"/>
            <a:r>
              <a:rPr lang="zh-CN" altLang="en-US"/>
              <a:t>如果一个</a:t>
            </a:r>
            <a:r>
              <a:rPr lang="en-US" altLang="zh-CN"/>
              <a:t>(</a:t>
            </a:r>
            <a:r>
              <a:rPr lang="zh-CN" altLang="en-US"/>
              <a:t>或一组</a:t>
            </a:r>
            <a:r>
              <a:rPr lang="en-US" altLang="zh-CN"/>
              <a:t>)</a:t>
            </a:r>
            <a:r>
              <a:rPr lang="zh-CN" altLang="en-US"/>
              <a:t>属性经常在查询条件中出现，则考虑在这个</a:t>
            </a:r>
            <a:r>
              <a:rPr lang="en-US" altLang="zh-CN"/>
              <a:t>(</a:t>
            </a:r>
            <a:r>
              <a:rPr lang="zh-CN" altLang="en-US"/>
              <a:t>或这组</a:t>
            </a:r>
            <a:r>
              <a:rPr lang="en-US" altLang="zh-CN"/>
              <a:t>)</a:t>
            </a:r>
            <a:r>
              <a:rPr lang="zh-CN" altLang="en-US"/>
              <a:t>属性上建立索引</a:t>
            </a:r>
            <a:r>
              <a:rPr lang="en-US" altLang="zh-CN"/>
              <a:t>(</a:t>
            </a:r>
            <a:r>
              <a:rPr lang="zh-CN" altLang="en-US"/>
              <a:t>或组合索引</a:t>
            </a:r>
            <a:r>
              <a:rPr lang="en-US" altLang="zh-CN"/>
              <a:t>)</a:t>
            </a:r>
          </a:p>
          <a:p>
            <a:pPr lvl="1" eaLnBrk="1" hangingPunct="1"/>
            <a:r>
              <a:rPr lang="zh-CN" altLang="en-US"/>
              <a:t>如果一个属性经常作为最大值和最小值等聚集函数的参数，则考虑在这个属性上建立索引</a:t>
            </a:r>
          </a:p>
          <a:p>
            <a:pPr lvl="1" eaLnBrk="1" hangingPunct="1"/>
            <a:r>
              <a:rPr lang="zh-CN" altLang="en-US"/>
              <a:t>如果一个</a:t>
            </a:r>
            <a:r>
              <a:rPr lang="en-US" altLang="zh-CN"/>
              <a:t>(</a:t>
            </a:r>
            <a:r>
              <a:rPr lang="zh-CN" altLang="en-US"/>
              <a:t>或一组</a:t>
            </a:r>
            <a:r>
              <a:rPr lang="en-US" altLang="zh-CN"/>
              <a:t>)</a:t>
            </a:r>
            <a:r>
              <a:rPr lang="zh-CN" altLang="en-US"/>
              <a:t>属性经常在连接操作的连接条件中出现，则考虑在这个</a:t>
            </a:r>
            <a:r>
              <a:rPr lang="en-US" altLang="zh-CN"/>
              <a:t>(</a:t>
            </a:r>
            <a:r>
              <a:rPr lang="zh-CN" altLang="en-US"/>
              <a:t>或这组</a:t>
            </a:r>
            <a:r>
              <a:rPr lang="en-US" altLang="zh-CN"/>
              <a:t>)</a:t>
            </a:r>
            <a:r>
              <a:rPr lang="zh-CN" altLang="en-US"/>
              <a:t>属性上建立索引</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3796">
                                            <p:txEl>
                                              <p:pRg st="1" end="1"/>
                                            </p:txEl>
                                          </p:spTgt>
                                        </p:tgtEl>
                                        <p:attrNameLst>
                                          <p:attrName>style.visibility</p:attrName>
                                        </p:attrNameLst>
                                      </p:cBhvr>
                                      <p:to>
                                        <p:strVal val="visible"/>
                                      </p:to>
                                    </p:set>
                                    <p:animEffect transition="in" filter="box(in)">
                                      <p:cBhvr>
                                        <p:cTn id="7" dur="500"/>
                                        <p:tgtEl>
                                          <p:spTgt spid="3379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3796">
                                            <p:txEl>
                                              <p:pRg st="2" end="2"/>
                                            </p:txEl>
                                          </p:spTgt>
                                        </p:tgtEl>
                                        <p:attrNameLst>
                                          <p:attrName>style.visibility</p:attrName>
                                        </p:attrNameLst>
                                      </p:cBhvr>
                                      <p:to>
                                        <p:strVal val="visible"/>
                                      </p:to>
                                    </p:set>
                                    <p:animEffect transition="in" filter="box(in)">
                                      <p:cBhvr>
                                        <p:cTn id="12" dur="500"/>
                                        <p:tgtEl>
                                          <p:spTgt spid="33796">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3796">
                                            <p:txEl>
                                              <p:pRg st="3" end="3"/>
                                            </p:txEl>
                                          </p:spTgt>
                                        </p:tgtEl>
                                        <p:attrNameLst>
                                          <p:attrName>style.visibility</p:attrName>
                                        </p:attrNameLst>
                                      </p:cBhvr>
                                      <p:to>
                                        <p:strVal val="visible"/>
                                      </p:to>
                                    </p:set>
                                    <p:animEffect transition="in" filter="box(in)">
                                      <p:cBhvr>
                                        <p:cTn id="17" dur="500"/>
                                        <p:tgtEl>
                                          <p:spTgt spid="3379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页脚占位符 4">
            <a:extLst>
              <a:ext uri="{FF2B5EF4-FFF2-40B4-BE49-F238E27FC236}">
                <a16:creationId xmlns:a16="http://schemas.microsoft.com/office/drawing/2014/main" id="{CF4A07E5-E91D-3E5D-2836-E0B8C3980D7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8131" name="Rectangle 2">
            <a:extLst>
              <a:ext uri="{FF2B5EF4-FFF2-40B4-BE49-F238E27FC236}">
                <a16:creationId xmlns:a16="http://schemas.microsoft.com/office/drawing/2014/main" id="{7754E174-0AEB-8329-BA9C-05AFA385E1F9}"/>
              </a:ext>
            </a:extLst>
          </p:cNvPr>
          <p:cNvSpPr>
            <a:spLocks noGrp="1" noChangeArrowheads="1"/>
          </p:cNvSpPr>
          <p:nvPr>
            <p:ph type="title"/>
          </p:nvPr>
        </p:nvSpPr>
        <p:spPr/>
        <p:txBody>
          <a:bodyPr/>
          <a:lstStyle/>
          <a:p>
            <a:pPr eaLnBrk="1" hangingPunct="1"/>
            <a:r>
              <a:rPr lang="zh-CN" altLang="en-US"/>
              <a:t>二、聚簇存取方法的选择</a:t>
            </a:r>
          </a:p>
        </p:txBody>
      </p:sp>
      <p:sp>
        <p:nvSpPr>
          <p:cNvPr id="48132" name="Rectangle 3">
            <a:extLst>
              <a:ext uri="{FF2B5EF4-FFF2-40B4-BE49-F238E27FC236}">
                <a16:creationId xmlns:a16="http://schemas.microsoft.com/office/drawing/2014/main" id="{B9843287-C327-A59C-1C19-F012A96F4500}"/>
              </a:ext>
            </a:extLst>
          </p:cNvPr>
          <p:cNvSpPr>
            <a:spLocks noGrp="1" noChangeArrowheads="1"/>
          </p:cNvSpPr>
          <p:nvPr>
            <p:ph type="body" idx="1"/>
          </p:nvPr>
        </p:nvSpPr>
        <p:spPr>
          <a:xfrm>
            <a:off x="539750" y="2017713"/>
            <a:ext cx="8415338" cy="4114800"/>
          </a:xfrm>
        </p:spPr>
        <p:txBody>
          <a:bodyPr/>
          <a:lstStyle/>
          <a:p>
            <a:pPr eaLnBrk="1" hangingPunct="1"/>
            <a:r>
              <a:rPr lang="zh-CN" altLang="en-US" sz="3600"/>
              <a:t>什么是聚簇</a:t>
            </a:r>
          </a:p>
          <a:p>
            <a:pPr lvl="1" eaLnBrk="1" hangingPunct="1">
              <a:lnSpc>
                <a:spcPct val="130000"/>
              </a:lnSpc>
              <a:spcBef>
                <a:spcPct val="30000"/>
              </a:spcBef>
            </a:pPr>
            <a:r>
              <a:rPr lang="zh-CN" altLang="en-US"/>
              <a:t>为了提高某个属性（或属性组）的查询速度，把这个或这些属性（称为聚簇码）上具有相同值的元组集中存放在</a:t>
            </a:r>
            <a:r>
              <a:rPr lang="zh-CN" altLang="en-US">
                <a:solidFill>
                  <a:srgbClr val="FF0000"/>
                </a:solidFill>
              </a:rPr>
              <a:t>连续</a:t>
            </a:r>
            <a:r>
              <a:rPr lang="zh-CN" altLang="en-US"/>
              <a:t>的物理块称为聚簇</a:t>
            </a:r>
          </a:p>
          <a:p>
            <a:pPr lvl="1" eaLnBrk="1" hangingPunct="1">
              <a:lnSpc>
                <a:spcPct val="130000"/>
              </a:lnSpc>
              <a:spcBef>
                <a:spcPct val="30000"/>
              </a:spcBef>
            </a:pPr>
            <a:r>
              <a:rPr lang="zh-CN" altLang="en-US"/>
              <a:t>许多关系型</a:t>
            </a:r>
            <a:r>
              <a:rPr lang="en-US" altLang="zh-CN"/>
              <a:t>DBMS</a:t>
            </a:r>
            <a:r>
              <a:rPr lang="zh-CN" altLang="en-US"/>
              <a:t>都提供了聚簇功能</a:t>
            </a:r>
          </a:p>
          <a:p>
            <a:pPr lvl="1" eaLnBrk="1" hangingPunct="1"/>
            <a:endParaRPr lang="en-US" altLang="zh-C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页脚占位符 4">
            <a:extLst>
              <a:ext uri="{FF2B5EF4-FFF2-40B4-BE49-F238E27FC236}">
                <a16:creationId xmlns:a16="http://schemas.microsoft.com/office/drawing/2014/main" id="{A4C25778-3F8F-1DEA-09CD-C6C201DF568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9155" name="Rectangle 2">
            <a:extLst>
              <a:ext uri="{FF2B5EF4-FFF2-40B4-BE49-F238E27FC236}">
                <a16:creationId xmlns:a16="http://schemas.microsoft.com/office/drawing/2014/main" id="{BE51A90D-9511-0B2D-629F-1597305F9C8A}"/>
              </a:ext>
            </a:extLst>
          </p:cNvPr>
          <p:cNvSpPr>
            <a:spLocks noGrp="1" noChangeArrowheads="1"/>
          </p:cNvSpPr>
          <p:nvPr>
            <p:ph type="title"/>
          </p:nvPr>
        </p:nvSpPr>
        <p:spPr/>
        <p:txBody>
          <a:bodyPr/>
          <a:lstStyle/>
          <a:p>
            <a:pPr eaLnBrk="1" hangingPunct="1"/>
            <a:r>
              <a:rPr lang="zh-CN" altLang="en-US"/>
              <a:t>建立聚簇索引 （复习）</a:t>
            </a:r>
          </a:p>
        </p:txBody>
      </p:sp>
      <p:sp>
        <p:nvSpPr>
          <p:cNvPr id="35844" name="Rectangle 3">
            <a:extLst>
              <a:ext uri="{FF2B5EF4-FFF2-40B4-BE49-F238E27FC236}">
                <a16:creationId xmlns:a16="http://schemas.microsoft.com/office/drawing/2014/main" id="{508FAEE0-B056-63D7-1832-334BD5706CFD}"/>
              </a:ext>
            </a:extLst>
          </p:cNvPr>
          <p:cNvSpPr>
            <a:spLocks noGrp="1" noChangeArrowheads="1"/>
          </p:cNvSpPr>
          <p:nvPr>
            <p:ph type="body" idx="1"/>
          </p:nvPr>
        </p:nvSpPr>
        <p:spPr>
          <a:xfrm>
            <a:off x="395288" y="1916113"/>
            <a:ext cx="8424862" cy="4114800"/>
          </a:xfrm>
        </p:spPr>
        <p:txBody>
          <a:bodyPr/>
          <a:lstStyle/>
          <a:p>
            <a:pPr algn="just" eaLnBrk="1" hangingPunct="1">
              <a:lnSpc>
                <a:spcPct val="90000"/>
              </a:lnSpc>
            </a:pPr>
            <a:r>
              <a:rPr lang="zh-CN" altLang="en-US"/>
              <a:t>聚簇索引</a:t>
            </a:r>
            <a:endParaRPr lang="zh-CN" altLang="en-US" sz="2800"/>
          </a:p>
          <a:p>
            <a:pPr lvl="1" algn="just" eaLnBrk="1" fontAlgn="ctr" hangingPunct="1"/>
            <a:r>
              <a:rPr lang="zh-CN" altLang="en-US"/>
              <a:t>建立聚簇索引后，表中数据需要按指定的聚簇属性值的升序或降序存放。也即聚簇索引的索引项顺序与表中元组的物理顺序一致。</a:t>
            </a:r>
          </a:p>
          <a:p>
            <a:pPr lvl="1" algn="just" eaLnBrk="1" hangingPunct="1">
              <a:spcBef>
                <a:spcPct val="80000"/>
              </a:spcBef>
              <a:buFont typeface="Wingdings" panose="05000000000000000000" pitchFamily="2" charset="2"/>
              <a:buNone/>
            </a:pPr>
            <a:r>
              <a:rPr lang="zh-CN" altLang="en-US" sz="2400"/>
              <a:t>例：</a:t>
            </a:r>
          </a:p>
          <a:p>
            <a:pPr lvl="1" algn="just" eaLnBrk="1" hangingPunct="1">
              <a:buFont typeface="Wingdings" panose="05000000000000000000" pitchFamily="2" charset="2"/>
              <a:buNone/>
            </a:pPr>
            <a:r>
              <a:rPr lang="en-US" altLang="zh-CN" sz="2000"/>
              <a:t>CREATE CLUSTER INDEX Stusname ON Student(Sname)</a:t>
            </a:r>
            <a:r>
              <a:rPr lang="zh-CN" altLang="en-US" sz="2000"/>
              <a:t>；</a:t>
            </a:r>
            <a:endParaRPr lang="zh-CN" altLang="en-US" sz="2400"/>
          </a:p>
          <a:p>
            <a:pPr lvl="1" algn="just" eaLnBrk="1" hangingPunct="1">
              <a:buFont typeface="Wingdings" panose="05000000000000000000" pitchFamily="2" charset="2"/>
              <a:buNone/>
            </a:pPr>
            <a:r>
              <a:rPr lang="zh-CN" altLang="en-US"/>
              <a:t>  在</a:t>
            </a:r>
            <a:r>
              <a:rPr lang="en-US" altLang="zh-CN"/>
              <a:t>Student</a:t>
            </a:r>
            <a:r>
              <a:rPr lang="zh-CN" altLang="en-US"/>
              <a:t>表的</a:t>
            </a:r>
            <a:r>
              <a:rPr lang="en-US" altLang="zh-CN"/>
              <a:t>Sname</a:t>
            </a:r>
            <a:r>
              <a:rPr lang="zh-CN" altLang="en-US"/>
              <a:t>（姓名）列上建立一个聚簇索引</a:t>
            </a:r>
            <a:r>
              <a:rPr lang="zh-CN" altLang="en-US" sz="2400"/>
              <a:t>，而且</a:t>
            </a:r>
            <a:r>
              <a:rPr lang="en-US" altLang="zh-CN" sz="2400"/>
              <a:t>Student</a:t>
            </a:r>
            <a:r>
              <a:rPr lang="zh-CN" altLang="en-US" sz="2400"/>
              <a:t>表中的记录将按照</a:t>
            </a:r>
            <a:r>
              <a:rPr lang="en-US" altLang="zh-CN" sz="2000"/>
              <a:t>Sname</a:t>
            </a:r>
            <a:r>
              <a:rPr lang="zh-CN" altLang="en-US" sz="2400"/>
              <a:t>值的升序存放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844">
                                            <p:txEl>
                                              <p:pRg st="2" end="2"/>
                                            </p:txEl>
                                          </p:spTgt>
                                        </p:tgtEl>
                                        <p:attrNameLst>
                                          <p:attrName>style.visibility</p:attrName>
                                        </p:attrNameLst>
                                      </p:cBhvr>
                                      <p:to>
                                        <p:strVal val="visible"/>
                                      </p:to>
                                    </p:set>
                                    <p:animEffect transition="in" filter="box(in)">
                                      <p:cBhvr>
                                        <p:cTn id="7" dur="500"/>
                                        <p:tgtEl>
                                          <p:spTgt spid="35844">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5844">
                                            <p:txEl>
                                              <p:pRg st="3" end="3"/>
                                            </p:txEl>
                                          </p:spTgt>
                                        </p:tgtEl>
                                        <p:attrNameLst>
                                          <p:attrName>style.visibility</p:attrName>
                                        </p:attrNameLst>
                                      </p:cBhvr>
                                      <p:to>
                                        <p:strVal val="visible"/>
                                      </p:to>
                                    </p:set>
                                    <p:animEffect transition="in" filter="box(in)">
                                      <p:cBhvr>
                                        <p:cTn id="10" dur="500"/>
                                        <p:tgtEl>
                                          <p:spTgt spid="35844">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5844">
                                            <p:txEl>
                                              <p:pRg st="4" end="4"/>
                                            </p:txEl>
                                          </p:spTgt>
                                        </p:tgtEl>
                                        <p:attrNameLst>
                                          <p:attrName>style.visibility</p:attrName>
                                        </p:attrNameLst>
                                      </p:cBhvr>
                                      <p:to>
                                        <p:strVal val="visible"/>
                                      </p:to>
                                    </p:set>
                                    <p:animEffect transition="in" filter="box(in)">
                                      <p:cBhvr>
                                        <p:cTn id="13" dur="500"/>
                                        <p:tgtEl>
                                          <p:spTgt spid="3584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页脚占位符 4">
            <a:extLst>
              <a:ext uri="{FF2B5EF4-FFF2-40B4-BE49-F238E27FC236}">
                <a16:creationId xmlns:a16="http://schemas.microsoft.com/office/drawing/2014/main" id="{B57DEA22-F2D1-6E85-603A-F358D6B916E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50179" name="Rectangle 2">
            <a:extLst>
              <a:ext uri="{FF2B5EF4-FFF2-40B4-BE49-F238E27FC236}">
                <a16:creationId xmlns:a16="http://schemas.microsoft.com/office/drawing/2014/main" id="{9F802164-613E-766C-8BED-AA4896C0E781}"/>
              </a:ext>
            </a:extLst>
          </p:cNvPr>
          <p:cNvSpPr>
            <a:spLocks noGrp="1" noChangeArrowheads="1"/>
          </p:cNvSpPr>
          <p:nvPr>
            <p:ph type="title"/>
          </p:nvPr>
        </p:nvSpPr>
        <p:spPr/>
        <p:txBody>
          <a:bodyPr/>
          <a:lstStyle/>
          <a:p>
            <a:pPr eaLnBrk="1" hangingPunct="1"/>
            <a:r>
              <a:rPr lang="zh-CN" altLang="en-US"/>
              <a:t>建立聚簇索引 （复习）</a:t>
            </a:r>
          </a:p>
        </p:txBody>
      </p:sp>
      <p:sp>
        <p:nvSpPr>
          <p:cNvPr id="50180" name="Rectangle 3">
            <a:extLst>
              <a:ext uri="{FF2B5EF4-FFF2-40B4-BE49-F238E27FC236}">
                <a16:creationId xmlns:a16="http://schemas.microsoft.com/office/drawing/2014/main" id="{95FE1260-64A0-4335-BF31-2791AEE3FF5C}"/>
              </a:ext>
            </a:extLst>
          </p:cNvPr>
          <p:cNvSpPr>
            <a:spLocks noGrp="1" noChangeArrowheads="1"/>
          </p:cNvSpPr>
          <p:nvPr>
            <p:ph type="body" idx="1"/>
          </p:nvPr>
        </p:nvSpPr>
        <p:spPr>
          <a:xfrm>
            <a:off x="539750" y="2017713"/>
            <a:ext cx="8415338" cy="4114800"/>
          </a:xfrm>
        </p:spPr>
        <p:txBody>
          <a:bodyPr/>
          <a:lstStyle/>
          <a:p>
            <a:pPr lvl="1" eaLnBrk="1" hangingPunct="1"/>
            <a:r>
              <a:rPr lang="zh-CN" altLang="en-US"/>
              <a:t>在一个基本表上最多只能建立一个聚簇索引</a:t>
            </a:r>
          </a:p>
          <a:p>
            <a:pPr lvl="1" eaLnBrk="1" hangingPunct="1"/>
            <a:r>
              <a:rPr lang="zh-CN" altLang="en-US"/>
              <a:t>聚簇索引的用途：对于某些类型的查询，可以提高查询效率</a:t>
            </a:r>
          </a:p>
          <a:p>
            <a:pPr lvl="1" eaLnBrk="1" hangingPunct="1"/>
            <a:r>
              <a:rPr lang="zh-CN" altLang="en-US"/>
              <a:t>聚簇索引的适用范围</a:t>
            </a:r>
          </a:p>
          <a:p>
            <a:pPr lvl="2" eaLnBrk="1" hangingPunct="1"/>
            <a:r>
              <a:rPr lang="zh-CN" altLang="en-US"/>
              <a:t> </a:t>
            </a:r>
            <a:r>
              <a:rPr lang="zh-CN" altLang="en-US" sz="2800"/>
              <a:t>很少对基本表进行增删操作</a:t>
            </a:r>
          </a:p>
          <a:p>
            <a:pPr lvl="2" eaLnBrk="1" hangingPunct="1"/>
            <a:r>
              <a:rPr lang="zh-CN" altLang="en-US" sz="2800"/>
              <a:t> 很少对其中的变长列进行修改操作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页脚占位符 4">
            <a:extLst>
              <a:ext uri="{FF2B5EF4-FFF2-40B4-BE49-F238E27FC236}">
                <a16:creationId xmlns:a16="http://schemas.microsoft.com/office/drawing/2014/main" id="{5537C1C8-44DF-09B1-D0F6-5E3D670A242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51203" name="Rectangle 2">
            <a:extLst>
              <a:ext uri="{FF2B5EF4-FFF2-40B4-BE49-F238E27FC236}">
                <a16:creationId xmlns:a16="http://schemas.microsoft.com/office/drawing/2014/main" id="{3BB60516-CAEC-09B2-823D-AE8FDF718BB0}"/>
              </a:ext>
            </a:extLst>
          </p:cNvPr>
          <p:cNvSpPr>
            <a:spLocks noGrp="1" noChangeArrowheads="1"/>
          </p:cNvSpPr>
          <p:nvPr>
            <p:ph type="title"/>
          </p:nvPr>
        </p:nvSpPr>
        <p:spPr/>
        <p:txBody>
          <a:bodyPr/>
          <a:lstStyle/>
          <a:p>
            <a:pPr eaLnBrk="1" hangingPunct="1"/>
            <a:r>
              <a:rPr lang="zh-CN" altLang="en-US"/>
              <a:t>聚簇存取方法的选择（续）</a:t>
            </a:r>
          </a:p>
        </p:txBody>
      </p:sp>
      <p:sp>
        <p:nvSpPr>
          <p:cNvPr id="37892" name="Rectangle 3">
            <a:extLst>
              <a:ext uri="{FF2B5EF4-FFF2-40B4-BE49-F238E27FC236}">
                <a16:creationId xmlns:a16="http://schemas.microsoft.com/office/drawing/2014/main" id="{303250E6-4F87-196F-12B8-8F509E8A41F1}"/>
              </a:ext>
            </a:extLst>
          </p:cNvPr>
          <p:cNvSpPr>
            <a:spLocks noGrp="1" noChangeArrowheads="1"/>
          </p:cNvSpPr>
          <p:nvPr>
            <p:ph type="body" idx="1"/>
          </p:nvPr>
        </p:nvSpPr>
        <p:spPr>
          <a:xfrm>
            <a:off x="323850" y="1989138"/>
            <a:ext cx="8569325" cy="4114800"/>
          </a:xfrm>
        </p:spPr>
        <p:txBody>
          <a:bodyPr/>
          <a:lstStyle/>
          <a:p>
            <a:pPr eaLnBrk="1" hangingPunct="1"/>
            <a:r>
              <a:rPr lang="zh-CN" altLang="en-US" sz="3600"/>
              <a:t>聚簇的用途</a:t>
            </a:r>
          </a:p>
          <a:p>
            <a:pPr lvl="1" eaLnBrk="1" hangingPunct="1"/>
            <a:r>
              <a:rPr lang="en-US" altLang="zh-CN"/>
              <a:t>1. </a:t>
            </a:r>
            <a:r>
              <a:rPr lang="zh-CN" altLang="en-US"/>
              <a:t>大大提高按聚簇属性进行查询的效率</a:t>
            </a:r>
          </a:p>
          <a:p>
            <a:pPr lvl="1" eaLnBrk="1" hangingPunct="1">
              <a:buFont typeface="Wingdings" panose="05000000000000000000" pitchFamily="2" charset="2"/>
              <a:buNone/>
            </a:pPr>
            <a:r>
              <a:rPr lang="zh-CN" altLang="en-US"/>
              <a:t>例：假设学生关系按</a:t>
            </a:r>
            <a:r>
              <a:rPr lang="zh-CN" altLang="en-US">
                <a:solidFill>
                  <a:srgbClr val="FF0000"/>
                </a:solidFill>
              </a:rPr>
              <a:t>所在系</a:t>
            </a:r>
            <a:r>
              <a:rPr lang="zh-CN" altLang="en-US"/>
              <a:t>建有索引，现在要查询信息系的所有学生名单。</a:t>
            </a:r>
          </a:p>
          <a:p>
            <a:pPr lvl="2" eaLnBrk="1" hangingPunct="1"/>
            <a:r>
              <a:rPr lang="zh-CN" altLang="en-US" sz="2800"/>
              <a:t>信息系的</a:t>
            </a:r>
            <a:r>
              <a:rPr lang="en-US" altLang="zh-CN" sz="2800"/>
              <a:t>500</a:t>
            </a:r>
            <a:r>
              <a:rPr lang="zh-CN" altLang="en-US" sz="2800"/>
              <a:t>名学生分布在</a:t>
            </a:r>
            <a:r>
              <a:rPr lang="en-US" altLang="zh-CN" sz="2800"/>
              <a:t>500</a:t>
            </a:r>
            <a:r>
              <a:rPr lang="zh-CN" altLang="en-US" sz="2800"/>
              <a:t>个不同的物理块上时，至少要执行</a:t>
            </a:r>
            <a:r>
              <a:rPr lang="en-US" altLang="zh-CN" sz="2800"/>
              <a:t>500</a:t>
            </a:r>
            <a:r>
              <a:rPr lang="zh-CN" altLang="en-US" sz="2800"/>
              <a:t>次</a:t>
            </a:r>
            <a:r>
              <a:rPr lang="en-US" altLang="zh-CN" sz="2800"/>
              <a:t>I/O</a:t>
            </a:r>
            <a:r>
              <a:rPr lang="zh-CN" altLang="en-US" sz="2800"/>
              <a:t>操作。</a:t>
            </a:r>
          </a:p>
          <a:p>
            <a:pPr lvl="2" eaLnBrk="1" hangingPunct="1"/>
            <a:r>
              <a:rPr lang="zh-CN" altLang="en-US" sz="2800"/>
              <a:t>如果将同一系的学生元组集中存放，则每读一个物理块可得到多个满足查询条件的元组，从而显著地减少了访问磁盘的次数。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892">
                                            <p:txEl>
                                              <p:pRg st="2" end="2"/>
                                            </p:txEl>
                                          </p:spTgt>
                                        </p:tgtEl>
                                        <p:attrNameLst>
                                          <p:attrName>style.visibility</p:attrName>
                                        </p:attrNameLst>
                                      </p:cBhvr>
                                      <p:to>
                                        <p:strVal val="visible"/>
                                      </p:to>
                                    </p:set>
                                    <p:animEffect transition="in" filter="box(in)">
                                      <p:cBhvr>
                                        <p:cTn id="7" dur="500"/>
                                        <p:tgtEl>
                                          <p:spTgt spid="37892">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7892">
                                            <p:txEl>
                                              <p:pRg st="3" end="3"/>
                                            </p:txEl>
                                          </p:spTgt>
                                        </p:tgtEl>
                                        <p:attrNameLst>
                                          <p:attrName>style.visibility</p:attrName>
                                        </p:attrNameLst>
                                      </p:cBhvr>
                                      <p:to>
                                        <p:strVal val="visible"/>
                                      </p:to>
                                    </p:set>
                                    <p:animEffect transition="in" filter="box(in)">
                                      <p:cBhvr>
                                        <p:cTn id="10" dur="500"/>
                                        <p:tgtEl>
                                          <p:spTgt spid="37892">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37892">
                                            <p:txEl>
                                              <p:pRg st="4" end="4"/>
                                            </p:txEl>
                                          </p:spTgt>
                                        </p:tgtEl>
                                        <p:attrNameLst>
                                          <p:attrName>style.visibility</p:attrName>
                                        </p:attrNameLst>
                                      </p:cBhvr>
                                      <p:to>
                                        <p:strVal val="visible"/>
                                      </p:to>
                                    </p:set>
                                    <p:animEffect transition="in" filter="box(in)">
                                      <p:cBhvr>
                                        <p:cTn id="15" dur="500"/>
                                        <p:tgtEl>
                                          <p:spTgt spid="3789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页脚占位符 4">
            <a:extLst>
              <a:ext uri="{FF2B5EF4-FFF2-40B4-BE49-F238E27FC236}">
                <a16:creationId xmlns:a16="http://schemas.microsoft.com/office/drawing/2014/main" id="{C715FE30-F5EA-AEB7-7FED-9167EBA44C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52227" name="Rectangle 2">
            <a:extLst>
              <a:ext uri="{FF2B5EF4-FFF2-40B4-BE49-F238E27FC236}">
                <a16:creationId xmlns:a16="http://schemas.microsoft.com/office/drawing/2014/main" id="{EC45F67A-0B8C-0063-C307-3CEED87FC535}"/>
              </a:ext>
            </a:extLst>
          </p:cNvPr>
          <p:cNvSpPr>
            <a:spLocks noGrp="1" noChangeArrowheads="1"/>
          </p:cNvSpPr>
          <p:nvPr>
            <p:ph type="title"/>
          </p:nvPr>
        </p:nvSpPr>
        <p:spPr/>
        <p:txBody>
          <a:bodyPr/>
          <a:lstStyle/>
          <a:p>
            <a:pPr eaLnBrk="1" hangingPunct="1"/>
            <a:r>
              <a:rPr lang="zh-CN" altLang="en-US"/>
              <a:t>聚簇存取方法的选择（续）</a:t>
            </a:r>
          </a:p>
        </p:txBody>
      </p:sp>
      <p:sp>
        <p:nvSpPr>
          <p:cNvPr id="52228" name="Rectangle 3">
            <a:extLst>
              <a:ext uri="{FF2B5EF4-FFF2-40B4-BE49-F238E27FC236}">
                <a16:creationId xmlns:a16="http://schemas.microsoft.com/office/drawing/2014/main" id="{705C0EB9-9870-B199-FE81-3BEECE7A47EF}"/>
              </a:ext>
            </a:extLst>
          </p:cNvPr>
          <p:cNvSpPr>
            <a:spLocks noGrp="1" noChangeArrowheads="1"/>
          </p:cNvSpPr>
          <p:nvPr>
            <p:ph type="body" idx="1"/>
          </p:nvPr>
        </p:nvSpPr>
        <p:spPr>
          <a:xfrm>
            <a:off x="323850" y="1989138"/>
            <a:ext cx="8204200" cy="4114800"/>
          </a:xfrm>
        </p:spPr>
        <p:txBody>
          <a:bodyPr/>
          <a:lstStyle/>
          <a:p>
            <a:pPr lvl="1" eaLnBrk="1" hangingPunct="1"/>
            <a:r>
              <a:rPr lang="en-US" altLang="zh-CN"/>
              <a:t>2. </a:t>
            </a:r>
            <a:r>
              <a:rPr lang="zh-CN" altLang="en-US"/>
              <a:t>节省存储空间</a:t>
            </a:r>
          </a:p>
          <a:p>
            <a:pPr lvl="2" eaLnBrk="1" hangingPunct="1">
              <a:lnSpc>
                <a:spcPct val="140000"/>
              </a:lnSpc>
            </a:pPr>
            <a:r>
              <a:rPr lang="zh-CN" altLang="en-US" sz="2800"/>
              <a:t>聚簇以后，聚簇码相同的元组集中在一起了，因而聚簇码值不必在每个元组中重复存储，只要在一组中存一次就行了</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页脚占位符 4">
            <a:extLst>
              <a:ext uri="{FF2B5EF4-FFF2-40B4-BE49-F238E27FC236}">
                <a16:creationId xmlns:a16="http://schemas.microsoft.com/office/drawing/2014/main" id="{39CB5869-8A51-89ED-7D1B-083F4D1EA4F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53251" name="Rectangle 2">
            <a:extLst>
              <a:ext uri="{FF2B5EF4-FFF2-40B4-BE49-F238E27FC236}">
                <a16:creationId xmlns:a16="http://schemas.microsoft.com/office/drawing/2014/main" id="{B5F622B3-B54E-1962-47F7-1FF449BE821F}"/>
              </a:ext>
            </a:extLst>
          </p:cNvPr>
          <p:cNvSpPr>
            <a:spLocks noGrp="1" noChangeArrowheads="1"/>
          </p:cNvSpPr>
          <p:nvPr>
            <p:ph type="title"/>
          </p:nvPr>
        </p:nvSpPr>
        <p:spPr/>
        <p:txBody>
          <a:bodyPr/>
          <a:lstStyle/>
          <a:p>
            <a:pPr eaLnBrk="1" hangingPunct="1"/>
            <a:r>
              <a:rPr lang="zh-CN" altLang="en-US"/>
              <a:t>聚簇存取方法的选择（续）</a:t>
            </a:r>
          </a:p>
        </p:txBody>
      </p:sp>
      <p:sp>
        <p:nvSpPr>
          <p:cNvPr id="39940" name="Rectangle 3">
            <a:extLst>
              <a:ext uri="{FF2B5EF4-FFF2-40B4-BE49-F238E27FC236}">
                <a16:creationId xmlns:a16="http://schemas.microsoft.com/office/drawing/2014/main" id="{8EF6E5E2-6670-D1AE-6640-87671290C199}"/>
              </a:ext>
            </a:extLst>
          </p:cNvPr>
          <p:cNvSpPr>
            <a:spLocks noGrp="1" noChangeArrowheads="1"/>
          </p:cNvSpPr>
          <p:nvPr>
            <p:ph type="body" idx="1"/>
          </p:nvPr>
        </p:nvSpPr>
        <p:spPr>
          <a:xfrm>
            <a:off x="323850" y="2017713"/>
            <a:ext cx="8631238" cy="4114800"/>
          </a:xfrm>
        </p:spPr>
        <p:txBody>
          <a:bodyPr/>
          <a:lstStyle/>
          <a:p>
            <a:pPr eaLnBrk="1" hangingPunct="1"/>
            <a:r>
              <a:rPr lang="zh-CN" altLang="en-US" sz="3600"/>
              <a:t>聚簇的局限性</a:t>
            </a:r>
          </a:p>
          <a:p>
            <a:pPr lvl="1" eaLnBrk="1" hangingPunct="1"/>
            <a:r>
              <a:rPr lang="en-US" altLang="zh-CN"/>
              <a:t>1. </a:t>
            </a:r>
            <a:r>
              <a:rPr lang="zh-CN" altLang="en-US"/>
              <a:t>聚簇只能提高某些特定应用的性能</a:t>
            </a:r>
          </a:p>
          <a:p>
            <a:pPr lvl="1" eaLnBrk="1" hangingPunct="1"/>
            <a:r>
              <a:rPr lang="en-US" altLang="zh-CN"/>
              <a:t>2. </a:t>
            </a:r>
            <a:r>
              <a:rPr lang="zh-CN" altLang="en-US"/>
              <a:t>建立与维护聚簇的开销相当大</a:t>
            </a:r>
          </a:p>
          <a:p>
            <a:pPr lvl="2" eaLnBrk="1" hangingPunct="1"/>
            <a:r>
              <a:rPr lang="zh-CN" altLang="en-US" sz="2800"/>
              <a:t>对已有关系建立聚簇，将导致关系中元组移动其物理存储位置，并使此关系上原有的索引无效，必须重建。</a:t>
            </a:r>
          </a:p>
          <a:p>
            <a:pPr lvl="2" eaLnBrk="1" hangingPunct="1"/>
            <a:r>
              <a:rPr lang="zh-CN" altLang="en-US" sz="2800"/>
              <a:t>当一个元组的聚簇码改变时，该元组的存储位置也要做相应移动。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940">
                                            <p:txEl>
                                              <p:pRg st="2" end="2"/>
                                            </p:txEl>
                                          </p:spTgt>
                                        </p:tgtEl>
                                        <p:attrNameLst>
                                          <p:attrName>style.visibility</p:attrName>
                                        </p:attrNameLst>
                                      </p:cBhvr>
                                      <p:to>
                                        <p:strVal val="visible"/>
                                      </p:to>
                                    </p:set>
                                    <p:animEffect transition="in" filter="box(in)">
                                      <p:cBhvr>
                                        <p:cTn id="7" dur="500"/>
                                        <p:tgtEl>
                                          <p:spTgt spid="39940">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9940">
                                            <p:txEl>
                                              <p:pRg st="3" end="3"/>
                                            </p:txEl>
                                          </p:spTgt>
                                        </p:tgtEl>
                                        <p:attrNameLst>
                                          <p:attrName>style.visibility</p:attrName>
                                        </p:attrNameLst>
                                      </p:cBhvr>
                                      <p:to>
                                        <p:strVal val="visible"/>
                                      </p:to>
                                    </p:set>
                                    <p:animEffect transition="in" filter="box(in)">
                                      <p:cBhvr>
                                        <p:cTn id="10" dur="500"/>
                                        <p:tgtEl>
                                          <p:spTgt spid="39940">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9940">
                                            <p:txEl>
                                              <p:pRg st="4" end="4"/>
                                            </p:txEl>
                                          </p:spTgt>
                                        </p:tgtEl>
                                        <p:attrNameLst>
                                          <p:attrName>style.visibility</p:attrName>
                                        </p:attrNameLst>
                                      </p:cBhvr>
                                      <p:to>
                                        <p:strVal val="visible"/>
                                      </p:to>
                                    </p:set>
                                    <p:animEffect transition="in" filter="box(in)">
                                      <p:cBhvr>
                                        <p:cTn id="13" dur="500"/>
                                        <p:tgtEl>
                                          <p:spTgt spid="3994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页脚占位符 4">
            <a:extLst>
              <a:ext uri="{FF2B5EF4-FFF2-40B4-BE49-F238E27FC236}">
                <a16:creationId xmlns:a16="http://schemas.microsoft.com/office/drawing/2014/main" id="{3DE7805D-6351-4488-9670-5CB105CF374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54275" name="Rectangle 2">
            <a:extLst>
              <a:ext uri="{FF2B5EF4-FFF2-40B4-BE49-F238E27FC236}">
                <a16:creationId xmlns:a16="http://schemas.microsoft.com/office/drawing/2014/main" id="{F5818709-EB8B-F307-0A88-E35100762730}"/>
              </a:ext>
            </a:extLst>
          </p:cNvPr>
          <p:cNvSpPr>
            <a:spLocks noGrp="1" noChangeArrowheads="1"/>
          </p:cNvSpPr>
          <p:nvPr>
            <p:ph type="title"/>
          </p:nvPr>
        </p:nvSpPr>
        <p:spPr/>
        <p:txBody>
          <a:bodyPr/>
          <a:lstStyle/>
          <a:p>
            <a:pPr eaLnBrk="1" hangingPunct="1"/>
            <a:r>
              <a:rPr lang="zh-CN" altLang="en-US"/>
              <a:t>三、</a:t>
            </a:r>
            <a:r>
              <a:rPr lang="en-US" altLang="zh-CN"/>
              <a:t>HASH</a:t>
            </a:r>
            <a:r>
              <a:rPr lang="zh-CN" altLang="en-US"/>
              <a:t>存取方法的选择</a:t>
            </a:r>
          </a:p>
        </p:txBody>
      </p:sp>
      <p:sp>
        <p:nvSpPr>
          <p:cNvPr id="40964" name="Rectangle 3">
            <a:extLst>
              <a:ext uri="{FF2B5EF4-FFF2-40B4-BE49-F238E27FC236}">
                <a16:creationId xmlns:a16="http://schemas.microsoft.com/office/drawing/2014/main" id="{0D279035-2E34-531C-2B3E-9D0BF5E37A48}"/>
              </a:ext>
            </a:extLst>
          </p:cNvPr>
          <p:cNvSpPr>
            <a:spLocks noGrp="1" noChangeArrowheads="1"/>
          </p:cNvSpPr>
          <p:nvPr>
            <p:ph type="body" idx="1"/>
          </p:nvPr>
        </p:nvSpPr>
        <p:spPr>
          <a:xfrm>
            <a:off x="250825" y="1916113"/>
            <a:ext cx="8497888" cy="4114800"/>
          </a:xfrm>
        </p:spPr>
        <p:txBody>
          <a:bodyPr/>
          <a:lstStyle/>
          <a:p>
            <a:pPr eaLnBrk="1" hangingPunct="1"/>
            <a:r>
              <a:rPr lang="zh-CN" altLang="en-US" sz="3600"/>
              <a:t>选择</a:t>
            </a:r>
            <a:r>
              <a:rPr lang="en-US" altLang="zh-CN" sz="3600"/>
              <a:t>HASH</a:t>
            </a:r>
            <a:r>
              <a:rPr lang="zh-CN" altLang="en-US" sz="3600"/>
              <a:t>存取方法的规则</a:t>
            </a:r>
          </a:p>
          <a:p>
            <a:pPr lvl="1" eaLnBrk="1" hangingPunct="1"/>
            <a:r>
              <a:rPr lang="zh-CN" altLang="en-US"/>
              <a:t>当一个关系满足下列两个条件时，可以选择</a:t>
            </a:r>
            <a:r>
              <a:rPr lang="en-US" altLang="zh-CN"/>
              <a:t>HASH</a:t>
            </a:r>
            <a:r>
              <a:rPr lang="zh-CN" altLang="en-US"/>
              <a:t>存取方法</a:t>
            </a:r>
          </a:p>
          <a:p>
            <a:pPr lvl="2" eaLnBrk="1" hangingPunct="1"/>
            <a:r>
              <a:rPr lang="zh-CN" altLang="en-US" sz="2800"/>
              <a:t>该关系的属性主要出现在</a:t>
            </a:r>
            <a:r>
              <a:rPr lang="zh-CN" altLang="en-US" sz="2800">
                <a:solidFill>
                  <a:schemeClr val="accent2"/>
                </a:solidFill>
              </a:rPr>
              <a:t>等值连接</a:t>
            </a:r>
            <a:r>
              <a:rPr lang="zh-CN" altLang="en-US" sz="2800"/>
              <a:t>条件中或主要出现在</a:t>
            </a:r>
            <a:r>
              <a:rPr lang="zh-CN" altLang="en-US" sz="2800">
                <a:solidFill>
                  <a:schemeClr val="accent2"/>
                </a:solidFill>
              </a:rPr>
              <a:t>相等比较</a:t>
            </a:r>
            <a:r>
              <a:rPr lang="zh-CN" altLang="en-US" sz="2800"/>
              <a:t>选择条件中</a:t>
            </a:r>
          </a:p>
          <a:p>
            <a:pPr lvl="2" eaLnBrk="1" hangingPunct="1"/>
            <a:r>
              <a:rPr lang="zh-CN" altLang="en-US" sz="2800"/>
              <a:t>该关系的大小可预知，而且不变； </a:t>
            </a:r>
          </a:p>
          <a:p>
            <a:pPr lvl="2" eaLnBrk="1" hangingPunct="1">
              <a:buFont typeface="Wingdings" panose="05000000000000000000" pitchFamily="2" charset="2"/>
              <a:buNone/>
            </a:pPr>
            <a:r>
              <a:rPr lang="zh-CN" altLang="en-US" sz="2800"/>
              <a:t>   或该关系的大小动态改变，但所选用的</a:t>
            </a:r>
            <a:r>
              <a:rPr lang="en-US" altLang="zh-CN" sz="2800"/>
              <a:t>DBMS</a:t>
            </a:r>
            <a:r>
              <a:rPr lang="zh-CN" altLang="en-US" sz="2800"/>
              <a:t>提供了动态</a:t>
            </a:r>
            <a:r>
              <a:rPr lang="en-US" altLang="zh-CN" sz="2800"/>
              <a:t>HASH</a:t>
            </a:r>
            <a:r>
              <a:rPr lang="zh-CN" altLang="en-US" sz="2800"/>
              <a:t>存取方法。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964">
                                            <p:txEl>
                                              <p:pRg st="2" end="2"/>
                                            </p:txEl>
                                          </p:spTgt>
                                        </p:tgtEl>
                                        <p:attrNameLst>
                                          <p:attrName>style.visibility</p:attrName>
                                        </p:attrNameLst>
                                      </p:cBhvr>
                                      <p:to>
                                        <p:strVal val="visible"/>
                                      </p:to>
                                    </p:set>
                                    <p:animEffect transition="in" filter="box(in)">
                                      <p:cBhvr>
                                        <p:cTn id="7" dur="500"/>
                                        <p:tgtEl>
                                          <p:spTgt spid="40964">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0964">
                                            <p:txEl>
                                              <p:pRg st="3" end="3"/>
                                            </p:txEl>
                                          </p:spTgt>
                                        </p:tgtEl>
                                        <p:attrNameLst>
                                          <p:attrName>style.visibility</p:attrName>
                                        </p:attrNameLst>
                                      </p:cBhvr>
                                      <p:to>
                                        <p:strVal val="visible"/>
                                      </p:to>
                                    </p:set>
                                    <p:animEffect transition="in" filter="box(in)">
                                      <p:cBhvr>
                                        <p:cTn id="10" dur="500"/>
                                        <p:tgtEl>
                                          <p:spTgt spid="40964">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40964">
                                            <p:txEl>
                                              <p:pRg st="4" end="4"/>
                                            </p:txEl>
                                          </p:spTgt>
                                        </p:tgtEl>
                                        <p:attrNameLst>
                                          <p:attrName>style.visibility</p:attrName>
                                        </p:attrNameLst>
                                      </p:cBhvr>
                                      <p:to>
                                        <p:strVal val="visible"/>
                                      </p:to>
                                    </p:set>
                                    <p:animEffect transition="in" filter="box(in)">
                                      <p:cBhvr>
                                        <p:cTn id="13" dur="500"/>
                                        <p:tgtEl>
                                          <p:spTgt spid="4096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1555F940-CEBD-704B-79D8-BEE8EBA95C44}"/>
              </a:ext>
            </a:extLst>
          </p:cNvPr>
          <p:cNvSpPr>
            <a:spLocks noGrp="1" noChangeArrowheads="1"/>
          </p:cNvSpPr>
          <p:nvPr>
            <p:ph type="title" idx="4294967295"/>
          </p:nvPr>
        </p:nvSpPr>
        <p:spPr/>
        <p:txBody>
          <a:bodyPr/>
          <a:lstStyle/>
          <a:p>
            <a:r>
              <a:rPr lang="en-US" altLang="zh-CN"/>
              <a:t>7.5  </a:t>
            </a:r>
            <a:r>
              <a:rPr lang="zh-CN" altLang="en-US"/>
              <a:t>数据库的物理设计</a:t>
            </a:r>
          </a:p>
        </p:txBody>
      </p:sp>
      <p:sp>
        <p:nvSpPr>
          <p:cNvPr id="55299" name="Rectangle 3">
            <a:extLst>
              <a:ext uri="{FF2B5EF4-FFF2-40B4-BE49-F238E27FC236}">
                <a16:creationId xmlns:a16="http://schemas.microsoft.com/office/drawing/2014/main" id="{4F5AF8B0-9480-1A2C-9213-C9CDAF10EBC2}"/>
              </a:ext>
            </a:extLst>
          </p:cNvPr>
          <p:cNvSpPr>
            <a:spLocks noGrp="1" noChangeArrowheads="1"/>
          </p:cNvSpPr>
          <p:nvPr>
            <p:ph idx="4294967295"/>
          </p:nvPr>
        </p:nvSpPr>
        <p:spPr>
          <a:xfrm>
            <a:off x="755650" y="1916113"/>
            <a:ext cx="7931150" cy="4278312"/>
          </a:xfrm>
        </p:spPr>
        <p:txBody>
          <a:bodyPr/>
          <a:lstStyle/>
          <a:p>
            <a:pPr marL="0" indent="0">
              <a:lnSpc>
                <a:spcPct val="150000"/>
              </a:lnSpc>
              <a:buFont typeface="Wingdings" panose="05000000000000000000" pitchFamily="2" charset="2"/>
              <a:buNone/>
            </a:pPr>
            <a:r>
              <a:rPr lang="en-US" altLang="zh-CN"/>
              <a:t>7.5.1  </a:t>
            </a:r>
            <a:r>
              <a:rPr lang="zh-CN" altLang="en-US"/>
              <a:t>数据库物理设计的内容和方法</a:t>
            </a:r>
          </a:p>
          <a:p>
            <a:pPr marL="0" indent="0">
              <a:lnSpc>
                <a:spcPct val="150000"/>
              </a:lnSpc>
              <a:buFont typeface="Wingdings" panose="05000000000000000000" pitchFamily="2" charset="2"/>
              <a:buNone/>
            </a:pPr>
            <a:r>
              <a:rPr lang="en-US" altLang="zh-CN"/>
              <a:t>7.5.2  </a:t>
            </a:r>
            <a:r>
              <a:rPr lang="zh-CN" altLang="en-US"/>
              <a:t>关系模式存取方法选择</a:t>
            </a:r>
          </a:p>
          <a:p>
            <a:pPr marL="0" indent="0">
              <a:lnSpc>
                <a:spcPct val="150000"/>
              </a:lnSpc>
              <a:buFont typeface="Wingdings" panose="05000000000000000000" pitchFamily="2" charset="2"/>
              <a:buNone/>
            </a:pPr>
            <a:r>
              <a:rPr lang="en-US" altLang="zh-CN">
                <a:solidFill>
                  <a:srgbClr val="FF0000"/>
                </a:solidFill>
              </a:rPr>
              <a:t>7.5.3  </a:t>
            </a:r>
            <a:r>
              <a:rPr lang="zh-CN" altLang="en-US">
                <a:solidFill>
                  <a:srgbClr val="FF0000"/>
                </a:solidFill>
              </a:rPr>
              <a:t>确定数据库的存储结构</a:t>
            </a:r>
          </a:p>
          <a:p>
            <a:pPr marL="0" indent="0">
              <a:lnSpc>
                <a:spcPct val="150000"/>
              </a:lnSpc>
              <a:buFont typeface="Wingdings" panose="05000000000000000000" pitchFamily="2" charset="2"/>
              <a:buNone/>
            </a:pPr>
            <a:r>
              <a:rPr lang="en-US" altLang="zh-CN"/>
              <a:t>7.5.4  </a:t>
            </a:r>
            <a:r>
              <a:rPr lang="zh-CN" altLang="en-US"/>
              <a:t>评价物理结构</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页脚占位符 4">
            <a:extLst>
              <a:ext uri="{FF2B5EF4-FFF2-40B4-BE49-F238E27FC236}">
                <a16:creationId xmlns:a16="http://schemas.microsoft.com/office/drawing/2014/main" id="{5428A666-169B-BEDE-199F-E1D72256B19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56323" name="Rectangle 2">
            <a:extLst>
              <a:ext uri="{FF2B5EF4-FFF2-40B4-BE49-F238E27FC236}">
                <a16:creationId xmlns:a16="http://schemas.microsoft.com/office/drawing/2014/main" id="{B006BEAA-691F-1D5F-3960-000CF577BA35}"/>
              </a:ext>
            </a:extLst>
          </p:cNvPr>
          <p:cNvSpPr>
            <a:spLocks noGrp="1" noChangeArrowheads="1"/>
          </p:cNvSpPr>
          <p:nvPr>
            <p:ph type="title"/>
          </p:nvPr>
        </p:nvSpPr>
        <p:spPr/>
        <p:txBody>
          <a:bodyPr/>
          <a:lstStyle/>
          <a:p>
            <a:pPr eaLnBrk="1" hangingPunct="1"/>
            <a:r>
              <a:rPr lang="en-US" altLang="zh-CN"/>
              <a:t>7.5.3  </a:t>
            </a:r>
            <a:r>
              <a:rPr lang="zh-CN" altLang="en-US"/>
              <a:t>确定数据库的存储结构</a:t>
            </a:r>
          </a:p>
        </p:txBody>
      </p:sp>
      <p:sp>
        <p:nvSpPr>
          <p:cNvPr id="56324" name="Rectangle 3">
            <a:extLst>
              <a:ext uri="{FF2B5EF4-FFF2-40B4-BE49-F238E27FC236}">
                <a16:creationId xmlns:a16="http://schemas.microsoft.com/office/drawing/2014/main" id="{3A79955D-CEA5-9409-2447-84F09D19D4EB}"/>
              </a:ext>
            </a:extLst>
          </p:cNvPr>
          <p:cNvSpPr>
            <a:spLocks noGrp="1" noChangeArrowheads="1"/>
          </p:cNvSpPr>
          <p:nvPr>
            <p:ph type="body" idx="1"/>
          </p:nvPr>
        </p:nvSpPr>
        <p:spPr>
          <a:xfrm>
            <a:off x="395288" y="2017713"/>
            <a:ext cx="8559800" cy="4114800"/>
          </a:xfrm>
        </p:spPr>
        <p:txBody>
          <a:bodyPr/>
          <a:lstStyle/>
          <a:p>
            <a:pPr eaLnBrk="1" hangingPunct="1"/>
            <a:r>
              <a:rPr lang="zh-CN" altLang="en-US" sz="3600"/>
              <a:t>确定数据库物理结构的内容</a:t>
            </a:r>
          </a:p>
          <a:p>
            <a:pPr lvl="1" eaLnBrk="1" hangingPunct="1"/>
            <a:r>
              <a:rPr lang="en-US" altLang="zh-CN"/>
              <a:t>1. </a:t>
            </a:r>
            <a:r>
              <a:rPr lang="zh-CN" altLang="en-US"/>
              <a:t>确定数据的存放位置和存储结构</a:t>
            </a:r>
          </a:p>
          <a:p>
            <a:pPr lvl="2" eaLnBrk="1" hangingPunct="1"/>
            <a:r>
              <a:rPr lang="zh-CN" altLang="en-US"/>
              <a:t> </a:t>
            </a:r>
            <a:r>
              <a:rPr lang="zh-CN" altLang="en-US" sz="2800"/>
              <a:t>关系</a:t>
            </a:r>
          </a:p>
          <a:p>
            <a:pPr lvl="2" eaLnBrk="1" hangingPunct="1"/>
            <a:r>
              <a:rPr lang="zh-CN" altLang="en-US" sz="2800"/>
              <a:t> 索引</a:t>
            </a:r>
          </a:p>
          <a:p>
            <a:pPr lvl="2" eaLnBrk="1" hangingPunct="1"/>
            <a:r>
              <a:rPr lang="zh-CN" altLang="en-US" sz="2800"/>
              <a:t> 聚簇</a:t>
            </a:r>
          </a:p>
          <a:p>
            <a:pPr lvl="2" eaLnBrk="1" hangingPunct="1"/>
            <a:r>
              <a:rPr lang="zh-CN" altLang="en-US" sz="2800"/>
              <a:t> 日志</a:t>
            </a:r>
          </a:p>
          <a:p>
            <a:pPr lvl="2" eaLnBrk="1" hangingPunct="1"/>
            <a:r>
              <a:rPr lang="zh-CN" altLang="en-US" sz="2800"/>
              <a:t> 备份</a:t>
            </a:r>
          </a:p>
          <a:p>
            <a:pPr lvl="1" eaLnBrk="1" hangingPunct="1"/>
            <a:r>
              <a:rPr lang="en-US" altLang="zh-CN"/>
              <a:t>2. </a:t>
            </a:r>
            <a:r>
              <a:rPr lang="zh-CN" altLang="en-US"/>
              <a:t>确定系统配置</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页脚占位符 4">
            <a:extLst>
              <a:ext uri="{FF2B5EF4-FFF2-40B4-BE49-F238E27FC236}">
                <a16:creationId xmlns:a16="http://schemas.microsoft.com/office/drawing/2014/main" id="{7256C664-F8A0-5B28-3C8C-F4B4F464F43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57347" name="Rectangle 2">
            <a:extLst>
              <a:ext uri="{FF2B5EF4-FFF2-40B4-BE49-F238E27FC236}">
                <a16:creationId xmlns:a16="http://schemas.microsoft.com/office/drawing/2014/main" id="{F9D7FEA3-8D25-9C18-569A-7A49501A4F72}"/>
              </a:ext>
            </a:extLst>
          </p:cNvPr>
          <p:cNvSpPr>
            <a:spLocks noGrp="1" noChangeArrowheads="1"/>
          </p:cNvSpPr>
          <p:nvPr>
            <p:ph type="title"/>
          </p:nvPr>
        </p:nvSpPr>
        <p:spPr/>
        <p:txBody>
          <a:bodyPr/>
          <a:lstStyle/>
          <a:p>
            <a:pPr eaLnBrk="1" hangingPunct="1"/>
            <a:r>
              <a:rPr lang="zh-CN" altLang="en-US"/>
              <a:t>确定数据的存放位置（续）</a:t>
            </a:r>
          </a:p>
        </p:txBody>
      </p:sp>
      <p:sp>
        <p:nvSpPr>
          <p:cNvPr id="57348" name="Rectangle 3">
            <a:extLst>
              <a:ext uri="{FF2B5EF4-FFF2-40B4-BE49-F238E27FC236}">
                <a16:creationId xmlns:a16="http://schemas.microsoft.com/office/drawing/2014/main" id="{9AEB41DA-8844-853C-8639-CA61544EE670}"/>
              </a:ext>
            </a:extLst>
          </p:cNvPr>
          <p:cNvSpPr>
            <a:spLocks noGrp="1" noChangeArrowheads="1"/>
          </p:cNvSpPr>
          <p:nvPr>
            <p:ph type="body" idx="1"/>
          </p:nvPr>
        </p:nvSpPr>
        <p:spPr>
          <a:xfrm>
            <a:off x="468313" y="2017713"/>
            <a:ext cx="8486775" cy="4114800"/>
          </a:xfrm>
        </p:spPr>
        <p:txBody>
          <a:bodyPr/>
          <a:lstStyle/>
          <a:p>
            <a:pPr eaLnBrk="1" hangingPunct="1"/>
            <a:r>
              <a:rPr lang="zh-CN" altLang="en-US" sz="3600"/>
              <a:t>基本原则</a:t>
            </a:r>
          </a:p>
          <a:p>
            <a:pPr lvl="1" eaLnBrk="1" hangingPunct="1"/>
            <a:r>
              <a:rPr lang="zh-CN" altLang="en-US"/>
              <a:t>根据应用情况将</a:t>
            </a:r>
          </a:p>
          <a:p>
            <a:pPr lvl="2" eaLnBrk="1" hangingPunct="1"/>
            <a:r>
              <a:rPr lang="zh-CN" altLang="en-US" sz="2800">
                <a:solidFill>
                  <a:schemeClr val="accent2"/>
                </a:solidFill>
              </a:rPr>
              <a:t>易变</a:t>
            </a:r>
            <a:r>
              <a:rPr lang="zh-CN" altLang="en-US" sz="2800"/>
              <a:t>部分与</a:t>
            </a:r>
            <a:r>
              <a:rPr lang="zh-CN" altLang="en-US" sz="2800">
                <a:solidFill>
                  <a:schemeClr val="accent2"/>
                </a:solidFill>
              </a:rPr>
              <a:t>稳定</a:t>
            </a:r>
            <a:r>
              <a:rPr lang="zh-CN" altLang="en-US" sz="2800"/>
              <a:t>部分</a:t>
            </a:r>
          </a:p>
          <a:p>
            <a:pPr lvl="2" eaLnBrk="1" hangingPunct="1"/>
            <a:r>
              <a:rPr lang="zh-CN" altLang="en-US" sz="2800">
                <a:solidFill>
                  <a:schemeClr val="accent2"/>
                </a:solidFill>
              </a:rPr>
              <a:t>存取频率较高</a:t>
            </a:r>
            <a:r>
              <a:rPr lang="zh-CN" altLang="en-US" sz="2800"/>
              <a:t>部分与</a:t>
            </a:r>
            <a:r>
              <a:rPr lang="zh-CN" altLang="en-US" sz="2800">
                <a:solidFill>
                  <a:schemeClr val="accent2"/>
                </a:solidFill>
              </a:rPr>
              <a:t>存取频率较低</a:t>
            </a:r>
            <a:r>
              <a:rPr lang="zh-CN" altLang="en-US" sz="2800"/>
              <a:t>部分</a:t>
            </a:r>
            <a:endParaRPr lang="zh-CN" altLang="en-US" sz="2800">
              <a:solidFill>
                <a:schemeClr val="accent2"/>
              </a:solidFill>
            </a:endParaRPr>
          </a:p>
          <a:p>
            <a:pPr lvl="1" eaLnBrk="1" hangingPunct="1">
              <a:buFont typeface="Wingdings" panose="05000000000000000000" pitchFamily="2" charset="2"/>
              <a:buNone/>
            </a:pPr>
            <a:r>
              <a:rPr lang="zh-CN" altLang="en-US"/>
              <a:t>    分开存放，以提高系统性能</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页脚占位符 4">
            <a:extLst>
              <a:ext uri="{FF2B5EF4-FFF2-40B4-BE49-F238E27FC236}">
                <a16:creationId xmlns:a16="http://schemas.microsoft.com/office/drawing/2014/main" id="{C973B42F-F11E-0770-461B-C14A5BA231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58371" name="Rectangle 2">
            <a:extLst>
              <a:ext uri="{FF2B5EF4-FFF2-40B4-BE49-F238E27FC236}">
                <a16:creationId xmlns:a16="http://schemas.microsoft.com/office/drawing/2014/main" id="{4E4F17D0-9FA3-4F57-A256-6D8A7B5978FE}"/>
              </a:ext>
            </a:extLst>
          </p:cNvPr>
          <p:cNvSpPr>
            <a:spLocks noGrp="1" noChangeArrowheads="1"/>
          </p:cNvSpPr>
          <p:nvPr>
            <p:ph type="title"/>
          </p:nvPr>
        </p:nvSpPr>
        <p:spPr/>
        <p:txBody>
          <a:bodyPr/>
          <a:lstStyle/>
          <a:p>
            <a:pPr eaLnBrk="1" hangingPunct="1"/>
            <a:r>
              <a:rPr lang="en-US" altLang="zh-CN"/>
              <a:t>2. </a:t>
            </a:r>
            <a:r>
              <a:rPr lang="zh-CN" altLang="en-US"/>
              <a:t>确定系统配置</a:t>
            </a:r>
          </a:p>
        </p:txBody>
      </p:sp>
      <p:sp>
        <p:nvSpPr>
          <p:cNvPr id="58372" name="Rectangle 3">
            <a:extLst>
              <a:ext uri="{FF2B5EF4-FFF2-40B4-BE49-F238E27FC236}">
                <a16:creationId xmlns:a16="http://schemas.microsoft.com/office/drawing/2014/main" id="{50DA0EE7-43B4-D8C6-BBA7-A3E2F4C166C7}"/>
              </a:ext>
            </a:extLst>
          </p:cNvPr>
          <p:cNvSpPr>
            <a:spLocks noGrp="1" noChangeArrowheads="1"/>
          </p:cNvSpPr>
          <p:nvPr>
            <p:ph type="body" idx="1"/>
          </p:nvPr>
        </p:nvSpPr>
        <p:spPr>
          <a:xfrm>
            <a:off x="468313" y="2017713"/>
            <a:ext cx="8486775" cy="4114800"/>
          </a:xfrm>
        </p:spPr>
        <p:txBody>
          <a:bodyPr/>
          <a:lstStyle/>
          <a:p>
            <a:pPr eaLnBrk="1" hangingPunct="1"/>
            <a:r>
              <a:rPr lang="en-US" altLang="zh-CN" sz="2800"/>
              <a:t>DBMS</a:t>
            </a:r>
            <a:r>
              <a:rPr lang="zh-CN" altLang="en-US" sz="2800"/>
              <a:t>产品一般都提供了一些存储分配参数</a:t>
            </a:r>
          </a:p>
          <a:p>
            <a:pPr lvl="1" eaLnBrk="1" hangingPunct="1"/>
            <a:r>
              <a:rPr lang="zh-CN" altLang="en-US" sz="2400"/>
              <a:t> </a:t>
            </a:r>
            <a:r>
              <a:rPr lang="zh-CN" altLang="en-US"/>
              <a:t>同时使用数据库的用户数</a:t>
            </a:r>
          </a:p>
          <a:p>
            <a:pPr lvl="1" eaLnBrk="1" hangingPunct="1"/>
            <a:r>
              <a:rPr lang="zh-CN" altLang="en-US"/>
              <a:t> 同时打开的数据库对象数</a:t>
            </a:r>
          </a:p>
          <a:p>
            <a:pPr lvl="1" eaLnBrk="1" hangingPunct="1"/>
            <a:r>
              <a:rPr lang="zh-CN" altLang="en-US"/>
              <a:t> 使用的缓冲区长度、个数</a:t>
            </a:r>
          </a:p>
          <a:p>
            <a:pPr lvl="1" eaLnBrk="1" hangingPunct="1"/>
            <a:r>
              <a:rPr lang="zh-CN" altLang="en-US"/>
              <a:t> 时间片大小</a:t>
            </a:r>
          </a:p>
          <a:p>
            <a:pPr lvl="1" eaLnBrk="1" hangingPunct="1"/>
            <a:r>
              <a:rPr lang="zh-CN" altLang="en-US"/>
              <a:t> 数据库的大小</a:t>
            </a:r>
          </a:p>
          <a:p>
            <a:pPr lvl="1" eaLnBrk="1" hangingPunct="1"/>
            <a:r>
              <a:rPr lang="zh-CN" altLang="en-US"/>
              <a:t> 锁的数目</a:t>
            </a:r>
          </a:p>
          <a:p>
            <a:pPr lvl="1" eaLnBrk="1" hangingPunct="1"/>
            <a:r>
              <a:rPr lang="zh-CN" altLang="en-US"/>
              <a:t> 等等</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页脚占位符 4">
            <a:extLst>
              <a:ext uri="{FF2B5EF4-FFF2-40B4-BE49-F238E27FC236}">
                <a16:creationId xmlns:a16="http://schemas.microsoft.com/office/drawing/2014/main" id="{75CE3084-9B07-F913-4C74-DC8BE50F785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59395" name="Rectangle 2">
            <a:extLst>
              <a:ext uri="{FF2B5EF4-FFF2-40B4-BE49-F238E27FC236}">
                <a16:creationId xmlns:a16="http://schemas.microsoft.com/office/drawing/2014/main" id="{EA43494F-976C-3854-82F1-7E7839D8BEF9}"/>
              </a:ext>
            </a:extLst>
          </p:cNvPr>
          <p:cNvSpPr>
            <a:spLocks noGrp="1" noChangeArrowheads="1"/>
          </p:cNvSpPr>
          <p:nvPr>
            <p:ph type="title"/>
          </p:nvPr>
        </p:nvSpPr>
        <p:spPr/>
        <p:txBody>
          <a:bodyPr/>
          <a:lstStyle/>
          <a:p>
            <a:pPr eaLnBrk="1" hangingPunct="1"/>
            <a:r>
              <a:rPr lang="en-US" altLang="zh-CN"/>
              <a:t>7.5.4  </a:t>
            </a:r>
            <a:r>
              <a:rPr lang="zh-CN" altLang="en-US"/>
              <a:t>评价物理结构</a:t>
            </a:r>
          </a:p>
        </p:txBody>
      </p:sp>
      <p:sp>
        <p:nvSpPr>
          <p:cNvPr id="59396" name="Rectangle 3">
            <a:extLst>
              <a:ext uri="{FF2B5EF4-FFF2-40B4-BE49-F238E27FC236}">
                <a16:creationId xmlns:a16="http://schemas.microsoft.com/office/drawing/2014/main" id="{B35543D3-A9FE-0B96-A3D3-F1864B051663}"/>
              </a:ext>
            </a:extLst>
          </p:cNvPr>
          <p:cNvSpPr>
            <a:spLocks noGrp="1" noChangeArrowheads="1"/>
          </p:cNvSpPr>
          <p:nvPr>
            <p:ph type="body" idx="1"/>
          </p:nvPr>
        </p:nvSpPr>
        <p:spPr>
          <a:xfrm>
            <a:off x="611188" y="2017713"/>
            <a:ext cx="8343900" cy="4114800"/>
          </a:xfrm>
        </p:spPr>
        <p:txBody>
          <a:bodyPr/>
          <a:lstStyle/>
          <a:p>
            <a:pPr eaLnBrk="1" hangingPunct="1">
              <a:lnSpc>
                <a:spcPct val="160000"/>
              </a:lnSpc>
            </a:pPr>
            <a:r>
              <a:rPr lang="zh-CN" altLang="en-US" sz="3600"/>
              <a:t>评价内容</a:t>
            </a:r>
            <a:endParaRPr lang="zh-CN" altLang="en-US"/>
          </a:p>
          <a:p>
            <a:pPr lvl="1" eaLnBrk="1" hangingPunct="1">
              <a:lnSpc>
                <a:spcPct val="160000"/>
              </a:lnSpc>
            </a:pPr>
            <a:r>
              <a:rPr lang="zh-CN" altLang="en-US"/>
              <a:t>对数据库物理设计过程中产生的多种方案进行细致的评价，从中选择一个较优的方案作为数据库的物理结构</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页脚占位符 4">
            <a:extLst>
              <a:ext uri="{FF2B5EF4-FFF2-40B4-BE49-F238E27FC236}">
                <a16:creationId xmlns:a16="http://schemas.microsoft.com/office/drawing/2014/main" id="{61D7CA2F-E1FF-EF1D-4749-00AE2F44206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60419" name="Rectangle 2">
            <a:extLst>
              <a:ext uri="{FF2B5EF4-FFF2-40B4-BE49-F238E27FC236}">
                <a16:creationId xmlns:a16="http://schemas.microsoft.com/office/drawing/2014/main" id="{B868C064-D11C-1648-BAE1-F772545A841F}"/>
              </a:ext>
            </a:extLst>
          </p:cNvPr>
          <p:cNvSpPr>
            <a:spLocks noGrp="1" noChangeArrowheads="1"/>
          </p:cNvSpPr>
          <p:nvPr>
            <p:ph type="title"/>
          </p:nvPr>
        </p:nvSpPr>
        <p:spPr/>
        <p:txBody>
          <a:bodyPr/>
          <a:lstStyle/>
          <a:p>
            <a:pPr eaLnBrk="1" hangingPunct="1"/>
            <a:r>
              <a:rPr lang="en-US" altLang="zh-CN"/>
              <a:t>7.5.4  </a:t>
            </a:r>
            <a:r>
              <a:rPr lang="zh-CN" altLang="en-US"/>
              <a:t>评价物理结构</a:t>
            </a:r>
          </a:p>
        </p:txBody>
      </p:sp>
      <p:sp>
        <p:nvSpPr>
          <p:cNvPr id="60420" name="Rectangle 3">
            <a:extLst>
              <a:ext uri="{FF2B5EF4-FFF2-40B4-BE49-F238E27FC236}">
                <a16:creationId xmlns:a16="http://schemas.microsoft.com/office/drawing/2014/main" id="{C7B4DD6E-468F-44F6-FAA4-BB243CC44B72}"/>
              </a:ext>
            </a:extLst>
          </p:cNvPr>
          <p:cNvSpPr>
            <a:spLocks noGrp="1" noChangeArrowheads="1"/>
          </p:cNvSpPr>
          <p:nvPr>
            <p:ph type="body" idx="1"/>
          </p:nvPr>
        </p:nvSpPr>
        <p:spPr>
          <a:xfrm>
            <a:off x="611188" y="1916113"/>
            <a:ext cx="8281987" cy="4114800"/>
          </a:xfrm>
        </p:spPr>
        <p:txBody>
          <a:bodyPr/>
          <a:lstStyle/>
          <a:p>
            <a:pPr eaLnBrk="1" hangingPunct="1"/>
            <a:r>
              <a:rPr lang="zh-CN" altLang="en-US" sz="3600"/>
              <a:t>评价方法</a:t>
            </a:r>
            <a:endParaRPr lang="zh-CN" altLang="en-US"/>
          </a:p>
          <a:p>
            <a:pPr lvl="1" eaLnBrk="1" hangingPunct="1"/>
            <a:r>
              <a:rPr lang="zh-CN" altLang="en-US"/>
              <a:t>定量估算各种方案</a:t>
            </a:r>
          </a:p>
          <a:p>
            <a:pPr lvl="2" eaLnBrk="1" hangingPunct="1"/>
            <a:r>
              <a:rPr lang="zh-CN" altLang="en-US"/>
              <a:t> </a:t>
            </a:r>
            <a:r>
              <a:rPr lang="zh-CN" altLang="en-US" sz="2800"/>
              <a:t>存储空间</a:t>
            </a:r>
          </a:p>
          <a:p>
            <a:pPr lvl="2" eaLnBrk="1" hangingPunct="1"/>
            <a:r>
              <a:rPr lang="zh-CN" altLang="en-US" sz="2800"/>
              <a:t> 存取时间</a:t>
            </a:r>
          </a:p>
          <a:p>
            <a:pPr lvl="2" eaLnBrk="1" hangingPunct="1"/>
            <a:r>
              <a:rPr lang="zh-CN" altLang="en-US" sz="2800"/>
              <a:t> 维护代价</a:t>
            </a:r>
          </a:p>
          <a:p>
            <a:pPr lvl="1" eaLnBrk="1" hangingPunct="1"/>
            <a:r>
              <a:rPr lang="zh-CN" altLang="en-US"/>
              <a:t>对估算结果进行权衡、比较，选择出一个较优的合理的物理结构</a:t>
            </a:r>
          </a:p>
          <a:p>
            <a:pPr lvl="1" eaLnBrk="1" hangingPunct="1"/>
            <a:r>
              <a:rPr lang="zh-CN" altLang="en-US"/>
              <a:t>如果该结构不符合用户需求，则需要修改设计</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13885C0F-0EB6-7A9B-2260-5F33C0A93B37}"/>
              </a:ext>
            </a:extLst>
          </p:cNvPr>
          <p:cNvSpPr>
            <a:spLocks noGrp="1" noChangeArrowheads="1"/>
          </p:cNvSpPr>
          <p:nvPr>
            <p:ph type="title" idx="4294967295"/>
          </p:nvPr>
        </p:nvSpPr>
        <p:spPr/>
        <p:txBody>
          <a:bodyPr/>
          <a:lstStyle/>
          <a:p>
            <a:r>
              <a:rPr lang="zh-CN" altLang="zh-CN"/>
              <a:t>第七章  数据库设计</a:t>
            </a:r>
          </a:p>
        </p:txBody>
      </p:sp>
      <p:sp>
        <p:nvSpPr>
          <p:cNvPr id="61443" name="Rectangle 3">
            <a:extLst>
              <a:ext uri="{FF2B5EF4-FFF2-40B4-BE49-F238E27FC236}">
                <a16:creationId xmlns:a16="http://schemas.microsoft.com/office/drawing/2014/main" id="{457E25A5-0AA6-95CD-9F2B-150EB6F0D6BC}"/>
              </a:ext>
            </a:extLst>
          </p:cNvPr>
          <p:cNvSpPr>
            <a:spLocks noGrp="1" noChangeArrowheads="1"/>
          </p:cNvSpPr>
          <p:nvPr>
            <p:ph idx="4294967295"/>
          </p:nvPr>
        </p:nvSpPr>
        <p:spPr>
          <a:xfrm>
            <a:off x="684213" y="1773238"/>
            <a:ext cx="8002587" cy="4179887"/>
          </a:xfrm>
        </p:spPr>
        <p:txBody>
          <a:bodyPr/>
          <a:lstStyle/>
          <a:p>
            <a:pPr marL="0" indent="0">
              <a:lnSpc>
                <a:spcPct val="150000"/>
              </a:lnSpc>
              <a:buFont typeface="Wingdings" panose="05000000000000000000" pitchFamily="2" charset="2"/>
              <a:buNone/>
            </a:pPr>
            <a:r>
              <a:rPr lang="en-US" altLang="zh-CN" sz="2800"/>
              <a:t>7.1  </a:t>
            </a:r>
            <a:r>
              <a:rPr lang="zh-CN" altLang="en-US" sz="2800"/>
              <a:t>数据库设计概述</a:t>
            </a:r>
          </a:p>
          <a:p>
            <a:pPr marL="0" indent="0">
              <a:lnSpc>
                <a:spcPct val="150000"/>
              </a:lnSpc>
              <a:buFont typeface="Wingdings" panose="05000000000000000000" pitchFamily="2" charset="2"/>
              <a:buNone/>
            </a:pPr>
            <a:r>
              <a:rPr lang="en-US" altLang="zh-CN" sz="2800"/>
              <a:t>7.2  </a:t>
            </a:r>
            <a:r>
              <a:rPr lang="zh-CN" altLang="en-US" sz="2800"/>
              <a:t>需求分析</a:t>
            </a:r>
          </a:p>
          <a:p>
            <a:pPr marL="0" indent="0">
              <a:lnSpc>
                <a:spcPct val="150000"/>
              </a:lnSpc>
              <a:buFont typeface="Wingdings" panose="05000000000000000000" pitchFamily="2" charset="2"/>
              <a:buNone/>
            </a:pPr>
            <a:r>
              <a:rPr lang="en-US" altLang="zh-CN" sz="2800"/>
              <a:t>7.3  </a:t>
            </a:r>
            <a:r>
              <a:rPr lang="zh-CN" altLang="en-US" sz="2800"/>
              <a:t>概念结构设计</a:t>
            </a:r>
          </a:p>
          <a:p>
            <a:pPr marL="0" indent="0">
              <a:lnSpc>
                <a:spcPct val="150000"/>
              </a:lnSpc>
              <a:buFont typeface="Wingdings" panose="05000000000000000000" pitchFamily="2" charset="2"/>
              <a:buNone/>
            </a:pPr>
            <a:r>
              <a:rPr lang="en-US" altLang="zh-CN" sz="2800"/>
              <a:t>7.4  </a:t>
            </a:r>
            <a:r>
              <a:rPr lang="zh-CN" altLang="en-US" sz="2800"/>
              <a:t>逻辑结构设计</a:t>
            </a:r>
          </a:p>
          <a:p>
            <a:pPr marL="0" indent="0">
              <a:lnSpc>
                <a:spcPct val="150000"/>
              </a:lnSpc>
              <a:buFont typeface="Wingdings" panose="05000000000000000000" pitchFamily="2" charset="2"/>
              <a:buNone/>
            </a:pPr>
            <a:r>
              <a:rPr lang="en-US" altLang="zh-CN" sz="2800"/>
              <a:t>7.5  </a:t>
            </a:r>
            <a:r>
              <a:rPr lang="zh-CN" altLang="en-US" sz="2800"/>
              <a:t>物理结构设计</a:t>
            </a:r>
          </a:p>
          <a:p>
            <a:pPr marL="0" indent="0">
              <a:lnSpc>
                <a:spcPct val="150000"/>
              </a:lnSpc>
              <a:buFont typeface="Wingdings" panose="05000000000000000000" pitchFamily="2" charset="2"/>
              <a:buNone/>
            </a:pPr>
            <a:r>
              <a:rPr lang="en-US" altLang="zh-CN" sz="2800">
                <a:solidFill>
                  <a:srgbClr val="FF0000"/>
                </a:solidFill>
              </a:rPr>
              <a:t>7.6  </a:t>
            </a:r>
            <a:r>
              <a:rPr lang="zh-CN" altLang="en-US" sz="2800">
                <a:solidFill>
                  <a:srgbClr val="FF0000"/>
                </a:solidFill>
              </a:rPr>
              <a:t>数据库的实施和维护</a:t>
            </a:r>
          </a:p>
          <a:p>
            <a:pPr marL="0" indent="0">
              <a:lnSpc>
                <a:spcPct val="150000"/>
              </a:lnSpc>
              <a:buFont typeface="Wingdings" panose="05000000000000000000" pitchFamily="2" charset="2"/>
              <a:buNone/>
            </a:pPr>
            <a:r>
              <a:rPr lang="en-US" altLang="zh-CN" sz="2800"/>
              <a:t>7.7  </a:t>
            </a:r>
            <a:r>
              <a:rPr lang="zh-CN" altLang="en-US" sz="2800"/>
              <a:t>小结</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页脚占位符 4">
            <a:extLst>
              <a:ext uri="{FF2B5EF4-FFF2-40B4-BE49-F238E27FC236}">
                <a16:creationId xmlns:a16="http://schemas.microsoft.com/office/drawing/2014/main" id="{76ACA418-0B7F-E77C-2DB6-2EFD172FE8A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62467" name="Rectangle 2">
            <a:extLst>
              <a:ext uri="{FF2B5EF4-FFF2-40B4-BE49-F238E27FC236}">
                <a16:creationId xmlns:a16="http://schemas.microsoft.com/office/drawing/2014/main" id="{E181967A-B7D8-63A0-C672-A168E2CF4ECC}"/>
              </a:ext>
            </a:extLst>
          </p:cNvPr>
          <p:cNvSpPr>
            <a:spLocks noGrp="1" noChangeArrowheads="1"/>
          </p:cNvSpPr>
          <p:nvPr>
            <p:ph type="title"/>
          </p:nvPr>
        </p:nvSpPr>
        <p:spPr/>
        <p:txBody>
          <a:bodyPr/>
          <a:lstStyle/>
          <a:p>
            <a:pPr eaLnBrk="1" hangingPunct="1"/>
            <a:r>
              <a:rPr lang="en-US" altLang="zh-CN">
                <a:ea typeface="黑体" panose="02010609060101010101" pitchFamily="49" charset="-122"/>
              </a:rPr>
              <a:t>7.6  </a:t>
            </a:r>
            <a:r>
              <a:rPr lang="zh-CN" altLang="en-US">
                <a:ea typeface="黑体" panose="02010609060101010101" pitchFamily="49" charset="-122"/>
              </a:rPr>
              <a:t>数据库的实施</a:t>
            </a:r>
          </a:p>
        </p:txBody>
      </p:sp>
      <p:sp>
        <p:nvSpPr>
          <p:cNvPr id="62468" name="Rectangle 3">
            <a:extLst>
              <a:ext uri="{FF2B5EF4-FFF2-40B4-BE49-F238E27FC236}">
                <a16:creationId xmlns:a16="http://schemas.microsoft.com/office/drawing/2014/main" id="{7B66D6B9-9E05-0E45-4C7F-60A84D4213DE}"/>
              </a:ext>
            </a:extLst>
          </p:cNvPr>
          <p:cNvSpPr>
            <a:spLocks noGrp="1" noChangeArrowheads="1"/>
          </p:cNvSpPr>
          <p:nvPr>
            <p:ph type="body" idx="1"/>
          </p:nvPr>
        </p:nvSpPr>
        <p:spPr>
          <a:xfrm>
            <a:off x="468313" y="2017713"/>
            <a:ext cx="8486775" cy="4114800"/>
          </a:xfrm>
        </p:spPr>
        <p:txBody>
          <a:bodyPr/>
          <a:lstStyle/>
          <a:p>
            <a:pPr algn="just" eaLnBrk="1" hangingPunct="1">
              <a:lnSpc>
                <a:spcPct val="140000"/>
              </a:lnSpc>
            </a:pPr>
            <a:r>
              <a:rPr lang="zh-CN" altLang="en-US" sz="3600"/>
              <a:t>数据库实施的工作内容</a:t>
            </a:r>
          </a:p>
          <a:p>
            <a:pPr lvl="1" algn="just" eaLnBrk="1" hangingPunct="1">
              <a:lnSpc>
                <a:spcPct val="140000"/>
              </a:lnSpc>
            </a:pPr>
            <a:r>
              <a:rPr lang="zh-CN" altLang="en-US"/>
              <a:t>用</a:t>
            </a:r>
            <a:r>
              <a:rPr lang="en-US" altLang="zh-CN"/>
              <a:t>DDL</a:t>
            </a:r>
            <a:r>
              <a:rPr lang="zh-CN" altLang="en-US"/>
              <a:t>定义数据库结构</a:t>
            </a:r>
          </a:p>
          <a:p>
            <a:pPr lvl="1" algn="just" eaLnBrk="1" hangingPunct="1">
              <a:lnSpc>
                <a:spcPct val="140000"/>
              </a:lnSpc>
            </a:pPr>
            <a:r>
              <a:rPr lang="zh-CN" altLang="en-US"/>
              <a:t>组织数据入库</a:t>
            </a:r>
          </a:p>
          <a:p>
            <a:pPr lvl="1" algn="just" eaLnBrk="1" hangingPunct="1">
              <a:lnSpc>
                <a:spcPct val="140000"/>
              </a:lnSpc>
            </a:pPr>
            <a:r>
              <a:rPr lang="zh-CN" altLang="en-US"/>
              <a:t>编制与调试应用程序</a:t>
            </a:r>
          </a:p>
          <a:p>
            <a:pPr lvl="1" algn="just" eaLnBrk="1" hangingPunct="1">
              <a:lnSpc>
                <a:spcPct val="140000"/>
              </a:lnSpc>
            </a:pPr>
            <a:r>
              <a:rPr lang="zh-CN" altLang="en-US"/>
              <a:t>数据库试运行</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页脚占位符 2">
            <a:extLst>
              <a:ext uri="{FF2B5EF4-FFF2-40B4-BE49-F238E27FC236}">
                <a16:creationId xmlns:a16="http://schemas.microsoft.com/office/drawing/2014/main" id="{8270887D-D015-43F9-B953-A55656ECD4A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grpSp>
        <p:nvGrpSpPr>
          <p:cNvPr id="63491" name="Group 2">
            <a:extLst>
              <a:ext uri="{FF2B5EF4-FFF2-40B4-BE49-F238E27FC236}">
                <a16:creationId xmlns:a16="http://schemas.microsoft.com/office/drawing/2014/main" id="{1D2C3481-EE2D-201D-4AC1-A845D11452F2}"/>
              </a:ext>
            </a:extLst>
          </p:cNvPr>
          <p:cNvGrpSpPr>
            <a:grpSpLocks/>
          </p:cNvGrpSpPr>
          <p:nvPr/>
        </p:nvGrpSpPr>
        <p:grpSpPr bwMode="auto">
          <a:xfrm>
            <a:off x="1066800" y="762000"/>
            <a:ext cx="7772400" cy="5638800"/>
            <a:chOff x="624" y="480"/>
            <a:chExt cx="4896" cy="3552"/>
          </a:xfrm>
        </p:grpSpPr>
        <p:sp>
          <p:nvSpPr>
            <p:cNvPr id="63492" name="Rectangle 3">
              <a:extLst>
                <a:ext uri="{FF2B5EF4-FFF2-40B4-BE49-F238E27FC236}">
                  <a16:creationId xmlns:a16="http://schemas.microsoft.com/office/drawing/2014/main" id="{2134A99F-87A1-6B63-7845-9D713EA0B6DC}"/>
                </a:ext>
              </a:extLst>
            </p:cNvPr>
            <p:cNvSpPr>
              <a:spLocks noChangeArrowheads="1"/>
            </p:cNvSpPr>
            <p:nvPr/>
          </p:nvSpPr>
          <p:spPr bwMode="auto">
            <a:xfrm>
              <a:off x="1480" y="480"/>
              <a:ext cx="3142" cy="2736"/>
            </a:xfrm>
            <a:prstGeom prst="rect">
              <a:avLst/>
            </a:prstGeom>
            <a:solidFill>
              <a:schemeClr val="bg1"/>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2400" b="1">
                  <a:latin typeface="Times New Roman" panose="02020603050405020304" pitchFamily="18" charset="0"/>
                </a:rPr>
                <a:t>数据库实施</a:t>
              </a:r>
              <a:endParaRPr lang="zh-CN" altLang="en-US" sz="1000" b="1">
                <a:latin typeface="Times New Roman" panose="02020603050405020304" pitchFamily="18" charset="0"/>
              </a:endParaRPr>
            </a:p>
          </p:txBody>
        </p:sp>
        <p:sp>
          <p:nvSpPr>
            <p:cNvPr id="63493" name="Line 4">
              <a:extLst>
                <a:ext uri="{FF2B5EF4-FFF2-40B4-BE49-F238E27FC236}">
                  <a16:creationId xmlns:a16="http://schemas.microsoft.com/office/drawing/2014/main" id="{E51FB4FC-C077-64F4-2A18-6E04A337C2F2}"/>
                </a:ext>
              </a:extLst>
            </p:cNvPr>
            <p:cNvSpPr>
              <a:spLocks noChangeShapeType="1"/>
            </p:cNvSpPr>
            <p:nvPr/>
          </p:nvSpPr>
          <p:spPr bwMode="auto">
            <a:xfrm>
              <a:off x="983" y="1913"/>
              <a:ext cx="71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494" name="Oval 5">
              <a:extLst>
                <a:ext uri="{FF2B5EF4-FFF2-40B4-BE49-F238E27FC236}">
                  <a16:creationId xmlns:a16="http://schemas.microsoft.com/office/drawing/2014/main" id="{278FA8AF-F982-89C5-F87A-6EE4FC698809}"/>
                </a:ext>
              </a:extLst>
            </p:cNvPr>
            <p:cNvSpPr>
              <a:spLocks noChangeArrowheads="1"/>
            </p:cNvSpPr>
            <p:nvPr/>
          </p:nvSpPr>
          <p:spPr bwMode="auto">
            <a:xfrm>
              <a:off x="1728" y="1536"/>
              <a:ext cx="762" cy="921"/>
            </a:xfrm>
            <a:prstGeom prst="ellipse">
              <a:avLst/>
            </a:prstGeom>
            <a:solidFill>
              <a:schemeClr val="bg1"/>
            </a:solidFill>
            <a:ln w="952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000" b="1">
                  <a:latin typeface="Times New Roman" panose="02020603050405020304" pitchFamily="18" charset="0"/>
                </a:rPr>
                <a:t>定义数据库结构</a:t>
              </a:r>
              <a:endParaRPr lang="zh-CN" altLang="en-US" sz="1200" b="1">
                <a:latin typeface="Times New Roman" panose="02020603050405020304" pitchFamily="18" charset="0"/>
              </a:endParaRPr>
            </a:p>
          </p:txBody>
        </p:sp>
        <p:sp>
          <p:nvSpPr>
            <p:cNvPr id="63495" name="Line 6">
              <a:extLst>
                <a:ext uri="{FF2B5EF4-FFF2-40B4-BE49-F238E27FC236}">
                  <a16:creationId xmlns:a16="http://schemas.microsoft.com/office/drawing/2014/main" id="{E185184B-B9A8-C487-9487-0B36EA727642}"/>
                </a:ext>
              </a:extLst>
            </p:cNvPr>
            <p:cNvSpPr>
              <a:spLocks noChangeShapeType="1"/>
            </p:cNvSpPr>
            <p:nvPr/>
          </p:nvSpPr>
          <p:spPr bwMode="auto">
            <a:xfrm flipV="1">
              <a:off x="2304" y="1344"/>
              <a:ext cx="301" cy="28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496" name="Oval 7">
              <a:extLst>
                <a:ext uri="{FF2B5EF4-FFF2-40B4-BE49-F238E27FC236}">
                  <a16:creationId xmlns:a16="http://schemas.microsoft.com/office/drawing/2014/main" id="{6ACC3BE1-813C-0047-425D-08A7E56AE980}"/>
                </a:ext>
              </a:extLst>
            </p:cNvPr>
            <p:cNvSpPr>
              <a:spLocks noChangeArrowheads="1"/>
            </p:cNvSpPr>
            <p:nvPr/>
          </p:nvSpPr>
          <p:spPr bwMode="auto">
            <a:xfrm>
              <a:off x="2623" y="890"/>
              <a:ext cx="857" cy="921"/>
            </a:xfrm>
            <a:prstGeom prst="ellipse">
              <a:avLst/>
            </a:prstGeom>
            <a:solidFill>
              <a:schemeClr val="bg1"/>
            </a:solidFill>
            <a:ln w="952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endParaRPr lang="en-US" altLang="zh-CN" sz="1800" b="1">
                <a:latin typeface="Times New Roman" panose="02020603050405020304" pitchFamily="18" charset="0"/>
              </a:endParaRPr>
            </a:p>
            <a:p>
              <a:pPr algn="ctr" eaLnBrk="1" hangingPunct="1">
                <a:spcBef>
                  <a:spcPct val="0"/>
                </a:spcBef>
                <a:buClrTx/>
                <a:buSzTx/>
                <a:buFontTx/>
                <a:buNone/>
              </a:pPr>
              <a:r>
                <a:rPr lang="zh-CN" altLang="en-US" sz="2000" b="1">
                  <a:latin typeface="Times New Roman" panose="02020603050405020304" pitchFamily="18" charset="0"/>
                </a:rPr>
                <a:t>数据</a:t>
              </a:r>
            </a:p>
            <a:p>
              <a:pPr algn="ctr" eaLnBrk="1" hangingPunct="1">
                <a:spcBef>
                  <a:spcPct val="0"/>
                </a:spcBef>
                <a:buClrTx/>
                <a:buSzTx/>
                <a:buFontTx/>
                <a:buNone/>
              </a:pPr>
              <a:r>
                <a:rPr lang="zh-CN" altLang="en-US" sz="2000" b="1">
                  <a:latin typeface="Times New Roman" panose="02020603050405020304" pitchFamily="18" charset="0"/>
                </a:rPr>
                <a:t>装载</a:t>
              </a:r>
              <a:endParaRPr lang="zh-CN" altLang="en-US" sz="1800">
                <a:latin typeface="Times New Roman" panose="02020603050405020304" pitchFamily="18" charset="0"/>
              </a:endParaRPr>
            </a:p>
          </p:txBody>
        </p:sp>
        <p:sp>
          <p:nvSpPr>
            <p:cNvPr id="63497" name="Line 8">
              <a:extLst>
                <a:ext uri="{FF2B5EF4-FFF2-40B4-BE49-F238E27FC236}">
                  <a16:creationId xmlns:a16="http://schemas.microsoft.com/office/drawing/2014/main" id="{D2B028F3-AF97-222E-07AD-E737DAE85299}"/>
                </a:ext>
              </a:extLst>
            </p:cNvPr>
            <p:cNvSpPr>
              <a:spLocks noChangeShapeType="1"/>
            </p:cNvSpPr>
            <p:nvPr/>
          </p:nvSpPr>
          <p:spPr bwMode="auto">
            <a:xfrm>
              <a:off x="3504" y="1296"/>
              <a:ext cx="342" cy="33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498" name="Oval 9">
              <a:extLst>
                <a:ext uri="{FF2B5EF4-FFF2-40B4-BE49-F238E27FC236}">
                  <a16:creationId xmlns:a16="http://schemas.microsoft.com/office/drawing/2014/main" id="{0B3A91A4-FC95-951F-7B91-053AAC1D69DD}"/>
                </a:ext>
              </a:extLst>
            </p:cNvPr>
            <p:cNvSpPr>
              <a:spLocks noChangeArrowheads="1"/>
            </p:cNvSpPr>
            <p:nvPr/>
          </p:nvSpPr>
          <p:spPr bwMode="auto">
            <a:xfrm>
              <a:off x="3648" y="1584"/>
              <a:ext cx="761" cy="921"/>
            </a:xfrm>
            <a:prstGeom prst="ellipse">
              <a:avLst/>
            </a:prstGeom>
            <a:solidFill>
              <a:schemeClr val="bg1"/>
            </a:solidFill>
            <a:ln w="952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endParaRPr lang="en-US" altLang="zh-CN" sz="1000">
                <a:latin typeface="Times New Roman" panose="02020603050405020304" pitchFamily="18" charset="0"/>
              </a:endParaRPr>
            </a:p>
            <a:p>
              <a:pPr algn="ctr" eaLnBrk="1" hangingPunct="1">
                <a:spcBef>
                  <a:spcPct val="0"/>
                </a:spcBef>
                <a:buClrTx/>
                <a:buSzTx/>
                <a:buFontTx/>
                <a:buNone/>
              </a:pPr>
              <a:r>
                <a:rPr lang="en-US" altLang="zh-CN" sz="1000">
                  <a:latin typeface="Times New Roman" panose="02020603050405020304" pitchFamily="18" charset="0"/>
                </a:rPr>
                <a:t> </a:t>
              </a:r>
              <a:r>
                <a:rPr lang="zh-CN" altLang="en-US" sz="2000" b="1">
                  <a:latin typeface="Times New Roman" panose="02020603050405020304" pitchFamily="18" charset="0"/>
                </a:rPr>
                <a:t>数据库试运行</a:t>
              </a:r>
              <a:endParaRPr lang="zh-CN" altLang="en-US" sz="1000">
                <a:latin typeface="Times New Roman" panose="02020603050405020304" pitchFamily="18" charset="0"/>
              </a:endParaRPr>
            </a:p>
          </p:txBody>
        </p:sp>
        <p:sp>
          <p:nvSpPr>
            <p:cNvPr id="63499" name="Line 10">
              <a:extLst>
                <a:ext uri="{FF2B5EF4-FFF2-40B4-BE49-F238E27FC236}">
                  <a16:creationId xmlns:a16="http://schemas.microsoft.com/office/drawing/2014/main" id="{75FEC03B-F4AF-C085-6E03-507AF4BF0B0D}"/>
                </a:ext>
              </a:extLst>
            </p:cNvPr>
            <p:cNvSpPr>
              <a:spLocks noChangeShapeType="1"/>
            </p:cNvSpPr>
            <p:nvPr/>
          </p:nvSpPr>
          <p:spPr bwMode="auto">
            <a:xfrm>
              <a:off x="4441" y="2009"/>
              <a:ext cx="53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0" name="Line 11">
              <a:extLst>
                <a:ext uri="{FF2B5EF4-FFF2-40B4-BE49-F238E27FC236}">
                  <a16:creationId xmlns:a16="http://schemas.microsoft.com/office/drawing/2014/main" id="{78532199-AF55-B26A-319C-402555D17831}"/>
                </a:ext>
              </a:extLst>
            </p:cNvPr>
            <p:cNvSpPr>
              <a:spLocks noChangeShapeType="1"/>
            </p:cNvSpPr>
            <p:nvPr/>
          </p:nvSpPr>
          <p:spPr bwMode="auto">
            <a:xfrm>
              <a:off x="4800" y="1907"/>
              <a:ext cx="0" cy="2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01" name="Line 12">
              <a:extLst>
                <a:ext uri="{FF2B5EF4-FFF2-40B4-BE49-F238E27FC236}">
                  <a16:creationId xmlns:a16="http://schemas.microsoft.com/office/drawing/2014/main" id="{735B6CA2-A980-6914-8467-93F94E4AFF12}"/>
                </a:ext>
              </a:extLst>
            </p:cNvPr>
            <p:cNvSpPr>
              <a:spLocks noChangeShapeType="1"/>
            </p:cNvSpPr>
            <p:nvPr/>
          </p:nvSpPr>
          <p:spPr bwMode="auto">
            <a:xfrm>
              <a:off x="1296" y="1814"/>
              <a:ext cx="1" cy="2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02" name="Text Box 13">
              <a:extLst>
                <a:ext uri="{FF2B5EF4-FFF2-40B4-BE49-F238E27FC236}">
                  <a16:creationId xmlns:a16="http://schemas.microsoft.com/office/drawing/2014/main" id="{0262E8B8-BCE2-A38B-F9BE-2D9C4D7AA5D0}"/>
                </a:ext>
              </a:extLst>
            </p:cNvPr>
            <p:cNvSpPr txBox="1">
              <a:spLocks noChangeArrowheads="1"/>
            </p:cNvSpPr>
            <p:nvPr/>
          </p:nvSpPr>
          <p:spPr bwMode="auto">
            <a:xfrm>
              <a:off x="624" y="2016"/>
              <a:ext cx="718" cy="3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2000" b="1">
                  <a:latin typeface="Times New Roman" panose="02020603050405020304" pitchFamily="18" charset="0"/>
                </a:rPr>
                <a:t>数据库物</a:t>
              </a:r>
            </a:p>
            <a:p>
              <a:pPr algn="just" eaLnBrk="1" hangingPunct="1">
                <a:spcBef>
                  <a:spcPct val="0"/>
                </a:spcBef>
                <a:buClrTx/>
                <a:buSzTx/>
                <a:buFontTx/>
                <a:buNone/>
              </a:pPr>
              <a:r>
                <a:rPr lang="zh-CN" altLang="en-US" sz="2000" b="1">
                  <a:latin typeface="Times New Roman" panose="02020603050405020304" pitchFamily="18" charset="0"/>
                </a:rPr>
                <a:t>理设计</a:t>
              </a:r>
              <a:endParaRPr lang="zh-CN" altLang="en-US" sz="1000" b="1">
                <a:latin typeface="Times New Roman" panose="02020603050405020304" pitchFamily="18" charset="0"/>
              </a:endParaRPr>
            </a:p>
          </p:txBody>
        </p:sp>
        <p:sp>
          <p:nvSpPr>
            <p:cNvPr id="63503" name="Text Box 14">
              <a:extLst>
                <a:ext uri="{FF2B5EF4-FFF2-40B4-BE49-F238E27FC236}">
                  <a16:creationId xmlns:a16="http://schemas.microsoft.com/office/drawing/2014/main" id="{B95055B5-6593-CA8F-5656-13EE32661C04}"/>
                </a:ext>
              </a:extLst>
            </p:cNvPr>
            <p:cNvSpPr txBox="1">
              <a:spLocks noChangeArrowheads="1"/>
            </p:cNvSpPr>
            <p:nvPr/>
          </p:nvSpPr>
          <p:spPr bwMode="auto">
            <a:xfrm>
              <a:off x="4800" y="2112"/>
              <a:ext cx="720" cy="3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zh-CN" altLang="en-US" sz="2000" b="1">
                  <a:latin typeface="Times New Roman" panose="02020603050405020304" pitchFamily="18" charset="0"/>
                </a:rPr>
                <a:t>数据库运</a:t>
              </a:r>
            </a:p>
            <a:p>
              <a:pPr algn="just" eaLnBrk="1" hangingPunct="1">
                <a:spcBef>
                  <a:spcPct val="0"/>
                </a:spcBef>
                <a:buClrTx/>
                <a:buSzTx/>
                <a:buFontTx/>
                <a:buNone/>
              </a:pPr>
              <a:r>
                <a:rPr lang="zh-CN" altLang="en-US" sz="2000" b="1">
                  <a:latin typeface="Times New Roman" panose="02020603050405020304" pitchFamily="18" charset="0"/>
                </a:rPr>
                <a:t>行和维护</a:t>
              </a:r>
            </a:p>
            <a:p>
              <a:pPr algn="just" eaLnBrk="1" hangingPunct="1">
                <a:spcBef>
                  <a:spcPct val="0"/>
                </a:spcBef>
                <a:buClrTx/>
                <a:buSzTx/>
                <a:buFontTx/>
                <a:buNone/>
              </a:pPr>
              <a:endParaRPr lang="en-US" altLang="zh-CN" sz="1600" b="1">
                <a:latin typeface="Times New Roman" panose="02020603050405020304" pitchFamily="18" charset="0"/>
              </a:endParaRPr>
            </a:p>
          </p:txBody>
        </p:sp>
        <p:sp>
          <p:nvSpPr>
            <p:cNvPr id="63504" name="AutoShape 15">
              <a:extLst>
                <a:ext uri="{FF2B5EF4-FFF2-40B4-BE49-F238E27FC236}">
                  <a16:creationId xmlns:a16="http://schemas.microsoft.com/office/drawing/2014/main" id="{06FCD6E9-06E1-48B4-62BC-66BC1F80AD61}"/>
                </a:ext>
              </a:extLst>
            </p:cNvPr>
            <p:cNvSpPr>
              <a:spLocks noChangeArrowheads="1"/>
            </p:cNvSpPr>
            <p:nvPr/>
          </p:nvSpPr>
          <p:spPr bwMode="auto">
            <a:xfrm>
              <a:off x="912" y="3360"/>
              <a:ext cx="449" cy="528"/>
            </a:xfrm>
            <a:prstGeom prst="octagon">
              <a:avLst>
                <a:gd name="adj" fmla="val 29287"/>
              </a:avLst>
            </a:prstGeom>
            <a:solidFill>
              <a:schemeClr val="bg1"/>
            </a:solidFill>
            <a:ln w="9525">
              <a:solidFill>
                <a:srgbClr val="000000"/>
              </a:solidFill>
              <a:miter lim="800000"/>
              <a:headEnd/>
              <a:tailEnd/>
            </a:ln>
          </p:spPr>
          <p:txBody>
            <a:bodyPr lIns="0" tIns="0" rIns="0" b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a:latin typeface="Times New Roman" panose="02020603050405020304" pitchFamily="18" charset="0"/>
                </a:rPr>
                <a:t>物理</a:t>
              </a:r>
            </a:p>
            <a:p>
              <a:pPr algn="ctr" eaLnBrk="1" hangingPunct="1">
                <a:spcBef>
                  <a:spcPct val="0"/>
                </a:spcBef>
                <a:buClrTx/>
                <a:buSzTx/>
                <a:buFontTx/>
                <a:buNone/>
              </a:pPr>
              <a:r>
                <a:rPr lang="zh-CN" altLang="en-US" sz="1800" b="1">
                  <a:latin typeface="Times New Roman" panose="02020603050405020304" pitchFamily="18" charset="0"/>
                </a:rPr>
                <a:t>模型</a:t>
              </a:r>
              <a:endParaRPr lang="zh-CN" altLang="en-US" sz="1000" b="1">
                <a:latin typeface="Times New Roman" panose="02020603050405020304" pitchFamily="18" charset="0"/>
              </a:endParaRPr>
            </a:p>
          </p:txBody>
        </p:sp>
        <p:sp>
          <p:nvSpPr>
            <p:cNvPr id="63505" name="AutoShape 16">
              <a:extLst>
                <a:ext uri="{FF2B5EF4-FFF2-40B4-BE49-F238E27FC236}">
                  <a16:creationId xmlns:a16="http://schemas.microsoft.com/office/drawing/2014/main" id="{5383681C-10C7-1AA7-8482-C234A868246D}"/>
                </a:ext>
              </a:extLst>
            </p:cNvPr>
            <p:cNvSpPr>
              <a:spLocks noChangeArrowheads="1"/>
            </p:cNvSpPr>
            <p:nvPr/>
          </p:nvSpPr>
          <p:spPr bwMode="auto">
            <a:xfrm rot="4214242">
              <a:off x="418" y="2786"/>
              <a:ext cx="912" cy="124"/>
            </a:xfrm>
            <a:prstGeom prst="rightArrow">
              <a:avLst>
                <a:gd name="adj1" fmla="val 50000"/>
                <a:gd name="adj2" fmla="val 183871"/>
              </a:avLst>
            </a:prstGeom>
            <a:solidFill>
              <a:schemeClr val="bg1"/>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
          <p:nvSpPr>
            <p:cNvPr id="63506" name="AutoShape 17">
              <a:extLst>
                <a:ext uri="{FF2B5EF4-FFF2-40B4-BE49-F238E27FC236}">
                  <a16:creationId xmlns:a16="http://schemas.microsoft.com/office/drawing/2014/main" id="{A9F44309-B9C8-F16E-564C-1636E4072B98}"/>
                </a:ext>
              </a:extLst>
            </p:cNvPr>
            <p:cNvSpPr>
              <a:spLocks noChangeArrowheads="1"/>
            </p:cNvSpPr>
            <p:nvPr/>
          </p:nvSpPr>
          <p:spPr bwMode="auto">
            <a:xfrm rot="4014648">
              <a:off x="3850" y="2870"/>
              <a:ext cx="968" cy="109"/>
            </a:xfrm>
            <a:prstGeom prst="rightArrow">
              <a:avLst>
                <a:gd name="adj1" fmla="val 50000"/>
                <a:gd name="adj2" fmla="val 222018"/>
              </a:avLst>
            </a:prstGeom>
            <a:solidFill>
              <a:schemeClr val="bg1"/>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
          <p:nvSpPr>
            <p:cNvPr id="63507" name="AutoShape 18">
              <a:extLst>
                <a:ext uri="{FF2B5EF4-FFF2-40B4-BE49-F238E27FC236}">
                  <a16:creationId xmlns:a16="http://schemas.microsoft.com/office/drawing/2014/main" id="{4AC731AA-CB88-C262-5967-823956FF49DF}"/>
                </a:ext>
              </a:extLst>
            </p:cNvPr>
            <p:cNvSpPr>
              <a:spLocks noChangeArrowheads="1"/>
            </p:cNvSpPr>
            <p:nvPr/>
          </p:nvSpPr>
          <p:spPr bwMode="auto">
            <a:xfrm rot="-3531503">
              <a:off x="1034" y="2771"/>
              <a:ext cx="1098" cy="94"/>
            </a:xfrm>
            <a:prstGeom prst="rightArrow">
              <a:avLst>
                <a:gd name="adj1" fmla="val 50000"/>
                <a:gd name="adj2" fmla="val 292021"/>
              </a:avLst>
            </a:prstGeom>
            <a:solidFill>
              <a:schemeClr val="bg1"/>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
          <p:nvSpPr>
            <p:cNvPr id="63508" name="Freeform 19">
              <a:extLst>
                <a:ext uri="{FF2B5EF4-FFF2-40B4-BE49-F238E27FC236}">
                  <a16:creationId xmlns:a16="http://schemas.microsoft.com/office/drawing/2014/main" id="{91181F49-3F43-3A62-F92A-07DF9429AAD4}"/>
                </a:ext>
              </a:extLst>
            </p:cNvPr>
            <p:cNvSpPr>
              <a:spLocks/>
            </p:cNvSpPr>
            <p:nvPr/>
          </p:nvSpPr>
          <p:spPr bwMode="auto">
            <a:xfrm>
              <a:off x="3388" y="1061"/>
              <a:ext cx="535" cy="543"/>
            </a:xfrm>
            <a:custGeom>
              <a:avLst/>
              <a:gdLst>
                <a:gd name="T0" fmla="*/ 535 w 535"/>
                <a:gd name="T1" fmla="*/ 543 h 543"/>
                <a:gd name="T2" fmla="*/ 381 w 535"/>
                <a:gd name="T3" fmla="*/ 178 h 543"/>
                <a:gd name="T4" fmla="*/ 251 w 535"/>
                <a:gd name="T5" fmla="*/ 74 h 543"/>
                <a:gd name="T6" fmla="*/ 164 w 535"/>
                <a:gd name="T7" fmla="*/ 6 h 543"/>
                <a:gd name="T8" fmla="*/ 16 w 535"/>
                <a:gd name="T9" fmla="*/ 35 h 543"/>
                <a:gd name="T10" fmla="*/ 68 w 535"/>
                <a:gd name="T11" fmla="*/ 61 h 543"/>
                <a:gd name="T12" fmla="*/ 68 w 535"/>
                <a:gd name="T13" fmla="*/ 61 h 543"/>
                <a:gd name="T14" fmla="*/ 0 60000 65536"/>
                <a:gd name="T15" fmla="*/ 0 60000 65536"/>
                <a:gd name="T16" fmla="*/ 0 60000 65536"/>
                <a:gd name="T17" fmla="*/ 0 60000 65536"/>
                <a:gd name="T18" fmla="*/ 0 60000 65536"/>
                <a:gd name="T19" fmla="*/ 0 60000 65536"/>
                <a:gd name="T20" fmla="*/ 0 60000 65536"/>
                <a:gd name="T21" fmla="*/ 0 w 535"/>
                <a:gd name="T22" fmla="*/ 0 h 543"/>
                <a:gd name="T23" fmla="*/ 535 w 535"/>
                <a:gd name="T24" fmla="*/ 543 h 5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5" h="543">
                  <a:moveTo>
                    <a:pt x="535" y="543"/>
                  </a:moveTo>
                  <a:cubicBezTo>
                    <a:pt x="509" y="482"/>
                    <a:pt x="428" y="256"/>
                    <a:pt x="381" y="178"/>
                  </a:cubicBezTo>
                  <a:cubicBezTo>
                    <a:pt x="334" y="100"/>
                    <a:pt x="287" y="103"/>
                    <a:pt x="251" y="74"/>
                  </a:cubicBezTo>
                  <a:cubicBezTo>
                    <a:pt x="215" y="45"/>
                    <a:pt x="203" y="12"/>
                    <a:pt x="164" y="6"/>
                  </a:cubicBezTo>
                  <a:cubicBezTo>
                    <a:pt x="125" y="0"/>
                    <a:pt x="32" y="26"/>
                    <a:pt x="16" y="35"/>
                  </a:cubicBezTo>
                  <a:cubicBezTo>
                    <a:pt x="0" y="44"/>
                    <a:pt x="59" y="57"/>
                    <a:pt x="68" y="61"/>
                  </a:cubicBezTo>
                  <a:cubicBezTo>
                    <a:pt x="77" y="65"/>
                    <a:pt x="68" y="61"/>
                    <a:pt x="68" y="61"/>
                  </a:cubicBezTo>
                </a:path>
              </a:pathLst>
            </a:custGeom>
            <a:noFill/>
            <a:ln w="19050">
              <a:solidFill>
                <a:srgbClr val="000000"/>
              </a:solidFill>
              <a:prstDash val="dash"/>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3509" name="Freeform 20">
              <a:extLst>
                <a:ext uri="{FF2B5EF4-FFF2-40B4-BE49-F238E27FC236}">
                  <a16:creationId xmlns:a16="http://schemas.microsoft.com/office/drawing/2014/main" id="{5D96BE46-C09C-BD80-0395-BB629657B639}"/>
                </a:ext>
              </a:extLst>
            </p:cNvPr>
            <p:cNvSpPr>
              <a:spLocks/>
            </p:cNvSpPr>
            <p:nvPr/>
          </p:nvSpPr>
          <p:spPr bwMode="auto">
            <a:xfrm>
              <a:off x="1008" y="569"/>
              <a:ext cx="3204" cy="1303"/>
            </a:xfrm>
            <a:custGeom>
              <a:avLst/>
              <a:gdLst>
                <a:gd name="T0" fmla="*/ 3204 w 3204"/>
                <a:gd name="T1" fmla="*/ 1049 h 1303"/>
                <a:gd name="T2" fmla="*/ 3087 w 3204"/>
                <a:gd name="T3" fmla="*/ 618 h 1303"/>
                <a:gd name="T4" fmla="*/ 2878 w 3204"/>
                <a:gd name="T5" fmla="*/ 331 h 1303"/>
                <a:gd name="T6" fmla="*/ 2574 w 3204"/>
                <a:gd name="T7" fmla="*/ 135 h 1303"/>
                <a:gd name="T8" fmla="*/ 2308 w 3204"/>
                <a:gd name="T9" fmla="*/ 47 h 1303"/>
                <a:gd name="T10" fmla="*/ 2222 w 3204"/>
                <a:gd name="T11" fmla="*/ 31 h 1303"/>
                <a:gd name="T12" fmla="*/ 2039 w 3204"/>
                <a:gd name="T13" fmla="*/ 3 h 1303"/>
                <a:gd name="T14" fmla="*/ 1379 w 3204"/>
                <a:gd name="T15" fmla="*/ 47 h 1303"/>
                <a:gd name="T16" fmla="*/ 880 w 3204"/>
                <a:gd name="T17" fmla="*/ 257 h 1303"/>
                <a:gd name="T18" fmla="*/ 375 w 3204"/>
                <a:gd name="T19" fmla="*/ 693 h 1303"/>
                <a:gd name="T20" fmla="*/ 0 w 3204"/>
                <a:gd name="T21" fmla="*/ 1303 h 13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04"/>
                <a:gd name="T34" fmla="*/ 0 h 1303"/>
                <a:gd name="T35" fmla="*/ 3204 w 3204"/>
                <a:gd name="T36" fmla="*/ 1303 h 13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04" h="1303">
                  <a:moveTo>
                    <a:pt x="3204" y="1049"/>
                  </a:moveTo>
                  <a:cubicBezTo>
                    <a:pt x="3182" y="977"/>
                    <a:pt x="3141" y="738"/>
                    <a:pt x="3087" y="618"/>
                  </a:cubicBezTo>
                  <a:cubicBezTo>
                    <a:pt x="3033" y="498"/>
                    <a:pt x="2964" y="411"/>
                    <a:pt x="2878" y="331"/>
                  </a:cubicBezTo>
                  <a:cubicBezTo>
                    <a:pt x="2792" y="251"/>
                    <a:pt x="2669" y="182"/>
                    <a:pt x="2574" y="135"/>
                  </a:cubicBezTo>
                  <a:cubicBezTo>
                    <a:pt x="2479" y="88"/>
                    <a:pt x="2366" y="64"/>
                    <a:pt x="2308" y="47"/>
                  </a:cubicBezTo>
                  <a:cubicBezTo>
                    <a:pt x="2250" y="30"/>
                    <a:pt x="2266" y="38"/>
                    <a:pt x="2222" y="31"/>
                  </a:cubicBezTo>
                  <a:cubicBezTo>
                    <a:pt x="2177" y="24"/>
                    <a:pt x="2180" y="0"/>
                    <a:pt x="2039" y="3"/>
                  </a:cubicBezTo>
                  <a:cubicBezTo>
                    <a:pt x="1899" y="6"/>
                    <a:pt x="1573" y="6"/>
                    <a:pt x="1379" y="47"/>
                  </a:cubicBezTo>
                  <a:cubicBezTo>
                    <a:pt x="1186" y="87"/>
                    <a:pt x="1047" y="148"/>
                    <a:pt x="880" y="257"/>
                  </a:cubicBezTo>
                  <a:cubicBezTo>
                    <a:pt x="713" y="365"/>
                    <a:pt x="522" y="521"/>
                    <a:pt x="375" y="693"/>
                  </a:cubicBezTo>
                  <a:cubicBezTo>
                    <a:pt x="227" y="866"/>
                    <a:pt x="77" y="1178"/>
                    <a:pt x="0" y="1303"/>
                  </a:cubicBezTo>
                </a:path>
              </a:pathLst>
            </a:custGeom>
            <a:noFill/>
            <a:ln w="19050">
              <a:solidFill>
                <a:srgbClr val="000000"/>
              </a:solidFill>
              <a:prstDash val="dash"/>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3510" name="Oval 21">
              <a:extLst>
                <a:ext uri="{FF2B5EF4-FFF2-40B4-BE49-F238E27FC236}">
                  <a16:creationId xmlns:a16="http://schemas.microsoft.com/office/drawing/2014/main" id="{6145852D-3B11-9128-82BB-D42E270DDD2C}"/>
                </a:ext>
              </a:extLst>
            </p:cNvPr>
            <p:cNvSpPr>
              <a:spLocks noChangeArrowheads="1"/>
            </p:cNvSpPr>
            <p:nvPr/>
          </p:nvSpPr>
          <p:spPr bwMode="auto">
            <a:xfrm>
              <a:off x="2640" y="2208"/>
              <a:ext cx="857" cy="921"/>
            </a:xfrm>
            <a:prstGeom prst="ellipse">
              <a:avLst/>
            </a:prstGeom>
            <a:solidFill>
              <a:schemeClr val="bg1"/>
            </a:solidFill>
            <a:ln w="9525">
              <a:solidFill>
                <a:srgbClr val="000000"/>
              </a:solidFill>
              <a:round/>
              <a:headEnd/>
              <a:tailEnd/>
            </a:ln>
          </p:spPr>
          <p:txBody>
            <a:bodyPr lIns="0" tIns="0" rIns="0" b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000" b="1">
                  <a:latin typeface="Times New Roman" panose="02020603050405020304" pitchFamily="18" charset="0"/>
                </a:rPr>
                <a:t>编制与调试应用程序</a:t>
              </a:r>
              <a:endParaRPr lang="zh-CN" altLang="en-US" sz="2000">
                <a:latin typeface="Times New Roman" panose="02020603050405020304" pitchFamily="18" charset="0"/>
              </a:endParaRPr>
            </a:p>
          </p:txBody>
        </p:sp>
        <p:sp>
          <p:nvSpPr>
            <p:cNvPr id="63511" name="Line 22">
              <a:extLst>
                <a:ext uri="{FF2B5EF4-FFF2-40B4-BE49-F238E27FC236}">
                  <a16:creationId xmlns:a16="http://schemas.microsoft.com/office/drawing/2014/main" id="{9C415D14-23F9-0ECF-D361-96E796D7EF60}"/>
                </a:ext>
              </a:extLst>
            </p:cNvPr>
            <p:cNvSpPr>
              <a:spLocks noChangeShapeType="1"/>
            </p:cNvSpPr>
            <p:nvPr/>
          </p:nvSpPr>
          <p:spPr bwMode="auto">
            <a:xfrm>
              <a:off x="2352" y="2304"/>
              <a:ext cx="288" cy="33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63512" name="Line 23">
              <a:extLst>
                <a:ext uri="{FF2B5EF4-FFF2-40B4-BE49-F238E27FC236}">
                  <a16:creationId xmlns:a16="http://schemas.microsoft.com/office/drawing/2014/main" id="{7466C463-3647-3411-42CB-815862729A35}"/>
                </a:ext>
              </a:extLst>
            </p:cNvPr>
            <p:cNvSpPr>
              <a:spLocks noChangeShapeType="1"/>
            </p:cNvSpPr>
            <p:nvPr/>
          </p:nvSpPr>
          <p:spPr bwMode="auto">
            <a:xfrm flipV="1">
              <a:off x="3504" y="2304"/>
              <a:ext cx="240" cy="33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63513" name="AutoShape 24">
              <a:extLst>
                <a:ext uri="{FF2B5EF4-FFF2-40B4-BE49-F238E27FC236}">
                  <a16:creationId xmlns:a16="http://schemas.microsoft.com/office/drawing/2014/main" id="{5429F86A-BFEF-88E7-5874-B540680756E5}"/>
                </a:ext>
              </a:extLst>
            </p:cNvPr>
            <p:cNvSpPr>
              <a:spLocks noChangeArrowheads="1"/>
            </p:cNvSpPr>
            <p:nvPr/>
          </p:nvSpPr>
          <p:spPr bwMode="auto">
            <a:xfrm>
              <a:off x="4272" y="3360"/>
              <a:ext cx="768" cy="672"/>
            </a:xfrm>
            <a:prstGeom prst="star16">
              <a:avLst>
                <a:gd name="adj" fmla="val 375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1800" b="1">
                  <a:latin typeface="Times New Roman" panose="02020603050405020304" pitchFamily="18" charset="0"/>
                </a:rPr>
                <a:t>数据库</a:t>
              </a:r>
            </a:p>
            <a:p>
              <a:pPr algn="ctr" eaLnBrk="1" hangingPunct="1">
                <a:spcBef>
                  <a:spcPct val="0"/>
                </a:spcBef>
                <a:buClrTx/>
                <a:buSzTx/>
                <a:buFontTx/>
                <a:buNone/>
              </a:pPr>
              <a:r>
                <a:rPr lang="zh-CN" altLang="en-US" sz="1800" b="1">
                  <a:latin typeface="Times New Roman" panose="02020603050405020304" pitchFamily="18" charset="0"/>
                </a:rPr>
                <a:t>系统</a:t>
              </a:r>
              <a:endParaRPr lang="zh-CN" altLang="en-US" sz="2400" b="1">
                <a:latin typeface="Times New Roman" panose="02020603050405020304" pitchFamily="18" charset="0"/>
              </a:endParaRPr>
            </a:p>
          </p:txBody>
        </p:sp>
        <p:sp>
          <p:nvSpPr>
            <p:cNvPr id="63514" name="Freeform 25">
              <a:extLst>
                <a:ext uri="{FF2B5EF4-FFF2-40B4-BE49-F238E27FC236}">
                  <a16:creationId xmlns:a16="http://schemas.microsoft.com/office/drawing/2014/main" id="{1AB6AA01-3797-4568-3F52-7393036E1636}"/>
                </a:ext>
              </a:extLst>
            </p:cNvPr>
            <p:cNvSpPr>
              <a:spLocks/>
            </p:cNvSpPr>
            <p:nvPr/>
          </p:nvSpPr>
          <p:spPr bwMode="auto">
            <a:xfrm>
              <a:off x="2064" y="768"/>
              <a:ext cx="2031" cy="837"/>
            </a:xfrm>
            <a:custGeom>
              <a:avLst/>
              <a:gdLst>
                <a:gd name="T0" fmla="*/ 2031 w 2031"/>
                <a:gd name="T1" fmla="*/ 837 h 837"/>
                <a:gd name="T2" fmla="*/ 1927 w 2031"/>
                <a:gd name="T3" fmla="*/ 523 h 837"/>
                <a:gd name="T4" fmla="*/ 1835 w 2031"/>
                <a:gd name="T5" fmla="*/ 341 h 837"/>
                <a:gd name="T6" fmla="*/ 1651 w 2031"/>
                <a:gd name="T7" fmla="*/ 207 h 837"/>
                <a:gd name="T8" fmla="*/ 1476 w 2031"/>
                <a:gd name="T9" fmla="*/ 85 h 837"/>
                <a:gd name="T10" fmla="*/ 1324 w 2031"/>
                <a:gd name="T11" fmla="*/ 29 h 837"/>
                <a:gd name="T12" fmla="*/ 1274 w 2031"/>
                <a:gd name="T13" fmla="*/ 19 h 837"/>
                <a:gd name="T14" fmla="*/ 1169 w 2031"/>
                <a:gd name="T15" fmla="*/ 2 h 837"/>
                <a:gd name="T16" fmla="*/ 791 w 2031"/>
                <a:gd name="T17" fmla="*/ 29 h 837"/>
                <a:gd name="T18" fmla="*/ 505 w 2031"/>
                <a:gd name="T19" fmla="*/ 161 h 837"/>
                <a:gd name="T20" fmla="*/ 215 w 2031"/>
                <a:gd name="T21" fmla="*/ 434 h 837"/>
                <a:gd name="T22" fmla="*/ 0 w 2031"/>
                <a:gd name="T23" fmla="*/ 816 h 8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31"/>
                <a:gd name="T37" fmla="*/ 0 h 837"/>
                <a:gd name="T38" fmla="*/ 2031 w 2031"/>
                <a:gd name="T39" fmla="*/ 837 h 8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31" h="837">
                  <a:moveTo>
                    <a:pt x="2031" y="837"/>
                  </a:moveTo>
                  <a:cubicBezTo>
                    <a:pt x="2014" y="785"/>
                    <a:pt x="1960" y="606"/>
                    <a:pt x="1927" y="523"/>
                  </a:cubicBezTo>
                  <a:cubicBezTo>
                    <a:pt x="1894" y="440"/>
                    <a:pt x="1881" y="394"/>
                    <a:pt x="1835" y="341"/>
                  </a:cubicBezTo>
                  <a:cubicBezTo>
                    <a:pt x="1789" y="288"/>
                    <a:pt x="1711" y="250"/>
                    <a:pt x="1651" y="207"/>
                  </a:cubicBezTo>
                  <a:cubicBezTo>
                    <a:pt x="1591" y="164"/>
                    <a:pt x="1531" y="114"/>
                    <a:pt x="1476" y="85"/>
                  </a:cubicBezTo>
                  <a:cubicBezTo>
                    <a:pt x="1422" y="55"/>
                    <a:pt x="1357" y="40"/>
                    <a:pt x="1324" y="29"/>
                  </a:cubicBezTo>
                  <a:cubicBezTo>
                    <a:pt x="1290" y="19"/>
                    <a:pt x="1300" y="24"/>
                    <a:pt x="1274" y="19"/>
                  </a:cubicBezTo>
                  <a:cubicBezTo>
                    <a:pt x="1249" y="15"/>
                    <a:pt x="1250" y="0"/>
                    <a:pt x="1169" y="2"/>
                  </a:cubicBezTo>
                  <a:cubicBezTo>
                    <a:pt x="1089" y="4"/>
                    <a:pt x="902" y="4"/>
                    <a:pt x="791" y="29"/>
                  </a:cubicBezTo>
                  <a:cubicBezTo>
                    <a:pt x="680" y="54"/>
                    <a:pt x="600" y="93"/>
                    <a:pt x="505" y="161"/>
                  </a:cubicBezTo>
                  <a:cubicBezTo>
                    <a:pt x="409" y="229"/>
                    <a:pt x="299" y="326"/>
                    <a:pt x="215" y="434"/>
                  </a:cubicBezTo>
                  <a:cubicBezTo>
                    <a:pt x="130" y="542"/>
                    <a:pt x="44" y="738"/>
                    <a:pt x="0" y="816"/>
                  </a:cubicBezTo>
                </a:path>
              </a:pathLst>
            </a:custGeom>
            <a:noFill/>
            <a:ln w="19050">
              <a:solidFill>
                <a:srgbClr val="000000"/>
              </a:solidFill>
              <a:prstDash val="dash"/>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3515" name="Freeform 26">
              <a:extLst>
                <a:ext uri="{FF2B5EF4-FFF2-40B4-BE49-F238E27FC236}">
                  <a16:creationId xmlns:a16="http://schemas.microsoft.com/office/drawing/2014/main" id="{D411711B-A557-7B2B-66C4-D7B069FCB9F9}"/>
                </a:ext>
              </a:extLst>
            </p:cNvPr>
            <p:cNvSpPr>
              <a:spLocks/>
            </p:cNvSpPr>
            <p:nvPr/>
          </p:nvSpPr>
          <p:spPr bwMode="auto">
            <a:xfrm>
              <a:off x="3456" y="2505"/>
              <a:ext cx="496" cy="392"/>
            </a:xfrm>
            <a:custGeom>
              <a:avLst/>
              <a:gdLst>
                <a:gd name="T0" fmla="*/ 496 w 496"/>
                <a:gd name="T1" fmla="*/ 0 h 392"/>
                <a:gd name="T2" fmla="*/ 443 w 496"/>
                <a:gd name="T3" fmla="*/ 130 h 392"/>
                <a:gd name="T4" fmla="*/ 313 w 496"/>
                <a:gd name="T5" fmla="*/ 274 h 392"/>
                <a:gd name="T6" fmla="*/ 96 w 496"/>
                <a:gd name="T7" fmla="*/ 375 h 392"/>
                <a:gd name="T8" fmla="*/ 0 w 496"/>
                <a:gd name="T9" fmla="*/ 375 h 392"/>
                <a:gd name="T10" fmla="*/ 0 60000 65536"/>
                <a:gd name="T11" fmla="*/ 0 60000 65536"/>
                <a:gd name="T12" fmla="*/ 0 60000 65536"/>
                <a:gd name="T13" fmla="*/ 0 60000 65536"/>
                <a:gd name="T14" fmla="*/ 0 60000 65536"/>
                <a:gd name="T15" fmla="*/ 0 w 496"/>
                <a:gd name="T16" fmla="*/ 0 h 392"/>
                <a:gd name="T17" fmla="*/ 496 w 496"/>
                <a:gd name="T18" fmla="*/ 392 h 392"/>
              </a:gdLst>
              <a:ahLst/>
              <a:cxnLst>
                <a:cxn ang="T10">
                  <a:pos x="T0" y="T1"/>
                </a:cxn>
                <a:cxn ang="T11">
                  <a:pos x="T2" y="T3"/>
                </a:cxn>
                <a:cxn ang="T12">
                  <a:pos x="T4" y="T5"/>
                </a:cxn>
                <a:cxn ang="T13">
                  <a:pos x="T6" y="T7"/>
                </a:cxn>
                <a:cxn ang="T14">
                  <a:pos x="T8" y="T9"/>
                </a:cxn>
              </a:cxnLst>
              <a:rect l="T15" t="T16" r="T17" b="T18"/>
              <a:pathLst>
                <a:path w="496" h="392">
                  <a:moveTo>
                    <a:pt x="496" y="0"/>
                  </a:moveTo>
                  <a:cubicBezTo>
                    <a:pt x="487" y="22"/>
                    <a:pt x="473" y="84"/>
                    <a:pt x="443" y="130"/>
                  </a:cubicBezTo>
                  <a:cubicBezTo>
                    <a:pt x="413" y="176"/>
                    <a:pt x="371" y="233"/>
                    <a:pt x="313" y="274"/>
                  </a:cubicBezTo>
                  <a:cubicBezTo>
                    <a:pt x="255" y="315"/>
                    <a:pt x="148" y="358"/>
                    <a:pt x="96" y="375"/>
                  </a:cubicBezTo>
                  <a:cubicBezTo>
                    <a:pt x="44" y="392"/>
                    <a:pt x="16" y="375"/>
                    <a:pt x="0" y="375"/>
                  </a:cubicBezTo>
                </a:path>
              </a:pathLst>
            </a:custGeom>
            <a:noFill/>
            <a:ln w="19050">
              <a:solidFill>
                <a:srgbClr val="000000"/>
              </a:solidFill>
              <a:prstDash val="dash"/>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页脚占位符 4">
            <a:extLst>
              <a:ext uri="{FF2B5EF4-FFF2-40B4-BE49-F238E27FC236}">
                <a16:creationId xmlns:a16="http://schemas.microsoft.com/office/drawing/2014/main" id="{408A479B-249D-EB28-41FF-2F472BBA513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64515" name="Rectangle 2">
            <a:extLst>
              <a:ext uri="{FF2B5EF4-FFF2-40B4-BE49-F238E27FC236}">
                <a16:creationId xmlns:a16="http://schemas.microsoft.com/office/drawing/2014/main" id="{C00EC65F-92FB-5284-6B12-93D198B913D8}"/>
              </a:ext>
            </a:extLst>
          </p:cNvPr>
          <p:cNvSpPr>
            <a:spLocks noGrp="1" noChangeArrowheads="1"/>
          </p:cNvSpPr>
          <p:nvPr>
            <p:ph type="title"/>
          </p:nvPr>
        </p:nvSpPr>
        <p:spPr/>
        <p:txBody>
          <a:bodyPr/>
          <a:lstStyle/>
          <a:p>
            <a:pPr eaLnBrk="1" hangingPunct="1"/>
            <a:r>
              <a:rPr lang="zh-CN" altLang="en-US"/>
              <a:t>定义数据库结构（续）</a:t>
            </a:r>
          </a:p>
        </p:txBody>
      </p:sp>
      <p:sp>
        <p:nvSpPr>
          <p:cNvPr id="64516" name="Rectangle 3">
            <a:extLst>
              <a:ext uri="{FF2B5EF4-FFF2-40B4-BE49-F238E27FC236}">
                <a16:creationId xmlns:a16="http://schemas.microsoft.com/office/drawing/2014/main" id="{8547B06D-C737-54FB-860D-D070C1F6E57A}"/>
              </a:ext>
            </a:extLst>
          </p:cNvPr>
          <p:cNvSpPr>
            <a:spLocks noGrp="1" noChangeArrowheads="1"/>
          </p:cNvSpPr>
          <p:nvPr>
            <p:ph type="body" idx="1"/>
          </p:nvPr>
        </p:nvSpPr>
        <p:spPr>
          <a:xfrm>
            <a:off x="468313" y="2017713"/>
            <a:ext cx="8486775" cy="4114800"/>
          </a:xfrm>
        </p:spPr>
        <p:txBody>
          <a:bodyPr/>
          <a:lstStyle/>
          <a:p>
            <a:pPr eaLnBrk="1" hangingPunct="1">
              <a:buFont typeface="Wingdings" panose="05000000000000000000" pitchFamily="2" charset="2"/>
              <a:buNone/>
            </a:pPr>
            <a:r>
              <a:rPr lang="zh-CN" altLang="en-US" sz="2800"/>
              <a:t>例，可以用</a:t>
            </a:r>
            <a:r>
              <a:rPr lang="en-US" altLang="zh-CN" sz="2800"/>
              <a:t>SQL</a:t>
            </a:r>
            <a:r>
              <a:rPr lang="zh-CN" altLang="en-US" sz="2800"/>
              <a:t>语句如下定义表结构：</a:t>
            </a:r>
          </a:p>
          <a:p>
            <a:pPr lvl="2" eaLnBrk="1" hangingPunct="1">
              <a:lnSpc>
                <a:spcPct val="70000"/>
              </a:lnSpc>
              <a:buFont typeface="Wingdings" panose="05000000000000000000" pitchFamily="2" charset="2"/>
              <a:buNone/>
            </a:pPr>
            <a:endParaRPr lang="en-US" altLang="zh-CN"/>
          </a:p>
          <a:p>
            <a:pPr lvl="2" eaLnBrk="1" hangingPunct="1">
              <a:lnSpc>
                <a:spcPct val="70000"/>
              </a:lnSpc>
              <a:buFont typeface="Wingdings" panose="05000000000000000000" pitchFamily="2" charset="2"/>
              <a:buNone/>
            </a:pPr>
            <a:r>
              <a:rPr lang="en-US" altLang="zh-CN"/>
              <a:t>CREATE  TABLE  </a:t>
            </a:r>
            <a:r>
              <a:rPr lang="zh-CN" altLang="en-US"/>
              <a:t>学生</a:t>
            </a:r>
          </a:p>
          <a:p>
            <a:pPr lvl="2" eaLnBrk="1" hangingPunct="1">
              <a:lnSpc>
                <a:spcPct val="70000"/>
              </a:lnSpc>
              <a:buFont typeface="Wingdings" panose="05000000000000000000" pitchFamily="2" charset="2"/>
              <a:buNone/>
            </a:pPr>
            <a:r>
              <a:rPr lang="zh-CN" altLang="en-US"/>
              <a:t>       </a:t>
            </a:r>
            <a:r>
              <a:rPr lang="en-US" altLang="zh-CN"/>
              <a:t>(</a:t>
            </a:r>
            <a:r>
              <a:rPr lang="zh-CN" altLang="en-US"/>
              <a:t>学号  </a:t>
            </a:r>
            <a:r>
              <a:rPr lang="en-US" altLang="zh-CN"/>
              <a:t>CHAR(8),</a:t>
            </a:r>
          </a:p>
          <a:p>
            <a:pPr lvl="2" eaLnBrk="1" hangingPunct="1">
              <a:lnSpc>
                <a:spcPct val="70000"/>
              </a:lnSpc>
              <a:buFont typeface="Wingdings" panose="05000000000000000000" pitchFamily="2" charset="2"/>
              <a:buNone/>
            </a:pPr>
            <a:r>
              <a:rPr lang="en-US" altLang="zh-CN"/>
              <a:t>     </a:t>
            </a:r>
            <a:r>
              <a:rPr lang="zh-CN" altLang="en-US"/>
              <a:t>　</a:t>
            </a:r>
            <a:r>
              <a:rPr lang="en-US" altLang="zh-CN">
                <a:latin typeface="Times New Roman" panose="02020603050405020304" pitchFamily="18" charset="0"/>
              </a:rPr>
              <a:t>……………</a:t>
            </a:r>
            <a:endParaRPr lang="en-US" altLang="zh-CN"/>
          </a:p>
          <a:p>
            <a:pPr lvl="2" eaLnBrk="1" hangingPunct="1">
              <a:lnSpc>
                <a:spcPct val="70000"/>
              </a:lnSpc>
              <a:buFont typeface="Wingdings" panose="05000000000000000000" pitchFamily="2" charset="2"/>
              <a:buNone/>
            </a:pPr>
            <a:r>
              <a:rPr lang="en-US" altLang="zh-CN"/>
              <a:t>       );</a:t>
            </a:r>
          </a:p>
          <a:p>
            <a:pPr lvl="2" eaLnBrk="1" hangingPunct="1">
              <a:lnSpc>
                <a:spcPct val="70000"/>
              </a:lnSpc>
              <a:buFont typeface="Wingdings" panose="05000000000000000000" pitchFamily="2" charset="2"/>
              <a:buNone/>
            </a:pPr>
            <a:r>
              <a:rPr lang="en-US" altLang="zh-CN"/>
              <a:t>CREATE  TABLE  </a:t>
            </a:r>
            <a:r>
              <a:rPr lang="zh-CN" altLang="en-US"/>
              <a:t>课程</a:t>
            </a:r>
          </a:p>
          <a:p>
            <a:pPr lvl="2" eaLnBrk="1" hangingPunct="1">
              <a:lnSpc>
                <a:spcPct val="70000"/>
              </a:lnSpc>
              <a:buFont typeface="Wingdings" panose="05000000000000000000" pitchFamily="2" charset="2"/>
              <a:buNone/>
            </a:pPr>
            <a:r>
              <a:rPr lang="zh-CN" altLang="en-US"/>
              <a:t>       </a:t>
            </a:r>
            <a:r>
              <a:rPr lang="en-US" altLang="zh-CN"/>
              <a:t>(</a:t>
            </a:r>
          </a:p>
          <a:p>
            <a:pPr lvl="2" eaLnBrk="1" hangingPunct="1">
              <a:lnSpc>
                <a:spcPct val="70000"/>
              </a:lnSpc>
              <a:buFont typeface="Wingdings" panose="05000000000000000000" pitchFamily="2" charset="2"/>
              <a:buNone/>
            </a:pPr>
            <a:r>
              <a:rPr lang="en-US" altLang="zh-CN"/>
              <a:t>     </a:t>
            </a:r>
            <a:r>
              <a:rPr lang="zh-CN" altLang="en-US"/>
              <a:t>　</a:t>
            </a:r>
            <a:r>
              <a:rPr lang="en-US" altLang="zh-CN">
                <a:latin typeface="Times New Roman" panose="02020603050405020304" pitchFamily="18" charset="0"/>
              </a:rPr>
              <a:t>……………</a:t>
            </a:r>
            <a:endParaRPr lang="en-US" altLang="zh-CN"/>
          </a:p>
          <a:p>
            <a:pPr lvl="2" eaLnBrk="1" hangingPunct="1">
              <a:lnSpc>
                <a:spcPct val="70000"/>
              </a:lnSpc>
              <a:buFont typeface="Wingdings" panose="05000000000000000000" pitchFamily="2" charset="2"/>
              <a:buNone/>
            </a:pPr>
            <a:r>
              <a:rPr lang="en-US" altLang="zh-CN"/>
              <a:t>       );</a:t>
            </a:r>
          </a:p>
          <a:p>
            <a:pPr lvl="2" eaLnBrk="1" hangingPunct="1">
              <a:lnSpc>
                <a:spcPct val="70000"/>
              </a:lnSpc>
              <a:buFont typeface="Wingdings" panose="05000000000000000000" pitchFamily="2" charset="2"/>
              <a:buNone/>
            </a:pPr>
            <a:r>
              <a:rPr lang="en-US" altLang="zh-CN">
                <a:latin typeface="Times New Roman" panose="02020603050405020304" pitchFamily="18" charset="0"/>
              </a:rPr>
              <a:t>……………</a:t>
            </a:r>
            <a:r>
              <a:rPr lang="en-US" altLang="zh-CN"/>
              <a:t>  </a:t>
            </a:r>
            <a:r>
              <a:rPr lang="en-US" altLang="zh-CN" sz="2800"/>
              <a:t>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页脚占位符 4">
            <a:extLst>
              <a:ext uri="{FF2B5EF4-FFF2-40B4-BE49-F238E27FC236}">
                <a16:creationId xmlns:a16="http://schemas.microsoft.com/office/drawing/2014/main" id="{C6C73D20-2BAF-B949-A770-817A9977DB3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65539" name="Rectangle 2">
            <a:extLst>
              <a:ext uri="{FF2B5EF4-FFF2-40B4-BE49-F238E27FC236}">
                <a16:creationId xmlns:a16="http://schemas.microsoft.com/office/drawing/2014/main" id="{D3C00168-8D2A-C743-F89B-0067DAE62FD1}"/>
              </a:ext>
            </a:extLst>
          </p:cNvPr>
          <p:cNvSpPr>
            <a:spLocks noGrp="1" noChangeArrowheads="1"/>
          </p:cNvSpPr>
          <p:nvPr>
            <p:ph type="title"/>
          </p:nvPr>
        </p:nvSpPr>
        <p:spPr/>
        <p:txBody>
          <a:bodyPr/>
          <a:lstStyle/>
          <a:p>
            <a:pPr eaLnBrk="1" hangingPunct="1"/>
            <a:r>
              <a:rPr lang="zh-CN" altLang="en-US"/>
              <a:t>定义数据库结构（续）</a:t>
            </a:r>
          </a:p>
        </p:txBody>
      </p:sp>
      <p:sp>
        <p:nvSpPr>
          <p:cNvPr id="65540" name="Rectangle 3">
            <a:extLst>
              <a:ext uri="{FF2B5EF4-FFF2-40B4-BE49-F238E27FC236}">
                <a16:creationId xmlns:a16="http://schemas.microsoft.com/office/drawing/2014/main" id="{4AF9E012-0772-5203-C1D0-CB67C64E76A6}"/>
              </a:ext>
            </a:extLst>
          </p:cNvPr>
          <p:cNvSpPr>
            <a:spLocks noGrp="1" noChangeArrowheads="1"/>
          </p:cNvSpPr>
          <p:nvPr>
            <p:ph type="body" idx="1"/>
          </p:nvPr>
        </p:nvSpPr>
        <p:spPr>
          <a:xfrm>
            <a:off x="684213" y="1916113"/>
            <a:ext cx="7772400" cy="4114800"/>
          </a:xfrm>
        </p:spPr>
        <p:txBody>
          <a:bodyPr/>
          <a:lstStyle/>
          <a:p>
            <a:pPr eaLnBrk="1" hangingPunct="1">
              <a:buFont typeface="Wingdings" panose="05000000000000000000" pitchFamily="2" charset="2"/>
              <a:buNone/>
            </a:pPr>
            <a:r>
              <a:rPr lang="en-US" altLang="zh-CN" sz="2800"/>
              <a:t>   </a:t>
            </a:r>
            <a:r>
              <a:rPr lang="zh-CN" altLang="en-US" sz="2800"/>
              <a:t>接下来是在这些基本表上定义视图：</a:t>
            </a:r>
          </a:p>
          <a:p>
            <a:pPr eaLnBrk="1" hangingPunct="1">
              <a:buFont typeface="Wingdings" panose="05000000000000000000" pitchFamily="2" charset="2"/>
              <a:buNone/>
            </a:pPr>
            <a:r>
              <a:rPr lang="zh-CN" altLang="en-US" sz="2800"/>
              <a:t>　　</a:t>
            </a:r>
            <a:r>
              <a:rPr lang="en-US" altLang="zh-CN" sz="2800"/>
              <a:t>CREATE VIEW ....</a:t>
            </a:r>
          </a:p>
          <a:p>
            <a:pPr eaLnBrk="1" hangingPunct="1">
              <a:buFont typeface="Wingdings" panose="05000000000000000000" pitchFamily="2" charset="2"/>
              <a:buNone/>
            </a:pPr>
            <a:r>
              <a:rPr lang="en-US" altLang="zh-CN" sz="2800"/>
              <a:t>       	(</a:t>
            </a:r>
          </a:p>
          <a:p>
            <a:pPr eaLnBrk="1" hangingPunct="1">
              <a:buFont typeface="Wingdings" panose="05000000000000000000" pitchFamily="2" charset="2"/>
              <a:buNone/>
            </a:pPr>
            <a:r>
              <a:rPr lang="en-US" altLang="zh-CN" sz="2800"/>
              <a:t>     </a:t>
            </a:r>
            <a:r>
              <a:rPr lang="zh-CN" altLang="en-US" sz="2800"/>
              <a:t>　		</a:t>
            </a:r>
            <a:r>
              <a:rPr lang="en-US" altLang="zh-CN" sz="2800">
                <a:latin typeface="Times New Roman" panose="02020603050405020304" pitchFamily="18" charset="0"/>
              </a:rPr>
              <a:t>……………</a:t>
            </a:r>
            <a:endParaRPr lang="en-US" altLang="zh-CN" sz="2800"/>
          </a:p>
          <a:p>
            <a:pPr eaLnBrk="1" hangingPunct="1">
              <a:buFont typeface="Wingdings" panose="05000000000000000000" pitchFamily="2" charset="2"/>
              <a:buNone/>
            </a:pPr>
            <a:r>
              <a:rPr lang="en-US" altLang="zh-CN" sz="2800"/>
              <a:t>      	 );</a:t>
            </a:r>
          </a:p>
          <a:p>
            <a:pPr eaLnBrk="1" hangingPunct="1">
              <a:buFont typeface="Wingdings" panose="05000000000000000000" pitchFamily="2" charset="2"/>
              <a:buNone/>
            </a:pPr>
            <a:r>
              <a:rPr lang="en-US" altLang="zh-CN" sz="2800"/>
              <a:t>     	</a:t>
            </a:r>
            <a:r>
              <a:rPr lang="en-US" altLang="zh-CN" sz="2800">
                <a:latin typeface="Times New Roman" panose="02020603050405020304" pitchFamily="18" charset="0"/>
              </a:rPr>
              <a:t>……………</a:t>
            </a:r>
            <a:endParaRPr lang="en-US" altLang="zh-CN" sz="2800"/>
          </a:p>
          <a:p>
            <a:pPr eaLnBrk="1" hangingPunct="1">
              <a:buFont typeface="Wingdings" panose="05000000000000000000" pitchFamily="2" charset="2"/>
              <a:buNone/>
            </a:pPr>
            <a:endParaRPr lang="en-US" altLang="zh-CN" sz="2800"/>
          </a:p>
          <a:p>
            <a:pPr eaLnBrk="1" hangingPunct="1">
              <a:buFont typeface="Wingdings" panose="05000000000000000000" pitchFamily="2" charset="2"/>
              <a:buNone/>
            </a:pPr>
            <a:r>
              <a:rPr lang="en-US" altLang="zh-CN" sz="2800"/>
              <a:t>	</a:t>
            </a:r>
            <a:r>
              <a:rPr lang="zh-CN" altLang="en-US" sz="2800"/>
              <a:t>如果需要使用聚簇，应用</a:t>
            </a:r>
            <a:r>
              <a:rPr lang="en-US" altLang="zh-CN" sz="2800"/>
              <a:t>CREATE CLUSTER</a:t>
            </a:r>
            <a:r>
              <a:rPr lang="zh-CN" altLang="en-US" sz="2800"/>
              <a:t>语句定义聚族。</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页脚占位符 4">
            <a:extLst>
              <a:ext uri="{FF2B5EF4-FFF2-40B4-BE49-F238E27FC236}">
                <a16:creationId xmlns:a16="http://schemas.microsoft.com/office/drawing/2014/main" id="{F2D55D6B-369F-7423-76FB-7CA8399149D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66563" name="Rectangle 2">
            <a:extLst>
              <a:ext uri="{FF2B5EF4-FFF2-40B4-BE49-F238E27FC236}">
                <a16:creationId xmlns:a16="http://schemas.microsoft.com/office/drawing/2014/main" id="{A9AC09F1-4E6D-D30D-0F41-0AFB179135C0}"/>
              </a:ext>
            </a:extLst>
          </p:cNvPr>
          <p:cNvSpPr>
            <a:spLocks noGrp="1" noChangeArrowheads="1"/>
          </p:cNvSpPr>
          <p:nvPr>
            <p:ph type="title"/>
          </p:nvPr>
        </p:nvSpPr>
        <p:spPr/>
        <p:txBody>
          <a:bodyPr/>
          <a:lstStyle/>
          <a:p>
            <a:pPr eaLnBrk="1" hangingPunct="1"/>
            <a:r>
              <a:rPr lang="zh-CN" altLang="en-US"/>
              <a:t>三、编制与调试应用程序</a:t>
            </a:r>
          </a:p>
        </p:txBody>
      </p:sp>
      <p:sp>
        <p:nvSpPr>
          <p:cNvPr id="66564" name="Rectangle 3">
            <a:extLst>
              <a:ext uri="{FF2B5EF4-FFF2-40B4-BE49-F238E27FC236}">
                <a16:creationId xmlns:a16="http://schemas.microsoft.com/office/drawing/2014/main" id="{3F37B13D-AD72-1E74-E2DC-EAE33BEF5E16}"/>
              </a:ext>
            </a:extLst>
          </p:cNvPr>
          <p:cNvSpPr>
            <a:spLocks noGrp="1" noChangeArrowheads="1"/>
          </p:cNvSpPr>
          <p:nvPr>
            <p:ph type="body" idx="1"/>
          </p:nvPr>
        </p:nvSpPr>
        <p:spPr>
          <a:xfrm>
            <a:off x="323850" y="1916113"/>
            <a:ext cx="8496300" cy="4114800"/>
          </a:xfrm>
        </p:spPr>
        <p:txBody>
          <a:bodyPr/>
          <a:lstStyle/>
          <a:p>
            <a:pPr eaLnBrk="1" hangingPunct="1">
              <a:lnSpc>
                <a:spcPct val="120000"/>
              </a:lnSpc>
            </a:pPr>
            <a:r>
              <a:rPr lang="zh-CN" altLang="en-US" sz="2800"/>
              <a:t>数据库应用程序的设计应该与数据库设计并行进行。</a:t>
            </a:r>
          </a:p>
          <a:p>
            <a:pPr eaLnBrk="1" hangingPunct="1">
              <a:lnSpc>
                <a:spcPct val="120000"/>
              </a:lnSpc>
            </a:pPr>
            <a:endParaRPr lang="zh-CN" altLang="en-US" sz="2800"/>
          </a:p>
          <a:p>
            <a:pPr eaLnBrk="1" hangingPunct="1">
              <a:lnSpc>
                <a:spcPct val="120000"/>
              </a:lnSpc>
            </a:pPr>
            <a:r>
              <a:rPr lang="zh-CN" altLang="en-US" sz="2800"/>
              <a:t>在数据库实施阶段，当数据库结构建立好后，就可以开始编制与调试数据库的应用程序。</a:t>
            </a:r>
            <a:endParaRPr lang="en-US" altLang="zh-CN" sz="2800"/>
          </a:p>
          <a:p>
            <a:pPr eaLnBrk="1" hangingPunct="1">
              <a:lnSpc>
                <a:spcPct val="120000"/>
              </a:lnSpc>
            </a:pPr>
            <a:endParaRPr lang="en-US" altLang="zh-CN" sz="2800"/>
          </a:p>
          <a:p>
            <a:pPr eaLnBrk="1" hangingPunct="1">
              <a:lnSpc>
                <a:spcPct val="120000"/>
              </a:lnSpc>
            </a:pPr>
            <a:r>
              <a:rPr lang="zh-CN" altLang="en-US" sz="2800"/>
              <a:t>调试应用程序时由于数据入库尚未完成，可先使用模拟数据。</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页脚占位符 4">
            <a:extLst>
              <a:ext uri="{FF2B5EF4-FFF2-40B4-BE49-F238E27FC236}">
                <a16:creationId xmlns:a16="http://schemas.microsoft.com/office/drawing/2014/main" id="{A52EB894-7A27-988A-9CBD-5A7716B1051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67587" name="Rectangle 2">
            <a:extLst>
              <a:ext uri="{FF2B5EF4-FFF2-40B4-BE49-F238E27FC236}">
                <a16:creationId xmlns:a16="http://schemas.microsoft.com/office/drawing/2014/main" id="{3DB47C39-730A-0155-C3F2-27A6E99A05EB}"/>
              </a:ext>
            </a:extLst>
          </p:cNvPr>
          <p:cNvSpPr>
            <a:spLocks noGrp="1" noChangeArrowheads="1"/>
          </p:cNvSpPr>
          <p:nvPr>
            <p:ph type="title"/>
          </p:nvPr>
        </p:nvSpPr>
        <p:spPr/>
        <p:txBody>
          <a:bodyPr/>
          <a:lstStyle/>
          <a:p>
            <a:pPr eaLnBrk="1" hangingPunct="1"/>
            <a:r>
              <a:rPr lang="zh-CN" altLang="en-US"/>
              <a:t>四、数据库试运行</a:t>
            </a:r>
          </a:p>
        </p:txBody>
      </p:sp>
      <p:sp>
        <p:nvSpPr>
          <p:cNvPr id="52228" name="Rectangle 3">
            <a:extLst>
              <a:ext uri="{FF2B5EF4-FFF2-40B4-BE49-F238E27FC236}">
                <a16:creationId xmlns:a16="http://schemas.microsoft.com/office/drawing/2014/main" id="{E3BDCC38-3FE8-CC8B-3B75-65E163CDD2A5}"/>
              </a:ext>
            </a:extLst>
          </p:cNvPr>
          <p:cNvSpPr>
            <a:spLocks noGrp="1" noChangeArrowheads="1"/>
          </p:cNvSpPr>
          <p:nvPr>
            <p:ph type="body" idx="1"/>
          </p:nvPr>
        </p:nvSpPr>
        <p:spPr>
          <a:xfrm>
            <a:off x="539750" y="1916113"/>
            <a:ext cx="8208963" cy="4114800"/>
          </a:xfrm>
        </p:spPr>
        <p:txBody>
          <a:bodyPr/>
          <a:lstStyle/>
          <a:p>
            <a:pPr eaLnBrk="1" hangingPunct="1">
              <a:lnSpc>
                <a:spcPct val="90000"/>
              </a:lnSpc>
            </a:pPr>
            <a:r>
              <a:rPr lang="zh-CN" altLang="en-US" sz="2800"/>
              <a:t>应用程序调试完成，并且已有一小部分数据入库后，就可以开始数据库的试运行。</a:t>
            </a:r>
          </a:p>
          <a:p>
            <a:pPr eaLnBrk="1" hangingPunct="1">
              <a:lnSpc>
                <a:spcPct val="90000"/>
              </a:lnSpc>
            </a:pPr>
            <a:endParaRPr lang="zh-CN" altLang="en-US" sz="2800"/>
          </a:p>
          <a:p>
            <a:pPr eaLnBrk="1" hangingPunct="1">
              <a:lnSpc>
                <a:spcPct val="90000"/>
              </a:lnSpc>
            </a:pPr>
            <a:r>
              <a:rPr lang="zh-CN" altLang="en-US" sz="2800"/>
              <a:t>数据库试运行也称为联合调试，其主要工作包括：</a:t>
            </a:r>
          </a:p>
          <a:p>
            <a:pPr lvl="1" eaLnBrk="1" hangingPunct="1">
              <a:lnSpc>
                <a:spcPct val="90000"/>
              </a:lnSpc>
              <a:buFont typeface="Wingdings" panose="05000000000000000000" pitchFamily="2" charset="2"/>
              <a:buNone/>
            </a:pPr>
            <a:r>
              <a:rPr lang="en-US" altLang="zh-CN" sz="2400"/>
              <a:t>1</a:t>
            </a:r>
            <a:r>
              <a:rPr lang="zh-CN" altLang="en-US" sz="2400"/>
              <a:t>）</a:t>
            </a:r>
            <a:r>
              <a:rPr lang="zh-CN" altLang="en-US">
                <a:solidFill>
                  <a:schemeClr val="accent2"/>
                </a:solidFill>
              </a:rPr>
              <a:t>功能测试</a:t>
            </a:r>
            <a:r>
              <a:rPr lang="zh-CN" altLang="en-US"/>
              <a:t>：实际运行应用程序，执行对数据库的各种操作，测试应用程序的各种功能。</a:t>
            </a:r>
          </a:p>
          <a:p>
            <a:pPr lvl="1" eaLnBrk="1" hangingPunct="1">
              <a:lnSpc>
                <a:spcPct val="90000"/>
              </a:lnSpc>
              <a:buFont typeface="Wingdings" panose="05000000000000000000" pitchFamily="2" charset="2"/>
              <a:buNone/>
            </a:pPr>
            <a:endParaRPr lang="zh-CN" altLang="en-US"/>
          </a:p>
          <a:p>
            <a:pPr lvl="1" eaLnBrk="1" hangingPunct="1">
              <a:lnSpc>
                <a:spcPct val="90000"/>
              </a:lnSpc>
              <a:buFont typeface="Wingdings" panose="05000000000000000000" pitchFamily="2" charset="2"/>
              <a:buNone/>
            </a:pPr>
            <a:r>
              <a:rPr lang="en-US" altLang="zh-CN"/>
              <a:t>2</a:t>
            </a:r>
            <a:r>
              <a:rPr lang="zh-CN" altLang="en-US"/>
              <a:t>）</a:t>
            </a:r>
            <a:r>
              <a:rPr lang="zh-CN" altLang="en-US">
                <a:solidFill>
                  <a:schemeClr val="accent2"/>
                </a:solidFill>
              </a:rPr>
              <a:t>性能测试</a:t>
            </a:r>
            <a:r>
              <a:rPr lang="zh-CN" altLang="en-US"/>
              <a:t>：测量系统的性能指标，分析是否符合设计目标</a:t>
            </a:r>
            <a:r>
              <a:rPr lang="zh-CN" altLang="en-US" sz="24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2228">
                                            <p:txEl>
                                              <p:pRg st="2" end="2"/>
                                            </p:txEl>
                                          </p:spTgt>
                                        </p:tgtEl>
                                        <p:attrNameLst>
                                          <p:attrName>style.visibility</p:attrName>
                                        </p:attrNameLst>
                                      </p:cBhvr>
                                      <p:to>
                                        <p:strVal val="visible"/>
                                      </p:to>
                                    </p:set>
                                    <p:animEffect transition="in" filter="box(in)">
                                      <p:cBhvr>
                                        <p:cTn id="7" dur="500"/>
                                        <p:tgtEl>
                                          <p:spTgt spid="52228">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2228">
                                            <p:txEl>
                                              <p:pRg st="3" end="3"/>
                                            </p:txEl>
                                          </p:spTgt>
                                        </p:tgtEl>
                                        <p:attrNameLst>
                                          <p:attrName>style.visibility</p:attrName>
                                        </p:attrNameLst>
                                      </p:cBhvr>
                                      <p:to>
                                        <p:strVal val="visible"/>
                                      </p:to>
                                    </p:set>
                                    <p:animEffect transition="in" filter="box(in)">
                                      <p:cBhvr>
                                        <p:cTn id="10" dur="500"/>
                                        <p:tgtEl>
                                          <p:spTgt spid="52228">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52228">
                                            <p:txEl>
                                              <p:pRg st="5" end="5"/>
                                            </p:txEl>
                                          </p:spTgt>
                                        </p:tgtEl>
                                        <p:attrNameLst>
                                          <p:attrName>style.visibility</p:attrName>
                                        </p:attrNameLst>
                                      </p:cBhvr>
                                      <p:to>
                                        <p:strVal val="visible"/>
                                      </p:to>
                                    </p:set>
                                    <p:animEffect transition="in" filter="box(in)">
                                      <p:cBhvr>
                                        <p:cTn id="13" dur="500"/>
                                        <p:tgtEl>
                                          <p:spTgt spid="5222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页脚占位符 4">
            <a:extLst>
              <a:ext uri="{FF2B5EF4-FFF2-40B4-BE49-F238E27FC236}">
                <a16:creationId xmlns:a16="http://schemas.microsoft.com/office/drawing/2014/main" id="{436174DD-5416-04E1-CA4F-10EACB3ABE3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68611" name="Rectangle 2">
            <a:extLst>
              <a:ext uri="{FF2B5EF4-FFF2-40B4-BE49-F238E27FC236}">
                <a16:creationId xmlns:a16="http://schemas.microsoft.com/office/drawing/2014/main" id="{97860D9F-9B93-7E0B-C55C-07EEB01F2024}"/>
              </a:ext>
            </a:extLst>
          </p:cNvPr>
          <p:cNvSpPr>
            <a:spLocks noGrp="1" noChangeArrowheads="1"/>
          </p:cNvSpPr>
          <p:nvPr>
            <p:ph type="title"/>
          </p:nvPr>
        </p:nvSpPr>
        <p:spPr/>
        <p:txBody>
          <a:bodyPr/>
          <a:lstStyle/>
          <a:p>
            <a:pPr eaLnBrk="1" hangingPunct="1"/>
            <a:r>
              <a:rPr lang="en-US" altLang="zh-CN"/>
              <a:t>7.7  </a:t>
            </a:r>
            <a:r>
              <a:rPr lang="zh-CN" altLang="en-US"/>
              <a:t>数据库运行与维护</a:t>
            </a:r>
          </a:p>
        </p:txBody>
      </p:sp>
      <p:sp>
        <p:nvSpPr>
          <p:cNvPr id="53252" name="Rectangle 3">
            <a:extLst>
              <a:ext uri="{FF2B5EF4-FFF2-40B4-BE49-F238E27FC236}">
                <a16:creationId xmlns:a16="http://schemas.microsoft.com/office/drawing/2014/main" id="{52C55130-65AD-1D9F-8CDF-3932BB6467C0}"/>
              </a:ext>
            </a:extLst>
          </p:cNvPr>
          <p:cNvSpPr>
            <a:spLocks noGrp="1" noChangeArrowheads="1"/>
          </p:cNvSpPr>
          <p:nvPr>
            <p:ph type="body" idx="1"/>
          </p:nvPr>
        </p:nvSpPr>
        <p:spPr>
          <a:xfrm>
            <a:off x="395288" y="1916113"/>
            <a:ext cx="8353425" cy="4114800"/>
          </a:xfrm>
        </p:spPr>
        <p:txBody>
          <a:bodyPr/>
          <a:lstStyle/>
          <a:p>
            <a:pPr eaLnBrk="1" hangingPunct="1"/>
            <a:r>
              <a:rPr lang="zh-CN" altLang="en-US" sz="2800"/>
              <a:t>数据库试运行结果符合设计目标后，数据库就可以真正投入运行了。</a:t>
            </a:r>
          </a:p>
          <a:p>
            <a:pPr eaLnBrk="1" hangingPunct="1">
              <a:spcBef>
                <a:spcPct val="40000"/>
              </a:spcBef>
            </a:pPr>
            <a:r>
              <a:rPr lang="zh-CN" altLang="en-US" sz="2800"/>
              <a:t>数据库投入运行标志着开发任务的基本完成和维护工作的开始</a:t>
            </a:r>
          </a:p>
          <a:p>
            <a:pPr eaLnBrk="1" hangingPunct="1">
              <a:spcBef>
                <a:spcPct val="40000"/>
              </a:spcBef>
            </a:pPr>
            <a:r>
              <a:rPr lang="zh-CN" altLang="en-US" sz="2800"/>
              <a:t>对数据库设计进行评价、调整、修改等维护工作是一个长期的任务，也是设计工作的继续和提高。</a:t>
            </a:r>
          </a:p>
          <a:p>
            <a:pPr marL="819150" lvl="1" eaLnBrk="1" hangingPunct="1"/>
            <a:r>
              <a:rPr lang="zh-CN" altLang="en-US"/>
              <a:t>应用环境在不断变化</a:t>
            </a:r>
          </a:p>
          <a:p>
            <a:pPr marL="819150" lvl="1" eaLnBrk="1" hangingPunct="1"/>
            <a:r>
              <a:rPr lang="zh-CN" altLang="en-US"/>
              <a:t>数据库运行过程中物理存储会不断变化</a:t>
            </a:r>
            <a:endParaRPr lang="zh-CN" altLang="en-US" sz="32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3252">
                                            <p:txEl>
                                              <p:pRg st="2" end="2"/>
                                            </p:txEl>
                                          </p:spTgt>
                                        </p:tgtEl>
                                        <p:attrNameLst>
                                          <p:attrName>style.visibility</p:attrName>
                                        </p:attrNameLst>
                                      </p:cBhvr>
                                      <p:to>
                                        <p:strVal val="visible"/>
                                      </p:to>
                                    </p:set>
                                    <p:animEffect transition="in" filter="box(in)">
                                      <p:cBhvr>
                                        <p:cTn id="7" dur="500"/>
                                        <p:tgtEl>
                                          <p:spTgt spid="53252">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3252">
                                            <p:txEl>
                                              <p:pRg st="3" end="3"/>
                                            </p:txEl>
                                          </p:spTgt>
                                        </p:tgtEl>
                                        <p:attrNameLst>
                                          <p:attrName>style.visibility</p:attrName>
                                        </p:attrNameLst>
                                      </p:cBhvr>
                                      <p:to>
                                        <p:strVal val="visible"/>
                                      </p:to>
                                    </p:set>
                                    <p:animEffect transition="in" filter="box(in)">
                                      <p:cBhvr>
                                        <p:cTn id="10" dur="500"/>
                                        <p:tgtEl>
                                          <p:spTgt spid="53252">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53252">
                                            <p:txEl>
                                              <p:pRg st="4" end="4"/>
                                            </p:txEl>
                                          </p:spTgt>
                                        </p:tgtEl>
                                        <p:attrNameLst>
                                          <p:attrName>style.visibility</p:attrName>
                                        </p:attrNameLst>
                                      </p:cBhvr>
                                      <p:to>
                                        <p:strVal val="visible"/>
                                      </p:to>
                                    </p:set>
                                    <p:animEffect transition="in" filter="box(in)">
                                      <p:cBhvr>
                                        <p:cTn id="13" dur="500"/>
                                        <p:tgtEl>
                                          <p:spTgt spid="5325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页脚占位符 4">
            <a:extLst>
              <a:ext uri="{FF2B5EF4-FFF2-40B4-BE49-F238E27FC236}">
                <a16:creationId xmlns:a16="http://schemas.microsoft.com/office/drawing/2014/main" id="{2DC66C50-2883-7CCA-A005-00E4443D4E4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69635" name="Rectangle 2">
            <a:extLst>
              <a:ext uri="{FF2B5EF4-FFF2-40B4-BE49-F238E27FC236}">
                <a16:creationId xmlns:a16="http://schemas.microsoft.com/office/drawing/2014/main" id="{8DCF5B3A-6D4A-236E-2C1F-D1128FE35845}"/>
              </a:ext>
            </a:extLst>
          </p:cNvPr>
          <p:cNvSpPr>
            <a:spLocks noGrp="1" noChangeArrowheads="1"/>
          </p:cNvSpPr>
          <p:nvPr>
            <p:ph type="title"/>
          </p:nvPr>
        </p:nvSpPr>
        <p:spPr/>
        <p:txBody>
          <a:bodyPr/>
          <a:lstStyle/>
          <a:p>
            <a:pPr eaLnBrk="1" hangingPunct="1"/>
            <a:r>
              <a:rPr lang="zh-CN" altLang="en-US"/>
              <a:t>数据库运行与维护（续）</a:t>
            </a:r>
          </a:p>
        </p:txBody>
      </p:sp>
      <p:sp>
        <p:nvSpPr>
          <p:cNvPr id="69636" name="Rectangle 3">
            <a:extLst>
              <a:ext uri="{FF2B5EF4-FFF2-40B4-BE49-F238E27FC236}">
                <a16:creationId xmlns:a16="http://schemas.microsoft.com/office/drawing/2014/main" id="{309D91CF-8880-9241-3F2E-803EE2C2F5C6}"/>
              </a:ext>
            </a:extLst>
          </p:cNvPr>
          <p:cNvSpPr>
            <a:spLocks noGrp="1" noChangeArrowheads="1"/>
          </p:cNvSpPr>
          <p:nvPr>
            <p:ph type="body" idx="1"/>
          </p:nvPr>
        </p:nvSpPr>
        <p:spPr>
          <a:xfrm>
            <a:off x="539750" y="1989138"/>
            <a:ext cx="8353425" cy="4114800"/>
          </a:xfrm>
        </p:spPr>
        <p:txBody>
          <a:bodyPr/>
          <a:lstStyle/>
          <a:p>
            <a:pPr eaLnBrk="1" hangingPunct="1">
              <a:lnSpc>
                <a:spcPct val="90000"/>
              </a:lnSpc>
            </a:pPr>
            <a:r>
              <a:rPr lang="zh-CN" altLang="en-US" sz="2800"/>
              <a:t>在数据库运行阶段，对数据库经常性的维护工作主要是由</a:t>
            </a:r>
            <a:r>
              <a:rPr lang="en-US" altLang="zh-CN" sz="2800"/>
              <a:t>DBA</a:t>
            </a:r>
            <a:r>
              <a:rPr lang="zh-CN" altLang="en-US" sz="2800"/>
              <a:t>完成的，包括：</a:t>
            </a:r>
          </a:p>
          <a:p>
            <a:pPr lvl="2" eaLnBrk="1" hangingPunct="1">
              <a:lnSpc>
                <a:spcPct val="90000"/>
              </a:lnSpc>
              <a:buFont typeface="Wingdings" panose="05000000000000000000" pitchFamily="2" charset="2"/>
              <a:buNone/>
            </a:pPr>
            <a:r>
              <a:rPr lang="zh-CN" altLang="en-US" sz="2000"/>
              <a:t>    </a:t>
            </a:r>
          </a:p>
          <a:p>
            <a:pPr eaLnBrk="1" hangingPunct="1">
              <a:lnSpc>
                <a:spcPct val="90000"/>
              </a:lnSpc>
              <a:buFont typeface="Wingdings" panose="05000000000000000000" pitchFamily="2" charset="2"/>
              <a:buNone/>
            </a:pPr>
            <a:r>
              <a:rPr lang="zh-CN" altLang="en-US" sz="2800"/>
              <a:t>  ⒈数据库的转储和恢复</a:t>
            </a:r>
          </a:p>
          <a:p>
            <a:pPr eaLnBrk="1" hangingPunct="1">
              <a:lnSpc>
                <a:spcPct val="90000"/>
              </a:lnSpc>
              <a:buFont typeface="Wingdings" panose="05000000000000000000" pitchFamily="2" charset="2"/>
              <a:buNone/>
            </a:pPr>
            <a:r>
              <a:rPr lang="zh-CN" altLang="en-US" sz="2800"/>
              <a:t>  ⒉数据库的安全性、完整性控制</a:t>
            </a:r>
          </a:p>
          <a:p>
            <a:pPr eaLnBrk="1" hangingPunct="1">
              <a:lnSpc>
                <a:spcPct val="90000"/>
              </a:lnSpc>
              <a:buFont typeface="Wingdings" panose="05000000000000000000" pitchFamily="2" charset="2"/>
              <a:buNone/>
            </a:pPr>
            <a:r>
              <a:rPr lang="zh-CN" altLang="en-US" sz="2800"/>
              <a:t>  ⒊数据库性能的监督、分析和改进</a:t>
            </a:r>
          </a:p>
          <a:p>
            <a:pPr eaLnBrk="1" hangingPunct="1">
              <a:lnSpc>
                <a:spcPct val="90000"/>
              </a:lnSpc>
              <a:buFont typeface="Wingdings" panose="05000000000000000000" pitchFamily="2" charset="2"/>
              <a:buNone/>
            </a:pPr>
            <a:r>
              <a:rPr lang="zh-CN" altLang="en-US" sz="2800"/>
              <a:t>  ⒋数据库的重组织和重构造</a:t>
            </a:r>
          </a:p>
          <a:p>
            <a:pPr eaLnBrk="1" hangingPunct="1">
              <a:lnSpc>
                <a:spcPct val="90000"/>
              </a:lnSpc>
              <a:buFont typeface="Wingdings" panose="05000000000000000000" pitchFamily="2" charset="2"/>
              <a:buNone/>
            </a:pPr>
            <a:endParaRPr lang="zh-CN" altLang="en-US" sz="2800">
              <a:solidFill>
                <a:schemeClr val="accent2"/>
              </a:solidFill>
            </a:endParaRPr>
          </a:p>
          <a:p>
            <a:pPr eaLnBrk="1" hangingPunct="1">
              <a:lnSpc>
                <a:spcPct val="90000"/>
              </a:lnSpc>
              <a:buFont typeface="Wingdings" panose="05000000000000000000" pitchFamily="2" charset="2"/>
              <a:buNone/>
            </a:pPr>
            <a:endParaRPr lang="zh-CN" altLang="en-US" sz="2800">
              <a:solidFill>
                <a:schemeClr val="accent2"/>
              </a:solidFill>
            </a:endParaRPr>
          </a:p>
          <a:p>
            <a:pPr eaLnBrk="1" hangingPunct="1">
              <a:lnSpc>
                <a:spcPct val="90000"/>
              </a:lnSpc>
              <a:buFont typeface="Wingdings" panose="05000000000000000000" pitchFamily="2" charset="2"/>
              <a:buNone/>
            </a:pPr>
            <a:endParaRPr lang="en-US" altLang="zh-CN" sz="2800">
              <a:solidFill>
                <a:schemeClr val="accent2"/>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53D3499E-E286-AE0E-A4FF-1F238272994F}"/>
              </a:ext>
            </a:extLst>
          </p:cNvPr>
          <p:cNvSpPr>
            <a:spLocks noGrp="1" noChangeArrowheads="1"/>
          </p:cNvSpPr>
          <p:nvPr>
            <p:ph type="title" idx="4294967295"/>
          </p:nvPr>
        </p:nvSpPr>
        <p:spPr/>
        <p:txBody>
          <a:bodyPr/>
          <a:lstStyle/>
          <a:p>
            <a:r>
              <a:rPr lang="zh-CN" altLang="zh-CN"/>
              <a:t>第七章  数据库设计</a:t>
            </a:r>
          </a:p>
        </p:txBody>
      </p:sp>
      <p:sp>
        <p:nvSpPr>
          <p:cNvPr id="70659" name="Rectangle 3">
            <a:extLst>
              <a:ext uri="{FF2B5EF4-FFF2-40B4-BE49-F238E27FC236}">
                <a16:creationId xmlns:a16="http://schemas.microsoft.com/office/drawing/2014/main" id="{4EBC7DF1-669E-9E9F-E68C-C2F467AB90B4}"/>
              </a:ext>
            </a:extLst>
          </p:cNvPr>
          <p:cNvSpPr>
            <a:spLocks noGrp="1" noChangeArrowheads="1"/>
          </p:cNvSpPr>
          <p:nvPr>
            <p:ph idx="4294967295"/>
          </p:nvPr>
        </p:nvSpPr>
        <p:spPr>
          <a:xfrm>
            <a:off x="684213" y="1844675"/>
            <a:ext cx="8002587" cy="4108450"/>
          </a:xfrm>
        </p:spPr>
        <p:txBody>
          <a:bodyPr/>
          <a:lstStyle/>
          <a:p>
            <a:pPr marL="0" indent="0">
              <a:lnSpc>
                <a:spcPct val="150000"/>
              </a:lnSpc>
              <a:buFont typeface="Wingdings" panose="05000000000000000000" pitchFamily="2" charset="2"/>
              <a:buNone/>
            </a:pPr>
            <a:r>
              <a:rPr lang="en-US" altLang="zh-CN" sz="2800"/>
              <a:t>7.1  </a:t>
            </a:r>
            <a:r>
              <a:rPr lang="zh-CN" altLang="en-US" sz="2800"/>
              <a:t>数据库设计概述</a:t>
            </a:r>
          </a:p>
          <a:p>
            <a:pPr marL="0" indent="0">
              <a:lnSpc>
                <a:spcPct val="150000"/>
              </a:lnSpc>
              <a:buFont typeface="Wingdings" panose="05000000000000000000" pitchFamily="2" charset="2"/>
              <a:buNone/>
            </a:pPr>
            <a:r>
              <a:rPr lang="en-US" altLang="zh-CN" sz="2800"/>
              <a:t>7.2  </a:t>
            </a:r>
            <a:r>
              <a:rPr lang="zh-CN" altLang="en-US" sz="2800"/>
              <a:t>需求分析</a:t>
            </a:r>
          </a:p>
          <a:p>
            <a:pPr marL="0" indent="0">
              <a:lnSpc>
                <a:spcPct val="150000"/>
              </a:lnSpc>
              <a:buFont typeface="Wingdings" panose="05000000000000000000" pitchFamily="2" charset="2"/>
              <a:buNone/>
            </a:pPr>
            <a:r>
              <a:rPr lang="en-US" altLang="zh-CN" sz="2800"/>
              <a:t>7.3  </a:t>
            </a:r>
            <a:r>
              <a:rPr lang="zh-CN" altLang="en-US" sz="2800"/>
              <a:t>概念结构设计</a:t>
            </a:r>
          </a:p>
          <a:p>
            <a:pPr marL="0" indent="0">
              <a:lnSpc>
                <a:spcPct val="150000"/>
              </a:lnSpc>
              <a:buFont typeface="Wingdings" panose="05000000000000000000" pitchFamily="2" charset="2"/>
              <a:buNone/>
            </a:pPr>
            <a:r>
              <a:rPr lang="en-US" altLang="zh-CN" sz="2800"/>
              <a:t>7.4  </a:t>
            </a:r>
            <a:r>
              <a:rPr lang="zh-CN" altLang="en-US" sz="2800"/>
              <a:t>逻辑结构设计</a:t>
            </a:r>
          </a:p>
          <a:p>
            <a:pPr marL="0" indent="0">
              <a:lnSpc>
                <a:spcPct val="150000"/>
              </a:lnSpc>
              <a:buFont typeface="Wingdings" panose="05000000000000000000" pitchFamily="2" charset="2"/>
              <a:buNone/>
            </a:pPr>
            <a:r>
              <a:rPr lang="en-US" altLang="zh-CN" sz="2800"/>
              <a:t>7.5  </a:t>
            </a:r>
            <a:r>
              <a:rPr lang="zh-CN" altLang="en-US" sz="2800"/>
              <a:t>物理结构设计</a:t>
            </a:r>
          </a:p>
          <a:p>
            <a:pPr marL="0" indent="0">
              <a:lnSpc>
                <a:spcPct val="150000"/>
              </a:lnSpc>
              <a:buFont typeface="Wingdings" panose="05000000000000000000" pitchFamily="2" charset="2"/>
              <a:buNone/>
            </a:pPr>
            <a:r>
              <a:rPr lang="en-US" altLang="zh-CN" sz="2800"/>
              <a:t>7.6  </a:t>
            </a:r>
            <a:r>
              <a:rPr lang="zh-CN" altLang="en-US" sz="2800"/>
              <a:t>数据库的实施和维护</a:t>
            </a:r>
          </a:p>
          <a:p>
            <a:pPr marL="0" indent="0">
              <a:lnSpc>
                <a:spcPct val="150000"/>
              </a:lnSpc>
              <a:buFont typeface="Wingdings" panose="05000000000000000000" pitchFamily="2" charset="2"/>
              <a:buNone/>
            </a:pPr>
            <a:r>
              <a:rPr lang="en-US" altLang="zh-CN" sz="2800">
                <a:solidFill>
                  <a:srgbClr val="FF0000"/>
                </a:solidFill>
              </a:rPr>
              <a:t>7.7  </a:t>
            </a:r>
            <a:r>
              <a:rPr lang="zh-CN" altLang="en-US" sz="2800">
                <a:solidFill>
                  <a:srgbClr val="FF0000"/>
                </a:solidFill>
              </a:rPr>
              <a:t>小结</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4">
            <a:extLst>
              <a:ext uri="{FF2B5EF4-FFF2-40B4-BE49-F238E27FC236}">
                <a16:creationId xmlns:a16="http://schemas.microsoft.com/office/drawing/2014/main" id="{D09AA63C-B510-428E-CF61-0351EB098D9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71683" name="Rectangle 2">
            <a:extLst>
              <a:ext uri="{FF2B5EF4-FFF2-40B4-BE49-F238E27FC236}">
                <a16:creationId xmlns:a16="http://schemas.microsoft.com/office/drawing/2014/main" id="{20503622-7734-1212-800E-20D128EA9AD0}"/>
              </a:ext>
            </a:extLst>
          </p:cNvPr>
          <p:cNvSpPr>
            <a:spLocks noGrp="1" noChangeArrowheads="1"/>
          </p:cNvSpPr>
          <p:nvPr>
            <p:ph type="title"/>
          </p:nvPr>
        </p:nvSpPr>
        <p:spPr/>
        <p:txBody>
          <a:bodyPr/>
          <a:lstStyle/>
          <a:p>
            <a:pPr eaLnBrk="1" hangingPunct="1"/>
            <a:r>
              <a:rPr lang="en-US" altLang="zh-CN"/>
              <a:t>7.7  </a:t>
            </a:r>
            <a:r>
              <a:rPr lang="zh-CN" altLang="en-US"/>
              <a:t>小结</a:t>
            </a:r>
          </a:p>
        </p:txBody>
      </p:sp>
      <p:sp>
        <p:nvSpPr>
          <p:cNvPr id="71684" name="Rectangle 3">
            <a:extLst>
              <a:ext uri="{FF2B5EF4-FFF2-40B4-BE49-F238E27FC236}">
                <a16:creationId xmlns:a16="http://schemas.microsoft.com/office/drawing/2014/main" id="{9AB3D647-DFE1-CBB3-4690-E7937CD79621}"/>
              </a:ext>
            </a:extLst>
          </p:cNvPr>
          <p:cNvSpPr>
            <a:spLocks noGrp="1" noChangeArrowheads="1"/>
          </p:cNvSpPr>
          <p:nvPr>
            <p:ph type="body" idx="1"/>
          </p:nvPr>
        </p:nvSpPr>
        <p:spPr>
          <a:xfrm>
            <a:off x="395288" y="2017713"/>
            <a:ext cx="8559800" cy="4114800"/>
          </a:xfrm>
        </p:spPr>
        <p:txBody>
          <a:bodyPr/>
          <a:lstStyle/>
          <a:p>
            <a:pPr eaLnBrk="1" hangingPunct="1">
              <a:lnSpc>
                <a:spcPct val="90000"/>
              </a:lnSpc>
            </a:pPr>
            <a:r>
              <a:rPr lang="zh-CN" altLang="en-US" sz="3600"/>
              <a:t>数据库的设计过程</a:t>
            </a:r>
          </a:p>
          <a:p>
            <a:pPr lvl="1" eaLnBrk="1" hangingPunct="1">
              <a:lnSpc>
                <a:spcPct val="90000"/>
              </a:lnSpc>
            </a:pPr>
            <a:r>
              <a:rPr lang="zh-CN" altLang="en-US"/>
              <a:t>需求分析</a:t>
            </a:r>
          </a:p>
          <a:p>
            <a:pPr lvl="1" eaLnBrk="1" hangingPunct="1">
              <a:lnSpc>
                <a:spcPct val="90000"/>
              </a:lnSpc>
            </a:pPr>
            <a:r>
              <a:rPr lang="zh-CN" altLang="en-US"/>
              <a:t>概念结构设计</a:t>
            </a:r>
          </a:p>
          <a:p>
            <a:pPr lvl="1" eaLnBrk="1" hangingPunct="1">
              <a:lnSpc>
                <a:spcPct val="90000"/>
              </a:lnSpc>
            </a:pPr>
            <a:r>
              <a:rPr lang="zh-CN" altLang="en-US"/>
              <a:t>逻辑结构设计</a:t>
            </a:r>
          </a:p>
          <a:p>
            <a:pPr lvl="1" eaLnBrk="1" hangingPunct="1">
              <a:lnSpc>
                <a:spcPct val="90000"/>
              </a:lnSpc>
            </a:pPr>
            <a:r>
              <a:rPr lang="zh-CN" altLang="en-US"/>
              <a:t>物理结构设计</a:t>
            </a:r>
          </a:p>
          <a:p>
            <a:pPr lvl="1" eaLnBrk="1" hangingPunct="1">
              <a:lnSpc>
                <a:spcPct val="90000"/>
              </a:lnSpc>
            </a:pPr>
            <a:r>
              <a:rPr lang="zh-CN" altLang="en-US"/>
              <a:t>实施</a:t>
            </a:r>
          </a:p>
          <a:p>
            <a:pPr lvl="1" eaLnBrk="1" hangingPunct="1">
              <a:lnSpc>
                <a:spcPct val="90000"/>
              </a:lnSpc>
            </a:pPr>
            <a:r>
              <a:rPr lang="zh-CN" altLang="en-US"/>
              <a:t>运行维护</a:t>
            </a:r>
          </a:p>
          <a:p>
            <a:pPr lvl="1" eaLnBrk="1" hangingPunct="1">
              <a:lnSpc>
                <a:spcPct val="90000"/>
              </a:lnSpc>
              <a:buFont typeface="Wingdings" panose="05000000000000000000" pitchFamily="2" charset="2"/>
              <a:buNone/>
            </a:pPr>
            <a:r>
              <a:rPr lang="zh-CN" altLang="en-US"/>
              <a:t>设计过程中往往还会有许多反复。</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58A1292F-DC37-D814-36F4-B4FFDC7965C5}"/>
              </a:ext>
            </a:extLst>
          </p:cNvPr>
          <p:cNvSpPr>
            <a:spLocks noGrp="1" noChangeArrowheads="1"/>
          </p:cNvSpPr>
          <p:nvPr>
            <p:ph type="title"/>
          </p:nvPr>
        </p:nvSpPr>
        <p:spPr/>
        <p:txBody>
          <a:bodyPr/>
          <a:lstStyle/>
          <a:p>
            <a:pPr eaLnBrk="1" hangingPunct="1"/>
            <a:r>
              <a:rPr lang="zh-CN" altLang="en-US"/>
              <a:t>小结（续）</a:t>
            </a:r>
          </a:p>
        </p:txBody>
      </p:sp>
      <p:sp>
        <p:nvSpPr>
          <p:cNvPr id="72707" name="Rectangle 3">
            <a:extLst>
              <a:ext uri="{FF2B5EF4-FFF2-40B4-BE49-F238E27FC236}">
                <a16:creationId xmlns:a16="http://schemas.microsoft.com/office/drawing/2014/main" id="{25C3AA11-1404-AB80-78EF-4CF4F7656B4A}"/>
              </a:ext>
            </a:extLst>
          </p:cNvPr>
          <p:cNvSpPr>
            <a:spLocks noGrp="1" noChangeArrowheads="1"/>
          </p:cNvSpPr>
          <p:nvPr>
            <p:ph idx="1"/>
          </p:nvPr>
        </p:nvSpPr>
        <p:spPr>
          <a:xfrm>
            <a:off x="250825" y="1916113"/>
            <a:ext cx="8713788" cy="4278312"/>
          </a:xfrm>
        </p:spPr>
        <p:txBody>
          <a:bodyPr/>
          <a:lstStyle/>
          <a:p>
            <a:pPr eaLnBrk="1" hangingPunct="1">
              <a:lnSpc>
                <a:spcPct val="120000"/>
              </a:lnSpc>
              <a:spcBef>
                <a:spcPct val="0"/>
              </a:spcBef>
            </a:pPr>
            <a:r>
              <a:rPr lang="zh-CN" altLang="en-US"/>
              <a:t>数据库各级模式的形成</a:t>
            </a:r>
          </a:p>
          <a:p>
            <a:pPr lvl="1" eaLnBrk="1" hangingPunct="1">
              <a:lnSpc>
                <a:spcPct val="120000"/>
              </a:lnSpc>
              <a:spcBef>
                <a:spcPct val="0"/>
              </a:spcBef>
            </a:pPr>
            <a:r>
              <a:rPr lang="zh-CN" altLang="en-US"/>
              <a:t>需求分析阶段：综合各个用户的应用需求（现实世界的需求）。</a:t>
            </a:r>
          </a:p>
          <a:p>
            <a:pPr lvl="1" eaLnBrk="1" hangingPunct="1">
              <a:lnSpc>
                <a:spcPct val="120000"/>
              </a:lnSpc>
              <a:spcBef>
                <a:spcPct val="0"/>
              </a:spcBef>
            </a:pPr>
            <a:r>
              <a:rPr lang="zh-CN" altLang="en-US"/>
              <a:t>概念设计阶段：</a:t>
            </a:r>
            <a:r>
              <a:rPr lang="zh-CN" altLang="en-US">
                <a:solidFill>
                  <a:srgbClr val="FF00FF"/>
                </a:solidFill>
              </a:rPr>
              <a:t>概念模式</a:t>
            </a:r>
            <a:r>
              <a:rPr lang="zh-CN" altLang="en-US"/>
              <a:t>（信息世界模型），用</a:t>
            </a:r>
            <a:r>
              <a:rPr lang="en-US" altLang="zh-CN"/>
              <a:t>E-R</a:t>
            </a:r>
            <a:r>
              <a:rPr lang="zh-CN" altLang="en-US"/>
              <a:t>图来描述。</a:t>
            </a:r>
          </a:p>
          <a:p>
            <a:pPr lvl="1" eaLnBrk="1" hangingPunct="1">
              <a:lnSpc>
                <a:spcPct val="120000"/>
              </a:lnSpc>
              <a:spcBef>
                <a:spcPct val="0"/>
              </a:spcBef>
            </a:pPr>
            <a:r>
              <a:rPr lang="zh-CN" altLang="en-US"/>
              <a:t>逻辑设计阶段：</a:t>
            </a:r>
            <a:r>
              <a:rPr lang="zh-CN" altLang="en-US">
                <a:solidFill>
                  <a:srgbClr val="FF00FF"/>
                </a:solidFill>
              </a:rPr>
              <a:t>逻辑模式</a:t>
            </a:r>
            <a:r>
              <a:rPr lang="zh-CN" altLang="en-US"/>
              <a:t>、</a:t>
            </a:r>
            <a:r>
              <a:rPr lang="zh-CN" altLang="en-US">
                <a:solidFill>
                  <a:srgbClr val="FF00FF"/>
                </a:solidFill>
              </a:rPr>
              <a:t>外模式</a:t>
            </a:r>
            <a:r>
              <a:rPr lang="zh-CN" altLang="en-US"/>
              <a:t>。</a:t>
            </a:r>
          </a:p>
          <a:p>
            <a:pPr lvl="1" eaLnBrk="1" hangingPunct="1">
              <a:lnSpc>
                <a:spcPct val="120000"/>
              </a:lnSpc>
              <a:spcBef>
                <a:spcPct val="0"/>
              </a:spcBef>
            </a:pPr>
            <a:r>
              <a:rPr lang="zh-CN" altLang="en-US"/>
              <a:t>物理设计阶段：</a:t>
            </a:r>
            <a:r>
              <a:rPr lang="zh-CN" altLang="en-US">
                <a:solidFill>
                  <a:srgbClr val="FF00FF"/>
                </a:solidFill>
              </a:rPr>
              <a:t>内模式</a:t>
            </a:r>
            <a:r>
              <a:rPr lang="zh-CN" altLang="en-US"/>
              <a:t>。</a:t>
            </a:r>
          </a:p>
        </p:txBody>
      </p:sp>
    </p:spTree>
  </p:cSld>
  <p:clrMapOvr>
    <a:masterClrMapping/>
  </p:clrMapOvr>
  <p:transition/>
</p:sld>
</file>

<file path=ppt/theme/theme1.xml><?xml version="1.0" encoding="utf-8"?>
<a:theme xmlns:a="http://schemas.openxmlformats.org/drawingml/2006/main" name="zq">
  <a:themeElements>
    <a:clrScheme name="">
      <a:dk1>
        <a:srgbClr val="000000"/>
      </a:dk1>
      <a:lt1>
        <a:srgbClr val="FEE8F7"/>
      </a:lt1>
      <a:dk2>
        <a:srgbClr val="333399"/>
      </a:dk2>
      <a:lt2>
        <a:srgbClr val="1C1C1C"/>
      </a:lt2>
      <a:accent1>
        <a:srgbClr val="00E4A8"/>
      </a:accent1>
      <a:accent2>
        <a:srgbClr val="FA3A06"/>
      </a:accent2>
      <a:accent3>
        <a:srgbClr val="FEF2FA"/>
      </a:accent3>
      <a:accent4>
        <a:srgbClr val="000000"/>
      </a:accent4>
      <a:accent5>
        <a:srgbClr val="AAEFD1"/>
      </a:accent5>
      <a:accent6>
        <a:srgbClr val="E33405"/>
      </a:accent6>
      <a:hlink>
        <a:srgbClr val="FF0000"/>
      </a:hlink>
      <a:folHlink>
        <a:srgbClr val="3333CC"/>
      </a:folHlink>
    </a:clrScheme>
    <a:fontScheme name="zq">
      <a:majorFont>
        <a:latin typeface="Tahoma"/>
        <a:ea typeface="仿宋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zq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zq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zq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zq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zq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zq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zq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3515</TotalTime>
  <Words>4245</Words>
  <Application>Microsoft Office PowerPoint</Application>
  <PresentationFormat>全屏显示(4:3)</PresentationFormat>
  <Paragraphs>492</Paragraphs>
  <Slides>67</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67</vt:i4>
      </vt:variant>
    </vt:vector>
  </HeadingPairs>
  <TitlesOfParts>
    <vt:vector size="80" baseType="lpstr">
      <vt:lpstr>Times New Roman</vt:lpstr>
      <vt:lpstr>宋体</vt:lpstr>
      <vt:lpstr>Arial</vt:lpstr>
      <vt:lpstr>Tahoma</vt:lpstr>
      <vt:lpstr>仿宋_GB2312</vt:lpstr>
      <vt:lpstr>Wingdings</vt:lpstr>
      <vt:lpstr>Principals of Database System</vt:lpstr>
      <vt:lpstr>Arial Black</vt:lpstr>
      <vt:lpstr>隶书</vt:lpstr>
      <vt:lpstr>楷体_GB2312</vt:lpstr>
      <vt:lpstr>Monotype Sorts</vt:lpstr>
      <vt:lpstr>黑体</vt:lpstr>
      <vt:lpstr>zq</vt:lpstr>
      <vt:lpstr>PowerPoint 演示文稿</vt:lpstr>
      <vt:lpstr>第七章  数据库设计</vt:lpstr>
      <vt:lpstr>7.4  逻辑结构设计</vt:lpstr>
      <vt:lpstr>7.4  逻辑结构设计</vt:lpstr>
      <vt:lpstr>PowerPoint 演示文稿</vt:lpstr>
      <vt:lpstr>E-R图向关系模型的转换（续）</vt:lpstr>
      <vt:lpstr>E-R图向关系模型的转换</vt:lpstr>
      <vt:lpstr> </vt:lpstr>
      <vt:lpstr>E-R图向关系模型的转换（续）</vt:lpstr>
      <vt:lpstr>E-R图向关系模型的转换（续）</vt:lpstr>
      <vt:lpstr>例子</vt:lpstr>
      <vt:lpstr>E-R图向关系模型的转换（续）</vt:lpstr>
      <vt:lpstr>E-R图向关系模型的转换（续）</vt:lpstr>
      <vt:lpstr>E-R图向关系模型的转换（续）</vt:lpstr>
      <vt:lpstr>PowerPoint 演示文稿</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7.4  逻辑结构设计</vt:lpstr>
      <vt:lpstr>7.4.2  数据模型的优化</vt:lpstr>
      <vt:lpstr>数据模型的优化（续）</vt:lpstr>
      <vt:lpstr>数据模型的优化</vt:lpstr>
      <vt:lpstr>数据模型的优化（续）</vt:lpstr>
      <vt:lpstr>数据模型的优化（续）</vt:lpstr>
      <vt:lpstr>7.4.3  设计用户子模式（视图）</vt:lpstr>
      <vt:lpstr>设计用户子模式（续）</vt:lpstr>
      <vt:lpstr>设计用户子模式（续）</vt:lpstr>
      <vt:lpstr>第七章  数据库设计</vt:lpstr>
      <vt:lpstr>7.5  数据库的物理设计</vt:lpstr>
      <vt:lpstr>7.5  数据库的物理设计</vt:lpstr>
      <vt:lpstr>PowerPoint 演示文稿</vt:lpstr>
      <vt:lpstr>数据库的物理设计的内容和方法（续）</vt:lpstr>
      <vt:lpstr>关系模式存取方法选择（续）</vt:lpstr>
      <vt:lpstr>一、索引存取方法的选择</vt:lpstr>
      <vt:lpstr>索引存取方法的选择（续）</vt:lpstr>
      <vt:lpstr>二、聚簇存取方法的选择</vt:lpstr>
      <vt:lpstr>建立聚簇索引 （复习）</vt:lpstr>
      <vt:lpstr>建立聚簇索引 （复习）</vt:lpstr>
      <vt:lpstr>聚簇存取方法的选择（续）</vt:lpstr>
      <vt:lpstr>聚簇存取方法的选择（续）</vt:lpstr>
      <vt:lpstr>聚簇存取方法的选择（续）</vt:lpstr>
      <vt:lpstr>三、HASH存取方法的选择</vt:lpstr>
      <vt:lpstr>7.5  数据库的物理设计</vt:lpstr>
      <vt:lpstr>7.5.3  确定数据库的存储结构</vt:lpstr>
      <vt:lpstr>确定数据的存放位置（续）</vt:lpstr>
      <vt:lpstr>2. 确定系统配置</vt:lpstr>
      <vt:lpstr>7.5.4  评价物理结构</vt:lpstr>
      <vt:lpstr>7.5.4  评价物理结构</vt:lpstr>
      <vt:lpstr>第七章  数据库设计</vt:lpstr>
      <vt:lpstr>7.6  数据库的实施</vt:lpstr>
      <vt:lpstr>PowerPoint 演示文稿</vt:lpstr>
      <vt:lpstr>定义数据库结构（续）</vt:lpstr>
      <vt:lpstr>定义数据库结构（续）</vt:lpstr>
      <vt:lpstr>三、编制与调试应用程序</vt:lpstr>
      <vt:lpstr>四、数据库试运行</vt:lpstr>
      <vt:lpstr>7.7  数据库运行与维护</vt:lpstr>
      <vt:lpstr>数据库运行与维护（续）</vt:lpstr>
      <vt:lpstr>第七章  数据库设计</vt:lpstr>
      <vt:lpstr>7.7  小结</vt:lpstr>
      <vt:lpstr>小结（续）</vt:lpstr>
    </vt:vector>
  </TitlesOfParts>
  <Company>idke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课程名称：数据库系统概论</dc:title>
  <dc:creator>RUC IDKE</dc:creator>
  <cp:lastModifiedBy>trAshbaG Smile</cp:lastModifiedBy>
  <cp:revision>247</cp:revision>
  <dcterms:created xsi:type="dcterms:W3CDTF">2000-08-09T08:19:19Z</dcterms:created>
  <dcterms:modified xsi:type="dcterms:W3CDTF">2025-12-24T11:30:32Z</dcterms:modified>
</cp:coreProperties>
</file>