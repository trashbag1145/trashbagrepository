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88"/>
  </p:notesMasterIdLst>
  <p:handoutMasterIdLst>
    <p:handoutMasterId r:id="rId89"/>
  </p:handoutMasterIdLst>
  <p:sldIdLst>
    <p:sldId id="257" r:id="rId2"/>
    <p:sldId id="308" r:id="rId3"/>
    <p:sldId id="256" r:id="rId4"/>
    <p:sldId id="258" r:id="rId5"/>
    <p:sldId id="261" r:id="rId6"/>
    <p:sldId id="273" r:id="rId7"/>
    <p:sldId id="274" r:id="rId8"/>
    <p:sldId id="275" r:id="rId9"/>
    <p:sldId id="276" r:id="rId10"/>
    <p:sldId id="298" r:id="rId11"/>
    <p:sldId id="277" r:id="rId12"/>
    <p:sldId id="278" r:id="rId13"/>
    <p:sldId id="279" r:id="rId14"/>
    <p:sldId id="280" r:id="rId15"/>
    <p:sldId id="282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6" r:id="rId27"/>
    <p:sldId id="295" r:id="rId28"/>
    <p:sldId id="299" r:id="rId29"/>
    <p:sldId id="301" r:id="rId30"/>
    <p:sldId id="302" r:id="rId31"/>
    <p:sldId id="304" r:id="rId32"/>
    <p:sldId id="305" r:id="rId33"/>
    <p:sldId id="303" r:id="rId34"/>
    <p:sldId id="313" r:id="rId35"/>
    <p:sldId id="314" r:id="rId36"/>
    <p:sldId id="315" r:id="rId37"/>
    <p:sldId id="316" r:id="rId38"/>
    <p:sldId id="317" r:id="rId39"/>
    <p:sldId id="318" r:id="rId40"/>
    <p:sldId id="319" r:id="rId41"/>
    <p:sldId id="320" r:id="rId42"/>
    <p:sldId id="321" r:id="rId43"/>
    <p:sldId id="322" r:id="rId44"/>
    <p:sldId id="323" r:id="rId45"/>
    <p:sldId id="324" r:id="rId46"/>
    <p:sldId id="325" r:id="rId47"/>
    <p:sldId id="326" r:id="rId48"/>
    <p:sldId id="327" r:id="rId49"/>
    <p:sldId id="328" r:id="rId50"/>
    <p:sldId id="329" r:id="rId51"/>
    <p:sldId id="330" r:id="rId52"/>
    <p:sldId id="331" r:id="rId53"/>
    <p:sldId id="332" r:id="rId54"/>
    <p:sldId id="333" r:id="rId55"/>
    <p:sldId id="334" r:id="rId56"/>
    <p:sldId id="335" r:id="rId57"/>
    <p:sldId id="336" r:id="rId58"/>
    <p:sldId id="337" r:id="rId59"/>
    <p:sldId id="338" r:id="rId60"/>
    <p:sldId id="339" r:id="rId61"/>
    <p:sldId id="340" r:id="rId62"/>
    <p:sldId id="341" r:id="rId63"/>
    <p:sldId id="342" r:id="rId64"/>
    <p:sldId id="346" r:id="rId65"/>
    <p:sldId id="347" r:id="rId66"/>
    <p:sldId id="348" r:id="rId67"/>
    <p:sldId id="349" r:id="rId68"/>
    <p:sldId id="350" r:id="rId69"/>
    <p:sldId id="351" r:id="rId70"/>
    <p:sldId id="352" r:id="rId71"/>
    <p:sldId id="353" r:id="rId72"/>
    <p:sldId id="354" r:id="rId73"/>
    <p:sldId id="355" r:id="rId74"/>
    <p:sldId id="356" r:id="rId75"/>
    <p:sldId id="357" r:id="rId76"/>
    <p:sldId id="358" r:id="rId77"/>
    <p:sldId id="359" r:id="rId78"/>
    <p:sldId id="360" r:id="rId79"/>
    <p:sldId id="361" r:id="rId80"/>
    <p:sldId id="362" r:id="rId81"/>
    <p:sldId id="363" r:id="rId82"/>
    <p:sldId id="364" r:id="rId83"/>
    <p:sldId id="365" r:id="rId84"/>
    <p:sldId id="366" r:id="rId85"/>
    <p:sldId id="367" r:id="rId86"/>
    <p:sldId id="262" r:id="rId87"/>
  </p:sldIdLst>
  <p:sldSz cx="9144000" cy="6858000" type="screen4x3"/>
  <p:notesSz cx="9144000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99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2386" autoAdjust="0"/>
  </p:normalViewPr>
  <p:slideViewPr>
    <p:cSldViewPr>
      <p:cViewPr>
        <p:scale>
          <a:sx n="57" d="100"/>
          <a:sy n="57" d="100"/>
        </p:scale>
        <p:origin x="1412" y="2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25430A3D-9172-4AF1-811A-A2B9B930D2A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C186BC0A-CC6D-4F89-B114-52CCE57C54A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5315F155-5654-4530-947F-2F8A699296E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5" name="Rectangle 5">
            <a:extLst>
              <a:ext uri="{FF2B5EF4-FFF2-40B4-BE49-F238E27FC236}">
                <a16:creationId xmlns:a16="http://schemas.microsoft.com/office/drawing/2014/main" id="{C1A6C782-359F-410D-8246-40F20D1CB7B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40F7F079-A586-4865-A93E-6FF81CD4BD4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4957977-A554-4C9E-B7ED-6AE4654B9F1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ADBE1E6-E614-4AC8-A445-02E6388CF3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8308" name="Rectangle 4">
            <a:extLst>
              <a:ext uri="{FF2B5EF4-FFF2-40B4-BE49-F238E27FC236}">
                <a16:creationId xmlns:a16="http://schemas.microsoft.com/office/drawing/2014/main" id="{FBECE5ED-D3AC-46F0-ADE3-56F04F97556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CE59F056-704A-462F-A0A7-BBCBB893AA4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23A5BD88-C95C-4C2C-BCA1-1B1DF04EF5E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FBC0404E-5DB2-4449-A910-419B899507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76B08F88-4B25-4943-9941-8A5D3376F8DF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DD082DDB-2360-4890-9043-8084CF5FE6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D11C375-F956-4B38-BB60-040F2D04A07B}" type="slidenum">
              <a:rPr lang="zh-CN" altLang="en-US" sz="1200">
                <a:latin typeface="Times New Roman" panose="02020603050405020304" pitchFamily="18" charset="0"/>
              </a:rPr>
              <a:pPr eaLnBrk="1" hangingPunct="1"/>
              <a:t>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89D394F8-3523-482A-986E-A9E24ADD88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FB4F7E40-3EA5-4460-9ECE-C4D9B043C4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18C07E39-CC94-44B0-B561-B6A3EEA7B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E512625-8A24-44D3-A86D-1992792919F9}" type="slidenum">
              <a:rPr lang="zh-CN" altLang="en-US" sz="1200">
                <a:latin typeface="Times New Roman" panose="02020603050405020304" pitchFamily="18" charset="0"/>
              </a:rPr>
              <a:pPr eaLnBrk="1" hangingPunct="1"/>
              <a:t>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1E14CCDB-C902-49A4-BA89-188FC1ED69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51110A78-4691-4150-BC81-E3E2C596E6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黑板板书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08F88-4B25-4943-9941-8A5D3376F8DF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4173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70AA47F1-9711-486D-83C3-1EDBD60A5455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00A90BC8-7483-4E9D-B283-C4E3954FB6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085BC017-80C5-496E-9757-BE8315E54B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00310164-33FE-41FC-859E-CF6CA2E169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F73863B9-8FE6-40CB-B040-AF1DC60C5D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AA3E85E8-BC7F-4CCE-BF07-75A62C1D39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51911555-911A-4A42-A5FD-2606A947E9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79E8F4DE-37DF-49C3-9BE2-D68695576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5EA19EE2-4DF3-4C9C-BE5A-03B6DFFA3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11CE3BC0-FCB9-4915-B3AE-624467080E0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CDF46A88-6ACC-42D0-8342-90504A7353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0CFECCC1-58B0-41F3-B6F6-F2EC77247D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D411F8DF-2214-4A73-AF85-EA625BF05F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CCBF649-A8B5-4C48-A360-FC600ABAF1F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2711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8D37E29-D6BD-4445-B32B-5D7DEDE311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3EA4C84-14DD-4399-B753-A5653E8E39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FFADEA9-3019-4D39-986D-540FD969E0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D6CF8A-1100-4C22-A073-459A24C4A45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1320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4525BB1-09A6-46CE-B350-B9F7B7E5B1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89B491F-FCFA-4845-9237-8F95C142A7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FE852CC-B3B4-4088-8E90-E9B4E36C7F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20A441-31FC-48C0-9B41-C32FA27B2E6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4610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A05523A-73FF-4E0B-85EF-D78168C0CA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8B881B1-2E93-4019-865E-9E0FE85B0F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EADEE5B-57CE-4270-B5B6-A922D24153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8F3A1E-FAA6-4A6A-B371-EDA4A41EB57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5186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E5457906-0C39-4D52-8719-A1F7DB414A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03A67C9C-CE7E-4ABB-9D66-CF06405177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5D9BF8C5-69F3-4D96-95DE-F90E4577B3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F85F87-013A-4179-A5DD-8188841DEA6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8048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E36792F3-2D3E-470C-B127-1CA3E6271B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A6E19D64-4FFE-4DF4-8006-C89099254D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3AD59E4D-7E0B-4BFA-A291-87E5039A0F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FB4239-1D94-4890-8F53-D60FC70DC41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9987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E1F34553-4BA1-43E1-AB3C-79871BA22F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F23EED21-D4D7-4CB7-83FD-BA23385E44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EDA00EAA-5728-4099-80E4-4B2523FF76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FDB5EF-045A-485C-8362-D5917E14D6C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901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A23C867-5BAF-4C1B-93B1-EC4275880E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CE64494-6B8D-446A-8D9B-418D0BD054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6B99C895-0445-47D0-B22E-DDDA232DBE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428B3C-237D-47BF-A547-E65DEA235D3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8631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E01103C-F9DE-483E-8D42-AB41BF4B7F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35CC3F50-4F95-4B1D-843F-71B6217BE6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D07E2D5-3B99-4529-9213-2DCDB81114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0B1C01-857A-40A7-BC57-C5A54D6C4C7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2423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62D773C-C895-43CF-88F1-6490FC2B0F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EBE00D3-8107-4640-9B8F-2F59BA71DB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4853B99-61A3-4B3F-9F14-480F879F05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FE1752-AC57-4C95-BCC1-D26A2F65C7D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698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B432100-C482-4BD1-9A5F-1301CE07D8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5E74CC4-CAE3-44B7-8B60-350F2CE4AE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DE5709F-2DE5-40CC-A338-74CDA35DB5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79EA66-278F-4DC5-8A59-75381C348C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0048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CCFFCC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97494A0-DA58-4FB7-9750-68D5E2F2E74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3CB6011-FE6C-48C2-AB17-3DDC154D97A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AD68DBA-DCE2-49EC-8026-DF97715432E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61F911B-83F9-4AAD-B83C-6F79B1B3924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B814223-6E2C-4FF0-ACA4-69996B2EF03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98756891-180A-4E1A-9029-1603C5FD272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E3F3916D-CFF8-4B25-84D0-55FE63B267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225" name="Rectangle 9">
            <a:extLst>
              <a:ext uri="{FF2B5EF4-FFF2-40B4-BE49-F238E27FC236}">
                <a16:creationId xmlns:a16="http://schemas.microsoft.com/office/drawing/2014/main" id="{BC15DB71-C72E-4E90-952B-0C55FB9F93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226" name="Rectangle 10">
            <a:extLst>
              <a:ext uri="{FF2B5EF4-FFF2-40B4-BE49-F238E27FC236}">
                <a16:creationId xmlns:a16="http://schemas.microsoft.com/office/drawing/2014/main" id="{C0E6685D-9D64-419F-8A36-E699D70E8C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179" name="Rectangle 11">
            <a:extLst>
              <a:ext uri="{FF2B5EF4-FFF2-40B4-BE49-F238E27FC236}">
                <a16:creationId xmlns:a16="http://schemas.microsoft.com/office/drawing/2014/main" id="{7E69F72F-2BE4-4F5E-8B88-028FC91F54B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80" name="Rectangle 12">
            <a:extLst>
              <a:ext uri="{FF2B5EF4-FFF2-40B4-BE49-F238E27FC236}">
                <a16:creationId xmlns:a16="http://schemas.microsoft.com/office/drawing/2014/main" id="{7CB1763F-9356-4953-9EF1-B859E2E094F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pPr>
              <a:defRPr/>
            </a:pPr>
            <a:r>
              <a:rPr lang="en-US" altLang="zh-CN"/>
              <a:t>An Introduction to Database System</a:t>
            </a:r>
          </a:p>
        </p:txBody>
      </p:sp>
      <p:sp>
        <p:nvSpPr>
          <p:cNvPr id="7181" name="Rectangle 13">
            <a:extLst>
              <a:ext uri="{FF2B5EF4-FFF2-40B4-BE49-F238E27FC236}">
                <a16:creationId xmlns:a16="http://schemas.microsoft.com/office/drawing/2014/main" id="{62C095B4-A726-4569-B96E-F2E86102967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8B07778B-8DEA-4092-AF4E-80589292E27A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unteam.com.cn/putong/yingxiao.ht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6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8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1F297C5-8049-4BDE-AC10-E196B3386D9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57200" y="4648200"/>
            <a:ext cx="8534400" cy="685800"/>
          </a:xfrm>
          <a:noFill/>
        </p:spPr>
        <p:txBody>
          <a:bodyPr/>
          <a:lstStyle/>
          <a:p>
            <a:pPr algn="ctr" eaLnBrk="1" hangingPunct="1"/>
            <a:r>
              <a:rPr lang="zh-CN" altLang="en-US" sz="4800" b="1" dirty="0">
                <a:solidFill>
                  <a:schemeClr val="tx1"/>
                </a:solidFill>
                <a:latin typeface="Times-Roman"/>
                <a:ea typeface="华文行楷" panose="02010800040101010101" pitchFamily="2" charset="-122"/>
              </a:rPr>
              <a:t>主讲：王海燕</a:t>
            </a:r>
            <a:br>
              <a:rPr lang="zh-CN" altLang="en-US" sz="4800" b="1" dirty="0">
                <a:solidFill>
                  <a:schemeClr val="tx1"/>
                </a:solidFill>
                <a:latin typeface="Times-Roman"/>
                <a:ea typeface="华文行楷" panose="02010800040101010101" pitchFamily="2" charset="-122"/>
              </a:rPr>
            </a:br>
            <a:r>
              <a:rPr lang="en-US" altLang="zh-CN" sz="3600" b="1" dirty="0">
                <a:solidFill>
                  <a:schemeClr val="tx1"/>
                </a:solidFill>
                <a:latin typeface="Times-Roman"/>
                <a:ea typeface="华文行楷" panose="02010800040101010101" pitchFamily="2" charset="-122"/>
              </a:rPr>
              <a:t>E-mail：wanghaiyan@mail.hzau.edu.cn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FD2091F-D9CF-422D-9A7F-BA0B05F08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057400"/>
            <a:ext cx="79248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6000" b="1">
                <a:solidFill>
                  <a:schemeClr val="tx2"/>
                </a:solidFill>
                <a:latin typeface="Arial Black" panose="020B0A04020102020204" pitchFamily="34" charset="0"/>
                <a:ea typeface="隶书" panose="02010509060101010101" pitchFamily="49" charset="-122"/>
              </a:rPr>
              <a:t>第二章</a:t>
            </a:r>
            <a:r>
              <a:rPr lang="en-US" altLang="zh-CN" sz="6000" b="1">
                <a:solidFill>
                  <a:schemeClr val="tx2"/>
                </a:solidFill>
                <a:latin typeface="Arial Black" panose="020B0A04020102020204" pitchFamily="34" charset="0"/>
                <a:ea typeface="隶书" panose="02010509060101010101" pitchFamily="49" charset="-122"/>
              </a:rPr>
              <a:t>  </a:t>
            </a:r>
            <a:r>
              <a:rPr lang="zh-CN" altLang="en-US" sz="6000" b="1">
                <a:solidFill>
                  <a:schemeClr val="tx2"/>
                </a:solidFill>
                <a:latin typeface="Arial Black" panose="020B0A04020102020204" pitchFamily="34" charset="0"/>
                <a:ea typeface="隶书" panose="02010509060101010101" pitchFamily="49" charset="-122"/>
              </a:rPr>
              <a:t>关系数据库</a:t>
            </a:r>
            <a:endParaRPr lang="zh-CN" altLang="en-US" sz="4000" b="1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pic>
        <p:nvPicPr>
          <p:cNvPr id="12292" name="Picture 4" descr="tuli">
            <a:hlinkClick r:id="rId3"/>
            <a:extLst>
              <a:ext uri="{FF2B5EF4-FFF2-40B4-BE49-F238E27FC236}">
                <a16:creationId xmlns:a16="http://schemas.microsoft.com/office/drawing/2014/main" id="{11A1BEFC-2355-48E2-834E-2E354AC88707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10525" y="5486400"/>
            <a:ext cx="1133475" cy="1143000"/>
          </a:xfrm>
        </p:spPr>
      </p:pic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2CF2465-46DD-4E67-90F2-3A3ED2F1B8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第二章 关系数据库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1F2ADCD-A44C-425C-AC64-63844BA427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2.1 关系数据结构及形式化</a:t>
            </a:r>
          </a:p>
          <a:p>
            <a:pPr eaLnBrk="1" hangingPunct="1"/>
            <a:r>
              <a:rPr lang="zh-CN" altLang="en-US" b="1"/>
              <a:t>2.2 关系的完整性</a:t>
            </a:r>
          </a:p>
          <a:p>
            <a:pPr eaLnBrk="1" hangingPunct="1"/>
            <a:r>
              <a:rPr lang="zh-CN" altLang="en-US" b="1"/>
              <a:t>2.</a:t>
            </a:r>
            <a:r>
              <a:rPr lang="en-US" altLang="zh-CN" b="1"/>
              <a:t>3 </a:t>
            </a:r>
            <a:r>
              <a:rPr lang="zh-CN" altLang="en-US" b="1"/>
              <a:t>关系代数</a:t>
            </a:r>
          </a:p>
          <a:p>
            <a:pPr lvl="1" eaLnBrk="1" hangingPunct="1"/>
            <a:r>
              <a:rPr lang="en-US" altLang="zh-CN" b="1"/>
              <a:t>2.3.1 </a:t>
            </a:r>
            <a:r>
              <a:rPr lang="zh-CN" altLang="en-US" b="1"/>
              <a:t>关系代数的分类及其运算符</a:t>
            </a:r>
            <a:endParaRPr lang="en-US" altLang="zh-CN" b="1"/>
          </a:p>
          <a:p>
            <a:pPr lvl="1" eaLnBrk="1" hangingPunct="1"/>
            <a:r>
              <a:rPr lang="zh-CN" altLang="en-US" b="1"/>
              <a:t>2.</a:t>
            </a:r>
            <a:r>
              <a:rPr lang="en-US" altLang="zh-CN" b="1"/>
              <a:t>3.2 </a:t>
            </a:r>
            <a:r>
              <a:rPr lang="zh-CN" altLang="en-US" b="1"/>
              <a:t>传统的集合运算</a:t>
            </a:r>
          </a:p>
          <a:p>
            <a:pPr lvl="1" eaLnBrk="1" hangingPunct="1"/>
            <a:r>
              <a:rPr lang="zh-CN" altLang="en-US" b="1"/>
              <a:t>2.</a:t>
            </a:r>
            <a:r>
              <a:rPr lang="en-US" altLang="zh-CN" b="1"/>
              <a:t>3.3 </a:t>
            </a:r>
            <a:r>
              <a:rPr lang="zh-CN" altLang="en-US" b="1"/>
              <a:t>专门的关系运算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8703626-B009-40F7-8AA2-E38651E8A3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主要内容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104EE9C1-6841-49DF-AA73-9FD0020604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rgbClr val="990099"/>
              </a:buClr>
              <a:buSzPct val="120000"/>
              <a:buFont typeface="Wingdings" panose="05000000000000000000" pitchFamily="2" charset="2"/>
              <a:buChar char="v"/>
            </a:pPr>
            <a:r>
              <a:rPr lang="zh-CN" altLang="en-US" sz="3600" b="1"/>
              <a:t>关系数据结构及形式化定义</a:t>
            </a:r>
          </a:p>
          <a:p>
            <a:pPr eaLnBrk="1" hangingPunct="1">
              <a:buClr>
                <a:srgbClr val="990099"/>
              </a:buClr>
              <a:buSzPct val="120000"/>
              <a:buFont typeface="Wingdings" panose="05000000000000000000" pitchFamily="2" charset="2"/>
              <a:buChar char="v"/>
            </a:pPr>
            <a:r>
              <a:rPr lang="zh-CN" altLang="en-US" sz="3600" b="1"/>
              <a:t>关系完整性</a:t>
            </a:r>
          </a:p>
          <a:p>
            <a:pPr eaLnBrk="1" hangingPunct="1">
              <a:buClr>
                <a:srgbClr val="990099"/>
              </a:buClr>
              <a:buSzPct val="120000"/>
              <a:buFont typeface="Wingdings" panose="05000000000000000000" pitchFamily="2" charset="2"/>
              <a:buChar char="v"/>
            </a:pPr>
            <a:r>
              <a:rPr lang="zh-CN" altLang="en-US" sz="3600" b="1"/>
              <a:t>关系代数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1DF135A-7DF0-4703-8B39-B6EF44E6AF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重点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74CB703-5E5D-4F56-BDB2-9523169E73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600" b="1"/>
              <a:t>关系的完整性</a:t>
            </a:r>
          </a:p>
          <a:p>
            <a:pPr eaLnBrk="1" hangingPunct="1"/>
            <a:endParaRPr lang="zh-CN" altLang="en-US" sz="3600" b="1"/>
          </a:p>
          <a:p>
            <a:pPr eaLnBrk="1" hangingPunct="1"/>
            <a:r>
              <a:rPr lang="zh-CN" altLang="en-US" sz="3600" b="1"/>
              <a:t>专门的关系演算</a:t>
            </a:r>
          </a:p>
          <a:p>
            <a:pPr eaLnBrk="1" hangingPunct="1"/>
            <a:endParaRPr lang="zh-CN" altLang="en-US" sz="36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976DBBB-B2C8-4447-AD98-8FE6A0D060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b="1"/>
              <a:t>2.1 </a:t>
            </a:r>
            <a:r>
              <a:rPr lang="zh-CN" altLang="en-US" sz="4000" b="1"/>
              <a:t>关系数据结构及形式化定义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5F486EA3-90A1-41E1-BAEF-0057A2277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Aft>
                <a:spcPct val="50000"/>
              </a:spcAft>
            </a:pPr>
            <a:r>
              <a:rPr lang="zh-CN" altLang="en-US" sz="3600" b="1"/>
              <a:t>关系模型建立在集合代数的基础上</a:t>
            </a:r>
          </a:p>
          <a:p>
            <a:pPr algn="just" eaLnBrk="1" hangingPunct="1"/>
            <a:r>
              <a:rPr lang="zh-CN" altLang="en-US" sz="3600" b="1"/>
              <a:t>关系数据结构的基本概念</a:t>
            </a:r>
          </a:p>
          <a:p>
            <a:pPr lvl="1" algn="just" eaLnBrk="1" hangingPunct="1"/>
            <a:r>
              <a:rPr lang="zh-CN" altLang="en-US" sz="3200" b="1"/>
              <a:t>关系</a:t>
            </a:r>
          </a:p>
          <a:p>
            <a:pPr lvl="1" algn="just" eaLnBrk="1" hangingPunct="1"/>
            <a:r>
              <a:rPr lang="zh-CN" altLang="en-US" sz="3200" b="1"/>
              <a:t>关系模式</a:t>
            </a:r>
          </a:p>
          <a:p>
            <a:pPr lvl="1" algn="just" eaLnBrk="1" hangingPunct="1"/>
            <a:r>
              <a:rPr lang="zh-CN" altLang="en-US" sz="3200" b="1"/>
              <a:t>关系数据库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B1A9BA7-CB99-413C-9A73-D5DE7B3EE5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（一）、</a:t>
            </a:r>
            <a:r>
              <a:rPr lang="zh-CN" altLang="en-US" b="1">
                <a:latin typeface="宋体" panose="02010600030101010101" pitchFamily="2" charset="-122"/>
              </a:rPr>
              <a:t>关系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66293766-7614-440B-BD65-064F08F9AD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 b="1"/>
              <a:t> </a:t>
            </a:r>
            <a:r>
              <a:rPr lang="zh-CN" altLang="en-US" sz="3600" b="1"/>
              <a:t>域（</a:t>
            </a:r>
            <a:r>
              <a:rPr lang="en-US" altLang="zh-CN" sz="3600" b="1">
                <a:latin typeface="Times New Roman" panose="02020603050405020304" pitchFamily="18" charset="0"/>
              </a:rPr>
              <a:t>Domain</a:t>
            </a:r>
            <a:r>
              <a:rPr lang="en-US" altLang="zh-CN" sz="3600" b="1"/>
              <a:t>）</a:t>
            </a:r>
          </a:p>
          <a:p>
            <a:pPr algn="just" eaLnBrk="1" hangingPunct="1"/>
            <a:endParaRPr lang="en-US" altLang="zh-CN" sz="3600" b="1"/>
          </a:p>
          <a:p>
            <a:pPr algn="just" eaLnBrk="1" hangingPunct="1"/>
            <a:r>
              <a:rPr lang="en-US" altLang="zh-CN" sz="3600" b="1"/>
              <a:t> </a:t>
            </a:r>
            <a:r>
              <a:rPr lang="zh-CN" altLang="en-US" sz="3600" b="1"/>
              <a:t>笛卡尔积（</a:t>
            </a:r>
            <a:r>
              <a:rPr lang="en-US" altLang="zh-CN" sz="3600" b="1">
                <a:latin typeface="Times New Roman" panose="02020603050405020304" pitchFamily="18" charset="0"/>
              </a:rPr>
              <a:t>Cartesian Product</a:t>
            </a:r>
            <a:r>
              <a:rPr lang="en-US" altLang="zh-CN" sz="3600" b="1"/>
              <a:t>）</a:t>
            </a:r>
          </a:p>
          <a:p>
            <a:pPr algn="just" eaLnBrk="1" hangingPunct="1"/>
            <a:endParaRPr lang="en-US" altLang="zh-CN" sz="3600" b="1"/>
          </a:p>
          <a:p>
            <a:pPr algn="just" eaLnBrk="1" hangingPunct="1"/>
            <a:r>
              <a:rPr lang="en-US" altLang="zh-CN" sz="3600" b="1"/>
              <a:t> </a:t>
            </a:r>
            <a:r>
              <a:rPr lang="zh-CN" altLang="en-US" sz="3600" b="1"/>
              <a:t>关系（</a:t>
            </a:r>
            <a:r>
              <a:rPr lang="en-US" altLang="zh-CN" sz="3600" b="1">
                <a:latin typeface="Times New Roman" panose="02020603050405020304" pitchFamily="18" charset="0"/>
              </a:rPr>
              <a:t>Relation</a:t>
            </a:r>
            <a:r>
              <a:rPr lang="en-US" altLang="zh-CN" sz="3600" b="1"/>
              <a:t>）</a:t>
            </a:r>
            <a:endParaRPr lang="zh-CN" altLang="en-US" sz="36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B2621F7-A35E-4D1D-B00E-E1EC16AC29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⒈ 域（</a:t>
            </a:r>
            <a:r>
              <a:rPr lang="en-US" altLang="zh-CN" b="1">
                <a:latin typeface="Times New Roman" panose="02020603050405020304" pitchFamily="18" charset="0"/>
              </a:rPr>
              <a:t>Domain</a:t>
            </a:r>
            <a:r>
              <a:rPr lang="en-US" altLang="zh-CN" b="1"/>
              <a:t>）</a:t>
            </a:r>
            <a:endParaRPr lang="zh-CN" altLang="en-US" b="1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4434E5C-5C02-4F6A-9250-2E4B9A0B5C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2017713"/>
            <a:ext cx="7772400" cy="4114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域</a:t>
            </a:r>
            <a:r>
              <a:rPr lang="zh-CN" altLang="en-US" b="1"/>
              <a:t>是一组具有相同数据类型的值的集合。例: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b="1"/>
              <a:t>整数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b="1"/>
              <a:t>实数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/>
              <a:t>介于某个取值范围的整数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b="1"/>
              <a:t>指定长度的字符串集合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b="1"/>
              <a:t>{</a:t>
            </a:r>
            <a:r>
              <a:rPr lang="zh-CN" altLang="en-US" b="1">
                <a:latin typeface="Times New Roman" panose="02020603050405020304" pitchFamily="18" charset="0"/>
              </a:rPr>
              <a:t>‘</a:t>
            </a:r>
            <a:r>
              <a:rPr lang="zh-CN" altLang="en-US" b="1"/>
              <a:t>男</a:t>
            </a:r>
            <a:r>
              <a:rPr lang="zh-CN" altLang="en-US" b="1">
                <a:latin typeface="Times New Roman" panose="02020603050405020304" pitchFamily="18" charset="0"/>
              </a:rPr>
              <a:t>’</a:t>
            </a:r>
            <a:r>
              <a:rPr lang="zh-CN" altLang="en-US" b="1"/>
              <a:t>，</a:t>
            </a:r>
            <a:r>
              <a:rPr lang="zh-CN" altLang="en-US" b="1">
                <a:latin typeface="Times New Roman" panose="02020603050405020304" pitchFamily="18" charset="0"/>
              </a:rPr>
              <a:t>‘</a:t>
            </a:r>
            <a:r>
              <a:rPr lang="zh-CN" altLang="en-US" b="1"/>
              <a:t>女</a:t>
            </a:r>
            <a:r>
              <a:rPr lang="zh-CN" altLang="en-US" b="1">
                <a:latin typeface="Times New Roman" panose="02020603050405020304" pitchFamily="18" charset="0"/>
              </a:rPr>
              <a:t>’</a:t>
            </a:r>
            <a:r>
              <a:rPr lang="zh-CN" altLang="en-US" b="1"/>
              <a:t>}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b="1"/>
              <a:t>介于某个取值范围的日期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E95F03D-2581-4E3A-822D-951C2C4B39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617538"/>
            <a:ext cx="7993062" cy="1143000"/>
          </a:xfrm>
        </p:spPr>
        <p:txBody>
          <a:bodyPr/>
          <a:lstStyle/>
          <a:p>
            <a:pPr eaLnBrk="1" hangingPunct="1"/>
            <a:r>
              <a:rPr lang="zh-CN" altLang="en-US" sz="4000" b="1"/>
              <a:t>2. 笛卡尔积（</a:t>
            </a:r>
            <a:r>
              <a:rPr lang="en-US" altLang="zh-CN" sz="4000" b="1">
                <a:latin typeface="Times New Roman" panose="02020603050405020304" pitchFamily="18" charset="0"/>
              </a:rPr>
              <a:t>Cartesian Product</a:t>
            </a:r>
            <a:r>
              <a:rPr lang="en-US" altLang="zh-CN" sz="4000" b="1"/>
              <a:t>）</a:t>
            </a:r>
            <a:endParaRPr lang="zh-CN" altLang="en-US" sz="4000" b="1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D4D30CB-9AF9-4429-A91F-CAB9470C40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 b="1"/>
              <a:t>1) 笛卡尔积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给定一组域</a:t>
            </a:r>
            <a:r>
              <a:rPr lang="en-US" altLang="zh-CN" b="1" i="1"/>
              <a:t>D</a:t>
            </a:r>
            <a:r>
              <a:rPr lang="en-US" altLang="zh-CN" b="1" baseline="-25000"/>
              <a:t>1</a:t>
            </a:r>
            <a:r>
              <a:rPr lang="en-US" altLang="zh-CN" b="1"/>
              <a:t>，</a:t>
            </a:r>
            <a:r>
              <a:rPr lang="en-US" altLang="zh-CN" b="1" i="1"/>
              <a:t>D</a:t>
            </a:r>
            <a:r>
              <a:rPr lang="en-US" altLang="zh-CN" b="1" baseline="-25000"/>
              <a:t>2</a:t>
            </a:r>
            <a:r>
              <a:rPr lang="en-US" altLang="zh-CN" b="1"/>
              <a:t>，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，</a:t>
            </a:r>
            <a:r>
              <a:rPr lang="en-US" altLang="zh-CN" b="1" i="1"/>
              <a:t>D</a:t>
            </a:r>
            <a:r>
              <a:rPr lang="en-US" altLang="zh-CN" b="1" i="1" baseline="-25000"/>
              <a:t>n</a:t>
            </a:r>
            <a:r>
              <a:rPr lang="en-US" altLang="zh-CN" b="1"/>
              <a:t>，</a:t>
            </a:r>
            <a:r>
              <a:rPr lang="zh-CN" altLang="en-US" b="1"/>
              <a:t>这些域中可以有相同的。</a:t>
            </a:r>
            <a:r>
              <a:rPr lang="en-US" altLang="zh-CN" b="1" i="1"/>
              <a:t>D</a:t>
            </a:r>
            <a:r>
              <a:rPr lang="en-US" altLang="zh-CN" b="1" baseline="-25000"/>
              <a:t>1</a:t>
            </a:r>
            <a:r>
              <a:rPr lang="en-US" altLang="zh-CN" b="1"/>
              <a:t>，</a:t>
            </a:r>
            <a:r>
              <a:rPr lang="en-US" altLang="zh-CN" b="1" i="1"/>
              <a:t>D</a:t>
            </a:r>
            <a:r>
              <a:rPr lang="en-US" altLang="zh-CN" b="1" baseline="-25000"/>
              <a:t>2</a:t>
            </a:r>
            <a:r>
              <a:rPr lang="en-US" altLang="zh-CN" b="1"/>
              <a:t>，</a:t>
            </a:r>
            <a:r>
              <a:rPr lang="en-US" altLang="zh-CN" b="1" i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，</a:t>
            </a:r>
            <a:r>
              <a:rPr lang="en-US" altLang="zh-CN" b="1" i="1"/>
              <a:t>D</a:t>
            </a:r>
            <a:r>
              <a:rPr lang="en-US" altLang="zh-CN" b="1" i="1" baseline="-25000"/>
              <a:t>n</a:t>
            </a:r>
            <a:r>
              <a:rPr lang="zh-CN" altLang="en-US" b="1"/>
              <a:t>的</a:t>
            </a:r>
            <a:r>
              <a:rPr lang="zh-CN" altLang="en-US" b="1">
                <a:ea typeface="黑体" panose="02010609060101010101" pitchFamily="49" charset="-122"/>
              </a:rPr>
              <a:t>笛卡尔积</a:t>
            </a:r>
            <a:r>
              <a:rPr lang="zh-CN" altLang="en-US" b="1"/>
              <a:t>为：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b="1" i="1"/>
              <a:t>D</a:t>
            </a:r>
            <a:r>
              <a:rPr lang="en-US" altLang="zh-CN" b="1" baseline="-25000"/>
              <a:t>1</a:t>
            </a:r>
            <a:r>
              <a:rPr lang="en-US" altLang="zh-CN" b="1"/>
              <a:t>×</a:t>
            </a:r>
            <a:r>
              <a:rPr lang="en-US" altLang="zh-CN" b="1" i="1"/>
              <a:t>D</a:t>
            </a:r>
            <a:r>
              <a:rPr lang="en-US" altLang="zh-CN" b="1" baseline="-25000"/>
              <a:t>2</a:t>
            </a:r>
            <a:r>
              <a:rPr lang="en-US" altLang="zh-CN" b="1"/>
              <a:t>×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×</a:t>
            </a:r>
            <a:r>
              <a:rPr lang="en-US" altLang="zh-CN" b="1" i="1"/>
              <a:t>D</a:t>
            </a:r>
            <a:r>
              <a:rPr lang="en-US" altLang="zh-CN" b="1" i="1" baseline="-25000"/>
              <a:t>n</a:t>
            </a:r>
            <a:r>
              <a:rPr lang="en-US" altLang="zh-CN" b="1"/>
              <a:t>＝｛（</a:t>
            </a:r>
            <a:r>
              <a:rPr lang="en-US" altLang="zh-CN" b="1" i="1"/>
              <a:t>d</a:t>
            </a:r>
            <a:r>
              <a:rPr lang="en-US" altLang="zh-CN" b="1" baseline="-25000"/>
              <a:t>1</a:t>
            </a:r>
            <a:r>
              <a:rPr lang="en-US" altLang="zh-CN" b="1"/>
              <a:t>，</a:t>
            </a:r>
            <a:r>
              <a:rPr lang="en-US" altLang="zh-CN" b="1" i="1"/>
              <a:t>d</a:t>
            </a:r>
            <a:r>
              <a:rPr lang="en-US" altLang="zh-CN" b="1" baseline="-25000"/>
              <a:t>2</a:t>
            </a:r>
            <a:r>
              <a:rPr lang="en-US" altLang="zh-CN" b="1"/>
              <a:t>，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，</a:t>
            </a:r>
            <a:r>
              <a:rPr lang="en-US" altLang="zh-CN" b="1" i="1"/>
              <a:t>d</a:t>
            </a:r>
            <a:r>
              <a:rPr lang="en-US" altLang="zh-CN" b="1" i="1" baseline="-25000"/>
              <a:t>n</a:t>
            </a:r>
            <a:r>
              <a:rPr lang="en-US" altLang="zh-CN" b="1"/>
              <a:t>）｜</a:t>
            </a:r>
            <a:r>
              <a:rPr lang="en-US" altLang="zh-CN" b="1" i="1"/>
              <a:t>d</a:t>
            </a:r>
            <a:r>
              <a:rPr lang="en-US" altLang="zh-CN" b="1" i="1" baseline="-25000"/>
              <a:t>i</a:t>
            </a:r>
            <a:r>
              <a:rPr lang="en-US" altLang="zh-CN" b="1">
                <a:sym typeface="Symbol" panose="05050102010706020507" pitchFamily="18" charset="2"/>
              </a:rPr>
              <a:t></a:t>
            </a:r>
            <a:r>
              <a:rPr lang="en-US" altLang="zh-CN" b="1" i="1"/>
              <a:t>D</a:t>
            </a:r>
            <a:r>
              <a:rPr lang="en-US" altLang="zh-CN" b="1" i="1" baseline="-25000"/>
              <a:t>i</a:t>
            </a:r>
            <a:r>
              <a:rPr lang="en-US" altLang="zh-CN" b="1"/>
              <a:t>，</a:t>
            </a:r>
            <a:r>
              <a:rPr lang="en-US" altLang="zh-CN" b="1" i="1"/>
              <a:t>i</a:t>
            </a:r>
            <a:r>
              <a:rPr lang="en-US" altLang="zh-CN" b="1"/>
              <a:t>＝1，2，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，</a:t>
            </a:r>
            <a:r>
              <a:rPr lang="en-US" altLang="zh-CN" b="1" i="1"/>
              <a:t>n</a:t>
            </a:r>
            <a:r>
              <a:rPr lang="en-US" altLang="zh-CN" b="1"/>
              <a:t>｝</a:t>
            </a:r>
          </a:p>
          <a:p>
            <a:pPr lvl="1" eaLnBrk="1" hangingPunct="1"/>
            <a:r>
              <a:rPr lang="zh-CN" altLang="en-US" b="1"/>
              <a:t>域可以相同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3E8CCF5D-1317-44D2-B2E7-CDBE711F48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A8279E24-DD2D-4882-80DF-739A2DA5CD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2017713"/>
            <a:ext cx="8269288" cy="4114800"/>
          </a:xfrm>
        </p:spPr>
        <p:txBody>
          <a:bodyPr/>
          <a:lstStyle/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hlink"/>
                </a:solidFill>
              </a:rPr>
              <a:t>例 </a:t>
            </a:r>
            <a:r>
              <a:rPr lang="zh-CN" altLang="en-US" b="1"/>
              <a:t> 给出三个域：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</a:t>
            </a:r>
            <a:r>
              <a:rPr lang="en-US" altLang="zh-CN" b="1" i="1"/>
              <a:t>D</a:t>
            </a:r>
            <a:r>
              <a:rPr lang="en-US" altLang="zh-CN" b="1" baseline="-25000"/>
              <a:t>1</a:t>
            </a:r>
            <a:r>
              <a:rPr lang="en-US" altLang="zh-CN" b="1"/>
              <a:t>=</a:t>
            </a:r>
            <a:r>
              <a:rPr lang="en-US" altLang="zh-CN" b="1">
                <a:latin typeface="Times New Roman" panose="02020603050405020304" pitchFamily="18" charset="0"/>
              </a:rPr>
              <a:t>SUPERVISOR</a:t>
            </a:r>
            <a:r>
              <a:rPr lang="en-US" altLang="zh-CN" b="1"/>
              <a:t> ={ </a:t>
            </a:r>
            <a:r>
              <a:rPr lang="zh-CN" altLang="en-US" b="1"/>
              <a:t>张清玫，刘逸 }   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</a:t>
            </a:r>
            <a:r>
              <a:rPr lang="en-US" altLang="zh-CN" b="1" i="1"/>
              <a:t>D</a:t>
            </a:r>
            <a:r>
              <a:rPr lang="en-US" altLang="zh-CN" b="1" baseline="-25000"/>
              <a:t>2</a:t>
            </a:r>
            <a:r>
              <a:rPr lang="en-US" altLang="zh-CN" b="1"/>
              <a:t>=</a:t>
            </a:r>
            <a:r>
              <a:rPr lang="en-US" altLang="zh-CN" b="1">
                <a:latin typeface="Times New Roman" panose="02020603050405020304" pitchFamily="18" charset="0"/>
              </a:rPr>
              <a:t>SPECIALITY</a:t>
            </a:r>
            <a:r>
              <a:rPr lang="en-US" altLang="zh-CN" b="1"/>
              <a:t>={</a:t>
            </a:r>
            <a:r>
              <a:rPr lang="zh-CN" altLang="en-US" b="1"/>
              <a:t>计算机专业，信息专业}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 i="1"/>
              <a:t>  </a:t>
            </a:r>
            <a:r>
              <a:rPr lang="en-US" altLang="zh-CN" b="1" i="1"/>
              <a:t>D</a:t>
            </a:r>
            <a:r>
              <a:rPr lang="en-US" altLang="zh-CN" b="1" baseline="-25000"/>
              <a:t>3</a:t>
            </a:r>
            <a:r>
              <a:rPr lang="en-US" altLang="zh-CN" b="1"/>
              <a:t>=</a:t>
            </a:r>
            <a:r>
              <a:rPr lang="en-US" altLang="zh-CN" b="1">
                <a:latin typeface="Times New Roman" panose="02020603050405020304" pitchFamily="18" charset="0"/>
              </a:rPr>
              <a:t>POSTGRADUATE</a:t>
            </a:r>
            <a:r>
              <a:rPr lang="en-US" altLang="zh-CN" b="1"/>
              <a:t>={</a:t>
            </a:r>
            <a:r>
              <a:rPr lang="zh-CN" altLang="en-US" b="1"/>
              <a:t>李勇，刘晨，王敏}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则</a:t>
            </a:r>
            <a:r>
              <a:rPr lang="en-US" altLang="zh-CN" b="1" i="1"/>
              <a:t>D</a:t>
            </a:r>
            <a:r>
              <a:rPr lang="en-US" altLang="zh-CN" b="1" baseline="-25000"/>
              <a:t>1</a:t>
            </a:r>
            <a:r>
              <a:rPr lang="en-US" altLang="zh-CN" b="1"/>
              <a:t>，</a:t>
            </a:r>
            <a:r>
              <a:rPr lang="en-US" altLang="zh-CN" b="1" i="1"/>
              <a:t>D</a:t>
            </a:r>
            <a:r>
              <a:rPr lang="en-US" altLang="zh-CN" b="1" baseline="-25000"/>
              <a:t>2</a:t>
            </a:r>
            <a:r>
              <a:rPr lang="en-US" altLang="zh-CN" b="1"/>
              <a:t>，</a:t>
            </a:r>
            <a:r>
              <a:rPr lang="en-US" altLang="zh-CN" b="1" i="1"/>
              <a:t>D</a:t>
            </a:r>
            <a:r>
              <a:rPr lang="en-US" altLang="zh-CN" b="1" baseline="-25000"/>
              <a:t>3</a:t>
            </a:r>
            <a:r>
              <a:rPr lang="zh-CN" altLang="en-US" b="1"/>
              <a:t>的笛卡尔积为：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b="1" i="1"/>
              <a:t>D</a:t>
            </a:r>
            <a:r>
              <a:rPr lang="en-US" altLang="zh-CN" b="1" baseline="-25000"/>
              <a:t>1</a:t>
            </a:r>
            <a:r>
              <a:rPr lang="en-US" altLang="zh-CN" b="1"/>
              <a:t>×</a:t>
            </a:r>
            <a:r>
              <a:rPr lang="en-US" altLang="zh-CN" b="1" i="1"/>
              <a:t>D</a:t>
            </a:r>
            <a:r>
              <a:rPr lang="en-US" altLang="zh-CN" b="1" baseline="-25000"/>
              <a:t>2</a:t>
            </a:r>
            <a:r>
              <a:rPr lang="en-US" altLang="zh-CN" b="1"/>
              <a:t>×</a:t>
            </a:r>
            <a:r>
              <a:rPr lang="en-US" altLang="zh-CN" b="1" i="1"/>
              <a:t>D</a:t>
            </a:r>
            <a:r>
              <a:rPr lang="en-US" altLang="zh-CN" b="1" baseline="-25000"/>
              <a:t>3 </a:t>
            </a:r>
            <a:r>
              <a:rPr lang="en-US" altLang="zh-CN" b="1"/>
              <a:t>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26">
            <a:extLst>
              <a:ext uri="{FF2B5EF4-FFF2-40B4-BE49-F238E27FC236}">
                <a16:creationId xmlns:a16="http://schemas.microsoft.com/office/drawing/2014/main" id="{020C8DC3-D713-4350-9084-637FCFECAC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1507" name="Rectangle 1027">
            <a:extLst>
              <a:ext uri="{FF2B5EF4-FFF2-40B4-BE49-F238E27FC236}">
                <a16:creationId xmlns:a16="http://schemas.microsoft.com/office/drawing/2014/main" id="{18F03102-56B9-480F-BA8D-FFF12EE4FE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2133600"/>
            <a:ext cx="8955088" cy="4114800"/>
          </a:xfrm>
        </p:spPr>
        <p:txBody>
          <a:bodyPr/>
          <a:lstStyle/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｛(</a:t>
            </a:r>
            <a:r>
              <a:rPr lang="zh-CN" altLang="en-US" sz="2400" b="1"/>
              <a:t>张清玫，计算机专业，李勇)，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   (张清玫，计算机专业，刘晨)，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   (张清玫，计算机专业，王敏)，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   (张清玫，信息专业，李勇)， 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   (张清玫，信息专业，刘晨)，(张清玫，信息专业，王敏)， (刘逸，计算机专业，李勇)，(刘逸，计算机专业，刘晨)，(刘逸，计算机专业，王敏)，(刘逸，信息专业，李勇)， 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   (刘逸，信息专业，刘晨)，(刘逸，信息专业，王敏) ｝</a:t>
            </a:r>
            <a:endParaRPr lang="zh-CN" alt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370E123-2458-462F-ADC3-39F08D4063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843ACFEF-38A5-4B3E-8EE0-DF6ACD9089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2017713"/>
            <a:ext cx="7772400" cy="4114800"/>
          </a:xfrm>
        </p:spPr>
        <p:txBody>
          <a:bodyPr/>
          <a:lstStyle/>
          <a:p>
            <a:pPr algn="just" eaLnBrk="1" hangingPunct="1"/>
            <a:r>
              <a:rPr lang="zh-CN" altLang="en-US" b="1"/>
              <a:t>2) </a:t>
            </a:r>
            <a:r>
              <a:rPr lang="zh-CN" altLang="en-US" b="1">
                <a:ea typeface="黑体" panose="02010609060101010101" pitchFamily="49" charset="-122"/>
              </a:rPr>
              <a:t>元组</a:t>
            </a:r>
            <a:r>
              <a:rPr lang="zh-CN" altLang="en-US" b="1"/>
              <a:t>（</a:t>
            </a:r>
            <a:r>
              <a:rPr lang="en-US" altLang="zh-CN" b="1">
                <a:latin typeface="Times New Roman" panose="02020603050405020304" pitchFamily="18" charset="0"/>
              </a:rPr>
              <a:t>Tuple</a:t>
            </a:r>
            <a:r>
              <a:rPr lang="en-US" altLang="zh-CN" b="1"/>
              <a:t>）</a:t>
            </a:r>
          </a:p>
          <a:p>
            <a:pPr lvl="1" algn="just" eaLnBrk="1" hangingPunct="1"/>
            <a:r>
              <a:rPr lang="zh-CN" altLang="en-US" b="1"/>
              <a:t>笛卡尔积中每一个元素（</a:t>
            </a:r>
            <a:r>
              <a:rPr lang="en-US" altLang="zh-CN" b="1" i="1"/>
              <a:t>d</a:t>
            </a:r>
            <a:r>
              <a:rPr lang="en-US" altLang="zh-CN" b="1" baseline="-25000"/>
              <a:t>1</a:t>
            </a:r>
            <a:r>
              <a:rPr lang="en-US" altLang="zh-CN" b="1"/>
              <a:t>，</a:t>
            </a:r>
            <a:r>
              <a:rPr lang="en-US" altLang="zh-CN" b="1" i="1"/>
              <a:t>d</a:t>
            </a:r>
            <a:r>
              <a:rPr lang="en-US" altLang="zh-CN" b="1" baseline="-25000"/>
              <a:t>2</a:t>
            </a:r>
            <a:r>
              <a:rPr lang="en-US" altLang="zh-CN" b="1"/>
              <a:t>，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，</a:t>
            </a:r>
            <a:r>
              <a:rPr lang="en-US" altLang="zh-CN" b="1" i="1"/>
              <a:t>d</a:t>
            </a:r>
            <a:r>
              <a:rPr lang="en-US" altLang="zh-CN" b="1" i="1" baseline="-25000"/>
              <a:t>n</a:t>
            </a:r>
            <a:r>
              <a:rPr lang="en-US" altLang="zh-CN" b="1"/>
              <a:t>）</a:t>
            </a:r>
            <a:r>
              <a:rPr lang="zh-CN" altLang="en-US" b="1"/>
              <a:t>叫作一个</a:t>
            </a:r>
            <a:r>
              <a:rPr lang="en-US" altLang="zh-CN" b="1" i="1">
                <a:ea typeface="黑体" panose="02010609060101010101" pitchFamily="49" charset="-122"/>
              </a:rPr>
              <a:t>n</a:t>
            </a:r>
            <a:r>
              <a:rPr lang="zh-CN" altLang="en-US" b="1">
                <a:ea typeface="黑体" panose="02010609060101010101" pitchFamily="49" charset="-122"/>
              </a:rPr>
              <a:t>元组</a:t>
            </a:r>
            <a:r>
              <a:rPr lang="zh-CN" altLang="en-US" b="1"/>
              <a:t>（</a:t>
            </a:r>
            <a:r>
              <a:rPr lang="en-US" altLang="zh-CN" b="1"/>
              <a:t>n-tuple）</a:t>
            </a:r>
            <a:r>
              <a:rPr lang="zh-CN" altLang="en-US" b="1"/>
              <a:t>或简称</a:t>
            </a:r>
            <a:r>
              <a:rPr lang="zh-CN" altLang="en-US" b="1">
                <a:ea typeface="黑体" panose="02010609060101010101" pitchFamily="49" charset="-122"/>
              </a:rPr>
              <a:t>元组</a:t>
            </a:r>
            <a:r>
              <a:rPr lang="zh-CN" altLang="en-US" b="1"/>
              <a:t>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</a:t>
            </a:r>
          </a:p>
          <a:p>
            <a:pPr eaLnBrk="1" hangingPunct="1"/>
            <a:r>
              <a:rPr lang="zh-CN" altLang="en-US" b="1"/>
              <a:t>3) </a:t>
            </a:r>
            <a:r>
              <a:rPr lang="zh-CN" altLang="en-US" b="1">
                <a:ea typeface="黑体" panose="02010609060101010101" pitchFamily="49" charset="-122"/>
              </a:rPr>
              <a:t>分量</a:t>
            </a:r>
            <a:r>
              <a:rPr lang="zh-CN" altLang="en-US" b="1"/>
              <a:t>（</a:t>
            </a:r>
            <a:r>
              <a:rPr lang="en-US" altLang="zh-CN" b="1">
                <a:latin typeface="Times New Roman" panose="02020603050405020304" pitchFamily="18" charset="0"/>
              </a:rPr>
              <a:t>Component</a:t>
            </a:r>
            <a:r>
              <a:rPr lang="en-US" altLang="zh-CN" b="1"/>
              <a:t>）</a:t>
            </a:r>
          </a:p>
          <a:p>
            <a:pPr lvl="1" eaLnBrk="1" hangingPunct="1"/>
            <a:r>
              <a:rPr lang="zh-CN" altLang="en-US" b="1"/>
              <a:t>笛卡尔积元素（</a:t>
            </a:r>
            <a:r>
              <a:rPr lang="en-US" altLang="zh-CN" b="1" i="1"/>
              <a:t>d</a:t>
            </a:r>
            <a:r>
              <a:rPr lang="en-US" altLang="zh-CN" b="1" baseline="-25000"/>
              <a:t>1</a:t>
            </a:r>
            <a:r>
              <a:rPr lang="en-US" altLang="zh-CN" b="1"/>
              <a:t>，</a:t>
            </a:r>
            <a:r>
              <a:rPr lang="en-US" altLang="zh-CN" b="1" i="1"/>
              <a:t>d</a:t>
            </a:r>
            <a:r>
              <a:rPr lang="en-US" altLang="zh-CN" b="1" baseline="-25000"/>
              <a:t>2</a:t>
            </a:r>
            <a:r>
              <a:rPr lang="en-US" altLang="zh-CN" b="1"/>
              <a:t>，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，</a:t>
            </a:r>
            <a:r>
              <a:rPr lang="en-US" altLang="zh-CN" b="1" i="1"/>
              <a:t>d</a:t>
            </a:r>
            <a:r>
              <a:rPr lang="en-US" altLang="zh-CN" b="1" i="1" baseline="-25000"/>
              <a:t>n</a:t>
            </a:r>
            <a:r>
              <a:rPr lang="en-US" altLang="zh-CN" b="1"/>
              <a:t>）</a:t>
            </a:r>
            <a:r>
              <a:rPr lang="zh-CN" altLang="en-US" b="1"/>
              <a:t>中的每一个值</a:t>
            </a:r>
            <a:r>
              <a:rPr lang="en-US" altLang="zh-CN" b="1" i="1"/>
              <a:t>d</a:t>
            </a:r>
            <a:r>
              <a:rPr lang="en-US" altLang="zh-CN" b="1" i="1" baseline="-25000"/>
              <a:t>i</a:t>
            </a:r>
            <a:r>
              <a:rPr lang="zh-CN" altLang="en-US" b="1"/>
              <a:t>叫作一个</a:t>
            </a:r>
            <a:r>
              <a:rPr lang="zh-CN" altLang="en-US" b="1">
                <a:ea typeface="黑体" panose="02010609060101010101" pitchFamily="49" charset="-122"/>
              </a:rPr>
              <a:t>分量</a:t>
            </a:r>
            <a:r>
              <a:rPr lang="zh-CN" altLang="en-US" b="1"/>
              <a:t>。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>
            <a:extLst>
              <a:ext uri="{FF2B5EF4-FFF2-40B4-BE49-F238E27FC236}">
                <a16:creationId xmlns:a16="http://schemas.microsoft.com/office/drawing/2014/main" id="{6FAEC9AF-C9D0-4C85-A67F-12E36C8B14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D9664959-C161-4EAD-B77F-D6DC56C5FE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 b="1"/>
              <a:t>4) 基数（</a:t>
            </a:r>
            <a:r>
              <a:rPr lang="en-US" altLang="zh-CN" b="1">
                <a:latin typeface="Times New Roman" panose="02020603050405020304" pitchFamily="18" charset="0"/>
              </a:rPr>
              <a:t>Cardinal number</a:t>
            </a:r>
            <a:r>
              <a:rPr lang="en-US" altLang="zh-CN" b="1"/>
              <a:t>）</a:t>
            </a:r>
          </a:p>
          <a:p>
            <a:pPr lvl="1" algn="just" eaLnBrk="1" hangingPunct="1"/>
            <a:r>
              <a:rPr lang="zh-CN" altLang="en-US" b="1"/>
              <a:t>若</a:t>
            </a:r>
            <a:r>
              <a:rPr lang="en-US" altLang="zh-CN" b="1" i="1"/>
              <a:t>D</a:t>
            </a:r>
            <a:r>
              <a:rPr lang="en-US" altLang="zh-CN" b="1" i="1" baseline="-25000"/>
              <a:t>i</a:t>
            </a:r>
            <a:r>
              <a:rPr lang="en-US" altLang="zh-CN" b="1"/>
              <a:t>（</a:t>
            </a:r>
            <a:r>
              <a:rPr lang="en-US" altLang="zh-CN" b="1" i="1"/>
              <a:t>i</a:t>
            </a:r>
            <a:r>
              <a:rPr lang="en-US" altLang="zh-CN" b="1"/>
              <a:t>＝1，2，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，</a:t>
            </a:r>
            <a:r>
              <a:rPr lang="en-US" altLang="zh-CN" b="1" i="1"/>
              <a:t>n</a:t>
            </a:r>
            <a:r>
              <a:rPr lang="en-US" altLang="zh-CN" b="1"/>
              <a:t>）</a:t>
            </a:r>
            <a:r>
              <a:rPr lang="zh-CN" altLang="en-US" b="1"/>
              <a:t>为有限集，其基数为</a:t>
            </a:r>
            <a:r>
              <a:rPr lang="en-US" altLang="zh-CN" b="1" i="1"/>
              <a:t>m</a:t>
            </a:r>
            <a:r>
              <a:rPr lang="en-US" altLang="zh-CN" b="1" i="1" baseline="-25000"/>
              <a:t>i</a:t>
            </a:r>
            <a:r>
              <a:rPr lang="en-US" altLang="zh-CN" b="1"/>
              <a:t>（</a:t>
            </a:r>
            <a:r>
              <a:rPr lang="en-US" altLang="zh-CN" b="1" i="1"/>
              <a:t>i</a:t>
            </a:r>
            <a:r>
              <a:rPr lang="en-US" altLang="zh-CN" b="1"/>
              <a:t>＝1，2，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，</a:t>
            </a:r>
            <a:r>
              <a:rPr lang="en-US" altLang="zh-CN" b="1" i="1"/>
              <a:t>n</a:t>
            </a:r>
            <a:r>
              <a:rPr lang="en-US" altLang="zh-CN" b="1"/>
              <a:t>），</a:t>
            </a:r>
            <a:r>
              <a:rPr lang="zh-CN" altLang="en-US" b="1"/>
              <a:t>则</a:t>
            </a:r>
            <a:r>
              <a:rPr lang="en-US" altLang="zh-CN" b="1" i="1"/>
              <a:t>D</a:t>
            </a:r>
            <a:r>
              <a:rPr lang="en-US" altLang="zh-CN" b="1" baseline="-25000"/>
              <a:t>1</a:t>
            </a:r>
            <a:r>
              <a:rPr lang="en-US" altLang="zh-CN" b="1"/>
              <a:t>×</a:t>
            </a:r>
            <a:r>
              <a:rPr lang="en-US" altLang="zh-CN" b="1" i="1"/>
              <a:t>D</a:t>
            </a:r>
            <a:r>
              <a:rPr lang="en-US" altLang="zh-CN" b="1" baseline="-25000"/>
              <a:t>2</a:t>
            </a:r>
            <a:r>
              <a:rPr lang="en-US" altLang="zh-CN" b="1"/>
              <a:t>×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×</a:t>
            </a:r>
            <a:r>
              <a:rPr lang="en-US" altLang="zh-CN" b="1" i="1"/>
              <a:t>D</a:t>
            </a:r>
            <a:r>
              <a:rPr lang="en-US" altLang="zh-CN" b="1" i="1" baseline="-25000"/>
              <a:t>n</a:t>
            </a:r>
            <a:r>
              <a:rPr lang="zh-CN" altLang="en-US" b="1"/>
              <a:t>的基数</a:t>
            </a:r>
            <a:r>
              <a:rPr lang="en-US" altLang="zh-CN" b="1" i="1"/>
              <a:t>M</a:t>
            </a:r>
            <a:r>
              <a:rPr lang="zh-CN" altLang="en-US" b="1"/>
              <a:t>为：</a:t>
            </a:r>
          </a:p>
          <a:p>
            <a:pPr lvl="1" algn="just" eaLnBrk="1" hangingPunct="1"/>
            <a:endParaRPr lang="zh-CN" altLang="en-US" b="1"/>
          </a:p>
          <a:p>
            <a:pPr lvl="1" algn="just" eaLnBrk="1" hangingPunct="1"/>
            <a:endParaRPr lang="zh-CN" altLang="en-US" b="1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b="1"/>
              <a:t>在上例中，基数：2×2×3＝12，即</a:t>
            </a:r>
            <a:r>
              <a:rPr lang="en-US" altLang="zh-CN" b="1" i="1"/>
              <a:t>D</a:t>
            </a:r>
            <a:r>
              <a:rPr lang="en-US" altLang="zh-CN" b="1" baseline="-25000"/>
              <a:t>1</a:t>
            </a:r>
            <a:r>
              <a:rPr lang="en-US" altLang="zh-CN" b="1"/>
              <a:t>×</a:t>
            </a:r>
            <a:r>
              <a:rPr lang="en-US" altLang="zh-CN" b="1" i="1"/>
              <a:t>D</a:t>
            </a:r>
            <a:r>
              <a:rPr lang="en-US" altLang="zh-CN" b="1" baseline="-25000"/>
              <a:t>2</a:t>
            </a:r>
            <a:r>
              <a:rPr lang="en-US" altLang="zh-CN" b="1"/>
              <a:t>×</a:t>
            </a:r>
            <a:r>
              <a:rPr lang="en-US" altLang="zh-CN" b="1" i="1"/>
              <a:t>D</a:t>
            </a:r>
            <a:r>
              <a:rPr lang="en-US" altLang="zh-CN" b="1" baseline="-25000"/>
              <a:t>3</a:t>
            </a:r>
            <a:r>
              <a:rPr lang="zh-CN" altLang="en-US" b="1"/>
              <a:t>共有2×2×3＝12个元组</a:t>
            </a:r>
          </a:p>
        </p:txBody>
      </p:sp>
      <p:graphicFrame>
        <p:nvGraphicFramePr>
          <p:cNvPr id="1026" name="Object 4">
            <a:extLst>
              <a:ext uri="{FF2B5EF4-FFF2-40B4-BE49-F238E27FC236}">
                <a16:creationId xmlns:a16="http://schemas.microsoft.com/office/drawing/2014/main" id="{BC51AAF6-023B-47EC-8A41-080053C778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3962400"/>
          <a:ext cx="2438400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72808" imgH="342751" progId="Equation.3">
                  <p:embed/>
                </p:oleObj>
              </mc:Choice>
              <mc:Fallback>
                <p:oleObj name="公式" r:id="rId2" imgW="672808" imgH="34275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962400"/>
                        <a:ext cx="2438400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A277AA6-1110-490C-91A6-2FDA4580F0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126252C-92A9-4F93-957C-E684AF8E87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 sz="3600" b="1"/>
              <a:t>5)笛卡尔积的表示方法</a:t>
            </a:r>
          </a:p>
          <a:p>
            <a:pPr lvl="1" algn="just" eaLnBrk="1" hangingPunct="1"/>
            <a:r>
              <a:rPr lang="zh-CN" altLang="en-US" sz="3200" b="1"/>
              <a:t>笛卡尔积可表示为一个二维表。表中的每行对应一个元组，表中的每列对应一个域。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3200" b="1"/>
              <a:t>在上例中，12个元组可列成一张二维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3200" b="1"/>
              <a:t>表:</a:t>
            </a:r>
            <a:r>
              <a:rPr lang="zh-CN" altLang="en-US" b="1"/>
              <a:t>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4">
            <a:extLst>
              <a:ext uri="{FF2B5EF4-FFF2-40B4-BE49-F238E27FC236}">
                <a16:creationId xmlns:a16="http://schemas.microsoft.com/office/drawing/2014/main" id="{8C360315-13D2-475E-A929-C0B7109852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228600" y="671513"/>
          <a:ext cx="9906000" cy="618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3953256" imgH="3209544" progId="Word.Document.8">
                  <p:embed/>
                </p:oleObj>
              </mc:Choice>
              <mc:Fallback>
                <p:oleObj name="文档" r:id="rId3" imgW="3953256" imgH="3209544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28600" y="671513"/>
                        <a:ext cx="9906000" cy="6186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E1936D5-F0A5-41A9-BC94-95B0D6C186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CC3399"/>
                </a:solidFill>
              </a:rPr>
              <a:t>3. 关系（</a:t>
            </a:r>
            <a:r>
              <a:rPr lang="en-US" altLang="zh-CN" b="1">
                <a:solidFill>
                  <a:srgbClr val="CC3399"/>
                </a:solidFill>
              </a:rPr>
              <a:t>Relation）</a:t>
            </a:r>
            <a:endParaRPr lang="zh-CN" altLang="en-US" b="1">
              <a:solidFill>
                <a:srgbClr val="CC3399"/>
              </a:solidFill>
            </a:endParaRP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0E07DD4C-BE09-4047-97CA-1A9ED613E4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>
                <a:ea typeface="黑体" panose="02010609060101010101" pitchFamily="49" charset="-122"/>
              </a:rPr>
              <a:t>1) 关系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b="1" i="1"/>
              <a:t>D</a:t>
            </a:r>
            <a:r>
              <a:rPr lang="en-US" altLang="zh-CN" b="1" baseline="-25000"/>
              <a:t>1</a:t>
            </a:r>
            <a:r>
              <a:rPr lang="en-US" altLang="zh-CN" b="1"/>
              <a:t>×</a:t>
            </a:r>
            <a:r>
              <a:rPr lang="en-US" altLang="zh-CN" b="1" i="1"/>
              <a:t>D</a:t>
            </a:r>
            <a:r>
              <a:rPr lang="en-US" altLang="zh-CN" b="1" baseline="-25000"/>
              <a:t>2</a:t>
            </a:r>
            <a:r>
              <a:rPr lang="en-US" altLang="zh-CN" b="1"/>
              <a:t>×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×</a:t>
            </a:r>
            <a:r>
              <a:rPr lang="en-US" altLang="zh-CN" b="1" i="1"/>
              <a:t>D</a:t>
            </a:r>
            <a:r>
              <a:rPr lang="en-US" altLang="zh-CN" b="1" i="1" baseline="-25000"/>
              <a:t>n</a:t>
            </a:r>
            <a:r>
              <a:rPr lang="zh-CN" altLang="en-US" b="1"/>
              <a:t>的子集叫作在域</a:t>
            </a:r>
            <a:r>
              <a:rPr lang="en-US" altLang="zh-CN" b="1" i="1"/>
              <a:t>D</a:t>
            </a:r>
            <a:r>
              <a:rPr lang="en-US" altLang="zh-CN" b="1" baseline="-25000"/>
              <a:t>1</a:t>
            </a:r>
            <a:r>
              <a:rPr lang="en-US" altLang="zh-CN" b="1"/>
              <a:t>，</a:t>
            </a:r>
            <a:r>
              <a:rPr lang="en-US" altLang="zh-CN" b="1" i="1"/>
              <a:t>D</a:t>
            </a:r>
            <a:r>
              <a:rPr lang="en-US" altLang="zh-CN" b="1" baseline="-25000"/>
              <a:t>2</a:t>
            </a:r>
            <a:r>
              <a:rPr lang="en-US" altLang="zh-CN" b="1"/>
              <a:t>，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，</a:t>
            </a:r>
            <a:r>
              <a:rPr lang="en-US" altLang="zh-CN" b="1" i="1"/>
              <a:t>D</a:t>
            </a:r>
            <a:r>
              <a:rPr lang="en-US" altLang="zh-CN" b="1" i="1" baseline="-25000"/>
              <a:t>n</a:t>
            </a:r>
            <a:r>
              <a:rPr lang="zh-CN" altLang="en-US" b="1"/>
              <a:t>上的</a:t>
            </a:r>
            <a:r>
              <a:rPr lang="zh-CN" altLang="en-US" b="1">
                <a:ea typeface="黑体" panose="02010609060101010101" pitchFamily="49" charset="-122"/>
              </a:rPr>
              <a:t>关系</a:t>
            </a:r>
            <a:r>
              <a:rPr lang="zh-CN" altLang="en-US" b="1"/>
              <a:t>，表示为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              </a:t>
            </a:r>
            <a:r>
              <a:rPr lang="en-US" altLang="zh-CN" b="1" i="1"/>
              <a:t>R</a:t>
            </a:r>
            <a:r>
              <a:rPr lang="en-US" altLang="zh-CN" b="1"/>
              <a:t>（</a:t>
            </a:r>
            <a:r>
              <a:rPr lang="en-US" altLang="zh-CN" b="1" i="1"/>
              <a:t>D</a:t>
            </a:r>
            <a:r>
              <a:rPr lang="en-US" altLang="zh-CN" b="1" baseline="-25000"/>
              <a:t>1</a:t>
            </a:r>
            <a:r>
              <a:rPr lang="en-US" altLang="zh-CN" b="1"/>
              <a:t>，</a:t>
            </a:r>
            <a:r>
              <a:rPr lang="en-US" altLang="zh-CN" b="1" i="1"/>
              <a:t>D</a:t>
            </a:r>
            <a:r>
              <a:rPr lang="en-US" altLang="zh-CN" b="1" baseline="-25000"/>
              <a:t>2</a:t>
            </a:r>
            <a:r>
              <a:rPr lang="en-US" altLang="zh-CN" b="1"/>
              <a:t>，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，</a:t>
            </a:r>
            <a:r>
              <a:rPr lang="en-US" altLang="zh-CN" b="1" i="1"/>
              <a:t>D</a:t>
            </a:r>
            <a:r>
              <a:rPr lang="en-US" altLang="zh-CN" b="1" i="1" baseline="-25000"/>
              <a:t>n</a:t>
            </a:r>
            <a:r>
              <a:rPr lang="en-US" altLang="zh-CN" b="1"/>
              <a:t>）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b="1" i="1"/>
              <a:t>R：</a:t>
            </a:r>
            <a:r>
              <a:rPr lang="zh-CN" altLang="en-US" b="1"/>
              <a:t>关系名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b="1" i="1"/>
              <a:t>n：</a:t>
            </a:r>
            <a:r>
              <a:rPr lang="zh-CN" altLang="en-US" b="1"/>
              <a:t>关系的</a:t>
            </a:r>
            <a:r>
              <a:rPr lang="zh-CN" altLang="en-US" b="1">
                <a:ea typeface="黑体" panose="02010609060101010101" pitchFamily="49" charset="-122"/>
              </a:rPr>
              <a:t>目</a:t>
            </a:r>
            <a:r>
              <a:rPr lang="zh-CN" altLang="en-US" b="1"/>
              <a:t>或</a:t>
            </a:r>
            <a:r>
              <a:rPr lang="zh-CN" altLang="en-US" b="1">
                <a:ea typeface="黑体" panose="02010609060101010101" pitchFamily="49" charset="-122"/>
              </a:rPr>
              <a:t>度</a:t>
            </a:r>
            <a:r>
              <a:rPr lang="zh-CN" altLang="en-US" b="1"/>
              <a:t>（</a:t>
            </a:r>
            <a:r>
              <a:rPr lang="en-US" altLang="zh-CN" b="1"/>
              <a:t>Degree）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DD4A521-93E1-45DD-A812-E346680254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800" b="1">
                <a:solidFill>
                  <a:srgbClr val="CC3399"/>
                </a:solidFill>
              </a:rPr>
              <a:t>注意：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F37BBFF-F196-410A-B451-E25A9FDF66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2017713"/>
            <a:ext cx="7772400" cy="4459287"/>
          </a:xfrm>
        </p:spPr>
        <p:txBody>
          <a:bodyPr/>
          <a:lstStyle/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关系是笛卡尔积的有限子集。无限关系在数据库系统中是无意义的。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由于笛卡尔积不满足交换律，即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(</a:t>
            </a:r>
            <a:r>
              <a:rPr lang="en-US" altLang="zh-CN" b="1"/>
              <a:t>d1，d2，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，dn )≠(d2，d1，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，dn )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</a:t>
            </a:r>
            <a:r>
              <a:rPr lang="zh-CN" altLang="en-US" b="1"/>
              <a:t>但关系满足交换律，即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i="1"/>
              <a:t>(</a:t>
            </a:r>
            <a:r>
              <a:rPr lang="en-US" altLang="zh-CN" b="1" i="1"/>
              <a:t>d</a:t>
            </a:r>
            <a:r>
              <a:rPr lang="en-US" altLang="zh-CN" b="1" baseline="-25000"/>
              <a:t>1</a:t>
            </a:r>
            <a:r>
              <a:rPr lang="en-US" altLang="zh-CN" b="1"/>
              <a:t>，</a:t>
            </a:r>
            <a:r>
              <a:rPr lang="en-US" altLang="zh-CN" b="1" i="1"/>
              <a:t>d</a:t>
            </a:r>
            <a:r>
              <a:rPr lang="en-US" altLang="zh-CN" b="1" baseline="-25000"/>
              <a:t>2 </a:t>
            </a:r>
            <a:r>
              <a:rPr lang="en-US" altLang="zh-CN" b="1"/>
              <a:t>，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，</a:t>
            </a:r>
            <a:r>
              <a:rPr lang="en-US" altLang="zh-CN" b="1" i="1"/>
              <a:t>d</a:t>
            </a:r>
            <a:r>
              <a:rPr lang="en-US" altLang="zh-CN" b="1" i="1" baseline="-25000"/>
              <a:t>i </a:t>
            </a:r>
            <a:r>
              <a:rPr lang="en-US" altLang="zh-CN" b="1"/>
              <a:t>，</a:t>
            </a:r>
            <a:r>
              <a:rPr lang="en-US" altLang="zh-CN" b="1" i="1"/>
              <a:t>d</a:t>
            </a:r>
            <a:r>
              <a:rPr lang="en-US" altLang="zh-CN" b="1" i="1" baseline="-25000"/>
              <a:t>j </a:t>
            </a:r>
            <a:r>
              <a:rPr lang="en-US" altLang="zh-CN" b="1"/>
              <a:t>，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，</a:t>
            </a:r>
            <a:r>
              <a:rPr lang="en-US" altLang="zh-CN" b="1" i="1"/>
              <a:t>d</a:t>
            </a:r>
            <a:r>
              <a:rPr lang="en-US" altLang="zh-CN" b="1" i="1" baseline="-25000"/>
              <a:t>n</a:t>
            </a:r>
            <a:r>
              <a:rPr lang="en-US" altLang="zh-CN" b="1"/>
              <a:t>）=（</a:t>
            </a:r>
            <a:r>
              <a:rPr lang="en-US" altLang="zh-CN" b="1" i="1"/>
              <a:t>d</a:t>
            </a:r>
            <a:r>
              <a:rPr lang="en-US" altLang="zh-CN" b="1" baseline="-25000"/>
              <a:t>1</a:t>
            </a:r>
            <a:r>
              <a:rPr lang="en-US" altLang="zh-CN" b="1"/>
              <a:t>，</a:t>
            </a:r>
            <a:r>
              <a:rPr lang="en-US" altLang="zh-CN" b="1" i="1"/>
              <a:t>d</a:t>
            </a:r>
            <a:r>
              <a:rPr lang="en-US" altLang="zh-CN" b="1" baseline="-25000"/>
              <a:t>2 </a:t>
            </a:r>
            <a:r>
              <a:rPr lang="en-US" altLang="zh-CN" b="1"/>
              <a:t>，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，</a:t>
            </a:r>
            <a:r>
              <a:rPr lang="en-US" altLang="zh-CN" b="1" i="1"/>
              <a:t>dj</a:t>
            </a:r>
            <a:r>
              <a:rPr lang="en-US" altLang="zh-CN" b="1"/>
              <a:t>，</a:t>
            </a:r>
            <a:r>
              <a:rPr lang="en-US" altLang="zh-CN" b="1" i="1"/>
              <a:t>di</a:t>
            </a:r>
            <a:r>
              <a:rPr lang="en-US" altLang="zh-CN" b="1" i="1" baseline="-25000"/>
              <a:t> </a:t>
            </a:r>
            <a:r>
              <a:rPr lang="en-US" altLang="zh-CN" b="1"/>
              <a:t>，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，</a:t>
            </a:r>
            <a:r>
              <a:rPr lang="en-US" altLang="zh-CN" b="1" i="1"/>
              <a:t>d</a:t>
            </a:r>
            <a:r>
              <a:rPr lang="en-US" altLang="zh-CN" b="1" i="1" baseline="-25000"/>
              <a:t>n</a:t>
            </a:r>
            <a:r>
              <a:rPr lang="en-US" altLang="zh-CN" b="1"/>
              <a:t>） （</a:t>
            </a:r>
            <a:r>
              <a:rPr lang="en-US" altLang="zh-CN" b="1" i="1"/>
              <a:t>i</a:t>
            </a:r>
            <a:r>
              <a:rPr lang="en-US" altLang="zh-CN" b="1"/>
              <a:t>，</a:t>
            </a:r>
            <a:r>
              <a:rPr lang="en-US" altLang="zh-CN" b="1" i="1"/>
              <a:t>j</a:t>
            </a:r>
            <a:r>
              <a:rPr lang="en-US" altLang="zh-CN" b="1"/>
              <a:t> = 1，2，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，</a:t>
            </a:r>
            <a:r>
              <a:rPr lang="en-US" altLang="zh-CN" b="1" i="1"/>
              <a:t>n</a:t>
            </a:r>
            <a:r>
              <a:rPr lang="en-US" altLang="zh-CN" b="1"/>
              <a:t>）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</a:t>
            </a:r>
            <a:r>
              <a:rPr lang="zh-CN" altLang="en-US" b="1"/>
              <a:t>解决方法：为关系的每个列附加一个属性名以取消关系元组的有序性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512A204-85AE-4D94-B6F8-EE8070C049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E17C57CF-F552-4CB8-A40F-DC3D135A32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2133600"/>
            <a:ext cx="8382000" cy="4114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例</a:t>
            </a:r>
            <a:r>
              <a:rPr lang="zh-CN" altLang="en-US" sz="2800" b="1"/>
              <a:t>  在表</a:t>
            </a:r>
            <a:r>
              <a:rPr lang="zh-CN" altLang="en-US" sz="2800" b="1">
                <a:ea typeface="黑体" panose="02010609060101010101" pitchFamily="49" charset="-122"/>
              </a:rPr>
              <a:t>2.</a:t>
            </a:r>
            <a:r>
              <a:rPr lang="zh-CN" altLang="en-US" sz="2800" b="1"/>
              <a:t>1 的笛卡尔积中取出有实际意义的元组来构造关系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关系：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SAP(SUPERVISOR，SPECIALITY，POSTGRADUATE)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假设：</a:t>
            </a:r>
            <a:r>
              <a:rPr lang="zh-CN" altLang="en-US" sz="2400" b="1"/>
              <a:t>导师与专业：1:1，导师与研究生：1:</a:t>
            </a:r>
            <a:r>
              <a:rPr lang="en-US" altLang="zh-CN" sz="2400" b="1"/>
              <a:t>n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于是：</a:t>
            </a:r>
            <a:r>
              <a:rPr lang="en-US" altLang="zh-CN" sz="2800" b="1"/>
              <a:t>SAP</a:t>
            </a:r>
            <a:r>
              <a:rPr lang="zh-CN" altLang="en-US" sz="2800" b="1"/>
              <a:t>关系可以包含三个元组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    ｛ (张清玫，信息专业，李勇)，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   </a:t>
            </a:r>
            <a:r>
              <a:rPr lang="zh-CN" altLang="en-US" b="1"/>
              <a:t>(张清玫，信息专业，刘晨)，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   (刘逸，信息专业，王敏)  }</a:t>
            </a:r>
            <a:r>
              <a:rPr lang="zh-CN" altLang="en-US" sz="2000" b="1"/>
              <a:t> 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EE52DF8E-F8F7-43AC-A4D5-E1A4E348C0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96FB3441-B9E0-4560-BB4F-0DB45A2891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2) 元组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关系中的每个元素是关系中的元组，通常用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b="1" i="1"/>
              <a:t>t </a:t>
            </a:r>
            <a:r>
              <a:rPr lang="zh-CN" altLang="en-US" b="1"/>
              <a:t>表示。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3) 单元关系与二元关系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当</a:t>
            </a:r>
            <a:r>
              <a:rPr lang="en-US" altLang="zh-CN" b="1" i="1"/>
              <a:t>n</a:t>
            </a:r>
            <a:r>
              <a:rPr lang="en-US" altLang="zh-CN" b="1"/>
              <a:t>=1</a:t>
            </a:r>
            <a:r>
              <a:rPr lang="zh-CN" altLang="en-US" b="1"/>
              <a:t>时，称该关系为</a:t>
            </a:r>
            <a:r>
              <a:rPr lang="zh-CN" altLang="en-US" b="1">
                <a:ea typeface="黑体" panose="02010609060101010101" pitchFamily="49" charset="-122"/>
              </a:rPr>
              <a:t>单元</a:t>
            </a:r>
            <a:r>
              <a:rPr lang="zh-CN" altLang="en-US" b="1"/>
              <a:t>关系（</a:t>
            </a:r>
            <a:r>
              <a:rPr lang="en-US" altLang="zh-CN" b="1"/>
              <a:t>Unary relation）。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当</a:t>
            </a:r>
            <a:r>
              <a:rPr lang="en-US" altLang="zh-CN" b="1" i="1"/>
              <a:t>n</a:t>
            </a:r>
            <a:r>
              <a:rPr lang="en-US" altLang="zh-CN" b="1"/>
              <a:t>=2</a:t>
            </a:r>
            <a:r>
              <a:rPr lang="zh-CN" altLang="en-US" b="1"/>
              <a:t>时，称该关系为</a:t>
            </a:r>
            <a:r>
              <a:rPr lang="zh-CN" altLang="en-US" b="1">
                <a:ea typeface="黑体" panose="02010609060101010101" pitchFamily="49" charset="-122"/>
              </a:rPr>
              <a:t>二元</a:t>
            </a:r>
            <a:r>
              <a:rPr lang="zh-CN" altLang="en-US" b="1"/>
              <a:t>关系（</a:t>
            </a:r>
            <a:r>
              <a:rPr lang="en-US" altLang="zh-CN" b="1"/>
              <a:t>Binary relation）。</a:t>
            </a:r>
            <a:endParaRPr lang="zh-CN" altLang="en-US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>
            <a:extLst>
              <a:ext uri="{FF2B5EF4-FFF2-40B4-BE49-F238E27FC236}">
                <a16:creationId xmlns:a16="http://schemas.microsoft.com/office/drawing/2014/main" id="{656D3158-6692-4015-98A8-556882AD73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9379EBA3-B4AA-4190-A09D-274F78BE9C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4) 关系的表示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关系也是一个二维表，表的每行对应一个元组，表的每列对应一个域。</a:t>
            </a:r>
          </a:p>
          <a:p>
            <a:pPr eaLnBrk="1" hangingPunct="1"/>
            <a:endParaRPr lang="zh-CN" altLang="en-US" b="1"/>
          </a:p>
        </p:txBody>
      </p:sp>
      <p:graphicFrame>
        <p:nvGraphicFramePr>
          <p:cNvPr id="3074" name="Object 4">
            <a:extLst>
              <a:ext uri="{FF2B5EF4-FFF2-40B4-BE49-F238E27FC236}">
                <a16:creationId xmlns:a16="http://schemas.microsoft.com/office/drawing/2014/main" id="{666CA342-F046-419B-9F9C-792F78D611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3352800"/>
          <a:ext cx="8610600" cy="327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3752088" imgH="1103376" progId="Word.Document.8">
                  <p:embed/>
                </p:oleObj>
              </mc:Choice>
              <mc:Fallback>
                <p:oleObj name="文档" r:id="rId2" imgW="3752088" imgH="1103376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352800"/>
                        <a:ext cx="8610600" cy="327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D0F09021-48C6-4869-A766-892EDF6AA5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770A641D-9E3E-4C19-B9F2-398B3FC0B7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5) 属性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关系中不同列可以对应相同的域，为了加以区分，必须对每列起一个名字，称为属性（</a:t>
            </a:r>
            <a:r>
              <a:rPr lang="en-US" altLang="zh-CN" b="1"/>
              <a:t>Attribute）。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b="1" i="1"/>
              <a:t>n</a:t>
            </a:r>
            <a:r>
              <a:rPr lang="zh-CN" altLang="en-US" b="1"/>
              <a:t>目关系必有</a:t>
            </a:r>
            <a:r>
              <a:rPr lang="en-US" altLang="zh-CN" b="1" i="1"/>
              <a:t>n</a:t>
            </a:r>
            <a:r>
              <a:rPr lang="zh-CN" altLang="en-US" b="1"/>
              <a:t>个属性。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86AF86DD-17D1-4CA2-B283-D9C4FFC787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1847124-ADA0-4702-9457-1C155BAC3C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2017713"/>
            <a:ext cx="8193088" cy="41148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>
                <a:ea typeface="黑体" panose="02010609060101010101" pitchFamily="49" charset="-122"/>
              </a:rPr>
              <a:t>6) </a:t>
            </a:r>
            <a:r>
              <a:rPr lang="zh-CN" altLang="en-US" b="1"/>
              <a:t>码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hlink"/>
                </a:solidFill>
              </a:rPr>
              <a:t>候选码（</a:t>
            </a:r>
            <a:r>
              <a:rPr lang="en-US" altLang="zh-CN" b="1">
                <a:solidFill>
                  <a:schemeClr val="hlink"/>
                </a:solidFill>
              </a:rPr>
              <a:t>Candidate key）:</a:t>
            </a:r>
            <a:r>
              <a:rPr lang="zh-CN" altLang="en-US" b="1"/>
              <a:t>若关系中的某一属性组的值能唯一地标识一个元组，则称该属性组为候选码。在最简单的情况下，候选码只包含一个属性。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b="1"/>
              <a:t>在最极端的情况下，关系模式的所有属性组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b="1"/>
              <a:t>是这个关系模式的候选码，称为</a:t>
            </a:r>
            <a:r>
              <a:rPr lang="zh-CN" altLang="en-US" b="1">
                <a:solidFill>
                  <a:schemeClr val="hlink"/>
                </a:solidFill>
              </a:rPr>
              <a:t>全码（</a:t>
            </a:r>
            <a:r>
              <a:rPr lang="en-US" altLang="zh-CN" b="1">
                <a:solidFill>
                  <a:schemeClr val="hlink"/>
                </a:solidFill>
              </a:rPr>
              <a:t>All-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hlink"/>
                </a:solidFill>
              </a:rPr>
              <a:t>key）。</a:t>
            </a:r>
            <a:endParaRPr lang="zh-CN" altLang="en-US" b="1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6CF17B65-87FA-4EEF-A086-3FE0D8C14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码(续)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B0634E19-EB1C-47F4-B6E5-0BDA99501E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chemeClr val="hlink"/>
                </a:solidFill>
              </a:rPr>
              <a:t>主码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若一个关系有多个候选码，则选定其中一个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为</a:t>
            </a:r>
            <a:r>
              <a:rPr lang="zh-CN" altLang="en-US" b="1">
                <a:ea typeface="黑体" panose="02010609060101010101" pitchFamily="49" charset="-122"/>
              </a:rPr>
              <a:t>主码</a:t>
            </a:r>
            <a:r>
              <a:rPr lang="zh-CN" altLang="en-US" b="1"/>
              <a:t>（</a:t>
            </a:r>
            <a:r>
              <a:rPr lang="en-US" altLang="zh-CN" b="1"/>
              <a:t>Primary key）。</a:t>
            </a:r>
            <a:r>
              <a:rPr lang="zh-CN" altLang="en-US" b="1"/>
              <a:t>主码的诸属性称为</a:t>
            </a:r>
            <a:r>
              <a:rPr lang="zh-CN" altLang="en-US" b="1">
                <a:solidFill>
                  <a:schemeClr val="hlink"/>
                </a:solidFill>
              </a:rPr>
              <a:t>主属性</a:t>
            </a:r>
            <a:r>
              <a:rPr lang="zh-CN" altLang="en-US" b="1"/>
              <a:t>（</a:t>
            </a:r>
            <a:r>
              <a:rPr lang="en-US" altLang="zh-CN" b="1"/>
              <a:t>Prime attribute）。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不包含在任何侯选码中的属性称为</a:t>
            </a:r>
            <a:r>
              <a:rPr lang="zh-CN" altLang="en-US" b="1">
                <a:solidFill>
                  <a:schemeClr val="hlink"/>
                </a:solidFill>
              </a:rPr>
              <a:t>非码属性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（</a:t>
            </a:r>
            <a:r>
              <a:rPr lang="en-US" altLang="zh-CN" b="1"/>
              <a:t>Non-key attribute） 。</a:t>
            </a:r>
            <a:endParaRPr lang="zh-CN" altLang="en-US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EC14B6D-74FC-4F3D-A416-7B9B28C78B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37D68916-C103-445D-B0D4-3DE60B6445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459287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None/>
            </a:pPr>
            <a:r>
              <a:rPr lang="zh-CN" altLang="en-US" b="1"/>
              <a:t>7) 三类关系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hlink"/>
                </a:solidFill>
              </a:rPr>
              <a:t>基本关系</a:t>
            </a:r>
            <a:r>
              <a:rPr lang="zh-CN" altLang="en-US" b="1"/>
              <a:t>（基本表或基表）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实际存在的表，是实际存储数据的逻辑表示。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hlink"/>
                </a:solidFill>
              </a:rPr>
              <a:t>查询表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查询结果对应的表。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hlink"/>
                </a:solidFill>
              </a:rPr>
              <a:t>视图表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由基本表或其他视图表导出的表，是虚表，不对应实际存储的数据。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842B391F-DE59-41EC-886F-98EC14DB97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solidFill>
                  <a:srgbClr val="CC3399"/>
                </a:solidFill>
              </a:rPr>
              <a:t>2.1.2 </a:t>
            </a:r>
            <a:r>
              <a:rPr lang="zh-CN" altLang="en-US" b="1">
                <a:solidFill>
                  <a:srgbClr val="CC3399"/>
                </a:solidFill>
              </a:rPr>
              <a:t>基本关系的性质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4A25DD40-7C75-4AC7-A1C6-6B19D096B2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017713"/>
            <a:ext cx="77724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/>
              <a:t>① 列是同质的（</a:t>
            </a:r>
            <a:r>
              <a:rPr lang="en-US" altLang="zh-CN" sz="2400" b="1" dirty="0"/>
              <a:t>Homogeneous）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b="1" dirty="0"/>
              <a:t>每一列中的分量是同一类型的数据，来自同一个域。</a:t>
            </a:r>
          </a:p>
        </p:txBody>
      </p:sp>
      <p:sp>
        <p:nvSpPr>
          <p:cNvPr id="4102" name="AutoShape 5">
            <a:extLst>
              <a:ext uri="{FF2B5EF4-FFF2-40B4-BE49-F238E27FC236}">
                <a16:creationId xmlns:a16="http://schemas.microsoft.com/office/drawing/2014/main" id="{9D63B57F-9D9A-4E93-A95F-C7370CA1267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16451" y="3109488"/>
            <a:ext cx="8604022" cy="3127823"/>
          </a:xfrm>
          <a:prstGeom prst="verticalScroll">
            <a:avLst>
              <a:gd name="adj" fmla="val 7477"/>
            </a:avLst>
          </a:prstGeom>
          <a:gradFill rotWithShape="0">
            <a:gsLst>
              <a:gs pos="0">
                <a:srgbClr val="FFFFFF"/>
              </a:gs>
              <a:gs pos="100000">
                <a:srgbClr val="BBBBBB"/>
              </a:gs>
            </a:gsLst>
            <a:lin ang="5400000" scaled="1"/>
          </a:gra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1">
              <a:latin typeface="Times New Roman" panose="02020603050405020304" pitchFamily="18" charset="0"/>
            </a:endParaRPr>
          </a:p>
          <a:p>
            <a:pPr algn="ctr" eaLnBrk="1" hangingPunct="1"/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3707904" y="3087079"/>
            <a:ext cx="19442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学生登记表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4800" algn="l"/>
              </a:tabLst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385917"/>
              </p:ext>
            </p:extLst>
          </p:nvPr>
        </p:nvGraphicFramePr>
        <p:xfrm>
          <a:off x="683568" y="3501008"/>
          <a:ext cx="7632847" cy="2376264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1523625">
                  <a:extLst>
                    <a:ext uri="{9D8B030D-6E8A-4147-A177-3AD203B41FA5}">
                      <a16:colId xmlns:a16="http://schemas.microsoft.com/office/drawing/2014/main" val="1584850512"/>
                    </a:ext>
                  </a:extLst>
                </a:gridCol>
                <a:gridCol w="1219084">
                  <a:extLst>
                    <a:ext uri="{9D8B030D-6E8A-4147-A177-3AD203B41FA5}">
                      <a16:colId xmlns:a16="http://schemas.microsoft.com/office/drawing/2014/main" val="357384540"/>
                    </a:ext>
                  </a:extLst>
                </a:gridCol>
                <a:gridCol w="1220004">
                  <a:extLst>
                    <a:ext uri="{9D8B030D-6E8A-4147-A177-3AD203B41FA5}">
                      <a16:colId xmlns:a16="http://schemas.microsoft.com/office/drawing/2014/main" val="4246218059"/>
                    </a:ext>
                  </a:extLst>
                </a:gridCol>
                <a:gridCol w="1219084">
                  <a:extLst>
                    <a:ext uri="{9D8B030D-6E8A-4147-A177-3AD203B41FA5}">
                      <a16:colId xmlns:a16="http://schemas.microsoft.com/office/drawing/2014/main" val="2856879021"/>
                    </a:ext>
                  </a:extLst>
                </a:gridCol>
                <a:gridCol w="1219084">
                  <a:extLst>
                    <a:ext uri="{9D8B030D-6E8A-4147-A177-3AD203B41FA5}">
                      <a16:colId xmlns:a16="http://schemas.microsoft.com/office/drawing/2014/main" val="294689328"/>
                    </a:ext>
                  </a:extLst>
                </a:gridCol>
                <a:gridCol w="1231966">
                  <a:extLst>
                    <a:ext uri="{9D8B030D-6E8A-4147-A177-3AD203B41FA5}">
                      <a16:colId xmlns:a16="http://schemas.microsoft.com/office/drawing/2014/main" val="3047287524"/>
                    </a:ext>
                  </a:extLst>
                </a:gridCol>
              </a:tblGrid>
              <a:tr h="2970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学号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姓名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年龄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性别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专业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年级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66643851"/>
                  </a:ext>
                </a:extLst>
              </a:tr>
              <a:tr h="5940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04800" algn="l"/>
                        </a:tabLst>
                      </a:pPr>
                      <a:r>
                        <a:rPr lang="en-US" sz="1200" kern="100">
                          <a:effectLst/>
                        </a:rPr>
                        <a:t>2025317110025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王红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20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女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电子信息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2025</a:t>
                      </a:r>
                      <a:r>
                        <a:rPr lang="zh-CN" sz="1200" kern="100">
                          <a:effectLst/>
                        </a:rPr>
                        <a:t>级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4098749"/>
                  </a:ext>
                </a:extLst>
              </a:tr>
              <a:tr h="5940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2025317110035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黄小鹏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19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男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生物信息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2025</a:t>
                      </a:r>
                      <a:r>
                        <a:rPr lang="zh-CN" sz="1200" kern="100" dirty="0">
                          <a:effectLst/>
                        </a:rPr>
                        <a:t>级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71138418"/>
                  </a:ext>
                </a:extLst>
              </a:tr>
              <a:tr h="5940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2025317110042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张三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20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男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经济工程</a:t>
                      </a:r>
                      <a:endParaRPr lang="zh-CN" sz="12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2025</a:t>
                      </a:r>
                      <a:r>
                        <a:rPr lang="zh-CN" sz="1200" kern="100" dirty="0">
                          <a:effectLst/>
                        </a:rPr>
                        <a:t>级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09249982"/>
                  </a:ext>
                </a:extLst>
              </a:tr>
              <a:tr h="2970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…………</a:t>
                      </a:r>
                      <a:endParaRPr 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</a:t>
                      </a:r>
                      <a:endParaRPr lang="zh-CN" sz="1200" b="1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</a:t>
                      </a:r>
                      <a:endParaRPr lang="zh-CN" sz="1200" b="1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</a:t>
                      </a:r>
                      <a:endParaRPr lang="zh-CN" sz="1200" b="1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</a:t>
                      </a:r>
                      <a:endParaRPr lang="zh-CN" sz="1200" b="1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</a:t>
                      </a:r>
                      <a:endParaRPr lang="zh-CN" sz="1200" b="1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9537608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5C6ED03E-B19E-4AF2-81B1-115F7905A7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5B554A59-D3C5-41E1-9010-72ADD20C4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057400"/>
            <a:ext cx="83820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② 不同的列可出自同一个域。其中的每一列称为一个属性，不同的属性要给予不同的属性名。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b="1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上例中也可以只给出两个域：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人（</a:t>
            </a:r>
            <a:r>
              <a:rPr lang="en-US" altLang="zh-CN" sz="2400" b="1"/>
              <a:t>PERSON）=</a:t>
            </a:r>
            <a:r>
              <a:rPr lang="zh-CN" altLang="en-US" sz="2400" b="1"/>
              <a:t>张清玫，刘逸，李勇，刘晨，王敏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专业（</a:t>
            </a:r>
            <a:r>
              <a:rPr lang="en-US" altLang="zh-CN" sz="2400" b="1"/>
              <a:t>SPECIALITY）=</a:t>
            </a:r>
            <a:r>
              <a:rPr lang="zh-CN" altLang="en-US" sz="2400" b="1"/>
              <a:t>计算机专业，信息专业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SAP</a:t>
            </a:r>
            <a:r>
              <a:rPr lang="zh-CN" altLang="en-US" sz="2400" b="1"/>
              <a:t>关系的导师属性和研究生属性都从</a:t>
            </a:r>
            <a:r>
              <a:rPr lang="en-US" altLang="zh-CN" sz="2400" b="1"/>
              <a:t>PERSON</a:t>
            </a:r>
            <a:r>
              <a:rPr lang="zh-CN" altLang="en-US" sz="2400" b="1"/>
              <a:t>域中取值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2C405A5-0A86-4E57-AB2B-7CDFAF1E3A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666DB9BD-4F4F-482D-B1B9-C3EB427DCA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③ 列的顺序无所谓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  列的次序可以任意交换。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sz="24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④ 任意两个元组不能完全相同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b="1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⑤ 行的顺序无所谓</a:t>
            </a:r>
          </a:p>
          <a:p>
            <a:pPr lvl="1"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</a:t>
            </a:r>
            <a:r>
              <a:rPr lang="zh-CN" altLang="en-US" sz="2400" b="1"/>
              <a:t>行的次序可以任意交换。</a:t>
            </a:r>
            <a:r>
              <a:rPr lang="zh-CN" altLang="en-US" b="1"/>
              <a:t>   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253D5325-ABCF-4212-B714-39624E4F74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AC856AED-D9CB-4A55-A49E-4C4E9A29C9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2017713"/>
            <a:ext cx="77724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⑥ 分量必须取原子值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   每一个分量都必须是不可分的数据项，这是规范条件中最基本的一条。</a:t>
            </a:r>
            <a:endParaRPr lang="zh-CN" altLang="en-US" b="1"/>
          </a:p>
        </p:txBody>
      </p:sp>
      <p:graphicFrame>
        <p:nvGraphicFramePr>
          <p:cNvPr id="5122" name="Object 4">
            <a:extLst>
              <a:ext uri="{FF2B5EF4-FFF2-40B4-BE49-F238E27FC236}">
                <a16:creationId xmlns:a16="http://schemas.microsoft.com/office/drawing/2014/main" id="{228CEC82-F466-4D31-A233-3DB1E7A067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3810000"/>
          <a:ext cx="75438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3617976" imgH="960120" progId="Word.Document.8">
                  <p:embed/>
                </p:oleObj>
              </mc:Choice>
              <mc:Fallback>
                <p:oleObj name="文档" r:id="rId2" imgW="3617976" imgH="96012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810000"/>
                        <a:ext cx="75438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AAC6184D-C7E1-4E9C-82BA-53FA0050D6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2.1.3 </a:t>
            </a:r>
            <a:r>
              <a:rPr lang="zh-CN" altLang="en-US" b="1"/>
              <a:t>关系模式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5DAF0F57-EF63-4359-8B6B-42C3039A75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600" b="1"/>
              <a:t>什么是关系模式</a:t>
            </a:r>
          </a:p>
          <a:p>
            <a:pPr eaLnBrk="1" hangingPunct="1"/>
            <a:endParaRPr lang="zh-CN" altLang="en-US" sz="3600" b="1"/>
          </a:p>
          <a:p>
            <a:pPr eaLnBrk="1" hangingPunct="1"/>
            <a:r>
              <a:rPr lang="zh-CN" altLang="en-US" sz="3600" b="1"/>
              <a:t>关系模式的形式化定义</a:t>
            </a:r>
          </a:p>
          <a:p>
            <a:pPr eaLnBrk="1" hangingPunct="1"/>
            <a:endParaRPr lang="zh-CN" altLang="en-US" sz="3600" b="1"/>
          </a:p>
          <a:p>
            <a:pPr eaLnBrk="1" hangingPunct="1"/>
            <a:r>
              <a:rPr lang="zh-CN" altLang="en-US" sz="3600" b="1"/>
              <a:t>关系模式与关系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1C9AB6CC-84E3-4300-A866-A3B4670B7B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1、什么是关系模式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86CD45D-3C9A-4909-AB69-AC4E297553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关系模式（</a:t>
            </a:r>
            <a:r>
              <a:rPr lang="en-US" altLang="zh-CN" b="1"/>
              <a:t>Relation Schema）</a:t>
            </a:r>
            <a:r>
              <a:rPr lang="zh-CN" altLang="en-US" b="1"/>
              <a:t>是型，关系是值。</a:t>
            </a:r>
          </a:p>
          <a:p>
            <a:pPr eaLnBrk="1" hangingPunct="1"/>
            <a:endParaRPr lang="zh-CN" altLang="en-US" b="1"/>
          </a:p>
          <a:p>
            <a:pPr eaLnBrk="1" hangingPunct="1"/>
            <a:r>
              <a:rPr lang="zh-CN" altLang="en-US" b="1"/>
              <a:t>关系模式是对关系的描述，包括元组集合的结构，即属性构成、属性来自的域以及属性与域之间的映象关系。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E5AA6063-CA83-4FC2-A764-586234E6CF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2、关系模式的形式化定义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613E8B37-2E1D-4844-9E00-C62CD7EFB1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关系模式可以形式化地表示为：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rgbClr val="79710F"/>
                </a:solidFill>
              </a:rPr>
              <a:t>    	</a:t>
            </a:r>
            <a:r>
              <a:rPr lang="en-US" altLang="zh-CN" sz="3200" b="1" i="1">
                <a:solidFill>
                  <a:schemeClr val="tx2"/>
                </a:solidFill>
              </a:rPr>
              <a:t>R</a:t>
            </a:r>
            <a:r>
              <a:rPr lang="en-US" altLang="zh-CN" sz="3200" b="1">
                <a:solidFill>
                  <a:schemeClr val="tx2"/>
                </a:solidFill>
              </a:rPr>
              <a:t>（</a:t>
            </a:r>
            <a:r>
              <a:rPr lang="en-US" altLang="zh-CN" sz="3200" b="1" i="1">
                <a:solidFill>
                  <a:schemeClr val="tx2"/>
                </a:solidFill>
              </a:rPr>
              <a:t>U</a:t>
            </a:r>
            <a:r>
              <a:rPr lang="en-US" altLang="zh-CN" sz="3200" b="1">
                <a:solidFill>
                  <a:schemeClr val="tx2"/>
                </a:solidFill>
              </a:rPr>
              <a:t>，</a:t>
            </a:r>
            <a:r>
              <a:rPr lang="en-US" altLang="zh-CN" sz="3200" b="1" i="1">
                <a:solidFill>
                  <a:schemeClr val="tx2"/>
                </a:solidFill>
              </a:rPr>
              <a:t>D</a:t>
            </a:r>
            <a:r>
              <a:rPr lang="en-US" altLang="zh-CN" sz="3200" b="1">
                <a:solidFill>
                  <a:schemeClr val="tx2"/>
                </a:solidFill>
              </a:rPr>
              <a:t>，dom，</a:t>
            </a:r>
            <a:r>
              <a:rPr lang="en-US" altLang="zh-CN" sz="3200" b="1" i="1">
                <a:solidFill>
                  <a:schemeClr val="tx2"/>
                </a:solidFill>
              </a:rPr>
              <a:t>F</a:t>
            </a:r>
            <a:r>
              <a:rPr lang="en-US" altLang="zh-CN" sz="3200" b="1">
                <a:solidFill>
                  <a:schemeClr val="tx2"/>
                </a:solidFill>
              </a:rPr>
              <a:t>）</a:t>
            </a:r>
            <a:endParaRPr lang="en-US" altLang="zh-CN" b="1">
              <a:solidFill>
                <a:schemeClr val="tx2"/>
              </a:solidFill>
            </a:endParaRP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b="1" i="1"/>
              <a:t>		 R  － </a:t>
            </a:r>
            <a:r>
              <a:rPr lang="zh-CN" altLang="en-US" b="1"/>
              <a:t>关系名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 i="1"/>
              <a:t>		</a:t>
            </a:r>
            <a:r>
              <a:rPr lang="en-US" altLang="zh-CN" b="1" i="1"/>
              <a:t>U</a:t>
            </a:r>
            <a:r>
              <a:rPr lang="en-US" altLang="zh-CN" b="1"/>
              <a:t>   － </a:t>
            </a:r>
            <a:r>
              <a:rPr lang="zh-CN" altLang="en-US" b="1"/>
              <a:t>组成该关系的属性名集合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 i="1"/>
              <a:t>		</a:t>
            </a:r>
            <a:r>
              <a:rPr lang="en-US" altLang="zh-CN" b="1" i="1"/>
              <a:t>D</a:t>
            </a:r>
            <a:r>
              <a:rPr lang="en-US" altLang="zh-CN" b="1"/>
              <a:t>   － </a:t>
            </a:r>
            <a:r>
              <a:rPr lang="zh-CN" altLang="en-US" b="1"/>
              <a:t>属性组</a:t>
            </a:r>
            <a:r>
              <a:rPr lang="en-US" altLang="zh-CN" b="1" i="1"/>
              <a:t>U</a:t>
            </a:r>
            <a:r>
              <a:rPr lang="zh-CN" altLang="en-US" b="1"/>
              <a:t>中属性所来自的域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		</a:t>
            </a:r>
            <a:r>
              <a:rPr lang="en-US" altLang="zh-CN" b="1"/>
              <a:t>dom －  </a:t>
            </a:r>
            <a:r>
              <a:rPr lang="zh-CN" altLang="en-US" b="1"/>
              <a:t>属性向域的映象集合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 i="1"/>
              <a:t>		</a:t>
            </a:r>
            <a:r>
              <a:rPr lang="en-US" altLang="zh-CN" b="1" i="1"/>
              <a:t>F</a:t>
            </a:r>
            <a:r>
              <a:rPr lang="en-US" altLang="zh-CN" b="1"/>
              <a:t>   － </a:t>
            </a:r>
            <a:r>
              <a:rPr lang="zh-CN" altLang="en-US" b="1"/>
              <a:t>属性间的数据依赖关系集合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81AFAA36-FED0-41DD-B892-A896349191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4F9D67BE-FBE1-49C7-85AC-FAE2BE50AC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例: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b="1"/>
              <a:t>导师和研究生出自同一个域</a:t>
            </a:r>
            <a:r>
              <a:rPr lang="zh-CN" altLang="en-US" b="1">
                <a:latin typeface="Times New Roman" panose="02020603050405020304" pitchFamily="18" charset="0"/>
              </a:rPr>
              <a:t>——</a:t>
            </a:r>
            <a:r>
              <a:rPr lang="zh-CN" altLang="en-US" b="1"/>
              <a:t>人，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b="1"/>
              <a:t>取不同的属性名，并在模式中定义属性向域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b="1"/>
              <a:t>的映象，即说明它们分别出自哪个域：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</a:t>
            </a:r>
            <a:r>
              <a:rPr lang="en-US" altLang="zh-CN" b="1"/>
              <a:t>dom（SUPERVISOR-PERSON）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/>
              <a:t>= dom（POSTGRADUATE-PERSON）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/>
              <a:t>=PERSON</a:t>
            </a:r>
            <a:endParaRPr lang="zh-CN" altLang="en-US" b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4E43694-3ACF-47C7-AAA2-733B227388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BC72FA0-9164-4317-AE7B-7F6B07B0A1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关系模式通常可以简记为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 	</a:t>
            </a:r>
            <a:r>
              <a:rPr lang="en-US" altLang="zh-CN" b="1" i="1"/>
              <a:t>R </a:t>
            </a:r>
            <a:r>
              <a:rPr lang="en-US" altLang="zh-CN" b="1"/>
              <a:t>(</a:t>
            </a:r>
            <a:r>
              <a:rPr lang="en-US" altLang="zh-CN" b="1" i="1"/>
              <a:t>U</a:t>
            </a:r>
            <a:r>
              <a:rPr lang="en-US" altLang="zh-CN" b="1"/>
              <a:t>)   </a:t>
            </a:r>
            <a:r>
              <a:rPr lang="en-US" altLang="zh-CN" sz="2400" b="1"/>
              <a:t> </a:t>
            </a:r>
            <a:r>
              <a:rPr lang="zh-CN" altLang="en-US" sz="2400" b="1"/>
              <a:t>或</a:t>
            </a:r>
            <a:r>
              <a:rPr lang="zh-CN" altLang="en-US" b="1"/>
              <a:t>    </a:t>
            </a:r>
            <a:r>
              <a:rPr lang="en-US" altLang="zh-CN" b="1" i="1"/>
              <a:t>R </a:t>
            </a:r>
            <a:r>
              <a:rPr lang="en-US" altLang="zh-CN" b="1"/>
              <a:t>(</a:t>
            </a:r>
            <a:r>
              <a:rPr lang="en-US" altLang="zh-CN" b="1" i="1"/>
              <a:t>A</a:t>
            </a:r>
            <a:r>
              <a:rPr lang="en-US" altLang="zh-CN" b="1" baseline="-25000"/>
              <a:t>1</a:t>
            </a:r>
            <a:r>
              <a:rPr lang="en-US" altLang="zh-CN" b="1"/>
              <a:t>，</a:t>
            </a:r>
            <a:r>
              <a:rPr lang="en-US" altLang="zh-CN" b="1" i="1"/>
              <a:t>A</a:t>
            </a:r>
            <a:r>
              <a:rPr lang="en-US" altLang="zh-CN" b="1" baseline="-25000"/>
              <a:t>2</a:t>
            </a:r>
            <a:r>
              <a:rPr lang="en-US" altLang="zh-CN" b="1"/>
              <a:t>，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，</a:t>
            </a:r>
            <a:r>
              <a:rPr lang="en-US" altLang="zh-CN" b="1" i="1"/>
              <a:t>A</a:t>
            </a:r>
            <a:r>
              <a:rPr lang="en-US" altLang="zh-CN" b="1" i="1" baseline="-25000"/>
              <a:t>n</a:t>
            </a:r>
            <a:r>
              <a:rPr lang="en-US" altLang="zh-CN" b="1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/>
              <a:t>    </a:t>
            </a:r>
            <a:r>
              <a:rPr lang="en-US" altLang="zh-CN" b="1" i="1"/>
              <a:t>R   </a:t>
            </a:r>
            <a:r>
              <a:rPr lang="zh-CN" altLang="en-US" b="1"/>
              <a:t>关系名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3200" b="1" i="1"/>
              <a:t>A</a:t>
            </a:r>
            <a:r>
              <a:rPr lang="en-US" altLang="zh-CN" sz="3200" b="1" baseline="-25000"/>
              <a:t>1</a:t>
            </a:r>
            <a:r>
              <a:rPr lang="en-US" altLang="zh-CN" sz="3200" b="1"/>
              <a:t>，</a:t>
            </a:r>
            <a:r>
              <a:rPr lang="en-US" altLang="zh-CN" sz="3200" b="1" i="1"/>
              <a:t>A</a:t>
            </a:r>
            <a:r>
              <a:rPr lang="en-US" altLang="zh-CN" sz="3200" b="1" baseline="-25000"/>
              <a:t>2</a:t>
            </a:r>
            <a:r>
              <a:rPr lang="en-US" altLang="zh-CN" sz="3200" b="1"/>
              <a:t>，</a:t>
            </a:r>
            <a:r>
              <a:rPr lang="en-US" altLang="zh-CN" sz="3200" b="1">
                <a:latin typeface="Times New Roman" panose="02020603050405020304" pitchFamily="18" charset="0"/>
              </a:rPr>
              <a:t>…</a:t>
            </a:r>
            <a:r>
              <a:rPr lang="en-US" altLang="zh-CN" sz="3200" b="1"/>
              <a:t>，</a:t>
            </a:r>
            <a:r>
              <a:rPr lang="en-US" altLang="zh-CN" sz="3200" b="1" i="1"/>
              <a:t>A</a:t>
            </a:r>
            <a:r>
              <a:rPr lang="en-US" altLang="zh-CN" sz="3200" b="1" i="1" baseline="-25000"/>
              <a:t>n      </a:t>
            </a:r>
            <a:r>
              <a:rPr lang="zh-CN" altLang="en-US" sz="3200" b="1"/>
              <a:t>属性名</a:t>
            </a:r>
            <a:endParaRPr lang="zh-CN" altLang="en-US" b="1"/>
          </a:p>
          <a:p>
            <a:pPr lvl="1"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folHlink"/>
                </a:solidFill>
              </a:rPr>
              <a:t>注：</a:t>
            </a:r>
            <a:r>
              <a:rPr lang="zh-CN" altLang="en-US" b="1"/>
              <a:t>域名及属性向域的映象常常直接说明为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     属性的类型、长度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7957F289-6A51-45D6-B866-14EE7A9565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3、关系模式与关系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6E6F9424-71D7-4D36-9E13-299728BE9E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folHlink"/>
                </a:solidFill>
              </a:rPr>
              <a:t>关系模式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对关系的描述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静态的、稳定的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folHlink"/>
                </a:solidFill>
              </a:rPr>
              <a:t>关系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关系模式在某一时刻的状态或内容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动态的、随时间不断变化的</a:t>
            </a:r>
          </a:p>
          <a:p>
            <a:pPr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关系模式和关系往往统称为关系，可通过上下文加以区别。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E3E1C237-4079-478A-8A11-37F47754F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2.2 </a:t>
            </a:r>
            <a:r>
              <a:rPr lang="zh-CN" altLang="en-US" b="1"/>
              <a:t>关系的完整性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4E58B7A3-CE5F-43A2-9E64-1B501822F5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600" b="1"/>
              <a:t>实体完整性</a:t>
            </a:r>
          </a:p>
          <a:p>
            <a:pPr eaLnBrk="1" hangingPunct="1"/>
            <a:endParaRPr lang="zh-CN" altLang="en-US" sz="3600" b="1"/>
          </a:p>
          <a:p>
            <a:pPr eaLnBrk="1" hangingPunct="1"/>
            <a:r>
              <a:rPr lang="zh-CN" altLang="en-US" sz="3600" b="1"/>
              <a:t>参照完整性</a:t>
            </a:r>
          </a:p>
          <a:p>
            <a:pPr eaLnBrk="1" hangingPunct="1"/>
            <a:endParaRPr lang="zh-CN" altLang="en-US" sz="3600" b="1"/>
          </a:p>
          <a:p>
            <a:pPr eaLnBrk="1" hangingPunct="1"/>
            <a:r>
              <a:rPr lang="zh-CN" altLang="en-US" sz="3600" b="1"/>
              <a:t>用户定义的完整性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1B69315F-1E95-42FC-AF3C-44902F81EB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（一）、实体完整性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7DA228DF-4F25-4CBE-B915-67587025C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CC0099"/>
                </a:solidFill>
              </a:rPr>
              <a:t>实体完整性规则（</a:t>
            </a:r>
            <a:r>
              <a:rPr lang="en-US" altLang="zh-CN" b="1">
                <a:solidFill>
                  <a:srgbClr val="CC0099"/>
                </a:solidFill>
              </a:rPr>
              <a:t>Entity Integrity）</a:t>
            </a:r>
            <a:r>
              <a:rPr lang="en-US" altLang="zh-CN" b="1"/>
              <a:t>：</a:t>
            </a:r>
            <a:r>
              <a:rPr lang="zh-CN" altLang="en-US" b="1"/>
              <a:t>若属性</a:t>
            </a:r>
            <a:r>
              <a:rPr lang="en-US" altLang="zh-CN" b="1"/>
              <a:t>A</a:t>
            </a:r>
            <a:r>
              <a:rPr lang="zh-CN" altLang="en-US" b="1"/>
              <a:t>是基本关系</a:t>
            </a:r>
            <a:r>
              <a:rPr lang="en-US" altLang="zh-CN" b="1"/>
              <a:t>R</a:t>
            </a:r>
            <a:r>
              <a:rPr lang="zh-CN" altLang="en-US" b="1"/>
              <a:t>的主属性，则属性</a:t>
            </a:r>
            <a:r>
              <a:rPr lang="en-US" altLang="zh-CN" b="1"/>
              <a:t>A</a:t>
            </a:r>
            <a:r>
              <a:rPr lang="zh-CN" altLang="en-US" b="1"/>
              <a:t>不能取空值。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folHlink"/>
                </a:solidFill>
              </a:rPr>
              <a:t>例：</a:t>
            </a:r>
            <a:r>
              <a:rPr lang="zh-CN" altLang="en-US" b="1"/>
              <a:t>供应商表（供应商编号，名称，所在城市）</a:t>
            </a:r>
            <a:r>
              <a:rPr lang="en-US" altLang="zh-CN" b="1"/>
              <a:t>，</a:t>
            </a:r>
            <a:r>
              <a:rPr lang="zh-CN" altLang="en-US" b="1"/>
              <a:t>供应商编号属性为主码，则其不能取空值。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08DDA89-7DC6-4BCE-BB61-344069AD51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实体完整性（续）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D745571A-5712-44FE-9749-A5F1B1E191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2017713"/>
            <a:ext cx="8131175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关系模型必须遵守实体完整性规则的原因：</a:t>
            </a:r>
          </a:p>
          <a:p>
            <a:pPr eaLnBrk="1" hangingPunct="1">
              <a:lnSpc>
                <a:spcPct val="90000"/>
              </a:lnSpc>
              <a:buClr>
                <a:srgbClr val="FF6600"/>
              </a:buClr>
              <a:buSzPct val="120000"/>
              <a:buFont typeface="Wingdings" panose="05000000000000000000" pitchFamily="2" charset="2"/>
              <a:buChar char="v"/>
            </a:pPr>
            <a:r>
              <a:rPr lang="zh-CN" altLang="en-US" b="1"/>
              <a:t> 实体完整性规则是针对基本关系而言的。 </a:t>
            </a:r>
          </a:p>
          <a:p>
            <a:pPr eaLnBrk="1" hangingPunct="1">
              <a:lnSpc>
                <a:spcPct val="90000"/>
              </a:lnSpc>
              <a:buClr>
                <a:srgbClr val="FF6600"/>
              </a:buClr>
              <a:buSzPct val="120000"/>
              <a:buFont typeface="Wingdings" panose="05000000000000000000" pitchFamily="2" charset="2"/>
              <a:buChar char="v"/>
            </a:pPr>
            <a:r>
              <a:rPr lang="zh-CN" altLang="en-US" b="1"/>
              <a:t> 现实世界中的实体和实体间的联系都是可区分的，即它们具有某种唯一性标识。</a:t>
            </a:r>
          </a:p>
          <a:p>
            <a:pPr eaLnBrk="1" hangingPunct="1">
              <a:lnSpc>
                <a:spcPct val="90000"/>
              </a:lnSpc>
              <a:buClr>
                <a:srgbClr val="FF6600"/>
              </a:buClr>
              <a:buSzPct val="120000"/>
              <a:buFont typeface="Wingdings" panose="05000000000000000000" pitchFamily="2" charset="2"/>
              <a:buChar char="v"/>
            </a:pPr>
            <a:r>
              <a:rPr lang="zh-CN" altLang="en-US" b="1"/>
              <a:t>相应地，关系模型中以主码作为唯一性标识。</a:t>
            </a:r>
          </a:p>
          <a:p>
            <a:pPr eaLnBrk="1" hangingPunct="1">
              <a:lnSpc>
                <a:spcPct val="90000"/>
              </a:lnSpc>
              <a:buClr>
                <a:srgbClr val="FF6600"/>
              </a:buClr>
              <a:buSzPct val="120000"/>
              <a:buFont typeface="Wingdings" panose="05000000000000000000" pitchFamily="2" charset="2"/>
              <a:buChar char="v"/>
            </a:pPr>
            <a:r>
              <a:rPr lang="zh-CN" altLang="en-US" b="1">
                <a:solidFill>
                  <a:srgbClr val="CC0099"/>
                </a:solidFill>
              </a:rPr>
              <a:t>注意：</a:t>
            </a:r>
            <a:r>
              <a:rPr lang="zh-CN" altLang="en-US" b="1"/>
              <a:t>主码中的属性即主属性不能取空值。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5BACBBAB-D852-4D7E-AB60-33EC305855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实体完整性（续）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0EA12803-384F-4449-A446-BF4B9A1A47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例：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选修（学号，课程号，成绩）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</a:t>
            </a:r>
            <a:r>
              <a:rPr lang="zh-CN" altLang="en-US" b="1">
                <a:latin typeface="Times New Roman" panose="02020603050405020304" pitchFamily="18" charset="0"/>
              </a:rPr>
              <a:t>“</a:t>
            </a:r>
            <a:r>
              <a:rPr lang="zh-CN" altLang="en-US" b="1"/>
              <a:t>学号、课程号</a:t>
            </a:r>
            <a:r>
              <a:rPr lang="zh-CN" altLang="en-US" b="1">
                <a:latin typeface="Times New Roman" panose="02020603050405020304" pitchFamily="18" charset="0"/>
              </a:rPr>
              <a:t>”</a:t>
            </a:r>
            <a:r>
              <a:rPr lang="zh-CN" altLang="en-US" b="1"/>
              <a:t>为主码，则两个属性都不能取空值。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091BA55F-FD4E-4DB0-865B-30A7D970D8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（二）、参照完整性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6B359758-4415-4100-965D-1CCAF9F2D6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600" b="1"/>
              <a:t>关系间的引用</a:t>
            </a:r>
          </a:p>
          <a:p>
            <a:pPr eaLnBrk="1" hangingPunct="1"/>
            <a:endParaRPr lang="zh-CN" altLang="en-US" sz="3600" b="1"/>
          </a:p>
          <a:p>
            <a:pPr eaLnBrk="1" hangingPunct="1"/>
            <a:r>
              <a:rPr lang="zh-CN" altLang="en-US" sz="3600" b="1">
                <a:solidFill>
                  <a:srgbClr val="CC0099"/>
                </a:solidFill>
              </a:rPr>
              <a:t>外码</a:t>
            </a:r>
          </a:p>
          <a:p>
            <a:pPr eaLnBrk="1" hangingPunct="1"/>
            <a:endParaRPr lang="zh-CN" altLang="en-US" sz="3600" b="1">
              <a:solidFill>
                <a:srgbClr val="CC0099"/>
              </a:solidFill>
            </a:endParaRPr>
          </a:p>
          <a:p>
            <a:pPr eaLnBrk="1" hangingPunct="1"/>
            <a:r>
              <a:rPr lang="zh-CN" altLang="en-US" sz="3600" b="1">
                <a:solidFill>
                  <a:srgbClr val="CC0099"/>
                </a:solidFill>
              </a:rPr>
              <a:t>参照完整性规则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68554E17-CA63-4869-9572-D58DC48E8D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1. 关系间的引用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21EA8683-0379-4396-9522-CFF1B4EAAB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>
                <a:ea typeface="黑体" panose="02010609060101010101" pitchFamily="49" charset="-122"/>
              </a:rPr>
              <a:t>例</a:t>
            </a:r>
            <a:r>
              <a:rPr lang="zh-CN" altLang="en-US" b="1"/>
              <a:t>1 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学生实体、专业实体以及专业与学生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间的一对多联系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学生（</a:t>
            </a:r>
            <a:r>
              <a:rPr lang="zh-CN" altLang="en-US" b="1" u="sng"/>
              <a:t>学号</a:t>
            </a:r>
            <a:r>
              <a:rPr lang="zh-CN" altLang="en-US" b="1"/>
              <a:t>，姓名，性别，</a:t>
            </a:r>
            <a:r>
              <a:rPr lang="zh-CN" altLang="en-US" b="1">
                <a:solidFill>
                  <a:srgbClr val="CC0099"/>
                </a:solidFill>
              </a:rPr>
              <a:t>专业号</a:t>
            </a:r>
            <a:r>
              <a:rPr lang="zh-CN" altLang="en-US" b="1"/>
              <a:t>，年龄）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专业（</a:t>
            </a:r>
            <a:r>
              <a:rPr lang="zh-CN" altLang="en-US" b="1">
                <a:solidFill>
                  <a:schemeClr val="hlink"/>
                </a:solidFill>
              </a:rPr>
              <a:t>专业号</a:t>
            </a:r>
            <a:r>
              <a:rPr lang="zh-CN" altLang="en-US" b="1"/>
              <a:t>，专业名）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>
            <a:extLst>
              <a:ext uri="{FF2B5EF4-FFF2-40B4-BE49-F238E27FC236}">
                <a16:creationId xmlns:a16="http://schemas.microsoft.com/office/drawing/2014/main" id="{2F7C9917-928F-4365-B688-ACDB39C6B4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关系间的引用（续）</a:t>
            </a:r>
          </a:p>
        </p:txBody>
      </p:sp>
      <p:graphicFrame>
        <p:nvGraphicFramePr>
          <p:cNvPr id="6146" name="Object 3">
            <a:extLst>
              <a:ext uri="{FF2B5EF4-FFF2-40B4-BE49-F238E27FC236}">
                <a16:creationId xmlns:a16="http://schemas.microsoft.com/office/drawing/2014/main" id="{5B26EB97-B479-42D9-9924-CD9AFEBA08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1905000"/>
          <a:ext cx="61722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7757160" imgH="5455920" progId="Word.Document.8">
                  <p:embed/>
                </p:oleObj>
              </mc:Choice>
              <mc:Fallback>
                <p:oleObj name="文档" r:id="rId2" imgW="7757160" imgH="545592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905000"/>
                        <a:ext cx="6172200" cy="289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4">
            <a:extLst>
              <a:ext uri="{FF2B5EF4-FFF2-40B4-BE49-F238E27FC236}">
                <a16:creationId xmlns:a16="http://schemas.microsoft.com/office/drawing/2014/main" id="{1415988A-9FAF-4CDC-9397-6E1831DFF4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06513" y="4572000"/>
          <a:ext cx="62484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7757160" imgH="4450080" progId="Word.Document.8">
                  <p:embed/>
                </p:oleObj>
              </mc:Choice>
              <mc:Fallback>
                <p:oleObj name="文档" r:id="rId4" imgW="7757160" imgH="445008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6513" y="4572000"/>
                        <a:ext cx="62484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9769DCD2-06EF-411B-B8DE-F447F14B00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关系间的引用（续）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73A97B3E-A35A-4370-A23E-93E8BD4E29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>
                <a:ea typeface="黑体" panose="02010609060101010101" pitchFamily="49" charset="-122"/>
              </a:rPr>
              <a:t>例</a:t>
            </a:r>
            <a:r>
              <a:rPr lang="zh-CN" altLang="en-US" b="1"/>
              <a:t>2 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学生、课程、学生与课程之间的多对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多联系</a:t>
            </a:r>
            <a:endParaRPr lang="zh-CN" altLang="en-US" sz="2800" b="1"/>
          </a:p>
          <a:p>
            <a:pPr lvl="1"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学生（</a:t>
            </a:r>
            <a:r>
              <a:rPr lang="zh-CN" altLang="en-US" b="1" u="sng">
                <a:solidFill>
                  <a:schemeClr val="hlink"/>
                </a:solidFill>
              </a:rPr>
              <a:t>学号</a:t>
            </a:r>
            <a:r>
              <a:rPr lang="zh-CN" altLang="en-US" b="1"/>
              <a:t>，姓名，性别，专业号，年龄）</a:t>
            </a:r>
          </a:p>
          <a:p>
            <a:pPr lvl="1"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课程（</a:t>
            </a:r>
            <a:r>
              <a:rPr lang="zh-CN" altLang="en-US" b="1" u="sng">
                <a:solidFill>
                  <a:srgbClr val="3333FF"/>
                </a:solidFill>
              </a:rPr>
              <a:t>课程号</a:t>
            </a:r>
            <a:r>
              <a:rPr lang="zh-CN" altLang="en-US" b="1"/>
              <a:t>，课程名，学分）</a:t>
            </a:r>
          </a:p>
          <a:p>
            <a:pPr lvl="1" algn="just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选修（</a:t>
            </a:r>
            <a:r>
              <a:rPr lang="zh-CN" altLang="en-US" b="1" u="sng">
                <a:solidFill>
                  <a:schemeClr val="hlink"/>
                </a:solidFill>
              </a:rPr>
              <a:t>学号</a:t>
            </a:r>
            <a:r>
              <a:rPr lang="zh-CN" altLang="en-US" b="1"/>
              <a:t>，</a:t>
            </a:r>
            <a:r>
              <a:rPr lang="zh-CN" altLang="en-US" b="1" u="sng">
                <a:solidFill>
                  <a:srgbClr val="3333FF"/>
                </a:solidFill>
              </a:rPr>
              <a:t>课程号</a:t>
            </a:r>
            <a:r>
              <a:rPr lang="zh-CN" altLang="en-US" b="1"/>
              <a:t>，成绩）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>
            <a:extLst>
              <a:ext uri="{FF2B5EF4-FFF2-40B4-BE49-F238E27FC236}">
                <a16:creationId xmlns:a16="http://schemas.microsoft.com/office/drawing/2014/main" id="{84B1DE7C-053A-4BB3-AFF3-4D36FBB2F2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4419600"/>
          <a:ext cx="35814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7760208" imgH="4395216" progId="Word.Document.8">
                  <p:embed/>
                </p:oleObj>
              </mc:Choice>
              <mc:Fallback>
                <p:oleObj name="文档" r:id="rId2" imgW="7760208" imgH="4395216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419600"/>
                        <a:ext cx="3581400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3">
            <a:extLst>
              <a:ext uri="{FF2B5EF4-FFF2-40B4-BE49-F238E27FC236}">
                <a16:creationId xmlns:a16="http://schemas.microsoft.com/office/drawing/2014/main" id="{A51C8121-64AC-4E99-83AA-5EDF22BBD8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1447800"/>
          <a:ext cx="61722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7760208" imgH="5452872" progId="Word.Document.8">
                  <p:embed/>
                </p:oleObj>
              </mc:Choice>
              <mc:Fallback>
                <p:oleObj name="文档" r:id="rId4" imgW="7760208" imgH="5452872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6172200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4">
            <a:extLst>
              <a:ext uri="{FF2B5EF4-FFF2-40B4-BE49-F238E27FC236}">
                <a16:creationId xmlns:a16="http://schemas.microsoft.com/office/drawing/2014/main" id="{06A76C7B-28C8-4882-9763-E2609E1829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5400" y="4335463"/>
          <a:ext cx="3563938" cy="2598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7760208" imgH="4581144" progId="Word.Document.8">
                  <p:embed/>
                </p:oleObj>
              </mc:Choice>
              <mc:Fallback>
                <p:oleObj name="文档" r:id="rId6" imgW="7760208" imgH="4581144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335463"/>
                        <a:ext cx="3563938" cy="2598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Text Box 5">
            <a:extLst>
              <a:ext uri="{FF2B5EF4-FFF2-40B4-BE49-F238E27FC236}">
                <a16:creationId xmlns:a16="http://schemas.microsoft.com/office/drawing/2014/main" id="{0CFC5ABA-B52B-47ED-8DEC-538782481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83820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学生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174" name="Text Box 6">
            <a:extLst>
              <a:ext uri="{FF2B5EF4-FFF2-40B4-BE49-F238E27FC236}">
                <a16:creationId xmlns:a16="http://schemas.microsoft.com/office/drawing/2014/main" id="{DAE6A1BA-941D-4945-B97D-6ADACBF86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810000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学生选课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175" name="Text Box 7">
            <a:extLst>
              <a:ext uri="{FF2B5EF4-FFF2-40B4-BE49-F238E27FC236}">
                <a16:creationId xmlns:a16="http://schemas.microsoft.com/office/drawing/2014/main" id="{729491F2-8CC3-414C-B41C-23EFF929B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962400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课程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474BD434-ECE0-4687-90C6-83FA71F5B7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8DB9F694-A213-4520-9B94-E10E84D39E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772400" cy="41148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ea typeface="黑体" panose="02010609060101010101" pitchFamily="49" charset="-122"/>
              </a:rPr>
              <a:t>例</a:t>
            </a:r>
            <a:r>
              <a:rPr lang="zh-CN" altLang="en-US" b="1" dirty="0"/>
              <a:t>3  学生实体及其内部的领导联系(一对多)</a:t>
            </a:r>
            <a:r>
              <a:rPr lang="zh-CN" altLang="en-US" sz="2800" b="1" dirty="0"/>
              <a:t> </a:t>
            </a:r>
          </a:p>
          <a:p>
            <a:pPr algn="just" eaLnBrk="1" hangingPunct="1">
              <a:lnSpc>
                <a:spcPct val="150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zh-CN" altLang="en-US" sz="2400" b="1"/>
              <a:t>学生（</a:t>
            </a:r>
            <a:r>
              <a:rPr lang="zh-CN" altLang="en-US" sz="2400" b="1" u="sng">
                <a:solidFill>
                  <a:srgbClr val="3333FF"/>
                </a:solidFill>
              </a:rPr>
              <a:t>学号</a:t>
            </a:r>
            <a:r>
              <a:rPr lang="zh-CN" altLang="en-US" sz="2400" b="1"/>
              <a:t>，姓名，性别，专业号，年龄，</a:t>
            </a:r>
            <a:r>
              <a:rPr lang="zh-CN" altLang="en-US" sz="2400" b="1">
                <a:solidFill>
                  <a:srgbClr val="3333FF"/>
                </a:solidFill>
              </a:rPr>
              <a:t>班长学号</a:t>
            </a:r>
            <a:r>
              <a:rPr lang="zh-CN" altLang="en-US" sz="2400" b="1"/>
              <a:t>）</a:t>
            </a:r>
            <a:endParaRPr lang="zh-CN" altLang="en-US" b="1"/>
          </a:p>
        </p:txBody>
      </p:sp>
      <p:graphicFrame>
        <p:nvGraphicFramePr>
          <p:cNvPr id="8194" name="Object 4">
            <a:extLst>
              <a:ext uri="{FF2B5EF4-FFF2-40B4-BE49-F238E27FC236}">
                <a16:creationId xmlns:a16="http://schemas.microsoft.com/office/drawing/2014/main" id="{16D9BF89-6FF2-422F-849F-8496465A1E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9876211"/>
              </p:ext>
            </p:extLst>
          </p:nvPr>
        </p:nvGraphicFramePr>
        <p:xfrm>
          <a:off x="1423987" y="3717032"/>
          <a:ext cx="6600825" cy="338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9856229" imgH="5059796" progId="Word.Document.8">
                  <p:embed/>
                </p:oleObj>
              </mc:Choice>
              <mc:Fallback>
                <p:oleObj name="Document" r:id="rId2" imgW="9856229" imgH="5059796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987" y="3717032"/>
                        <a:ext cx="6600825" cy="338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3B67F2A5-DA9D-4605-95D1-6059F92A8A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CC0099"/>
                </a:solidFill>
              </a:rPr>
              <a:t>2．外码（</a:t>
            </a:r>
            <a:r>
              <a:rPr lang="en-US" altLang="zh-CN" b="1">
                <a:solidFill>
                  <a:srgbClr val="CC0099"/>
                </a:solidFill>
              </a:rPr>
              <a:t>Foreign Key）</a:t>
            </a:r>
            <a:endParaRPr lang="zh-CN" altLang="en-US" b="1">
              <a:solidFill>
                <a:srgbClr val="CC0099"/>
              </a:solidFill>
            </a:endParaRP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D058A738-4627-49EA-BEFD-ADF2A5FB40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设</a:t>
            </a:r>
            <a:r>
              <a:rPr lang="en-US" altLang="zh-CN" b="1" i="1"/>
              <a:t>F</a:t>
            </a:r>
            <a:r>
              <a:rPr lang="zh-CN" altLang="en-US" b="1"/>
              <a:t>是基本关系</a:t>
            </a:r>
            <a:r>
              <a:rPr lang="en-US" altLang="zh-CN" b="1" i="1"/>
              <a:t>R</a:t>
            </a:r>
            <a:r>
              <a:rPr lang="zh-CN" altLang="en-US" b="1"/>
              <a:t>的一个或一组属性，但不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是关系</a:t>
            </a:r>
            <a:r>
              <a:rPr lang="en-US" altLang="zh-CN" b="1" i="1"/>
              <a:t>R</a:t>
            </a:r>
            <a:r>
              <a:rPr lang="zh-CN" altLang="en-US" b="1"/>
              <a:t>的码。如果</a:t>
            </a:r>
            <a:r>
              <a:rPr lang="en-US" altLang="zh-CN" b="1"/>
              <a:t>F</a:t>
            </a:r>
            <a:r>
              <a:rPr lang="zh-CN" altLang="en-US" b="1"/>
              <a:t>与基本关系</a:t>
            </a:r>
            <a:r>
              <a:rPr lang="en-US" altLang="zh-CN" b="1" i="1"/>
              <a:t>S</a:t>
            </a:r>
            <a:r>
              <a:rPr lang="zh-CN" altLang="en-US" b="1"/>
              <a:t>的主码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b="1"/>
              <a:t>K</a:t>
            </a:r>
            <a:r>
              <a:rPr lang="en-US" altLang="zh-CN" b="1" baseline="-25000"/>
              <a:t>s</a:t>
            </a:r>
            <a:r>
              <a:rPr lang="zh-CN" altLang="en-US" b="1"/>
              <a:t>相对应，则称</a:t>
            </a:r>
            <a:r>
              <a:rPr lang="en-US" altLang="zh-CN" b="1"/>
              <a:t>F</a:t>
            </a:r>
            <a:r>
              <a:rPr lang="zh-CN" altLang="en-US" b="1"/>
              <a:t>是基本关系</a:t>
            </a:r>
            <a:r>
              <a:rPr lang="en-US" altLang="zh-CN" b="1" i="1"/>
              <a:t>R</a:t>
            </a:r>
            <a:r>
              <a:rPr lang="zh-CN" altLang="en-US" b="1"/>
              <a:t>的</a:t>
            </a:r>
            <a:r>
              <a:rPr lang="zh-CN" altLang="en-US" b="1">
                <a:solidFill>
                  <a:schemeClr val="hlink"/>
                </a:solidFill>
                <a:ea typeface="黑体" panose="02010609060101010101" pitchFamily="49" charset="-122"/>
              </a:rPr>
              <a:t>外码。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基本关系</a:t>
            </a:r>
            <a:r>
              <a:rPr lang="en-US" altLang="zh-CN" b="1" i="1"/>
              <a:t>R</a:t>
            </a:r>
            <a:r>
              <a:rPr lang="zh-CN" altLang="en-US" b="1" i="1"/>
              <a:t>称</a:t>
            </a:r>
            <a:r>
              <a:rPr lang="zh-CN" altLang="en-US" b="1"/>
              <a:t>为</a:t>
            </a:r>
            <a:r>
              <a:rPr lang="zh-CN" altLang="en-US" b="1">
                <a:solidFill>
                  <a:schemeClr val="hlink"/>
                </a:solidFill>
                <a:ea typeface="黑体" panose="02010609060101010101" pitchFamily="49" charset="-122"/>
              </a:rPr>
              <a:t>参照关系</a:t>
            </a:r>
            <a:r>
              <a:rPr lang="zh-CN" altLang="en-US" b="1"/>
              <a:t>（</a:t>
            </a:r>
            <a:r>
              <a:rPr lang="en-US" altLang="zh-CN" b="1"/>
              <a:t>Referencing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b="1"/>
              <a:t> Relation），</a:t>
            </a:r>
            <a:r>
              <a:rPr lang="zh-CN" altLang="en-US" b="1"/>
              <a:t>基本关系</a:t>
            </a:r>
            <a:r>
              <a:rPr lang="en-US" altLang="zh-CN" b="1" i="1"/>
              <a:t>S</a:t>
            </a:r>
            <a:r>
              <a:rPr lang="zh-CN" altLang="en-US" b="1" i="1"/>
              <a:t>称</a:t>
            </a:r>
            <a:r>
              <a:rPr lang="zh-CN" altLang="en-US" b="1"/>
              <a:t>为</a:t>
            </a:r>
            <a:r>
              <a:rPr lang="zh-CN" altLang="en-US" b="1">
                <a:solidFill>
                  <a:schemeClr val="hlink"/>
                </a:solidFill>
                <a:ea typeface="黑体" panose="02010609060101010101" pitchFamily="49" charset="-122"/>
              </a:rPr>
              <a:t>被参照关系</a:t>
            </a:r>
            <a:r>
              <a:rPr lang="zh-CN" altLang="en-US" b="1"/>
              <a:t>（</a:t>
            </a:r>
            <a:r>
              <a:rPr lang="en-US" altLang="zh-CN" b="1"/>
              <a:t>Referenced Relation）</a:t>
            </a:r>
            <a:r>
              <a:rPr lang="zh-CN" altLang="en-US" b="1"/>
              <a:t>或</a:t>
            </a:r>
            <a:r>
              <a:rPr lang="zh-CN" altLang="en-US" b="1">
                <a:solidFill>
                  <a:schemeClr val="hlink"/>
                </a:solidFill>
                <a:ea typeface="黑体" panose="02010609060101010101" pitchFamily="49" charset="-122"/>
              </a:rPr>
              <a:t>目标关系</a:t>
            </a:r>
            <a:r>
              <a:rPr lang="zh-CN" altLang="en-US" b="1"/>
              <a:t>（</a:t>
            </a:r>
            <a:r>
              <a:rPr lang="en-US" altLang="zh-CN" b="1"/>
              <a:t>Target Relation）。</a:t>
            </a:r>
            <a:endParaRPr lang="zh-CN" altLang="en-US" b="1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492E386E-46AF-4688-B2D1-8D010A6254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外码(续)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FA601CF6-5D09-4701-81CB-21C62B22BE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017713"/>
            <a:ext cx="7772400" cy="41148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CC0099"/>
                </a:solidFill>
              </a:rPr>
              <a:t>说明：</a:t>
            </a:r>
          </a:p>
          <a:p>
            <a:pPr eaLnBrk="1" hangingPunct="1">
              <a:buSzTx/>
              <a:buFont typeface="Wingdings" panose="05000000000000000000" pitchFamily="2" charset="2"/>
              <a:buChar char="Ø"/>
            </a:pPr>
            <a:r>
              <a:rPr lang="zh-CN" altLang="en-US" b="1"/>
              <a:t>关系</a:t>
            </a:r>
            <a:r>
              <a:rPr lang="en-US" altLang="zh-CN" b="1" i="1"/>
              <a:t>R</a:t>
            </a:r>
            <a:r>
              <a:rPr lang="zh-CN" altLang="en-US" b="1"/>
              <a:t>和</a:t>
            </a:r>
            <a:r>
              <a:rPr lang="en-US" altLang="zh-CN" b="1" i="1"/>
              <a:t>S</a:t>
            </a:r>
            <a:r>
              <a:rPr lang="zh-CN" altLang="en-US" b="1"/>
              <a:t>不一定是不同的关系。</a:t>
            </a:r>
          </a:p>
          <a:p>
            <a:pPr eaLnBrk="1" hangingPunct="1">
              <a:buSzTx/>
              <a:buFont typeface="Wingdings" panose="05000000000000000000" pitchFamily="2" charset="2"/>
              <a:buChar char="Ø"/>
            </a:pPr>
            <a:r>
              <a:rPr lang="zh-CN" altLang="en-US" b="1"/>
              <a:t>目标关系</a:t>
            </a:r>
            <a:r>
              <a:rPr lang="en-US" altLang="zh-CN" b="1" i="1"/>
              <a:t>S</a:t>
            </a:r>
            <a:r>
              <a:rPr lang="zh-CN" altLang="en-US" b="1"/>
              <a:t>的主码</a:t>
            </a:r>
            <a:r>
              <a:rPr lang="en-US" altLang="zh-CN" b="1"/>
              <a:t>K</a:t>
            </a:r>
            <a:r>
              <a:rPr lang="en-US" altLang="zh-CN" b="1" baseline="-25000"/>
              <a:t>s </a:t>
            </a:r>
            <a:r>
              <a:rPr lang="zh-CN" altLang="en-US" b="1"/>
              <a:t>和参照关系的外码</a:t>
            </a:r>
            <a:r>
              <a:rPr lang="en-US" altLang="zh-CN" b="1"/>
              <a:t>F</a:t>
            </a:r>
            <a:r>
              <a:rPr lang="zh-CN" altLang="en-US" b="1"/>
              <a:t>必须定义在同一个（或一组）域上。</a:t>
            </a:r>
          </a:p>
          <a:p>
            <a:pPr eaLnBrk="1" hangingPunct="1">
              <a:buSzTx/>
              <a:buFont typeface="Wingdings" panose="05000000000000000000" pitchFamily="2" charset="2"/>
              <a:buChar char="Ø"/>
            </a:pPr>
            <a:r>
              <a:rPr lang="zh-CN" altLang="en-US" b="1"/>
              <a:t>外码并不一定要与相应的主码同名。</a:t>
            </a:r>
          </a:p>
          <a:p>
            <a:pPr eaLnBrk="1" hangingPunct="1">
              <a:buSzTx/>
              <a:buFont typeface="Wingdings" panose="05000000000000000000" pitchFamily="2" charset="2"/>
              <a:buChar char="Ø"/>
            </a:pPr>
            <a:r>
              <a:rPr lang="zh-CN" altLang="en-US" b="1"/>
              <a:t>当外码与相应的主码属于不同关系时，往往取相同的名字，以便于识别。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90BFCC9-2741-40C4-A96D-6429DE1D48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CC0099"/>
                </a:solidFill>
              </a:rPr>
              <a:t>3、参照完整性规则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91612738-EE28-4AC1-B428-F71C0B9A45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若属性（或属性组）</a:t>
            </a:r>
            <a:r>
              <a:rPr lang="en-US" altLang="zh-CN" b="1" i="1"/>
              <a:t>F</a:t>
            </a:r>
            <a:r>
              <a:rPr lang="zh-CN" altLang="en-US" b="1"/>
              <a:t>是基本关系</a:t>
            </a:r>
            <a:r>
              <a:rPr lang="en-US" altLang="zh-CN" b="1" i="1"/>
              <a:t>R</a:t>
            </a:r>
            <a:r>
              <a:rPr lang="zh-CN" altLang="en-US" b="1"/>
              <a:t>的外码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它与基本关系</a:t>
            </a:r>
            <a:r>
              <a:rPr lang="en-US" altLang="zh-CN" b="1" i="1"/>
              <a:t>S</a:t>
            </a:r>
            <a:r>
              <a:rPr lang="zh-CN" altLang="en-US" b="1"/>
              <a:t>的主码</a:t>
            </a:r>
            <a:r>
              <a:rPr lang="en-US" altLang="zh-CN" b="1"/>
              <a:t>K</a:t>
            </a:r>
            <a:r>
              <a:rPr lang="en-US" altLang="zh-CN" b="1" baseline="-25000"/>
              <a:t>s</a:t>
            </a:r>
            <a:r>
              <a:rPr lang="zh-CN" altLang="en-US" b="1"/>
              <a:t>相对应（基本关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系</a:t>
            </a:r>
            <a:r>
              <a:rPr lang="en-US" altLang="zh-CN" b="1" i="1"/>
              <a:t>R</a:t>
            </a:r>
            <a:r>
              <a:rPr lang="zh-CN" altLang="en-US" b="1"/>
              <a:t>和</a:t>
            </a:r>
            <a:r>
              <a:rPr lang="en-US" altLang="zh-CN" b="1" i="1"/>
              <a:t>S</a:t>
            </a:r>
            <a:r>
              <a:rPr lang="zh-CN" altLang="en-US" b="1"/>
              <a:t>不一定是不同的关系），则对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于</a:t>
            </a:r>
            <a:r>
              <a:rPr lang="en-US" altLang="zh-CN" b="1" i="1"/>
              <a:t>R</a:t>
            </a:r>
            <a:r>
              <a:rPr lang="zh-CN" altLang="en-US" b="1"/>
              <a:t>中每个元组在</a:t>
            </a:r>
            <a:r>
              <a:rPr lang="en-US" altLang="zh-CN" b="1" i="1"/>
              <a:t>F</a:t>
            </a:r>
            <a:r>
              <a:rPr lang="zh-CN" altLang="en-US" b="1"/>
              <a:t>上的值必须为：</a:t>
            </a:r>
          </a:p>
          <a:p>
            <a:pPr lvl="1" algn="just" eaLnBrk="1" hangingPunct="1">
              <a:lnSpc>
                <a:spcPct val="140000"/>
              </a:lnSpc>
              <a:buClr>
                <a:srgbClr val="FF6600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b="1"/>
              <a:t>或者取空值（</a:t>
            </a:r>
            <a:r>
              <a:rPr lang="en-US" altLang="zh-CN" b="1" i="1"/>
              <a:t>F</a:t>
            </a:r>
            <a:r>
              <a:rPr lang="zh-CN" altLang="en-US" b="1"/>
              <a:t>的每个属性值均为空值）。</a:t>
            </a:r>
          </a:p>
          <a:p>
            <a:pPr lvl="1" algn="just" eaLnBrk="1" hangingPunct="1">
              <a:buClr>
                <a:srgbClr val="FF6600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b="1"/>
              <a:t>或者等于</a:t>
            </a:r>
            <a:r>
              <a:rPr lang="en-US" altLang="zh-CN" b="1" i="1"/>
              <a:t>S</a:t>
            </a:r>
            <a:r>
              <a:rPr lang="zh-CN" altLang="en-US" b="1"/>
              <a:t>中某个元组的主码值。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4BA87E3-81C9-4EFF-AD64-19AE466BB0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参照完整性规则(续)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E32C3E5A-A12A-4AA1-B788-4E6E6FEB32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学生关系中每个元组的</a:t>
            </a:r>
            <a:r>
              <a:rPr lang="zh-CN" altLang="en-US" b="1">
                <a:solidFill>
                  <a:srgbClr val="3333FF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b="1">
                <a:solidFill>
                  <a:srgbClr val="3333FF"/>
                </a:solidFill>
              </a:rPr>
              <a:t>专业号</a:t>
            </a:r>
            <a:r>
              <a:rPr lang="zh-CN" altLang="en-US" b="1">
                <a:solidFill>
                  <a:srgbClr val="3333FF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b="1"/>
              <a:t>属性只取下面两类值：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（1）</a:t>
            </a:r>
            <a:r>
              <a:rPr lang="zh-CN" altLang="en-US" b="1">
                <a:solidFill>
                  <a:srgbClr val="3333FF"/>
                </a:solidFill>
              </a:rPr>
              <a:t>空值</a:t>
            </a:r>
            <a:r>
              <a:rPr lang="zh-CN" altLang="en-US" b="1"/>
              <a:t>，表示尚未给该学生分配专业。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（2）非空值，这时该值必须</a:t>
            </a:r>
            <a:r>
              <a:rPr lang="zh-CN" altLang="en-US" b="1">
                <a:solidFill>
                  <a:srgbClr val="3333FF"/>
                </a:solidFill>
              </a:rPr>
              <a:t>是专业关系中某个元组的</a:t>
            </a:r>
            <a:r>
              <a:rPr lang="zh-CN" altLang="en-US" b="1">
                <a:solidFill>
                  <a:srgbClr val="3333FF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b="1">
                <a:solidFill>
                  <a:srgbClr val="3333FF"/>
                </a:solidFill>
              </a:rPr>
              <a:t>专业号</a:t>
            </a:r>
            <a:r>
              <a:rPr lang="zh-CN" altLang="en-US" b="1">
                <a:solidFill>
                  <a:srgbClr val="3333FF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b="1">
                <a:solidFill>
                  <a:srgbClr val="3333FF"/>
                </a:solidFill>
              </a:rPr>
              <a:t>值</a:t>
            </a:r>
            <a:r>
              <a:rPr lang="zh-CN" altLang="en-US" b="1"/>
              <a:t>，表示该学生不可能分配到一个不存在的专业中。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8048EB4A-877A-4CC0-9740-3BE6D70AF7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参照完整性规则(续)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2A24D6CC-4E73-40AC-A64D-78BA0FACEC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选修（</a:t>
            </a:r>
            <a:r>
              <a:rPr lang="zh-CN" altLang="en-US" b="1" u="sng">
                <a:solidFill>
                  <a:schemeClr val="hlink"/>
                </a:solidFill>
              </a:rPr>
              <a:t>学号</a:t>
            </a:r>
            <a:r>
              <a:rPr lang="zh-CN" altLang="en-US" b="1"/>
              <a:t>，</a:t>
            </a:r>
            <a:r>
              <a:rPr lang="zh-CN" altLang="en-US" b="1" u="sng">
                <a:solidFill>
                  <a:srgbClr val="3333FF"/>
                </a:solidFill>
              </a:rPr>
              <a:t>课程号</a:t>
            </a:r>
            <a:r>
              <a:rPr lang="zh-CN" altLang="en-US" b="1"/>
              <a:t>，成绩）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“</a:t>
            </a:r>
            <a:r>
              <a:rPr lang="zh-CN" altLang="en-US" b="1"/>
              <a:t>学号</a:t>
            </a:r>
            <a:r>
              <a:rPr lang="zh-CN" altLang="en-US" b="1">
                <a:latin typeface="Times New Roman" panose="02020603050405020304" pitchFamily="18" charset="0"/>
              </a:rPr>
              <a:t>”</a:t>
            </a:r>
            <a:r>
              <a:rPr lang="zh-CN" altLang="en-US" b="1"/>
              <a:t>和</a:t>
            </a:r>
            <a:r>
              <a:rPr lang="zh-CN" altLang="en-US" b="1">
                <a:latin typeface="Times New Roman" panose="02020603050405020304" pitchFamily="18" charset="0"/>
              </a:rPr>
              <a:t>“</a:t>
            </a:r>
            <a:r>
              <a:rPr lang="zh-CN" altLang="en-US" b="1"/>
              <a:t>课程号</a:t>
            </a:r>
            <a:r>
              <a:rPr lang="zh-CN" altLang="en-US" b="1">
                <a:latin typeface="Times New Roman" panose="02020603050405020304" pitchFamily="18" charset="0"/>
              </a:rPr>
              <a:t>”</a:t>
            </a:r>
            <a:r>
              <a:rPr lang="zh-CN" altLang="en-US" b="1"/>
              <a:t>是选修关系中的主属性，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按照实体完整性和参照完整性规则，它们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只能取相应被参照关系中已经存在的主码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值。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6B1C67D1-CC2A-416A-98F3-85A7A4053E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参照完整性规则(续)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E77106C6-A9A5-42C4-AFD4-7E4FF2AB43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学生（</a:t>
            </a:r>
            <a:r>
              <a:rPr lang="zh-CN" altLang="en-US" sz="2800" b="1" u="sng">
                <a:solidFill>
                  <a:srgbClr val="3333FF"/>
                </a:solidFill>
              </a:rPr>
              <a:t>学号</a:t>
            </a:r>
            <a:r>
              <a:rPr lang="zh-CN" altLang="en-US" sz="2800" b="1"/>
              <a:t>，姓名，性别，专业号，年龄，</a:t>
            </a:r>
            <a:r>
              <a:rPr lang="zh-CN" altLang="en-US" sz="2800" b="1">
                <a:solidFill>
                  <a:srgbClr val="3333FF"/>
                </a:solidFill>
              </a:rPr>
              <a:t>班长</a:t>
            </a:r>
            <a:r>
              <a:rPr lang="zh-CN" altLang="en-US" sz="2800" b="1"/>
              <a:t>）</a:t>
            </a:r>
            <a:endParaRPr lang="zh-CN" altLang="en-US" sz="3600" b="1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“</a:t>
            </a:r>
            <a:r>
              <a:rPr lang="zh-CN" altLang="en-US" sz="2800" b="1"/>
              <a:t>班长</a:t>
            </a:r>
            <a:r>
              <a:rPr lang="zh-CN" altLang="en-US" sz="2800" b="1">
                <a:latin typeface="Times New Roman" panose="02020603050405020304" pitchFamily="18" charset="0"/>
              </a:rPr>
              <a:t>”</a:t>
            </a:r>
            <a:r>
              <a:rPr lang="zh-CN" altLang="en-US" sz="2800" b="1"/>
              <a:t>属性值可以取两类值：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folHlink"/>
                </a:solidFill>
              </a:rPr>
              <a:t>（1）</a:t>
            </a:r>
            <a:r>
              <a:rPr lang="zh-CN" altLang="en-US" sz="2800" b="1"/>
              <a:t>空值，表示该学生所在班级尚未选出班长；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folHlink"/>
                </a:solidFill>
              </a:rPr>
              <a:t>（2）</a:t>
            </a:r>
            <a:r>
              <a:rPr lang="zh-CN" altLang="en-US" sz="2800" b="1"/>
              <a:t>非空值，这时该值必须是本关系中某个元组的学号值。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EBAAB93F-9E19-4982-ABF6-5D006002FC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（三）、用户定义的完整性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58D5B85B-A13C-4B65-B445-C003119B17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b="1"/>
              <a:t>用户定义的完整性是针对某一具体关系数据库的约束条件，反映某一具体应用所涉及的数据必须满足的语义要求。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>
                <a:solidFill>
                  <a:schemeClr val="folHlink"/>
                </a:solidFill>
              </a:rPr>
              <a:t>例:</a:t>
            </a:r>
            <a:r>
              <a:rPr lang="zh-CN" altLang="en-US" sz="2800" b="1"/>
              <a:t> 课程(课程号，课程名，学分)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/>
              <a:t>   </a:t>
            </a:r>
            <a:r>
              <a:rPr lang="zh-CN" altLang="en-US" sz="2800" b="1">
                <a:latin typeface="Times New Roman" panose="02020603050405020304" pitchFamily="18" charset="0"/>
              </a:rPr>
              <a:t>“</a:t>
            </a:r>
            <a:r>
              <a:rPr lang="zh-CN" altLang="en-US" sz="2800" b="1"/>
              <a:t>课程名</a:t>
            </a:r>
            <a:r>
              <a:rPr lang="zh-CN" altLang="en-US" sz="2800" b="1">
                <a:latin typeface="Times New Roman" panose="02020603050405020304" pitchFamily="18" charset="0"/>
              </a:rPr>
              <a:t>”</a:t>
            </a:r>
            <a:r>
              <a:rPr lang="zh-CN" altLang="en-US" sz="2800" b="1"/>
              <a:t>属性必须取唯一值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/>
              <a:t>   非主属性</a:t>
            </a:r>
            <a:r>
              <a:rPr lang="zh-CN" altLang="en-US" sz="2800" b="1">
                <a:latin typeface="Times New Roman" panose="02020603050405020304" pitchFamily="18" charset="0"/>
              </a:rPr>
              <a:t>“</a:t>
            </a:r>
            <a:r>
              <a:rPr lang="zh-CN" altLang="en-US" sz="2800" b="1"/>
              <a:t>课程名</a:t>
            </a:r>
            <a:r>
              <a:rPr lang="zh-CN" altLang="en-US" sz="2800" b="1">
                <a:latin typeface="Times New Roman" panose="02020603050405020304" pitchFamily="18" charset="0"/>
              </a:rPr>
              <a:t>”</a:t>
            </a:r>
            <a:r>
              <a:rPr lang="zh-CN" altLang="en-US" sz="2800" b="1"/>
              <a:t>也不能取空值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/>
              <a:t>   </a:t>
            </a:r>
            <a:r>
              <a:rPr lang="zh-CN" altLang="en-US" sz="2800" b="1">
                <a:latin typeface="Times New Roman" panose="02020603050405020304" pitchFamily="18" charset="0"/>
              </a:rPr>
              <a:t>“</a:t>
            </a:r>
            <a:r>
              <a:rPr lang="zh-CN" altLang="en-US" sz="2800" b="1"/>
              <a:t>学分</a:t>
            </a:r>
            <a:r>
              <a:rPr lang="zh-CN" altLang="en-US" sz="2800" b="1">
                <a:latin typeface="Times New Roman" panose="02020603050405020304" pitchFamily="18" charset="0"/>
              </a:rPr>
              <a:t>”</a:t>
            </a:r>
            <a:r>
              <a:rPr lang="zh-CN" altLang="en-US" sz="2800" b="1"/>
              <a:t>属性只能取值{1，2，3，4}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6BE938D5-1BDC-4267-B8AC-72DBE65C4E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2.3 </a:t>
            </a:r>
            <a:r>
              <a:rPr lang="zh-CN" altLang="en-US" b="1"/>
              <a:t>关系代数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E39C49AA-801C-41C4-9F53-8187AE391C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SzPct val="80000"/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sz="3600" b="1"/>
              <a:t>概述</a:t>
            </a:r>
          </a:p>
          <a:p>
            <a:pPr eaLnBrk="1" hangingPunct="1">
              <a:buSzPct val="80000"/>
              <a:buFont typeface="Wingdings" panose="05000000000000000000" pitchFamily="2" charset="2"/>
              <a:buBlip>
                <a:blip r:embed="rId2"/>
              </a:buBlip>
            </a:pPr>
            <a:endParaRPr lang="zh-CN" altLang="en-US" sz="3600" b="1"/>
          </a:p>
          <a:p>
            <a:pPr eaLnBrk="1" hangingPunct="1">
              <a:buSzPct val="80000"/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sz="3600" b="1"/>
              <a:t>传统的集合运算</a:t>
            </a:r>
          </a:p>
          <a:p>
            <a:pPr eaLnBrk="1" hangingPunct="1">
              <a:buSzPct val="80000"/>
              <a:buFont typeface="Wingdings" panose="05000000000000000000" pitchFamily="2" charset="2"/>
              <a:buBlip>
                <a:blip r:embed="rId2"/>
              </a:buBlip>
            </a:pPr>
            <a:endParaRPr lang="zh-CN" altLang="en-US" sz="3600" b="1"/>
          </a:p>
          <a:p>
            <a:pPr eaLnBrk="1" hangingPunct="1">
              <a:buSzPct val="80000"/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sz="3600" b="1"/>
              <a:t>专门的关系运算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38B6F621-5C7F-4632-95A1-D70EC1EDF2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800" b="1"/>
              <a:t>（一）、概述</a:t>
            </a:r>
            <a:endParaRPr lang="zh-CN" altLang="en-US" b="1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FDC9D03F-7626-49D4-A8F4-9708058691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3600" b="1"/>
              <a:t>关系代数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	一种抽象的查询语言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	用对关系的运算来表达查询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3600" b="1"/>
              <a:t>关系代数运算的三个要素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运算对象：关系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运算结果：关系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运算符：四类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354" name="Group 2">
            <a:extLst>
              <a:ext uri="{FF2B5EF4-FFF2-40B4-BE49-F238E27FC236}">
                <a16:creationId xmlns:a16="http://schemas.microsoft.com/office/drawing/2014/main" id="{6416B787-2B67-4035-8B83-0211EF70C721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3124200"/>
          <a:ext cx="7010400" cy="307846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78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集合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运算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符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∪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-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∩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×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并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差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交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广义笛卡尔积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比较运算符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＞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≥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＜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≤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＝     ≠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大于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大于等于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小于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小于等于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等于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不等于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0370" name="Group 18">
            <a:extLst>
              <a:ext uri="{FF2B5EF4-FFF2-40B4-BE49-F238E27FC236}">
                <a16:creationId xmlns:a16="http://schemas.microsoft.com/office/drawing/2014/main" id="{FB12EBC6-CDEF-4F87-AA4F-FD00678D5D13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2590800"/>
          <a:ext cx="7010400" cy="533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运算符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含义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运算符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含义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7376" name="Rectangle 32">
            <a:extLst>
              <a:ext uri="{FF2B5EF4-FFF2-40B4-BE49-F238E27FC236}">
                <a16:creationId xmlns:a16="http://schemas.microsoft.com/office/drawing/2014/main" id="{9AA8D49F-1135-4693-9F7A-092144520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700213"/>
            <a:ext cx="6324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latin typeface="Times New Roman" panose="02020603050405020304" pitchFamily="18" charset="0"/>
              </a:rPr>
              <a:t>表2.4  关系代数运算符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7377" name="Rectangle 33">
            <a:extLst>
              <a:ext uri="{FF2B5EF4-FFF2-40B4-BE49-F238E27FC236}">
                <a16:creationId xmlns:a16="http://schemas.microsoft.com/office/drawing/2014/main" id="{E5648F16-30E0-48FB-ADAD-89D62EF59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077913"/>
            <a:ext cx="18653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>
                <a:solidFill>
                  <a:schemeClr val="tx2"/>
                </a:solidFill>
                <a:latin typeface="Times New Roman" panose="02020603050405020304" pitchFamily="18" charset="0"/>
              </a:rPr>
              <a:t>概述(续)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378" name="Group 2">
            <a:extLst>
              <a:ext uri="{FF2B5EF4-FFF2-40B4-BE49-F238E27FC236}">
                <a16:creationId xmlns:a16="http://schemas.microsoft.com/office/drawing/2014/main" id="{CCCA25FC-7609-4F57-95CB-B759EFD22511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3146425"/>
          <a:ext cx="6934200" cy="256698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6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专门的关系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运算符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σ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π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 pitchFamily="2" charset="-122"/>
                        </a:rPr>
                        <a:t> 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÷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选择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投影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连接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除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逻辑运算符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sym typeface="Symbol" pitchFamily="18" charset="2"/>
                        </a:rPr>
                        <a:t>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∧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∨ 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非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与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或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1394" name="Group 18">
            <a:extLst>
              <a:ext uri="{FF2B5EF4-FFF2-40B4-BE49-F238E27FC236}">
                <a16:creationId xmlns:a16="http://schemas.microsoft.com/office/drawing/2014/main" id="{EA76ED0E-0E25-4A8B-99B6-A4C421ACD94C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2536825"/>
          <a:ext cx="6934200" cy="6096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运算符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含义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运算符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含义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00" name="AutoShape 32">
            <a:extLst>
              <a:ext uri="{FF2B5EF4-FFF2-40B4-BE49-F238E27FC236}">
                <a16:creationId xmlns:a16="http://schemas.microsoft.com/office/drawing/2014/main" id="{6FDBC1EF-0E9D-42C2-91BF-6C470FC8B63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 flipV="1">
            <a:off x="3213100" y="4276725"/>
            <a:ext cx="203200" cy="381000"/>
          </a:xfrm>
          <a:prstGeom prst="flowChartCollate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8401" name="Rectangle 33">
            <a:extLst>
              <a:ext uri="{FF2B5EF4-FFF2-40B4-BE49-F238E27FC236}">
                <a16:creationId xmlns:a16="http://schemas.microsoft.com/office/drawing/2014/main" id="{FD335DED-1B48-4B3C-83DD-285546329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774825"/>
            <a:ext cx="5943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latin typeface="Times New Roman" panose="02020603050405020304" pitchFamily="18" charset="0"/>
              </a:rPr>
              <a:t>表2.4  关系代数运算符（续）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8402" name="Rectangle 34">
            <a:extLst>
              <a:ext uri="{FF2B5EF4-FFF2-40B4-BE49-F238E27FC236}">
                <a16:creationId xmlns:a16="http://schemas.microsoft.com/office/drawing/2014/main" id="{85F9970C-93B6-412E-B0DE-DFDA9AB37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006475"/>
            <a:ext cx="7620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solidFill>
                  <a:schemeClr val="tx2"/>
                </a:solidFill>
                <a:latin typeface="Times New Roman" panose="02020603050405020304" pitchFamily="18" charset="0"/>
              </a:rPr>
              <a:t>概述(续)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64F6A21D-5527-46CD-839D-870DAB4FE5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（二）、传统的集合运算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F298296C-3850-4B55-B018-B63C0D7443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SzPct val="80000"/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b="1"/>
              <a:t>并(</a:t>
            </a:r>
            <a:r>
              <a:rPr lang="en-US" altLang="zh-CN" b="1"/>
              <a:t>Union)</a:t>
            </a:r>
          </a:p>
          <a:p>
            <a:pPr eaLnBrk="1" hangingPunct="1">
              <a:buSzPct val="80000"/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b="1"/>
              <a:t>差(</a:t>
            </a:r>
            <a:r>
              <a:rPr lang="en-US" altLang="zh-CN" b="1"/>
              <a:t>Difference)</a:t>
            </a:r>
          </a:p>
          <a:p>
            <a:pPr eaLnBrk="1" hangingPunct="1">
              <a:buSzPct val="80000"/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b="1"/>
              <a:t>交(</a:t>
            </a:r>
            <a:r>
              <a:rPr lang="en-US" altLang="zh-CN" b="1"/>
              <a:t>Intersection)</a:t>
            </a:r>
          </a:p>
          <a:p>
            <a:pPr eaLnBrk="1" hangingPunct="1">
              <a:buSzPct val="80000"/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b="1"/>
              <a:t>广义笛卡尔积(</a:t>
            </a:r>
            <a:r>
              <a:rPr lang="en-US" altLang="zh-CN" b="1"/>
              <a:t>Extended Cartesian Product)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56B9E1A9-7972-42FE-B00F-11FCC3BC41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1、并（</a:t>
            </a:r>
            <a:r>
              <a:rPr lang="en-US" altLang="zh-CN" b="1"/>
              <a:t>Union）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C0CA1425-2CC7-4F02-AFF5-ED74CDD193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US" altLang="zh-CN" b="1" i="1"/>
              <a:t>R</a:t>
            </a:r>
            <a:r>
              <a:rPr lang="zh-CN" altLang="en-US" b="1"/>
              <a:t>和</a:t>
            </a:r>
            <a:r>
              <a:rPr lang="en-US" altLang="zh-CN" b="1" i="1"/>
              <a:t>S</a:t>
            </a:r>
          </a:p>
          <a:p>
            <a:pPr lvl="1" algn="just" eaLnBrk="1" hangingPunct="1"/>
            <a:r>
              <a:rPr lang="zh-CN" altLang="en-US" b="1"/>
              <a:t>具有相同的目</a:t>
            </a:r>
            <a:r>
              <a:rPr lang="en-US" altLang="zh-CN" b="1" i="1"/>
              <a:t>n</a:t>
            </a:r>
            <a:r>
              <a:rPr lang="en-US" altLang="zh-CN" b="1"/>
              <a:t>（</a:t>
            </a:r>
            <a:r>
              <a:rPr lang="zh-CN" altLang="en-US" b="1"/>
              <a:t>即两个关系都有</a:t>
            </a:r>
            <a:r>
              <a:rPr lang="en-US" altLang="zh-CN" b="1" i="1"/>
              <a:t>n</a:t>
            </a:r>
            <a:r>
              <a:rPr lang="zh-CN" altLang="en-US" b="1"/>
              <a:t>个属性）</a:t>
            </a:r>
          </a:p>
          <a:p>
            <a:pPr lvl="1" algn="just" eaLnBrk="1" hangingPunct="1"/>
            <a:r>
              <a:rPr lang="zh-CN" altLang="en-US" b="1"/>
              <a:t>相应的属性取自同一个域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zh-CN" altLang="en-US" b="1"/>
          </a:p>
          <a:p>
            <a:pPr algn="just" eaLnBrk="1" hangingPunct="1"/>
            <a:r>
              <a:rPr lang="en-US" altLang="zh-CN" b="1" i="1"/>
              <a:t>R</a:t>
            </a:r>
            <a:r>
              <a:rPr lang="en-US" altLang="zh-CN" b="1"/>
              <a:t>∪</a:t>
            </a:r>
            <a:r>
              <a:rPr lang="en-US" altLang="zh-CN" b="1" i="1"/>
              <a:t>S</a:t>
            </a:r>
            <a:r>
              <a:rPr lang="en-US" altLang="zh-CN" b="1"/>
              <a:t> </a:t>
            </a:r>
          </a:p>
          <a:p>
            <a:pPr lvl="1" algn="just" eaLnBrk="1" hangingPunct="1"/>
            <a:r>
              <a:rPr lang="zh-CN" altLang="en-US" b="1"/>
              <a:t>仍为</a:t>
            </a:r>
            <a:r>
              <a:rPr lang="en-US" altLang="zh-CN" b="1" i="1"/>
              <a:t>n</a:t>
            </a:r>
            <a:r>
              <a:rPr lang="zh-CN" altLang="en-US" b="1"/>
              <a:t>目关系，由属于</a:t>
            </a:r>
            <a:r>
              <a:rPr lang="en-US" altLang="zh-CN" b="1" i="1"/>
              <a:t>R</a:t>
            </a:r>
            <a:r>
              <a:rPr lang="zh-CN" altLang="en-US" b="1"/>
              <a:t>或属于</a:t>
            </a:r>
            <a:r>
              <a:rPr lang="en-US" altLang="zh-CN" b="1" i="1"/>
              <a:t>S</a:t>
            </a:r>
            <a:r>
              <a:rPr lang="zh-CN" altLang="en-US" b="1"/>
              <a:t>的元组组成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 i="1"/>
              <a:t>      </a:t>
            </a:r>
            <a:r>
              <a:rPr lang="en-US" altLang="zh-CN" b="1" i="1"/>
              <a:t>R</a:t>
            </a:r>
            <a:r>
              <a:rPr lang="en-US" altLang="zh-CN" b="1"/>
              <a:t>∪</a:t>
            </a:r>
            <a:r>
              <a:rPr lang="en-US" altLang="zh-CN" b="1" i="1"/>
              <a:t>S</a:t>
            </a:r>
            <a:r>
              <a:rPr lang="en-US" altLang="zh-CN" b="1"/>
              <a:t> = { </a:t>
            </a:r>
            <a:r>
              <a:rPr lang="en-US" altLang="zh-CN" b="1" i="1"/>
              <a:t>t</a:t>
            </a:r>
            <a:r>
              <a:rPr lang="en-US" altLang="zh-CN" b="1"/>
              <a:t>|</a:t>
            </a:r>
            <a:r>
              <a:rPr lang="en-US" altLang="zh-CN" b="1" i="1"/>
              <a:t>t </a:t>
            </a:r>
            <a:r>
              <a:rPr lang="en-US" altLang="zh-CN" b="1">
                <a:sym typeface="Symbol" panose="05050102010706020507" pitchFamily="18" charset="2"/>
              </a:rPr>
              <a:t></a:t>
            </a:r>
            <a:r>
              <a:rPr lang="en-US" altLang="zh-CN" b="1"/>
              <a:t> </a:t>
            </a:r>
            <a:r>
              <a:rPr lang="en-US" altLang="zh-CN" b="1" i="1"/>
              <a:t>R</a:t>
            </a:r>
            <a:r>
              <a:rPr lang="en-US" altLang="zh-CN" b="1"/>
              <a:t>∨</a:t>
            </a:r>
            <a:r>
              <a:rPr lang="en-US" altLang="zh-CN" b="1" i="1"/>
              <a:t>t </a:t>
            </a:r>
            <a:r>
              <a:rPr lang="en-US" altLang="zh-CN" b="1">
                <a:sym typeface="Symbol" panose="05050102010706020507" pitchFamily="18" charset="2"/>
              </a:rPr>
              <a:t></a:t>
            </a:r>
            <a:r>
              <a:rPr lang="en-US" altLang="zh-CN" b="1" i="1"/>
              <a:t>S </a:t>
            </a:r>
            <a:r>
              <a:rPr lang="en-US" altLang="zh-CN" b="1"/>
              <a:t>}</a:t>
            </a:r>
            <a:endParaRPr lang="zh-CN" altLang="en-US" b="1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01E9E936-3FC1-4CB4-9CCB-FFE21F5CD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400" b="1">
                <a:solidFill>
                  <a:schemeClr val="tx2"/>
                </a:solidFill>
              </a:rPr>
              <a:t>例：</a:t>
            </a:r>
          </a:p>
        </p:txBody>
      </p:sp>
      <p:graphicFrame>
        <p:nvGraphicFramePr>
          <p:cNvPr id="104451" name="Group 3">
            <a:extLst>
              <a:ext uri="{FF2B5EF4-FFF2-40B4-BE49-F238E27FC236}">
                <a16:creationId xmlns:a16="http://schemas.microsoft.com/office/drawing/2014/main" id="{6024E3CB-DF3E-4092-8B52-4E3C3C533C48}"/>
              </a:ext>
            </a:extLst>
          </p:cNvPr>
          <p:cNvGraphicFramePr>
            <a:graphicFrameLocks noGrp="1"/>
          </p:cNvGraphicFramePr>
          <p:nvPr/>
        </p:nvGraphicFramePr>
        <p:xfrm>
          <a:off x="1676400" y="1828800"/>
          <a:ext cx="2743200" cy="2076452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414369993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75409673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831693778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719493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755843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289543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a2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627494"/>
                  </a:ext>
                </a:extLst>
              </a:tr>
            </a:tbl>
          </a:graphicData>
        </a:graphic>
      </p:graphicFrame>
      <p:graphicFrame>
        <p:nvGraphicFramePr>
          <p:cNvPr id="104475" name="Group 27">
            <a:extLst>
              <a:ext uri="{FF2B5EF4-FFF2-40B4-BE49-F238E27FC236}">
                <a16:creationId xmlns:a16="http://schemas.microsoft.com/office/drawing/2014/main" id="{5C8BA8E7-747A-430C-9519-6209B7E376DE}"/>
              </a:ext>
            </a:extLst>
          </p:cNvPr>
          <p:cNvGraphicFramePr>
            <a:graphicFrameLocks noGrp="1"/>
          </p:cNvGraphicFramePr>
          <p:nvPr/>
        </p:nvGraphicFramePr>
        <p:xfrm>
          <a:off x="5867400" y="2819400"/>
          <a:ext cx="2743200" cy="260612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110223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8763984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290139342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735057"/>
                  </a:ext>
                </a:extLst>
              </a:tr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b1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061566"/>
                  </a:ext>
                </a:extLst>
              </a:tr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910407"/>
                  </a:ext>
                </a:extLst>
              </a:tr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321206"/>
                  </a:ext>
                </a:extLst>
              </a:tr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a2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265399"/>
                  </a:ext>
                </a:extLst>
              </a:tr>
            </a:tbl>
          </a:graphicData>
        </a:graphic>
      </p:graphicFrame>
      <p:graphicFrame>
        <p:nvGraphicFramePr>
          <p:cNvPr id="104503" name="Group 55">
            <a:extLst>
              <a:ext uri="{FF2B5EF4-FFF2-40B4-BE49-F238E27FC236}">
                <a16:creationId xmlns:a16="http://schemas.microsoft.com/office/drawing/2014/main" id="{0388BA99-6DA2-4974-B936-4B8336CB1E92}"/>
              </a:ext>
            </a:extLst>
          </p:cNvPr>
          <p:cNvGraphicFramePr>
            <a:graphicFrameLocks noGrp="1"/>
          </p:cNvGraphicFramePr>
          <p:nvPr/>
        </p:nvGraphicFramePr>
        <p:xfrm>
          <a:off x="1752600" y="4419600"/>
          <a:ext cx="2667000" cy="2076452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3956793127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8694398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4011223176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4733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931835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570104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a2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958333"/>
                  </a:ext>
                </a:extLst>
              </a:tr>
            </a:tbl>
          </a:graphicData>
        </a:graphic>
      </p:graphicFrame>
      <p:sp>
        <p:nvSpPr>
          <p:cNvPr id="61519" name="Rectangle 79">
            <a:extLst>
              <a:ext uri="{FF2B5EF4-FFF2-40B4-BE49-F238E27FC236}">
                <a16:creationId xmlns:a16="http://schemas.microsoft.com/office/drawing/2014/main" id="{9575713B-5AF7-4954-B391-176034620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286000"/>
            <a:ext cx="304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61520" name="Rectangle 80">
            <a:extLst>
              <a:ext uri="{FF2B5EF4-FFF2-40B4-BE49-F238E27FC236}">
                <a16:creationId xmlns:a16="http://schemas.microsoft.com/office/drawing/2014/main" id="{2CD153AC-4803-4CF5-AF43-EBF6DB3D9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800600"/>
            <a:ext cx="304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61521" name="Rectangle 81">
            <a:extLst>
              <a:ext uri="{FF2B5EF4-FFF2-40B4-BE49-F238E27FC236}">
                <a16:creationId xmlns:a16="http://schemas.microsoft.com/office/drawing/2014/main" id="{B365DF57-60E2-4450-8B22-CBC88834B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505200"/>
            <a:ext cx="838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</a:rPr>
              <a:t>∪</a:t>
            </a:r>
            <a:r>
              <a:rPr lang="en-US" altLang="zh-CN" b="1" i="1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C088EAE4-3969-4A5A-8B08-26B5A4DA64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2、差（</a:t>
            </a:r>
            <a:r>
              <a:rPr lang="en-US" altLang="zh-CN" b="1"/>
              <a:t>Difference）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83DF3F6C-0C1A-450D-95D1-CBAB07B1C6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zh-CN" b="1" i="1"/>
              <a:t>R</a:t>
            </a:r>
            <a:r>
              <a:rPr lang="zh-CN" altLang="en-US" b="1"/>
              <a:t>和</a:t>
            </a:r>
            <a:r>
              <a:rPr lang="en-US" altLang="zh-CN" b="1" i="1"/>
              <a:t>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b="1"/>
              <a:t>具有相同的目</a:t>
            </a:r>
            <a:r>
              <a:rPr lang="en-US" altLang="zh-CN" b="1" i="1"/>
              <a:t>n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b="1"/>
              <a:t>相应的属性取自同一个域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b="1"/>
          </a:p>
          <a:p>
            <a:pPr algn="just" eaLnBrk="1" hangingPunct="1">
              <a:lnSpc>
                <a:spcPct val="90000"/>
              </a:lnSpc>
            </a:pPr>
            <a:r>
              <a:rPr lang="en-US" altLang="zh-CN" b="1" i="1"/>
              <a:t>R - S</a:t>
            </a:r>
            <a:r>
              <a:rPr lang="en-US" altLang="zh-CN" b="1"/>
              <a:t>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b="1"/>
              <a:t>仍为</a:t>
            </a:r>
            <a:r>
              <a:rPr lang="en-US" altLang="zh-CN" b="1" i="1"/>
              <a:t>n</a:t>
            </a:r>
            <a:r>
              <a:rPr lang="zh-CN" altLang="en-US" b="1"/>
              <a:t>目关系，由属于</a:t>
            </a:r>
            <a:r>
              <a:rPr lang="en-US" altLang="zh-CN" b="1" i="1"/>
              <a:t>R</a:t>
            </a:r>
            <a:r>
              <a:rPr lang="zh-CN" altLang="en-US" b="1"/>
              <a:t>而不属于</a:t>
            </a:r>
            <a:r>
              <a:rPr lang="en-US" altLang="zh-CN" b="1" i="1"/>
              <a:t>S</a:t>
            </a:r>
            <a:r>
              <a:rPr lang="zh-CN" altLang="en-US" b="1"/>
              <a:t>的所有元组组成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        </a:t>
            </a:r>
            <a:r>
              <a:rPr lang="zh-CN" altLang="en-US" b="1">
                <a:latin typeface="Times New Roman" panose="02020603050405020304" pitchFamily="18" charset="0"/>
              </a:rPr>
              <a:t> </a:t>
            </a:r>
            <a:r>
              <a:rPr lang="en-US" altLang="zh-CN" sz="2800" b="1" i="1"/>
              <a:t>R </a:t>
            </a:r>
            <a:r>
              <a:rPr lang="en-US" altLang="zh-CN" sz="2800" b="1"/>
              <a:t>-</a:t>
            </a:r>
            <a:r>
              <a:rPr lang="en-US" altLang="zh-CN" sz="2800" b="1" i="1"/>
              <a:t>S</a:t>
            </a:r>
            <a:r>
              <a:rPr lang="en-US" altLang="zh-CN" sz="2800" b="1"/>
              <a:t> = { </a:t>
            </a:r>
            <a:r>
              <a:rPr lang="en-US" altLang="zh-CN" sz="2800" b="1" i="1"/>
              <a:t>t</a:t>
            </a:r>
            <a:r>
              <a:rPr lang="en-US" altLang="zh-CN" sz="2800" b="1"/>
              <a:t>|</a:t>
            </a:r>
            <a:r>
              <a:rPr lang="en-US" altLang="zh-CN" sz="2800" b="1" i="1"/>
              <a:t>t</a:t>
            </a:r>
            <a:r>
              <a:rPr lang="en-US" altLang="zh-CN" sz="2800" b="1">
                <a:sym typeface="Symbol" panose="05050102010706020507" pitchFamily="18" charset="2"/>
              </a:rPr>
              <a:t></a:t>
            </a:r>
            <a:r>
              <a:rPr lang="en-US" altLang="zh-CN" sz="2800" b="1" i="1"/>
              <a:t>R</a:t>
            </a:r>
            <a:r>
              <a:rPr lang="en-US" altLang="zh-CN" sz="2800" b="1"/>
              <a:t>∧</a:t>
            </a:r>
            <a:r>
              <a:rPr lang="en-US" altLang="zh-CN" sz="2800" b="1" i="1"/>
              <a:t>t</a:t>
            </a:r>
            <a:r>
              <a:rPr lang="en-US" altLang="zh-CN" sz="2800" b="1">
                <a:sym typeface="Symbol" panose="05050102010706020507" pitchFamily="18" charset="2"/>
              </a:rPr>
              <a:t></a:t>
            </a:r>
            <a:r>
              <a:rPr lang="en-US" altLang="zh-CN" sz="2800" b="1" i="1"/>
              <a:t>S</a:t>
            </a:r>
            <a:r>
              <a:rPr lang="en-US" altLang="zh-CN" sz="2800" b="1"/>
              <a:t> }</a:t>
            </a:r>
            <a:endParaRPr lang="zh-CN" altLang="en-US" b="1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35A5387A-FCE9-4876-BC46-BEE93B49D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400" b="1">
                <a:solidFill>
                  <a:schemeClr val="tx2"/>
                </a:solidFill>
              </a:rPr>
              <a:t>例：</a:t>
            </a:r>
          </a:p>
        </p:txBody>
      </p:sp>
      <p:graphicFrame>
        <p:nvGraphicFramePr>
          <p:cNvPr id="106499" name="Group 3">
            <a:extLst>
              <a:ext uri="{FF2B5EF4-FFF2-40B4-BE49-F238E27FC236}">
                <a16:creationId xmlns:a16="http://schemas.microsoft.com/office/drawing/2014/main" id="{AA461363-42D9-4074-80F8-6D3611DBE4D1}"/>
              </a:ext>
            </a:extLst>
          </p:cNvPr>
          <p:cNvGraphicFramePr>
            <a:graphicFrameLocks noGrp="1"/>
          </p:cNvGraphicFramePr>
          <p:nvPr/>
        </p:nvGraphicFramePr>
        <p:xfrm>
          <a:off x="1676400" y="1828800"/>
          <a:ext cx="2743200" cy="2076452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336522256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01583944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441051197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959998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072916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977822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a2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978697"/>
                  </a:ext>
                </a:extLst>
              </a:tr>
            </a:tbl>
          </a:graphicData>
        </a:graphic>
      </p:graphicFrame>
      <p:graphicFrame>
        <p:nvGraphicFramePr>
          <p:cNvPr id="106523" name="Group 27">
            <a:extLst>
              <a:ext uri="{FF2B5EF4-FFF2-40B4-BE49-F238E27FC236}">
                <a16:creationId xmlns:a16="http://schemas.microsoft.com/office/drawing/2014/main" id="{3C7CCF15-8B08-491A-ADF7-7E1BE562EFBD}"/>
              </a:ext>
            </a:extLst>
          </p:cNvPr>
          <p:cNvGraphicFramePr>
            <a:graphicFrameLocks noGrp="1"/>
          </p:cNvGraphicFramePr>
          <p:nvPr/>
        </p:nvGraphicFramePr>
        <p:xfrm>
          <a:off x="5867400" y="3429000"/>
          <a:ext cx="2743200" cy="103822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32408373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78831031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41801142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524304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684920"/>
                  </a:ext>
                </a:extLst>
              </a:tr>
            </a:tbl>
          </a:graphicData>
        </a:graphic>
      </p:graphicFrame>
      <p:graphicFrame>
        <p:nvGraphicFramePr>
          <p:cNvPr id="106539" name="Group 43">
            <a:extLst>
              <a:ext uri="{FF2B5EF4-FFF2-40B4-BE49-F238E27FC236}">
                <a16:creationId xmlns:a16="http://schemas.microsoft.com/office/drawing/2014/main" id="{2AD74CF8-8CAE-4326-84C1-85145036E365}"/>
              </a:ext>
            </a:extLst>
          </p:cNvPr>
          <p:cNvGraphicFramePr>
            <a:graphicFrameLocks noGrp="1"/>
          </p:cNvGraphicFramePr>
          <p:nvPr/>
        </p:nvGraphicFramePr>
        <p:xfrm>
          <a:off x="1752600" y="4419600"/>
          <a:ext cx="2667000" cy="2076452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3391117367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028005634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939578222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288262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565479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399055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a2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388067"/>
                  </a:ext>
                </a:extLst>
              </a:tr>
            </a:tbl>
          </a:graphicData>
        </a:graphic>
      </p:graphicFrame>
      <p:sp>
        <p:nvSpPr>
          <p:cNvPr id="63555" name="Rectangle 67">
            <a:extLst>
              <a:ext uri="{FF2B5EF4-FFF2-40B4-BE49-F238E27FC236}">
                <a16:creationId xmlns:a16="http://schemas.microsoft.com/office/drawing/2014/main" id="{BCB06693-FA4B-409C-9D25-2B3BBEB6F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286000"/>
            <a:ext cx="304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63556" name="Rectangle 68">
            <a:extLst>
              <a:ext uri="{FF2B5EF4-FFF2-40B4-BE49-F238E27FC236}">
                <a16:creationId xmlns:a16="http://schemas.microsoft.com/office/drawing/2014/main" id="{86C7CCDA-2117-4AAF-A8DB-3125D843C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800600"/>
            <a:ext cx="304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63557" name="Rectangle 69">
            <a:extLst>
              <a:ext uri="{FF2B5EF4-FFF2-40B4-BE49-F238E27FC236}">
                <a16:creationId xmlns:a16="http://schemas.microsoft.com/office/drawing/2014/main" id="{555C4569-C43F-425B-A6C9-7A8EA41DA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505200"/>
            <a:ext cx="838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</a:rPr>
              <a:t>-</a:t>
            </a:r>
            <a:r>
              <a:rPr lang="en-US" altLang="zh-CN" b="1" i="1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9A9114E6-1FDA-420E-9E8D-84318BBD04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3、交（</a:t>
            </a:r>
            <a:r>
              <a:rPr lang="en-US" altLang="zh-CN" b="1"/>
              <a:t>Intersection）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6E7F0295-779E-410A-8310-B15CC8F524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3600" b="1" i="1"/>
              <a:t>R</a:t>
            </a:r>
            <a:r>
              <a:rPr lang="zh-CN" altLang="en-US" sz="3600" b="1"/>
              <a:t>和</a:t>
            </a:r>
            <a:r>
              <a:rPr lang="en-US" altLang="zh-CN" sz="3600" b="1" i="1"/>
              <a:t>S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3200" b="1"/>
              <a:t>具有相同的目</a:t>
            </a:r>
            <a:r>
              <a:rPr lang="en-US" altLang="zh-CN" sz="3200" b="1" i="1"/>
              <a:t>n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3200" b="1"/>
              <a:t>相应的属性取自同一个域</a:t>
            </a:r>
            <a:endParaRPr lang="zh-CN" altLang="en-US" b="1"/>
          </a:p>
          <a:p>
            <a:pPr algn="just" eaLnBrk="1" hangingPunct="1">
              <a:lnSpc>
                <a:spcPct val="90000"/>
              </a:lnSpc>
            </a:pPr>
            <a:r>
              <a:rPr lang="en-US" altLang="zh-CN" sz="3600" b="1" i="1"/>
              <a:t>R</a:t>
            </a:r>
            <a:r>
              <a:rPr lang="en-US" altLang="zh-CN" sz="3600" b="1"/>
              <a:t>∩</a:t>
            </a:r>
            <a:r>
              <a:rPr lang="en-US" altLang="zh-CN" sz="3600" b="1" i="1"/>
              <a:t>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b="1"/>
              <a:t>仍为</a:t>
            </a:r>
            <a:r>
              <a:rPr lang="en-US" altLang="zh-CN" b="1" i="1"/>
              <a:t>n</a:t>
            </a:r>
            <a:r>
              <a:rPr lang="zh-CN" altLang="en-US" b="1"/>
              <a:t>目关系，由既属于</a:t>
            </a:r>
            <a:r>
              <a:rPr lang="en-US" altLang="zh-CN" b="1" i="1"/>
              <a:t>R</a:t>
            </a:r>
            <a:r>
              <a:rPr lang="zh-CN" altLang="en-US" b="1"/>
              <a:t>又属于</a:t>
            </a:r>
            <a:r>
              <a:rPr lang="en-US" altLang="zh-CN" b="1" i="1"/>
              <a:t>S</a:t>
            </a:r>
            <a:r>
              <a:rPr lang="zh-CN" altLang="en-US" b="1"/>
              <a:t>的元组组成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i="1"/>
              <a:t>	    </a:t>
            </a:r>
            <a:r>
              <a:rPr lang="en-US" altLang="zh-CN" b="1" i="1"/>
              <a:t>R</a:t>
            </a:r>
            <a:r>
              <a:rPr lang="en-US" altLang="zh-CN" b="1"/>
              <a:t>∩</a:t>
            </a:r>
            <a:r>
              <a:rPr lang="en-US" altLang="zh-CN" b="1" i="1"/>
              <a:t>S</a:t>
            </a:r>
            <a:r>
              <a:rPr lang="en-US" altLang="zh-CN" b="1"/>
              <a:t> = { </a:t>
            </a:r>
            <a:r>
              <a:rPr lang="en-US" altLang="zh-CN" b="1" i="1"/>
              <a:t>t</a:t>
            </a:r>
            <a:r>
              <a:rPr lang="en-US" altLang="zh-CN" b="1"/>
              <a:t>|</a:t>
            </a:r>
            <a:r>
              <a:rPr lang="en-US" altLang="zh-CN" b="1" i="1"/>
              <a:t>t </a:t>
            </a:r>
            <a:r>
              <a:rPr lang="en-US" altLang="zh-CN" b="1">
                <a:sym typeface="Symbol" panose="05050102010706020507" pitchFamily="18" charset="2"/>
              </a:rPr>
              <a:t></a:t>
            </a:r>
            <a:r>
              <a:rPr lang="en-US" altLang="zh-CN" b="1"/>
              <a:t> </a:t>
            </a:r>
            <a:r>
              <a:rPr lang="en-US" altLang="zh-CN" b="1" i="1"/>
              <a:t>R</a:t>
            </a:r>
            <a:r>
              <a:rPr lang="en-US" altLang="zh-CN" b="1"/>
              <a:t>∧</a:t>
            </a:r>
            <a:r>
              <a:rPr lang="en-US" altLang="zh-CN" b="1" i="1"/>
              <a:t>t </a:t>
            </a:r>
            <a:r>
              <a:rPr lang="en-US" altLang="zh-CN" b="1">
                <a:sym typeface="Symbol" panose="05050102010706020507" pitchFamily="18" charset="2"/>
              </a:rPr>
              <a:t></a:t>
            </a:r>
            <a:r>
              <a:rPr lang="en-US" altLang="zh-CN" b="1" i="1"/>
              <a:t>S </a:t>
            </a:r>
            <a:r>
              <a:rPr lang="en-US" altLang="zh-CN" b="1"/>
              <a:t>}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i="1"/>
              <a:t>   	  R</a:t>
            </a:r>
            <a:r>
              <a:rPr lang="en-US" altLang="zh-CN" b="1"/>
              <a:t>∩</a:t>
            </a:r>
            <a:r>
              <a:rPr lang="en-US" altLang="zh-CN" b="1" i="1"/>
              <a:t>S</a:t>
            </a:r>
            <a:r>
              <a:rPr lang="en-US" altLang="zh-CN" b="1"/>
              <a:t> = </a:t>
            </a:r>
            <a:r>
              <a:rPr lang="en-US" altLang="zh-CN" b="1" i="1"/>
              <a:t>R</a:t>
            </a:r>
            <a:r>
              <a:rPr lang="en-US" altLang="zh-CN" b="1"/>
              <a:t> </a:t>
            </a:r>
            <a:r>
              <a:rPr lang="en-US" altLang="zh-CN" b="1">
                <a:latin typeface="Times New Roman" panose="02020603050405020304" pitchFamily="18" charset="0"/>
              </a:rPr>
              <a:t>–</a:t>
            </a:r>
            <a:r>
              <a:rPr lang="en-US" altLang="zh-CN" b="1"/>
              <a:t>(</a:t>
            </a:r>
            <a:r>
              <a:rPr lang="en-US" altLang="zh-CN" b="1" i="1"/>
              <a:t>R</a:t>
            </a:r>
            <a:r>
              <a:rPr lang="en-US" altLang="zh-CN" b="1"/>
              <a:t>-</a:t>
            </a:r>
            <a:r>
              <a:rPr lang="en-US" altLang="zh-CN" b="1" i="1"/>
              <a:t>S</a:t>
            </a:r>
            <a:r>
              <a:rPr lang="en-US" altLang="zh-CN" b="1"/>
              <a:t>）</a:t>
            </a:r>
            <a:endParaRPr lang="zh-CN" altLang="en-US" b="1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52E1AB92-A158-4203-9687-8239BD4ED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400" b="1">
                <a:solidFill>
                  <a:schemeClr val="tx2"/>
                </a:solidFill>
              </a:rPr>
              <a:t>例：</a:t>
            </a:r>
          </a:p>
        </p:txBody>
      </p:sp>
      <p:graphicFrame>
        <p:nvGraphicFramePr>
          <p:cNvPr id="108547" name="Group 3">
            <a:extLst>
              <a:ext uri="{FF2B5EF4-FFF2-40B4-BE49-F238E27FC236}">
                <a16:creationId xmlns:a16="http://schemas.microsoft.com/office/drawing/2014/main" id="{9A8A2899-7BC0-4952-AB7E-1FC13BE9C0DA}"/>
              </a:ext>
            </a:extLst>
          </p:cNvPr>
          <p:cNvGraphicFramePr>
            <a:graphicFrameLocks noGrp="1"/>
          </p:cNvGraphicFramePr>
          <p:nvPr/>
        </p:nvGraphicFramePr>
        <p:xfrm>
          <a:off x="1676400" y="1828800"/>
          <a:ext cx="2743200" cy="2076452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7709877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2856617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46219651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877389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219186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513499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a2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452948"/>
                  </a:ext>
                </a:extLst>
              </a:tr>
            </a:tbl>
          </a:graphicData>
        </a:graphic>
      </p:graphicFrame>
      <p:graphicFrame>
        <p:nvGraphicFramePr>
          <p:cNvPr id="108571" name="Group 27">
            <a:extLst>
              <a:ext uri="{FF2B5EF4-FFF2-40B4-BE49-F238E27FC236}">
                <a16:creationId xmlns:a16="http://schemas.microsoft.com/office/drawing/2014/main" id="{B3C19DF9-74F4-420C-A5FE-3B4AC4BCA34B}"/>
              </a:ext>
            </a:extLst>
          </p:cNvPr>
          <p:cNvGraphicFramePr>
            <a:graphicFrameLocks noGrp="1"/>
          </p:cNvGraphicFramePr>
          <p:nvPr/>
        </p:nvGraphicFramePr>
        <p:xfrm>
          <a:off x="5867400" y="2819400"/>
          <a:ext cx="2743200" cy="155442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383123333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84741506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518555332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051087"/>
                  </a:ext>
                </a:extLst>
              </a:tr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062261"/>
                  </a:ext>
                </a:extLst>
              </a:tr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a2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132619"/>
                  </a:ext>
                </a:extLst>
              </a:tr>
            </a:tbl>
          </a:graphicData>
        </a:graphic>
      </p:graphicFrame>
      <p:graphicFrame>
        <p:nvGraphicFramePr>
          <p:cNvPr id="108591" name="Group 47">
            <a:extLst>
              <a:ext uri="{FF2B5EF4-FFF2-40B4-BE49-F238E27FC236}">
                <a16:creationId xmlns:a16="http://schemas.microsoft.com/office/drawing/2014/main" id="{905EAB46-C71A-458C-B7E5-019F26346C71}"/>
              </a:ext>
            </a:extLst>
          </p:cNvPr>
          <p:cNvGraphicFramePr>
            <a:graphicFrameLocks noGrp="1"/>
          </p:cNvGraphicFramePr>
          <p:nvPr/>
        </p:nvGraphicFramePr>
        <p:xfrm>
          <a:off x="1752600" y="4419600"/>
          <a:ext cx="2667000" cy="2076452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357699837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295989767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809076450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409980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609222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92601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a2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752345"/>
                  </a:ext>
                </a:extLst>
              </a:tr>
            </a:tbl>
          </a:graphicData>
        </a:graphic>
      </p:graphicFrame>
      <p:sp>
        <p:nvSpPr>
          <p:cNvPr id="65607" name="Rectangle 71">
            <a:extLst>
              <a:ext uri="{FF2B5EF4-FFF2-40B4-BE49-F238E27FC236}">
                <a16:creationId xmlns:a16="http://schemas.microsoft.com/office/drawing/2014/main" id="{BE38C8B9-B8E7-4DFD-9461-C966D2A31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286000"/>
            <a:ext cx="304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65608" name="Rectangle 72">
            <a:extLst>
              <a:ext uri="{FF2B5EF4-FFF2-40B4-BE49-F238E27FC236}">
                <a16:creationId xmlns:a16="http://schemas.microsoft.com/office/drawing/2014/main" id="{8F8CAFCF-4376-4063-80CE-99319E5C0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800600"/>
            <a:ext cx="304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65609" name="Rectangle 73">
            <a:extLst>
              <a:ext uri="{FF2B5EF4-FFF2-40B4-BE49-F238E27FC236}">
                <a16:creationId xmlns:a16="http://schemas.microsoft.com/office/drawing/2014/main" id="{920C171D-72B0-4E1E-9E81-DBA592108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505200"/>
            <a:ext cx="838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latin typeface="Times New Roman" panose="02020603050405020304" pitchFamily="18" charset="0"/>
              </a:rPr>
              <a:t>R </a:t>
            </a:r>
            <a:r>
              <a:rPr lang="en-US" altLang="zh-CN" sz="3200" b="1">
                <a:latin typeface="Times New Roman" panose="02020603050405020304" pitchFamily="18" charset="0"/>
              </a:rPr>
              <a:t>∩</a:t>
            </a:r>
            <a:r>
              <a:rPr lang="en-US" altLang="zh-CN" b="1" i="1">
                <a:latin typeface="Times New Roman" panose="02020603050405020304" pitchFamily="18" charset="0"/>
              </a:rPr>
              <a:t> S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04875589-D25A-4FE2-BBAA-0730FABF47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4、广义笛卡尔积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6366EA8D-2F27-4A7D-900D-5080696BAC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905000"/>
            <a:ext cx="7772400" cy="41148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altLang="zh-CN" b="1"/>
              <a:t>R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zh-CN" b="1" i="1"/>
              <a:t>n</a:t>
            </a:r>
            <a:r>
              <a:rPr lang="zh-CN" altLang="en-US" b="1"/>
              <a:t>目关系，</a:t>
            </a:r>
            <a:r>
              <a:rPr lang="en-US" altLang="zh-CN" b="1" i="1"/>
              <a:t>k</a:t>
            </a:r>
            <a:r>
              <a:rPr lang="en-US" altLang="zh-CN" b="1" baseline="-30000"/>
              <a:t>1</a:t>
            </a:r>
            <a:r>
              <a:rPr lang="zh-CN" altLang="en-US" b="1"/>
              <a:t>个元组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zh-CN" b="1"/>
              <a:t>S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zh-CN" b="1" i="1"/>
              <a:t>m</a:t>
            </a:r>
            <a:r>
              <a:rPr lang="zh-CN" altLang="en-US" b="1"/>
              <a:t>目关系，</a:t>
            </a:r>
            <a:r>
              <a:rPr lang="en-US" altLang="zh-CN" b="1" i="1"/>
              <a:t>k</a:t>
            </a:r>
            <a:r>
              <a:rPr lang="en-US" altLang="zh-CN" b="1" baseline="-30000"/>
              <a:t>2</a:t>
            </a:r>
            <a:r>
              <a:rPr lang="zh-CN" altLang="en-US" b="1"/>
              <a:t>个元组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zh-CN" b="1" i="1"/>
              <a:t>R</a:t>
            </a:r>
            <a:r>
              <a:rPr lang="en-US" altLang="zh-CN" b="1"/>
              <a:t>×</a:t>
            </a:r>
            <a:r>
              <a:rPr lang="en-US" altLang="zh-CN" b="1" i="1"/>
              <a:t>S</a:t>
            </a:r>
            <a:r>
              <a:rPr lang="en-US" altLang="zh-CN" b="1"/>
              <a:t>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b="1"/>
              <a:t>列：（</a:t>
            </a:r>
            <a:r>
              <a:rPr lang="en-US" altLang="zh-CN" b="1" i="1"/>
              <a:t>n</a:t>
            </a:r>
            <a:r>
              <a:rPr lang="en-US" altLang="zh-CN" b="1"/>
              <a:t>+</a:t>
            </a:r>
            <a:r>
              <a:rPr lang="en-US" altLang="zh-CN" b="1" i="1"/>
              <a:t>m</a:t>
            </a:r>
            <a:r>
              <a:rPr lang="en-US" altLang="zh-CN" b="1"/>
              <a:t>）</a:t>
            </a:r>
            <a:r>
              <a:rPr lang="zh-CN" altLang="en-US" b="1"/>
              <a:t>列的元组的集合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sz="2800" b="1"/>
              <a:t>元组的前</a:t>
            </a:r>
            <a:r>
              <a:rPr lang="en-US" altLang="zh-CN" sz="2800" b="1" i="1"/>
              <a:t>n</a:t>
            </a:r>
            <a:r>
              <a:rPr lang="zh-CN" altLang="en-US" sz="2800" b="1"/>
              <a:t>列是关系</a:t>
            </a:r>
            <a:r>
              <a:rPr lang="en-US" altLang="zh-CN" sz="2800" b="1" i="1"/>
              <a:t>R</a:t>
            </a:r>
            <a:r>
              <a:rPr lang="zh-CN" altLang="en-US" sz="2800" b="1"/>
              <a:t>的一个元组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sz="2800" b="1"/>
              <a:t>后</a:t>
            </a:r>
            <a:r>
              <a:rPr lang="en-US" altLang="zh-CN" sz="2800" b="1" i="1"/>
              <a:t>m</a:t>
            </a:r>
            <a:r>
              <a:rPr lang="zh-CN" altLang="en-US" sz="2800" b="1"/>
              <a:t>列是关系</a:t>
            </a:r>
            <a:r>
              <a:rPr lang="en-US" altLang="zh-CN" sz="2800" b="1" i="1"/>
              <a:t>S</a:t>
            </a:r>
            <a:r>
              <a:rPr lang="zh-CN" altLang="en-US" sz="2800" b="1"/>
              <a:t>的一个元组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b="1"/>
              <a:t>行：</a:t>
            </a:r>
            <a:r>
              <a:rPr lang="en-US" altLang="zh-CN" b="1" i="1"/>
              <a:t>k</a:t>
            </a:r>
            <a:r>
              <a:rPr lang="en-US" altLang="zh-CN" b="1" baseline="-30000"/>
              <a:t>1</a:t>
            </a:r>
            <a:r>
              <a:rPr lang="en-US" altLang="zh-CN" b="1"/>
              <a:t>×</a:t>
            </a:r>
            <a:r>
              <a:rPr lang="en-US" altLang="zh-CN" b="1" i="1"/>
              <a:t>k</a:t>
            </a:r>
            <a:r>
              <a:rPr lang="en-US" altLang="zh-CN" b="1" baseline="-30000"/>
              <a:t>2</a:t>
            </a:r>
            <a:r>
              <a:rPr lang="zh-CN" altLang="en-US" b="1"/>
              <a:t>个元组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zh-CN" sz="2800" b="1" i="1"/>
              <a:t>R</a:t>
            </a:r>
            <a:r>
              <a:rPr lang="en-US" altLang="zh-CN" sz="2800" b="1"/>
              <a:t>×</a:t>
            </a:r>
            <a:r>
              <a:rPr lang="en-US" altLang="zh-CN" sz="2800" b="1" i="1"/>
              <a:t>S</a:t>
            </a:r>
            <a:r>
              <a:rPr lang="en-US" altLang="zh-CN" sz="2800" b="1"/>
              <a:t> = {</a:t>
            </a:r>
            <a:r>
              <a:rPr lang="en-US" altLang="zh-CN" sz="2800" b="1" i="1"/>
              <a:t>t</a:t>
            </a:r>
            <a:r>
              <a:rPr lang="en-US" altLang="zh-CN" sz="2800" b="1" baseline="-30000"/>
              <a:t>r</a:t>
            </a:r>
            <a:r>
              <a:rPr lang="en-US" altLang="zh-CN" sz="2800" b="1"/>
              <a:t> </a:t>
            </a:r>
            <a:r>
              <a:rPr lang="en-US" altLang="zh-CN" sz="2800" b="1" i="1"/>
              <a:t>t</a:t>
            </a:r>
            <a:r>
              <a:rPr lang="en-US" altLang="zh-CN" sz="2800" b="1" baseline="-30000"/>
              <a:t>s</a:t>
            </a:r>
            <a:r>
              <a:rPr lang="en-US" altLang="zh-CN" sz="2800" b="1"/>
              <a:t> |</a:t>
            </a:r>
            <a:r>
              <a:rPr lang="en-US" altLang="zh-CN" sz="2800" b="1" i="1"/>
              <a:t>t</a:t>
            </a:r>
            <a:r>
              <a:rPr lang="en-US" altLang="zh-CN" sz="2800" b="1" baseline="-30000"/>
              <a:t>r</a:t>
            </a:r>
            <a:r>
              <a:rPr lang="en-US" altLang="zh-CN" sz="2800" b="1"/>
              <a:t> </a:t>
            </a:r>
            <a:r>
              <a:rPr lang="en-US" altLang="zh-CN" sz="2800" b="1">
                <a:sym typeface="Symbol" panose="05050102010706020507" pitchFamily="18" charset="2"/>
              </a:rPr>
              <a:t></a:t>
            </a:r>
            <a:r>
              <a:rPr lang="en-US" altLang="zh-CN" sz="2800" b="1" i="1"/>
              <a:t>R</a:t>
            </a:r>
            <a:r>
              <a:rPr lang="en-US" altLang="zh-CN" sz="2800" b="1"/>
              <a:t> ∧ </a:t>
            </a:r>
            <a:r>
              <a:rPr lang="en-US" altLang="zh-CN" sz="2800" b="1" i="1"/>
              <a:t>t</a:t>
            </a:r>
            <a:r>
              <a:rPr lang="en-US" altLang="zh-CN" sz="2800" b="1" baseline="-30000"/>
              <a:t>s</a:t>
            </a:r>
            <a:r>
              <a:rPr lang="en-US" altLang="zh-CN" sz="2800" b="1">
                <a:sym typeface="Symbol" panose="05050102010706020507" pitchFamily="18" charset="2"/>
              </a:rPr>
              <a:t></a:t>
            </a:r>
            <a:r>
              <a:rPr lang="en-US" altLang="zh-CN" sz="2800" b="1" i="1"/>
              <a:t>S</a:t>
            </a:r>
            <a:r>
              <a:rPr lang="en-US" altLang="zh-CN" sz="2800" b="1"/>
              <a:t> }</a:t>
            </a:r>
            <a:endParaRPr lang="zh-CN" altLang="en-US" sz="2800" b="1"/>
          </a:p>
        </p:txBody>
      </p:sp>
      <p:sp>
        <p:nvSpPr>
          <p:cNvPr id="66564" name="Freeform 4">
            <a:extLst>
              <a:ext uri="{FF2B5EF4-FFF2-40B4-BE49-F238E27FC236}">
                <a16:creationId xmlns:a16="http://schemas.microsoft.com/office/drawing/2014/main" id="{E7F75940-85DA-4218-B782-8CF29ED45DFE}"/>
              </a:ext>
            </a:extLst>
          </p:cNvPr>
          <p:cNvSpPr>
            <a:spLocks/>
          </p:cNvSpPr>
          <p:nvPr/>
        </p:nvSpPr>
        <p:spPr bwMode="auto">
          <a:xfrm rot="-960000">
            <a:off x="3879850" y="6099175"/>
            <a:ext cx="311150" cy="130175"/>
          </a:xfrm>
          <a:custGeom>
            <a:avLst/>
            <a:gdLst>
              <a:gd name="T0" fmla="*/ 0 w 196"/>
              <a:gd name="T1" fmla="*/ 2147483647 h 82"/>
              <a:gd name="T2" fmla="*/ 2147483647 w 196"/>
              <a:gd name="T3" fmla="*/ 2147483647 h 82"/>
              <a:gd name="T4" fmla="*/ 2147483647 w 196"/>
              <a:gd name="T5" fmla="*/ 2147483647 h 82"/>
              <a:gd name="T6" fmla="*/ 2147483647 w 196"/>
              <a:gd name="T7" fmla="*/ 2147483647 h 82"/>
              <a:gd name="T8" fmla="*/ 0 60000 65536"/>
              <a:gd name="T9" fmla="*/ 0 60000 65536"/>
              <a:gd name="T10" fmla="*/ 0 60000 65536"/>
              <a:gd name="T11" fmla="*/ 0 60000 65536"/>
              <a:gd name="T12" fmla="*/ 0 w 196"/>
              <a:gd name="T13" fmla="*/ 0 h 82"/>
              <a:gd name="T14" fmla="*/ 196 w 196"/>
              <a:gd name="T15" fmla="*/ 82 h 8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6" h="82">
                <a:moveTo>
                  <a:pt x="0" y="43"/>
                </a:moveTo>
                <a:cubicBezTo>
                  <a:pt x="64" y="0"/>
                  <a:pt x="75" y="4"/>
                  <a:pt x="156" y="17"/>
                </a:cubicBezTo>
                <a:cubicBezTo>
                  <a:pt x="165" y="26"/>
                  <a:pt x="176" y="32"/>
                  <a:pt x="183" y="43"/>
                </a:cubicBezTo>
                <a:cubicBezTo>
                  <a:pt x="190" y="55"/>
                  <a:pt x="196" y="82"/>
                  <a:pt x="196" y="8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9DCB8364-ACF6-4B68-B3FF-074F1A865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6096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400" b="1">
                <a:solidFill>
                  <a:schemeClr val="tx2"/>
                </a:solidFill>
              </a:rPr>
              <a:t>例：</a:t>
            </a:r>
          </a:p>
        </p:txBody>
      </p:sp>
      <p:graphicFrame>
        <p:nvGraphicFramePr>
          <p:cNvPr id="110595" name="Group 3">
            <a:extLst>
              <a:ext uri="{FF2B5EF4-FFF2-40B4-BE49-F238E27FC236}">
                <a16:creationId xmlns:a16="http://schemas.microsoft.com/office/drawing/2014/main" id="{CCF5631A-31B1-4738-B4C0-274030550806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2168525"/>
          <a:ext cx="1905000" cy="2076452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3128645226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53504011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428744614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066085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223914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829720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a2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456332"/>
                  </a:ext>
                </a:extLst>
              </a:tr>
            </a:tbl>
          </a:graphicData>
        </a:graphic>
      </p:graphicFrame>
      <p:graphicFrame>
        <p:nvGraphicFramePr>
          <p:cNvPr id="110619" name="Group 27">
            <a:extLst>
              <a:ext uri="{FF2B5EF4-FFF2-40B4-BE49-F238E27FC236}">
                <a16:creationId xmlns:a16="http://schemas.microsoft.com/office/drawing/2014/main" id="{DDECE9FE-ADB1-485D-900A-0AFC6EA6C980}"/>
              </a:ext>
            </a:extLst>
          </p:cNvPr>
          <p:cNvGraphicFramePr>
            <a:graphicFrameLocks noGrp="1"/>
          </p:cNvGraphicFramePr>
          <p:nvPr/>
        </p:nvGraphicFramePr>
        <p:xfrm>
          <a:off x="4648200" y="1939925"/>
          <a:ext cx="1905000" cy="4766301"/>
        </p:xfrm>
        <a:graphic>
          <a:graphicData uri="http://schemas.openxmlformats.org/drawingml/2006/table">
            <a:tbl>
              <a:tblPr/>
              <a:tblGrid>
                <a:gridCol w="644525">
                  <a:extLst>
                    <a:ext uri="{9D8B030D-6E8A-4147-A177-3AD203B41FA5}">
                      <a16:colId xmlns:a16="http://schemas.microsoft.com/office/drawing/2014/main" val="2280022744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109805677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42898867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622328"/>
                  </a:ext>
                </a:extLst>
              </a:tr>
              <a:tr h="471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44914"/>
                  </a:ext>
                </a:extLst>
              </a:tr>
              <a:tr h="4730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170568"/>
                  </a:ext>
                </a:extLst>
              </a:tr>
              <a:tr h="4730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815751"/>
                  </a:ext>
                </a:extLst>
              </a:tr>
              <a:tr h="4730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263860"/>
                  </a:ext>
                </a:extLst>
              </a:tr>
              <a:tr h="471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763390"/>
                  </a:ext>
                </a:extLst>
              </a:tr>
              <a:tr h="471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992181"/>
                  </a:ext>
                </a:extLst>
              </a:tr>
              <a:tr h="471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a2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329365"/>
                  </a:ext>
                </a:extLst>
              </a:tr>
              <a:tr h="471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a2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6370578"/>
                  </a:ext>
                </a:extLst>
              </a:tr>
              <a:tr h="471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a2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053314"/>
                  </a:ext>
                </a:extLst>
              </a:tr>
            </a:tbl>
          </a:graphicData>
        </a:graphic>
      </p:graphicFrame>
      <p:graphicFrame>
        <p:nvGraphicFramePr>
          <p:cNvPr id="110667" name="Group 75">
            <a:extLst>
              <a:ext uri="{FF2B5EF4-FFF2-40B4-BE49-F238E27FC236}">
                <a16:creationId xmlns:a16="http://schemas.microsoft.com/office/drawing/2014/main" id="{F563CB0D-9FB8-48DE-82F0-825CDA4E3FF6}"/>
              </a:ext>
            </a:extLst>
          </p:cNvPr>
          <p:cNvGraphicFramePr>
            <a:graphicFrameLocks noGrp="1"/>
          </p:cNvGraphicFramePr>
          <p:nvPr/>
        </p:nvGraphicFramePr>
        <p:xfrm>
          <a:off x="1600200" y="4606925"/>
          <a:ext cx="1828800" cy="2076452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97112149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049360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24184327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922853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2676137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546590"/>
                  </a:ext>
                </a:extLst>
              </a:tr>
              <a:tr h="519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a2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100708"/>
                  </a:ext>
                </a:extLst>
              </a:tr>
            </a:tbl>
          </a:graphicData>
        </a:graphic>
      </p:graphicFrame>
      <p:sp>
        <p:nvSpPr>
          <p:cNvPr id="67683" name="Rectangle 99">
            <a:extLst>
              <a:ext uri="{FF2B5EF4-FFF2-40B4-BE49-F238E27FC236}">
                <a16:creationId xmlns:a16="http://schemas.microsoft.com/office/drawing/2014/main" id="{E4B4AAA5-56B3-40E7-B851-47D1A6488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49525"/>
            <a:ext cx="304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67684" name="Rectangle 100">
            <a:extLst>
              <a:ext uri="{FF2B5EF4-FFF2-40B4-BE49-F238E27FC236}">
                <a16:creationId xmlns:a16="http://schemas.microsoft.com/office/drawing/2014/main" id="{ABE6F745-D760-48B4-B785-51123E43F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064125"/>
            <a:ext cx="304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67685" name="Rectangle 101">
            <a:extLst>
              <a:ext uri="{FF2B5EF4-FFF2-40B4-BE49-F238E27FC236}">
                <a16:creationId xmlns:a16="http://schemas.microsoft.com/office/drawing/2014/main" id="{EFC09C1C-068C-4027-A226-40EDF1758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768725"/>
            <a:ext cx="838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i="1">
                <a:latin typeface="Times New Roman" panose="02020603050405020304" pitchFamily="18" charset="0"/>
              </a:rPr>
              <a:t>R </a:t>
            </a:r>
            <a:r>
              <a:rPr lang="en-US" altLang="zh-CN" sz="2000" b="1">
                <a:latin typeface="Times New Roman" panose="02020603050405020304" pitchFamily="18" charset="0"/>
              </a:rPr>
              <a:t>×</a:t>
            </a:r>
            <a:r>
              <a:rPr lang="en-US" altLang="zh-CN" sz="2000" b="1" i="1">
                <a:latin typeface="Times New Roman" panose="02020603050405020304" pitchFamily="18" charset="0"/>
              </a:rPr>
              <a:t> S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10694" name="Group 102">
            <a:extLst>
              <a:ext uri="{FF2B5EF4-FFF2-40B4-BE49-F238E27FC236}">
                <a16:creationId xmlns:a16="http://schemas.microsoft.com/office/drawing/2014/main" id="{D6FD2FB2-C479-4DD8-ACEA-A9DEF90BDE36}"/>
              </a:ext>
            </a:extLst>
          </p:cNvPr>
          <p:cNvGraphicFramePr>
            <a:graphicFrameLocks noGrp="1"/>
          </p:cNvGraphicFramePr>
          <p:nvPr/>
        </p:nvGraphicFramePr>
        <p:xfrm>
          <a:off x="6553200" y="1939925"/>
          <a:ext cx="1905000" cy="4763127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68482146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770357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12735457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2217399"/>
                  </a:ext>
                </a:extLst>
              </a:tr>
              <a:tr h="471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370656"/>
                  </a:ext>
                </a:extLst>
              </a:tr>
              <a:tr h="4730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b3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911530"/>
                  </a:ext>
                </a:extLst>
              </a:tr>
              <a:tr h="471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a2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9090746"/>
                  </a:ext>
                </a:extLst>
              </a:tr>
              <a:tr h="471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656672"/>
                  </a:ext>
                </a:extLst>
              </a:tr>
              <a:tr h="471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b3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634041"/>
                  </a:ext>
                </a:extLst>
              </a:tr>
              <a:tr h="471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a2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651898"/>
                  </a:ext>
                </a:extLst>
              </a:tr>
              <a:tr h="471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650115"/>
                  </a:ext>
                </a:extLst>
              </a:tr>
              <a:tr h="471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a1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b3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443266"/>
                  </a:ext>
                </a:extLst>
              </a:tr>
              <a:tr h="471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a2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3353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C0569EA3-394F-47C2-B05C-DC0FDB7626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2.3.3 </a:t>
            </a:r>
            <a:r>
              <a:rPr lang="zh-CN" altLang="en-US" b="1"/>
              <a:t>专门的关系运算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0FEB530B-373A-441D-9EDB-A898165D0C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600" b="1"/>
              <a:t>表示记号</a:t>
            </a:r>
          </a:p>
          <a:p>
            <a:pPr eaLnBrk="1" hangingPunct="1"/>
            <a:r>
              <a:rPr lang="zh-CN" altLang="en-US" sz="3600" b="1"/>
              <a:t>选择</a:t>
            </a:r>
            <a:r>
              <a:rPr lang="zh-CN" altLang="en-US" b="1"/>
              <a:t>（</a:t>
            </a:r>
            <a:r>
              <a:rPr lang="en-US" altLang="zh-CN" b="1"/>
              <a:t>Selection）</a:t>
            </a:r>
            <a:endParaRPr lang="zh-CN" altLang="en-US" sz="3600" b="1"/>
          </a:p>
          <a:p>
            <a:pPr eaLnBrk="1" hangingPunct="1"/>
            <a:r>
              <a:rPr lang="zh-CN" altLang="en-US" sz="3600" b="1"/>
              <a:t>投影</a:t>
            </a:r>
            <a:r>
              <a:rPr lang="zh-CN" altLang="en-US" b="1"/>
              <a:t>（</a:t>
            </a:r>
            <a:r>
              <a:rPr lang="en-US" altLang="zh-CN" b="1"/>
              <a:t>Projection）</a:t>
            </a:r>
            <a:endParaRPr lang="zh-CN" altLang="en-US" sz="3600" b="1"/>
          </a:p>
          <a:p>
            <a:pPr eaLnBrk="1" hangingPunct="1"/>
            <a:r>
              <a:rPr lang="zh-CN" altLang="en-US" sz="3600" b="1"/>
              <a:t>连接</a:t>
            </a:r>
            <a:r>
              <a:rPr lang="zh-CN" altLang="en-US" b="1"/>
              <a:t>（</a:t>
            </a:r>
            <a:r>
              <a:rPr lang="en-US" altLang="zh-CN" b="1"/>
              <a:t>Join）</a:t>
            </a:r>
            <a:endParaRPr lang="zh-CN" altLang="en-US" sz="3600" b="1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FE3350B6-74E2-4DCB-858D-E18B0C40BC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1、表示记号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571EF4C2-48AC-42FE-A1E5-6AB4C2B8D6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（1） </a:t>
            </a:r>
            <a:r>
              <a:rPr lang="en-US" altLang="zh-CN" sz="2800" b="1"/>
              <a:t>R，t</a:t>
            </a:r>
            <a:r>
              <a:rPr lang="en-US" altLang="zh-CN" sz="2800" b="1">
                <a:sym typeface="Symbol" panose="05050102010706020507" pitchFamily="18" charset="2"/>
              </a:rPr>
              <a:t></a:t>
            </a:r>
            <a:r>
              <a:rPr lang="en-US" altLang="zh-CN" sz="2800" b="1"/>
              <a:t>R，t[A</a:t>
            </a:r>
            <a:r>
              <a:rPr lang="en-US" altLang="zh-CN" sz="2800" b="1" baseline="-25000"/>
              <a:t>i</a:t>
            </a:r>
            <a:r>
              <a:rPr lang="en-US" altLang="zh-CN" sz="2800" b="1"/>
              <a:t>]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</a:t>
            </a:r>
            <a:r>
              <a:rPr lang="zh-CN" altLang="en-US" sz="2800" b="1"/>
              <a:t>设关系模式为</a:t>
            </a:r>
            <a:r>
              <a:rPr lang="en-US" altLang="zh-CN" sz="2800" b="1" i="1"/>
              <a:t>R</a:t>
            </a:r>
            <a:r>
              <a:rPr lang="en-US" altLang="zh-CN" sz="2800" b="1"/>
              <a:t>(</a:t>
            </a:r>
            <a:r>
              <a:rPr lang="en-US" altLang="zh-CN" sz="2800" b="1" i="1"/>
              <a:t>A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，</a:t>
            </a:r>
            <a:r>
              <a:rPr lang="en-US" altLang="zh-CN" sz="2800" b="1" i="1"/>
              <a:t>A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，</a:t>
            </a:r>
            <a:r>
              <a:rPr lang="en-US" altLang="zh-CN" sz="2800" b="1">
                <a:latin typeface="Times New Roman" panose="02020603050405020304" pitchFamily="18" charset="0"/>
              </a:rPr>
              <a:t>…</a:t>
            </a:r>
            <a:r>
              <a:rPr lang="en-US" altLang="zh-CN" sz="2800" b="1"/>
              <a:t>，</a:t>
            </a:r>
            <a:r>
              <a:rPr lang="en-US" altLang="zh-CN" sz="2800" b="1" i="1"/>
              <a:t>A</a:t>
            </a:r>
            <a:r>
              <a:rPr lang="en-US" altLang="zh-CN" sz="2800" b="1" i="1" baseline="-30000"/>
              <a:t>n</a:t>
            </a:r>
            <a:r>
              <a:rPr lang="en-US" altLang="zh-CN" sz="2800" b="1"/>
              <a:t>)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它的一个关系设为</a:t>
            </a:r>
            <a:r>
              <a:rPr lang="en-US" altLang="zh-CN" sz="2800" b="1" i="1">
                <a:solidFill>
                  <a:srgbClr val="FF0000"/>
                </a:solidFill>
              </a:rPr>
              <a:t>R</a:t>
            </a:r>
            <a:r>
              <a:rPr lang="en-US" altLang="zh-CN" sz="2800" b="1"/>
              <a:t>。</a:t>
            </a:r>
            <a:r>
              <a:rPr lang="en-US" altLang="zh-CN" sz="2800" b="1" i="1">
                <a:solidFill>
                  <a:srgbClr val="FF0000"/>
                </a:solidFill>
              </a:rPr>
              <a:t>t</a:t>
            </a:r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b="1" i="1">
                <a:solidFill>
                  <a:srgbClr val="FF0000"/>
                </a:solidFill>
              </a:rPr>
              <a:t>R</a:t>
            </a:r>
            <a:r>
              <a:rPr lang="zh-CN" altLang="en-US" sz="2800" b="1"/>
              <a:t>表示</a:t>
            </a:r>
            <a:r>
              <a:rPr lang="en-US" altLang="zh-CN" sz="2800" b="1" i="1"/>
              <a:t>t</a:t>
            </a:r>
            <a:r>
              <a:rPr lang="zh-CN" altLang="en-US" sz="2800" b="1"/>
              <a:t>是</a:t>
            </a:r>
            <a:r>
              <a:rPr lang="en-US" altLang="zh-CN" sz="2800" b="1" i="1"/>
              <a:t>R</a:t>
            </a:r>
            <a:r>
              <a:rPr lang="zh-CN" altLang="en-US" sz="2800" b="1"/>
              <a:t>的一个元组，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1" i="1">
                <a:solidFill>
                  <a:srgbClr val="FF0000"/>
                </a:solidFill>
              </a:rPr>
              <a:t>t</a:t>
            </a:r>
            <a:r>
              <a:rPr lang="en-US" altLang="zh-CN" sz="2800" b="1">
                <a:solidFill>
                  <a:srgbClr val="FF0000"/>
                </a:solidFill>
              </a:rPr>
              <a:t>[</a:t>
            </a:r>
            <a:r>
              <a:rPr lang="en-US" altLang="zh-CN" sz="2800" b="1" i="1">
                <a:solidFill>
                  <a:srgbClr val="FF0000"/>
                </a:solidFill>
              </a:rPr>
              <a:t>A</a:t>
            </a:r>
            <a:r>
              <a:rPr lang="en-US" altLang="zh-CN" sz="2800" b="1" i="1" baseline="-30000">
                <a:solidFill>
                  <a:srgbClr val="FF0000"/>
                </a:solidFill>
              </a:rPr>
              <a:t>i</a:t>
            </a:r>
            <a:r>
              <a:rPr lang="en-US" altLang="zh-CN" sz="2800" b="1">
                <a:solidFill>
                  <a:srgbClr val="FF0000"/>
                </a:solidFill>
              </a:rPr>
              <a:t>]</a:t>
            </a:r>
            <a:r>
              <a:rPr lang="zh-CN" altLang="en-US" sz="2800" b="1"/>
              <a:t>则表示元组</a:t>
            </a:r>
            <a:r>
              <a:rPr lang="en-US" altLang="zh-CN" sz="2800" b="1" i="1"/>
              <a:t>t</a:t>
            </a:r>
            <a:r>
              <a:rPr lang="zh-CN" altLang="en-US" sz="2800" b="1"/>
              <a:t>中相应于属性</a:t>
            </a:r>
            <a:r>
              <a:rPr lang="en-US" altLang="zh-CN" sz="2800" b="1" i="1"/>
              <a:t>A</a:t>
            </a:r>
            <a:r>
              <a:rPr lang="en-US" altLang="zh-CN" sz="2800" b="1" i="1" baseline="-30000"/>
              <a:t>i</a:t>
            </a:r>
            <a:r>
              <a:rPr lang="zh-CN" altLang="en-US" sz="2800" b="1"/>
              <a:t>的一个分量</a:t>
            </a:r>
            <a:r>
              <a:rPr lang="zh-CN" altLang="en-US" b="1"/>
              <a:t> 。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47329A1F-C31A-4E97-9B72-9D97EB9A67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EB381298-A207-4F7D-A0D6-7CCA6228EE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2017713"/>
            <a:ext cx="8001000" cy="4114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（2） </a:t>
            </a:r>
            <a:r>
              <a:rPr lang="en-US" altLang="zh-CN" sz="2800" b="1"/>
              <a:t>A，t[A]，  A</a:t>
            </a:r>
          </a:p>
          <a:p>
            <a:pPr lvl="1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</a:t>
            </a:r>
            <a:r>
              <a:rPr lang="zh-CN" altLang="en-US" b="1"/>
              <a:t>若</a:t>
            </a:r>
            <a:r>
              <a:rPr lang="en-US" altLang="zh-CN" b="1" i="1">
                <a:solidFill>
                  <a:srgbClr val="FF0000"/>
                </a:solidFill>
              </a:rPr>
              <a:t>A</a:t>
            </a:r>
            <a:r>
              <a:rPr lang="en-US" altLang="zh-CN" b="1"/>
              <a:t>={</a:t>
            </a:r>
            <a:r>
              <a:rPr lang="en-US" altLang="zh-CN" b="1" i="1"/>
              <a:t>A</a:t>
            </a:r>
            <a:r>
              <a:rPr lang="en-US" altLang="zh-CN" b="1" i="1" baseline="-30000"/>
              <a:t>i</a:t>
            </a:r>
            <a:r>
              <a:rPr lang="en-US" altLang="zh-CN" b="1" baseline="-30000"/>
              <a:t>1</a:t>
            </a:r>
            <a:r>
              <a:rPr lang="en-US" altLang="zh-CN" b="1"/>
              <a:t>，</a:t>
            </a:r>
            <a:r>
              <a:rPr lang="en-US" altLang="zh-CN" b="1" i="1"/>
              <a:t>A</a:t>
            </a:r>
            <a:r>
              <a:rPr lang="en-US" altLang="zh-CN" b="1" i="1" baseline="-30000"/>
              <a:t>i</a:t>
            </a:r>
            <a:r>
              <a:rPr lang="en-US" altLang="zh-CN" b="1" baseline="-30000"/>
              <a:t>2</a:t>
            </a:r>
            <a:r>
              <a:rPr lang="en-US" altLang="zh-CN" b="1"/>
              <a:t>，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，</a:t>
            </a:r>
            <a:r>
              <a:rPr lang="en-US" altLang="zh-CN" b="1" i="1"/>
              <a:t>A</a:t>
            </a:r>
            <a:r>
              <a:rPr lang="en-US" altLang="zh-CN" b="1" i="1" baseline="-30000"/>
              <a:t>ik</a:t>
            </a:r>
            <a:r>
              <a:rPr lang="en-US" altLang="zh-CN" b="1"/>
              <a:t>}，</a:t>
            </a:r>
            <a:r>
              <a:rPr lang="zh-CN" altLang="en-US" b="1"/>
              <a:t>其中</a:t>
            </a:r>
            <a:r>
              <a:rPr lang="en-US" altLang="zh-CN" b="1" i="1"/>
              <a:t>A</a:t>
            </a:r>
            <a:r>
              <a:rPr lang="en-US" altLang="zh-CN" b="1" i="1" baseline="-30000"/>
              <a:t>i</a:t>
            </a:r>
            <a:r>
              <a:rPr lang="en-US" altLang="zh-CN" b="1" baseline="-30000"/>
              <a:t>1</a:t>
            </a:r>
            <a:r>
              <a:rPr lang="en-US" altLang="zh-CN" b="1"/>
              <a:t>，</a:t>
            </a:r>
            <a:r>
              <a:rPr lang="en-US" altLang="zh-CN" b="1" i="1"/>
              <a:t>A</a:t>
            </a:r>
            <a:r>
              <a:rPr lang="en-US" altLang="zh-CN" b="1" i="1" baseline="-30000"/>
              <a:t>i</a:t>
            </a:r>
            <a:r>
              <a:rPr lang="en-US" altLang="zh-CN" b="1" baseline="-30000"/>
              <a:t>2</a:t>
            </a:r>
            <a:r>
              <a:rPr lang="en-US" altLang="zh-CN" b="1"/>
              <a:t>，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，</a:t>
            </a:r>
            <a:r>
              <a:rPr lang="en-US" altLang="zh-CN" b="1" i="1"/>
              <a:t>A</a:t>
            </a:r>
            <a:r>
              <a:rPr lang="en-US" altLang="zh-CN" b="1" i="1" baseline="-30000"/>
              <a:t>ik</a:t>
            </a:r>
            <a:r>
              <a:rPr lang="zh-CN" altLang="en-US" b="1"/>
              <a:t>是</a:t>
            </a:r>
            <a:r>
              <a:rPr lang="en-US" altLang="zh-CN" b="1" i="1"/>
              <a:t>A</a:t>
            </a:r>
            <a:r>
              <a:rPr lang="en-US" altLang="zh-CN" b="1" baseline="-30000"/>
              <a:t>1</a:t>
            </a:r>
            <a:r>
              <a:rPr lang="en-US" altLang="zh-CN" b="1"/>
              <a:t>，</a:t>
            </a:r>
            <a:r>
              <a:rPr lang="en-US" altLang="zh-CN" b="1" i="1"/>
              <a:t>A</a:t>
            </a:r>
            <a:r>
              <a:rPr lang="en-US" altLang="zh-CN" b="1" baseline="-30000"/>
              <a:t>2</a:t>
            </a:r>
            <a:r>
              <a:rPr lang="en-US" altLang="zh-CN" b="1"/>
              <a:t>，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，</a:t>
            </a:r>
            <a:r>
              <a:rPr lang="en-US" altLang="zh-CN" b="1" i="1"/>
              <a:t>A</a:t>
            </a:r>
            <a:r>
              <a:rPr lang="en-US" altLang="zh-CN" b="1" i="1" baseline="-30000"/>
              <a:t>n</a:t>
            </a:r>
            <a:r>
              <a:rPr lang="zh-CN" altLang="en-US" b="1"/>
              <a:t>中的一部分，则</a:t>
            </a:r>
            <a:r>
              <a:rPr lang="en-US" altLang="zh-CN" b="1" i="1"/>
              <a:t>A</a:t>
            </a:r>
            <a:r>
              <a:rPr lang="zh-CN" altLang="en-US" b="1"/>
              <a:t>称为属性列或域列。</a:t>
            </a:r>
            <a:r>
              <a:rPr lang="en-US" altLang="zh-CN" b="1" i="1">
                <a:solidFill>
                  <a:srgbClr val="FF0000"/>
                </a:solidFill>
              </a:rPr>
              <a:t>t[A]</a:t>
            </a:r>
            <a:r>
              <a:rPr lang="en-US" altLang="zh-CN" b="1"/>
              <a:t>=(</a:t>
            </a:r>
            <a:r>
              <a:rPr lang="en-US" altLang="zh-CN" b="1" i="1"/>
              <a:t>t</a:t>
            </a:r>
            <a:r>
              <a:rPr lang="en-US" altLang="zh-CN" b="1"/>
              <a:t>[</a:t>
            </a:r>
            <a:r>
              <a:rPr lang="en-US" altLang="zh-CN" b="1" i="1"/>
              <a:t>A</a:t>
            </a:r>
            <a:r>
              <a:rPr lang="en-US" altLang="zh-CN" b="1" i="1" baseline="-30000"/>
              <a:t>i</a:t>
            </a:r>
            <a:r>
              <a:rPr lang="en-US" altLang="zh-CN" b="1" baseline="-30000"/>
              <a:t>1</a:t>
            </a:r>
            <a:r>
              <a:rPr lang="en-US" altLang="zh-CN" b="1"/>
              <a:t>]，</a:t>
            </a:r>
            <a:r>
              <a:rPr lang="en-US" altLang="zh-CN" b="1" i="1"/>
              <a:t>t</a:t>
            </a:r>
            <a:r>
              <a:rPr lang="en-US" altLang="zh-CN" b="1"/>
              <a:t>[</a:t>
            </a:r>
            <a:r>
              <a:rPr lang="en-US" altLang="zh-CN" b="1" i="1"/>
              <a:t>A</a:t>
            </a:r>
            <a:r>
              <a:rPr lang="en-US" altLang="zh-CN" b="1" i="1" baseline="-30000"/>
              <a:t>i</a:t>
            </a:r>
            <a:r>
              <a:rPr lang="en-US" altLang="zh-CN" b="1" baseline="-30000"/>
              <a:t>2</a:t>
            </a:r>
            <a:r>
              <a:rPr lang="en-US" altLang="zh-CN" b="1"/>
              <a:t>]，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，</a:t>
            </a:r>
            <a:r>
              <a:rPr lang="en-US" altLang="zh-CN" b="1" i="1"/>
              <a:t>t</a:t>
            </a:r>
            <a:r>
              <a:rPr lang="en-US" altLang="zh-CN" b="1"/>
              <a:t>[</a:t>
            </a:r>
            <a:r>
              <a:rPr lang="en-US" altLang="zh-CN" b="1" i="1"/>
              <a:t>A</a:t>
            </a:r>
            <a:r>
              <a:rPr lang="en-US" altLang="zh-CN" b="1" i="1" baseline="-30000"/>
              <a:t>ik</a:t>
            </a:r>
            <a:r>
              <a:rPr lang="en-US" altLang="zh-CN" b="1"/>
              <a:t>])</a:t>
            </a:r>
            <a:r>
              <a:rPr lang="zh-CN" altLang="en-US" b="1"/>
              <a:t>表示元组</a:t>
            </a:r>
            <a:r>
              <a:rPr lang="en-US" altLang="zh-CN" b="1" i="1"/>
              <a:t>t</a:t>
            </a:r>
            <a:r>
              <a:rPr lang="zh-CN" altLang="en-US" b="1"/>
              <a:t>在属性列</a:t>
            </a:r>
            <a:r>
              <a:rPr lang="en-US" altLang="zh-CN" b="1" i="1"/>
              <a:t>A</a:t>
            </a:r>
            <a:r>
              <a:rPr lang="zh-CN" altLang="en-US" b="1"/>
              <a:t>上诸分量的集合。</a:t>
            </a:r>
            <a:r>
              <a:rPr lang="en-US" altLang="zh-CN" b="1" i="1">
                <a:solidFill>
                  <a:srgbClr val="E02920"/>
                </a:solidFill>
              </a:rPr>
              <a:t>A </a:t>
            </a:r>
            <a:r>
              <a:rPr lang="zh-CN" altLang="en-US" b="1"/>
              <a:t>则表示{</a:t>
            </a:r>
            <a:r>
              <a:rPr lang="en-US" altLang="zh-CN" b="1" i="1"/>
              <a:t>A</a:t>
            </a:r>
            <a:r>
              <a:rPr lang="en-US" altLang="zh-CN" b="1" baseline="-30000"/>
              <a:t>1</a:t>
            </a:r>
            <a:r>
              <a:rPr lang="en-US" altLang="zh-CN" b="1"/>
              <a:t>，</a:t>
            </a:r>
            <a:r>
              <a:rPr lang="en-US" altLang="zh-CN" b="1" i="1"/>
              <a:t>A</a:t>
            </a:r>
            <a:r>
              <a:rPr lang="en-US" altLang="zh-CN" b="1" baseline="-30000"/>
              <a:t>2</a:t>
            </a:r>
            <a:r>
              <a:rPr lang="en-US" altLang="zh-CN" b="1"/>
              <a:t>，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，</a:t>
            </a:r>
            <a:r>
              <a:rPr lang="en-US" altLang="zh-CN" b="1" i="1"/>
              <a:t>A</a:t>
            </a:r>
            <a:r>
              <a:rPr lang="en-US" altLang="zh-CN" b="1" i="1" baseline="-30000"/>
              <a:t>n</a:t>
            </a:r>
            <a:r>
              <a:rPr lang="en-US" altLang="zh-CN" b="1"/>
              <a:t>}</a:t>
            </a:r>
            <a:r>
              <a:rPr lang="zh-CN" altLang="en-US" b="1"/>
              <a:t>中去掉{</a:t>
            </a:r>
            <a:r>
              <a:rPr lang="en-US" altLang="zh-CN" b="1" i="1"/>
              <a:t>A</a:t>
            </a:r>
            <a:r>
              <a:rPr lang="en-US" altLang="zh-CN" b="1" i="1" baseline="-30000"/>
              <a:t>i</a:t>
            </a:r>
            <a:r>
              <a:rPr lang="en-US" altLang="zh-CN" b="1" baseline="-30000"/>
              <a:t>1</a:t>
            </a:r>
            <a:r>
              <a:rPr lang="en-US" altLang="zh-CN" b="1"/>
              <a:t>，</a:t>
            </a:r>
            <a:r>
              <a:rPr lang="en-US" altLang="zh-CN" b="1" i="1"/>
              <a:t>A</a:t>
            </a:r>
            <a:r>
              <a:rPr lang="en-US" altLang="zh-CN" b="1" i="1" baseline="-30000"/>
              <a:t>i</a:t>
            </a:r>
            <a:r>
              <a:rPr lang="en-US" altLang="zh-CN" b="1" baseline="-30000"/>
              <a:t>2</a:t>
            </a:r>
            <a:r>
              <a:rPr lang="en-US" altLang="zh-CN" b="1"/>
              <a:t>，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，</a:t>
            </a:r>
            <a:r>
              <a:rPr lang="en-US" altLang="zh-CN" b="1" i="1"/>
              <a:t>A</a:t>
            </a:r>
            <a:r>
              <a:rPr lang="en-US" altLang="zh-CN" b="1" i="1" baseline="-30000"/>
              <a:t>ik</a:t>
            </a:r>
            <a:r>
              <a:rPr lang="en-US" altLang="zh-CN" b="1"/>
              <a:t>}</a:t>
            </a:r>
            <a:r>
              <a:rPr lang="zh-CN" altLang="en-US" b="1"/>
              <a:t>后剩余的属性组。 </a:t>
            </a:r>
          </a:p>
        </p:txBody>
      </p:sp>
      <p:sp>
        <p:nvSpPr>
          <p:cNvPr id="70660" name="Line 4">
            <a:extLst>
              <a:ext uri="{FF2B5EF4-FFF2-40B4-BE49-F238E27FC236}">
                <a16:creationId xmlns:a16="http://schemas.microsoft.com/office/drawing/2014/main" id="{AB85B02C-29C9-49FE-96F4-54A9ED8A41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5334000"/>
            <a:ext cx="304800" cy="0"/>
          </a:xfrm>
          <a:prstGeom prst="line">
            <a:avLst/>
          </a:prstGeom>
          <a:noFill/>
          <a:ln w="9525">
            <a:solidFill>
              <a:srgbClr val="E0292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D5806705-813A-48F1-AD18-1B0772A63D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 eaLnBrk="1" hangingPunct="1"/>
            <a:r>
              <a:rPr lang="zh-CN" altLang="en-US" b="1">
                <a:solidFill>
                  <a:srgbClr val="CC0099"/>
                </a:solidFill>
              </a:rPr>
              <a:t>2、选择（</a:t>
            </a:r>
            <a:r>
              <a:rPr lang="en-US" altLang="zh-CN" b="1">
                <a:solidFill>
                  <a:srgbClr val="CC0099"/>
                </a:solidFill>
              </a:rPr>
              <a:t>Selection）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FE93CAF3-BFD4-420A-B3ED-C342361836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sz="2800" b="1"/>
              <a:t>在关系</a:t>
            </a:r>
            <a:r>
              <a:rPr lang="en-US" altLang="zh-CN" sz="2800" b="1" i="1"/>
              <a:t>R</a:t>
            </a:r>
            <a:r>
              <a:rPr lang="zh-CN" altLang="en-US" sz="2800" b="1"/>
              <a:t>中选择满足给定条件的诸元组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            </a:t>
            </a:r>
            <a:r>
              <a:rPr lang="en-US" altLang="zh-CN" sz="2400" b="1"/>
              <a:t>σ</a:t>
            </a:r>
            <a:r>
              <a:rPr lang="en-US" altLang="zh-CN" sz="2400" b="1" baseline="-30000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R</a:t>
            </a:r>
            <a:r>
              <a:rPr lang="en-US" altLang="zh-CN" sz="2400" b="1"/>
              <a:t>) = {</a:t>
            </a:r>
            <a:r>
              <a:rPr lang="en-US" altLang="zh-CN" sz="2400" b="1" i="1"/>
              <a:t>t</a:t>
            </a:r>
            <a:r>
              <a:rPr lang="en-US" altLang="zh-CN" sz="2400" b="1"/>
              <a:t>|</a:t>
            </a:r>
            <a:r>
              <a:rPr lang="en-US" altLang="zh-CN" sz="2400" b="1" i="1"/>
              <a:t>t</a:t>
            </a:r>
            <a:r>
              <a:rPr lang="en-US" altLang="zh-CN" sz="2400" b="1">
                <a:sym typeface="Symbol" panose="05050102010706020507" pitchFamily="18" charset="2"/>
              </a:rPr>
              <a:t></a:t>
            </a:r>
            <a:r>
              <a:rPr lang="en-US" altLang="zh-CN" sz="2400" b="1" i="1"/>
              <a:t>R</a:t>
            </a:r>
            <a:r>
              <a:rPr lang="en-US" altLang="zh-CN" sz="2400" b="1"/>
              <a:t>∧</a:t>
            </a:r>
            <a:r>
              <a:rPr lang="en-US" altLang="zh-CN" sz="2400" b="1" i="1"/>
              <a:t>F</a:t>
            </a:r>
            <a:r>
              <a:rPr lang="en-US" altLang="zh-CN" sz="2400" b="1"/>
              <a:t>(</a:t>
            </a:r>
            <a:r>
              <a:rPr lang="en-US" altLang="zh-CN" sz="2400" b="1" i="1"/>
              <a:t>t</a:t>
            </a:r>
            <a:r>
              <a:rPr lang="en-US" altLang="zh-CN" sz="2400" b="1"/>
              <a:t>)= '</a:t>
            </a:r>
            <a:r>
              <a:rPr lang="zh-CN" altLang="en-US" sz="2400" b="1"/>
              <a:t>真'}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zh-CN" sz="2800" b="1"/>
              <a:t>F：</a:t>
            </a:r>
            <a:r>
              <a:rPr lang="zh-CN" altLang="en-US" sz="2800" b="1"/>
              <a:t>选择条件，是一个逻辑表达式，基本形式为：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        [</a:t>
            </a:r>
            <a:r>
              <a:rPr lang="zh-CN" altLang="en-US" sz="2400" b="1">
                <a:sym typeface="Symbol" panose="05050102010706020507" pitchFamily="18" charset="2"/>
              </a:rPr>
              <a:t>( ]</a:t>
            </a:r>
            <a:r>
              <a:rPr lang="zh-CN" altLang="en-US" sz="2400" b="1"/>
              <a:t> </a:t>
            </a:r>
            <a:r>
              <a:rPr lang="en-US" altLang="zh-CN" sz="2400" b="1" i="1"/>
              <a:t>X</a:t>
            </a:r>
            <a:r>
              <a:rPr lang="en-US" altLang="zh-CN" sz="2400" b="1" baseline="-25000"/>
              <a:t>1</a:t>
            </a:r>
            <a:r>
              <a:rPr lang="en-US" altLang="zh-CN" sz="2400" b="1"/>
              <a:t>θ</a:t>
            </a:r>
            <a:r>
              <a:rPr lang="en-US" altLang="zh-CN" sz="2400" b="1" i="1"/>
              <a:t>Y</a:t>
            </a:r>
            <a:r>
              <a:rPr lang="en-US" altLang="zh-CN" sz="2400" b="1" baseline="-25000"/>
              <a:t>1</a:t>
            </a:r>
            <a:r>
              <a:rPr lang="en-US" altLang="zh-CN" sz="2400" b="1"/>
              <a:t> [ )][</a:t>
            </a:r>
            <a:r>
              <a:rPr lang="en-US" altLang="zh-CN" sz="2400" b="1" i="1"/>
              <a:t>φ </a:t>
            </a:r>
            <a:r>
              <a:rPr lang="en-US" altLang="zh-CN" sz="2400" b="1"/>
              <a:t>[</a:t>
            </a:r>
            <a:r>
              <a:rPr lang="en-US" altLang="zh-CN" sz="2400" b="1">
                <a:sym typeface="Symbol" panose="05050102010706020507" pitchFamily="18" charset="2"/>
              </a:rPr>
              <a:t>( ]</a:t>
            </a:r>
            <a:r>
              <a:rPr lang="en-US" altLang="zh-CN" sz="2400" b="1" i="1"/>
              <a:t> X</a:t>
            </a:r>
            <a:r>
              <a:rPr lang="en-US" altLang="zh-CN" sz="2400" b="1" baseline="-25000"/>
              <a:t>2</a:t>
            </a:r>
            <a:r>
              <a:rPr lang="en-US" altLang="zh-CN" sz="2400" b="1"/>
              <a:t>θ</a:t>
            </a:r>
            <a:r>
              <a:rPr lang="en-US" altLang="zh-CN" sz="2400" b="1" i="1"/>
              <a:t>Y</a:t>
            </a:r>
            <a:r>
              <a:rPr lang="en-US" altLang="zh-CN" sz="2400" b="1" baseline="-25000"/>
              <a:t>2</a:t>
            </a:r>
            <a:r>
              <a:rPr lang="en-US" altLang="zh-CN" sz="2400" b="1"/>
              <a:t> [ )]]</a:t>
            </a:r>
            <a:r>
              <a:rPr lang="en-US" altLang="zh-CN" sz="2400" b="1">
                <a:latin typeface="Times New Roman" panose="02020603050405020304" pitchFamily="18" charset="0"/>
              </a:rPr>
              <a:t>…</a:t>
            </a:r>
            <a:endParaRPr lang="en-US" altLang="zh-CN" sz="2400" b="1"/>
          </a:p>
          <a:p>
            <a:pPr lvl="1" algn="just" eaLnBrk="1" hangingPunct="1">
              <a:lnSpc>
                <a:spcPct val="90000"/>
              </a:lnSpc>
            </a:pPr>
            <a:r>
              <a:rPr lang="en-US" altLang="zh-CN" sz="2400" b="1"/>
              <a:t>θ：</a:t>
            </a:r>
            <a:r>
              <a:rPr lang="zh-CN" altLang="en-US" sz="2400" b="1"/>
              <a:t>比较运算符（＞，≥，＜，≤，＝或&lt;&gt;）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zh-CN" sz="2400" b="1"/>
              <a:t>X</a:t>
            </a:r>
            <a:r>
              <a:rPr lang="en-US" altLang="zh-CN" b="1" baseline="-25000"/>
              <a:t>1</a:t>
            </a:r>
            <a:r>
              <a:rPr lang="en-US" altLang="zh-CN" sz="2400" b="1"/>
              <a:t>，Y</a:t>
            </a:r>
            <a:r>
              <a:rPr lang="en-US" altLang="zh-CN" sz="2400" b="1" baseline="-25000"/>
              <a:t>1</a:t>
            </a:r>
            <a:r>
              <a:rPr lang="zh-CN" altLang="en-US" sz="2400" b="1"/>
              <a:t>等：属性名、常量、简单函数；属性名也可以用它的序号来代替；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zh-CN" sz="2400" b="1"/>
              <a:t>φ：</a:t>
            </a:r>
            <a:r>
              <a:rPr lang="zh-CN" altLang="en-US" sz="2400" b="1"/>
              <a:t>逻辑运算符（∧或∨）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400" b="1"/>
              <a:t>[ ]：表示任选项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…</a:t>
            </a:r>
            <a:r>
              <a:rPr lang="zh-CN" altLang="en-US" sz="2400" b="1"/>
              <a:t>：表示上述格式可以重复下去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30C8021C-312A-47E8-A953-3233D38582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C6DCFB29-6E07-4B7E-9AC8-4B5B60D55F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sz="2800" b="1"/>
              <a:t>选择运算是从行的角度进行的运算 </a:t>
            </a:r>
          </a:p>
          <a:p>
            <a:pPr eaLnBrk="1" hangingPunct="1">
              <a:lnSpc>
                <a:spcPct val="90000"/>
              </a:lnSpc>
            </a:pPr>
            <a:endParaRPr lang="zh-CN" altLang="en-US" sz="2800" b="1"/>
          </a:p>
          <a:p>
            <a:pPr eaLnBrk="1" hangingPunct="1">
              <a:lnSpc>
                <a:spcPct val="90000"/>
              </a:lnSpc>
            </a:pPr>
            <a:endParaRPr lang="zh-CN" altLang="en-US" sz="2800" b="1"/>
          </a:p>
          <a:p>
            <a:pPr eaLnBrk="1" hangingPunct="1">
              <a:lnSpc>
                <a:spcPct val="90000"/>
              </a:lnSpc>
            </a:pPr>
            <a:endParaRPr lang="zh-CN" altLang="en-US" sz="2800" b="1"/>
          </a:p>
          <a:p>
            <a:pPr eaLnBrk="1" hangingPunct="1">
              <a:lnSpc>
                <a:spcPct val="90000"/>
              </a:lnSpc>
            </a:pPr>
            <a:endParaRPr lang="zh-CN" altLang="en-US" sz="2800" b="1"/>
          </a:p>
          <a:p>
            <a:pPr algn="just" eaLnBrk="1" hangingPunct="1">
              <a:lnSpc>
                <a:spcPct val="90000"/>
              </a:lnSpc>
            </a:pPr>
            <a:r>
              <a:rPr lang="zh-CN" altLang="en-US" sz="2800" b="1"/>
              <a:t>举例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	设有一个雇员－工作数据库，包括雇员关系</a:t>
            </a:r>
            <a:r>
              <a:rPr lang="en-US" altLang="zh-CN" sz="2800" b="1"/>
              <a:t>Employee、</a:t>
            </a:r>
            <a:r>
              <a:rPr lang="zh-CN" altLang="en-US" sz="2800" b="1"/>
              <a:t>工作关系</a:t>
            </a:r>
            <a:r>
              <a:rPr lang="en-US" altLang="zh-CN" sz="2800" b="1"/>
              <a:t>Job</a:t>
            </a:r>
            <a:r>
              <a:rPr lang="zh-CN" altLang="en-US" sz="2800" b="1"/>
              <a:t>和分配关系</a:t>
            </a:r>
            <a:r>
              <a:rPr lang="en-US" altLang="zh-CN" sz="2800" b="1"/>
              <a:t>Assignment。</a:t>
            </a:r>
            <a:endParaRPr lang="zh-CN" altLang="en-US" sz="2800" b="1"/>
          </a:p>
        </p:txBody>
      </p:sp>
      <p:grpSp>
        <p:nvGrpSpPr>
          <p:cNvPr id="72708" name="Group 4">
            <a:extLst>
              <a:ext uri="{FF2B5EF4-FFF2-40B4-BE49-F238E27FC236}">
                <a16:creationId xmlns:a16="http://schemas.microsoft.com/office/drawing/2014/main" id="{932F782B-E8CB-49F8-A58F-BA63A6F93354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2971800"/>
            <a:ext cx="4191000" cy="1219200"/>
            <a:chOff x="2448" y="1728"/>
            <a:chExt cx="2640" cy="768"/>
          </a:xfrm>
        </p:grpSpPr>
        <p:sp>
          <p:nvSpPr>
            <p:cNvPr id="72709" name="Rectangle 5">
              <a:extLst>
                <a:ext uri="{FF2B5EF4-FFF2-40B4-BE49-F238E27FC236}">
                  <a16:creationId xmlns:a16="http://schemas.microsoft.com/office/drawing/2014/main" id="{51779F18-B7CD-42BE-9741-7D3E7A06A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728"/>
              <a:ext cx="912" cy="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710" name="Rectangle 6" descr="浅色下对角线">
              <a:extLst>
                <a:ext uri="{FF2B5EF4-FFF2-40B4-BE49-F238E27FC236}">
                  <a16:creationId xmlns:a16="http://schemas.microsoft.com/office/drawing/2014/main" id="{588D7EFC-3B16-4EA8-A4E9-DD83FAE83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824"/>
              <a:ext cx="912" cy="9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711" name="Rectangle 7">
              <a:extLst>
                <a:ext uri="{FF2B5EF4-FFF2-40B4-BE49-F238E27FC236}">
                  <a16:creationId xmlns:a16="http://schemas.microsoft.com/office/drawing/2014/main" id="{582FBEB3-2E1A-45E7-8585-0144742C6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920"/>
              <a:ext cx="912" cy="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712" name="Rectangle 8">
              <a:extLst>
                <a:ext uri="{FF2B5EF4-FFF2-40B4-BE49-F238E27FC236}">
                  <a16:creationId xmlns:a16="http://schemas.microsoft.com/office/drawing/2014/main" id="{FCEABA15-16A7-4CD6-A8DA-24180E58B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400"/>
              <a:ext cx="912" cy="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713" name="Rectangle 9">
              <a:extLst>
                <a:ext uri="{FF2B5EF4-FFF2-40B4-BE49-F238E27FC236}">
                  <a16:creationId xmlns:a16="http://schemas.microsoft.com/office/drawing/2014/main" id="{6859BCC0-39F8-4479-8ACF-C6AE53819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016"/>
              <a:ext cx="912" cy="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714" name="Rectangle 10" descr="浅色下对角线">
              <a:extLst>
                <a:ext uri="{FF2B5EF4-FFF2-40B4-BE49-F238E27FC236}">
                  <a16:creationId xmlns:a16="http://schemas.microsoft.com/office/drawing/2014/main" id="{A5C12C1A-F1B5-49EE-99FC-7C7FCFB7E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112"/>
              <a:ext cx="912" cy="9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715" name="Rectangle 11">
              <a:extLst>
                <a:ext uri="{FF2B5EF4-FFF2-40B4-BE49-F238E27FC236}">
                  <a16:creationId xmlns:a16="http://schemas.microsoft.com/office/drawing/2014/main" id="{59B7AA4F-1064-4FFD-A84B-C3516A7BD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208"/>
              <a:ext cx="912" cy="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716" name="Rectangle 12" descr="浅色下对角线">
              <a:extLst>
                <a:ext uri="{FF2B5EF4-FFF2-40B4-BE49-F238E27FC236}">
                  <a16:creationId xmlns:a16="http://schemas.microsoft.com/office/drawing/2014/main" id="{55E33396-C5A2-453F-85FD-7CAB3A271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304"/>
              <a:ext cx="912" cy="9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717" name="Rectangle 13" descr="浅色下对角线">
              <a:extLst>
                <a:ext uri="{FF2B5EF4-FFF2-40B4-BE49-F238E27FC236}">
                  <a16:creationId xmlns:a16="http://schemas.microsoft.com/office/drawing/2014/main" id="{C4F5B17D-E2AE-4439-862D-E7C8CA8C6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112"/>
              <a:ext cx="912" cy="9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718" name="Rectangle 14" descr="浅色下对角线">
              <a:extLst>
                <a:ext uri="{FF2B5EF4-FFF2-40B4-BE49-F238E27FC236}">
                  <a16:creationId xmlns:a16="http://schemas.microsoft.com/office/drawing/2014/main" id="{AE028FAE-CE10-47D0-B8BF-EF4BEBF62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016"/>
              <a:ext cx="912" cy="9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719" name="Rectangle 15" descr="浅色下对角线">
              <a:extLst>
                <a:ext uri="{FF2B5EF4-FFF2-40B4-BE49-F238E27FC236}">
                  <a16:creationId xmlns:a16="http://schemas.microsoft.com/office/drawing/2014/main" id="{B8389812-9758-4971-8144-C7987D8C7D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920"/>
              <a:ext cx="912" cy="9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720" name="AutoShape 16">
              <a:extLst>
                <a:ext uri="{FF2B5EF4-FFF2-40B4-BE49-F238E27FC236}">
                  <a16:creationId xmlns:a16="http://schemas.microsoft.com/office/drawing/2014/main" id="{2126D311-CEE7-4169-B402-097803A58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016"/>
              <a:ext cx="528" cy="144"/>
            </a:xfrm>
            <a:prstGeom prst="rightArrow">
              <a:avLst>
                <a:gd name="adj1" fmla="val 50000"/>
                <a:gd name="adj2" fmla="val 91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721" name="Text Box 17">
              <a:extLst>
                <a:ext uri="{FF2B5EF4-FFF2-40B4-BE49-F238E27FC236}">
                  <a16:creationId xmlns:a16="http://schemas.microsoft.com/office/drawing/2014/main" id="{7B7F12C5-BA4D-4E8C-A8C6-F4144ED082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2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</a:rPr>
                <a:t>σ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858" name="Group 2">
            <a:extLst>
              <a:ext uri="{FF2B5EF4-FFF2-40B4-BE49-F238E27FC236}">
                <a16:creationId xmlns:a16="http://schemas.microsoft.com/office/drawing/2014/main" id="{73E439E0-9494-4902-9235-724C7F9B6675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2133600"/>
          <a:ext cx="6705600" cy="2362200"/>
        </p:xfrm>
        <a:graphic>
          <a:graphicData uri="http://schemas.openxmlformats.org/drawingml/2006/table">
            <a:tbl>
              <a:tblPr/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5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5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Emp_id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Address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Telphone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25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X15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Joe Baker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33 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Nowhere St.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85347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34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Y70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Cheryl Clark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563 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Downtown Ave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23454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23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Y34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Jerry 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1555 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Circle Dr.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79961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3762" name="Rectangle 34">
            <a:extLst>
              <a:ext uri="{FF2B5EF4-FFF2-40B4-BE49-F238E27FC236}">
                <a16:creationId xmlns:a16="http://schemas.microsoft.com/office/drawing/2014/main" id="{A3B906D8-3374-42BD-B10D-E0066B3E3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143000"/>
            <a:ext cx="3200400" cy="6096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dirty="0"/>
              <a:t>EMPLOYEE</a:t>
            </a:r>
            <a:r>
              <a:rPr lang="zh-CN" altLang="en-US" dirty="0"/>
              <a:t>关系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882" name="Group 2">
            <a:extLst>
              <a:ext uri="{FF2B5EF4-FFF2-40B4-BE49-F238E27FC236}">
                <a16:creationId xmlns:a16="http://schemas.microsoft.com/office/drawing/2014/main" id="{529004DE-353F-4485-A7BC-CD81407DE113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1828800"/>
          <a:ext cx="6477000" cy="1692276"/>
        </p:xfrm>
        <a:graphic>
          <a:graphicData uri="http://schemas.openxmlformats.org/drawingml/2006/table">
            <a:tbl>
              <a:tblPr/>
              <a:tblGrid>
                <a:gridCol w="1163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5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5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7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Job_id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Job Title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Skill Code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Dept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7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S25X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Secretary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T5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Personnel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S26Z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Secretary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T6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Accounting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F5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Floor manager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FM3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Sales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4781" name="Rectangle 29">
            <a:extLst>
              <a:ext uri="{FF2B5EF4-FFF2-40B4-BE49-F238E27FC236}">
                <a16:creationId xmlns:a16="http://schemas.microsoft.com/office/drawing/2014/main" id="{7C4DD952-C00E-48D7-A874-2CBCAC00E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066800"/>
            <a:ext cx="3200400" cy="6096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/>
              <a:t>JOB</a:t>
            </a:r>
            <a:r>
              <a:rPr lang="zh-CN" altLang="en-US"/>
              <a:t>关系</a:t>
            </a:r>
          </a:p>
        </p:txBody>
      </p:sp>
      <p:graphicFrame>
        <p:nvGraphicFramePr>
          <p:cNvPr id="122910" name="Group 30">
            <a:extLst>
              <a:ext uri="{FF2B5EF4-FFF2-40B4-BE49-F238E27FC236}">
                <a16:creationId xmlns:a16="http://schemas.microsoft.com/office/drawing/2014/main" id="{1760F954-7FC6-4FE7-9E15-BAD9051E4E2C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4329113"/>
          <a:ext cx="6477000" cy="1692276"/>
        </p:xfrm>
        <a:graphic>
          <a:graphicData uri="http://schemas.openxmlformats.org/drawingml/2006/table">
            <a:tbl>
              <a:tblPr/>
              <a:tblGrid>
                <a:gridCol w="1163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5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5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7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Emp_id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Job_id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Start Date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Term Date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7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23Y34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S25X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3-1-1999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4-30-2001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34Y70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F5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10-1-2001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10-1-2003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23Y34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S26Z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5-1-2001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5-1-2003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4809" name="Rectangle 57">
            <a:extLst>
              <a:ext uri="{FF2B5EF4-FFF2-40B4-BE49-F238E27FC236}">
                <a16:creationId xmlns:a16="http://schemas.microsoft.com/office/drawing/2014/main" id="{78F34A38-8591-456C-BBA3-A4C13AC73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9875" y="3657600"/>
            <a:ext cx="3200400" cy="6096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/>
              <a:t>ASSIGNMENT</a:t>
            </a:r>
            <a:r>
              <a:rPr lang="zh-CN" altLang="en-US"/>
              <a:t>关系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DEE1C38B-9F49-434C-B105-203C5FF76E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62C61C27-AE12-44FF-9F45-B5503D9E30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981200"/>
            <a:ext cx="7772400" cy="41148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folHlink"/>
                </a:solidFill>
              </a:rPr>
              <a:t>[</a:t>
            </a:r>
            <a:r>
              <a:rPr lang="zh-CN" altLang="en-US" b="1">
                <a:solidFill>
                  <a:schemeClr val="folHlink"/>
                </a:solidFill>
                <a:ea typeface="黑体" panose="02010609060101010101" pitchFamily="49" charset="-122"/>
              </a:rPr>
              <a:t>例1</a:t>
            </a:r>
            <a:r>
              <a:rPr lang="zh-CN" altLang="en-US" b="1">
                <a:solidFill>
                  <a:schemeClr val="folHlink"/>
                </a:solidFill>
              </a:rPr>
              <a:t>]</a:t>
            </a:r>
            <a:r>
              <a:rPr lang="zh-CN" altLang="en-US" b="1"/>
              <a:t>  查询雇员号为23</a:t>
            </a:r>
            <a:r>
              <a:rPr lang="en-US" altLang="zh-CN" b="1"/>
              <a:t>Y34</a:t>
            </a:r>
            <a:r>
              <a:rPr lang="zh-CN" altLang="en-US" b="1"/>
              <a:t>的雇员的信息。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		 </a:t>
            </a:r>
            <a:r>
              <a:rPr lang="en-US" altLang="zh-CN" b="1"/>
              <a:t>σ</a:t>
            </a:r>
            <a:r>
              <a:rPr lang="en-US" altLang="zh-CN" b="1" baseline="-30000"/>
              <a:t>Emp_id</a:t>
            </a:r>
            <a:r>
              <a:rPr lang="en-US" altLang="zh-CN" b="1"/>
              <a:t> </a:t>
            </a:r>
            <a:r>
              <a:rPr lang="en-US" altLang="zh-CN" b="1" baseline="-30000"/>
              <a:t>= </a:t>
            </a:r>
            <a:r>
              <a:rPr lang="en-US" altLang="zh-CN" b="1" baseline="-30000">
                <a:latin typeface="Times New Roman" panose="02020603050405020304" pitchFamily="18" charset="0"/>
              </a:rPr>
              <a:t>‘</a:t>
            </a:r>
            <a:r>
              <a:rPr lang="en-US" altLang="zh-CN" b="1" baseline="-30000"/>
              <a:t>23y34' </a:t>
            </a:r>
            <a:r>
              <a:rPr lang="en-US" altLang="zh-CN" b="1"/>
              <a:t>(Employee)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b="1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b="1"/>
              <a:t>		</a:t>
            </a:r>
            <a:r>
              <a:rPr lang="zh-CN" altLang="en-US" b="1"/>
              <a:t>或     </a:t>
            </a:r>
            <a:r>
              <a:rPr lang="en-US" altLang="zh-CN" b="1"/>
              <a:t>σ </a:t>
            </a:r>
            <a:r>
              <a:rPr lang="en-US" altLang="zh-CN" b="1" baseline="-25000"/>
              <a:t>1</a:t>
            </a:r>
            <a:r>
              <a:rPr lang="en-US" altLang="zh-CN" b="1" baseline="-30000"/>
              <a:t>= </a:t>
            </a:r>
            <a:r>
              <a:rPr lang="en-US" altLang="zh-CN" b="1" baseline="-30000">
                <a:latin typeface="Times New Roman" panose="02020603050405020304" pitchFamily="18" charset="0"/>
              </a:rPr>
              <a:t>‘</a:t>
            </a:r>
            <a:r>
              <a:rPr lang="en-US" altLang="zh-CN" b="1" baseline="-30000"/>
              <a:t>23y34' </a:t>
            </a:r>
            <a:r>
              <a:rPr lang="en-US" altLang="zh-CN" b="1"/>
              <a:t>(Employee)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结果： </a:t>
            </a:r>
          </a:p>
          <a:p>
            <a:pPr eaLnBrk="1" hangingPunct="1"/>
            <a:endParaRPr lang="zh-CN" altLang="en-US"/>
          </a:p>
        </p:txBody>
      </p:sp>
      <p:graphicFrame>
        <p:nvGraphicFramePr>
          <p:cNvPr id="123908" name="Group 4">
            <a:extLst>
              <a:ext uri="{FF2B5EF4-FFF2-40B4-BE49-F238E27FC236}">
                <a16:creationId xmlns:a16="http://schemas.microsoft.com/office/drawing/2014/main" id="{489FBBBB-496D-485F-9F26-D84FFC1AC9F7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4953000"/>
          <a:ext cx="6705600" cy="1041400"/>
        </p:xfrm>
        <a:graphic>
          <a:graphicData uri="http://schemas.openxmlformats.org/drawingml/2006/table">
            <a:tbl>
              <a:tblPr/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5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5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Emp_id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Address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Telphone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23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Y34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Jerry 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1555 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Circle Dr.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79961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4F3E722A-F11C-412A-B3A3-60F292F2EE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F6CCD2E2-0586-4C86-96F2-4F7899ED1B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folHlink"/>
                </a:solidFill>
                <a:ea typeface="黑体" panose="02010609060101010101" pitchFamily="49" charset="-122"/>
              </a:rPr>
              <a:t>[例2</a:t>
            </a:r>
            <a:r>
              <a:rPr lang="zh-CN" altLang="en-US" sz="2800" b="1">
                <a:solidFill>
                  <a:schemeClr val="folHlink"/>
                </a:solidFill>
              </a:rPr>
              <a:t>]</a:t>
            </a:r>
            <a:r>
              <a:rPr lang="zh-CN" altLang="en-US" sz="2800" b="1"/>
              <a:t>  查询年龄在28至32岁之间的雇员信息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    	   </a:t>
            </a:r>
            <a:r>
              <a:rPr lang="en-US" altLang="zh-CN" sz="2800" b="1"/>
              <a:t>σ</a:t>
            </a:r>
            <a:r>
              <a:rPr lang="en-US" altLang="zh-CN" sz="2800" b="1" baseline="-25000"/>
              <a:t>age&gt;28 </a:t>
            </a:r>
            <a:r>
              <a:rPr lang="en-US" altLang="zh-CN" sz="2800" b="1" baseline="-25000">
                <a:sym typeface="Symbol" panose="05050102010706020507" pitchFamily="18" charset="2"/>
              </a:rPr>
              <a:t> </a:t>
            </a:r>
            <a:r>
              <a:rPr lang="en-US" altLang="zh-CN" sz="2800" b="1" baseline="-30000"/>
              <a:t>age &lt; 32</a:t>
            </a:r>
            <a:r>
              <a:rPr lang="en-US" altLang="zh-CN" sz="2800" b="1"/>
              <a:t>(</a:t>
            </a:r>
            <a:r>
              <a:rPr lang="en-US" altLang="zh-CN" b="1"/>
              <a:t>Employee</a:t>
            </a:r>
            <a:r>
              <a:rPr lang="en-US" altLang="zh-CN" sz="2800" b="1"/>
              <a:t>)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	</a:t>
            </a:r>
            <a:r>
              <a:rPr lang="zh-CN" altLang="en-US" sz="2800" b="1"/>
              <a:t>结果：</a:t>
            </a:r>
            <a:endParaRPr lang="zh-CN" altLang="en-US" b="1"/>
          </a:p>
          <a:p>
            <a:pPr eaLnBrk="1" hangingPunct="1"/>
            <a:endParaRPr lang="zh-CN" altLang="en-US"/>
          </a:p>
        </p:txBody>
      </p:sp>
      <p:graphicFrame>
        <p:nvGraphicFramePr>
          <p:cNvPr id="124932" name="Group 4">
            <a:extLst>
              <a:ext uri="{FF2B5EF4-FFF2-40B4-BE49-F238E27FC236}">
                <a16:creationId xmlns:a16="http://schemas.microsoft.com/office/drawing/2014/main" id="{63024561-2BEA-4656-88B3-C6B7F59E95A0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3810000"/>
          <a:ext cx="6705600" cy="1600200"/>
        </p:xfrm>
        <a:graphic>
          <a:graphicData uri="http://schemas.openxmlformats.org/drawingml/2006/table">
            <a:tbl>
              <a:tblPr/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5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5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Emp_id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Address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Telphone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25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X15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Joe Baker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33 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Nowhere St.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85347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23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Y34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Jerry 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1555 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Circle Dr.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79961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D5223039-D7AF-4F00-A75F-ED17B24109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CC0099"/>
                </a:solidFill>
              </a:rPr>
              <a:t>3、投影（</a:t>
            </a:r>
            <a:r>
              <a:rPr lang="en-US" altLang="zh-CN" b="1">
                <a:solidFill>
                  <a:srgbClr val="CC0099"/>
                </a:solidFill>
              </a:rPr>
              <a:t>Projection）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362C6DAB-8C16-4838-8835-58AD1C1CD9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10000"/>
              </a:lnSpc>
            </a:pPr>
            <a:r>
              <a:rPr lang="zh-CN" altLang="en-US" b="1"/>
              <a:t>1）投影运算符的含义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b="1"/>
              <a:t>从</a:t>
            </a:r>
            <a:r>
              <a:rPr lang="en-US" altLang="zh-CN" b="1" i="1"/>
              <a:t>R</a:t>
            </a:r>
            <a:r>
              <a:rPr lang="zh-CN" altLang="en-US" b="1"/>
              <a:t>中选择出若干属性列组成新的关系</a:t>
            </a:r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           </a:t>
            </a:r>
            <a:r>
              <a:rPr lang="en-US" altLang="zh-CN" b="1"/>
              <a:t>π</a:t>
            </a:r>
            <a:r>
              <a:rPr lang="en-US" altLang="zh-CN" b="1" i="1" baseline="-30000"/>
              <a:t>A</a:t>
            </a:r>
            <a:r>
              <a:rPr lang="en-US" altLang="zh-CN" b="1"/>
              <a:t>(</a:t>
            </a:r>
            <a:r>
              <a:rPr lang="en-US" altLang="zh-CN" b="1" i="1"/>
              <a:t>R</a:t>
            </a:r>
            <a:r>
              <a:rPr lang="en-US" altLang="zh-CN" b="1"/>
              <a:t>) = { </a:t>
            </a:r>
            <a:r>
              <a:rPr lang="en-US" altLang="zh-CN" b="1" i="1"/>
              <a:t>t</a:t>
            </a:r>
            <a:r>
              <a:rPr lang="en-US" altLang="zh-CN" b="1"/>
              <a:t>[</a:t>
            </a:r>
            <a:r>
              <a:rPr lang="en-US" altLang="zh-CN" b="1" i="1"/>
              <a:t>A</a:t>
            </a:r>
            <a:r>
              <a:rPr lang="en-US" altLang="zh-CN" b="1"/>
              <a:t>] | </a:t>
            </a:r>
            <a:r>
              <a:rPr lang="en-US" altLang="zh-CN" b="1" i="1"/>
              <a:t>t </a:t>
            </a:r>
            <a:r>
              <a:rPr lang="en-US" altLang="zh-CN" b="1">
                <a:sym typeface="Symbol" panose="05050102010706020507" pitchFamily="18" charset="2"/>
              </a:rPr>
              <a:t></a:t>
            </a:r>
            <a:r>
              <a:rPr lang="en-US" altLang="zh-CN" b="1" i="1"/>
              <a:t>R</a:t>
            </a:r>
            <a:r>
              <a:rPr lang="en-US" altLang="zh-CN" b="1"/>
              <a:t> }</a:t>
            </a:r>
          </a:p>
          <a:p>
            <a:pPr lvl="2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i="1"/>
              <a:t>		A：R</a:t>
            </a:r>
            <a:r>
              <a:rPr lang="zh-CN" altLang="en-US" b="1"/>
              <a:t>中的属性列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5622C83E-7AB0-4378-BA97-51E351E33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A3A1A487-97BF-4AC9-AB69-DF6721C329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b="1"/>
              <a:t>2）投影操作主要是从列的角度进行运算</a:t>
            </a:r>
          </a:p>
          <a:p>
            <a:pPr lvl="1" algn="just" eaLnBrk="1" hangingPunct="1">
              <a:lnSpc>
                <a:spcPct val="90000"/>
              </a:lnSpc>
            </a:pPr>
            <a:endParaRPr lang="zh-CN" altLang="en-US" b="1"/>
          </a:p>
          <a:p>
            <a:pPr lvl="1" algn="just" eaLnBrk="1" hangingPunct="1">
              <a:lnSpc>
                <a:spcPct val="90000"/>
              </a:lnSpc>
            </a:pPr>
            <a:endParaRPr lang="zh-CN" altLang="en-US" b="1"/>
          </a:p>
          <a:p>
            <a:pPr lvl="1" algn="just" eaLnBrk="1" hangingPunct="1">
              <a:lnSpc>
                <a:spcPct val="90000"/>
              </a:lnSpc>
            </a:pPr>
            <a:endParaRPr lang="zh-CN" altLang="en-US" b="1"/>
          </a:p>
          <a:p>
            <a:pPr lvl="1" algn="just" eaLnBrk="1" hangingPunct="1">
              <a:lnSpc>
                <a:spcPct val="90000"/>
              </a:lnSpc>
            </a:pPr>
            <a:endParaRPr lang="zh-CN" altLang="en-US" b="1"/>
          </a:p>
          <a:p>
            <a:pPr lvl="1" algn="just" eaLnBrk="1" hangingPunct="1">
              <a:lnSpc>
                <a:spcPct val="90000"/>
              </a:lnSpc>
            </a:pPr>
            <a:endParaRPr lang="zh-CN" altLang="en-US" b="1"/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b="1"/>
              <a:t>但投影之后不仅取消了原关系中的某些列，而且还可能取消某些元组（避免重复行）</a:t>
            </a:r>
          </a:p>
        </p:txBody>
      </p:sp>
      <p:grpSp>
        <p:nvGrpSpPr>
          <p:cNvPr id="78852" name="Group 4">
            <a:extLst>
              <a:ext uri="{FF2B5EF4-FFF2-40B4-BE49-F238E27FC236}">
                <a16:creationId xmlns:a16="http://schemas.microsoft.com/office/drawing/2014/main" id="{67C490BD-DBB0-4538-821B-F42BE7771FD7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2667000"/>
            <a:ext cx="2743200" cy="1600200"/>
            <a:chOff x="1536" y="1584"/>
            <a:chExt cx="1728" cy="1008"/>
          </a:xfrm>
        </p:grpSpPr>
        <p:sp>
          <p:nvSpPr>
            <p:cNvPr id="78853" name="AutoShape 5">
              <a:extLst>
                <a:ext uri="{FF2B5EF4-FFF2-40B4-BE49-F238E27FC236}">
                  <a16:creationId xmlns:a16="http://schemas.microsoft.com/office/drawing/2014/main" id="{0180AD60-955E-4944-A6CD-6482032D1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016"/>
              <a:ext cx="528" cy="144"/>
            </a:xfrm>
            <a:prstGeom prst="rightArrow">
              <a:avLst>
                <a:gd name="adj1" fmla="val 50000"/>
                <a:gd name="adj2" fmla="val 91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8854" name="Text Box 6">
              <a:extLst>
                <a:ext uri="{FF2B5EF4-FFF2-40B4-BE49-F238E27FC236}">
                  <a16:creationId xmlns:a16="http://schemas.microsoft.com/office/drawing/2014/main" id="{C7682E75-D0AF-4AC6-A431-2A0AAC5C7B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72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</a:rPr>
                <a:t>π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78855" name="Rectangle 7">
              <a:extLst>
                <a:ext uri="{FF2B5EF4-FFF2-40B4-BE49-F238E27FC236}">
                  <a16:creationId xmlns:a16="http://schemas.microsoft.com/office/drawing/2014/main" id="{B3BAF16E-92B2-404F-80C4-847B5042D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8856" name="Rectangle 8" descr="浅色下对角线">
              <a:extLst>
                <a:ext uri="{FF2B5EF4-FFF2-40B4-BE49-F238E27FC236}">
                  <a16:creationId xmlns:a16="http://schemas.microsoft.com/office/drawing/2014/main" id="{32F4EE0D-8850-44A6-BA1F-40A38159A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584"/>
              <a:ext cx="96" cy="1008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8857" name="Rectangle 9">
              <a:extLst>
                <a:ext uri="{FF2B5EF4-FFF2-40B4-BE49-F238E27FC236}">
                  <a16:creationId xmlns:a16="http://schemas.microsoft.com/office/drawing/2014/main" id="{6194D273-886C-4768-86AB-1A1B4A229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8858" name="Rectangle 10">
              <a:extLst>
                <a:ext uri="{FF2B5EF4-FFF2-40B4-BE49-F238E27FC236}">
                  <a16:creationId xmlns:a16="http://schemas.microsoft.com/office/drawing/2014/main" id="{C0070F61-23E2-4FFA-B0D9-67F5F6DC95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8859" name="Rectangle 11" descr="浅色下对角线">
              <a:extLst>
                <a:ext uri="{FF2B5EF4-FFF2-40B4-BE49-F238E27FC236}">
                  <a16:creationId xmlns:a16="http://schemas.microsoft.com/office/drawing/2014/main" id="{028B0281-4427-4E1C-B2BB-9C8F4E5C3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1584"/>
              <a:ext cx="96" cy="1008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8860" name="Rectangle 12">
              <a:extLst>
                <a:ext uri="{FF2B5EF4-FFF2-40B4-BE49-F238E27FC236}">
                  <a16:creationId xmlns:a16="http://schemas.microsoft.com/office/drawing/2014/main" id="{BF7C4060-F8F9-4906-A670-5A3B6080A3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8861" name="Rectangle 13" descr="浅色下对角线">
              <a:extLst>
                <a:ext uri="{FF2B5EF4-FFF2-40B4-BE49-F238E27FC236}">
                  <a16:creationId xmlns:a16="http://schemas.microsoft.com/office/drawing/2014/main" id="{95867857-3487-434D-82D3-674E47440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84"/>
              <a:ext cx="96" cy="1008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8862" name="Rectangle 14" descr="浅色下对角线">
              <a:extLst>
                <a:ext uri="{FF2B5EF4-FFF2-40B4-BE49-F238E27FC236}">
                  <a16:creationId xmlns:a16="http://schemas.microsoft.com/office/drawing/2014/main" id="{96DE5A15-83C7-465F-99D1-E5A32EACF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584"/>
              <a:ext cx="96" cy="1008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D6042BC3-7584-4C35-9F55-6AE404CF6B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5B6E36D7-1A94-46CF-B119-18F8D1D81E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 b="1"/>
              <a:t>3) 举例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[例3]  查询工作的职位名称及其所属部门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	    </a:t>
            </a:r>
            <a:r>
              <a:rPr lang="en-US" altLang="zh-CN" b="1"/>
              <a:t>π</a:t>
            </a:r>
            <a:r>
              <a:rPr lang="en-US" altLang="zh-CN" b="1" baseline="-30000"/>
              <a:t>Job Title，Dept</a:t>
            </a:r>
            <a:r>
              <a:rPr lang="en-US" altLang="zh-CN" b="1"/>
              <a:t>(Job)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b="1"/>
              <a:t>	</a:t>
            </a:r>
            <a:r>
              <a:rPr lang="zh-CN" altLang="en-US" b="1"/>
              <a:t>或 </a:t>
            </a:r>
            <a:r>
              <a:rPr lang="en-US" altLang="zh-CN" b="1"/>
              <a:t>π</a:t>
            </a:r>
            <a:r>
              <a:rPr lang="en-US" altLang="zh-CN" b="1" baseline="-30000"/>
              <a:t>2，4</a:t>
            </a:r>
            <a:r>
              <a:rPr lang="en-US" altLang="zh-CN" b="1"/>
              <a:t>(Job)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endParaRPr lang="en-US" altLang="zh-CN" b="1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结果：</a:t>
            </a:r>
          </a:p>
        </p:txBody>
      </p:sp>
      <p:graphicFrame>
        <p:nvGraphicFramePr>
          <p:cNvPr id="128004" name="Group 4">
            <a:extLst>
              <a:ext uri="{FF2B5EF4-FFF2-40B4-BE49-F238E27FC236}">
                <a16:creationId xmlns:a16="http://schemas.microsoft.com/office/drawing/2014/main" id="{70F1088F-C19D-4162-936F-139B788660AA}"/>
              </a:ext>
            </a:extLst>
          </p:cNvPr>
          <p:cNvGraphicFramePr>
            <a:graphicFrameLocks noGrp="1"/>
          </p:cNvGraphicFramePr>
          <p:nvPr/>
        </p:nvGraphicFramePr>
        <p:xfrm>
          <a:off x="2895600" y="4800600"/>
          <a:ext cx="3840163" cy="1692276"/>
        </p:xfrm>
        <a:graphic>
          <a:graphicData uri="http://schemas.openxmlformats.org/drawingml/2006/table">
            <a:tbl>
              <a:tblPr/>
              <a:tblGrid>
                <a:gridCol w="2005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7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Job Title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Dept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7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Secretary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Personnel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Secretary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Accounting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Floor manager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Sales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A13F1AAA-52E7-4A47-B4D8-2F66E72D83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E701FBF3-1240-4132-B110-CF1DED435E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[</a:t>
            </a:r>
            <a:r>
              <a:rPr lang="zh-CN" altLang="en-US" b="1" dirty="0">
                <a:ea typeface="黑体" panose="02010609060101010101" pitchFamily="49" charset="-122"/>
              </a:rPr>
              <a:t>例4</a:t>
            </a:r>
            <a:r>
              <a:rPr lang="zh-CN" altLang="en-US" b="1" dirty="0"/>
              <a:t>]  查询雇员姓名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             </a:t>
            </a:r>
            <a:r>
              <a:rPr lang="en-US" altLang="zh-CN" b="1" dirty="0"/>
              <a:t>π</a:t>
            </a:r>
            <a:r>
              <a:rPr lang="en-US" altLang="zh-CN" b="1" baseline="-30000" dirty="0"/>
              <a:t>name</a:t>
            </a:r>
            <a:r>
              <a:rPr lang="en-US" altLang="zh-CN" b="1" dirty="0"/>
              <a:t>(</a:t>
            </a:r>
            <a:r>
              <a:rPr lang="en-US" altLang="zh-CN" dirty="0"/>
              <a:t>EMPLOYEE</a:t>
            </a:r>
            <a:r>
              <a:rPr lang="en-US" altLang="zh-CN" b="1" dirty="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/>
              <a:t>	</a:t>
            </a:r>
            <a:r>
              <a:rPr lang="zh-CN" altLang="en-US" b="1" dirty="0"/>
              <a:t>结果：</a:t>
            </a:r>
          </a:p>
          <a:p>
            <a:pPr eaLnBrk="1" hangingPunct="1"/>
            <a:endParaRPr lang="zh-CN" altLang="en-US" b="1" dirty="0"/>
          </a:p>
        </p:txBody>
      </p:sp>
      <p:graphicFrame>
        <p:nvGraphicFramePr>
          <p:cNvPr id="129028" name="Group 4">
            <a:extLst>
              <a:ext uri="{FF2B5EF4-FFF2-40B4-BE49-F238E27FC236}">
                <a16:creationId xmlns:a16="http://schemas.microsoft.com/office/drawing/2014/main" id="{F3675B3D-B1D2-4797-956C-64D0C263E039}"/>
              </a:ext>
            </a:extLst>
          </p:cNvPr>
          <p:cNvGraphicFramePr>
            <a:graphicFrameLocks noGrp="1"/>
          </p:cNvGraphicFramePr>
          <p:nvPr/>
        </p:nvGraphicFramePr>
        <p:xfrm>
          <a:off x="3276600" y="3962400"/>
          <a:ext cx="1558925" cy="2362200"/>
        </p:xfrm>
        <a:graphic>
          <a:graphicData uri="http://schemas.openxmlformats.org/drawingml/2006/table">
            <a:tbl>
              <a:tblPr/>
              <a:tblGrid>
                <a:gridCol w="155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Joe Baker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Cheryl Clark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Jerry Smith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CCC67723-947D-46A7-BC9A-4DCA5AD727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4、连接（</a:t>
            </a:r>
            <a:r>
              <a:rPr lang="en-US" altLang="zh-CN" b="1"/>
              <a:t>Join）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60BF49A9-3752-411C-ACF8-1A56FB975F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7772400" cy="4114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sz="2800" b="1"/>
              <a:t>1）连接运算的含义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b="1"/>
              <a:t>从两个关系的笛卡尔积中选取属性间满足一定条件的元组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i="1"/>
              <a:t>	</a:t>
            </a:r>
            <a:r>
              <a:rPr lang="zh-CN" altLang="en-US" b="1"/>
              <a:t> </a:t>
            </a:r>
            <a:r>
              <a:rPr lang="en-US" altLang="zh-CN" b="1" i="1"/>
              <a:t>R   S</a:t>
            </a:r>
            <a:r>
              <a:rPr lang="en-US" altLang="zh-CN" b="1"/>
              <a:t> = {    | </a:t>
            </a:r>
            <a:r>
              <a:rPr lang="en-US" altLang="zh-CN" b="1" i="1"/>
              <a:t>t</a:t>
            </a:r>
            <a:r>
              <a:rPr lang="en-US" altLang="zh-CN" b="1" baseline="-30000"/>
              <a:t>r</a:t>
            </a:r>
            <a:r>
              <a:rPr lang="en-US" altLang="zh-CN" b="1" i="1" baseline="-30000"/>
              <a:t> </a:t>
            </a:r>
            <a:r>
              <a:rPr lang="en-US" altLang="zh-CN" b="1">
                <a:sym typeface="Symbol" panose="05050102010706020507" pitchFamily="18" charset="2"/>
              </a:rPr>
              <a:t></a:t>
            </a:r>
            <a:r>
              <a:rPr lang="en-US" altLang="zh-CN" b="1"/>
              <a:t> </a:t>
            </a:r>
            <a:r>
              <a:rPr lang="en-US" altLang="zh-CN" b="1" i="1"/>
              <a:t>R</a:t>
            </a:r>
            <a:r>
              <a:rPr lang="en-US" altLang="zh-CN" b="1"/>
              <a:t>∧</a:t>
            </a:r>
            <a:r>
              <a:rPr lang="en-US" altLang="zh-CN" b="1" i="1"/>
              <a:t>t</a:t>
            </a:r>
            <a:r>
              <a:rPr lang="en-US" altLang="zh-CN" b="1" baseline="-30000"/>
              <a:t>s</a:t>
            </a:r>
            <a:r>
              <a:rPr lang="en-US" altLang="zh-CN" b="1" i="1" baseline="-30000"/>
              <a:t> </a:t>
            </a:r>
            <a:r>
              <a:rPr lang="en-US" altLang="zh-CN" b="1">
                <a:sym typeface="Symbol" panose="05050102010706020507" pitchFamily="18" charset="2"/>
              </a:rPr>
              <a:t></a:t>
            </a:r>
            <a:r>
              <a:rPr lang="en-US" altLang="zh-CN" b="1" i="1"/>
              <a:t>S</a:t>
            </a:r>
            <a:r>
              <a:rPr lang="en-US" altLang="zh-CN" b="1"/>
              <a:t>∧</a:t>
            </a:r>
            <a:r>
              <a:rPr lang="en-US" altLang="zh-CN" b="1" i="1"/>
              <a:t>t</a:t>
            </a:r>
            <a:r>
              <a:rPr lang="en-US" altLang="zh-CN" b="1" baseline="-30000"/>
              <a:t>r</a:t>
            </a:r>
            <a:r>
              <a:rPr lang="en-US" altLang="zh-CN" b="1"/>
              <a:t>[</a:t>
            </a:r>
            <a:r>
              <a:rPr lang="en-US" altLang="zh-CN" b="1" i="1"/>
              <a:t>A</a:t>
            </a:r>
            <a:r>
              <a:rPr lang="en-US" altLang="zh-CN" b="1"/>
              <a:t>]θ</a:t>
            </a:r>
            <a:r>
              <a:rPr lang="en-US" altLang="zh-CN" b="1" i="1"/>
              <a:t>t</a:t>
            </a:r>
            <a:r>
              <a:rPr lang="en-US" altLang="zh-CN" b="1" baseline="-30000"/>
              <a:t>s</a:t>
            </a:r>
            <a:r>
              <a:rPr lang="en-US" altLang="zh-CN" b="1"/>
              <a:t>[</a:t>
            </a:r>
            <a:r>
              <a:rPr lang="en-US" altLang="zh-CN" b="1" i="1"/>
              <a:t>B</a:t>
            </a:r>
            <a:r>
              <a:rPr lang="en-US" altLang="zh-CN" b="1"/>
              <a:t>] }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zh-CN" sz="2800" b="1" i="1"/>
              <a:t>A</a:t>
            </a:r>
            <a:r>
              <a:rPr lang="zh-CN" altLang="en-US" sz="2800" b="1"/>
              <a:t>和</a:t>
            </a:r>
            <a:r>
              <a:rPr lang="en-US" altLang="zh-CN" sz="2800" b="1" i="1"/>
              <a:t>B：</a:t>
            </a:r>
            <a:r>
              <a:rPr lang="zh-CN" altLang="en-US" sz="2800" b="1"/>
              <a:t>分别为</a:t>
            </a:r>
            <a:r>
              <a:rPr lang="en-US" altLang="zh-CN" sz="2800" b="1" i="1"/>
              <a:t>R</a:t>
            </a:r>
            <a:r>
              <a:rPr lang="zh-CN" altLang="en-US" sz="2800" b="1"/>
              <a:t>和</a:t>
            </a:r>
            <a:r>
              <a:rPr lang="en-US" altLang="zh-CN" sz="2800" b="1" i="1"/>
              <a:t>S</a:t>
            </a:r>
            <a:r>
              <a:rPr lang="zh-CN" altLang="en-US" sz="2800" b="1"/>
              <a:t>上度数相等且可比的属性组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zh-CN" sz="2800" b="1"/>
              <a:t>θ：</a:t>
            </a:r>
            <a:r>
              <a:rPr lang="zh-CN" altLang="en-US" sz="2800" b="1"/>
              <a:t>比较运算符</a:t>
            </a:r>
            <a:r>
              <a:rPr lang="zh-CN" altLang="en-US" sz="2800" b="1">
                <a:latin typeface="Times New Roman" panose="02020603050405020304" pitchFamily="18" charset="0"/>
              </a:rPr>
              <a:t> </a:t>
            </a:r>
            <a:endParaRPr lang="zh-CN" altLang="en-US" sz="2800" b="1"/>
          </a:p>
          <a:p>
            <a:pPr lvl="1" eaLnBrk="1" hangingPunct="1">
              <a:lnSpc>
                <a:spcPct val="90000"/>
              </a:lnSpc>
            </a:pPr>
            <a:r>
              <a:rPr lang="zh-CN" altLang="en-US" b="1"/>
              <a:t>	连接运算从</a:t>
            </a:r>
            <a:r>
              <a:rPr lang="en-US" altLang="zh-CN" b="1" i="1"/>
              <a:t>R</a:t>
            </a:r>
            <a:r>
              <a:rPr lang="zh-CN" altLang="en-US" b="1"/>
              <a:t>和</a:t>
            </a:r>
            <a:r>
              <a:rPr lang="en-US" altLang="zh-CN" b="1" i="1"/>
              <a:t>S</a:t>
            </a:r>
            <a:r>
              <a:rPr lang="zh-CN" altLang="en-US" b="1"/>
              <a:t>的广义笛卡尔积</a:t>
            </a:r>
            <a:r>
              <a:rPr lang="en-US" altLang="zh-CN" b="1" i="1"/>
              <a:t>R</a:t>
            </a:r>
            <a:r>
              <a:rPr lang="en-US" altLang="zh-CN" b="1"/>
              <a:t>×</a:t>
            </a:r>
            <a:r>
              <a:rPr lang="en-US" altLang="zh-CN" b="1" i="1"/>
              <a:t>S</a:t>
            </a:r>
            <a:r>
              <a:rPr lang="zh-CN" altLang="en-US" b="1"/>
              <a:t>中选取（</a:t>
            </a:r>
            <a:r>
              <a:rPr lang="en-US" altLang="zh-CN" b="1" i="1"/>
              <a:t>R</a:t>
            </a:r>
            <a:r>
              <a:rPr lang="zh-CN" altLang="en-US" b="1"/>
              <a:t>关系）在</a:t>
            </a:r>
            <a:r>
              <a:rPr lang="en-US" altLang="zh-CN" b="1" i="1"/>
              <a:t>A</a:t>
            </a:r>
            <a:r>
              <a:rPr lang="zh-CN" altLang="en-US" b="1"/>
              <a:t>属性组上的值与（</a:t>
            </a:r>
            <a:r>
              <a:rPr lang="en-US" altLang="zh-CN" b="1" i="1"/>
              <a:t>S</a:t>
            </a:r>
            <a:r>
              <a:rPr lang="zh-CN" altLang="en-US" b="1"/>
              <a:t>关系）在</a:t>
            </a:r>
            <a:r>
              <a:rPr lang="en-US" altLang="zh-CN" b="1" i="1"/>
              <a:t>B</a:t>
            </a:r>
            <a:r>
              <a:rPr lang="zh-CN" altLang="en-US" b="1"/>
              <a:t>属性组上值满足比较关系的元组。 </a:t>
            </a:r>
          </a:p>
        </p:txBody>
      </p:sp>
      <p:grpSp>
        <p:nvGrpSpPr>
          <p:cNvPr id="81924" name="Group 4">
            <a:extLst>
              <a:ext uri="{FF2B5EF4-FFF2-40B4-BE49-F238E27FC236}">
                <a16:creationId xmlns:a16="http://schemas.microsoft.com/office/drawing/2014/main" id="{C4D7A9C3-EE9E-4750-A44F-6051313EE67A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3248025"/>
            <a:ext cx="1600200" cy="685800"/>
            <a:chOff x="1152" y="2304"/>
            <a:chExt cx="1008" cy="432"/>
          </a:xfrm>
        </p:grpSpPr>
        <p:grpSp>
          <p:nvGrpSpPr>
            <p:cNvPr id="81928" name="Group 5">
              <a:extLst>
                <a:ext uri="{FF2B5EF4-FFF2-40B4-BE49-F238E27FC236}">
                  <a16:creationId xmlns:a16="http://schemas.microsoft.com/office/drawing/2014/main" id="{5BB3880F-CE34-4C31-941A-0FEBA791B2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352"/>
              <a:ext cx="1008" cy="384"/>
              <a:chOff x="2325" y="6446"/>
              <a:chExt cx="705" cy="367"/>
            </a:xfrm>
          </p:grpSpPr>
          <p:sp>
            <p:nvSpPr>
              <p:cNvPr id="81930" name="AutoShape 6">
                <a:extLst>
                  <a:ext uri="{FF2B5EF4-FFF2-40B4-BE49-F238E27FC236}">
                    <a16:creationId xmlns:a16="http://schemas.microsoft.com/office/drawing/2014/main" id="{FF023AE1-4819-40EF-8D77-514E02F24F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 flipV="1">
                <a:off x="2612" y="6414"/>
                <a:ext cx="78" cy="142"/>
              </a:xfrm>
              <a:prstGeom prst="flowChartCollat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1931" name="Text Box 7">
                <a:extLst>
                  <a:ext uri="{FF2B5EF4-FFF2-40B4-BE49-F238E27FC236}">
                    <a16:creationId xmlns:a16="http://schemas.microsoft.com/office/drawing/2014/main" id="{A1624946-AC58-4BE5-A049-B4F26C0450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V="1">
                <a:off x="2325" y="6450"/>
                <a:ext cx="705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80000"/>
                  </a:lnSpc>
                </a:pPr>
                <a:r>
                  <a:rPr kumimoji="0" lang="zh-CN" altLang="en-US" sz="600" i="1">
                    <a:latin typeface="Times New Roman" panose="02020603050405020304" pitchFamily="18" charset="0"/>
                  </a:rPr>
                  <a:t> </a:t>
                </a:r>
                <a:endParaRPr kumimoji="0" lang="zh-CN" altLang="en-US" sz="6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1929" name="Rectangle 8">
              <a:extLst>
                <a:ext uri="{FF2B5EF4-FFF2-40B4-BE49-F238E27FC236}">
                  <a16:creationId xmlns:a16="http://schemas.microsoft.com/office/drawing/2014/main" id="{ACFA563E-FB69-4A41-AB27-68018BF97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304"/>
              <a:ext cx="576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 i="1">
                  <a:latin typeface="Times New Roman" panose="02020603050405020304" pitchFamily="18" charset="0"/>
                </a:rPr>
                <a:t> </a:t>
              </a:r>
              <a:r>
                <a:rPr lang="en-US" altLang="zh-CN" sz="16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1600" b="1">
                  <a:latin typeface="Times New Roman" panose="02020603050405020304" pitchFamily="18" charset="0"/>
                </a:rPr>
                <a:t>θ</a:t>
              </a:r>
              <a:r>
                <a:rPr lang="en-US" altLang="zh-CN" sz="1600" b="1" i="1"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81925" name="Group 9">
            <a:extLst>
              <a:ext uri="{FF2B5EF4-FFF2-40B4-BE49-F238E27FC236}">
                <a16:creationId xmlns:a16="http://schemas.microsoft.com/office/drawing/2014/main" id="{C071ADF2-3999-4F77-874A-642C7511FB82}"/>
              </a:ext>
            </a:extLst>
          </p:cNvPr>
          <p:cNvGrpSpPr>
            <a:grpSpLocks/>
          </p:cNvGrpSpPr>
          <p:nvPr/>
        </p:nvGrpSpPr>
        <p:grpSpPr bwMode="auto">
          <a:xfrm>
            <a:off x="2843213" y="3213100"/>
            <a:ext cx="609600" cy="392113"/>
            <a:chOff x="2400" y="3199"/>
            <a:chExt cx="384" cy="247"/>
          </a:xfrm>
        </p:grpSpPr>
        <p:sp>
          <p:nvSpPr>
            <p:cNvPr id="81926" name="Text Box 10">
              <a:extLst>
                <a:ext uri="{FF2B5EF4-FFF2-40B4-BE49-F238E27FC236}">
                  <a16:creationId xmlns:a16="http://schemas.microsoft.com/office/drawing/2014/main" id="{BCAD8BE6-B74C-4582-966F-AE7956D2C1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3216"/>
              <a:ext cx="38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t</a:t>
              </a:r>
              <a:r>
                <a:rPr lang="en-US" altLang="zh-CN" b="1" baseline="-30000">
                  <a:latin typeface="Times New Roman" panose="02020603050405020304" pitchFamily="18" charset="0"/>
                </a:rPr>
                <a:t>r </a:t>
              </a:r>
              <a:r>
                <a:rPr lang="en-US" altLang="zh-CN" b="1" i="1">
                  <a:latin typeface="Times New Roman" panose="02020603050405020304" pitchFamily="18" charset="0"/>
                </a:rPr>
                <a:t>t</a:t>
              </a:r>
              <a:r>
                <a:rPr lang="en-US" altLang="zh-CN" b="1" baseline="-3000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81927" name="Freeform 11">
              <a:extLst>
                <a:ext uri="{FF2B5EF4-FFF2-40B4-BE49-F238E27FC236}">
                  <a16:creationId xmlns:a16="http://schemas.microsoft.com/office/drawing/2014/main" id="{2AC1A8BF-CD06-485A-BBAE-3870FDE49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4" y="3199"/>
              <a:ext cx="156" cy="62"/>
            </a:xfrm>
            <a:custGeom>
              <a:avLst/>
              <a:gdLst>
                <a:gd name="T0" fmla="*/ 0 w 156"/>
                <a:gd name="T1" fmla="*/ 62 h 62"/>
                <a:gd name="T2" fmla="*/ 117 w 156"/>
                <a:gd name="T3" fmla="*/ 23 h 62"/>
                <a:gd name="T4" fmla="*/ 156 w 156"/>
                <a:gd name="T5" fmla="*/ 62 h 62"/>
                <a:gd name="T6" fmla="*/ 0 60000 65536"/>
                <a:gd name="T7" fmla="*/ 0 60000 65536"/>
                <a:gd name="T8" fmla="*/ 0 60000 65536"/>
                <a:gd name="T9" fmla="*/ 0 w 156"/>
                <a:gd name="T10" fmla="*/ 0 h 62"/>
                <a:gd name="T11" fmla="*/ 156 w 156"/>
                <a:gd name="T12" fmla="*/ 62 h 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6" h="62">
                  <a:moveTo>
                    <a:pt x="0" y="62"/>
                  </a:moveTo>
                  <a:cubicBezTo>
                    <a:pt x="89" y="2"/>
                    <a:pt x="48" y="0"/>
                    <a:pt x="117" y="23"/>
                  </a:cubicBezTo>
                  <a:cubicBezTo>
                    <a:pt x="130" y="36"/>
                    <a:pt x="156" y="62"/>
                    <a:pt x="156" y="62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03B3BE58-5BE5-4CC2-B2CC-99EA7723A7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3B42DC2E-3C22-4F66-8577-81CAF2EE3F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2）两类常用连接运算</a:t>
            </a:r>
          </a:p>
          <a:p>
            <a:pPr lvl="1" eaLnBrk="1" hangingPunct="1"/>
            <a:r>
              <a:rPr lang="zh-CN" altLang="en-US" b="1"/>
              <a:t>等值连接（</a:t>
            </a:r>
            <a:r>
              <a:rPr lang="en-US" altLang="zh-CN" b="1"/>
              <a:t>equijoin） </a:t>
            </a:r>
          </a:p>
          <a:p>
            <a:pPr lvl="2" algn="just" eaLnBrk="1" hangingPunct="1"/>
            <a:r>
              <a:rPr lang="zh-CN" altLang="en-US" b="1"/>
              <a:t>什么是等值连接</a:t>
            </a:r>
          </a:p>
          <a:p>
            <a:pPr lvl="3" eaLnBrk="1" hangingPunct="1"/>
            <a:r>
              <a:rPr lang="en-US" altLang="zh-CN" sz="2400" b="1"/>
              <a:t>θ</a:t>
            </a:r>
            <a:r>
              <a:rPr lang="zh-CN" altLang="en-US" sz="2400" b="1"/>
              <a:t>为</a:t>
            </a:r>
            <a:r>
              <a:rPr lang="zh-CN" altLang="en-US" sz="2400" b="1">
                <a:latin typeface="Times New Roman" panose="02020603050405020304" pitchFamily="18" charset="0"/>
              </a:rPr>
              <a:t>“</a:t>
            </a:r>
            <a:r>
              <a:rPr lang="zh-CN" altLang="en-US" sz="2400" b="1"/>
              <a:t>＝</a:t>
            </a:r>
            <a:r>
              <a:rPr lang="zh-CN" altLang="en-US" sz="2400" b="1">
                <a:latin typeface="Times New Roman" panose="02020603050405020304" pitchFamily="18" charset="0"/>
              </a:rPr>
              <a:t>”</a:t>
            </a:r>
            <a:r>
              <a:rPr lang="zh-CN" altLang="en-US" sz="2400" b="1"/>
              <a:t>的连接运算称为等值连接</a:t>
            </a:r>
            <a:r>
              <a:rPr lang="zh-CN" altLang="en-US" b="1"/>
              <a:t> </a:t>
            </a:r>
          </a:p>
          <a:p>
            <a:pPr lvl="2" algn="just" eaLnBrk="1" hangingPunct="1"/>
            <a:r>
              <a:rPr lang="zh-CN" altLang="en-US" b="1"/>
              <a:t>等值连接的含义</a:t>
            </a:r>
          </a:p>
          <a:p>
            <a:pPr lvl="3" algn="just" eaLnBrk="1" hangingPunct="1"/>
            <a:r>
              <a:rPr lang="zh-CN" altLang="en-US" sz="2400" b="1"/>
              <a:t>从关系</a:t>
            </a:r>
            <a:r>
              <a:rPr lang="en-US" altLang="zh-CN" sz="2400" b="1" i="1"/>
              <a:t>R</a:t>
            </a:r>
            <a:r>
              <a:rPr lang="zh-CN" altLang="en-US" sz="2400" b="1"/>
              <a:t>与</a:t>
            </a:r>
            <a:r>
              <a:rPr lang="en-US" altLang="zh-CN" sz="2400" b="1" i="1"/>
              <a:t>S</a:t>
            </a:r>
            <a:r>
              <a:rPr lang="zh-CN" altLang="en-US" sz="2400" b="1"/>
              <a:t>的广义笛卡尔积中选取</a:t>
            </a:r>
            <a:r>
              <a:rPr lang="en-US" altLang="zh-CN" sz="2400" b="1" i="1"/>
              <a:t>A</a:t>
            </a:r>
            <a:r>
              <a:rPr lang="en-US" altLang="zh-CN" sz="2400" b="1"/>
              <a:t>、</a:t>
            </a:r>
            <a:r>
              <a:rPr lang="en-US" altLang="zh-CN" sz="2400" b="1" i="1"/>
              <a:t>B</a:t>
            </a:r>
            <a:r>
              <a:rPr lang="zh-CN" altLang="en-US" sz="2400" b="1"/>
              <a:t>属性值相等的那些元组，即等值连接为：</a:t>
            </a:r>
            <a:endParaRPr lang="zh-CN" altLang="en-US" sz="2400" b="1">
              <a:latin typeface="Wingdings" panose="05000000000000000000" pitchFamily="2" charset="2"/>
            </a:endParaRP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     </a:t>
            </a:r>
            <a:r>
              <a:rPr lang="en-US" altLang="zh-CN" b="1" i="1"/>
              <a:t>R    S</a:t>
            </a:r>
            <a:r>
              <a:rPr lang="en-US" altLang="zh-CN" b="1"/>
              <a:t> = {          | </a:t>
            </a:r>
            <a:r>
              <a:rPr lang="en-US" altLang="zh-CN" b="1" i="1"/>
              <a:t>t</a:t>
            </a:r>
            <a:r>
              <a:rPr lang="en-US" altLang="zh-CN" b="1" baseline="-30000"/>
              <a:t>r</a:t>
            </a:r>
            <a:r>
              <a:rPr lang="en-US" altLang="zh-CN" b="1" i="1" baseline="-30000"/>
              <a:t> </a:t>
            </a:r>
            <a:r>
              <a:rPr lang="en-US" altLang="zh-CN" b="1">
                <a:sym typeface="Symbol" panose="05050102010706020507" pitchFamily="18" charset="2"/>
              </a:rPr>
              <a:t></a:t>
            </a:r>
            <a:r>
              <a:rPr lang="en-US" altLang="zh-CN" b="1" i="1"/>
              <a:t>R</a:t>
            </a:r>
            <a:r>
              <a:rPr lang="en-US" altLang="zh-CN" b="1"/>
              <a:t>∧</a:t>
            </a:r>
            <a:r>
              <a:rPr lang="en-US" altLang="zh-CN" b="1" i="1"/>
              <a:t>t</a:t>
            </a:r>
            <a:r>
              <a:rPr lang="en-US" altLang="zh-CN" b="1" baseline="-30000"/>
              <a:t>s </a:t>
            </a:r>
            <a:r>
              <a:rPr lang="en-US" altLang="zh-CN" b="1">
                <a:sym typeface="Symbol" panose="05050102010706020507" pitchFamily="18" charset="2"/>
              </a:rPr>
              <a:t></a:t>
            </a:r>
            <a:r>
              <a:rPr lang="en-US" altLang="zh-CN" b="1" i="1"/>
              <a:t>S</a:t>
            </a:r>
            <a:r>
              <a:rPr lang="en-US" altLang="zh-CN" b="1"/>
              <a:t>∧</a:t>
            </a:r>
            <a:r>
              <a:rPr lang="en-US" altLang="zh-CN" b="1" i="1"/>
              <a:t>t</a:t>
            </a:r>
            <a:r>
              <a:rPr lang="en-US" altLang="zh-CN" b="1" baseline="-30000"/>
              <a:t>r</a:t>
            </a:r>
            <a:r>
              <a:rPr lang="en-US" altLang="zh-CN" b="1"/>
              <a:t>[</a:t>
            </a:r>
            <a:r>
              <a:rPr lang="en-US" altLang="zh-CN" b="1" i="1"/>
              <a:t>A</a:t>
            </a:r>
            <a:r>
              <a:rPr lang="en-US" altLang="zh-CN" b="1"/>
              <a:t>] = </a:t>
            </a:r>
            <a:r>
              <a:rPr lang="en-US" altLang="zh-CN" b="1" i="1"/>
              <a:t>t</a:t>
            </a:r>
            <a:r>
              <a:rPr lang="en-US" altLang="zh-CN" b="1" baseline="-30000"/>
              <a:t>s</a:t>
            </a:r>
            <a:r>
              <a:rPr lang="en-US" altLang="zh-CN" b="1"/>
              <a:t>[</a:t>
            </a:r>
            <a:r>
              <a:rPr lang="en-US" altLang="zh-CN" b="1" i="1"/>
              <a:t>B</a:t>
            </a:r>
            <a:r>
              <a:rPr lang="en-US" altLang="zh-CN" b="1"/>
              <a:t>] }  </a:t>
            </a:r>
            <a:endParaRPr lang="zh-CN" altLang="en-US" b="1"/>
          </a:p>
        </p:txBody>
      </p:sp>
      <p:grpSp>
        <p:nvGrpSpPr>
          <p:cNvPr id="82948" name="Group 4">
            <a:extLst>
              <a:ext uri="{FF2B5EF4-FFF2-40B4-BE49-F238E27FC236}">
                <a16:creationId xmlns:a16="http://schemas.microsoft.com/office/drawing/2014/main" id="{A118F449-7F76-4815-8556-890D2302E8E6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5246688"/>
            <a:ext cx="609600" cy="392112"/>
            <a:chOff x="2400" y="3199"/>
            <a:chExt cx="384" cy="247"/>
          </a:xfrm>
        </p:grpSpPr>
        <p:sp>
          <p:nvSpPr>
            <p:cNvPr id="82954" name="Text Box 5">
              <a:extLst>
                <a:ext uri="{FF2B5EF4-FFF2-40B4-BE49-F238E27FC236}">
                  <a16:creationId xmlns:a16="http://schemas.microsoft.com/office/drawing/2014/main" id="{9054580F-E540-4EA8-8430-C306936B09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3216"/>
              <a:ext cx="38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t</a:t>
              </a:r>
              <a:r>
                <a:rPr lang="en-US" altLang="zh-CN" b="1" baseline="-30000">
                  <a:latin typeface="Times New Roman" panose="02020603050405020304" pitchFamily="18" charset="0"/>
                </a:rPr>
                <a:t>r </a:t>
              </a:r>
              <a:r>
                <a:rPr lang="en-US" altLang="zh-CN" b="1" i="1">
                  <a:latin typeface="Times New Roman" panose="02020603050405020304" pitchFamily="18" charset="0"/>
                </a:rPr>
                <a:t>t</a:t>
              </a:r>
              <a:r>
                <a:rPr lang="en-US" altLang="zh-CN" b="1" baseline="-3000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82955" name="Freeform 6">
              <a:extLst>
                <a:ext uri="{FF2B5EF4-FFF2-40B4-BE49-F238E27FC236}">
                  <a16:creationId xmlns:a16="http://schemas.microsoft.com/office/drawing/2014/main" id="{E0E54681-F2A0-4EF1-AED1-4CC75F94DA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4" y="3199"/>
              <a:ext cx="156" cy="62"/>
            </a:xfrm>
            <a:custGeom>
              <a:avLst/>
              <a:gdLst>
                <a:gd name="T0" fmla="*/ 0 w 156"/>
                <a:gd name="T1" fmla="*/ 62 h 62"/>
                <a:gd name="T2" fmla="*/ 117 w 156"/>
                <a:gd name="T3" fmla="*/ 23 h 62"/>
                <a:gd name="T4" fmla="*/ 156 w 156"/>
                <a:gd name="T5" fmla="*/ 62 h 62"/>
                <a:gd name="T6" fmla="*/ 0 60000 65536"/>
                <a:gd name="T7" fmla="*/ 0 60000 65536"/>
                <a:gd name="T8" fmla="*/ 0 60000 65536"/>
                <a:gd name="T9" fmla="*/ 0 w 156"/>
                <a:gd name="T10" fmla="*/ 0 h 62"/>
                <a:gd name="T11" fmla="*/ 156 w 156"/>
                <a:gd name="T12" fmla="*/ 62 h 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6" h="62">
                  <a:moveTo>
                    <a:pt x="0" y="62"/>
                  </a:moveTo>
                  <a:cubicBezTo>
                    <a:pt x="89" y="2"/>
                    <a:pt x="48" y="0"/>
                    <a:pt x="117" y="23"/>
                  </a:cubicBezTo>
                  <a:cubicBezTo>
                    <a:pt x="130" y="36"/>
                    <a:pt x="156" y="62"/>
                    <a:pt x="156" y="62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2949" name="Group 7">
            <a:extLst>
              <a:ext uri="{FF2B5EF4-FFF2-40B4-BE49-F238E27FC236}">
                <a16:creationId xmlns:a16="http://schemas.microsoft.com/office/drawing/2014/main" id="{9796ADF1-F221-4D88-BCA0-C67B088CCCCF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5257800"/>
            <a:ext cx="1600200" cy="685800"/>
            <a:chOff x="480" y="2784"/>
            <a:chExt cx="1008" cy="432"/>
          </a:xfrm>
        </p:grpSpPr>
        <p:grpSp>
          <p:nvGrpSpPr>
            <p:cNvPr id="82950" name="Group 8">
              <a:extLst>
                <a:ext uri="{FF2B5EF4-FFF2-40B4-BE49-F238E27FC236}">
                  <a16:creationId xmlns:a16="http://schemas.microsoft.com/office/drawing/2014/main" id="{CB17417A-1EA9-4948-8B00-5DDBFA1CBC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2832"/>
              <a:ext cx="1008" cy="384"/>
              <a:chOff x="2325" y="6446"/>
              <a:chExt cx="705" cy="367"/>
            </a:xfrm>
          </p:grpSpPr>
          <p:sp>
            <p:nvSpPr>
              <p:cNvPr id="82952" name="AutoShape 9">
                <a:extLst>
                  <a:ext uri="{FF2B5EF4-FFF2-40B4-BE49-F238E27FC236}">
                    <a16:creationId xmlns:a16="http://schemas.microsoft.com/office/drawing/2014/main" id="{88B738B9-3C6F-4538-AE1B-CEC812840D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 flipV="1">
                <a:off x="2612" y="6414"/>
                <a:ext cx="78" cy="142"/>
              </a:xfrm>
              <a:prstGeom prst="flowChartCollat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2953" name="Text Box 10">
                <a:extLst>
                  <a:ext uri="{FF2B5EF4-FFF2-40B4-BE49-F238E27FC236}">
                    <a16:creationId xmlns:a16="http://schemas.microsoft.com/office/drawing/2014/main" id="{89756401-1E0D-4708-A674-D6F8C18C4F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V="1">
                <a:off x="2325" y="6450"/>
                <a:ext cx="705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80000"/>
                  </a:lnSpc>
                </a:pPr>
                <a:r>
                  <a:rPr kumimoji="0" lang="zh-CN" altLang="en-US" sz="600" i="1">
                    <a:latin typeface="Times New Roman" panose="02020603050405020304" pitchFamily="18" charset="0"/>
                  </a:rPr>
                  <a:t> </a:t>
                </a:r>
                <a:endParaRPr kumimoji="0" lang="zh-CN" altLang="en-US" sz="6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2951" name="Rectangle 11">
              <a:extLst>
                <a:ext uri="{FF2B5EF4-FFF2-40B4-BE49-F238E27FC236}">
                  <a16:creationId xmlns:a16="http://schemas.microsoft.com/office/drawing/2014/main" id="{65BFA71C-6DC1-4E62-BFED-58E264104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784"/>
              <a:ext cx="576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 i="1">
                  <a:latin typeface="Times New Roman" panose="02020603050405020304" pitchFamily="18" charset="0"/>
                </a:rPr>
                <a:t> </a:t>
              </a:r>
              <a:r>
                <a:rPr lang="en-US" altLang="zh-CN" sz="16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1600" b="1">
                  <a:latin typeface="Times New Roman" panose="02020603050405020304" pitchFamily="18" charset="0"/>
                </a:rPr>
                <a:t>=</a:t>
              </a:r>
              <a:r>
                <a:rPr lang="en-US" altLang="zh-CN" sz="1600" b="1" i="1">
                  <a:latin typeface="Times New Roman" panose="02020603050405020304" pitchFamily="18" charset="0"/>
                </a:rPr>
                <a:t>B</a:t>
              </a:r>
            </a:p>
          </p:txBody>
        </p: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6DE18095-F7BC-45B2-9155-A04E7EA5E9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EF314C16-3E2A-4F5D-8E9F-43FE3F7F12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 eaLnBrk="1" hangingPunct="1">
              <a:lnSpc>
                <a:spcPct val="90000"/>
              </a:lnSpc>
            </a:pPr>
            <a:r>
              <a:rPr lang="zh-CN" altLang="en-US" b="1"/>
              <a:t>自然连接（</a:t>
            </a:r>
            <a:r>
              <a:rPr lang="en-US" altLang="zh-CN" b="1"/>
              <a:t>Natural join）</a:t>
            </a:r>
            <a:r>
              <a:rPr lang="en-US" altLang="zh-CN" b="1">
                <a:cs typeface="Times New Roman" panose="02020603050405020304" pitchFamily="18" charset="0"/>
              </a:rPr>
              <a:t>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b="1"/>
              <a:t>什么是自然连接</a:t>
            </a:r>
          </a:p>
          <a:p>
            <a:pPr lvl="3" eaLnBrk="1" hangingPunct="1">
              <a:lnSpc>
                <a:spcPct val="90000"/>
              </a:lnSpc>
            </a:pPr>
            <a:r>
              <a:rPr lang="zh-CN" altLang="en-US" sz="2400" b="1"/>
              <a:t>自然连接是一种特殊的等值连接</a:t>
            </a:r>
          </a:p>
          <a:p>
            <a:pPr lvl="4" eaLnBrk="1" hangingPunct="1">
              <a:lnSpc>
                <a:spcPct val="90000"/>
              </a:lnSpc>
            </a:pPr>
            <a:r>
              <a:rPr lang="zh-CN" altLang="en-US" sz="2400" b="1"/>
              <a:t>两个关系中进行比较的分量必须是相同的属性组</a:t>
            </a:r>
          </a:p>
          <a:p>
            <a:pPr lvl="4" eaLnBrk="1" hangingPunct="1">
              <a:lnSpc>
                <a:spcPct val="90000"/>
              </a:lnSpc>
            </a:pPr>
            <a:r>
              <a:rPr lang="zh-CN" altLang="en-US" sz="2400" b="1"/>
              <a:t>在结果中把重复的属性列去掉</a:t>
            </a:r>
            <a:endParaRPr lang="zh-CN" altLang="en-US" b="1"/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b="1"/>
              <a:t>自然连接的含义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i="1"/>
              <a:t>	</a:t>
            </a:r>
            <a:r>
              <a:rPr lang="en-US" altLang="zh-CN" b="1" i="1"/>
              <a:t>R</a:t>
            </a:r>
            <a:r>
              <a:rPr lang="zh-CN" altLang="en-US" b="1"/>
              <a:t>和</a:t>
            </a:r>
            <a:r>
              <a:rPr lang="en-US" altLang="zh-CN" b="1" i="1"/>
              <a:t>S</a:t>
            </a:r>
            <a:r>
              <a:rPr lang="zh-CN" altLang="en-US" b="1"/>
              <a:t>具有相同的属性组</a:t>
            </a:r>
            <a:r>
              <a:rPr lang="en-US" altLang="zh-CN" b="1" i="1"/>
              <a:t>B</a:t>
            </a:r>
            <a:endParaRPr lang="en-US" altLang="zh-CN" b="1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     </a:t>
            </a:r>
            <a:r>
              <a:rPr lang="en-US" altLang="zh-CN" b="1" i="1"/>
              <a:t>R</a:t>
            </a:r>
            <a:r>
              <a:rPr lang="en-US" altLang="zh-CN" b="1"/>
              <a:t>   </a:t>
            </a:r>
            <a:r>
              <a:rPr lang="en-US" altLang="zh-CN" b="1" i="1"/>
              <a:t>S</a:t>
            </a:r>
            <a:r>
              <a:rPr lang="en-US" altLang="zh-CN" b="1"/>
              <a:t> = {         | t</a:t>
            </a:r>
            <a:r>
              <a:rPr lang="en-US" altLang="zh-CN" b="1" baseline="-30000"/>
              <a:t>r </a:t>
            </a:r>
            <a:r>
              <a:rPr lang="en-US" altLang="zh-CN" b="1">
                <a:sym typeface="Symbol" panose="05050102010706020507" pitchFamily="18" charset="2"/>
              </a:rPr>
              <a:t></a:t>
            </a:r>
            <a:r>
              <a:rPr lang="en-US" altLang="zh-CN" b="1" i="1"/>
              <a:t>R</a:t>
            </a:r>
            <a:r>
              <a:rPr lang="en-US" altLang="zh-CN" b="1"/>
              <a:t>∧</a:t>
            </a:r>
            <a:r>
              <a:rPr lang="en-US" altLang="zh-CN" b="1" i="1"/>
              <a:t>t</a:t>
            </a:r>
            <a:r>
              <a:rPr lang="en-US" altLang="zh-CN" b="1" baseline="-30000"/>
              <a:t>s </a:t>
            </a:r>
            <a:r>
              <a:rPr lang="en-US" altLang="zh-CN" b="1">
                <a:sym typeface="Symbol" panose="05050102010706020507" pitchFamily="18" charset="2"/>
              </a:rPr>
              <a:t></a:t>
            </a:r>
            <a:r>
              <a:rPr lang="en-US" altLang="zh-CN" b="1" i="1"/>
              <a:t>S</a:t>
            </a:r>
            <a:r>
              <a:rPr lang="en-US" altLang="zh-CN" b="1"/>
              <a:t>∧</a:t>
            </a:r>
            <a:r>
              <a:rPr lang="en-US" altLang="zh-CN" b="1" i="1"/>
              <a:t>t</a:t>
            </a:r>
            <a:r>
              <a:rPr lang="en-US" altLang="zh-CN" b="1" baseline="-30000"/>
              <a:t>r</a:t>
            </a:r>
            <a:r>
              <a:rPr lang="en-US" altLang="zh-CN" b="1"/>
              <a:t>[</a:t>
            </a:r>
            <a:r>
              <a:rPr lang="en-US" altLang="zh-CN" b="1" i="1"/>
              <a:t>B</a:t>
            </a:r>
            <a:r>
              <a:rPr lang="en-US" altLang="zh-CN" b="1"/>
              <a:t>] = </a:t>
            </a:r>
            <a:r>
              <a:rPr lang="en-US" altLang="zh-CN" b="1" i="1"/>
              <a:t>t</a:t>
            </a:r>
            <a:r>
              <a:rPr lang="en-US" altLang="zh-CN" b="1" baseline="-30000"/>
              <a:t>s</a:t>
            </a:r>
            <a:r>
              <a:rPr lang="en-US" altLang="zh-CN" b="1"/>
              <a:t>[</a:t>
            </a:r>
            <a:r>
              <a:rPr lang="en-US" altLang="zh-CN" b="1" i="1"/>
              <a:t>B</a:t>
            </a:r>
            <a:r>
              <a:rPr lang="en-US" altLang="zh-CN" b="1"/>
              <a:t>] }  </a:t>
            </a:r>
            <a:endParaRPr lang="zh-CN" altLang="en-US" b="1"/>
          </a:p>
        </p:txBody>
      </p:sp>
      <p:grpSp>
        <p:nvGrpSpPr>
          <p:cNvPr id="83972" name="Group 4">
            <a:extLst>
              <a:ext uri="{FF2B5EF4-FFF2-40B4-BE49-F238E27FC236}">
                <a16:creationId xmlns:a16="http://schemas.microsoft.com/office/drawing/2014/main" id="{CFC827BA-812A-4EF9-AF3B-499DF8FA64A0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5257800"/>
            <a:ext cx="609600" cy="392113"/>
            <a:chOff x="2400" y="3199"/>
            <a:chExt cx="384" cy="247"/>
          </a:xfrm>
        </p:grpSpPr>
        <p:sp>
          <p:nvSpPr>
            <p:cNvPr id="83977" name="Text Box 5">
              <a:extLst>
                <a:ext uri="{FF2B5EF4-FFF2-40B4-BE49-F238E27FC236}">
                  <a16:creationId xmlns:a16="http://schemas.microsoft.com/office/drawing/2014/main" id="{84BD9DAD-1562-4DD7-ABCA-65585EFE01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3216"/>
              <a:ext cx="38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</a:rPr>
                <a:t>t</a:t>
              </a:r>
              <a:r>
                <a:rPr lang="en-US" altLang="zh-CN" b="1" baseline="-30000">
                  <a:latin typeface="Times New Roman" panose="02020603050405020304" pitchFamily="18" charset="0"/>
                </a:rPr>
                <a:t>r </a:t>
              </a:r>
              <a:r>
                <a:rPr lang="en-US" altLang="zh-CN" b="1" i="1">
                  <a:latin typeface="Times New Roman" panose="02020603050405020304" pitchFamily="18" charset="0"/>
                </a:rPr>
                <a:t>t</a:t>
              </a:r>
              <a:r>
                <a:rPr lang="en-US" altLang="zh-CN" b="1" baseline="-3000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83978" name="Freeform 6">
              <a:extLst>
                <a:ext uri="{FF2B5EF4-FFF2-40B4-BE49-F238E27FC236}">
                  <a16:creationId xmlns:a16="http://schemas.microsoft.com/office/drawing/2014/main" id="{122CC45F-565B-4101-BF52-32C2334AA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4" y="3199"/>
              <a:ext cx="156" cy="62"/>
            </a:xfrm>
            <a:custGeom>
              <a:avLst/>
              <a:gdLst>
                <a:gd name="T0" fmla="*/ 0 w 156"/>
                <a:gd name="T1" fmla="*/ 62 h 62"/>
                <a:gd name="T2" fmla="*/ 117 w 156"/>
                <a:gd name="T3" fmla="*/ 23 h 62"/>
                <a:gd name="T4" fmla="*/ 156 w 156"/>
                <a:gd name="T5" fmla="*/ 62 h 62"/>
                <a:gd name="T6" fmla="*/ 0 60000 65536"/>
                <a:gd name="T7" fmla="*/ 0 60000 65536"/>
                <a:gd name="T8" fmla="*/ 0 60000 65536"/>
                <a:gd name="T9" fmla="*/ 0 w 156"/>
                <a:gd name="T10" fmla="*/ 0 h 62"/>
                <a:gd name="T11" fmla="*/ 156 w 156"/>
                <a:gd name="T12" fmla="*/ 62 h 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6" h="62">
                  <a:moveTo>
                    <a:pt x="0" y="62"/>
                  </a:moveTo>
                  <a:cubicBezTo>
                    <a:pt x="89" y="2"/>
                    <a:pt x="48" y="0"/>
                    <a:pt x="117" y="23"/>
                  </a:cubicBezTo>
                  <a:cubicBezTo>
                    <a:pt x="130" y="36"/>
                    <a:pt x="156" y="62"/>
                    <a:pt x="156" y="62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3973" name="Group 7">
            <a:extLst>
              <a:ext uri="{FF2B5EF4-FFF2-40B4-BE49-F238E27FC236}">
                <a16:creationId xmlns:a16="http://schemas.microsoft.com/office/drawing/2014/main" id="{2CFAC58B-C577-4A57-8FFE-16BDA678EBB2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5410200"/>
            <a:ext cx="1600200" cy="609600"/>
            <a:chOff x="2325" y="6446"/>
            <a:chExt cx="705" cy="367"/>
          </a:xfrm>
        </p:grpSpPr>
        <p:sp>
          <p:nvSpPr>
            <p:cNvPr id="83975" name="AutoShape 8">
              <a:extLst>
                <a:ext uri="{FF2B5EF4-FFF2-40B4-BE49-F238E27FC236}">
                  <a16:creationId xmlns:a16="http://schemas.microsoft.com/office/drawing/2014/main" id="{E8521132-9869-4610-967D-9710368792A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V="1">
              <a:off x="2612" y="6414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3976" name="Text Box 9">
              <a:extLst>
                <a:ext uri="{FF2B5EF4-FFF2-40B4-BE49-F238E27FC236}">
                  <a16:creationId xmlns:a16="http://schemas.microsoft.com/office/drawing/2014/main" id="{3E059884-0EB3-4E53-93D0-1D1D7A9B8D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V="1">
              <a:off x="2325" y="6450"/>
              <a:ext cx="705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80000"/>
                </a:lnSpc>
              </a:pPr>
              <a:r>
                <a:rPr kumimoji="0" lang="zh-CN" altLang="en-US" sz="600" i="1">
                  <a:latin typeface="Times New Roman" panose="02020603050405020304" pitchFamily="18" charset="0"/>
                </a:rPr>
                <a:t> </a:t>
              </a:r>
              <a:endParaRPr kumimoji="0" lang="zh-CN" altLang="en-US" sz="600">
                <a:latin typeface="Times New Roman" panose="02020603050405020304" pitchFamily="18" charset="0"/>
              </a:endParaRPr>
            </a:p>
          </p:txBody>
        </p:sp>
      </p:grpSp>
      <p:sp>
        <p:nvSpPr>
          <p:cNvPr id="83974" name="Rectangle 10">
            <a:extLst>
              <a:ext uri="{FF2B5EF4-FFF2-40B4-BE49-F238E27FC236}">
                <a16:creationId xmlns:a16="http://schemas.microsoft.com/office/drawing/2014/main" id="{E7940494-79A6-492C-8509-D44787C99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657600"/>
            <a:ext cx="914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 i="1">
                <a:latin typeface="Times New Roman" panose="02020603050405020304" pitchFamily="18" charset="0"/>
              </a:rPr>
              <a:t> </a:t>
            </a:r>
            <a:endParaRPr lang="en-US" altLang="zh-CN" sz="1600" b="1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72F0C189-3B6F-4411-8A25-A07709139F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B6AEF72D-D2AC-4666-AC3E-6C2E2DC643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b="1"/>
              <a:t>3）一般的连接操作是从行的角度进行运算。</a:t>
            </a:r>
          </a:p>
          <a:p>
            <a:pPr algn="just" eaLnBrk="1" hangingPunct="1">
              <a:lnSpc>
                <a:spcPct val="90000"/>
              </a:lnSpc>
            </a:pPr>
            <a:endParaRPr lang="zh-CN" altLang="en-US" b="1"/>
          </a:p>
          <a:p>
            <a:pPr algn="just" eaLnBrk="1" hangingPunct="1">
              <a:lnSpc>
                <a:spcPct val="90000"/>
              </a:lnSpc>
            </a:pPr>
            <a:endParaRPr lang="zh-CN" altLang="en-US" b="1"/>
          </a:p>
          <a:p>
            <a:pPr algn="just" eaLnBrk="1" hangingPunct="1">
              <a:lnSpc>
                <a:spcPct val="90000"/>
              </a:lnSpc>
            </a:pPr>
            <a:endParaRPr lang="zh-CN" altLang="en-US" b="1"/>
          </a:p>
          <a:p>
            <a:pPr algn="just" eaLnBrk="1" hangingPunct="1">
              <a:lnSpc>
                <a:spcPct val="90000"/>
              </a:lnSpc>
            </a:pPr>
            <a:endParaRPr lang="zh-CN" altLang="en-US" b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      自然连接还需要取消重复列，所以是同时从行和列的角度进行运算。</a:t>
            </a:r>
          </a:p>
        </p:txBody>
      </p:sp>
      <p:grpSp>
        <p:nvGrpSpPr>
          <p:cNvPr id="84996" name="Group 4">
            <a:extLst>
              <a:ext uri="{FF2B5EF4-FFF2-40B4-BE49-F238E27FC236}">
                <a16:creationId xmlns:a16="http://schemas.microsoft.com/office/drawing/2014/main" id="{3983E228-9254-44DE-A1F5-DEF4C3CBE8E0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2819400"/>
            <a:ext cx="5486400" cy="2286000"/>
            <a:chOff x="1728" y="1632"/>
            <a:chExt cx="3456" cy="1440"/>
          </a:xfrm>
        </p:grpSpPr>
        <p:grpSp>
          <p:nvGrpSpPr>
            <p:cNvPr id="84997" name="Group 5">
              <a:extLst>
                <a:ext uri="{FF2B5EF4-FFF2-40B4-BE49-F238E27FC236}">
                  <a16:creationId xmlns:a16="http://schemas.microsoft.com/office/drawing/2014/main" id="{F3A0F200-12E3-4248-8259-F5E5AD5BB9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1680"/>
              <a:ext cx="912" cy="768"/>
              <a:chOff x="1536" y="1632"/>
              <a:chExt cx="912" cy="768"/>
            </a:xfrm>
          </p:grpSpPr>
          <p:sp>
            <p:nvSpPr>
              <p:cNvPr id="85019" name="Rectangle 6">
                <a:extLst>
                  <a:ext uri="{FF2B5EF4-FFF2-40B4-BE49-F238E27FC236}">
                    <a16:creationId xmlns:a16="http://schemas.microsoft.com/office/drawing/2014/main" id="{A6D8673D-6167-4901-9336-8537FDCED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63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020" name="Rectangle 7" descr="浅色下对角线">
                <a:extLst>
                  <a:ext uri="{FF2B5EF4-FFF2-40B4-BE49-F238E27FC236}">
                    <a16:creationId xmlns:a16="http://schemas.microsoft.com/office/drawing/2014/main" id="{3AFF5D09-BF22-4BA1-B7CC-69C7D9A01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728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021" name="Rectangle 8">
                <a:extLst>
                  <a:ext uri="{FF2B5EF4-FFF2-40B4-BE49-F238E27FC236}">
                    <a16:creationId xmlns:a16="http://schemas.microsoft.com/office/drawing/2014/main" id="{D6176A8C-2515-4054-BE33-81CC9B4A79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82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022" name="Rectangle 9">
                <a:extLst>
                  <a:ext uri="{FF2B5EF4-FFF2-40B4-BE49-F238E27FC236}">
                    <a16:creationId xmlns:a16="http://schemas.microsoft.com/office/drawing/2014/main" id="{6C83A4B2-9609-4E40-809E-CA838CF0E2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30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023" name="Rectangle 10">
                <a:extLst>
                  <a:ext uri="{FF2B5EF4-FFF2-40B4-BE49-F238E27FC236}">
                    <a16:creationId xmlns:a16="http://schemas.microsoft.com/office/drawing/2014/main" id="{C09AF109-E46B-466B-8995-F6BBEB2D8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920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024" name="Rectangle 11" descr="浅色下对角线">
                <a:extLst>
                  <a:ext uri="{FF2B5EF4-FFF2-40B4-BE49-F238E27FC236}">
                    <a16:creationId xmlns:a16="http://schemas.microsoft.com/office/drawing/2014/main" id="{5333D2EB-DB91-4E54-AF33-6493101F93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016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025" name="Rectangle 12">
                <a:extLst>
                  <a:ext uri="{FF2B5EF4-FFF2-40B4-BE49-F238E27FC236}">
                    <a16:creationId xmlns:a16="http://schemas.microsoft.com/office/drawing/2014/main" id="{9F9F4636-D569-4C53-A4DC-EF3C00392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11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026" name="Rectangle 13" descr="浅色下对角线">
                <a:extLst>
                  <a:ext uri="{FF2B5EF4-FFF2-40B4-BE49-F238E27FC236}">
                    <a16:creationId xmlns:a16="http://schemas.microsoft.com/office/drawing/2014/main" id="{3631E5A2-3D8D-4A75-A797-2CF09B923C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208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84998" name="AutoShape 14">
              <a:extLst>
                <a:ext uri="{FF2B5EF4-FFF2-40B4-BE49-F238E27FC236}">
                  <a16:creationId xmlns:a16="http://schemas.microsoft.com/office/drawing/2014/main" id="{962FE4D2-7BFF-4C96-B0B1-86AD8A51C09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235391">
              <a:off x="3072" y="2352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84999" name="Group 15">
              <a:extLst>
                <a:ext uri="{FF2B5EF4-FFF2-40B4-BE49-F238E27FC236}">
                  <a16:creationId xmlns:a16="http://schemas.microsoft.com/office/drawing/2014/main" id="{D0538B30-3968-4E85-A3F2-17BFAED743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688"/>
              <a:ext cx="528" cy="384"/>
              <a:chOff x="1536" y="2544"/>
              <a:chExt cx="912" cy="384"/>
            </a:xfrm>
          </p:grpSpPr>
          <p:sp>
            <p:nvSpPr>
              <p:cNvPr id="85015" name="Rectangle 16">
                <a:extLst>
                  <a:ext uri="{FF2B5EF4-FFF2-40B4-BE49-F238E27FC236}">
                    <a16:creationId xmlns:a16="http://schemas.microsoft.com/office/drawing/2014/main" id="{9695C82E-F50B-48FF-8FA6-1C8EF90BCB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54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016" name="Rectangle 17" descr="浅色下对角线">
                <a:extLst>
                  <a:ext uri="{FF2B5EF4-FFF2-40B4-BE49-F238E27FC236}">
                    <a16:creationId xmlns:a16="http://schemas.microsoft.com/office/drawing/2014/main" id="{B0C7F603-B7D7-4E67-A1ED-B6223BAF07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640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017" name="Rectangle 18">
                <a:extLst>
                  <a:ext uri="{FF2B5EF4-FFF2-40B4-BE49-F238E27FC236}">
                    <a16:creationId xmlns:a16="http://schemas.microsoft.com/office/drawing/2014/main" id="{08415C1F-60B5-4DD5-A325-42EAC93F13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736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018" name="Rectangle 19">
                <a:extLst>
                  <a:ext uri="{FF2B5EF4-FFF2-40B4-BE49-F238E27FC236}">
                    <a16:creationId xmlns:a16="http://schemas.microsoft.com/office/drawing/2014/main" id="{FA012960-AEF5-4C29-90D0-4D87E07078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83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85000" name="Group 20">
              <a:extLst>
                <a:ext uri="{FF2B5EF4-FFF2-40B4-BE49-F238E27FC236}">
                  <a16:creationId xmlns:a16="http://schemas.microsoft.com/office/drawing/2014/main" id="{BEC91782-C636-4AF0-B79E-E213786BB4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8" y="2448"/>
              <a:ext cx="1008" cy="432"/>
              <a:chOff x="2688" y="2448"/>
              <a:chExt cx="1008" cy="432"/>
            </a:xfrm>
          </p:grpSpPr>
          <p:grpSp>
            <p:nvGrpSpPr>
              <p:cNvPr id="85011" name="Group 21">
                <a:extLst>
                  <a:ext uri="{FF2B5EF4-FFF2-40B4-BE49-F238E27FC236}">
                    <a16:creationId xmlns:a16="http://schemas.microsoft.com/office/drawing/2014/main" id="{9D092E4E-59B5-4545-8191-B165E13665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88" y="2496"/>
                <a:ext cx="1008" cy="384"/>
                <a:chOff x="2325" y="6446"/>
                <a:chExt cx="705" cy="367"/>
              </a:xfrm>
            </p:grpSpPr>
            <p:sp>
              <p:nvSpPr>
                <p:cNvPr id="85013" name="AutoShape 22">
                  <a:extLst>
                    <a:ext uri="{FF2B5EF4-FFF2-40B4-BE49-F238E27FC236}">
                      <a16:creationId xmlns:a16="http://schemas.microsoft.com/office/drawing/2014/main" id="{E442F67B-6510-46FC-8194-235D04E5AD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 flipV="1">
                  <a:off x="2612" y="6414"/>
                  <a:ext cx="78" cy="142"/>
                </a:xfrm>
                <a:prstGeom prst="flowChartCollat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5014" name="Text Box 23">
                  <a:extLst>
                    <a:ext uri="{FF2B5EF4-FFF2-40B4-BE49-F238E27FC236}">
                      <a16:creationId xmlns:a16="http://schemas.microsoft.com/office/drawing/2014/main" id="{1C84831F-A156-4CF3-81C9-C2DDAD75761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flipV="1">
                  <a:off x="2325" y="6450"/>
                  <a:ext cx="705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108000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>
                    <a:lnSpc>
                      <a:spcPct val="80000"/>
                    </a:lnSpc>
                  </a:pPr>
                  <a:endParaRPr kumimoji="0" lang="zh-CN" altLang="en-US" sz="6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85012" name="Rectangle 24">
                <a:extLst>
                  <a:ext uri="{FF2B5EF4-FFF2-40B4-BE49-F238E27FC236}">
                    <a16:creationId xmlns:a16="http://schemas.microsoft.com/office/drawing/2014/main" id="{48BEA907-2B39-4C04-883A-7338A1F54E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2448"/>
                <a:ext cx="576" cy="4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800" b="1" i="1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600" b="1" i="1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1600" b="1">
                    <a:latin typeface="Times New Roman" panose="02020603050405020304" pitchFamily="18" charset="0"/>
                  </a:rPr>
                  <a:t>θ</a:t>
                </a:r>
                <a:r>
                  <a:rPr lang="en-US" altLang="zh-CN" sz="1600" b="1" i="1"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  <p:sp>
          <p:nvSpPr>
            <p:cNvPr id="85001" name="AutoShape 25">
              <a:extLst>
                <a:ext uri="{FF2B5EF4-FFF2-40B4-BE49-F238E27FC236}">
                  <a16:creationId xmlns:a16="http://schemas.microsoft.com/office/drawing/2014/main" id="{F7787A55-AF21-49A1-8DF4-4456F6A91D4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32436">
              <a:off x="3120" y="2736"/>
              <a:ext cx="384" cy="96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85002" name="Group 26">
              <a:extLst>
                <a:ext uri="{FF2B5EF4-FFF2-40B4-BE49-F238E27FC236}">
                  <a16:creationId xmlns:a16="http://schemas.microsoft.com/office/drawing/2014/main" id="{CFB40D70-A300-4C42-A889-5B1A633C21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4" y="2400"/>
              <a:ext cx="1440" cy="288"/>
              <a:chOff x="3216" y="2352"/>
              <a:chExt cx="1440" cy="288"/>
            </a:xfrm>
          </p:grpSpPr>
          <p:sp>
            <p:nvSpPr>
              <p:cNvPr id="85005" name="Rectangle 27" descr="浅色下对角线">
                <a:extLst>
                  <a:ext uri="{FF2B5EF4-FFF2-40B4-BE49-F238E27FC236}">
                    <a16:creationId xmlns:a16="http://schemas.microsoft.com/office/drawing/2014/main" id="{366B5C52-E985-47DB-BE0D-30DEF53290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" y="2544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006" name="Rectangle 28" descr="浅色下对角线">
                <a:extLst>
                  <a:ext uri="{FF2B5EF4-FFF2-40B4-BE49-F238E27FC236}">
                    <a16:creationId xmlns:a16="http://schemas.microsoft.com/office/drawing/2014/main" id="{3F867F22-049B-475C-81AB-DC9825E3F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" y="2448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007" name="Rectangle 29" descr="浅色下对角线">
                <a:extLst>
                  <a:ext uri="{FF2B5EF4-FFF2-40B4-BE49-F238E27FC236}">
                    <a16:creationId xmlns:a16="http://schemas.microsoft.com/office/drawing/2014/main" id="{9CA174A7-914C-454A-BB2C-F813F73AF1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" y="2352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008" name="Rectangle 30" descr="浅色下对角线">
                <a:extLst>
                  <a:ext uri="{FF2B5EF4-FFF2-40B4-BE49-F238E27FC236}">
                    <a16:creationId xmlns:a16="http://schemas.microsoft.com/office/drawing/2014/main" id="{BBC032A4-1D95-4312-89EF-92B4B6452D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2352"/>
                <a:ext cx="528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009" name="Rectangle 31" descr="浅色下对角线">
                <a:extLst>
                  <a:ext uri="{FF2B5EF4-FFF2-40B4-BE49-F238E27FC236}">
                    <a16:creationId xmlns:a16="http://schemas.microsoft.com/office/drawing/2014/main" id="{3CBF9D50-B097-4262-8198-1324F8AEBB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2448"/>
                <a:ext cx="528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5010" name="Rectangle 32" descr="浅色下对角线">
                <a:extLst>
                  <a:ext uri="{FF2B5EF4-FFF2-40B4-BE49-F238E27FC236}">
                    <a16:creationId xmlns:a16="http://schemas.microsoft.com/office/drawing/2014/main" id="{E1F35A02-EABD-4491-9529-9123143E2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2544"/>
                <a:ext cx="528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85003" name="Text Box 33">
              <a:extLst>
                <a:ext uri="{FF2B5EF4-FFF2-40B4-BE49-F238E27FC236}">
                  <a16:creationId xmlns:a16="http://schemas.microsoft.com/office/drawing/2014/main" id="{FF679AE4-BCE9-465C-B07F-47C997A689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63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</a:rPr>
                <a:t>R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85004" name="Text Box 34">
              <a:extLst>
                <a:ext uri="{FF2B5EF4-FFF2-40B4-BE49-F238E27FC236}">
                  <a16:creationId xmlns:a16="http://schemas.microsoft.com/office/drawing/2014/main" id="{0FED640B-B16C-4569-BB1D-490F3C2A0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68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</a:rPr>
                <a:t>S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AC97D9DC-05E7-48A6-9FA0-585464C293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AF39F393-0358-413C-875B-49A5C3E1A5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4）举例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 	[</a:t>
            </a:r>
            <a:r>
              <a:rPr lang="zh-CN" altLang="en-US" b="1">
                <a:ea typeface="黑体" panose="02010609060101010101" pitchFamily="49" charset="-122"/>
              </a:rPr>
              <a:t>例5</a:t>
            </a:r>
            <a:r>
              <a:rPr lang="zh-CN" altLang="en-US" b="1"/>
              <a:t>] </a:t>
            </a:r>
          </a:p>
          <a:p>
            <a:pPr eaLnBrk="1" hangingPunct="1"/>
            <a:endParaRPr lang="zh-CN" altLang="en-US" b="1"/>
          </a:p>
        </p:txBody>
      </p:sp>
      <p:grpSp>
        <p:nvGrpSpPr>
          <p:cNvPr id="86020" name="Group 4">
            <a:extLst>
              <a:ext uri="{FF2B5EF4-FFF2-40B4-BE49-F238E27FC236}">
                <a16:creationId xmlns:a16="http://schemas.microsoft.com/office/drawing/2014/main" id="{382ED718-83DF-4697-837F-854168E2DA73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3200400"/>
            <a:ext cx="2590800" cy="2286000"/>
            <a:chOff x="-3" y="-3"/>
            <a:chExt cx="1171" cy="2832"/>
          </a:xfrm>
        </p:grpSpPr>
        <p:grpSp>
          <p:nvGrpSpPr>
            <p:cNvPr id="86062" name="Group 5">
              <a:extLst>
                <a:ext uri="{FF2B5EF4-FFF2-40B4-BE49-F238E27FC236}">
                  <a16:creationId xmlns:a16="http://schemas.microsoft.com/office/drawing/2014/main" id="{2AD14DBA-E7A6-4320-989A-D13E8103CC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1165" cy="2826"/>
              <a:chOff x="0" y="0"/>
              <a:chExt cx="1165" cy="2826"/>
            </a:xfrm>
          </p:grpSpPr>
          <p:grpSp>
            <p:nvGrpSpPr>
              <p:cNvPr id="86064" name="Group 6">
                <a:extLst>
                  <a:ext uri="{FF2B5EF4-FFF2-40B4-BE49-F238E27FC236}">
                    <a16:creationId xmlns:a16="http://schemas.microsoft.com/office/drawing/2014/main" id="{8D718EC3-385B-4068-8F32-D8178E24AE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417" cy="442"/>
                <a:chOff x="0" y="0"/>
                <a:chExt cx="417" cy="442"/>
              </a:xfrm>
            </p:grpSpPr>
            <p:sp>
              <p:nvSpPr>
                <p:cNvPr id="86107" name="Rectangle 7">
                  <a:extLst>
                    <a:ext uri="{FF2B5EF4-FFF2-40B4-BE49-F238E27FC236}">
                      <a16:creationId xmlns:a16="http://schemas.microsoft.com/office/drawing/2014/main" id="{6C7C1B60-066A-4EBA-B3BF-F56B1621A5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31" cy="4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600" b="1" i="1">
                      <a:latin typeface="Times New Roman" panose="02020603050405020304" pitchFamily="18" charset="0"/>
                    </a:rPr>
                    <a:t>A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108" name="Rectangle 8">
                  <a:extLst>
                    <a:ext uri="{FF2B5EF4-FFF2-40B4-BE49-F238E27FC236}">
                      <a16:creationId xmlns:a16="http://schemas.microsoft.com/office/drawing/2014/main" id="{BC9A117A-044C-40A9-B08C-987146BE4B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17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65" name="Group 9">
                <a:extLst>
                  <a:ext uri="{FF2B5EF4-FFF2-40B4-BE49-F238E27FC236}">
                    <a16:creationId xmlns:a16="http://schemas.microsoft.com/office/drawing/2014/main" id="{9141BB3B-78AC-4CD7-A71B-BB5D00EE32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" y="0"/>
                <a:ext cx="302" cy="442"/>
                <a:chOff x="417" y="0"/>
                <a:chExt cx="302" cy="442"/>
              </a:xfrm>
            </p:grpSpPr>
            <p:sp>
              <p:nvSpPr>
                <p:cNvPr id="86105" name="Rectangle 10">
                  <a:extLst>
                    <a:ext uri="{FF2B5EF4-FFF2-40B4-BE49-F238E27FC236}">
                      <a16:creationId xmlns:a16="http://schemas.microsoft.com/office/drawing/2014/main" id="{74782505-DBB6-49B5-A649-4D5C2480B5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0" y="0"/>
                  <a:ext cx="216" cy="4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600" b="1" i="1">
                      <a:latin typeface="Times New Roman" panose="02020603050405020304" pitchFamily="18" charset="0"/>
                    </a:rPr>
                    <a:t>B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106" name="Rectangle 11">
                  <a:extLst>
                    <a:ext uri="{FF2B5EF4-FFF2-40B4-BE49-F238E27FC236}">
                      <a16:creationId xmlns:a16="http://schemas.microsoft.com/office/drawing/2014/main" id="{1F08DAF0-E7BF-487E-BE2B-A8752CED20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" y="0"/>
                  <a:ext cx="302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66" name="Group 12">
                <a:extLst>
                  <a:ext uri="{FF2B5EF4-FFF2-40B4-BE49-F238E27FC236}">
                    <a16:creationId xmlns:a16="http://schemas.microsoft.com/office/drawing/2014/main" id="{822E4CD4-4E15-4F1A-8CDB-639845C9AA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9" y="0"/>
                <a:ext cx="446" cy="442"/>
                <a:chOff x="719" y="0"/>
                <a:chExt cx="446" cy="442"/>
              </a:xfrm>
            </p:grpSpPr>
            <p:sp>
              <p:nvSpPr>
                <p:cNvPr id="86103" name="Rectangle 13">
                  <a:extLst>
                    <a:ext uri="{FF2B5EF4-FFF2-40B4-BE49-F238E27FC236}">
                      <a16:creationId xmlns:a16="http://schemas.microsoft.com/office/drawing/2014/main" id="{86F92D7B-80D3-4B4C-92EC-B8DC262509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2" y="0"/>
                  <a:ext cx="360" cy="4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600" b="1" i="1">
                      <a:latin typeface="Times New Roman" panose="02020603050405020304" pitchFamily="18" charset="0"/>
                    </a:rPr>
                    <a:t>C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104" name="Rectangle 14">
                  <a:extLst>
                    <a:ext uri="{FF2B5EF4-FFF2-40B4-BE49-F238E27FC236}">
                      <a16:creationId xmlns:a16="http://schemas.microsoft.com/office/drawing/2014/main" id="{666124E4-37F6-4E37-84B4-AE803A1423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9" y="0"/>
                  <a:ext cx="446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67" name="Group 15">
                <a:extLst>
                  <a:ext uri="{FF2B5EF4-FFF2-40B4-BE49-F238E27FC236}">
                    <a16:creationId xmlns:a16="http://schemas.microsoft.com/office/drawing/2014/main" id="{1FECDC6F-FF2A-4ACB-ACF5-27C74DAE10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42"/>
                <a:ext cx="417" cy="596"/>
                <a:chOff x="0" y="442"/>
                <a:chExt cx="417" cy="596"/>
              </a:xfrm>
            </p:grpSpPr>
            <p:sp>
              <p:nvSpPr>
                <p:cNvPr id="86101" name="Rectangle 16">
                  <a:extLst>
                    <a:ext uri="{FF2B5EF4-FFF2-40B4-BE49-F238E27FC236}">
                      <a16:creationId xmlns:a16="http://schemas.microsoft.com/office/drawing/2014/main" id="{8D1DD6F4-43C6-45E1-8964-4D2E9F9736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442"/>
                  <a:ext cx="331" cy="5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6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16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102" name="Rectangle 17">
                  <a:extLst>
                    <a:ext uri="{FF2B5EF4-FFF2-40B4-BE49-F238E27FC236}">
                      <a16:creationId xmlns:a16="http://schemas.microsoft.com/office/drawing/2014/main" id="{D6681317-71E5-487B-AE83-55703AC266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42"/>
                  <a:ext cx="417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68" name="Group 18">
                <a:extLst>
                  <a:ext uri="{FF2B5EF4-FFF2-40B4-BE49-F238E27FC236}">
                    <a16:creationId xmlns:a16="http://schemas.microsoft.com/office/drawing/2014/main" id="{AD388404-C430-4629-876A-5D6D737489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" y="442"/>
                <a:ext cx="302" cy="596"/>
                <a:chOff x="417" y="442"/>
                <a:chExt cx="302" cy="596"/>
              </a:xfrm>
            </p:grpSpPr>
            <p:sp>
              <p:nvSpPr>
                <p:cNvPr id="86099" name="Rectangle 19">
                  <a:extLst>
                    <a:ext uri="{FF2B5EF4-FFF2-40B4-BE49-F238E27FC236}">
                      <a16:creationId xmlns:a16="http://schemas.microsoft.com/office/drawing/2014/main" id="{5E633605-3D0D-4252-A9A5-7F04AAB365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0" y="442"/>
                  <a:ext cx="216" cy="5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6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16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100" name="Rectangle 20">
                  <a:extLst>
                    <a:ext uri="{FF2B5EF4-FFF2-40B4-BE49-F238E27FC236}">
                      <a16:creationId xmlns:a16="http://schemas.microsoft.com/office/drawing/2014/main" id="{E1FE45DE-010E-44D4-AC76-57C73C8BDC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" y="442"/>
                  <a:ext cx="302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69" name="Group 21">
                <a:extLst>
                  <a:ext uri="{FF2B5EF4-FFF2-40B4-BE49-F238E27FC236}">
                    <a16:creationId xmlns:a16="http://schemas.microsoft.com/office/drawing/2014/main" id="{4BA11229-C62A-43E3-920A-0F84E6FC9E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9" y="442"/>
                <a:ext cx="446" cy="596"/>
                <a:chOff x="719" y="442"/>
                <a:chExt cx="446" cy="596"/>
              </a:xfrm>
            </p:grpSpPr>
            <p:sp>
              <p:nvSpPr>
                <p:cNvPr id="86097" name="Rectangle 22">
                  <a:extLst>
                    <a:ext uri="{FF2B5EF4-FFF2-40B4-BE49-F238E27FC236}">
                      <a16:creationId xmlns:a16="http://schemas.microsoft.com/office/drawing/2014/main" id="{815E457E-0244-4C6D-93E4-4AEE3861A8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2" y="442"/>
                  <a:ext cx="360" cy="5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1600" b="1">
                      <a:latin typeface="Times New Roman" panose="02020603050405020304" pitchFamily="18" charset="0"/>
                    </a:rPr>
                    <a:t>5</a:t>
                  </a:r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98" name="Rectangle 23">
                  <a:extLst>
                    <a:ext uri="{FF2B5EF4-FFF2-40B4-BE49-F238E27FC236}">
                      <a16:creationId xmlns:a16="http://schemas.microsoft.com/office/drawing/2014/main" id="{9DDE562C-0457-40E3-8B70-8448F35089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9" y="442"/>
                  <a:ext cx="446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70" name="Group 24">
                <a:extLst>
                  <a:ext uri="{FF2B5EF4-FFF2-40B4-BE49-F238E27FC236}">
                    <a16:creationId xmlns:a16="http://schemas.microsoft.com/office/drawing/2014/main" id="{E2211E2B-EA74-4A07-ADE1-3C3F19D3DA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038"/>
                <a:ext cx="417" cy="596"/>
                <a:chOff x="0" y="1038"/>
                <a:chExt cx="417" cy="596"/>
              </a:xfrm>
            </p:grpSpPr>
            <p:sp>
              <p:nvSpPr>
                <p:cNvPr id="86095" name="Rectangle 25">
                  <a:extLst>
                    <a:ext uri="{FF2B5EF4-FFF2-40B4-BE49-F238E27FC236}">
                      <a16:creationId xmlns:a16="http://schemas.microsoft.com/office/drawing/2014/main" id="{38D9D00C-FFBD-4747-A588-3FAF589280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038"/>
                  <a:ext cx="331" cy="5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6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16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96" name="Rectangle 26">
                  <a:extLst>
                    <a:ext uri="{FF2B5EF4-FFF2-40B4-BE49-F238E27FC236}">
                      <a16:creationId xmlns:a16="http://schemas.microsoft.com/office/drawing/2014/main" id="{16235789-800E-4167-9E1F-33DD8E5812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038"/>
                  <a:ext cx="417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71" name="Group 27">
                <a:extLst>
                  <a:ext uri="{FF2B5EF4-FFF2-40B4-BE49-F238E27FC236}">
                    <a16:creationId xmlns:a16="http://schemas.microsoft.com/office/drawing/2014/main" id="{343ED268-AF37-4428-AF46-8D5551DE59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" y="1038"/>
                <a:ext cx="302" cy="596"/>
                <a:chOff x="417" y="1038"/>
                <a:chExt cx="302" cy="596"/>
              </a:xfrm>
            </p:grpSpPr>
            <p:sp>
              <p:nvSpPr>
                <p:cNvPr id="86093" name="Rectangle 28">
                  <a:extLst>
                    <a:ext uri="{FF2B5EF4-FFF2-40B4-BE49-F238E27FC236}">
                      <a16:creationId xmlns:a16="http://schemas.microsoft.com/office/drawing/2014/main" id="{492278F3-15DD-470B-B153-E9614EF587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0" y="1038"/>
                  <a:ext cx="216" cy="5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6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16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94" name="Rectangle 29">
                  <a:extLst>
                    <a:ext uri="{FF2B5EF4-FFF2-40B4-BE49-F238E27FC236}">
                      <a16:creationId xmlns:a16="http://schemas.microsoft.com/office/drawing/2014/main" id="{34BADEF4-D6D2-4AFA-8734-0632510B38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" y="1038"/>
                  <a:ext cx="302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72" name="Group 30">
                <a:extLst>
                  <a:ext uri="{FF2B5EF4-FFF2-40B4-BE49-F238E27FC236}">
                    <a16:creationId xmlns:a16="http://schemas.microsoft.com/office/drawing/2014/main" id="{2950961E-66AE-4FAB-A663-D6A32200ED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9" y="1038"/>
                <a:ext cx="446" cy="596"/>
                <a:chOff x="719" y="1038"/>
                <a:chExt cx="446" cy="596"/>
              </a:xfrm>
            </p:grpSpPr>
            <p:sp>
              <p:nvSpPr>
                <p:cNvPr id="86091" name="Rectangle 31">
                  <a:extLst>
                    <a:ext uri="{FF2B5EF4-FFF2-40B4-BE49-F238E27FC236}">
                      <a16:creationId xmlns:a16="http://schemas.microsoft.com/office/drawing/2014/main" id="{3364563D-DCB3-4D61-9C44-66FFF1163C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2" y="1038"/>
                  <a:ext cx="360" cy="5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1600" b="1">
                      <a:latin typeface="Times New Roman" panose="02020603050405020304" pitchFamily="18" charset="0"/>
                    </a:rPr>
                    <a:t>6</a:t>
                  </a:r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92" name="Rectangle 32">
                  <a:extLst>
                    <a:ext uri="{FF2B5EF4-FFF2-40B4-BE49-F238E27FC236}">
                      <a16:creationId xmlns:a16="http://schemas.microsoft.com/office/drawing/2014/main" id="{55066B7C-18AC-4619-BAEF-EED4398204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9" y="1038"/>
                  <a:ext cx="446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73" name="Group 33">
                <a:extLst>
                  <a:ext uri="{FF2B5EF4-FFF2-40B4-BE49-F238E27FC236}">
                    <a16:creationId xmlns:a16="http://schemas.microsoft.com/office/drawing/2014/main" id="{FD1263E4-4237-4365-82E5-BB6463C2B1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634"/>
                <a:ext cx="417" cy="596"/>
                <a:chOff x="0" y="1634"/>
                <a:chExt cx="417" cy="596"/>
              </a:xfrm>
            </p:grpSpPr>
            <p:sp>
              <p:nvSpPr>
                <p:cNvPr id="86089" name="Rectangle 34">
                  <a:extLst>
                    <a:ext uri="{FF2B5EF4-FFF2-40B4-BE49-F238E27FC236}">
                      <a16:creationId xmlns:a16="http://schemas.microsoft.com/office/drawing/2014/main" id="{95A295C9-3980-45EB-9723-AC24FAF560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634"/>
                  <a:ext cx="331" cy="5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6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16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90" name="Rectangle 35">
                  <a:extLst>
                    <a:ext uri="{FF2B5EF4-FFF2-40B4-BE49-F238E27FC236}">
                      <a16:creationId xmlns:a16="http://schemas.microsoft.com/office/drawing/2014/main" id="{D0FBC1E9-576B-401A-85BD-EDC82C9897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634"/>
                  <a:ext cx="417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74" name="Group 36">
                <a:extLst>
                  <a:ext uri="{FF2B5EF4-FFF2-40B4-BE49-F238E27FC236}">
                    <a16:creationId xmlns:a16="http://schemas.microsoft.com/office/drawing/2014/main" id="{182817D3-96C9-4D49-A0BB-25D9B54391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" y="1634"/>
                <a:ext cx="302" cy="596"/>
                <a:chOff x="417" y="1634"/>
                <a:chExt cx="302" cy="596"/>
              </a:xfrm>
            </p:grpSpPr>
            <p:sp>
              <p:nvSpPr>
                <p:cNvPr id="86087" name="Rectangle 37">
                  <a:extLst>
                    <a:ext uri="{FF2B5EF4-FFF2-40B4-BE49-F238E27FC236}">
                      <a16:creationId xmlns:a16="http://schemas.microsoft.com/office/drawing/2014/main" id="{25E83945-D04D-4C14-9BAD-C135B3055F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0" y="1634"/>
                  <a:ext cx="216" cy="5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6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16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88" name="Rectangle 38">
                  <a:extLst>
                    <a:ext uri="{FF2B5EF4-FFF2-40B4-BE49-F238E27FC236}">
                      <a16:creationId xmlns:a16="http://schemas.microsoft.com/office/drawing/2014/main" id="{BC210572-E549-49C5-B22A-8564033113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" y="1634"/>
                  <a:ext cx="302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75" name="Group 39">
                <a:extLst>
                  <a:ext uri="{FF2B5EF4-FFF2-40B4-BE49-F238E27FC236}">
                    <a16:creationId xmlns:a16="http://schemas.microsoft.com/office/drawing/2014/main" id="{BB2EB61B-56EA-4456-84C8-CD8E57095D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9" y="1634"/>
                <a:ext cx="446" cy="596"/>
                <a:chOff x="719" y="1634"/>
                <a:chExt cx="446" cy="596"/>
              </a:xfrm>
            </p:grpSpPr>
            <p:sp>
              <p:nvSpPr>
                <p:cNvPr id="86085" name="Rectangle 40">
                  <a:extLst>
                    <a:ext uri="{FF2B5EF4-FFF2-40B4-BE49-F238E27FC236}">
                      <a16:creationId xmlns:a16="http://schemas.microsoft.com/office/drawing/2014/main" id="{C2573ED6-0A20-4EBB-83CC-7B8B197E8A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2" y="1634"/>
                  <a:ext cx="360" cy="5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1600" b="1">
                      <a:latin typeface="Times New Roman" panose="02020603050405020304" pitchFamily="18" charset="0"/>
                    </a:rPr>
                    <a:t>8</a:t>
                  </a:r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86" name="Rectangle 41">
                  <a:extLst>
                    <a:ext uri="{FF2B5EF4-FFF2-40B4-BE49-F238E27FC236}">
                      <a16:creationId xmlns:a16="http://schemas.microsoft.com/office/drawing/2014/main" id="{25D2F454-A10A-4269-B92F-0E2B99252F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9" y="1634"/>
                  <a:ext cx="446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76" name="Group 42">
                <a:extLst>
                  <a:ext uri="{FF2B5EF4-FFF2-40B4-BE49-F238E27FC236}">
                    <a16:creationId xmlns:a16="http://schemas.microsoft.com/office/drawing/2014/main" id="{FA46E3BD-2C83-483F-AC9D-D8429640BA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230"/>
                <a:ext cx="417" cy="596"/>
                <a:chOff x="0" y="2230"/>
                <a:chExt cx="417" cy="596"/>
              </a:xfrm>
            </p:grpSpPr>
            <p:sp>
              <p:nvSpPr>
                <p:cNvPr id="86083" name="Rectangle 43">
                  <a:extLst>
                    <a:ext uri="{FF2B5EF4-FFF2-40B4-BE49-F238E27FC236}">
                      <a16:creationId xmlns:a16="http://schemas.microsoft.com/office/drawing/2014/main" id="{0DFF5F09-68AC-4220-A1B7-3A643A4047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230"/>
                  <a:ext cx="331" cy="5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6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16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84" name="Rectangle 44">
                  <a:extLst>
                    <a:ext uri="{FF2B5EF4-FFF2-40B4-BE49-F238E27FC236}">
                      <a16:creationId xmlns:a16="http://schemas.microsoft.com/office/drawing/2014/main" id="{A0CC572B-64D0-4F8E-811C-41982014F1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230"/>
                  <a:ext cx="417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77" name="Group 45">
                <a:extLst>
                  <a:ext uri="{FF2B5EF4-FFF2-40B4-BE49-F238E27FC236}">
                    <a16:creationId xmlns:a16="http://schemas.microsoft.com/office/drawing/2014/main" id="{7ADE6812-02AB-467F-9400-B9BEE3192B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" y="2230"/>
                <a:ext cx="302" cy="596"/>
                <a:chOff x="417" y="2230"/>
                <a:chExt cx="302" cy="596"/>
              </a:xfrm>
            </p:grpSpPr>
            <p:sp>
              <p:nvSpPr>
                <p:cNvPr id="86081" name="Rectangle 46">
                  <a:extLst>
                    <a:ext uri="{FF2B5EF4-FFF2-40B4-BE49-F238E27FC236}">
                      <a16:creationId xmlns:a16="http://schemas.microsoft.com/office/drawing/2014/main" id="{CF2D3127-4BBC-4C31-93FF-18DDCE69A4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0" y="2230"/>
                  <a:ext cx="216" cy="5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6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1600" b="1" baseline="-30000">
                      <a:latin typeface="Times New Roman" panose="02020603050405020304" pitchFamily="18" charset="0"/>
                    </a:rPr>
                    <a:t>4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82" name="Rectangle 47">
                  <a:extLst>
                    <a:ext uri="{FF2B5EF4-FFF2-40B4-BE49-F238E27FC236}">
                      <a16:creationId xmlns:a16="http://schemas.microsoft.com/office/drawing/2014/main" id="{06C55CDF-EF4B-43D7-9703-7AD2426E56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" y="2230"/>
                  <a:ext cx="302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78" name="Group 48">
                <a:extLst>
                  <a:ext uri="{FF2B5EF4-FFF2-40B4-BE49-F238E27FC236}">
                    <a16:creationId xmlns:a16="http://schemas.microsoft.com/office/drawing/2014/main" id="{F602EFD1-FCF7-4DE4-B540-28E8076E92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9" y="2230"/>
                <a:ext cx="446" cy="596"/>
                <a:chOff x="719" y="2230"/>
                <a:chExt cx="446" cy="596"/>
              </a:xfrm>
            </p:grpSpPr>
            <p:sp>
              <p:nvSpPr>
                <p:cNvPr id="86079" name="Rectangle 49">
                  <a:extLst>
                    <a:ext uri="{FF2B5EF4-FFF2-40B4-BE49-F238E27FC236}">
                      <a16:creationId xmlns:a16="http://schemas.microsoft.com/office/drawing/2014/main" id="{77A4515B-2C60-4D0F-B2AB-0D4D744784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2" y="2230"/>
                  <a:ext cx="360" cy="5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1600" b="1">
                      <a:latin typeface="Times New Roman" panose="02020603050405020304" pitchFamily="18" charset="0"/>
                    </a:rPr>
                    <a:t>12</a:t>
                  </a:r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80" name="Rectangle 50">
                  <a:extLst>
                    <a:ext uri="{FF2B5EF4-FFF2-40B4-BE49-F238E27FC236}">
                      <a16:creationId xmlns:a16="http://schemas.microsoft.com/office/drawing/2014/main" id="{5A6FC393-3F04-4208-A26B-791BE6D6BF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9" y="2230"/>
                  <a:ext cx="446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86063" name="Rectangle 51">
              <a:extLst>
                <a:ext uri="{FF2B5EF4-FFF2-40B4-BE49-F238E27FC236}">
                  <a16:creationId xmlns:a16="http://schemas.microsoft.com/office/drawing/2014/main" id="{F411B441-B5B3-42E9-988E-57CF5001C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1171" cy="2832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86021" name="Group 52">
            <a:extLst>
              <a:ext uri="{FF2B5EF4-FFF2-40B4-BE49-F238E27FC236}">
                <a16:creationId xmlns:a16="http://schemas.microsoft.com/office/drawing/2014/main" id="{A9235D91-D84D-4BC8-85FC-BDA157697EA9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2209800"/>
            <a:ext cx="1752600" cy="3429000"/>
            <a:chOff x="-3" y="-3"/>
            <a:chExt cx="740" cy="3211"/>
          </a:xfrm>
        </p:grpSpPr>
        <p:grpSp>
          <p:nvGrpSpPr>
            <p:cNvPr id="86024" name="Group 53">
              <a:extLst>
                <a:ext uri="{FF2B5EF4-FFF2-40B4-BE49-F238E27FC236}">
                  <a16:creationId xmlns:a16="http://schemas.microsoft.com/office/drawing/2014/main" id="{755D0452-35E3-479E-B940-A2682E6869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734" cy="3205"/>
              <a:chOff x="0" y="0"/>
              <a:chExt cx="734" cy="3205"/>
            </a:xfrm>
          </p:grpSpPr>
          <p:grpSp>
            <p:nvGrpSpPr>
              <p:cNvPr id="86026" name="Group 54">
                <a:extLst>
                  <a:ext uri="{FF2B5EF4-FFF2-40B4-BE49-F238E27FC236}">
                    <a16:creationId xmlns:a16="http://schemas.microsoft.com/office/drawing/2014/main" id="{57151A3F-E353-4C7E-AAE2-A6A41C8B7E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360" cy="499"/>
                <a:chOff x="0" y="0"/>
                <a:chExt cx="360" cy="499"/>
              </a:xfrm>
            </p:grpSpPr>
            <p:sp>
              <p:nvSpPr>
                <p:cNvPr id="86060" name="Rectangle 55">
                  <a:extLst>
                    <a:ext uri="{FF2B5EF4-FFF2-40B4-BE49-F238E27FC236}">
                      <a16:creationId xmlns:a16="http://schemas.microsoft.com/office/drawing/2014/main" id="{B830F1F2-09B5-4F94-A055-04C06C3EAD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endParaRPr lang="en-US" altLang="zh-CN" sz="1200" b="1" i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61" name="Rectangle 56">
                  <a:extLst>
                    <a:ext uri="{FF2B5EF4-FFF2-40B4-BE49-F238E27FC236}">
                      <a16:creationId xmlns:a16="http://schemas.microsoft.com/office/drawing/2014/main" id="{3B194FFE-76DE-4004-BA56-48F36B4DDF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27" name="Group 57">
                <a:extLst>
                  <a:ext uri="{FF2B5EF4-FFF2-40B4-BE49-F238E27FC236}">
                    <a16:creationId xmlns:a16="http://schemas.microsoft.com/office/drawing/2014/main" id="{4542942D-79B9-4B3F-A286-977701C967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" y="0"/>
                <a:ext cx="374" cy="499"/>
                <a:chOff x="360" y="0"/>
                <a:chExt cx="374" cy="499"/>
              </a:xfrm>
            </p:grpSpPr>
            <p:sp>
              <p:nvSpPr>
                <p:cNvPr id="86058" name="Rectangle 58">
                  <a:extLst>
                    <a:ext uri="{FF2B5EF4-FFF2-40B4-BE49-F238E27FC236}">
                      <a16:creationId xmlns:a16="http://schemas.microsoft.com/office/drawing/2014/main" id="{A05A689F-6920-44A6-B3DE-B7BEB674F2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" y="0"/>
                  <a:ext cx="288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E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59" name="Rectangle 59">
                  <a:extLst>
                    <a:ext uri="{FF2B5EF4-FFF2-40B4-BE49-F238E27FC236}">
                      <a16:creationId xmlns:a16="http://schemas.microsoft.com/office/drawing/2014/main" id="{8191C4F9-5EB1-458A-8654-F4907BF28D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" y="0"/>
                  <a:ext cx="374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28" name="Group 60">
                <a:extLst>
                  <a:ext uri="{FF2B5EF4-FFF2-40B4-BE49-F238E27FC236}">
                    <a16:creationId xmlns:a16="http://schemas.microsoft.com/office/drawing/2014/main" id="{79173EDF-0BA2-4F73-975F-5EFDA89629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99"/>
                <a:ext cx="360" cy="499"/>
                <a:chOff x="0" y="499"/>
                <a:chExt cx="360" cy="499"/>
              </a:xfrm>
            </p:grpSpPr>
            <p:sp>
              <p:nvSpPr>
                <p:cNvPr id="86056" name="Rectangle 61">
                  <a:extLst>
                    <a:ext uri="{FF2B5EF4-FFF2-40B4-BE49-F238E27FC236}">
                      <a16:creationId xmlns:a16="http://schemas.microsoft.com/office/drawing/2014/main" id="{0BAC23B1-C8DA-46D0-B73F-C50B48E89A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499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57" name="Rectangle 62">
                  <a:extLst>
                    <a:ext uri="{FF2B5EF4-FFF2-40B4-BE49-F238E27FC236}">
                      <a16:creationId xmlns:a16="http://schemas.microsoft.com/office/drawing/2014/main" id="{74C4DE57-5408-4CD1-9953-83AFF2A9E3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99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29" name="Group 63">
                <a:extLst>
                  <a:ext uri="{FF2B5EF4-FFF2-40B4-BE49-F238E27FC236}">
                    <a16:creationId xmlns:a16="http://schemas.microsoft.com/office/drawing/2014/main" id="{4289F463-8CDD-4DF6-95C7-9330DE3A2C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" y="499"/>
                <a:ext cx="374" cy="499"/>
                <a:chOff x="360" y="499"/>
                <a:chExt cx="374" cy="499"/>
              </a:xfrm>
            </p:grpSpPr>
            <p:sp>
              <p:nvSpPr>
                <p:cNvPr id="86054" name="Rectangle 64">
                  <a:extLst>
                    <a:ext uri="{FF2B5EF4-FFF2-40B4-BE49-F238E27FC236}">
                      <a16:creationId xmlns:a16="http://schemas.microsoft.com/office/drawing/2014/main" id="{C53216DA-A1D2-4D5C-AF26-279C1C692D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" y="499"/>
                  <a:ext cx="288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200" b="1">
                      <a:latin typeface="Times New Roman" panose="02020603050405020304" pitchFamily="18" charset="0"/>
                    </a:rPr>
                    <a:t>3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55" name="Rectangle 65">
                  <a:extLst>
                    <a:ext uri="{FF2B5EF4-FFF2-40B4-BE49-F238E27FC236}">
                      <a16:creationId xmlns:a16="http://schemas.microsoft.com/office/drawing/2014/main" id="{851EF450-0430-485D-95BC-5ABB0A46E1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" y="499"/>
                  <a:ext cx="374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30" name="Group 66">
                <a:extLst>
                  <a:ext uri="{FF2B5EF4-FFF2-40B4-BE49-F238E27FC236}">
                    <a16:creationId xmlns:a16="http://schemas.microsoft.com/office/drawing/2014/main" id="{8D1F8699-FDB0-4667-B0AA-C60B28A4A4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998"/>
                <a:ext cx="360" cy="499"/>
                <a:chOff x="0" y="998"/>
                <a:chExt cx="360" cy="499"/>
              </a:xfrm>
            </p:grpSpPr>
            <p:sp>
              <p:nvSpPr>
                <p:cNvPr id="86052" name="Rectangle 67">
                  <a:extLst>
                    <a:ext uri="{FF2B5EF4-FFF2-40B4-BE49-F238E27FC236}">
                      <a16:creationId xmlns:a16="http://schemas.microsoft.com/office/drawing/2014/main" id="{3F0B3629-387B-4CB1-A9AC-C12FC8E9B9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998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53" name="Rectangle 68">
                  <a:extLst>
                    <a:ext uri="{FF2B5EF4-FFF2-40B4-BE49-F238E27FC236}">
                      <a16:creationId xmlns:a16="http://schemas.microsoft.com/office/drawing/2014/main" id="{027036B8-8F58-4042-A304-28392ECABC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998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31" name="Group 69">
                <a:extLst>
                  <a:ext uri="{FF2B5EF4-FFF2-40B4-BE49-F238E27FC236}">
                    <a16:creationId xmlns:a16="http://schemas.microsoft.com/office/drawing/2014/main" id="{21125206-B15F-49FA-934D-2DE6B1ABE9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" y="998"/>
                <a:ext cx="374" cy="499"/>
                <a:chOff x="360" y="998"/>
                <a:chExt cx="374" cy="499"/>
              </a:xfrm>
            </p:grpSpPr>
            <p:sp>
              <p:nvSpPr>
                <p:cNvPr id="86050" name="Rectangle 70">
                  <a:extLst>
                    <a:ext uri="{FF2B5EF4-FFF2-40B4-BE49-F238E27FC236}">
                      <a16:creationId xmlns:a16="http://schemas.microsoft.com/office/drawing/2014/main" id="{2BB06F0C-B894-4360-8A91-33EDBC627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" y="998"/>
                  <a:ext cx="288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200" b="1">
                      <a:latin typeface="Times New Roman" panose="02020603050405020304" pitchFamily="18" charset="0"/>
                    </a:rPr>
                    <a:t>7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51" name="Rectangle 71">
                  <a:extLst>
                    <a:ext uri="{FF2B5EF4-FFF2-40B4-BE49-F238E27FC236}">
                      <a16:creationId xmlns:a16="http://schemas.microsoft.com/office/drawing/2014/main" id="{28BBE43B-F2AA-4EB7-AAC2-B2A22435DC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" y="998"/>
                  <a:ext cx="374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32" name="Group 72">
                <a:extLst>
                  <a:ext uri="{FF2B5EF4-FFF2-40B4-BE49-F238E27FC236}">
                    <a16:creationId xmlns:a16="http://schemas.microsoft.com/office/drawing/2014/main" id="{9D87543A-E433-4A12-BC24-EEB6C1C23D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497"/>
                <a:ext cx="360" cy="710"/>
                <a:chOff x="0" y="1497"/>
                <a:chExt cx="360" cy="710"/>
              </a:xfrm>
            </p:grpSpPr>
            <p:sp>
              <p:nvSpPr>
                <p:cNvPr id="86048" name="Rectangle 73">
                  <a:extLst>
                    <a:ext uri="{FF2B5EF4-FFF2-40B4-BE49-F238E27FC236}">
                      <a16:creationId xmlns:a16="http://schemas.microsoft.com/office/drawing/2014/main" id="{D1F9D53E-7318-423D-87F0-475264CF63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497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49" name="Rectangle 74">
                  <a:extLst>
                    <a:ext uri="{FF2B5EF4-FFF2-40B4-BE49-F238E27FC236}">
                      <a16:creationId xmlns:a16="http://schemas.microsoft.com/office/drawing/2014/main" id="{39970E24-286B-4DC0-8EEE-855F23FA85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497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33" name="Group 75">
                <a:extLst>
                  <a:ext uri="{FF2B5EF4-FFF2-40B4-BE49-F238E27FC236}">
                    <a16:creationId xmlns:a16="http://schemas.microsoft.com/office/drawing/2014/main" id="{D0AB7416-4F9C-4ECD-95CE-540A9EB219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" y="1497"/>
                <a:ext cx="374" cy="710"/>
                <a:chOff x="360" y="1497"/>
                <a:chExt cx="374" cy="710"/>
              </a:xfrm>
            </p:grpSpPr>
            <p:sp>
              <p:nvSpPr>
                <p:cNvPr id="86046" name="Rectangle 76">
                  <a:extLst>
                    <a:ext uri="{FF2B5EF4-FFF2-40B4-BE49-F238E27FC236}">
                      <a16:creationId xmlns:a16="http://schemas.microsoft.com/office/drawing/2014/main" id="{26950541-129E-4D74-BCDE-6A18D0E77E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" y="1497"/>
                  <a:ext cx="288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200" b="1">
                      <a:latin typeface="Times New Roman" panose="02020603050405020304" pitchFamily="18" charset="0"/>
                    </a:rPr>
                    <a:t>10</a:t>
                  </a:r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47" name="Rectangle 77">
                  <a:extLst>
                    <a:ext uri="{FF2B5EF4-FFF2-40B4-BE49-F238E27FC236}">
                      <a16:creationId xmlns:a16="http://schemas.microsoft.com/office/drawing/2014/main" id="{F01BF481-2CD1-4503-9FD2-21750A1066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" y="1497"/>
                  <a:ext cx="374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34" name="Group 78">
                <a:extLst>
                  <a:ext uri="{FF2B5EF4-FFF2-40B4-BE49-F238E27FC236}">
                    <a16:creationId xmlns:a16="http://schemas.microsoft.com/office/drawing/2014/main" id="{9234A80B-4A94-4938-B0DE-62CBB2A171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207"/>
                <a:ext cx="360" cy="499"/>
                <a:chOff x="0" y="2207"/>
                <a:chExt cx="360" cy="499"/>
              </a:xfrm>
            </p:grpSpPr>
            <p:sp>
              <p:nvSpPr>
                <p:cNvPr id="86044" name="Rectangle 79">
                  <a:extLst>
                    <a:ext uri="{FF2B5EF4-FFF2-40B4-BE49-F238E27FC236}">
                      <a16:creationId xmlns:a16="http://schemas.microsoft.com/office/drawing/2014/main" id="{BFFF1DB2-8EDF-4CBA-ACFB-CC2E59C03F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207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45" name="Rectangle 80">
                  <a:extLst>
                    <a:ext uri="{FF2B5EF4-FFF2-40B4-BE49-F238E27FC236}">
                      <a16:creationId xmlns:a16="http://schemas.microsoft.com/office/drawing/2014/main" id="{2BAE0E5B-097B-45FA-8C5F-433B1A1478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207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35" name="Group 81">
                <a:extLst>
                  <a:ext uri="{FF2B5EF4-FFF2-40B4-BE49-F238E27FC236}">
                    <a16:creationId xmlns:a16="http://schemas.microsoft.com/office/drawing/2014/main" id="{716463DE-3D14-4472-AD27-D5B2769980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" y="2207"/>
                <a:ext cx="374" cy="499"/>
                <a:chOff x="360" y="2207"/>
                <a:chExt cx="374" cy="499"/>
              </a:xfrm>
            </p:grpSpPr>
            <p:sp>
              <p:nvSpPr>
                <p:cNvPr id="86042" name="Rectangle 82">
                  <a:extLst>
                    <a:ext uri="{FF2B5EF4-FFF2-40B4-BE49-F238E27FC236}">
                      <a16:creationId xmlns:a16="http://schemas.microsoft.com/office/drawing/2014/main" id="{06B91379-CA49-46BF-8C6F-C109C63E64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" y="2207"/>
                  <a:ext cx="288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200" b="1">
                      <a:latin typeface="Times New Roman" panose="02020603050405020304" pitchFamily="18" charset="0"/>
                    </a:rPr>
                    <a:t>2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43" name="Rectangle 83">
                  <a:extLst>
                    <a:ext uri="{FF2B5EF4-FFF2-40B4-BE49-F238E27FC236}">
                      <a16:creationId xmlns:a16="http://schemas.microsoft.com/office/drawing/2014/main" id="{126EAD76-6457-446C-9C2B-029C0168A3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" y="2207"/>
                  <a:ext cx="374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36" name="Group 84">
                <a:extLst>
                  <a:ext uri="{FF2B5EF4-FFF2-40B4-BE49-F238E27FC236}">
                    <a16:creationId xmlns:a16="http://schemas.microsoft.com/office/drawing/2014/main" id="{FF8F7EEC-4055-4DBE-BE63-4E61D77923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706"/>
                <a:ext cx="360" cy="499"/>
                <a:chOff x="0" y="2706"/>
                <a:chExt cx="360" cy="499"/>
              </a:xfrm>
            </p:grpSpPr>
            <p:sp>
              <p:nvSpPr>
                <p:cNvPr id="86040" name="Rectangle 85">
                  <a:extLst>
                    <a:ext uri="{FF2B5EF4-FFF2-40B4-BE49-F238E27FC236}">
                      <a16:creationId xmlns:a16="http://schemas.microsoft.com/office/drawing/2014/main" id="{0D0CED62-6674-4A8A-9607-6A027BEBEA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706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5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41" name="Rectangle 86">
                  <a:extLst>
                    <a:ext uri="{FF2B5EF4-FFF2-40B4-BE49-F238E27FC236}">
                      <a16:creationId xmlns:a16="http://schemas.microsoft.com/office/drawing/2014/main" id="{295AA294-EACE-4444-9E80-A99453ABA8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706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6037" name="Group 87">
                <a:extLst>
                  <a:ext uri="{FF2B5EF4-FFF2-40B4-BE49-F238E27FC236}">
                    <a16:creationId xmlns:a16="http://schemas.microsoft.com/office/drawing/2014/main" id="{DA703EF8-493C-4631-A68A-399DFDC766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" y="2706"/>
                <a:ext cx="374" cy="499"/>
                <a:chOff x="360" y="2706"/>
                <a:chExt cx="374" cy="499"/>
              </a:xfrm>
            </p:grpSpPr>
            <p:sp>
              <p:nvSpPr>
                <p:cNvPr id="86038" name="Rectangle 88">
                  <a:extLst>
                    <a:ext uri="{FF2B5EF4-FFF2-40B4-BE49-F238E27FC236}">
                      <a16:creationId xmlns:a16="http://schemas.microsoft.com/office/drawing/2014/main" id="{D23D5E2A-6CF6-4B39-AE56-FC0EE0E8A7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" y="2706"/>
                  <a:ext cx="288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200" b="1">
                      <a:latin typeface="Times New Roman" panose="02020603050405020304" pitchFamily="18" charset="0"/>
                    </a:rPr>
                    <a:t>2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6039" name="Rectangle 89">
                  <a:extLst>
                    <a:ext uri="{FF2B5EF4-FFF2-40B4-BE49-F238E27FC236}">
                      <a16:creationId xmlns:a16="http://schemas.microsoft.com/office/drawing/2014/main" id="{0AD2C7B1-1BDB-4048-BDFE-966994B01C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" y="2706"/>
                  <a:ext cx="374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86025" name="Rectangle 90">
              <a:extLst>
                <a:ext uri="{FF2B5EF4-FFF2-40B4-BE49-F238E27FC236}">
                  <a16:creationId xmlns:a16="http://schemas.microsoft.com/office/drawing/2014/main" id="{2DA084BD-7D0E-40F5-BCBC-404A23F84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740" cy="3211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86022" name="Rectangle 91">
            <a:extLst>
              <a:ext uri="{FF2B5EF4-FFF2-40B4-BE49-F238E27FC236}">
                <a16:creationId xmlns:a16="http://schemas.microsoft.com/office/drawing/2014/main" id="{93F4694F-E920-4977-B883-94B51C096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715000"/>
            <a:ext cx="1295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86023" name="Rectangle 92">
            <a:extLst>
              <a:ext uri="{FF2B5EF4-FFF2-40B4-BE49-F238E27FC236}">
                <a16:creationId xmlns:a16="http://schemas.microsoft.com/office/drawing/2014/main" id="{C6256228-4B11-4FF6-8F57-7557DBEA8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867400"/>
            <a:ext cx="152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latin typeface="Times New Roman" panose="02020603050405020304" pitchFamily="18" charset="0"/>
              </a:rPr>
              <a:t>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99D58A34-EDF4-4A29-8609-5F7819BE82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459A1955-CC2F-40A8-BBF2-A3AEA4CD84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i="1"/>
              <a:t> </a:t>
            </a:r>
            <a:r>
              <a:rPr lang="en-US" altLang="zh-CN" b="1" i="1"/>
              <a:t>R  </a:t>
            </a:r>
            <a:r>
              <a:rPr lang="en-US" altLang="zh-CN" b="1"/>
              <a:t>    </a:t>
            </a:r>
            <a:r>
              <a:rPr lang="en-US" altLang="zh-CN" b="1" i="1"/>
              <a:t>S</a:t>
            </a:r>
            <a:r>
              <a:rPr lang="en-US" altLang="zh-CN" b="1"/>
              <a:t> </a:t>
            </a:r>
          </a:p>
          <a:p>
            <a:pPr eaLnBrk="1" hangingPunct="1"/>
            <a:endParaRPr lang="zh-CN" altLang="en-US" b="1"/>
          </a:p>
        </p:txBody>
      </p:sp>
      <p:grpSp>
        <p:nvGrpSpPr>
          <p:cNvPr id="87044" name="Group 4">
            <a:extLst>
              <a:ext uri="{FF2B5EF4-FFF2-40B4-BE49-F238E27FC236}">
                <a16:creationId xmlns:a16="http://schemas.microsoft.com/office/drawing/2014/main" id="{B7368048-BCF6-4DCA-AEA1-98CD2F2B020A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371600"/>
            <a:ext cx="1066800" cy="1371600"/>
            <a:chOff x="2112" y="816"/>
            <a:chExt cx="672" cy="864"/>
          </a:xfrm>
        </p:grpSpPr>
        <p:grpSp>
          <p:nvGrpSpPr>
            <p:cNvPr id="87138" name="Group 5">
              <a:extLst>
                <a:ext uri="{FF2B5EF4-FFF2-40B4-BE49-F238E27FC236}">
                  <a16:creationId xmlns:a16="http://schemas.microsoft.com/office/drawing/2014/main" id="{901E8DDF-2348-42BA-BFBC-0FA6B36E446A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2160" y="816"/>
              <a:ext cx="624" cy="576"/>
              <a:chOff x="6431" y="11824"/>
              <a:chExt cx="705" cy="367"/>
            </a:xfrm>
          </p:grpSpPr>
          <p:sp>
            <p:nvSpPr>
              <p:cNvPr id="87140" name="AutoShape 6">
                <a:extLst>
                  <a:ext uri="{FF2B5EF4-FFF2-40B4-BE49-F238E27FC236}">
                    <a16:creationId xmlns:a16="http://schemas.microsoft.com/office/drawing/2014/main" id="{19A6C2AF-22D7-42A3-9E17-25575F909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 flipV="1">
                <a:off x="6793" y="11792"/>
                <a:ext cx="78" cy="142"/>
              </a:xfrm>
              <a:prstGeom prst="flowChartCollat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7141" name="Text Box 7">
                <a:extLst>
                  <a:ext uri="{FF2B5EF4-FFF2-40B4-BE49-F238E27FC236}">
                    <a16:creationId xmlns:a16="http://schemas.microsoft.com/office/drawing/2014/main" id="{55B20BAC-EFA5-4D11-BCF1-8B0BC74DD7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V="1">
                <a:off x="6431" y="11828"/>
                <a:ext cx="705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80000"/>
                  </a:lnSpc>
                </a:pPr>
                <a:r>
                  <a:rPr kumimoji="0" lang="zh-CN" altLang="en-US" sz="600" i="1">
                    <a:latin typeface="Times New Roman" panose="02020603050405020304" pitchFamily="18" charset="0"/>
                  </a:rPr>
                  <a:t> </a:t>
                </a:r>
                <a:endParaRPr kumimoji="0" lang="zh-CN" altLang="en-US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7139" name="Rectangle 8">
              <a:extLst>
                <a:ext uri="{FF2B5EF4-FFF2-40B4-BE49-F238E27FC236}">
                  <a16:creationId xmlns:a16="http://schemas.microsoft.com/office/drawing/2014/main" id="{08B9E97E-284B-43FE-8FD1-AC60167CB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296"/>
              <a:ext cx="62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kumimoji="0" lang="en-US" altLang="zh-CN" sz="1600" i="1">
                  <a:latin typeface="Times New Roman" panose="02020603050405020304" pitchFamily="18" charset="0"/>
                </a:rPr>
                <a:t>C</a:t>
              </a:r>
              <a:r>
                <a:rPr kumimoji="0" lang="en-US" altLang="zh-CN" sz="1600">
                  <a:latin typeface="Times New Roman" panose="02020603050405020304" pitchFamily="18" charset="0"/>
                </a:rPr>
                <a:t>＜</a:t>
              </a:r>
              <a:r>
                <a:rPr kumimoji="0" lang="en-US" altLang="zh-CN" sz="1600" i="1">
                  <a:latin typeface="Times New Roman" panose="02020603050405020304" pitchFamily="18" charset="0"/>
                </a:rPr>
                <a:t>E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7045" name="Group 9">
            <a:extLst>
              <a:ext uri="{FF2B5EF4-FFF2-40B4-BE49-F238E27FC236}">
                <a16:creationId xmlns:a16="http://schemas.microsoft.com/office/drawing/2014/main" id="{42B9A855-4848-4175-8A91-4F5B7F2DCC5C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2590800"/>
            <a:ext cx="4800600" cy="3581400"/>
            <a:chOff x="-3" y="-3"/>
            <a:chExt cx="1628" cy="4984"/>
          </a:xfrm>
        </p:grpSpPr>
        <p:grpSp>
          <p:nvGrpSpPr>
            <p:cNvPr id="87046" name="Group 10">
              <a:extLst>
                <a:ext uri="{FF2B5EF4-FFF2-40B4-BE49-F238E27FC236}">
                  <a16:creationId xmlns:a16="http://schemas.microsoft.com/office/drawing/2014/main" id="{F4D5E24B-BE6B-4506-917C-D02A3745E7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1622" cy="4978"/>
              <a:chOff x="0" y="0"/>
              <a:chExt cx="1622" cy="4978"/>
            </a:xfrm>
          </p:grpSpPr>
          <p:grpSp>
            <p:nvGrpSpPr>
              <p:cNvPr id="87048" name="Group 11">
                <a:extLst>
                  <a:ext uri="{FF2B5EF4-FFF2-40B4-BE49-F238E27FC236}">
                    <a16:creationId xmlns:a16="http://schemas.microsoft.com/office/drawing/2014/main" id="{88B89F13-E065-4871-93AC-C3964E5984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322" cy="1038"/>
                <a:chOff x="0" y="0"/>
                <a:chExt cx="322" cy="1038"/>
              </a:xfrm>
            </p:grpSpPr>
            <p:sp>
              <p:nvSpPr>
                <p:cNvPr id="87136" name="Rectangle 12">
                  <a:extLst>
                    <a:ext uri="{FF2B5EF4-FFF2-40B4-BE49-F238E27FC236}">
                      <a16:creationId xmlns:a16="http://schemas.microsoft.com/office/drawing/2014/main" id="{67FAC3DA-C3A4-4A6D-85F3-4CC40AEA30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36" cy="10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600" b="1" i="1">
                      <a:latin typeface="Times New Roman" panose="02020603050405020304" pitchFamily="18" charset="0"/>
                    </a:rPr>
                    <a:t>A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137" name="Rectangle 13">
                  <a:extLst>
                    <a:ext uri="{FF2B5EF4-FFF2-40B4-BE49-F238E27FC236}">
                      <a16:creationId xmlns:a16="http://schemas.microsoft.com/office/drawing/2014/main" id="{321DFD13-FA15-4CD3-B39F-146C1338BA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22" cy="103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49" name="Group 14">
                <a:extLst>
                  <a:ext uri="{FF2B5EF4-FFF2-40B4-BE49-F238E27FC236}">
                    <a16:creationId xmlns:a16="http://schemas.microsoft.com/office/drawing/2014/main" id="{3DB9532A-9DAF-421D-8638-13E4D1D909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2" y="0"/>
                <a:ext cx="347" cy="1038"/>
                <a:chOff x="322" y="0"/>
                <a:chExt cx="347" cy="1038"/>
              </a:xfrm>
            </p:grpSpPr>
            <p:sp>
              <p:nvSpPr>
                <p:cNvPr id="87134" name="Rectangle 15">
                  <a:extLst>
                    <a:ext uri="{FF2B5EF4-FFF2-40B4-BE49-F238E27FC236}">
                      <a16:creationId xmlns:a16="http://schemas.microsoft.com/office/drawing/2014/main" id="{E467049B-E89E-4BC6-BF14-0F1147FDEE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5" y="0"/>
                  <a:ext cx="261" cy="10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600" b="1" i="1">
                      <a:latin typeface="Times New Roman" panose="02020603050405020304" pitchFamily="18" charset="0"/>
                    </a:rPr>
                    <a:t>R.B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135" name="Rectangle 16">
                  <a:extLst>
                    <a:ext uri="{FF2B5EF4-FFF2-40B4-BE49-F238E27FC236}">
                      <a16:creationId xmlns:a16="http://schemas.microsoft.com/office/drawing/2014/main" id="{36004584-072F-45BC-A973-E8286569AC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2" y="0"/>
                  <a:ext cx="347" cy="103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50" name="Group 17">
                <a:extLst>
                  <a:ext uri="{FF2B5EF4-FFF2-40B4-BE49-F238E27FC236}">
                    <a16:creationId xmlns:a16="http://schemas.microsoft.com/office/drawing/2014/main" id="{82BE3CDD-FDA3-4C5A-897D-72ECAC8180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9" y="0"/>
                <a:ext cx="301" cy="1038"/>
                <a:chOff x="669" y="0"/>
                <a:chExt cx="301" cy="1038"/>
              </a:xfrm>
            </p:grpSpPr>
            <p:sp>
              <p:nvSpPr>
                <p:cNvPr id="87132" name="Rectangle 18">
                  <a:extLst>
                    <a:ext uri="{FF2B5EF4-FFF2-40B4-BE49-F238E27FC236}">
                      <a16:creationId xmlns:a16="http://schemas.microsoft.com/office/drawing/2014/main" id="{6CEB3012-701A-4AF2-BAAD-AD9E3E3545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2" y="0"/>
                  <a:ext cx="215" cy="10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600" b="1" i="1">
                      <a:latin typeface="Times New Roman" panose="02020603050405020304" pitchFamily="18" charset="0"/>
                    </a:rPr>
                    <a:t>C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133" name="Rectangle 19">
                  <a:extLst>
                    <a:ext uri="{FF2B5EF4-FFF2-40B4-BE49-F238E27FC236}">
                      <a16:creationId xmlns:a16="http://schemas.microsoft.com/office/drawing/2014/main" id="{1CFAE0B5-3482-4488-A036-8E6FC88A3B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9" y="0"/>
                  <a:ext cx="301" cy="103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51" name="Group 20">
                <a:extLst>
                  <a:ext uri="{FF2B5EF4-FFF2-40B4-BE49-F238E27FC236}">
                    <a16:creationId xmlns:a16="http://schemas.microsoft.com/office/drawing/2014/main" id="{A376BCF0-CF91-4705-B0E3-3A99C62C30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70" y="0"/>
                <a:ext cx="321" cy="1038"/>
                <a:chOff x="970" y="0"/>
                <a:chExt cx="321" cy="1038"/>
              </a:xfrm>
            </p:grpSpPr>
            <p:sp>
              <p:nvSpPr>
                <p:cNvPr id="87130" name="Rectangle 21">
                  <a:extLst>
                    <a:ext uri="{FF2B5EF4-FFF2-40B4-BE49-F238E27FC236}">
                      <a16:creationId xmlns:a16="http://schemas.microsoft.com/office/drawing/2014/main" id="{5A9A517C-84B1-49E7-BFEF-B86A2D5CE6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13" y="0"/>
                  <a:ext cx="235" cy="10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600" b="1" i="1">
                      <a:latin typeface="Times New Roman" panose="02020603050405020304" pitchFamily="18" charset="0"/>
                    </a:rPr>
                    <a:t>S.B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131" name="Rectangle 22">
                  <a:extLst>
                    <a:ext uri="{FF2B5EF4-FFF2-40B4-BE49-F238E27FC236}">
                      <a16:creationId xmlns:a16="http://schemas.microsoft.com/office/drawing/2014/main" id="{2F30A39B-F805-4BC6-A5A6-C327EB9543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70" y="0"/>
                  <a:ext cx="321" cy="103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52" name="Group 23">
                <a:extLst>
                  <a:ext uri="{FF2B5EF4-FFF2-40B4-BE49-F238E27FC236}">
                    <a16:creationId xmlns:a16="http://schemas.microsoft.com/office/drawing/2014/main" id="{E76FD055-540D-41C5-8F6A-E2B6E0EA3B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1" y="0"/>
                <a:ext cx="331" cy="1038"/>
                <a:chOff x="1291" y="0"/>
                <a:chExt cx="331" cy="1038"/>
              </a:xfrm>
            </p:grpSpPr>
            <p:sp>
              <p:nvSpPr>
                <p:cNvPr id="87128" name="Rectangle 24">
                  <a:extLst>
                    <a:ext uri="{FF2B5EF4-FFF2-40B4-BE49-F238E27FC236}">
                      <a16:creationId xmlns:a16="http://schemas.microsoft.com/office/drawing/2014/main" id="{69CD22A2-2999-4E69-B938-E98B674DFB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4" y="0"/>
                  <a:ext cx="245" cy="10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600" b="1" i="1">
                      <a:latin typeface="Times New Roman" panose="02020603050405020304" pitchFamily="18" charset="0"/>
                    </a:rPr>
                    <a:t>E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129" name="Rectangle 25">
                  <a:extLst>
                    <a:ext uri="{FF2B5EF4-FFF2-40B4-BE49-F238E27FC236}">
                      <a16:creationId xmlns:a16="http://schemas.microsoft.com/office/drawing/2014/main" id="{7096A527-510F-47E4-9D8D-CF6CAE65CF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1" y="0"/>
                  <a:ext cx="331" cy="103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53" name="Group 26">
                <a:extLst>
                  <a:ext uri="{FF2B5EF4-FFF2-40B4-BE49-F238E27FC236}">
                    <a16:creationId xmlns:a16="http://schemas.microsoft.com/office/drawing/2014/main" id="{2453C30C-DF55-4EE8-A9E9-63D59E8476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038"/>
                <a:ext cx="322" cy="788"/>
                <a:chOff x="0" y="1038"/>
                <a:chExt cx="322" cy="788"/>
              </a:xfrm>
            </p:grpSpPr>
            <p:sp>
              <p:nvSpPr>
                <p:cNvPr id="87126" name="Rectangle 27">
                  <a:extLst>
                    <a:ext uri="{FF2B5EF4-FFF2-40B4-BE49-F238E27FC236}">
                      <a16:creationId xmlns:a16="http://schemas.microsoft.com/office/drawing/2014/main" id="{E83A671F-F164-440E-A1CF-18954DBE5B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038"/>
                  <a:ext cx="236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6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6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127" name="Rectangle 28">
                  <a:extLst>
                    <a:ext uri="{FF2B5EF4-FFF2-40B4-BE49-F238E27FC236}">
                      <a16:creationId xmlns:a16="http://schemas.microsoft.com/office/drawing/2014/main" id="{946DB9A7-DCDD-490D-BC7E-319CDAECE9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038"/>
                  <a:ext cx="322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54" name="Group 29">
                <a:extLst>
                  <a:ext uri="{FF2B5EF4-FFF2-40B4-BE49-F238E27FC236}">
                    <a16:creationId xmlns:a16="http://schemas.microsoft.com/office/drawing/2014/main" id="{E3F8CF5F-B88E-41C1-9E3D-23320A19A1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2" y="1038"/>
                <a:ext cx="347" cy="788"/>
                <a:chOff x="322" y="1038"/>
                <a:chExt cx="347" cy="788"/>
              </a:xfrm>
            </p:grpSpPr>
            <p:sp>
              <p:nvSpPr>
                <p:cNvPr id="87124" name="Rectangle 30">
                  <a:extLst>
                    <a:ext uri="{FF2B5EF4-FFF2-40B4-BE49-F238E27FC236}">
                      <a16:creationId xmlns:a16="http://schemas.microsoft.com/office/drawing/2014/main" id="{5472CC79-E76E-4A3B-AD58-4961527702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5" y="1038"/>
                  <a:ext cx="261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6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6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125" name="Rectangle 31">
                  <a:extLst>
                    <a:ext uri="{FF2B5EF4-FFF2-40B4-BE49-F238E27FC236}">
                      <a16:creationId xmlns:a16="http://schemas.microsoft.com/office/drawing/2014/main" id="{4EBBBFA5-349A-4DFC-ADE0-779A3543DE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2" y="1038"/>
                  <a:ext cx="347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55" name="Group 32">
                <a:extLst>
                  <a:ext uri="{FF2B5EF4-FFF2-40B4-BE49-F238E27FC236}">
                    <a16:creationId xmlns:a16="http://schemas.microsoft.com/office/drawing/2014/main" id="{9F5F5616-9737-412C-8544-605E327E82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9" y="1038"/>
                <a:ext cx="301" cy="788"/>
                <a:chOff x="669" y="1038"/>
                <a:chExt cx="301" cy="788"/>
              </a:xfrm>
            </p:grpSpPr>
            <p:sp>
              <p:nvSpPr>
                <p:cNvPr id="87122" name="Rectangle 33">
                  <a:extLst>
                    <a:ext uri="{FF2B5EF4-FFF2-40B4-BE49-F238E27FC236}">
                      <a16:creationId xmlns:a16="http://schemas.microsoft.com/office/drawing/2014/main" id="{84E10DF7-4BFA-4B4B-A3C8-05D9079E98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2" y="1038"/>
                  <a:ext cx="215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600" b="1">
                      <a:latin typeface="Times New Roman" panose="02020603050405020304" pitchFamily="18" charset="0"/>
                    </a:rPr>
                    <a:t>5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123" name="Rectangle 34">
                  <a:extLst>
                    <a:ext uri="{FF2B5EF4-FFF2-40B4-BE49-F238E27FC236}">
                      <a16:creationId xmlns:a16="http://schemas.microsoft.com/office/drawing/2014/main" id="{09391927-F117-448B-AA27-90F36897D3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9" y="1038"/>
                  <a:ext cx="301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56" name="Group 35">
                <a:extLst>
                  <a:ext uri="{FF2B5EF4-FFF2-40B4-BE49-F238E27FC236}">
                    <a16:creationId xmlns:a16="http://schemas.microsoft.com/office/drawing/2014/main" id="{13AF8FAF-37F9-4308-A347-3334E57559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70" y="1038"/>
                <a:ext cx="321" cy="788"/>
                <a:chOff x="970" y="1038"/>
                <a:chExt cx="321" cy="788"/>
              </a:xfrm>
            </p:grpSpPr>
            <p:sp>
              <p:nvSpPr>
                <p:cNvPr id="87120" name="Rectangle 36">
                  <a:extLst>
                    <a:ext uri="{FF2B5EF4-FFF2-40B4-BE49-F238E27FC236}">
                      <a16:creationId xmlns:a16="http://schemas.microsoft.com/office/drawing/2014/main" id="{4F49E256-9D6C-433C-B0C5-7B03315B23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13" y="1038"/>
                  <a:ext cx="235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6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6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121" name="Rectangle 37">
                  <a:extLst>
                    <a:ext uri="{FF2B5EF4-FFF2-40B4-BE49-F238E27FC236}">
                      <a16:creationId xmlns:a16="http://schemas.microsoft.com/office/drawing/2014/main" id="{B14DC2C0-975C-478E-92F2-B1FC511326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70" y="1038"/>
                  <a:ext cx="321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57" name="Group 38">
                <a:extLst>
                  <a:ext uri="{FF2B5EF4-FFF2-40B4-BE49-F238E27FC236}">
                    <a16:creationId xmlns:a16="http://schemas.microsoft.com/office/drawing/2014/main" id="{9141171D-7379-4F5A-8358-F8078202D7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1" y="1038"/>
                <a:ext cx="331" cy="788"/>
                <a:chOff x="1291" y="1038"/>
                <a:chExt cx="331" cy="788"/>
              </a:xfrm>
            </p:grpSpPr>
            <p:sp>
              <p:nvSpPr>
                <p:cNvPr id="87118" name="Rectangle 39">
                  <a:extLst>
                    <a:ext uri="{FF2B5EF4-FFF2-40B4-BE49-F238E27FC236}">
                      <a16:creationId xmlns:a16="http://schemas.microsoft.com/office/drawing/2014/main" id="{6DE9312E-2A6A-4C08-8E99-4E6CB7FEEC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4" y="1038"/>
                  <a:ext cx="245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600" b="1">
                      <a:latin typeface="Times New Roman" panose="02020603050405020304" pitchFamily="18" charset="0"/>
                    </a:rPr>
                    <a:t>7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119" name="Rectangle 40">
                  <a:extLst>
                    <a:ext uri="{FF2B5EF4-FFF2-40B4-BE49-F238E27FC236}">
                      <a16:creationId xmlns:a16="http://schemas.microsoft.com/office/drawing/2014/main" id="{BF4E94D1-31D0-4DFA-B7D9-F58162C8F2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1" y="1038"/>
                  <a:ext cx="331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58" name="Group 41">
                <a:extLst>
                  <a:ext uri="{FF2B5EF4-FFF2-40B4-BE49-F238E27FC236}">
                    <a16:creationId xmlns:a16="http://schemas.microsoft.com/office/drawing/2014/main" id="{80B7F6CF-067D-499A-9AAB-C145422629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826"/>
                <a:ext cx="322" cy="788"/>
                <a:chOff x="0" y="1826"/>
                <a:chExt cx="322" cy="788"/>
              </a:xfrm>
            </p:grpSpPr>
            <p:sp>
              <p:nvSpPr>
                <p:cNvPr id="87116" name="Rectangle 42">
                  <a:extLst>
                    <a:ext uri="{FF2B5EF4-FFF2-40B4-BE49-F238E27FC236}">
                      <a16:creationId xmlns:a16="http://schemas.microsoft.com/office/drawing/2014/main" id="{1C78B2E9-BC38-468D-873F-30774120BE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826"/>
                  <a:ext cx="236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6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6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117" name="Rectangle 43">
                  <a:extLst>
                    <a:ext uri="{FF2B5EF4-FFF2-40B4-BE49-F238E27FC236}">
                      <a16:creationId xmlns:a16="http://schemas.microsoft.com/office/drawing/2014/main" id="{8DDF94C4-77DF-4A70-A32C-18F38FEA22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826"/>
                  <a:ext cx="322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59" name="Group 44">
                <a:extLst>
                  <a:ext uri="{FF2B5EF4-FFF2-40B4-BE49-F238E27FC236}">
                    <a16:creationId xmlns:a16="http://schemas.microsoft.com/office/drawing/2014/main" id="{F3569B12-9CE5-483C-B8A7-39962F3D9A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2" y="1826"/>
                <a:ext cx="347" cy="788"/>
                <a:chOff x="322" y="1826"/>
                <a:chExt cx="347" cy="788"/>
              </a:xfrm>
            </p:grpSpPr>
            <p:sp>
              <p:nvSpPr>
                <p:cNvPr id="87114" name="Rectangle 45">
                  <a:extLst>
                    <a:ext uri="{FF2B5EF4-FFF2-40B4-BE49-F238E27FC236}">
                      <a16:creationId xmlns:a16="http://schemas.microsoft.com/office/drawing/2014/main" id="{1F4B1C87-1572-4718-BF86-6AF5C892A5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5" y="1826"/>
                  <a:ext cx="261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6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6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115" name="Rectangle 46">
                  <a:extLst>
                    <a:ext uri="{FF2B5EF4-FFF2-40B4-BE49-F238E27FC236}">
                      <a16:creationId xmlns:a16="http://schemas.microsoft.com/office/drawing/2014/main" id="{269B9010-3314-46E7-947E-E9F7EAD54C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2" y="1826"/>
                  <a:ext cx="347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60" name="Group 47">
                <a:extLst>
                  <a:ext uri="{FF2B5EF4-FFF2-40B4-BE49-F238E27FC236}">
                    <a16:creationId xmlns:a16="http://schemas.microsoft.com/office/drawing/2014/main" id="{E3F5AEFA-9BCE-42F6-BBE9-C9355722FF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9" y="1826"/>
                <a:ext cx="301" cy="788"/>
                <a:chOff x="669" y="1826"/>
                <a:chExt cx="301" cy="788"/>
              </a:xfrm>
            </p:grpSpPr>
            <p:sp>
              <p:nvSpPr>
                <p:cNvPr id="87112" name="Rectangle 48">
                  <a:extLst>
                    <a:ext uri="{FF2B5EF4-FFF2-40B4-BE49-F238E27FC236}">
                      <a16:creationId xmlns:a16="http://schemas.microsoft.com/office/drawing/2014/main" id="{7B251C46-0098-4B05-8D74-98D62FD7DB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2" y="1826"/>
                  <a:ext cx="215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600" b="1">
                      <a:latin typeface="Times New Roman" panose="02020603050405020304" pitchFamily="18" charset="0"/>
                    </a:rPr>
                    <a:t>5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113" name="Rectangle 49">
                  <a:extLst>
                    <a:ext uri="{FF2B5EF4-FFF2-40B4-BE49-F238E27FC236}">
                      <a16:creationId xmlns:a16="http://schemas.microsoft.com/office/drawing/2014/main" id="{41F3D615-F59D-4ED3-B73D-874C053AEB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9" y="1826"/>
                  <a:ext cx="301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61" name="Group 50">
                <a:extLst>
                  <a:ext uri="{FF2B5EF4-FFF2-40B4-BE49-F238E27FC236}">
                    <a16:creationId xmlns:a16="http://schemas.microsoft.com/office/drawing/2014/main" id="{E251856E-800A-4200-A73E-C6BC9A2134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70" y="1826"/>
                <a:ext cx="321" cy="788"/>
                <a:chOff x="970" y="1826"/>
                <a:chExt cx="321" cy="788"/>
              </a:xfrm>
            </p:grpSpPr>
            <p:sp>
              <p:nvSpPr>
                <p:cNvPr id="87110" name="Rectangle 51">
                  <a:extLst>
                    <a:ext uri="{FF2B5EF4-FFF2-40B4-BE49-F238E27FC236}">
                      <a16:creationId xmlns:a16="http://schemas.microsoft.com/office/drawing/2014/main" id="{1EB088EA-C813-4235-9F54-5C7D710CF4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13" y="1826"/>
                  <a:ext cx="235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6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6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111" name="Rectangle 52">
                  <a:extLst>
                    <a:ext uri="{FF2B5EF4-FFF2-40B4-BE49-F238E27FC236}">
                      <a16:creationId xmlns:a16="http://schemas.microsoft.com/office/drawing/2014/main" id="{21F46BD0-37DB-4E81-A2ED-8868312C21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70" y="1826"/>
                  <a:ext cx="321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62" name="Group 53">
                <a:extLst>
                  <a:ext uri="{FF2B5EF4-FFF2-40B4-BE49-F238E27FC236}">
                    <a16:creationId xmlns:a16="http://schemas.microsoft.com/office/drawing/2014/main" id="{BA77B462-A9BE-47B4-82BF-2CC55DA0F9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1" y="1826"/>
                <a:ext cx="331" cy="788"/>
                <a:chOff x="1291" y="1826"/>
                <a:chExt cx="331" cy="788"/>
              </a:xfrm>
            </p:grpSpPr>
            <p:sp>
              <p:nvSpPr>
                <p:cNvPr id="87108" name="Rectangle 54">
                  <a:extLst>
                    <a:ext uri="{FF2B5EF4-FFF2-40B4-BE49-F238E27FC236}">
                      <a16:creationId xmlns:a16="http://schemas.microsoft.com/office/drawing/2014/main" id="{7135109F-2622-45B1-A4F0-0D263FD15B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4" y="1826"/>
                  <a:ext cx="245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600" b="1">
                      <a:latin typeface="Times New Roman" panose="02020603050405020304" pitchFamily="18" charset="0"/>
                    </a:rPr>
                    <a:t>10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109" name="Rectangle 55">
                  <a:extLst>
                    <a:ext uri="{FF2B5EF4-FFF2-40B4-BE49-F238E27FC236}">
                      <a16:creationId xmlns:a16="http://schemas.microsoft.com/office/drawing/2014/main" id="{B6C548DF-B23E-4BA9-98F6-3C48209151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1" y="1826"/>
                  <a:ext cx="331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63" name="Group 56">
                <a:extLst>
                  <a:ext uri="{FF2B5EF4-FFF2-40B4-BE49-F238E27FC236}">
                    <a16:creationId xmlns:a16="http://schemas.microsoft.com/office/drawing/2014/main" id="{0604EC41-D055-416F-8957-12AD26C189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614"/>
                <a:ext cx="322" cy="788"/>
                <a:chOff x="0" y="2614"/>
                <a:chExt cx="322" cy="788"/>
              </a:xfrm>
            </p:grpSpPr>
            <p:sp>
              <p:nvSpPr>
                <p:cNvPr id="87106" name="Rectangle 57">
                  <a:extLst>
                    <a:ext uri="{FF2B5EF4-FFF2-40B4-BE49-F238E27FC236}">
                      <a16:creationId xmlns:a16="http://schemas.microsoft.com/office/drawing/2014/main" id="{D1694D54-FF04-4B58-B8EE-2F6E0EB1C7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614"/>
                  <a:ext cx="236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6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6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107" name="Rectangle 58">
                  <a:extLst>
                    <a:ext uri="{FF2B5EF4-FFF2-40B4-BE49-F238E27FC236}">
                      <a16:creationId xmlns:a16="http://schemas.microsoft.com/office/drawing/2014/main" id="{8ADCC98C-C5BD-405F-88A6-A2BD25C669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614"/>
                  <a:ext cx="322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64" name="Group 59">
                <a:extLst>
                  <a:ext uri="{FF2B5EF4-FFF2-40B4-BE49-F238E27FC236}">
                    <a16:creationId xmlns:a16="http://schemas.microsoft.com/office/drawing/2014/main" id="{E9E8A6F6-EB11-47BF-B372-58AF15E363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2" y="2614"/>
                <a:ext cx="347" cy="788"/>
                <a:chOff x="322" y="2614"/>
                <a:chExt cx="347" cy="788"/>
              </a:xfrm>
            </p:grpSpPr>
            <p:sp>
              <p:nvSpPr>
                <p:cNvPr id="87104" name="Rectangle 60">
                  <a:extLst>
                    <a:ext uri="{FF2B5EF4-FFF2-40B4-BE49-F238E27FC236}">
                      <a16:creationId xmlns:a16="http://schemas.microsoft.com/office/drawing/2014/main" id="{F746490D-18E2-4A0D-A1AE-62D2A46DC4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5" y="2614"/>
                  <a:ext cx="261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6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6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105" name="Rectangle 61">
                  <a:extLst>
                    <a:ext uri="{FF2B5EF4-FFF2-40B4-BE49-F238E27FC236}">
                      <a16:creationId xmlns:a16="http://schemas.microsoft.com/office/drawing/2014/main" id="{56CA76AE-2CFB-4BC2-BB72-38A0B29C22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2" y="2614"/>
                  <a:ext cx="347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65" name="Group 62">
                <a:extLst>
                  <a:ext uri="{FF2B5EF4-FFF2-40B4-BE49-F238E27FC236}">
                    <a16:creationId xmlns:a16="http://schemas.microsoft.com/office/drawing/2014/main" id="{F0A86011-0842-4912-AE2F-98E77F32C5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9" y="2614"/>
                <a:ext cx="301" cy="788"/>
                <a:chOff x="669" y="2614"/>
                <a:chExt cx="301" cy="788"/>
              </a:xfrm>
            </p:grpSpPr>
            <p:sp>
              <p:nvSpPr>
                <p:cNvPr id="87102" name="Rectangle 63">
                  <a:extLst>
                    <a:ext uri="{FF2B5EF4-FFF2-40B4-BE49-F238E27FC236}">
                      <a16:creationId xmlns:a16="http://schemas.microsoft.com/office/drawing/2014/main" id="{822A7A69-ADF3-4BD1-8437-38B811AAD0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2" y="2614"/>
                  <a:ext cx="215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600" b="1">
                      <a:latin typeface="Times New Roman" panose="02020603050405020304" pitchFamily="18" charset="0"/>
                    </a:rPr>
                    <a:t>6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103" name="Rectangle 64">
                  <a:extLst>
                    <a:ext uri="{FF2B5EF4-FFF2-40B4-BE49-F238E27FC236}">
                      <a16:creationId xmlns:a16="http://schemas.microsoft.com/office/drawing/2014/main" id="{AE668E73-709D-46E7-927B-723526A492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9" y="2614"/>
                  <a:ext cx="301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66" name="Group 65">
                <a:extLst>
                  <a:ext uri="{FF2B5EF4-FFF2-40B4-BE49-F238E27FC236}">
                    <a16:creationId xmlns:a16="http://schemas.microsoft.com/office/drawing/2014/main" id="{533085C3-8279-4273-8FA4-3D205186FD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70" y="2614"/>
                <a:ext cx="321" cy="788"/>
                <a:chOff x="970" y="2614"/>
                <a:chExt cx="321" cy="788"/>
              </a:xfrm>
            </p:grpSpPr>
            <p:sp>
              <p:nvSpPr>
                <p:cNvPr id="87100" name="Rectangle 66">
                  <a:extLst>
                    <a:ext uri="{FF2B5EF4-FFF2-40B4-BE49-F238E27FC236}">
                      <a16:creationId xmlns:a16="http://schemas.microsoft.com/office/drawing/2014/main" id="{879FB8BA-67CF-4555-82F1-D2911F0A9F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13" y="2614"/>
                  <a:ext cx="235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6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6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101" name="Rectangle 67">
                  <a:extLst>
                    <a:ext uri="{FF2B5EF4-FFF2-40B4-BE49-F238E27FC236}">
                      <a16:creationId xmlns:a16="http://schemas.microsoft.com/office/drawing/2014/main" id="{D2EBB8E5-C606-44F1-A1E7-EA70F1F38A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70" y="2614"/>
                  <a:ext cx="321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67" name="Group 68">
                <a:extLst>
                  <a:ext uri="{FF2B5EF4-FFF2-40B4-BE49-F238E27FC236}">
                    <a16:creationId xmlns:a16="http://schemas.microsoft.com/office/drawing/2014/main" id="{41126564-1BAC-47DA-9569-4E864051B5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1" y="2614"/>
                <a:ext cx="331" cy="788"/>
                <a:chOff x="1291" y="2614"/>
                <a:chExt cx="331" cy="788"/>
              </a:xfrm>
            </p:grpSpPr>
            <p:sp>
              <p:nvSpPr>
                <p:cNvPr id="87098" name="Rectangle 69">
                  <a:extLst>
                    <a:ext uri="{FF2B5EF4-FFF2-40B4-BE49-F238E27FC236}">
                      <a16:creationId xmlns:a16="http://schemas.microsoft.com/office/drawing/2014/main" id="{00EBABAD-EFD0-4C6C-B507-1F201E2BA4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4" y="2614"/>
                  <a:ext cx="245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600" b="1">
                      <a:latin typeface="Times New Roman" panose="02020603050405020304" pitchFamily="18" charset="0"/>
                    </a:rPr>
                    <a:t>7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099" name="Rectangle 70">
                  <a:extLst>
                    <a:ext uri="{FF2B5EF4-FFF2-40B4-BE49-F238E27FC236}">
                      <a16:creationId xmlns:a16="http://schemas.microsoft.com/office/drawing/2014/main" id="{1764E186-90B8-44D0-8C8E-908DEF771C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1" y="2614"/>
                  <a:ext cx="331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68" name="Group 71">
                <a:extLst>
                  <a:ext uri="{FF2B5EF4-FFF2-40B4-BE49-F238E27FC236}">
                    <a16:creationId xmlns:a16="http://schemas.microsoft.com/office/drawing/2014/main" id="{EA022A8A-22E8-48D2-9DE1-AB9B569A83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402"/>
                <a:ext cx="322" cy="788"/>
                <a:chOff x="0" y="3402"/>
                <a:chExt cx="322" cy="788"/>
              </a:xfrm>
            </p:grpSpPr>
            <p:sp>
              <p:nvSpPr>
                <p:cNvPr id="87096" name="Rectangle 72">
                  <a:extLst>
                    <a:ext uri="{FF2B5EF4-FFF2-40B4-BE49-F238E27FC236}">
                      <a16:creationId xmlns:a16="http://schemas.microsoft.com/office/drawing/2014/main" id="{76EAD4C9-0428-4E5F-9CC1-8B9702F103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3402"/>
                  <a:ext cx="236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6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6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097" name="Rectangle 73">
                  <a:extLst>
                    <a:ext uri="{FF2B5EF4-FFF2-40B4-BE49-F238E27FC236}">
                      <a16:creationId xmlns:a16="http://schemas.microsoft.com/office/drawing/2014/main" id="{DDE08008-E11B-4DFA-8DDD-DADF6FD6F2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402"/>
                  <a:ext cx="322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69" name="Group 74">
                <a:extLst>
                  <a:ext uri="{FF2B5EF4-FFF2-40B4-BE49-F238E27FC236}">
                    <a16:creationId xmlns:a16="http://schemas.microsoft.com/office/drawing/2014/main" id="{BF5E6101-340A-41E8-B85A-FE4EAAD271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2" y="3402"/>
                <a:ext cx="347" cy="788"/>
                <a:chOff x="322" y="3402"/>
                <a:chExt cx="347" cy="788"/>
              </a:xfrm>
            </p:grpSpPr>
            <p:sp>
              <p:nvSpPr>
                <p:cNvPr id="87094" name="Rectangle 75">
                  <a:extLst>
                    <a:ext uri="{FF2B5EF4-FFF2-40B4-BE49-F238E27FC236}">
                      <a16:creationId xmlns:a16="http://schemas.microsoft.com/office/drawing/2014/main" id="{7D46002B-DE06-4326-ABCE-4E0B31E28C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5" y="3402"/>
                  <a:ext cx="261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6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6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095" name="Rectangle 76">
                  <a:extLst>
                    <a:ext uri="{FF2B5EF4-FFF2-40B4-BE49-F238E27FC236}">
                      <a16:creationId xmlns:a16="http://schemas.microsoft.com/office/drawing/2014/main" id="{1F15CC7A-E32F-45BA-9448-8B148C14E6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2" y="3402"/>
                  <a:ext cx="347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70" name="Group 77">
                <a:extLst>
                  <a:ext uri="{FF2B5EF4-FFF2-40B4-BE49-F238E27FC236}">
                    <a16:creationId xmlns:a16="http://schemas.microsoft.com/office/drawing/2014/main" id="{1670F465-43E5-4D85-A912-734A7DD332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9" y="3402"/>
                <a:ext cx="301" cy="788"/>
                <a:chOff x="669" y="3402"/>
                <a:chExt cx="301" cy="788"/>
              </a:xfrm>
            </p:grpSpPr>
            <p:sp>
              <p:nvSpPr>
                <p:cNvPr id="87092" name="Rectangle 78">
                  <a:extLst>
                    <a:ext uri="{FF2B5EF4-FFF2-40B4-BE49-F238E27FC236}">
                      <a16:creationId xmlns:a16="http://schemas.microsoft.com/office/drawing/2014/main" id="{5641A301-B625-4199-BA6A-21FA5AD297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2" y="3402"/>
                  <a:ext cx="215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600" b="1">
                      <a:latin typeface="Times New Roman" panose="02020603050405020304" pitchFamily="18" charset="0"/>
                    </a:rPr>
                    <a:t>6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093" name="Rectangle 79">
                  <a:extLst>
                    <a:ext uri="{FF2B5EF4-FFF2-40B4-BE49-F238E27FC236}">
                      <a16:creationId xmlns:a16="http://schemas.microsoft.com/office/drawing/2014/main" id="{52C59445-06E0-4F5A-BA87-DF71680E42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9" y="3402"/>
                  <a:ext cx="301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71" name="Group 80">
                <a:extLst>
                  <a:ext uri="{FF2B5EF4-FFF2-40B4-BE49-F238E27FC236}">
                    <a16:creationId xmlns:a16="http://schemas.microsoft.com/office/drawing/2014/main" id="{03AC6E4A-98A2-4038-B497-CABFB3B598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70" y="3402"/>
                <a:ext cx="321" cy="788"/>
                <a:chOff x="970" y="3402"/>
                <a:chExt cx="321" cy="788"/>
              </a:xfrm>
            </p:grpSpPr>
            <p:sp>
              <p:nvSpPr>
                <p:cNvPr id="87090" name="Rectangle 81">
                  <a:extLst>
                    <a:ext uri="{FF2B5EF4-FFF2-40B4-BE49-F238E27FC236}">
                      <a16:creationId xmlns:a16="http://schemas.microsoft.com/office/drawing/2014/main" id="{76C205D7-3F13-4221-95BF-AC95CB6E1E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13" y="3402"/>
                  <a:ext cx="235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6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6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091" name="Rectangle 82">
                  <a:extLst>
                    <a:ext uri="{FF2B5EF4-FFF2-40B4-BE49-F238E27FC236}">
                      <a16:creationId xmlns:a16="http://schemas.microsoft.com/office/drawing/2014/main" id="{9DEF36E5-5FFE-4D1B-8BEE-33A6F035A2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70" y="3402"/>
                  <a:ext cx="321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72" name="Group 83">
                <a:extLst>
                  <a:ext uri="{FF2B5EF4-FFF2-40B4-BE49-F238E27FC236}">
                    <a16:creationId xmlns:a16="http://schemas.microsoft.com/office/drawing/2014/main" id="{FAFFB469-AD11-4C39-B6BD-FA979DE0DA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1" y="3402"/>
                <a:ext cx="331" cy="788"/>
                <a:chOff x="1291" y="3402"/>
                <a:chExt cx="331" cy="788"/>
              </a:xfrm>
            </p:grpSpPr>
            <p:sp>
              <p:nvSpPr>
                <p:cNvPr id="87088" name="Rectangle 84">
                  <a:extLst>
                    <a:ext uri="{FF2B5EF4-FFF2-40B4-BE49-F238E27FC236}">
                      <a16:creationId xmlns:a16="http://schemas.microsoft.com/office/drawing/2014/main" id="{027A638C-CBF0-4716-AA58-3947A61590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4" y="3402"/>
                  <a:ext cx="245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600" b="1">
                      <a:latin typeface="Times New Roman" panose="02020603050405020304" pitchFamily="18" charset="0"/>
                    </a:rPr>
                    <a:t>10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089" name="Rectangle 85">
                  <a:extLst>
                    <a:ext uri="{FF2B5EF4-FFF2-40B4-BE49-F238E27FC236}">
                      <a16:creationId xmlns:a16="http://schemas.microsoft.com/office/drawing/2014/main" id="{5F861D92-13A2-4C6B-9A15-95F20B7150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1" y="3402"/>
                  <a:ext cx="331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73" name="Group 86">
                <a:extLst>
                  <a:ext uri="{FF2B5EF4-FFF2-40B4-BE49-F238E27FC236}">
                    <a16:creationId xmlns:a16="http://schemas.microsoft.com/office/drawing/2014/main" id="{F9BF8BF2-0647-405B-966E-1353A5069D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190"/>
                <a:ext cx="322" cy="788"/>
                <a:chOff x="0" y="4190"/>
                <a:chExt cx="322" cy="788"/>
              </a:xfrm>
            </p:grpSpPr>
            <p:sp>
              <p:nvSpPr>
                <p:cNvPr id="87086" name="Rectangle 87">
                  <a:extLst>
                    <a:ext uri="{FF2B5EF4-FFF2-40B4-BE49-F238E27FC236}">
                      <a16:creationId xmlns:a16="http://schemas.microsoft.com/office/drawing/2014/main" id="{06D10A55-AE0E-48BC-B2FC-B0D8D6D03C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4190"/>
                  <a:ext cx="236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6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6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087" name="Rectangle 88">
                  <a:extLst>
                    <a:ext uri="{FF2B5EF4-FFF2-40B4-BE49-F238E27FC236}">
                      <a16:creationId xmlns:a16="http://schemas.microsoft.com/office/drawing/2014/main" id="{D84A7FA9-F081-4977-8C6D-B5A64A7AA9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190"/>
                  <a:ext cx="322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74" name="Group 89">
                <a:extLst>
                  <a:ext uri="{FF2B5EF4-FFF2-40B4-BE49-F238E27FC236}">
                    <a16:creationId xmlns:a16="http://schemas.microsoft.com/office/drawing/2014/main" id="{156F6DDA-53E4-4C92-9DBB-104F2307AC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2" y="4190"/>
                <a:ext cx="347" cy="788"/>
                <a:chOff x="322" y="4190"/>
                <a:chExt cx="347" cy="788"/>
              </a:xfrm>
            </p:grpSpPr>
            <p:sp>
              <p:nvSpPr>
                <p:cNvPr id="87084" name="Rectangle 90">
                  <a:extLst>
                    <a:ext uri="{FF2B5EF4-FFF2-40B4-BE49-F238E27FC236}">
                      <a16:creationId xmlns:a16="http://schemas.microsoft.com/office/drawing/2014/main" id="{A32F497C-16DC-4905-B0AD-E728AAF90F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5" y="4190"/>
                  <a:ext cx="261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6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6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085" name="Rectangle 91">
                  <a:extLst>
                    <a:ext uri="{FF2B5EF4-FFF2-40B4-BE49-F238E27FC236}">
                      <a16:creationId xmlns:a16="http://schemas.microsoft.com/office/drawing/2014/main" id="{BD791726-B371-4EEF-B715-1FE746C7EC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2" y="4190"/>
                  <a:ext cx="347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75" name="Group 92">
                <a:extLst>
                  <a:ext uri="{FF2B5EF4-FFF2-40B4-BE49-F238E27FC236}">
                    <a16:creationId xmlns:a16="http://schemas.microsoft.com/office/drawing/2014/main" id="{37F71BD6-66CC-4328-AD1A-88F6971429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9" y="4190"/>
                <a:ext cx="301" cy="788"/>
                <a:chOff x="669" y="4190"/>
                <a:chExt cx="301" cy="788"/>
              </a:xfrm>
            </p:grpSpPr>
            <p:sp>
              <p:nvSpPr>
                <p:cNvPr id="87082" name="Rectangle 93">
                  <a:extLst>
                    <a:ext uri="{FF2B5EF4-FFF2-40B4-BE49-F238E27FC236}">
                      <a16:creationId xmlns:a16="http://schemas.microsoft.com/office/drawing/2014/main" id="{279B9028-68F9-460E-B4B3-7F05CCE90F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2" y="4190"/>
                  <a:ext cx="215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600" b="1">
                      <a:latin typeface="Times New Roman" panose="02020603050405020304" pitchFamily="18" charset="0"/>
                    </a:rPr>
                    <a:t>8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083" name="Rectangle 94">
                  <a:extLst>
                    <a:ext uri="{FF2B5EF4-FFF2-40B4-BE49-F238E27FC236}">
                      <a16:creationId xmlns:a16="http://schemas.microsoft.com/office/drawing/2014/main" id="{C6AEA335-4640-48EB-A0AC-05BA5F6934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9" y="4190"/>
                  <a:ext cx="301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76" name="Group 95">
                <a:extLst>
                  <a:ext uri="{FF2B5EF4-FFF2-40B4-BE49-F238E27FC236}">
                    <a16:creationId xmlns:a16="http://schemas.microsoft.com/office/drawing/2014/main" id="{0A20133F-C415-4C16-82F5-75C961D76A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70" y="4190"/>
                <a:ext cx="321" cy="788"/>
                <a:chOff x="970" y="4190"/>
                <a:chExt cx="321" cy="788"/>
              </a:xfrm>
            </p:grpSpPr>
            <p:sp>
              <p:nvSpPr>
                <p:cNvPr id="87080" name="Rectangle 96">
                  <a:extLst>
                    <a:ext uri="{FF2B5EF4-FFF2-40B4-BE49-F238E27FC236}">
                      <a16:creationId xmlns:a16="http://schemas.microsoft.com/office/drawing/2014/main" id="{1FE33AC6-B2A8-4E4C-AE8E-5B72F9DD15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13" y="4190"/>
                  <a:ext cx="235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6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6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081" name="Rectangle 97">
                  <a:extLst>
                    <a:ext uri="{FF2B5EF4-FFF2-40B4-BE49-F238E27FC236}">
                      <a16:creationId xmlns:a16="http://schemas.microsoft.com/office/drawing/2014/main" id="{BE473A9A-E8FC-4A7C-969E-3C4ACF3161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70" y="4190"/>
                  <a:ext cx="321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7077" name="Group 98">
                <a:extLst>
                  <a:ext uri="{FF2B5EF4-FFF2-40B4-BE49-F238E27FC236}">
                    <a16:creationId xmlns:a16="http://schemas.microsoft.com/office/drawing/2014/main" id="{5D04676F-A875-4B31-B236-B7C3E70055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1" y="4190"/>
                <a:ext cx="331" cy="788"/>
                <a:chOff x="1291" y="4190"/>
                <a:chExt cx="331" cy="788"/>
              </a:xfrm>
            </p:grpSpPr>
            <p:sp>
              <p:nvSpPr>
                <p:cNvPr id="87078" name="Rectangle 99">
                  <a:extLst>
                    <a:ext uri="{FF2B5EF4-FFF2-40B4-BE49-F238E27FC236}">
                      <a16:creationId xmlns:a16="http://schemas.microsoft.com/office/drawing/2014/main" id="{EFEF73A5-4C5F-44D9-80C4-7BAA5C3B79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4" y="4190"/>
                  <a:ext cx="245" cy="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600" b="1">
                      <a:latin typeface="Times New Roman" panose="02020603050405020304" pitchFamily="18" charset="0"/>
                    </a:rPr>
                    <a:t>10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7079" name="Rectangle 100">
                  <a:extLst>
                    <a:ext uri="{FF2B5EF4-FFF2-40B4-BE49-F238E27FC236}">
                      <a16:creationId xmlns:a16="http://schemas.microsoft.com/office/drawing/2014/main" id="{D6EA680D-6E32-44BD-A463-D045760FD2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1" y="4190"/>
                  <a:ext cx="331" cy="78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87047" name="Rectangle 101">
              <a:extLst>
                <a:ext uri="{FF2B5EF4-FFF2-40B4-BE49-F238E27FC236}">
                  <a16:creationId xmlns:a16="http://schemas.microsoft.com/office/drawing/2014/main" id="{8F298EF2-5D29-44F8-BE58-9FF21DDF1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1628" cy="4984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A019FC2F-0D38-4B12-9DD3-70EFED9FD6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80129869-938E-4046-BD48-B7C47B5B38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 等值连接 </a:t>
            </a:r>
            <a:r>
              <a:rPr lang="en-US" altLang="zh-CN" b="1" i="1"/>
              <a:t>R</a:t>
            </a:r>
            <a:r>
              <a:rPr lang="en-US" altLang="zh-CN" b="1"/>
              <a:t>  </a:t>
            </a:r>
            <a:r>
              <a:rPr lang="en-US" altLang="zh-CN" b="1" i="1"/>
              <a:t>      S </a:t>
            </a:r>
            <a:endParaRPr lang="en-US" altLang="zh-CN" b="1"/>
          </a:p>
          <a:p>
            <a:pPr eaLnBrk="1" hangingPunct="1"/>
            <a:endParaRPr lang="zh-CN" altLang="en-US" b="1"/>
          </a:p>
        </p:txBody>
      </p:sp>
      <p:grpSp>
        <p:nvGrpSpPr>
          <p:cNvPr id="88068" name="Group 4">
            <a:extLst>
              <a:ext uri="{FF2B5EF4-FFF2-40B4-BE49-F238E27FC236}">
                <a16:creationId xmlns:a16="http://schemas.microsoft.com/office/drawing/2014/main" id="{47685F0D-106D-4353-9D14-3BFC9D21AC6D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2887663"/>
            <a:ext cx="4114800" cy="3436937"/>
            <a:chOff x="-3" y="-3"/>
            <a:chExt cx="2205" cy="2501"/>
          </a:xfrm>
        </p:grpSpPr>
        <p:grpSp>
          <p:nvGrpSpPr>
            <p:cNvPr id="88074" name="Group 5">
              <a:extLst>
                <a:ext uri="{FF2B5EF4-FFF2-40B4-BE49-F238E27FC236}">
                  <a16:creationId xmlns:a16="http://schemas.microsoft.com/office/drawing/2014/main" id="{697E69BF-7CC2-4A9F-9AFF-10F8CF6691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199" cy="2495"/>
              <a:chOff x="0" y="0"/>
              <a:chExt cx="2199" cy="2495"/>
            </a:xfrm>
          </p:grpSpPr>
          <p:grpSp>
            <p:nvGrpSpPr>
              <p:cNvPr id="88076" name="Group 6">
                <a:extLst>
                  <a:ext uri="{FF2B5EF4-FFF2-40B4-BE49-F238E27FC236}">
                    <a16:creationId xmlns:a16="http://schemas.microsoft.com/office/drawing/2014/main" id="{4DD4722B-26D7-4A3E-A7F5-81E1640DD8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390" cy="499"/>
                <a:chOff x="0" y="0"/>
                <a:chExt cx="390" cy="499"/>
              </a:xfrm>
            </p:grpSpPr>
            <p:sp>
              <p:nvSpPr>
                <p:cNvPr id="88149" name="Rectangle 7">
                  <a:extLst>
                    <a:ext uri="{FF2B5EF4-FFF2-40B4-BE49-F238E27FC236}">
                      <a16:creationId xmlns:a16="http://schemas.microsoft.com/office/drawing/2014/main" id="{1EF04F12-A278-4C83-8326-658D917971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0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50" name="Rectangle 8">
                  <a:extLst>
                    <a:ext uri="{FF2B5EF4-FFF2-40B4-BE49-F238E27FC236}">
                      <a16:creationId xmlns:a16="http://schemas.microsoft.com/office/drawing/2014/main" id="{2699B955-B377-4A1B-9926-F4CACB4D03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9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8077" name="Group 9">
                <a:extLst>
                  <a:ext uri="{FF2B5EF4-FFF2-40B4-BE49-F238E27FC236}">
                    <a16:creationId xmlns:a16="http://schemas.microsoft.com/office/drawing/2014/main" id="{5A23DD53-6361-4A34-858B-D238A38F90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0" y="0"/>
                <a:ext cx="523" cy="499"/>
                <a:chOff x="390" y="0"/>
                <a:chExt cx="523" cy="499"/>
              </a:xfrm>
            </p:grpSpPr>
            <p:sp>
              <p:nvSpPr>
                <p:cNvPr id="88147" name="Rectangle 10">
                  <a:extLst>
                    <a:ext uri="{FF2B5EF4-FFF2-40B4-BE49-F238E27FC236}">
                      <a16:creationId xmlns:a16="http://schemas.microsoft.com/office/drawing/2014/main" id="{9EDB5B35-5D25-4FED-A452-CA84B728AA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3" y="0"/>
                  <a:ext cx="437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R.B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48" name="Rectangle 11">
                  <a:extLst>
                    <a:ext uri="{FF2B5EF4-FFF2-40B4-BE49-F238E27FC236}">
                      <a16:creationId xmlns:a16="http://schemas.microsoft.com/office/drawing/2014/main" id="{90DBB812-874A-445C-BC41-3C92502F00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" y="0"/>
                  <a:ext cx="52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8078" name="Group 12">
                <a:extLst>
                  <a:ext uri="{FF2B5EF4-FFF2-40B4-BE49-F238E27FC236}">
                    <a16:creationId xmlns:a16="http://schemas.microsoft.com/office/drawing/2014/main" id="{B6C45933-805F-40E1-AB8C-2774B2283F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3" y="0"/>
                <a:ext cx="362" cy="499"/>
                <a:chOff x="913" y="0"/>
                <a:chExt cx="362" cy="499"/>
              </a:xfrm>
            </p:grpSpPr>
            <p:sp>
              <p:nvSpPr>
                <p:cNvPr id="88145" name="Rectangle 13">
                  <a:extLst>
                    <a:ext uri="{FF2B5EF4-FFF2-40B4-BE49-F238E27FC236}">
                      <a16:creationId xmlns:a16="http://schemas.microsoft.com/office/drawing/2014/main" id="{3E5E07A2-4C76-468D-BC4B-3F59C826FA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6" y="0"/>
                  <a:ext cx="276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46" name="Rectangle 14">
                  <a:extLst>
                    <a:ext uri="{FF2B5EF4-FFF2-40B4-BE49-F238E27FC236}">
                      <a16:creationId xmlns:a16="http://schemas.microsoft.com/office/drawing/2014/main" id="{7FE1E63D-1DCC-4F34-9D4E-A9BB52CB2A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3" y="0"/>
                  <a:ext cx="362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8079" name="Group 15">
                <a:extLst>
                  <a:ext uri="{FF2B5EF4-FFF2-40B4-BE49-F238E27FC236}">
                    <a16:creationId xmlns:a16="http://schemas.microsoft.com/office/drawing/2014/main" id="{A09652F3-BFB6-4429-A8A7-E602C43B16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5" y="0"/>
                <a:ext cx="504" cy="499"/>
                <a:chOff x="1275" y="0"/>
                <a:chExt cx="504" cy="499"/>
              </a:xfrm>
            </p:grpSpPr>
            <p:sp>
              <p:nvSpPr>
                <p:cNvPr id="88143" name="Rectangle 16">
                  <a:extLst>
                    <a:ext uri="{FF2B5EF4-FFF2-40B4-BE49-F238E27FC236}">
                      <a16:creationId xmlns:a16="http://schemas.microsoft.com/office/drawing/2014/main" id="{D56C8A70-A5EE-4B7A-97D3-BC1E9DC4EE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8" y="0"/>
                  <a:ext cx="418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S.B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44" name="Rectangle 17">
                  <a:extLst>
                    <a:ext uri="{FF2B5EF4-FFF2-40B4-BE49-F238E27FC236}">
                      <a16:creationId xmlns:a16="http://schemas.microsoft.com/office/drawing/2014/main" id="{9BB98F9E-E615-4715-BD9E-7AEF89034E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75" y="0"/>
                  <a:ext cx="504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8080" name="Group 18">
                <a:extLst>
                  <a:ext uri="{FF2B5EF4-FFF2-40B4-BE49-F238E27FC236}">
                    <a16:creationId xmlns:a16="http://schemas.microsoft.com/office/drawing/2014/main" id="{CEB3A345-B9C3-4852-BA54-2BDAD579B1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9" y="0"/>
                <a:ext cx="420" cy="499"/>
                <a:chOff x="1779" y="0"/>
                <a:chExt cx="420" cy="499"/>
              </a:xfrm>
            </p:grpSpPr>
            <p:sp>
              <p:nvSpPr>
                <p:cNvPr id="88141" name="Rectangle 19">
                  <a:extLst>
                    <a:ext uri="{FF2B5EF4-FFF2-40B4-BE49-F238E27FC236}">
                      <a16:creationId xmlns:a16="http://schemas.microsoft.com/office/drawing/2014/main" id="{0CD771CD-7A30-40E3-96B1-AECBEA51BF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2" y="0"/>
                  <a:ext cx="33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E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42" name="Rectangle 20">
                  <a:extLst>
                    <a:ext uri="{FF2B5EF4-FFF2-40B4-BE49-F238E27FC236}">
                      <a16:creationId xmlns:a16="http://schemas.microsoft.com/office/drawing/2014/main" id="{4CD2C0B4-A339-4873-9246-F4A0A8A0E5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9" y="0"/>
                  <a:ext cx="42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8081" name="Group 21">
                <a:extLst>
                  <a:ext uri="{FF2B5EF4-FFF2-40B4-BE49-F238E27FC236}">
                    <a16:creationId xmlns:a16="http://schemas.microsoft.com/office/drawing/2014/main" id="{4FCBD9D5-D484-46A8-A6C2-FFADA2B221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99"/>
                <a:ext cx="390" cy="499"/>
                <a:chOff x="0" y="499"/>
                <a:chExt cx="390" cy="499"/>
              </a:xfrm>
            </p:grpSpPr>
            <p:sp>
              <p:nvSpPr>
                <p:cNvPr id="88139" name="Rectangle 22">
                  <a:extLst>
                    <a:ext uri="{FF2B5EF4-FFF2-40B4-BE49-F238E27FC236}">
                      <a16:creationId xmlns:a16="http://schemas.microsoft.com/office/drawing/2014/main" id="{D24A5475-8B5E-407B-9C99-62B1805D7B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499"/>
                  <a:ext cx="30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40" name="Rectangle 23">
                  <a:extLst>
                    <a:ext uri="{FF2B5EF4-FFF2-40B4-BE49-F238E27FC236}">
                      <a16:creationId xmlns:a16="http://schemas.microsoft.com/office/drawing/2014/main" id="{4FFDD83B-2E3B-46DE-9759-B8E2D0FCA9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99"/>
                  <a:ext cx="39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8082" name="Group 24">
                <a:extLst>
                  <a:ext uri="{FF2B5EF4-FFF2-40B4-BE49-F238E27FC236}">
                    <a16:creationId xmlns:a16="http://schemas.microsoft.com/office/drawing/2014/main" id="{46342552-4AF6-4BED-9515-E9DC119C1B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0" y="499"/>
                <a:ext cx="523" cy="499"/>
                <a:chOff x="390" y="499"/>
                <a:chExt cx="523" cy="499"/>
              </a:xfrm>
            </p:grpSpPr>
            <p:sp>
              <p:nvSpPr>
                <p:cNvPr id="88137" name="Rectangle 25">
                  <a:extLst>
                    <a:ext uri="{FF2B5EF4-FFF2-40B4-BE49-F238E27FC236}">
                      <a16:creationId xmlns:a16="http://schemas.microsoft.com/office/drawing/2014/main" id="{0D821B04-6755-4620-A02D-F350FE5CCB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3" y="499"/>
                  <a:ext cx="437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38" name="Rectangle 26">
                  <a:extLst>
                    <a:ext uri="{FF2B5EF4-FFF2-40B4-BE49-F238E27FC236}">
                      <a16:creationId xmlns:a16="http://schemas.microsoft.com/office/drawing/2014/main" id="{FAFA49D5-7543-45A0-9C08-9322D4038B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" y="499"/>
                  <a:ext cx="52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8083" name="Group 27">
                <a:extLst>
                  <a:ext uri="{FF2B5EF4-FFF2-40B4-BE49-F238E27FC236}">
                    <a16:creationId xmlns:a16="http://schemas.microsoft.com/office/drawing/2014/main" id="{C4D086D1-AB1E-4346-A005-4A81CCACAE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3" y="499"/>
                <a:ext cx="362" cy="499"/>
                <a:chOff x="913" y="499"/>
                <a:chExt cx="362" cy="499"/>
              </a:xfrm>
            </p:grpSpPr>
            <p:sp>
              <p:nvSpPr>
                <p:cNvPr id="88135" name="Rectangle 28">
                  <a:extLst>
                    <a:ext uri="{FF2B5EF4-FFF2-40B4-BE49-F238E27FC236}">
                      <a16:creationId xmlns:a16="http://schemas.microsoft.com/office/drawing/2014/main" id="{3B03ABD3-EC2B-477D-B0BE-129C1EC3D9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6" y="499"/>
                  <a:ext cx="276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200" b="1">
                      <a:latin typeface="Times New Roman" panose="02020603050405020304" pitchFamily="18" charset="0"/>
                    </a:rPr>
                    <a:t>5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36" name="Rectangle 29">
                  <a:extLst>
                    <a:ext uri="{FF2B5EF4-FFF2-40B4-BE49-F238E27FC236}">
                      <a16:creationId xmlns:a16="http://schemas.microsoft.com/office/drawing/2014/main" id="{08C0268F-5CFE-45D1-A9E7-F977C130F1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3" y="499"/>
                  <a:ext cx="362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8084" name="Group 30">
                <a:extLst>
                  <a:ext uri="{FF2B5EF4-FFF2-40B4-BE49-F238E27FC236}">
                    <a16:creationId xmlns:a16="http://schemas.microsoft.com/office/drawing/2014/main" id="{32283077-709B-4D22-9914-13A4726168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5" y="499"/>
                <a:ext cx="504" cy="499"/>
                <a:chOff x="1275" y="499"/>
                <a:chExt cx="504" cy="499"/>
              </a:xfrm>
            </p:grpSpPr>
            <p:sp>
              <p:nvSpPr>
                <p:cNvPr id="88133" name="Rectangle 31">
                  <a:extLst>
                    <a:ext uri="{FF2B5EF4-FFF2-40B4-BE49-F238E27FC236}">
                      <a16:creationId xmlns:a16="http://schemas.microsoft.com/office/drawing/2014/main" id="{48E5C4B9-6F4A-4ED8-A9BE-95837D492B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8" y="499"/>
                  <a:ext cx="418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34" name="Rectangle 32">
                  <a:extLst>
                    <a:ext uri="{FF2B5EF4-FFF2-40B4-BE49-F238E27FC236}">
                      <a16:creationId xmlns:a16="http://schemas.microsoft.com/office/drawing/2014/main" id="{67EE8A0F-6A85-4338-9A89-80A8A36217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75" y="499"/>
                  <a:ext cx="504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8085" name="Group 33">
                <a:extLst>
                  <a:ext uri="{FF2B5EF4-FFF2-40B4-BE49-F238E27FC236}">
                    <a16:creationId xmlns:a16="http://schemas.microsoft.com/office/drawing/2014/main" id="{527A7BC5-C816-4996-B5D4-BF28B69F71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9" y="499"/>
                <a:ext cx="420" cy="499"/>
                <a:chOff x="1779" y="499"/>
                <a:chExt cx="420" cy="499"/>
              </a:xfrm>
            </p:grpSpPr>
            <p:sp>
              <p:nvSpPr>
                <p:cNvPr id="88131" name="Rectangle 34">
                  <a:extLst>
                    <a:ext uri="{FF2B5EF4-FFF2-40B4-BE49-F238E27FC236}">
                      <a16:creationId xmlns:a16="http://schemas.microsoft.com/office/drawing/2014/main" id="{BCBBA9AC-0D00-4473-AF43-B2E9D4F0AA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2" y="499"/>
                  <a:ext cx="33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200" b="1">
                      <a:latin typeface="Times New Roman" panose="02020603050405020304" pitchFamily="18" charset="0"/>
                    </a:rPr>
                    <a:t>3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32" name="Rectangle 35">
                  <a:extLst>
                    <a:ext uri="{FF2B5EF4-FFF2-40B4-BE49-F238E27FC236}">
                      <a16:creationId xmlns:a16="http://schemas.microsoft.com/office/drawing/2014/main" id="{F3F683D6-E607-454F-AF57-E43491778B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9" y="499"/>
                  <a:ext cx="42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8086" name="Group 36">
                <a:extLst>
                  <a:ext uri="{FF2B5EF4-FFF2-40B4-BE49-F238E27FC236}">
                    <a16:creationId xmlns:a16="http://schemas.microsoft.com/office/drawing/2014/main" id="{20B341BA-22F4-401C-9FC0-6B3164BFA7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998"/>
                <a:ext cx="390" cy="499"/>
                <a:chOff x="0" y="998"/>
                <a:chExt cx="390" cy="499"/>
              </a:xfrm>
            </p:grpSpPr>
            <p:sp>
              <p:nvSpPr>
                <p:cNvPr id="88129" name="Rectangle 37">
                  <a:extLst>
                    <a:ext uri="{FF2B5EF4-FFF2-40B4-BE49-F238E27FC236}">
                      <a16:creationId xmlns:a16="http://schemas.microsoft.com/office/drawing/2014/main" id="{835E5275-29D6-4305-B430-FA1F0E22B4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998"/>
                  <a:ext cx="30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30" name="Rectangle 38">
                  <a:extLst>
                    <a:ext uri="{FF2B5EF4-FFF2-40B4-BE49-F238E27FC236}">
                      <a16:creationId xmlns:a16="http://schemas.microsoft.com/office/drawing/2014/main" id="{B487DA45-D69D-40FB-B2EE-43FC6D28F6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998"/>
                  <a:ext cx="39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8087" name="Group 39">
                <a:extLst>
                  <a:ext uri="{FF2B5EF4-FFF2-40B4-BE49-F238E27FC236}">
                    <a16:creationId xmlns:a16="http://schemas.microsoft.com/office/drawing/2014/main" id="{F51A4C60-867B-450D-A167-5F2AFCFA8E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0" y="998"/>
                <a:ext cx="523" cy="499"/>
                <a:chOff x="390" y="998"/>
                <a:chExt cx="523" cy="499"/>
              </a:xfrm>
            </p:grpSpPr>
            <p:sp>
              <p:nvSpPr>
                <p:cNvPr id="88127" name="Rectangle 40">
                  <a:extLst>
                    <a:ext uri="{FF2B5EF4-FFF2-40B4-BE49-F238E27FC236}">
                      <a16:creationId xmlns:a16="http://schemas.microsoft.com/office/drawing/2014/main" id="{2FEDF826-56A9-4DC7-B25C-5AAA168055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3" y="998"/>
                  <a:ext cx="437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28" name="Rectangle 41">
                  <a:extLst>
                    <a:ext uri="{FF2B5EF4-FFF2-40B4-BE49-F238E27FC236}">
                      <a16:creationId xmlns:a16="http://schemas.microsoft.com/office/drawing/2014/main" id="{3426985E-BEE5-4467-B05A-B1DE2138B2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" y="998"/>
                  <a:ext cx="52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8088" name="Group 42">
                <a:extLst>
                  <a:ext uri="{FF2B5EF4-FFF2-40B4-BE49-F238E27FC236}">
                    <a16:creationId xmlns:a16="http://schemas.microsoft.com/office/drawing/2014/main" id="{33AC56AF-6AC9-4BA0-B9DC-319D00FDCF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3" y="998"/>
                <a:ext cx="362" cy="499"/>
                <a:chOff x="913" y="998"/>
                <a:chExt cx="362" cy="499"/>
              </a:xfrm>
            </p:grpSpPr>
            <p:sp>
              <p:nvSpPr>
                <p:cNvPr id="88125" name="Rectangle 43">
                  <a:extLst>
                    <a:ext uri="{FF2B5EF4-FFF2-40B4-BE49-F238E27FC236}">
                      <a16:creationId xmlns:a16="http://schemas.microsoft.com/office/drawing/2014/main" id="{74EDBC8F-8EE5-4D88-8797-05E82B0F43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6" y="998"/>
                  <a:ext cx="276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200" b="1">
                      <a:latin typeface="Times New Roman" panose="02020603050405020304" pitchFamily="18" charset="0"/>
                    </a:rPr>
                    <a:t>6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26" name="Rectangle 44">
                  <a:extLst>
                    <a:ext uri="{FF2B5EF4-FFF2-40B4-BE49-F238E27FC236}">
                      <a16:creationId xmlns:a16="http://schemas.microsoft.com/office/drawing/2014/main" id="{DA45023B-B456-40A2-92DA-12C3600853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3" y="998"/>
                  <a:ext cx="362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8089" name="Group 45">
                <a:extLst>
                  <a:ext uri="{FF2B5EF4-FFF2-40B4-BE49-F238E27FC236}">
                    <a16:creationId xmlns:a16="http://schemas.microsoft.com/office/drawing/2014/main" id="{9A1E4CFB-02F9-4CD1-8273-081DCB7815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5" y="998"/>
                <a:ext cx="504" cy="499"/>
                <a:chOff x="1275" y="998"/>
                <a:chExt cx="504" cy="499"/>
              </a:xfrm>
            </p:grpSpPr>
            <p:sp>
              <p:nvSpPr>
                <p:cNvPr id="88123" name="Rectangle 46">
                  <a:extLst>
                    <a:ext uri="{FF2B5EF4-FFF2-40B4-BE49-F238E27FC236}">
                      <a16:creationId xmlns:a16="http://schemas.microsoft.com/office/drawing/2014/main" id="{13884310-910F-4455-98F3-FE60185316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8" y="998"/>
                  <a:ext cx="418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24" name="Rectangle 47">
                  <a:extLst>
                    <a:ext uri="{FF2B5EF4-FFF2-40B4-BE49-F238E27FC236}">
                      <a16:creationId xmlns:a16="http://schemas.microsoft.com/office/drawing/2014/main" id="{2A06D4B5-2721-4C2C-9918-C92B2A5E0B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75" y="998"/>
                  <a:ext cx="504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8090" name="Group 48">
                <a:extLst>
                  <a:ext uri="{FF2B5EF4-FFF2-40B4-BE49-F238E27FC236}">
                    <a16:creationId xmlns:a16="http://schemas.microsoft.com/office/drawing/2014/main" id="{AA5D8BE7-36DE-4EBF-8E73-C820D28CF9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9" y="998"/>
                <a:ext cx="420" cy="499"/>
                <a:chOff x="1779" y="998"/>
                <a:chExt cx="420" cy="499"/>
              </a:xfrm>
            </p:grpSpPr>
            <p:sp>
              <p:nvSpPr>
                <p:cNvPr id="88121" name="Rectangle 49">
                  <a:extLst>
                    <a:ext uri="{FF2B5EF4-FFF2-40B4-BE49-F238E27FC236}">
                      <a16:creationId xmlns:a16="http://schemas.microsoft.com/office/drawing/2014/main" id="{FABB7803-AAC8-4D17-A86C-B9816465D2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2" y="998"/>
                  <a:ext cx="33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200" b="1">
                      <a:latin typeface="Times New Roman" panose="02020603050405020304" pitchFamily="18" charset="0"/>
                    </a:rPr>
                    <a:t>7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22" name="Rectangle 50">
                  <a:extLst>
                    <a:ext uri="{FF2B5EF4-FFF2-40B4-BE49-F238E27FC236}">
                      <a16:creationId xmlns:a16="http://schemas.microsoft.com/office/drawing/2014/main" id="{CF100FF4-3F45-4A33-A978-0D1B62D35C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9" y="998"/>
                  <a:ext cx="42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8091" name="Group 51">
                <a:extLst>
                  <a:ext uri="{FF2B5EF4-FFF2-40B4-BE49-F238E27FC236}">
                    <a16:creationId xmlns:a16="http://schemas.microsoft.com/office/drawing/2014/main" id="{E2D8DBA8-6247-4064-BDBF-08CC274016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497"/>
                <a:ext cx="390" cy="499"/>
                <a:chOff x="0" y="1497"/>
                <a:chExt cx="390" cy="499"/>
              </a:xfrm>
            </p:grpSpPr>
            <p:sp>
              <p:nvSpPr>
                <p:cNvPr id="88119" name="Rectangle 52">
                  <a:extLst>
                    <a:ext uri="{FF2B5EF4-FFF2-40B4-BE49-F238E27FC236}">
                      <a16:creationId xmlns:a16="http://schemas.microsoft.com/office/drawing/2014/main" id="{3E3C71F1-4552-4EFE-A137-18970E854A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497"/>
                  <a:ext cx="30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20" name="Rectangle 53">
                  <a:extLst>
                    <a:ext uri="{FF2B5EF4-FFF2-40B4-BE49-F238E27FC236}">
                      <a16:creationId xmlns:a16="http://schemas.microsoft.com/office/drawing/2014/main" id="{FA1943C3-66D6-4527-B1C2-4801E2F1BD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497"/>
                  <a:ext cx="39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8092" name="Group 54">
                <a:extLst>
                  <a:ext uri="{FF2B5EF4-FFF2-40B4-BE49-F238E27FC236}">
                    <a16:creationId xmlns:a16="http://schemas.microsoft.com/office/drawing/2014/main" id="{AE1318E1-DA91-4742-BF23-DDADA1EFE5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0" y="1497"/>
                <a:ext cx="523" cy="499"/>
                <a:chOff x="390" y="1497"/>
                <a:chExt cx="523" cy="499"/>
              </a:xfrm>
            </p:grpSpPr>
            <p:sp>
              <p:nvSpPr>
                <p:cNvPr id="88117" name="Rectangle 55">
                  <a:extLst>
                    <a:ext uri="{FF2B5EF4-FFF2-40B4-BE49-F238E27FC236}">
                      <a16:creationId xmlns:a16="http://schemas.microsoft.com/office/drawing/2014/main" id="{9FAAED0C-4AAC-4067-9FFD-DCA8F14742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3" y="1497"/>
                  <a:ext cx="437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18" name="Rectangle 56">
                  <a:extLst>
                    <a:ext uri="{FF2B5EF4-FFF2-40B4-BE49-F238E27FC236}">
                      <a16:creationId xmlns:a16="http://schemas.microsoft.com/office/drawing/2014/main" id="{D907F1C0-03CA-47EF-91A9-6A6D67C34D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" y="1497"/>
                  <a:ext cx="52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8093" name="Group 57">
                <a:extLst>
                  <a:ext uri="{FF2B5EF4-FFF2-40B4-BE49-F238E27FC236}">
                    <a16:creationId xmlns:a16="http://schemas.microsoft.com/office/drawing/2014/main" id="{82E276B2-1058-4FB5-A16E-28772746CD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3" y="1497"/>
                <a:ext cx="362" cy="499"/>
                <a:chOff x="913" y="1497"/>
                <a:chExt cx="362" cy="499"/>
              </a:xfrm>
            </p:grpSpPr>
            <p:sp>
              <p:nvSpPr>
                <p:cNvPr id="88115" name="Rectangle 58">
                  <a:extLst>
                    <a:ext uri="{FF2B5EF4-FFF2-40B4-BE49-F238E27FC236}">
                      <a16:creationId xmlns:a16="http://schemas.microsoft.com/office/drawing/2014/main" id="{C3530BED-C1DB-4CAD-BD00-339A111C22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6" y="1497"/>
                  <a:ext cx="276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200" b="1">
                      <a:latin typeface="Times New Roman" panose="02020603050405020304" pitchFamily="18" charset="0"/>
                    </a:rPr>
                    <a:t>8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16" name="Rectangle 59">
                  <a:extLst>
                    <a:ext uri="{FF2B5EF4-FFF2-40B4-BE49-F238E27FC236}">
                      <a16:creationId xmlns:a16="http://schemas.microsoft.com/office/drawing/2014/main" id="{EA0A5E8E-C2F8-4113-ADD4-D0A392B9EB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3" y="1497"/>
                  <a:ext cx="362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8094" name="Group 60">
                <a:extLst>
                  <a:ext uri="{FF2B5EF4-FFF2-40B4-BE49-F238E27FC236}">
                    <a16:creationId xmlns:a16="http://schemas.microsoft.com/office/drawing/2014/main" id="{30410230-1E4E-443E-818C-A2139AADF8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5" y="1497"/>
                <a:ext cx="504" cy="499"/>
                <a:chOff x="1275" y="1497"/>
                <a:chExt cx="504" cy="499"/>
              </a:xfrm>
            </p:grpSpPr>
            <p:sp>
              <p:nvSpPr>
                <p:cNvPr id="88113" name="Rectangle 61">
                  <a:extLst>
                    <a:ext uri="{FF2B5EF4-FFF2-40B4-BE49-F238E27FC236}">
                      <a16:creationId xmlns:a16="http://schemas.microsoft.com/office/drawing/2014/main" id="{92E9259A-0D16-433F-8E11-5C615ED289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8" y="1497"/>
                  <a:ext cx="418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14" name="Rectangle 62">
                  <a:extLst>
                    <a:ext uri="{FF2B5EF4-FFF2-40B4-BE49-F238E27FC236}">
                      <a16:creationId xmlns:a16="http://schemas.microsoft.com/office/drawing/2014/main" id="{5D9BBCD4-BAB9-42C1-924D-1C6BFAB191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75" y="1497"/>
                  <a:ext cx="504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8095" name="Group 63">
                <a:extLst>
                  <a:ext uri="{FF2B5EF4-FFF2-40B4-BE49-F238E27FC236}">
                    <a16:creationId xmlns:a16="http://schemas.microsoft.com/office/drawing/2014/main" id="{AF1DF0A3-64F8-4E37-BE3C-493EBA13F2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9" y="1497"/>
                <a:ext cx="420" cy="499"/>
                <a:chOff x="1779" y="1497"/>
                <a:chExt cx="420" cy="499"/>
              </a:xfrm>
            </p:grpSpPr>
            <p:sp>
              <p:nvSpPr>
                <p:cNvPr id="88111" name="Rectangle 64">
                  <a:extLst>
                    <a:ext uri="{FF2B5EF4-FFF2-40B4-BE49-F238E27FC236}">
                      <a16:creationId xmlns:a16="http://schemas.microsoft.com/office/drawing/2014/main" id="{C1537FFF-9CB1-412E-B1CD-FF1DAF5A2C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2" y="1497"/>
                  <a:ext cx="33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200" b="1">
                      <a:latin typeface="Times New Roman" panose="02020603050405020304" pitchFamily="18" charset="0"/>
                    </a:rPr>
                    <a:t>10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12" name="Rectangle 65">
                  <a:extLst>
                    <a:ext uri="{FF2B5EF4-FFF2-40B4-BE49-F238E27FC236}">
                      <a16:creationId xmlns:a16="http://schemas.microsoft.com/office/drawing/2014/main" id="{B41994C9-58F7-48A0-91AB-EE5B934410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9" y="1497"/>
                  <a:ext cx="42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8096" name="Group 66">
                <a:extLst>
                  <a:ext uri="{FF2B5EF4-FFF2-40B4-BE49-F238E27FC236}">
                    <a16:creationId xmlns:a16="http://schemas.microsoft.com/office/drawing/2014/main" id="{C78019C6-F8B4-48A7-9697-616655E7F8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96"/>
                <a:ext cx="390" cy="499"/>
                <a:chOff x="0" y="1996"/>
                <a:chExt cx="390" cy="499"/>
              </a:xfrm>
            </p:grpSpPr>
            <p:sp>
              <p:nvSpPr>
                <p:cNvPr id="88109" name="Rectangle 67">
                  <a:extLst>
                    <a:ext uri="{FF2B5EF4-FFF2-40B4-BE49-F238E27FC236}">
                      <a16:creationId xmlns:a16="http://schemas.microsoft.com/office/drawing/2014/main" id="{4431FD40-D317-4B91-8AF2-92D558022F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996"/>
                  <a:ext cx="30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10" name="Rectangle 68">
                  <a:extLst>
                    <a:ext uri="{FF2B5EF4-FFF2-40B4-BE49-F238E27FC236}">
                      <a16:creationId xmlns:a16="http://schemas.microsoft.com/office/drawing/2014/main" id="{604E613B-C0BF-4D42-83C9-EF1C8EC543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996"/>
                  <a:ext cx="39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8097" name="Group 69">
                <a:extLst>
                  <a:ext uri="{FF2B5EF4-FFF2-40B4-BE49-F238E27FC236}">
                    <a16:creationId xmlns:a16="http://schemas.microsoft.com/office/drawing/2014/main" id="{3095AD9B-5259-46B6-82E2-EE0F526604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0" y="1996"/>
                <a:ext cx="523" cy="499"/>
                <a:chOff x="390" y="1996"/>
                <a:chExt cx="523" cy="499"/>
              </a:xfrm>
            </p:grpSpPr>
            <p:sp>
              <p:nvSpPr>
                <p:cNvPr id="88107" name="Rectangle 70">
                  <a:extLst>
                    <a:ext uri="{FF2B5EF4-FFF2-40B4-BE49-F238E27FC236}">
                      <a16:creationId xmlns:a16="http://schemas.microsoft.com/office/drawing/2014/main" id="{54515628-3189-4A58-9900-0BA22C0BC8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3" y="1996"/>
                  <a:ext cx="437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08" name="Rectangle 71">
                  <a:extLst>
                    <a:ext uri="{FF2B5EF4-FFF2-40B4-BE49-F238E27FC236}">
                      <a16:creationId xmlns:a16="http://schemas.microsoft.com/office/drawing/2014/main" id="{DFA056A2-AF0C-41F8-B8BB-35E4212CC7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" y="1996"/>
                  <a:ext cx="52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8098" name="Group 72">
                <a:extLst>
                  <a:ext uri="{FF2B5EF4-FFF2-40B4-BE49-F238E27FC236}">
                    <a16:creationId xmlns:a16="http://schemas.microsoft.com/office/drawing/2014/main" id="{6C824DC2-BBCA-4546-A0B8-46B9809053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3" y="1996"/>
                <a:ext cx="362" cy="499"/>
                <a:chOff x="913" y="1996"/>
                <a:chExt cx="362" cy="499"/>
              </a:xfrm>
            </p:grpSpPr>
            <p:sp>
              <p:nvSpPr>
                <p:cNvPr id="88105" name="Rectangle 73">
                  <a:extLst>
                    <a:ext uri="{FF2B5EF4-FFF2-40B4-BE49-F238E27FC236}">
                      <a16:creationId xmlns:a16="http://schemas.microsoft.com/office/drawing/2014/main" id="{AF2DBF5A-61FA-4F67-8FBE-C0A346C3B9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6" y="1996"/>
                  <a:ext cx="276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200" b="1">
                      <a:latin typeface="Times New Roman" panose="02020603050405020304" pitchFamily="18" charset="0"/>
                    </a:rPr>
                    <a:t>8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06" name="Rectangle 74">
                  <a:extLst>
                    <a:ext uri="{FF2B5EF4-FFF2-40B4-BE49-F238E27FC236}">
                      <a16:creationId xmlns:a16="http://schemas.microsoft.com/office/drawing/2014/main" id="{7F7E1A03-1E2F-45DD-A3A2-2BD67F13CF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3" y="1996"/>
                  <a:ext cx="362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8099" name="Group 75">
                <a:extLst>
                  <a:ext uri="{FF2B5EF4-FFF2-40B4-BE49-F238E27FC236}">
                    <a16:creationId xmlns:a16="http://schemas.microsoft.com/office/drawing/2014/main" id="{F568B419-3488-470A-BEA8-8296788FA9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5" y="1996"/>
                <a:ext cx="504" cy="499"/>
                <a:chOff x="1275" y="1996"/>
                <a:chExt cx="504" cy="499"/>
              </a:xfrm>
            </p:grpSpPr>
            <p:sp>
              <p:nvSpPr>
                <p:cNvPr id="88103" name="Rectangle 76">
                  <a:extLst>
                    <a:ext uri="{FF2B5EF4-FFF2-40B4-BE49-F238E27FC236}">
                      <a16:creationId xmlns:a16="http://schemas.microsoft.com/office/drawing/2014/main" id="{45F882D8-8162-4534-977F-DE17036929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8" y="1996"/>
                  <a:ext cx="418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04" name="Rectangle 77">
                  <a:extLst>
                    <a:ext uri="{FF2B5EF4-FFF2-40B4-BE49-F238E27FC236}">
                      <a16:creationId xmlns:a16="http://schemas.microsoft.com/office/drawing/2014/main" id="{98785BD8-B1A3-4625-A32B-ED96655D13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75" y="1996"/>
                  <a:ext cx="504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8100" name="Group 78">
                <a:extLst>
                  <a:ext uri="{FF2B5EF4-FFF2-40B4-BE49-F238E27FC236}">
                    <a16:creationId xmlns:a16="http://schemas.microsoft.com/office/drawing/2014/main" id="{B74B5FFE-713F-4213-A595-336F91DCD1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9" y="1996"/>
                <a:ext cx="420" cy="499"/>
                <a:chOff x="1779" y="1996"/>
                <a:chExt cx="420" cy="499"/>
              </a:xfrm>
            </p:grpSpPr>
            <p:sp>
              <p:nvSpPr>
                <p:cNvPr id="88101" name="Rectangle 79">
                  <a:extLst>
                    <a:ext uri="{FF2B5EF4-FFF2-40B4-BE49-F238E27FC236}">
                      <a16:creationId xmlns:a16="http://schemas.microsoft.com/office/drawing/2014/main" id="{3468500C-BBAC-46C1-9584-642D1616CE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2" y="1996"/>
                  <a:ext cx="33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200" b="1">
                      <a:latin typeface="Times New Roman" panose="02020603050405020304" pitchFamily="18" charset="0"/>
                    </a:rPr>
                    <a:t>2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8102" name="Rectangle 80">
                  <a:extLst>
                    <a:ext uri="{FF2B5EF4-FFF2-40B4-BE49-F238E27FC236}">
                      <a16:creationId xmlns:a16="http://schemas.microsoft.com/office/drawing/2014/main" id="{8736E8A4-0359-4D39-A73E-E0982AF625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9" y="1996"/>
                  <a:ext cx="42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88075" name="Rectangle 81">
              <a:extLst>
                <a:ext uri="{FF2B5EF4-FFF2-40B4-BE49-F238E27FC236}">
                  <a16:creationId xmlns:a16="http://schemas.microsoft.com/office/drawing/2014/main" id="{672F6389-2175-4568-A9F8-AD02DCD66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2205" cy="2501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88069" name="Group 82">
            <a:extLst>
              <a:ext uri="{FF2B5EF4-FFF2-40B4-BE49-F238E27FC236}">
                <a16:creationId xmlns:a16="http://schemas.microsoft.com/office/drawing/2014/main" id="{3F03896E-8B28-4F42-800B-A7946CDB657E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371600"/>
            <a:ext cx="1066800" cy="1447800"/>
            <a:chOff x="3360" y="816"/>
            <a:chExt cx="672" cy="912"/>
          </a:xfrm>
        </p:grpSpPr>
        <p:sp>
          <p:nvSpPr>
            <p:cNvPr id="88070" name="Rectangle 83">
              <a:extLst>
                <a:ext uri="{FF2B5EF4-FFF2-40B4-BE49-F238E27FC236}">
                  <a16:creationId xmlns:a16="http://schemas.microsoft.com/office/drawing/2014/main" id="{5A43AEDA-BB0B-447E-B559-142B97D89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344"/>
              <a:ext cx="62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kumimoji="0" lang="en-US" altLang="zh-CN" sz="1600" i="1">
                  <a:latin typeface="Times New Roman" panose="02020603050405020304" pitchFamily="18" charset="0"/>
                </a:rPr>
                <a:t>R.B=S.B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88071" name="Group 84">
              <a:extLst>
                <a:ext uri="{FF2B5EF4-FFF2-40B4-BE49-F238E27FC236}">
                  <a16:creationId xmlns:a16="http://schemas.microsoft.com/office/drawing/2014/main" id="{6CD6696E-30D5-42CE-BD88-D9C8CF25754D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3360" y="816"/>
              <a:ext cx="624" cy="576"/>
              <a:chOff x="6431" y="11824"/>
              <a:chExt cx="705" cy="367"/>
            </a:xfrm>
          </p:grpSpPr>
          <p:sp>
            <p:nvSpPr>
              <p:cNvPr id="88072" name="AutoShape 85">
                <a:extLst>
                  <a:ext uri="{FF2B5EF4-FFF2-40B4-BE49-F238E27FC236}">
                    <a16:creationId xmlns:a16="http://schemas.microsoft.com/office/drawing/2014/main" id="{9E40D62C-1EC8-4BB8-B52E-5B45055DD5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 flipV="1">
                <a:off x="6793" y="11792"/>
                <a:ext cx="78" cy="142"/>
              </a:xfrm>
              <a:prstGeom prst="flowChartCollat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88073" name="Text Box 86">
                <a:extLst>
                  <a:ext uri="{FF2B5EF4-FFF2-40B4-BE49-F238E27FC236}">
                    <a16:creationId xmlns:a16="http://schemas.microsoft.com/office/drawing/2014/main" id="{F31D0BBF-9F2E-40B1-8EF1-DCDC2D70FF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V="1">
                <a:off x="6431" y="11828"/>
                <a:ext cx="705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kumimoji="0" lang="zh-CN" altLang="en-US" sz="600" i="1">
                    <a:latin typeface="Times New Roman" panose="02020603050405020304" pitchFamily="18" charset="0"/>
                  </a:rPr>
                  <a:t> </a:t>
                </a:r>
                <a:endParaRPr kumimoji="0" lang="zh-CN" altLang="en-US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A2015534-175C-4E9A-8356-3194EA4B92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b="1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A4CF8A90-AE63-45A8-A628-65B138730F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b="1"/>
              <a:t> 自然连接 </a:t>
            </a:r>
            <a:r>
              <a:rPr lang="en-US" altLang="zh-CN" b="1" i="1"/>
              <a:t>R</a:t>
            </a:r>
            <a:r>
              <a:rPr lang="en-US" altLang="zh-CN" b="1"/>
              <a:t>  </a:t>
            </a:r>
            <a:r>
              <a:rPr lang="en-US" altLang="zh-CN" b="1" i="1"/>
              <a:t>      S </a:t>
            </a:r>
            <a:endParaRPr lang="en-US" altLang="zh-CN" b="1"/>
          </a:p>
          <a:p>
            <a:pPr eaLnBrk="1" hangingPunct="1"/>
            <a:endParaRPr lang="zh-CN" altLang="en-US" b="1"/>
          </a:p>
        </p:txBody>
      </p:sp>
      <p:grpSp>
        <p:nvGrpSpPr>
          <p:cNvPr id="89092" name="Group 4">
            <a:extLst>
              <a:ext uri="{FF2B5EF4-FFF2-40B4-BE49-F238E27FC236}">
                <a16:creationId xmlns:a16="http://schemas.microsoft.com/office/drawing/2014/main" id="{F8586F2B-7E30-40AF-8F49-49E5D0786DA8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3429000" y="1524000"/>
            <a:ext cx="990600" cy="914400"/>
            <a:chOff x="6431" y="11824"/>
            <a:chExt cx="705" cy="367"/>
          </a:xfrm>
        </p:grpSpPr>
        <p:sp>
          <p:nvSpPr>
            <p:cNvPr id="89156" name="AutoShape 5">
              <a:extLst>
                <a:ext uri="{FF2B5EF4-FFF2-40B4-BE49-F238E27FC236}">
                  <a16:creationId xmlns:a16="http://schemas.microsoft.com/office/drawing/2014/main" id="{E269A80F-CED9-4E1D-8CA6-0688FE80634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V="1">
              <a:off x="6793" y="11792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9157" name="Text Box 6">
              <a:extLst>
                <a:ext uri="{FF2B5EF4-FFF2-40B4-BE49-F238E27FC236}">
                  <a16:creationId xmlns:a16="http://schemas.microsoft.com/office/drawing/2014/main" id="{FE373E0A-09CC-4B3E-9BA1-DE35B6EFBE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V="1">
              <a:off x="6431" y="11828"/>
              <a:ext cx="705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kumimoji="0" lang="zh-CN" altLang="en-US" sz="600" i="1">
                  <a:latin typeface="Times New Roman" panose="02020603050405020304" pitchFamily="18" charset="0"/>
                </a:rPr>
                <a:t> </a:t>
              </a:r>
              <a:endParaRPr kumimoji="0"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9093" name="Group 7">
            <a:extLst>
              <a:ext uri="{FF2B5EF4-FFF2-40B4-BE49-F238E27FC236}">
                <a16:creationId xmlns:a16="http://schemas.microsoft.com/office/drawing/2014/main" id="{CB723DB8-66DA-47D4-B3A4-5E67F2C5DC3A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2667000"/>
            <a:ext cx="3505200" cy="3505200"/>
            <a:chOff x="-3" y="-3"/>
            <a:chExt cx="1446" cy="2712"/>
          </a:xfrm>
        </p:grpSpPr>
        <p:grpSp>
          <p:nvGrpSpPr>
            <p:cNvPr id="89094" name="Group 8">
              <a:extLst>
                <a:ext uri="{FF2B5EF4-FFF2-40B4-BE49-F238E27FC236}">
                  <a16:creationId xmlns:a16="http://schemas.microsoft.com/office/drawing/2014/main" id="{C8245B5E-8326-4C38-9B65-9007E63D39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1440" cy="2706"/>
              <a:chOff x="0" y="0"/>
              <a:chExt cx="1440" cy="2706"/>
            </a:xfrm>
          </p:grpSpPr>
          <p:grpSp>
            <p:nvGrpSpPr>
              <p:cNvPr id="89096" name="Group 9">
                <a:extLst>
                  <a:ext uri="{FF2B5EF4-FFF2-40B4-BE49-F238E27FC236}">
                    <a16:creationId xmlns:a16="http://schemas.microsoft.com/office/drawing/2014/main" id="{4346CE3C-857D-49A4-9D1A-E02BDF04B9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360" cy="499"/>
                <a:chOff x="0" y="0"/>
                <a:chExt cx="360" cy="499"/>
              </a:xfrm>
            </p:grpSpPr>
            <p:sp>
              <p:nvSpPr>
                <p:cNvPr id="89154" name="Rectangle 10">
                  <a:extLst>
                    <a:ext uri="{FF2B5EF4-FFF2-40B4-BE49-F238E27FC236}">
                      <a16:creationId xmlns:a16="http://schemas.microsoft.com/office/drawing/2014/main" id="{3C6D103E-4081-43AB-BAAA-762DFBA879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9155" name="Rectangle 11">
                  <a:extLst>
                    <a:ext uri="{FF2B5EF4-FFF2-40B4-BE49-F238E27FC236}">
                      <a16:creationId xmlns:a16="http://schemas.microsoft.com/office/drawing/2014/main" id="{5419BE6E-88FB-4B88-AD14-6F36A09C99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9097" name="Group 12">
                <a:extLst>
                  <a:ext uri="{FF2B5EF4-FFF2-40B4-BE49-F238E27FC236}">
                    <a16:creationId xmlns:a16="http://schemas.microsoft.com/office/drawing/2014/main" id="{02F2E823-2192-4699-ABEA-A9061EB1E0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" y="0"/>
                <a:ext cx="360" cy="499"/>
                <a:chOff x="360" y="0"/>
                <a:chExt cx="360" cy="499"/>
              </a:xfrm>
            </p:grpSpPr>
            <p:sp>
              <p:nvSpPr>
                <p:cNvPr id="89152" name="Rectangle 13">
                  <a:extLst>
                    <a:ext uri="{FF2B5EF4-FFF2-40B4-BE49-F238E27FC236}">
                      <a16:creationId xmlns:a16="http://schemas.microsoft.com/office/drawing/2014/main" id="{A83FF927-A4DE-49B2-8A16-4A0ACFB767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" y="0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9153" name="Rectangle 14">
                  <a:extLst>
                    <a:ext uri="{FF2B5EF4-FFF2-40B4-BE49-F238E27FC236}">
                      <a16:creationId xmlns:a16="http://schemas.microsoft.com/office/drawing/2014/main" id="{7AE1A353-A415-4729-B9A8-15EC57F6E4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" y="0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9098" name="Group 15">
                <a:extLst>
                  <a:ext uri="{FF2B5EF4-FFF2-40B4-BE49-F238E27FC236}">
                    <a16:creationId xmlns:a16="http://schemas.microsoft.com/office/drawing/2014/main" id="{C41A2553-F5B6-44B4-B82B-6C1F4CBEB4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0" y="0"/>
                <a:ext cx="360" cy="499"/>
                <a:chOff x="720" y="0"/>
                <a:chExt cx="360" cy="499"/>
              </a:xfrm>
            </p:grpSpPr>
            <p:sp>
              <p:nvSpPr>
                <p:cNvPr id="89150" name="Rectangle 16">
                  <a:extLst>
                    <a:ext uri="{FF2B5EF4-FFF2-40B4-BE49-F238E27FC236}">
                      <a16:creationId xmlns:a16="http://schemas.microsoft.com/office/drawing/2014/main" id="{3B3C63A4-B404-4E68-8DFA-F171E4313B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3" y="0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C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9151" name="Rectangle 17">
                  <a:extLst>
                    <a:ext uri="{FF2B5EF4-FFF2-40B4-BE49-F238E27FC236}">
                      <a16:creationId xmlns:a16="http://schemas.microsoft.com/office/drawing/2014/main" id="{E699DFEC-589D-4C91-B453-EE6AE58304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0" y="0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9099" name="Group 18">
                <a:extLst>
                  <a:ext uri="{FF2B5EF4-FFF2-40B4-BE49-F238E27FC236}">
                    <a16:creationId xmlns:a16="http://schemas.microsoft.com/office/drawing/2014/main" id="{EBCC0429-E21D-492F-836B-BEC64E9320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80" y="0"/>
                <a:ext cx="360" cy="499"/>
                <a:chOff x="1080" y="0"/>
                <a:chExt cx="360" cy="499"/>
              </a:xfrm>
            </p:grpSpPr>
            <p:sp>
              <p:nvSpPr>
                <p:cNvPr id="89148" name="Rectangle 19">
                  <a:extLst>
                    <a:ext uri="{FF2B5EF4-FFF2-40B4-BE49-F238E27FC236}">
                      <a16:creationId xmlns:a16="http://schemas.microsoft.com/office/drawing/2014/main" id="{0B74A968-30B9-465B-A7FF-7C781038F1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23" y="0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E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9149" name="Rectangle 20">
                  <a:extLst>
                    <a:ext uri="{FF2B5EF4-FFF2-40B4-BE49-F238E27FC236}">
                      <a16:creationId xmlns:a16="http://schemas.microsoft.com/office/drawing/2014/main" id="{CC1402C7-4998-498D-A422-4828D8263D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80" y="0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9100" name="Group 21">
                <a:extLst>
                  <a:ext uri="{FF2B5EF4-FFF2-40B4-BE49-F238E27FC236}">
                    <a16:creationId xmlns:a16="http://schemas.microsoft.com/office/drawing/2014/main" id="{D91A27C5-D486-4042-AA97-41EE0E52C6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99"/>
                <a:ext cx="360" cy="499"/>
                <a:chOff x="0" y="499"/>
                <a:chExt cx="360" cy="499"/>
              </a:xfrm>
            </p:grpSpPr>
            <p:sp>
              <p:nvSpPr>
                <p:cNvPr id="89146" name="Rectangle 22">
                  <a:extLst>
                    <a:ext uri="{FF2B5EF4-FFF2-40B4-BE49-F238E27FC236}">
                      <a16:creationId xmlns:a16="http://schemas.microsoft.com/office/drawing/2014/main" id="{5C42DA15-E801-4A82-A8AE-D867F62C9C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499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9147" name="Rectangle 23">
                  <a:extLst>
                    <a:ext uri="{FF2B5EF4-FFF2-40B4-BE49-F238E27FC236}">
                      <a16:creationId xmlns:a16="http://schemas.microsoft.com/office/drawing/2014/main" id="{8411D043-EF43-4B13-A889-EA2CFBFC00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99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9101" name="Group 24">
                <a:extLst>
                  <a:ext uri="{FF2B5EF4-FFF2-40B4-BE49-F238E27FC236}">
                    <a16:creationId xmlns:a16="http://schemas.microsoft.com/office/drawing/2014/main" id="{13177C29-FD48-4B0E-AD1C-988513DE28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" y="499"/>
                <a:ext cx="360" cy="499"/>
                <a:chOff x="360" y="499"/>
                <a:chExt cx="360" cy="499"/>
              </a:xfrm>
            </p:grpSpPr>
            <p:sp>
              <p:nvSpPr>
                <p:cNvPr id="89144" name="Rectangle 25">
                  <a:extLst>
                    <a:ext uri="{FF2B5EF4-FFF2-40B4-BE49-F238E27FC236}">
                      <a16:creationId xmlns:a16="http://schemas.microsoft.com/office/drawing/2014/main" id="{1A40F374-7E7A-4DF9-B4FD-A1193915AA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" y="499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9145" name="Rectangle 26">
                  <a:extLst>
                    <a:ext uri="{FF2B5EF4-FFF2-40B4-BE49-F238E27FC236}">
                      <a16:creationId xmlns:a16="http://schemas.microsoft.com/office/drawing/2014/main" id="{FAC3CEEC-4CF0-46D7-98BE-54C4C418D4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" y="499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9102" name="Group 27">
                <a:extLst>
                  <a:ext uri="{FF2B5EF4-FFF2-40B4-BE49-F238E27FC236}">
                    <a16:creationId xmlns:a16="http://schemas.microsoft.com/office/drawing/2014/main" id="{952D5088-8C79-4D10-82BD-8061F00E97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0" y="499"/>
                <a:ext cx="360" cy="499"/>
                <a:chOff x="720" y="499"/>
                <a:chExt cx="360" cy="499"/>
              </a:xfrm>
            </p:grpSpPr>
            <p:sp>
              <p:nvSpPr>
                <p:cNvPr id="89142" name="Rectangle 28">
                  <a:extLst>
                    <a:ext uri="{FF2B5EF4-FFF2-40B4-BE49-F238E27FC236}">
                      <a16:creationId xmlns:a16="http://schemas.microsoft.com/office/drawing/2014/main" id="{CB699164-ABA8-4D29-ABE9-0605CAC531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3" y="499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200" b="1">
                      <a:latin typeface="Times New Roman" panose="02020603050405020304" pitchFamily="18" charset="0"/>
                    </a:rPr>
                    <a:t>5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9143" name="Rectangle 29">
                  <a:extLst>
                    <a:ext uri="{FF2B5EF4-FFF2-40B4-BE49-F238E27FC236}">
                      <a16:creationId xmlns:a16="http://schemas.microsoft.com/office/drawing/2014/main" id="{FE4C094B-980E-42A3-9EB4-3A08A34FE1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0" y="499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9103" name="Group 30">
                <a:extLst>
                  <a:ext uri="{FF2B5EF4-FFF2-40B4-BE49-F238E27FC236}">
                    <a16:creationId xmlns:a16="http://schemas.microsoft.com/office/drawing/2014/main" id="{6DBD5655-39F7-4FA4-B773-7B4FE79E6A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80" y="499"/>
                <a:ext cx="360" cy="499"/>
                <a:chOff x="1080" y="499"/>
                <a:chExt cx="360" cy="499"/>
              </a:xfrm>
            </p:grpSpPr>
            <p:sp>
              <p:nvSpPr>
                <p:cNvPr id="89140" name="Rectangle 31">
                  <a:extLst>
                    <a:ext uri="{FF2B5EF4-FFF2-40B4-BE49-F238E27FC236}">
                      <a16:creationId xmlns:a16="http://schemas.microsoft.com/office/drawing/2014/main" id="{5E705626-48EB-4641-8615-A0BD53D21B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23" y="499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200" b="1">
                      <a:latin typeface="Times New Roman" panose="02020603050405020304" pitchFamily="18" charset="0"/>
                    </a:rPr>
                    <a:t>3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9141" name="Rectangle 32">
                  <a:extLst>
                    <a:ext uri="{FF2B5EF4-FFF2-40B4-BE49-F238E27FC236}">
                      <a16:creationId xmlns:a16="http://schemas.microsoft.com/office/drawing/2014/main" id="{2204F0D8-391C-480C-AE7D-D722C5DA0B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80" y="499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9104" name="Group 33">
                <a:extLst>
                  <a:ext uri="{FF2B5EF4-FFF2-40B4-BE49-F238E27FC236}">
                    <a16:creationId xmlns:a16="http://schemas.microsoft.com/office/drawing/2014/main" id="{D6A8CC76-7136-4FA2-80D3-14F703FD6A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998"/>
                <a:ext cx="360" cy="499"/>
                <a:chOff x="0" y="998"/>
                <a:chExt cx="360" cy="499"/>
              </a:xfrm>
            </p:grpSpPr>
            <p:sp>
              <p:nvSpPr>
                <p:cNvPr id="89138" name="Rectangle 34">
                  <a:extLst>
                    <a:ext uri="{FF2B5EF4-FFF2-40B4-BE49-F238E27FC236}">
                      <a16:creationId xmlns:a16="http://schemas.microsoft.com/office/drawing/2014/main" id="{9507702F-4500-443E-A2B6-BEC1BE951A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998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1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9139" name="Rectangle 35">
                  <a:extLst>
                    <a:ext uri="{FF2B5EF4-FFF2-40B4-BE49-F238E27FC236}">
                      <a16:creationId xmlns:a16="http://schemas.microsoft.com/office/drawing/2014/main" id="{9A20D864-942B-4335-9E62-790E0B0833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998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9105" name="Group 36">
                <a:extLst>
                  <a:ext uri="{FF2B5EF4-FFF2-40B4-BE49-F238E27FC236}">
                    <a16:creationId xmlns:a16="http://schemas.microsoft.com/office/drawing/2014/main" id="{BF9925CA-F387-4BAE-BC7A-8D9622EF7F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" y="998"/>
                <a:ext cx="360" cy="499"/>
                <a:chOff x="360" y="998"/>
                <a:chExt cx="360" cy="499"/>
              </a:xfrm>
            </p:grpSpPr>
            <p:sp>
              <p:nvSpPr>
                <p:cNvPr id="89136" name="Rectangle 37">
                  <a:extLst>
                    <a:ext uri="{FF2B5EF4-FFF2-40B4-BE49-F238E27FC236}">
                      <a16:creationId xmlns:a16="http://schemas.microsoft.com/office/drawing/2014/main" id="{2B286AA9-C6D4-432B-B779-E86F272EC2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" y="998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9137" name="Rectangle 38">
                  <a:extLst>
                    <a:ext uri="{FF2B5EF4-FFF2-40B4-BE49-F238E27FC236}">
                      <a16:creationId xmlns:a16="http://schemas.microsoft.com/office/drawing/2014/main" id="{E28099D9-6F4E-445D-B605-BCF28AF577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" y="998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9106" name="Group 39">
                <a:extLst>
                  <a:ext uri="{FF2B5EF4-FFF2-40B4-BE49-F238E27FC236}">
                    <a16:creationId xmlns:a16="http://schemas.microsoft.com/office/drawing/2014/main" id="{1CFB3F0D-A026-4A25-813C-C199D766EA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0" y="998"/>
                <a:ext cx="360" cy="499"/>
                <a:chOff x="720" y="998"/>
                <a:chExt cx="360" cy="499"/>
              </a:xfrm>
            </p:grpSpPr>
            <p:sp>
              <p:nvSpPr>
                <p:cNvPr id="89134" name="Rectangle 40">
                  <a:extLst>
                    <a:ext uri="{FF2B5EF4-FFF2-40B4-BE49-F238E27FC236}">
                      <a16:creationId xmlns:a16="http://schemas.microsoft.com/office/drawing/2014/main" id="{0E6DCCD2-1B3B-4183-9BF1-AED565A369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3" y="998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200" b="1">
                      <a:latin typeface="Times New Roman" panose="02020603050405020304" pitchFamily="18" charset="0"/>
                    </a:rPr>
                    <a:t>6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9135" name="Rectangle 41">
                  <a:extLst>
                    <a:ext uri="{FF2B5EF4-FFF2-40B4-BE49-F238E27FC236}">
                      <a16:creationId xmlns:a16="http://schemas.microsoft.com/office/drawing/2014/main" id="{53726CE9-CE67-4A40-AA5E-F89D229C41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0" y="998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9107" name="Group 42">
                <a:extLst>
                  <a:ext uri="{FF2B5EF4-FFF2-40B4-BE49-F238E27FC236}">
                    <a16:creationId xmlns:a16="http://schemas.microsoft.com/office/drawing/2014/main" id="{3A607954-249A-4001-9D11-6ACCE5B40F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80" y="998"/>
                <a:ext cx="360" cy="499"/>
                <a:chOff x="1080" y="998"/>
                <a:chExt cx="360" cy="499"/>
              </a:xfrm>
            </p:grpSpPr>
            <p:sp>
              <p:nvSpPr>
                <p:cNvPr id="89132" name="Rectangle 43">
                  <a:extLst>
                    <a:ext uri="{FF2B5EF4-FFF2-40B4-BE49-F238E27FC236}">
                      <a16:creationId xmlns:a16="http://schemas.microsoft.com/office/drawing/2014/main" id="{4DAC8D72-4A2D-47AE-B2FB-D3CCB6DA4E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23" y="998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200" b="1">
                      <a:latin typeface="Times New Roman" panose="02020603050405020304" pitchFamily="18" charset="0"/>
                    </a:rPr>
                    <a:t>7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9133" name="Rectangle 44">
                  <a:extLst>
                    <a:ext uri="{FF2B5EF4-FFF2-40B4-BE49-F238E27FC236}">
                      <a16:creationId xmlns:a16="http://schemas.microsoft.com/office/drawing/2014/main" id="{FA22E24F-31D4-49DE-A2BA-13DCF8B796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80" y="998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9108" name="Group 45">
                <a:extLst>
                  <a:ext uri="{FF2B5EF4-FFF2-40B4-BE49-F238E27FC236}">
                    <a16:creationId xmlns:a16="http://schemas.microsoft.com/office/drawing/2014/main" id="{CA5A27DE-4C4C-461D-B3BE-31CAD6904D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497"/>
                <a:ext cx="360" cy="710"/>
                <a:chOff x="0" y="1497"/>
                <a:chExt cx="360" cy="710"/>
              </a:xfrm>
            </p:grpSpPr>
            <p:sp>
              <p:nvSpPr>
                <p:cNvPr id="89130" name="Rectangle 46">
                  <a:extLst>
                    <a:ext uri="{FF2B5EF4-FFF2-40B4-BE49-F238E27FC236}">
                      <a16:creationId xmlns:a16="http://schemas.microsoft.com/office/drawing/2014/main" id="{D00C2D32-17A7-4EF4-8F8B-47F6E4D74E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497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9131" name="Rectangle 47">
                  <a:extLst>
                    <a:ext uri="{FF2B5EF4-FFF2-40B4-BE49-F238E27FC236}">
                      <a16:creationId xmlns:a16="http://schemas.microsoft.com/office/drawing/2014/main" id="{692B64CE-ECC8-4D53-A112-19B5820F28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497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9109" name="Group 48">
                <a:extLst>
                  <a:ext uri="{FF2B5EF4-FFF2-40B4-BE49-F238E27FC236}">
                    <a16:creationId xmlns:a16="http://schemas.microsoft.com/office/drawing/2014/main" id="{19C2F556-2A1E-4D8F-BC55-408106CADB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" y="1497"/>
                <a:ext cx="360" cy="710"/>
                <a:chOff x="360" y="1497"/>
                <a:chExt cx="360" cy="710"/>
              </a:xfrm>
            </p:grpSpPr>
            <p:sp>
              <p:nvSpPr>
                <p:cNvPr id="89128" name="Rectangle 49">
                  <a:extLst>
                    <a:ext uri="{FF2B5EF4-FFF2-40B4-BE49-F238E27FC236}">
                      <a16:creationId xmlns:a16="http://schemas.microsoft.com/office/drawing/2014/main" id="{DCAC36C1-5C1E-4338-91A8-0547006CC5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" y="1497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9129" name="Rectangle 50">
                  <a:extLst>
                    <a:ext uri="{FF2B5EF4-FFF2-40B4-BE49-F238E27FC236}">
                      <a16:creationId xmlns:a16="http://schemas.microsoft.com/office/drawing/2014/main" id="{65F00D7B-0AAD-49BE-8D6E-46C8B74F00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" y="1497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9110" name="Group 51">
                <a:extLst>
                  <a:ext uri="{FF2B5EF4-FFF2-40B4-BE49-F238E27FC236}">
                    <a16:creationId xmlns:a16="http://schemas.microsoft.com/office/drawing/2014/main" id="{2A02181E-B5E9-48A2-8663-3B53FC63C4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0" y="1497"/>
                <a:ext cx="360" cy="710"/>
                <a:chOff x="720" y="1497"/>
                <a:chExt cx="360" cy="710"/>
              </a:xfrm>
            </p:grpSpPr>
            <p:sp>
              <p:nvSpPr>
                <p:cNvPr id="89126" name="Rectangle 52">
                  <a:extLst>
                    <a:ext uri="{FF2B5EF4-FFF2-40B4-BE49-F238E27FC236}">
                      <a16:creationId xmlns:a16="http://schemas.microsoft.com/office/drawing/2014/main" id="{482A175C-C35A-4309-93C0-F7647444DC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3" y="1497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200" b="1">
                      <a:latin typeface="Times New Roman" panose="02020603050405020304" pitchFamily="18" charset="0"/>
                    </a:rPr>
                    <a:t>8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9127" name="Rectangle 53">
                  <a:extLst>
                    <a:ext uri="{FF2B5EF4-FFF2-40B4-BE49-F238E27FC236}">
                      <a16:creationId xmlns:a16="http://schemas.microsoft.com/office/drawing/2014/main" id="{944F12C8-5C18-47B0-A0FB-083F1C386F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0" y="1497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9111" name="Group 54">
                <a:extLst>
                  <a:ext uri="{FF2B5EF4-FFF2-40B4-BE49-F238E27FC236}">
                    <a16:creationId xmlns:a16="http://schemas.microsoft.com/office/drawing/2014/main" id="{B76017CE-B962-4363-914A-50AEF83DA3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80" y="1497"/>
                <a:ext cx="360" cy="710"/>
                <a:chOff x="1080" y="1497"/>
                <a:chExt cx="360" cy="710"/>
              </a:xfrm>
            </p:grpSpPr>
            <p:sp>
              <p:nvSpPr>
                <p:cNvPr id="89124" name="Rectangle 55">
                  <a:extLst>
                    <a:ext uri="{FF2B5EF4-FFF2-40B4-BE49-F238E27FC236}">
                      <a16:creationId xmlns:a16="http://schemas.microsoft.com/office/drawing/2014/main" id="{ED4D703C-EA7F-4757-86A8-FA8F36E2EA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23" y="1497"/>
                  <a:ext cx="274" cy="7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200" b="1">
                      <a:latin typeface="Times New Roman" panose="02020603050405020304" pitchFamily="18" charset="0"/>
                    </a:rPr>
                    <a:t>10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9125" name="Rectangle 56">
                  <a:extLst>
                    <a:ext uri="{FF2B5EF4-FFF2-40B4-BE49-F238E27FC236}">
                      <a16:creationId xmlns:a16="http://schemas.microsoft.com/office/drawing/2014/main" id="{05F728EA-AD09-476B-A341-535CCC9C6A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80" y="1497"/>
                  <a:ext cx="360" cy="71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9112" name="Group 57">
                <a:extLst>
                  <a:ext uri="{FF2B5EF4-FFF2-40B4-BE49-F238E27FC236}">
                    <a16:creationId xmlns:a16="http://schemas.microsoft.com/office/drawing/2014/main" id="{BEC550F8-2ABF-4692-82C2-9E69B120B7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207"/>
                <a:ext cx="360" cy="499"/>
                <a:chOff x="0" y="2207"/>
                <a:chExt cx="360" cy="499"/>
              </a:xfrm>
            </p:grpSpPr>
            <p:sp>
              <p:nvSpPr>
                <p:cNvPr id="89122" name="Rectangle 58">
                  <a:extLst>
                    <a:ext uri="{FF2B5EF4-FFF2-40B4-BE49-F238E27FC236}">
                      <a16:creationId xmlns:a16="http://schemas.microsoft.com/office/drawing/2014/main" id="{CD8F5C96-70D5-42D1-A05F-C972253A26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207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2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9123" name="Rectangle 59">
                  <a:extLst>
                    <a:ext uri="{FF2B5EF4-FFF2-40B4-BE49-F238E27FC236}">
                      <a16:creationId xmlns:a16="http://schemas.microsoft.com/office/drawing/2014/main" id="{ABC9C32B-B97C-4AB8-80B3-384BFF67B6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207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9113" name="Group 60">
                <a:extLst>
                  <a:ext uri="{FF2B5EF4-FFF2-40B4-BE49-F238E27FC236}">
                    <a16:creationId xmlns:a16="http://schemas.microsoft.com/office/drawing/2014/main" id="{2D796217-816B-433C-A0C1-4923116556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" y="2207"/>
                <a:ext cx="360" cy="499"/>
                <a:chOff x="360" y="2207"/>
                <a:chExt cx="360" cy="499"/>
              </a:xfrm>
            </p:grpSpPr>
            <p:sp>
              <p:nvSpPr>
                <p:cNvPr id="89120" name="Rectangle 61">
                  <a:extLst>
                    <a:ext uri="{FF2B5EF4-FFF2-40B4-BE49-F238E27FC236}">
                      <a16:creationId xmlns:a16="http://schemas.microsoft.com/office/drawing/2014/main" id="{A23DD2F0-935B-47D8-BCB8-E7B540FD82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" y="2207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200" b="1" i="1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200" b="1" baseline="-30000">
                      <a:latin typeface="Times New Roman" panose="02020603050405020304" pitchFamily="18" charset="0"/>
                    </a:rPr>
                    <a:t>3</a:t>
                  </a:r>
                  <a:endParaRPr lang="en-US" altLang="zh-CN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9121" name="Rectangle 62">
                  <a:extLst>
                    <a:ext uri="{FF2B5EF4-FFF2-40B4-BE49-F238E27FC236}">
                      <a16:creationId xmlns:a16="http://schemas.microsoft.com/office/drawing/2014/main" id="{B81FE96B-35A1-48A3-BCC5-68D27F5571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" y="2207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9114" name="Group 63">
                <a:extLst>
                  <a:ext uri="{FF2B5EF4-FFF2-40B4-BE49-F238E27FC236}">
                    <a16:creationId xmlns:a16="http://schemas.microsoft.com/office/drawing/2014/main" id="{7E987C94-F98D-45A2-AB28-E2FE303673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0" y="2207"/>
                <a:ext cx="360" cy="499"/>
                <a:chOff x="720" y="2207"/>
                <a:chExt cx="360" cy="499"/>
              </a:xfrm>
            </p:grpSpPr>
            <p:sp>
              <p:nvSpPr>
                <p:cNvPr id="89118" name="Rectangle 64">
                  <a:extLst>
                    <a:ext uri="{FF2B5EF4-FFF2-40B4-BE49-F238E27FC236}">
                      <a16:creationId xmlns:a16="http://schemas.microsoft.com/office/drawing/2014/main" id="{6F76437C-7CCC-48EE-A00F-D80A029876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3" y="2207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200" b="1">
                      <a:latin typeface="Times New Roman" panose="02020603050405020304" pitchFamily="18" charset="0"/>
                    </a:rPr>
                    <a:t>8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9119" name="Rectangle 65">
                  <a:extLst>
                    <a:ext uri="{FF2B5EF4-FFF2-40B4-BE49-F238E27FC236}">
                      <a16:creationId xmlns:a16="http://schemas.microsoft.com/office/drawing/2014/main" id="{CCB1EFAC-A497-4997-810E-703D07ED5E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0" y="2207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89115" name="Group 66">
                <a:extLst>
                  <a:ext uri="{FF2B5EF4-FFF2-40B4-BE49-F238E27FC236}">
                    <a16:creationId xmlns:a16="http://schemas.microsoft.com/office/drawing/2014/main" id="{C5E8C95C-7218-4EEA-B7FD-BBAC6BE4EA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80" y="2207"/>
                <a:ext cx="360" cy="499"/>
                <a:chOff x="1080" y="2207"/>
                <a:chExt cx="360" cy="499"/>
              </a:xfrm>
            </p:grpSpPr>
            <p:sp>
              <p:nvSpPr>
                <p:cNvPr id="89116" name="Rectangle 67">
                  <a:extLst>
                    <a:ext uri="{FF2B5EF4-FFF2-40B4-BE49-F238E27FC236}">
                      <a16:creationId xmlns:a16="http://schemas.microsoft.com/office/drawing/2014/main" id="{6350096A-74CD-4D11-BC7C-B036588B78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23" y="2207"/>
                  <a:ext cx="274" cy="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200" b="1">
                      <a:latin typeface="Times New Roman" panose="02020603050405020304" pitchFamily="18" charset="0"/>
                    </a:rPr>
                    <a:t>2</a:t>
                  </a:r>
                  <a:endParaRPr lang="zh-CN" altLang="en-US" sz="1000">
                    <a:latin typeface="Times New Roman" panose="02020603050405020304" pitchFamily="18" charset="0"/>
                  </a:endParaRPr>
                </a:p>
                <a:p>
                  <a:pPr algn="ctr"/>
                  <a:endParaRPr lang="zh-CN" altLang="en-US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9117" name="Rectangle 68">
                  <a:extLst>
                    <a:ext uri="{FF2B5EF4-FFF2-40B4-BE49-F238E27FC236}">
                      <a16:creationId xmlns:a16="http://schemas.microsoft.com/office/drawing/2014/main" id="{BD498B6B-8A9E-42D9-9FC2-90B69C462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80" y="2207"/>
                  <a:ext cx="360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89095" name="Rectangle 69">
              <a:extLst>
                <a:ext uri="{FF2B5EF4-FFF2-40B4-BE49-F238E27FC236}">
                  <a16:creationId xmlns:a16="http://schemas.microsoft.com/office/drawing/2014/main" id="{4659235D-4BB1-44AC-B80E-9551D0488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1446" cy="2712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193F2601-D727-4D5A-830D-041F38DD36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小结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70F5C9D8-C6D6-4AF1-84FA-421F6155E7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/>
              <a:t>关系的完整性约束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/>
              <a:t>实体完整性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/>
              <a:t>参照完整性</a:t>
            </a:r>
          </a:p>
          <a:p>
            <a:pPr lvl="2" eaLnBrk="1" hangingPunct="1">
              <a:lnSpc>
                <a:spcPct val="90000"/>
              </a:lnSpc>
              <a:buClr>
                <a:schemeClr val="accent2"/>
              </a:buClr>
            </a:pPr>
            <a:r>
              <a:rPr lang="zh-CN" altLang="en-US" sz="2000" b="1"/>
              <a:t>外码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/>
              <a:t>用户定义的完整性</a:t>
            </a:r>
          </a:p>
          <a:p>
            <a:pPr algn="just" eaLnBrk="1" hangingPunct="1">
              <a:lnSpc>
                <a:spcPct val="90000"/>
              </a:lnSpc>
              <a:buSzPct val="120000"/>
              <a:buFont typeface="Wingdings" panose="05000000000000000000" pitchFamily="2" charset="2"/>
              <a:buChar char="§"/>
            </a:pPr>
            <a:r>
              <a:rPr lang="zh-CN" altLang="en-US" sz="2400" b="1"/>
              <a:t>关系代数运算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000" b="1"/>
              <a:t>	关系代数运算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	并、差、交、笛卡尔积、投影、选择、连接、除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000" b="1"/>
              <a:t>	基本运算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	并、差、笛卡尔积、投影、选择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000" b="1"/>
              <a:t>	交、连接、除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	可以用5种基本运算来表达</a:t>
            </a:r>
          </a:p>
          <a:p>
            <a:pPr lvl="2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引进它们并不增加语言的能力，但可以简化表达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42ACE263-4F8F-4F55-90E7-8B827A26D0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800" b="1">
                <a:ea typeface="隶书" panose="02010509060101010101" pitchFamily="49" charset="-122"/>
              </a:rPr>
              <a:t>下次课内容预告（请预习）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04C74715-8505-466F-A794-C277C0095F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1550" y="2060575"/>
            <a:ext cx="7200900" cy="4114800"/>
          </a:xfrm>
        </p:spPr>
        <p:txBody>
          <a:bodyPr/>
          <a:lstStyle/>
          <a:p>
            <a:pPr eaLnBrk="1" hangingPunct="1">
              <a:buSzPct val="120000"/>
              <a:buFont typeface="Wingdings" panose="05000000000000000000" pitchFamily="2" charset="2"/>
              <a:buChar char="§"/>
            </a:pPr>
            <a:r>
              <a:rPr lang="zh-CN" altLang="en-US" b="1"/>
              <a:t> </a:t>
            </a:r>
            <a:r>
              <a:rPr lang="zh-CN" altLang="en-US" sz="3600" b="1"/>
              <a:t>第三章 关系数据标准语言</a:t>
            </a:r>
            <a:r>
              <a:rPr lang="en-US" altLang="zh-CN" sz="3600" b="1"/>
              <a:t>SQL</a:t>
            </a:r>
          </a:p>
          <a:p>
            <a:pPr eaLnBrk="1" hangingPunct="1">
              <a:buSzPct val="120000"/>
              <a:buFont typeface="Wingdings" panose="05000000000000000000" pitchFamily="2" charset="2"/>
              <a:buChar char="§"/>
            </a:pPr>
            <a:endParaRPr lang="zh-CN" altLang="en-US" sz="3600" b="1"/>
          </a:p>
          <a:p>
            <a:pPr eaLnBrk="1" hangingPunct="1"/>
            <a:endParaRPr lang="zh-CN" altLang="en-US" sz="3600" b="1"/>
          </a:p>
        </p:txBody>
      </p:sp>
      <p:grpSp>
        <p:nvGrpSpPr>
          <p:cNvPr id="97284" name="Group 6">
            <a:extLst>
              <a:ext uri="{FF2B5EF4-FFF2-40B4-BE49-F238E27FC236}">
                <a16:creationId xmlns:a16="http://schemas.microsoft.com/office/drawing/2014/main" id="{4AB9AFB1-1164-4EBC-80F6-699BC2A0BDCE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4724400"/>
            <a:ext cx="3414713" cy="1825625"/>
            <a:chOff x="3456" y="2976"/>
            <a:chExt cx="2151" cy="1150"/>
          </a:xfrm>
        </p:grpSpPr>
        <p:pic>
          <p:nvPicPr>
            <p:cNvPr id="97286" name="Picture 4" descr="0006">
              <a:extLst>
                <a:ext uri="{FF2B5EF4-FFF2-40B4-BE49-F238E27FC236}">
                  <a16:creationId xmlns:a16="http://schemas.microsoft.com/office/drawing/2014/main" id="{0F95AD4A-F542-4048-961D-D8B8ADBA76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18000" contrast="12000"/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2" y="3264"/>
              <a:ext cx="1095" cy="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7287" name="Rectangle 5">
              <a:extLst>
                <a:ext uri="{FF2B5EF4-FFF2-40B4-BE49-F238E27FC236}">
                  <a16:creationId xmlns:a16="http://schemas.microsoft.com/office/drawing/2014/main" id="{9AE7A101-5C19-496A-B0A3-C3C56569B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976"/>
              <a:ext cx="1584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4000" b="1">
                  <a:solidFill>
                    <a:srgbClr val="990099"/>
                  </a:solidFill>
                  <a:latin typeface="Comic Sans MS" panose="030F0702030302020204" pitchFamily="66" charset="0"/>
                </a:rPr>
                <a:t>Bye-bye!</a:t>
              </a:r>
            </a:p>
          </p:txBody>
        </p:sp>
      </p:grpSp>
      <p:pic>
        <p:nvPicPr>
          <p:cNvPr id="97285" name="Picture 7" descr="10005">
            <a:extLst>
              <a:ext uri="{FF2B5EF4-FFF2-40B4-BE49-F238E27FC236}">
                <a16:creationId xmlns:a16="http://schemas.microsoft.com/office/drawing/2014/main" id="{A2E29ADA-31AB-43A9-A233-DC504EB6693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304800"/>
            <a:ext cx="8382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1105</TotalTime>
  <Words>4468</Words>
  <Application>Microsoft Office PowerPoint</Application>
  <PresentationFormat>全屏显示(4:3)</PresentationFormat>
  <Paragraphs>926</Paragraphs>
  <Slides>86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86</vt:i4>
      </vt:variant>
    </vt:vector>
  </HeadingPairs>
  <TitlesOfParts>
    <vt:vector size="102" baseType="lpstr">
      <vt:lpstr>Times-Roman</vt:lpstr>
      <vt:lpstr>等线</vt:lpstr>
      <vt:lpstr>黑体</vt:lpstr>
      <vt:lpstr>隶书</vt:lpstr>
      <vt:lpstr>宋体</vt:lpstr>
      <vt:lpstr>Arial</vt:lpstr>
      <vt:lpstr>Arial Black</vt:lpstr>
      <vt:lpstr>Comic Sans MS</vt:lpstr>
      <vt:lpstr>Symbol</vt:lpstr>
      <vt:lpstr>Tahoma</vt:lpstr>
      <vt:lpstr>Times New Roman</vt:lpstr>
      <vt:lpstr>Wingdings</vt:lpstr>
      <vt:lpstr>Blends</vt:lpstr>
      <vt:lpstr>公式</vt:lpstr>
      <vt:lpstr>文档</vt:lpstr>
      <vt:lpstr>Document</vt:lpstr>
      <vt:lpstr>主讲：王海燕 E-mail：wanghaiyan@mail.hzau.edu.cn</vt:lpstr>
      <vt:lpstr>第二章 关系数据库</vt:lpstr>
      <vt:lpstr>主要内容</vt:lpstr>
      <vt:lpstr>重点</vt:lpstr>
      <vt:lpstr>2.1 关系数据结构及形式化定义</vt:lpstr>
      <vt:lpstr>（一）、关系</vt:lpstr>
      <vt:lpstr>⒈ 域（Domain）</vt:lpstr>
      <vt:lpstr>2. 笛卡尔积（Cartesian Product）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 关系（Relation）</vt:lpstr>
      <vt:lpstr>注意：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码(续)</vt:lpstr>
      <vt:lpstr>PowerPoint 演示文稿</vt:lpstr>
      <vt:lpstr>2.1.2 基本关系的性质</vt:lpstr>
      <vt:lpstr>PowerPoint 演示文稿</vt:lpstr>
      <vt:lpstr>PowerPoint 演示文稿</vt:lpstr>
      <vt:lpstr>PowerPoint 演示文稿</vt:lpstr>
      <vt:lpstr>2.1.3 关系模式</vt:lpstr>
      <vt:lpstr>1、什么是关系模式</vt:lpstr>
      <vt:lpstr>2、关系模式的形式化定义</vt:lpstr>
      <vt:lpstr>PowerPoint 演示文稿</vt:lpstr>
      <vt:lpstr>PowerPoint 演示文稿</vt:lpstr>
      <vt:lpstr>3、关系模式与关系</vt:lpstr>
      <vt:lpstr>2.2 关系的完整性</vt:lpstr>
      <vt:lpstr>（一）、实体完整性</vt:lpstr>
      <vt:lpstr>实体完整性（续）</vt:lpstr>
      <vt:lpstr>实体完整性（续）</vt:lpstr>
      <vt:lpstr>（二）、参照完整性</vt:lpstr>
      <vt:lpstr>1. 关系间的引用</vt:lpstr>
      <vt:lpstr>关系间的引用（续）</vt:lpstr>
      <vt:lpstr>关系间的引用（续）</vt:lpstr>
      <vt:lpstr>PowerPoint 演示文稿</vt:lpstr>
      <vt:lpstr>PowerPoint 演示文稿</vt:lpstr>
      <vt:lpstr>2．外码（Foreign Key）</vt:lpstr>
      <vt:lpstr>外码(续)</vt:lpstr>
      <vt:lpstr>3、参照完整性规则</vt:lpstr>
      <vt:lpstr>参照完整性规则(续)</vt:lpstr>
      <vt:lpstr>参照完整性规则(续)</vt:lpstr>
      <vt:lpstr>参照完整性规则(续)</vt:lpstr>
      <vt:lpstr>（三）、用户定义的完整性</vt:lpstr>
      <vt:lpstr>2.3 关系代数</vt:lpstr>
      <vt:lpstr>（一）、概述</vt:lpstr>
      <vt:lpstr>PowerPoint 演示文稿</vt:lpstr>
      <vt:lpstr>PowerPoint 演示文稿</vt:lpstr>
      <vt:lpstr>（二）、传统的集合运算</vt:lpstr>
      <vt:lpstr>1、并（Union）</vt:lpstr>
      <vt:lpstr>PowerPoint 演示文稿</vt:lpstr>
      <vt:lpstr>2、差（Difference）</vt:lpstr>
      <vt:lpstr>PowerPoint 演示文稿</vt:lpstr>
      <vt:lpstr>3、交（Intersection）</vt:lpstr>
      <vt:lpstr>PowerPoint 演示文稿</vt:lpstr>
      <vt:lpstr>4、广义笛卡尔积</vt:lpstr>
      <vt:lpstr>PowerPoint 演示文稿</vt:lpstr>
      <vt:lpstr>2.3.3 专门的关系运算</vt:lpstr>
      <vt:lpstr>1、表示记号</vt:lpstr>
      <vt:lpstr>PowerPoint 演示文稿</vt:lpstr>
      <vt:lpstr>2、选择（Selection）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3、投影（Projection）</vt:lpstr>
      <vt:lpstr>PowerPoint 演示文稿</vt:lpstr>
      <vt:lpstr>PowerPoint 演示文稿</vt:lpstr>
      <vt:lpstr>PowerPoint 演示文稿</vt:lpstr>
      <vt:lpstr>4、连接（Join）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  <vt:lpstr>下次课内容预告（请预习）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suifeng</dc:creator>
  <cp:lastModifiedBy>trAshbaG Smile</cp:lastModifiedBy>
  <cp:revision>203</cp:revision>
  <dcterms:created xsi:type="dcterms:W3CDTF">1601-01-01T00:00:00Z</dcterms:created>
  <dcterms:modified xsi:type="dcterms:W3CDTF">2025-12-24T11:26:34Z</dcterms:modified>
</cp:coreProperties>
</file>