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73"/>
  </p:notesMasterIdLst>
  <p:sldIdLst>
    <p:sldId id="541" r:id="rId2"/>
    <p:sldId id="543" r:id="rId3"/>
    <p:sldId id="688" r:id="rId4"/>
    <p:sldId id="726" r:id="rId5"/>
    <p:sldId id="727" r:id="rId6"/>
    <p:sldId id="685" r:id="rId7"/>
    <p:sldId id="717" r:id="rId8"/>
    <p:sldId id="546" r:id="rId9"/>
    <p:sldId id="549" r:id="rId10"/>
    <p:sldId id="558" r:id="rId11"/>
    <p:sldId id="559" r:id="rId12"/>
    <p:sldId id="729" r:id="rId13"/>
    <p:sldId id="718" r:id="rId14"/>
    <p:sldId id="719" r:id="rId15"/>
    <p:sldId id="561" r:id="rId16"/>
    <p:sldId id="562" r:id="rId17"/>
    <p:sldId id="720" r:id="rId18"/>
    <p:sldId id="564" r:id="rId19"/>
    <p:sldId id="714" r:id="rId20"/>
    <p:sldId id="566" r:id="rId21"/>
    <p:sldId id="696" r:id="rId22"/>
    <p:sldId id="568" r:id="rId23"/>
    <p:sldId id="692" r:id="rId24"/>
    <p:sldId id="693" r:id="rId25"/>
    <p:sldId id="715" r:id="rId26"/>
    <p:sldId id="716" r:id="rId27"/>
    <p:sldId id="694" r:id="rId28"/>
    <p:sldId id="569" r:id="rId29"/>
    <p:sldId id="570" r:id="rId30"/>
    <p:sldId id="571" r:id="rId31"/>
    <p:sldId id="572" r:id="rId32"/>
    <p:sldId id="573" r:id="rId33"/>
    <p:sldId id="574" r:id="rId34"/>
    <p:sldId id="575" r:id="rId35"/>
    <p:sldId id="713" r:id="rId36"/>
    <p:sldId id="576" r:id="rId37"/>
    <p:sldId id="578" r:id="rId38"/>
    <p:sldId id="579" r:id="rId39"/>
    <p:sldId id="580" r:id="rId40"/>
    <p:sldId id="581" r:id="rId41"/>
    <p:sldId id="582" r:id="rId42"/>
    <p:sldId id="583" r:id="rId43"/>
    <p:sldId id="584" r:id="rId44"/>
    <p:sldId id="585" r:id="rId45"/>
    <p:sldId id="586" r:id="rId46"/>
    <p:sldId id="587" r:id="rId47"/>
    <p:sldId id="588" r:id="rId48"/>
    <p:sldId id="589" r:id="rId49"/>
    <p:sldId id="590" r:id="rId50"/>
    <p:sldId id="591" r:id="rId51"/>
    <p:sldId id="592" r:id="rId52"/>
    <p:sldId id="593" r:id="rId53"/>
    <p:sldId id="697" r:id="rId54"/>
    <p:sldId id="698" r:id="rId55"/>
    <p:sldId id="721" r:id="rId56"/>
    <p:sldId id="700" r:id="rId57"/>
    <p:sldId id="722" r:id="rId58"/>
    <p:sldId id="723" r:id="rId59"/>
    <p:sldId id="724" r:id="rId60"/>
    <p:sldId id="725" r:id="rId61"/>
    <p:sldId id="703" r:id="rId62"/>
    <p:sldId id="704" r:id="rId63"/>
    <p:sldId id="705" r:id="rId64"/>
    <p:sldId id="706" r:id="rId65"/>
    <p:sldId id="707" r:id="rId66"/>
    <p:sldId id="708" r:id="rId67"/>
    <p:sldId id="709" r:id="rId68"/>
    <p:sldId id="710" r:id="rId69"/>
    <p:sldId id="339" r:id="rId70"/>
    <p:sldId id="711" r:id="rId71"/>
    <p:sldId id="712" r:id="rId7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130A36"/>
    <a:srgbClr val="79710F"/>
    <a:srgbClr val="EEE6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04" autoAdjust="0"/>
    <p:restoredTop sz="72361" autoAdjust="0"/>
  </p:normalViewPr>
  <p:slideViewPr>
    <p:cSldViewPr>
      <p:cViewPr varScale="1">
        <p:scale>
          <a:sx n="81" d="100"/>
          <a:sy n="81" d="100"/>
        </p:scale>
        <p:origin x="2310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233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321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4D4BA06-DF10-4108-B4B2-355F3EBC4FF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8BFBFB33-1E76-43FA-B6B7-52A40E73BC9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679774D-2072-46D5-B5BC-D5206FB9D44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CEBFFAA3-CE52-4D8B-8912-CFBF0666D3F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6086" name="Rectangle 6">
            <a:extLst>
              <a:ext uri="{FF2B5EF4-FFF2-40B4-BE49-F238E27FC236}">
                <a16:creationId xmlns:a16="http://schemas.microsoft.com/office/drawing/2014/main" id="{D78D4AAB-CC11-42C2-8058-3F99A12B3F8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7" name="Rectangle 7">
            <a:extLst>
              <a:ext uri="{FF2B5EF4-FFF2-40B4-BE49-F238E27FC236}">
                <a16:creationId xmlns:a16="http://schemas.microsoft.com/office/drawing/2014/main" id="{624B583A-61B9-442F-94D2-E4A1139C73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B19B4D8B-098C-4552-AC1E-A4A42503B47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CCD68B2F-DCE3-4001-B49E-F02F3F2ADF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A5A5DED-D5FB-40C0-A9C9-03B971F1CB3E}" type="slidenum">
              <a:rPr lang="en-US" altLang="zh-CN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79EBCB13-AE61-4DC8-9173-60FF2EBE9B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8818BBA2-5F79-47B0-A31A-140347A629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7B46B30A-68CF-44E7-AC62-EA19EC49BF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590A756-AD6D-4652-91BB-1E8066D32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defRPr/>
            </a:pPr>
            <a:r>
              <a:rPr lang="zh-CN" altLang="en-US" dirty="0">
                <a:sym typeface="Calibri" pitchFamily="34" charset="0"/>
              </a:rPr>
              <a:t>（</a:t>
            </a:r>
            <a:r>
              <a:rPr lang="en-US" altLang="zh-CN" dirty="0">
                <a:sym typeface="Calibri" pitchFamily="34" charset="0"/>
              </a:rPr>
              <a:t>1</a:t>
            </a:r>
            <a:r>
              <a:rPr lang="zh-CN" altLang="en-US" dirty="0">
                <a:sym typeface="Calibri" pitchFamily="34" charset="0"/>
              </a:rPr>
              <a:t>）数据冗余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n"/>
              <a:defRPr/>
            </a:pPr>
            <a:r>
              <a:rPr lang="zh-CN" altLang="en-US" dirty="0">
                <a:sym typeface="Calibri" pitchFamily="34" charset="0"/>
              </a:rPr>
              <a:t>浪费大量的存储空间</a:t>
            </a:r>
            <a:endParaRPr lang="en-US" altLang="zh-CN" dirty="0">
              <a:sym typeface="Calibri" pitchFamily="34" charset="0"/>
            </a:endParaRPr>
          </a:p>
          <a:p>
            <a:pPr marL="1200150" lvl="2" indent="-285750">
              <a:lnSpc>
                <a:spcPct val="150000"/>
              </a:lnSpc>
              <a:buSzPct val="87000"/>
              <a:buFont typeface="Wingdings" pitchFamily="2" charset="2"/>
              <a:buChar char="l"/>
              <a:defRPr/>
            </a:pPr>
            <a:r>
              <a:rPr lang="zh-CN" altLang="en-US" dirty="0">
                <a:sym typeface="Calibri" pitchFamily="34" charset="0"/>
              </a:rPr>
              <a:t>每一个系主任的姓名重复出现，重复次数与该系所有学生的所有课程成绩出现次数相同。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dirty="0">
                <a:sym typeface="Calibri" pitchFamily="34" charset="0"/>
              </a:rPr>
              <a:t>（</a:t>
            </a:r>
            <a:r>
              <a:rPr lang="en-US" altLang="zh-CN" dirty="0">
                <a:sym typeface="Calibri" pitchFamily="34" charset="0"/>
              </a:rPr>
              <a:t>2</a:t>
            </a:r>
            <a:r>
              <a:rPr lang="zh-CN" altLang="en-US" dirty="0">
                <a:sym typeface="Calibri" pitchFamily="34" charset="0"/>
              </a:rPr>
              <a:t>）更新异常（</a:t>
            </a:r>
            <a:r>
              <a:rPr lang="en-US" altLang="zh-CN" dirty="0">
                <a:sym typeface="Calibri" pitchFamily="34" charset="0"/>
              </a:rPr>
              <a:t>Update Anomalies</a:t>
            </a:r>
            <a:r>
              <a:rPr lang="zh-CN" altLang="en-US" dirty="0">
                <a:sym typeface="Calibri" pitchFamily="34" charset="0"/>
              </a:rPr>
              <a:t>）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>
                <a:sym typeface="Calibri" pitchFamily="34" charset="0"/>
              </a:rPr>
              <a:t>数据冗余 </a:t>
            </a:r>
            <a:r>
              <a:rPr lang="zh-CN" altLang="en-US" dirty="0">
                <a:sym typeface="Monotype Sorts" pitchFamily="2" charset="2"/>
              </a:rPr>
              <a:t>，</a:t>
            </a:r>
            <a:r>
              <a:rPr lang="zh-CN" altLang="en-US" dirty="0">
                <a:sym typeface="Calibri" pitchFamily="34" charset="0"/>
              </a:rPr>
              <a:t>更新数据时，维护数据完整性代价大。</a:t>
            </a:r>
            <a:endParaRPr lang="en-US" altLang="zh-CN" dirty="0">
              <a:sym typeface="Calibri" pitchFamily="34" charset="0"/>
            </a:endParaRPr>
          </a:p>
          <a:p>
            <a:pPr marL="1200150" lvl="2" indent="-285750">
              <a:lnSpc>
                <a:spcPct val="150000"/>
              </a:lnSpc>
              <a:buSzPct val="87000"/>
              <a:buFont typeface="Wingdings" pitchFamily="2" charset="2"/>
              <a:buChar char="l"/>
              <a:defRPr/>
            </a:pPr>
            <a:r>
              <a:rPr lang="zh-CN" altLang="en-US" dirty="0">
                <a:sym typeface="Calibri" pitchFamily="34" charset="0"/>
              </a:rPr>
              <a:t>某系更换系主任后，必须修改与该系学生有关的每一个元组。</a:t>
            </a:r>
          </a:p>
          <a:p>
            <a:pPr marL="342900" indent="-342900">
              <a:defRPr/>
            </a:pPr>
            <a:r>
              <a:rPr lang="zh-CN" altLang="en-US" dirty="0">
                <a:sym typeface="Calibri" pitchFamily="34" charset="0"/>
              </a:rPr>
              <a:t>（</a:t>
            </a:r>
            <a:r>
              <a:rPr lang="en-US" altLang="zh-CN" dirty="0">
                <a:sym typeface="Calibri" pitchFamily="34" charset="0"/>
              </a:rPr>
              <a:t>3</a:t>
            </a:r>
            <a:r>
              <a:rPr lang="zh-CN" altLang="en-US" dirty="0">
                <a:sym typeface="Calibri" pitchFamily="34" charset="0"/>
              </a:rPr>
              <a:t>）插入异常（</a:t>
            </a:r>
            <a:r>
              <a:rPr lang="en-US" altLang="zh-CN" dirty="0">
                <a:sym typeface="Calibri" pitchFamily="34" charset="0"/>
              </a:rPr>
              <a:t>Insertion Anomalies</a:t>
            </a:r>
            <a:r>
              <a:rPr lang="zh-CN" altLang="en-US" dirty="0">
                <a:sym typeface="Calibri" pitchFamily="34" charset="0"/>
              </a:rPr>
              <a:t>）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n"/>
              <a:defRPr/>
            </a:pPr>
            <a:r>
              <a:rPr lang="zh-CN" altLang="en-US" dirty="0">
                <a:sym typeface="Calibri" pitchFamily="34" charset="0"/>
              </a:rPr>
              <a:t>如果一个系刚成立，尚无学生，则无法把这个系及其系主任的信息存入数据库。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dirty="0">
                <a:sym typeface="Calibri" pitchFamily="34" charset="0"/>
              </a:rPr>
              <a:t>（</a:t>
            </a:r>
            <a:r>
              <a:rPr lang="en-US" altLang="zh-CN" dirty="0">
                <a:sym typeface="Calibri" pitchFamily="34" charset="0"/>
              </a:rPr>
              <a:t>4</a:t>
            </a:r>
            <a:r>
              <a:rPr lang="zh-CN" altLang="en-US" dirty="0">
                <a:sym typeface="Calibri" pitchFamily="34" charset="0"/>
              </a:rPr>
              <a:t>）删除异常（</a:t>
            </a:r>
            <a:r>
              <a:rPr lang="en-US" altLang="zh-CN" dirty="0">
                <a:sym typeface="Calibri" pitchFamily="34" charset="0"/>
              </a:rPr>
              <a:t>Deletion Anomalies</a:t>
            </a:r>
            <a:r>
              <a:rPr lang="zh-CN" altLang="en-US" dirty="0">
                <a:sym typeface="Calibri" pitchFamily="34" charset="0"/>
              </a:rPr>
              <a:t>）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>
                <a:sym typeface="Calibri" pitchFamily="34" charset="0"/>
              </a:rPr>
              <a:t>如果某个系的学生全部毕业了， 则在删除该系学生信息的同时，把这个系及其系主任的信息也丢掉了。</a:t>
            </a:r>
            <a:endParaRPr lang="zh-CN" altLang="en-US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DD3EE23C-D321-4704-80A5-5FE318D78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24E475A-6DB1-428F-AF68-FC4603EB4667}" type="slidenum">
              <a:rPr lang="en-US" altLang="zh-CN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77501447-7D2C-4770-BC6C-A56F492A11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137AC307-D30B-4FB9-91A5-76732E2DC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D3E7DB9C-732C-4DC7-951A-983AB8FCF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9478AC5-CBFE-46A7-A84A-921A31A6F4EF}" type="slidenum">
              <a:rPr lang="en-US" altLang="zh-CN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id="{A965E695-2943-4C52-8B40-EE3E84885B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9DDA0D31-0E76-4E45-BD1A-FC6E7C967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id="{5D9D6770-FE28-494E-A9C6-FDC0C1EAAE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B4D219C-FF7C-458C-B77A-71918EC8DB3F}" type="slidenum">
              <a:rPr lang="en-US" altLang="zh-CN"/>
              <a:pPr>
                <a:spcBef>
                  <a:spcPct val="0"/>
                </a:spcBef>
              </a:pPr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544D054F-EAE0-4181-99EA-72993FDB37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9F85A7A2-0437-4230-AC18-CCABFAE4F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7E3CF074-590A-47C3-8D7A-42CB99FFF6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371C839-6351-4B07-B952-C630B3E41C31}" type="slidenum">
              <a:rPr lang="en-US" altLang="zh-CN"/>
              <a:pPr>
                <a:spcBef>
                  <a:spcPct val="0"/>
                </a:spcBef>
              </a:pPr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2C19EB77-06AA-4680-96FB-2558C39650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4E44AA9A-3BDB-478D-B792-51BF6C3F7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3D58E1A6-50A7-491B-8711-540413D3E4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4E6366C-1BE3-427E-BBE7-05A4138E06B7}" type="slidenum">
              <a:rPr lang="en-US" altLang="zh-CN"/>
              <a:pPr>
                <a:spcBef>
                  <a:spcPct val="0"/>
                </a:spcBef>
              </a:pPr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>
            <a:extLst>
              <a:ext uri="{FF2B5EF4-FFF2-40B4-BE49-F238E27FC236}">
                <a16:creationId xmlns:a16="http://schemas.microsoft.com/office/drawing/2014/main" id="{753ED5C8-6937-4941-BFCA-E9592AC806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备注占位符 2">
            <a:extLst>
              <a:ext uri="{FF2B5EF4-FFF2-40B4-BE49-F238E27FC236}">
                <a16:creationId xmlns:a16="http://schemas.microsoft.com/office/drawing/2014/main" id="{3C0841B7-AF9A-4FB1-B2AA-21808C062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>
              <a:buFont typeface="Wingdings" panose="05000000000000000000" pitchFamily="2" charset="2"/>
              <a:buChar char="n"/>
            </a:pPr>
            <a:r>
              <a:rPr lang="zh-CN" altLang="en-US" sz="2000"/>
              <a:t>于任一关系模式，平凡函数依赖都是必然成立的，它不反映新的语义，因此若不特别声明， 我们总是讨论非平凡函数依赖。</a:t>
            </a:r>
          </a:p>
          <a:p>
            <a:pPr eaLnBrk="1" hangingPunct="1"/>
            <a:endParaRPr lang="zh-CN" altLang="en-US"/>
          </a:p>
        </p:txBody>
      </p:sp>
      <p:sp>
        <p:nvSpPr>
          <p:cNvPr id="27652" name="灯片编号占位符 3">
            <a:extLst>
              <a:ext uri="{FF2B5EF4-FFF2-40B4-BE49-F238E27FC236}">
                <a16:creationId xmlns:a16="http://schemas.microsoft.com/office/drawing/2014/main" id="{48D39CA9-B274-4C85-9067-E7EF528D4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54AB31A-EEE5-46B0-AAE6-1AE6A606C2C1}" type="slidenum">
              <a:rPr lang="en-US" altLang="zh-CN"/>
              <a:pPr>
                <a:spcBef>
                  <a:spcPct val="0"/>
                </a:spcBef>
              </a:pPr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>
            <a:extLst>
              <a:ext uri="{FF2B5EF4-FFF2-40B4-BE49-F238E27FC236}">
                <a16:creationId xmlns:a16="http://schemas.microsoft.com/office/drawing/2014/main" id="{DB2C6592-61BB-47D9-A76F-8E3D71EEB5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备注占位符 2">
            <a:extLst>
              <a:ext uri="{FF2B5EF4-FFF2-40B4-BE49-F238E27FC236}">
                <a16:creationId xmlns:a16="http://schemas.microsoft.com/office/drawing/2014/main" id="{8C23DF1F-0ACA-42B1-8447-F498FE318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如果不满足</a:t>
            </a:r>
            <a:r>
              <a:rPr lang="en-US" altLang="zh-CN"/>
              <a:t>BC</a:t>
            </a:r>
            <a:r>
              <a:rPr lang="zh-CN" altLang="en-US"/>
              <a:t>的话，一定存在函数依赖，左边的</a:t>
            </a:r>
            <a:r>
              <a:rPr lang="en-US" altLang="zh-CN"/>
              <a:t>X</a:t>
            </a:r>
            <a:r>
              <a:rPr lang="zh-CN" altLang="en-US"/>
              <a:t>不包括候选码，则</a:t>
            </a:r>
            <a:r>
              <a:rPr lang="en-US" altLang="zh-CN"/>
              <a:t>X</a:t>
            </a:r>
            <a:r>
              <a:rPr lang="zh-CN" altLang="en-US"/>
              <a:t>的值会重复，</a:t>
            </a:r>
            <a:r>
              <a:rPr lang="en-US" altLang="zh-CN"/>
              <a:t>Y</a:t>
            </a:r>
            <a:r>
              <a:rPr lang="zh-CN" altLang="en-US"/>
              <a:t>就会重复，则数据冗余，更新异常</a:t>
            </a:r>
            <a:endParaRPr lang="en-US" altLang="zh-CN"/>
          </a:p>
          <a:p>
            <a:r>
              <a:rPr lang="zh-CN" altLang="en-US"/>
              <a:t>同时，插入异常，主属性为空</a:t>
            </a:r>
          </a:p>
        </p:txBody>
      </p:sp>
      <p:sp>
        <p:nvSpPr>
          <p:cNvPr id="59396" name="灯片编号占位符 3">
            <a:extLst>
              <a:ext uri="{FF2B5EF4-FFF2-40B4-BE49-F238E27FC236}">
                <a16:creationId xmlns:a16="http://schemas.microsoft.com/office/drawing/2014/main" id="{3E1E05F1-C3CC-452E-8269-306B2EA41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823BD1F-5369-422F-9B39-8CB9081E9C0A}" type="slidenum">
              <a:rPr lang="en-US" altLang="zh-CN" sz="1200"/>
              <a:pPr/>
              <a:t>46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>
            <a:extLst>
              <a:ext uri="{FF2B5EF4-FFF2-40B4-BE49-F238E27FC236}">
                <a16:creationId xmlns:a16="http://schemas.microsoft.com/office/drawing/2014/main" id="{54FED410-5061-457C-8780-D06638B231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备注占位符 2">
            <a:extLst>
              <a:ext uri="{FF2B5EF4-FFF2-40B4-BE49-F238E27FC236}">
                <a16:creationId xmlns:a16="http://schemas.microsoft.com/office/drawing/2014/main" id="{772F3A4C-571B-4444-AD9B-9B9E61083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主属性一定在左边</a:t>
            </a:r>
          </a:p>
        </p:txBody>
      </p:sp>
      <p:sp>
        <p:nvSpPr>
          <p:cNvPr id="65540" name="灯片编号占位符 3">
            <a:extLst>
              <a:ext uri="{FF2B5EF4-FFF2-40B4-BE49-F238E27FC236}">
                <a16:creationId xmlns:a16="http://schemas.microsoft.com/office/drawing/2014/main" id="{4E3FBBBF-E495-4FD7-8FDB-A7F6D7EAA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CC068F6-1468-4C64-970A-AC9CE2ABA349}" type="slidenum">
              <a:rPr lang="en-US" altLang="zh-CN" sz="1200"/>
              <a:pPr/>
              <a:t>51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>
            <a:extLst>
              <a:ext uri="{FF2B5EF4-FFF2-40B4-BE49-F238E27FC236}">
                <a16:creationId xmlns:a16="http://schemas.microsoft.com/office/drawing/2014/main" id="{9009B7F2-F7D3-4754-B26D-61E57E5A9D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备注占位符 2">
            <a:extLst>
              <a:ext uri="{FF2B5EF4-FFF2-40B4-BE49-F238E27FC236}">
                <a16:creationId xmlns:a16="http://schemas.microsoft.com/office/drawing/2014/main" id="{420EB10E-9590-4CDC-92EF-D42AD1D6F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主属性要么在左边</a:t>
            </a:r>
            <a:endParaRPr lang="en-US" altLang="zh-CN"/>
          </a:p>
          <a:p>
            <a:r>
              <a:rPr lang="zh-CN" altLang="en-US"/>
              <a:t>要么两边都没出现，因为别人决定不了它，但这时候就不满足</a:t>
            </a:r>
            <a:r>
              <a:rPr lang="en-US" altLang="zh-CN"/>
              <a:t>BC</a:t>
            </a:r>
            <a:r>
              <a:rPr lang="zh-CN" altLang="en-US"/>
              <a:t>范式了</a:t>
            </a:r>
          </a:p>
        </p:txBody>
      </p:sp>
      <p:sp>
        <p:nvSpPr>
          <p:cNvPr id="67588" name="灯片编号占位符 3">
            <a:extLst>
              <a:ext uri="{FF2B5EF4-FFF2-40B4-BE49-F238E27FC236}">
                <a16:creationId xmlns:a16="http://schemas.microsoft.com/office/drawing/2014/main" id="{36526493-63E1-4C30-BFEE-22C5018A1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6F31BD4-D9F9-463B-BB01-2FF29D231549}" type="slidenum">
              <a:rPr lang="en-US" altLang="zh-CN" sz="1200"/>
              <a:pPr/>
              <a:t>52</a:t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BE72E9FF-D09A-408C-A594-C6373F768D21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9B30CADD-E7AF-4C6F-A489-AE1E49E0A1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70EFE526-6CE7-4059-8C84-68B49415A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7827A4D9-6893-4F09-9EBF-A20C1CE49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F4069AD0-5ED4-42FB-BF32-9E1F5E0E72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3F86F2DE-4AE9-4E9B-97AE-1396CF890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405028C4-95B0-4E90-9401-74DFF27710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4AEAA345-756A-4892-BC3E-EBF33B0E0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EF6C580A-7C0B-4F2F-B280-66ECAEC7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1010DE63-92AE-4B95-B5AA-F5A2241CBCD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32974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974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E27A7F73-DD9E-4D2C-8655-C06DFD863C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7E5CE99A-C7A6-4A3F-9B88-46B9340599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F1FF8883-7A90-4934-A2FC-819FDC3113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fld id="{3134FCCE-D121-47B1-84A4-EF73D9F673B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2171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FC58034-CEA2-4628-97F3-E4EB792C00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375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56206A2-57D9-46C0-A709-98E7145553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5598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2C03724-A6BE-4D01-9AFC-77D5AD9CA5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4969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AC6E3A2-D3B1-4216-B7B9-BC4D3A782E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8154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3047A567-48E6-4C76-BF47-A6DA6C3773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4158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92BAF152-95FB-4619-AF4B-F6D6C825AC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508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4F7B356-9BCC-443C-82AC-65A8A1E764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2673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74CFE41-7FE7-4E99-931A-9287E17647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1912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69C020F-CD73-450C-B8EF-5B5808F5A7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1207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2A638D6-A26F-4342-A9C5-A1F758F1C4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1132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2FEAF6A-3924-45BC-8087-3A21222C4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80769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1826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11826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EB556ACB-8447-40F8-9D42-F29783A366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9619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3EF574A-FF67-4B98-9077-C127D78BD44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>
              <a:latin typeface="Tahoma" pitchFamily="34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99CA5BB-A3C7-41BB-967A-CD69492FB9D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>
              <a:latin typeface="Tahoma" pitchFamily="34" charset="0"/>
            </a:endParaRP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0F2C761-B643-498A-8421-2FA9292AC7C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>
              <a:latin typeface="Tahoma" pitchFamily="34" charset="0"/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A7CD6A9-14C4-4A21-9BA8-281EF83B827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>
              <a:latin typeface="Tahoma" pitchFamily="34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BB9A3DD-56D5-4AF9-B048-81E7AD3FAD5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>
              <a:latin typeface="Tahoma" pitchFamily="34" charset="0"/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F044F26-FA3F-4337-A17B-F1313F70F0B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>
              <a:latin typeface="Tahoma" pitchFamily="34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DB7A3717-5B95-4DFD-8994-5A61A3EFCEC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>
              <a:latin typeface="Tahoma" pitchFamily="34" charset="0"/>
            </a:endParaRP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E1CAE232-5373-40CE-9703-9FF44C8803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94E28229-1466-42F5-9E80-23D7B01626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8715" name="Rectangle 11">
            <a:extLst>
              <a:ext uri="{FF2B5EF4-FFF2-40B4-BE49-F238E27FC236}">
                <a16:creationId xmlns:a16="http://schemas.microsoft.com/office/drawing/2014/main" id="{B33175F9-07D0-48E3-B3AA-ED008A2180D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6" r:id="rId1"/>
    <p:sldLayoutId id="2147484114" r:id="rId2"/>
    <p:sldLayoutId id="2147484115" r:id="rId3"/>
    <p:sldLayoutId id="2147484116" r:id="rId4"/>
    <p:sldLayoutId id="2147484117" r:id="rId5"/>
    <p:sldLayoutId id="2147484118" r:id="rId6"/>
    <p:sldLayoutId id="2147484119" r:id="rId7"/>
    <p:sldLayoutId id="2147484120" r:id="rId8"/>
    <p:sldLayoutId id="2147484121" r:id="rId9"/>
    <p:sldLayoutId id="2147484122" r:id="rId10"/>
    <p:sldLayoutId id="2147484123" r:id="rId11"/>
    <p:sldLayoutId id="2147484124" r:id="rId12"/>
    <p:sldLayoutId id="2147484125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仿宋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仿宋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仿宋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仿宋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仿宋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仿宋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仿宋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仿宋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1.tmp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>
            <a:extLst>
              <a:ext uri="{FF2B5EF4-FFF2-40B4-BE49-F238E27FC236}">
                <a16:creationId xmlns:a16="http://schemas.microsoft.com/office/drawing/2014/main" id="{E77FA06D-744F-4C51-AEDE-A0D89994B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990600"/>
            <a:ext cx="7924800" cy="271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800" b="1">
                <a:latin typeface="Arial Black" panose="020B0A04020102020204" pitchFamily="34" charset="0"/>
                <a:ea typeface="隶书" panose="02010509060101010101" pitchFamily="49" charset="-122"/>
              </a:rPr>
              <a:t>数据库系统概论</a:t>
            </a:r>
            <a:endParaRPr lang="zh-CN" altLang="en-US" sz="4800" b="1">
              <a:latin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Times New Roman" panose="02020603050405020304" pitchFamily="18" charset="0"/>
              </a:rPr>
              <a:t>An Introduction to Database System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4400" b="1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第六章 关系数据理论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DF80457-F127-456E-8A4F-4EBD1FB31B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6.1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问题的提出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F3FE27C1-A627-4338-AA2D-9BEA66EE1B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844675"/>
            <a:ext cx="8712200" cy="4840288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数据库设计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数据库概念设计（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ER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模型）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数据库逻辑设计（规范化理论）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 algn="just" eaLnBrk="1" hangingPunct="1">
              <a:lnSpc>
                <a:spcPct val="150000"/>
              </a:lnSpc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关系数据库逻辑设计：针对一个具体问题，如何设计一个适合于它的数据库模式，即数据库中应该有几张表，表中的列又是如何生成的，字段间表间关系？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数据库物理设计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DC8E7AE-84BD-4DF1-B378-413FA3E16A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关系模式举例</a:t>
            </a:r>
            <a:endParaRPr lang="zh-CN" altLang="en-US" sz="3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F7B85EA-AE53-4204-ADE0-E32CE32006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0063" y="2071688"/>
            <a:ext cx="8643937" cy="1839912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假设学校的数据库模式由一个</a:t>
            </a: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单一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的关系模式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  <a:cs typeface="Arial Unicode MS" pitchFamily="34" charset="-122"/>
              </a:rPr>
              <a:t>Student(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Arial Unicode MS" pitchFamily="34" charset="-122"/>
              </a:rPr>
              <a:t>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  <a:cs typeface="Arial Unicode MS" pitchFamily="34" charset="-122"/>
              </a:rPr>
              <a:t>Sno, Sdept, Sloc, Cno, Grade )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Arial Unicode MS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949746-F0BE-4BEA-8D99-3ABAA501A05A}"/>
              </a:ext>
            </a:extLst>
          </p:cNvPr>
          <p:cNvSpPr/>
          <p:nvPr/>
        </p:nvSpPr>
        <p:spPr>
          <a:xfrm>
            <a:off x="1214414" y="3929066"/>
            <a:ext cx="6929486" cy="203132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marL="514350" indent="-514350" eaLnBrk="1" hangingPunct="1">
              <a:lnSpc>
                <a:spcPct val="150000"/>
              </a:lnSpc>
              <a:defRPr/>
            </a:pPr>
            <a:r>
              <a:rPr lang="zh-CN" altLang="en-US" sz="2800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问题：</a:t>
            </a:r>
            <a:endParaRPr lang="en-US" altLang="zh-CN" sz="280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  <a:p>
            <a:pPr marL="971550" lvl="1" indent="-514350" eaLnBrk="1" hangingPunct="1">
              <a:lnSpc>
                <a:spcPct val="150000"/>
              </a:lnSpc>
              <a:buFontTx/>
              <a:buAutoNum type="arabicPeriod"/>
              <a:defRPr/>
            </a:pPr>
            <a:r>
              <a:rPr lang="en-US" altLang="zh-CN" sz="2800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Key?</a:t>
            </a:r>
          </a:p>
          <a:p>
            <a:pPr marL="971550" lvl="1" indent="-514350" eaLnBrk="1" hangingPunct="1">
              <a:lnSpc>
                <a:spcPct val="150000"/>
              </a:lnSpc>
              <a:buFontTx/>
              <a:buAutoNum type="arabicPeriod"/>
              <a:defRPr/>
            </a:pPr>
            <a:r>
              <a:rPr lang="zh-CN" altLang="en-US" sz="2800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这样设计好不好？为什么？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90138B2-4C58-4CEB-9447-FB415D7EC2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400">
                <a:latin typeface="黑体" panose="02010609060101010101" pitchFamily="49" charset="-122"/>
                <a:ea typeface="黑体" panose="02010609060101010101" pitchFamily="49" charset="-122"/>
              </a:rPr>
              <a:t>问题（</a:t>
            </a:r>
            <a:r>
              <a:rPr lang="en-US" altLang="zh-CN" sz="4400">
                <a:latin typeface="黑体" panose="02010609060101010101" pitchFamily="49" charset="-122"/>
                <a:ea typeface="黑体" panose="02010609060101010101" pitchFamily="49" charset="-122"/>
              </a:rPr>
              <a:t>1/2</a:t>
            </a:r>
            <a:r>
              <a:rPr lang="zh-CN" altLang="en-US" sz="440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4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A1CE506-BD7D-401F-A576-72E32585C3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2017713"/>
            <a:ext cx="8559800" cy="41148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插入异常</a:t>
            </a: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	假设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Sno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95102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Sdept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IS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Sloc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的学生还未选课，因课程号是主属性，因此该学生的信息无法插入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Sloc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删除异常</a:t>
            </a:r>
          </a:p>
          <a:p>
            <a:pPr lvl="1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 假定某个学生本来只选修了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号课程这一门课。现在因身体不适，他连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号课程也不选修了。因课程号是主属性，此操作将导致该学生信息的整个元组都要删除。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88DC570-A566-4D4E-8611-761ECA57FA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400">
                <a:latin typeface="黑体" panose="02010609060101010101" pitchFamily="49" charset="-122"/>
                <a:ea typeface="黑体" panose="02010609060101010101" pitchFamily="49" charset="-122"/>
              </a:rPr>
              <a:t>问题（</a:t>
            </a:r>
            <a:r>
              <a:rPr lang="en-US" altLang="zh-CN" sz="4400">
                <a:latin typeface="黑体" panose="02010609060101010101" pitchFamily="49" charset="-122"/>
                <a:ea typeface="黑体" panose="02010609060101010101" pitchFamily="49" charset="-122"/>
              </a:rPr>
              <a:t>2/2</a:t>
            </a:r>
            <a:r>
              <a:rPr lang="zh-CN" altLang="en-US" sz="440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4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D25CF2BC-5707-4A26-839A-86AF221C43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916113"/>
            <a:ext cx="8640763" cy="460851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(3)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数据冗余度大</a:t>
            </a:r>
          </a:p>
          <a:p>
            <a:pPr lvl="1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  如果一个学生选修了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门课程，那么他的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Sdept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Sloc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值就要重复存储了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次。</a:t>
            </a: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(4)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修改复杂</a:t>
            </a:r>
          </a:p>
          <a:p>
            <a:pPr lvl="1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  例如学生转系，在修改此学生元组的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Sdept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值的同时，还可能需要修改住处（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Sloc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）。如果这个学生选修了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门课，则必须无遗漏地修改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个元组中全部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Sdept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Sloc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信息。</a:t>
            </a:r>
          </a:p>
          <a:p>
            <a:pPr lvl="1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因此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SLC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不是一个好的关系模式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A22248D-2D09-4CEA-A0D1-78382B762C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关系模式举例－“问题模式”（续）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B64B88F-C9C1-4193-91B3-2171B207BF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785938"/>
            <a:ext cx="7753350" cy="32861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存在的问题：</a:t>
            </a:r>
          </a:p>
          <a:p>
            <a:pPr eaLnBrk="1" hangingPunct="1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⒈ 数据冗余太大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⒉ 更新异常（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Update Anomalies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⒊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插入异常（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Insertion Anomalies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⒋ 删除异常（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Deletion Anomalies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9AAE74-6C6C-46E0-80BD-DE6325440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5140325"/>
            <a:ext cx="885825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结论：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Student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关系模式不是一个好的模式。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	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一个“好”的关系模式应当不会发生插入异常、删除异常、更新异常，数据冗余应尽可能少。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A9488DA-419D-453C-9594-1946B74653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关系模式举例－“问题模式”（续）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01A746B-EF19-413E-AB64-54C5EDEC0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989138"/>
            <a:ext cx="885825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CN" altLang="en-US" sz="360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原因</a:t>
            </a:r>
            <a:endParaRPr lang="en-US" altLang="zh-CN" sz="3600">
              <a:latin typeface="黑体" panose="02010609060101010101" pitchFamily="49" charset="-122"/>
              <a:ea typeface="黑体" panose="02010609060101010101" pitchFamily="49" charset="-122"/>
              <a:sym typeface="Calibri" panose="020F0502020204030204" pitchFamily="34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由存在于模式中的某些数据依赖引起的。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解决方法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  <a:sym typeface="Calibri" panose="020F0502020204030204" pitchFamily="34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用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规范化理论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改造关系模式来消除其中不合适的数据依赖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505EAED-0C2A-4D85-9DFA-D62E7F786D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二、关系模式的形式化定义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39E0B39F-9CC2-488F-BEE0-1537032FEC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957388"/>
            <a:ext cx="7772400" cy="41148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关系模式由五部分组成，即它是一个五元组：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          </a:t>
            </a:r>
            <a:r>
              <a:rPr lang="en-US" altLang="zh-CN" sz="28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R(U, D, DOM, F)</a:t>
            </a: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：关系名</a:t>
            </a: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：组成该关系的属性名集合</a:t>
            </a: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：属性组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中属性所来自的域</a:t>
            </a: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DOM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：属性向域的映象集合</a:t>
            </a: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zh-CN" altLang="en-US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 属性间数据的依赖关系集合</a:t>
            </a:r>
            <a:endParaRPr lang="en-US" altLang="zh-CN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      P42</a:t>
            </a:r>
            <a:endParaRPr lang="en-US" altLang="zh-CN" sz="240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FFDEB14-E153-45F7-A0AE-F272B773D2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什么是数据依赖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72DA401-EA1E-4382-BD02-6441A767CF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143125"/>
            <a:ext cx="7523162" cy="2584450"/>
          </a:xfrm>
        </p:spPr>
        <p:txBody>
          <a:bodyPr/>
          <a:lstStyle/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数据依赖的类型很多，其中最重要的是：</a:t>
            </a:r>
          </a:p>
          <a:p>
            <a:pPr eaLnBrk="1" hangingPunct="1">
              <a:lnSpc>
                <a:spcPct val="160000"/>
              </a:lnSpc>
              <a:spcAft>
                <a:spcPct val="30000"/>
              </a:spcAft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函数依赖（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Functional Dependency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，简记为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FD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 eaLnBrk="1" hangingPunct="1">
              <a:lnSpc>
                <a:spcPct val="160000"/>
              </a:lnSpc>
              <a:spcAft>
                <a:spcPct val="30000"/>
              </a:spcAft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多值依赖（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Multi-valued Dependency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，简记为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MVD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141C6D1-CC03-4292-B13F-50589923C6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6.2.1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函数依赖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35544C3-E4EB-44F3-A0A1-822393CDE8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一、函数依赖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二、平凡函数依赖与非平凡函数依赖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三、完全函数依赖与部分函数依赖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四、传递函数依赖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992B649-8709-41DE-AA63-5B9409512B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一、函数依赖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4CA4683-07F3-4884-B6CA-B31CF3F60B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4375" y="1785938"/>
            <a:ext cx="8286750" cy="4857750"/>
          </a:xfrm>
        </p:spPr>
        <p:txBody>
          <a:bodyPr/>
          <a:lstStyle/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6.1  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R(U)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是一个属性集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上的关系模式，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的子集。 若对于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R(U)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一个可能的关系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中不可能存在两个元组在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上的属性值相等， 而在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上的属性值不等， 则称 “</a:t>
            </a:r>
            <a:r>
              <a:rPr lang="en-US" altLang="zh-CN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函数确定</a:t>
            </a:r>
            <a:r>
              <a:rPr lang="en-US" altLang="zh-CN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”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或  “</a:t>
            </a:r>
            <a:r>
              <a:rPr lang="en-US" altLang="zh-CN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函数依赖于</a:t>
            </a:r>
            <a:r>
              <a:rPr lang="en-US" altLang="zh-CN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，记作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X→Y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。 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即若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t1 and t2 in r(R),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t1[X]=t2[X]→t1[Y]=t2[Y]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E46CE51-0DFD-6E27-763C-015D93971AE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14425" y="38944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Which is true?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459515-0F25-AC60-D446-79FEE2F274B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06084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A  →  B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F0C191-6336-C59E-F6A7-3085E057978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291809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A  →  C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9126BEF-4153-5C95-9FE8-7E7B1323C09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377534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C  →  A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C1409BC-1127-AED0-EB99-C050AA2DAEC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463259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A  →  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2C7BB4-D6DA-C341-E273-D53EB34065F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125141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F17F6E-C366-B76E-8AAB-B94DE84F85C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2982391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5A9FCAD-E663-9450-2642-E9E8EDDDB4B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3839641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58E8000-90AD-E574-2EA1-56C5971B8BC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4696891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FDE190C-F7D3-5F63-D805-82B7169FEA78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A36F1EC-CE87-3B83-5753-347ADBCD7E0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829991" y="537321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/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  →  D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D2AD600-39A4-621E-08FC-227EA64D0275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 bwMode="auto">
          <a:xfrm>
            <a:off x="1115616" y="5437509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02047A3-532F-3C64-B076-000102FE616C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829991" y="609843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/>
              <a:t>AB</a:t>
            </a:r>
            <a:r>
              <a:rPr lang="en-US" altLang="zh-CN" sz="2800" b="1" dirty="0">
                <a:latin typeface="Times New Roman" panose="02020603050405020304" pitchFamily="18" charset="0"/>
              </a:rPr>
              <a:t>  →  D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7041C32-167B-6986-E881-4B3FD0151D74}"/>
              </a:ext>
            </a:extLst>
          </p:cNvPr>
          <p:cNvSpPr>
            <a:spLocks noChangeAspect="1"/>
          </p:cNvSpPr>
          <p:nvPr>
            <p:custDataLst>
              <p:tags r:id="rId15"/>
            </p:custDataLst>
          </p:nvPr>
        </p:nvSpPr>
        <p:spPr bwMode="auto">
          <a:xfrm>
            <a:off x="1115616" y="616272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26" name="Group 82">
            <a:extLst>
              <a:ext uri="{FF2B5EF4-FFF2-40B4-BE49-F238E27FC236}">
                <a16:creationId xmlns:a16="http://schemas.microsoft.com/office/drawing/2014/main" id="{620B537E-7A6A-0302-05CB-938FEBD7E0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8669380"/>
              </p:ext>
            </p:extLst>
          </p:nvPr>
        </p:nvGraphicFramePr>
        <p:xfrm>
          <a:off x="4851144" y="2061742"/>
          <a:ext cx="2736850" cy="3108348"/>
        </p:xfrm>
        <a:graphic>
          <a:graphicData uri="http://schemas.openxmlformats.org/drawingml/2006/table">
            <a:tbl>
              <a:tblPr/>
              <a:tblGrid>
                <a:gridCol w="684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a1</a:t>
                      </a: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b1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c1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d1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a1</a:t>
                      </a: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b2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c1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d2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a2</a:t>
                      </a: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b2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c2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d2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a2</a:t>
                      </a: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b3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c2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d3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a3</a:t>
                      </a: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b3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c2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d4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662837FB-610A-DE7A-C619-334119BA911D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855051E4-0637-E91B-9C3B-B1AA342CE5D1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312FBEEF-E0D1-DCC1-FDD8-80697ABEC318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A84D2CE7-7830-3B12-665E-F264EE0F8321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45500569-29B6-9703-F0E9-A4C328A54D7D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382808C-D51F-1E66-7D22-0097094DCE1F}"/>
              </a:ext>
            </a:extLst>
          </p:cNvPr>
          <p:cNvPicPr>
            <a:picLocks/>
          </p:cNvPicPr>
          <p:nvPr>
            <p:custDataLst>
              <p:tags r:id="rId17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80673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1D92331C-C58E-492F-925C-2418A7456A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函数依赖（续）</a:t>
            </a:r>
          </a:p>
        </p:txBody>
      </p:sp>
      <p:sp>
        <p:nvSpPr>
          <p:cNvPr id="22531" name="Rectangle 10">
            <a:extLst>
              <a:ext uri="{FF2B5EF4-FFF2-40B4-BE49-F238E27FC236}">
                <a16:creationId xmlns:a16="http://schemas.microsoft.com/office/drawing/2014/main" id="{455569A4-18D6-4579-9B9E-26E63D38E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1009650"/>
            <a:ext cx="10922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accent1"/>
              </a:buClr>
              <a:buSzPct val="90000"/>
              <a:buFont typeface="Monotype Sorts"/>
              <a:buNone/>
            </a:pPr>
            <a:endParaRPr lang="zh-CN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22532" name="Rectangle 11">
            <a:extLst>
              <a:ext uri="{FF2B5EF4-FFF2-40B4-BE49-F238E27FC236}">
                <a16:creationId xmlns:a16="http://schemas.microsoft.com/office/drawing/2014/main" id="{4D9ADA30-249F-4A89-AD11-4DC8070F6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1009650"/>
            <a:ext cx="10922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accent1"/>
              </a:buClr>
              <a:buSzPct val="90000"/>
              <a:buFont typeface="Monotype Sorts"/>
              <a:buNone/>
            </a:pPr>
            <a:endParaRPr lang="zh-CN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22533" name="Rectangle 12">
            <a:extLst>
              <a:ext uri="{FF2B5EF4-FFF2-40B4-BE49-F238E27FC236}">
                <a16:creationId xmlns:a16="http://schemas.microsoft.com/office/drawing/2014/main" id="{427A3EE5-F3E1-4A52-984B-54F172049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1009650"/>
            <a:ext cx="1093787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accent1"/>
              </a:buClr>
              <a:buSzPct val="90000"/>
              <a:buFont typeface="Monotype Sorts"/>
              <a:buNone/>
            </a:pPr>
            <a:endParaRPr lang="zh-CN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22534" name="Rectangle 13">
            <a:extLst>
              <a:ext uri="{FF2B5EF4-FFF2-40B4-BE49-F238E27FC236}">
                <a16:creationId xmlns:a16="http://schemas.microsoft.com/office/drawing/2014/main" id="{A69BFF41-9E17-4F04-BCC7-D36BFA11A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1009650"/>
            <a:ext cx="1093787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accent1"/>
              </a:buClr>
              <a:buSzPct val="90000"/>
              <a:buFont typeface="Monotype Sorts"/>
              <a:buNone/>
            </a:pPr>
            <a:endParaRPr lang="zh-CN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22535" name="Rectangle 14">
            <a:extLst>
              <a:ext uri="{FF2B5EF4-FFF2-40B4-BE49-F238E27FC236}">
                <a16:creationId xmlns:a16="http://schemas.microsoft.com/office/drawing/2014/main" id="{596E33AE-9AEF-4C10-BA55-5462EBC71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1009650"/>
            <a:ext cx="1093787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accent1"/>
              </a:buClr>
              <a:buSzPct val="90000"/>
              <a:buFont typeface="Monotype Sorts"/>
              <a:buNone/>
            </a:pPr>
            <a:endParaRPr lang="zh-CN" altLang="zh-CN" sz="2800" b="1">
              <a:latin typeface="Times New Roman" panose="02020603050405020304" pitchFamily="18" charset="0"/>
            </a:endParaRPr>
          </a:p>
        </p:txBody>
      </p:sp>
      <p:graphicFrame>
        <p:nvGraphicFramePr>
          <p:cNvPr id="26632" name="Group 8">
            <a:extLst>
              <a:ext uri="{FF2B5EF4-FFF2-40B4-BE49-F238E27FC236}">
                <a16:creationId xmlns:a16="http://schemas.microsoft.com/office/drawing/2014/main" id="{068E2591-F4C1-40CD-B315-3BF73CB20075}"/>
              </a:ext>
            </a:extLst>
          </p:cNvPr>
          <p:cNvGraphicFramePr>
            <a:graphicFrameLocks noGrp="1"/>
          </p:cNvGraphicFramePr>
          <p:nvPr/>
        </p:nvGraphicFramePr>
        <p:xfrm>
          <a:off x="684213" y="2419350"/>
          <a:ext cx="7632700" cy="3372724"/>
        </p:xfrm>
        <a:graphic>
          <a:graphicData uri="http://schemas.openxmlformats.org/drawingml/2006/table">
            <a:tbl>
              <a:tblPr/>
              <a:tblGrid>
                <a:gridCol w="15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7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2718"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Sno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Times New Roman" pitchFamily="18" charset="0"/>
                      </a:endParaRP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Sname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Ssex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Sage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Sdept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125"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>
                          <a:tab pos="269875" algn="l"/>
                          <a:tab pos="457200" algn="l"/>
                          <a:tab pos="571500" algn="l"/>
                        </a:tabLst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S1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 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sym typeface="Arial" pitchFamily="34" charset="0"/>
                      </a:endParaRP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张三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男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20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计算机系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125"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S1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李四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女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21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自动化系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125"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S3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王五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男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20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计算机系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125"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S4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赵六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男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21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计算机系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125"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S5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田七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>
                          <a:tab pos="269875" algn="r"/>
                          <a:tab pos="2636838" algn="ctr"/>
                          <a:tab pos="5273675" algn="r"/>
                        </a:tabLst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男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20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计算机系</a:t>
                      </a: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8506">
                <a:tc>
                  <a:txBody>
                    <a:bodyPr/>
                    <a:lstStyle/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Times New Roman" pitchFamily="18" charset="0"/>
                      </a:endParaRPr>
                    </a:p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Times New Roman" pitchFamily="18" charset="0"/>
                      </a:endParaRPr>
                    </a:p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sym typeface="Arial" pitchFamily="34" charset="0"/>
                      </a:endParaRP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Times New Roman" pitchFamily="18" charset="0"/>
                      </a:endParaRPr>
                    </a:p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Times New Roman" pitchFamily="18" charset="0"/>
                      </a:endParaRPr>
                    </a:p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sym typeface="Arial" pitchFamily="34" charset="0"/>
                      </a:endParaRP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Times New Roman" pitchFamily="18" charset="0"/>
                      </a:endParaRPr>
                    </a:p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Times New Roman" pitchFamily="18" charset="0"/>
                      </a:endParaRPr>
                    </a:p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sym typeface="Arial" pitchFamily="34" charset="0"/>
                      </a:endParaRP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Times New Roman" pitchFamily="18" charset="0"/>
                      </a:endParaRPr>
                    </a:p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Times New Roman" pitchFamily="18" charset="0"/>
                      </a:endParaRPr>
                    </a:p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sym typeface="Arial" pitchFamily="34" charset="0"/>
                      </a:endParaRP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Times New Roman" pitchFamily="18" charset="0"/>
                      </a:endParaRPr>
                    </a:p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Times New Roman" pitchFamily="18" charset="0"/>
                      </a:endParaRPr>
                    </a:p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sym typeface="Arial" pitchFamily="34" charset="0"/>
                      </a:endParaRPr>
                    </a:p>
                  </a:txBody>
                  <a:tcPr marT="45134" marB="451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586" name="Rectangle 77">
            <a:extLst>
              <a:ext uri="{FF2B5EF4-FFF2-40B4-BE49-F238E27FC236}">
                <a16:creationId xmlns:a16="http://schemas.microsoft.com/office/drawing/2014/main" id="{96AFBE3C-1D0E-425E-B978-8B7566F31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2997200"/>
            <a:ext cx="360363" cy="330200"/>
          </a:xfrm>
          <a:prstGeom prst="rect">
            <a:avLst/>
          </a:prstGeom>
          <a:noFill/>
          <a:ln w="25400">
            <a:solidFill>
              <a:srgbClr val="00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accent1"/>
              </a:buClr>
              <a:buSzPct val="90000"/>
              <a:buFont typeface="Monotype Sorts"/>
              <a:buNone/>
            </a:pPr>
            <a:endParaRPr lang="zh-CN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22587" name="Rectangle 78">
            <a:extLst>
              <a:ext uri="{FF2B5EF4-FFF2-40B4-BE49-F238E27FC236}">
                <a16:creationId xmlns:a16="http://schemas.microsoft.com/office/drawing/2014/main" id="{26873F7E-AF0C-42FF-80A2-8292FF52D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3429000"/>
            <a:ext cx="360363" cy="287338"/>
          </a:xfrm>
          <a:prstGeom prst="rect">
            <a:avLst/>
          </a:prstGeom>
          <a:noFill/>
          <a:ln w="25400">
            <a:solidFill>
              <a:srgbClr val="00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accent1"/>
              </a:buClr>
              <a:buSzPct val="90000"/>
              <a:buFont typeface="Monotype Sorts"/>
              <a:buNone/>
            </a:pPr>
            <a:endParaRPr lang="zh-CN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22588" name="Rectangle 79">
            <a:extLst>
              <a:ext uri="{FF2B5EF4-FFF2-40B4-BE49-F238E27FC236}">
                <a16:creationId xmlns:a16="http://schemas.microsoft.com/office/drawing/2014/main" id="{0597C53B-82C7-4B00-B539-BDA00F64B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0" y="2924175"/>
            <a:ext cx="1223963" cy="368300"/>
          </a:xfrm>
          <a:prstGeom prst="rect">
            <a:avLst/>
          </a:prstGeom>
          <a:noFill/>
          <a:ln w="25400">
            <a:solidFill>
              <a:srgbClr val="00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accent1"/>
              </a:buClr>
              <a:buSzPct val="90000"/>
              <a:buFont typeface="Monotype Sorts"/>
              <a:buNone/>
            </a:pPr>
            <a:endParaRPr lang="zh-CN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22589" name="Rectangle 80">
            <a:extLst>
              <a:ext uri="{FF2B5EF4-FFF2-40B4-BE49-F238E27FC236}">
                <a16:creationId xmlns:a16="http://schemas.microsoft.com/office/drawing/2014/main" id="{5A1D8B61-47AF-4EF2-A8E3-6AA419551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0" y="3429000"/>
            <a:ext cx="1223963" cy="290513"/>
          </a:xfrm>
          <a:prstGeom prst="rect">
            <a:avLst/>
          </a:prstGeom>
          <a:noFill/>
          <a:ln w="25400">
            <a:solidFill>
              <a:srgbClr val="00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accent1"/>
              </a:buClr>
              <a:buSzPct val="90000"/>
              <a:buFont typeface="Monotype Sorts"/>
              <a:buNone/>
            </a:pPr>
            <a:endParaRPr lang="zh-CN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26686" name="AutoShape 85">
            <a:extLst>
              <a:ext uri="{FF2B5EF4-FFF2-40B4-BE49-F238E27FC236}">
                <a16:creationId xmlns:a16="http://schemas.microsoft.com/office/drawing/2014/main" id="{50F4BBBD-4EB9-4EC2-B381-D88002D55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1514475"/>
            <a:ext cx="3598862" cy="641350"/>
          </a:xfrm>
          <a:prstGeom prst="wedgeRoundRectCallout">
            <a:avLst>
              <a:gd name="adj1" fmla="val -75477"/>
              <a:gd name="adj2" fmla="val 213588"/>
              <a:gd name="adj3" fmla="val 16667"/>
            </a:avLst>
          </a:prstGeom>
          <a:solidFill>
            <a:srgbClr val="FFFFCC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accent1"/>
              </a:buClr>
              <a:buSzPct val="90000"/>
              <a:buFont typeface="Monotype Sorts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违背了</a:t>
            </a:r>
            <a:r>
              <a:rPr lang="en-US" altLang="zh-CN" sz="2400" b="1">
                <a:latin typeface="Times New Roman" panose="02020603050405020304" pitchFamily="18" charset="0"/>
              </a:rPr>
              <a:t>Sno → Sname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86" grpId="0" bldLvl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内容占位符 3">
            <a:extLst>
              <a:ext uri="{FF2B5EF4-FFF2-40B4-BE49-F238E27FC236}">
                <a16:creationId xmlns:a16="http://schemas.microsoft.com/office/drawing/2014/main" id="{A65C2203-FC7A-492F-B3C2-AAD3D0D828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9000" y="765175"/>
            <a:ext cx="8147050" cy="6985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zh-CN" altLang="en-US"/>
              <a:t>由下面的关系表</a:t>
            </a:r>
            <a:r>
              <a:rPr lang="en-US" altLang="zh-CN"/>
              <a:t>, </a:t>
            </a:r>
            <a:r>
              <a:rPr lang="zh-CN" altLang="en-US"/>
              <a:t>能否得出</a:t>
            </a:r>
            <a:r>
              <a:rPr lang="en-US" altLang="zh-CN">
                <a:solidFill>
                  <a:srgbClr val="C00000"/>
                </a:solidFill>
              </a:rPr>
              <a:t>Sno → Sname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3555" name="Rectangle 8">
            <a:extLst>
              <a:ext uri="{FF2B5EF4-FFF2-40B4-BE49-F238E27FC236}">
                <a16:creationId xmlns:a16="http://schemas.microsoft.com/office/drawing/2014/main" id="{54D42B55-005E-46E0-BCC6-8AA15202F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1009650"/>
            <a:ext cx="10922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accent1"/>
              </a:buClr>
              <a:buSzPct val="90000"/>
              <a:buFont typeface="Monotype Sorts"/>
              <a:buNone/>
            </a:pPr>
            <a:endParaRPr lang="zh-CN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23556" name="Rectangle 9">
            <a:extLst>
              <a:ext uri="{FF2B5EF4-FFF2-40B4-BE49-F238E27FC236}">
                <a16:creationId xmlns:a16="http://schemas.microsoft.com/office/drawing/2014/main" id="{7340F96C-D91C-47ED-975D-39DEF9AAA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1009650"/>
            <a:ext cx="10922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accent1"/>
              </a:buClr>
              <a:buSzPct val="90000"/>
              <a:buFont typeface="Monotype Sorts"/>
              <a:buNone/>
            </a:pPr>
            <a:endParaRPr lang="zh-CN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23557" name="Rectangle 10">
            <a:extLst>
              <a:ext uri="{FF2B5EF4-FFF2-40B4-BE49-F238E27FC236}">
                <a16:creationId xmlns:a16="http://schemas.microsoft.com/office/drawing/2014/main" id="{4FBD4F35-6B18-43D6-84D0-F5CAC0543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1009650"/>
            <a:ext cx="1093787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accent1"/>
              </a:buClr>
              <a:buSzPct val="90000"/>
              <a:buFont typeface="Monotype Sorts"/>
              <a:buNone/>
            </a:pPr>
            <a:endParaRPr lang="zh-CN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23558" name="Rectangle 11">
            <a:extLst>
              <a:ext uri="{FF2B5EF4-FFF2-40B4-BE49-F238E27FC236}">
                <a16:creationId xmlns:a16="http://schemas.microsoft.com/office/drawing/2014/main" id="{D9BD4F96-9396-4DF4-873E-020A7EBFF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1009650"/>
            <a:ext cx="1093787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accent1"/>
              </a:buClr>
              <a:buSzPct val="90000"/>
              <a:buFont typeface="Monotype Sorts"/>
              <a:buNone/>
            </a:pPr>
            <a:endParaRPr lang="zh-CN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27706" name="AutoShape 81">
            <a:extLst>
              <a:ext uri="{FF2B5EF4-FFF2-40B4-BE49-F238E27FC236}">
                <a16:creationId xmlns:a16="http://schemas.microsoft.com/office/drawing/2014/main" id="{6C814E2B-B466-46E4-91BD-178669906404}"/>
              </a:ext>
            </a:extLst>
          </p:cNvPr>
          <p:cNvSpPr>
            <a:spLocks/>
          </p:cNvSpPr>
          <p:nvPr/>
        </p:nvSpPr>
        <p:spPr bwMode="auto">
          <a:xfrm>
            <a:off x="755650" y="5662613"/>
            <a:ext cx="7920038" cy="936625"/>
          </a:xfrm>
          <a:prstGeom prst="borderCallout1">
            <a:avLst>
              <a:gd name="adj1" fmla="val 87500"/>
              <a:gd name="adj2" fmla="val -991"/>
              <a:gd name="adj3" fmla="val -345657"/>
              <a:gd name="adj4" fmla="val -991"/>
            </a:avLst>
          </a:prstGeom>
          <a:gradFill rotWithShape="1">
            <a:gsLst>
              <a:gs pos="0">
                <a:srgbClr val="A8A8E2"/>
              </a:gs>
              <a:gs pos="34999">
                <a:srgbClr val="C3C3EA"/>
              </a:gs>
              <a:gs pos="100000">
                <a:srgbClr val="E6E6F8"/>
              </a:gs>
            </a:gsLst>
            <a:lin ang="5400000" scaled="1"/>
          </a:gradFill>
          <a:ln w="9525">
            <a:solidFill>
              <a:srgbClr val="2D2D8A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accent1"/>
              </a:buClr>
              <a:buSzPct val="90000"/>
              <a:buFont typeface="Monotype Sorts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函数依赖不是指关系模式</a:t>
            </a:r>
            <a:r>
              <a:rPr lang="en-US" altLang="zh-CN" sz="2400" b="1">
                <a:latin typeface="Times New Roman" panose="02020603050405020304" pitchFamily="18" charset="0"/>
              </a:rPr>
              <a:t>R</a:t>
            </a:r>
            <a:r>
              <a:rPr lang="zh-CN" altLang="en-US" sz="2400" b="1">
                <a:latin typeface="Times New Roman" panose="02020603050405020304" pitchFamily="18" charset="0"/>
              </a:rPr>
              <a:t>的某个或某些关系实例满足的约束条件，而是指</a:t>
            </a:r>
            <a:r>
              <a:rPr lang="en-US" altLang="zh-CN" sz="2400" b="1">
                <a:latin typeface="Times New Roman" panose="02020603050405020304" pitchFamily="18" charset="0"/>
              </a:rPr>
              <a:t>R</a:t>
            </a:r>
            <a:r>
              <a:rPr lang="zh-CN" altLang="en-US" sz="2400" b="1">
                <a:latin typeface="Times New Roman" panose="02020603050405020304" pitchFamily="18" charset="0"/>
              </a:rPr>
              <a:t>的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所有关系实例</a:t>
            </a:r>
            <a:r>
              <a:rPr lang="zh-CN" altLang="en-US" sz="2400" b="1">
                <a:latin typeface="Times New Roman" panose="02020603050405020304" pitchFamily="18" charset="0"/>
              </a:rPr>
              <a:t>均要满足的约束条件。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11" name="Group 8">
            <a:extLst>
              <a:ext uri="{FF2B5EF4-FFF2-40B4-BE49-F238E27FC236}">
                <a16:creationId xmlns:a16="http://schemas.microsoft.com/office/drawing/2014/main" id="{D31B6ABF-2EAB-424C-BD1A-2E9F5EE36846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2133600"/>
          <a:ext cx="7632700" cy="3366193"/>
        </p:xfrm>
        <a:graphic>
          <a:graphicData uri="http://schemas.openxmlformats.org/drawingml/2006/table">
            <a:tbl>
              <a:tblPr/>
              <a:tblGrid>
                <a:gridCol w="15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7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3835"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Sno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sym typeface="Times New Roman" pitchFamily="18" charset="0"/>
                      </a:endParaRP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Sname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Ssex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Sage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Sdept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sym typeface="Times New Roman" pitchFamily="18" charset="0"/>
                      </a:endParaRP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256"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>
                          <a:tab pos="269875" algn="l"/>
                          <a:tab pos="457200" algn="l"/>
                          <a:tab pos="571500" algn="l"/>
                        </a:tabLst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S1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 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张三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男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20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计算机系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256"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S2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李四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女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21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自动化系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256"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S3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王五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男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20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计算机系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256"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S4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赵六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男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21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计算机系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256"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S5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田七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>
                          <a:tab pos="269875" algn="r"/>
                          <a:tab pos="2636838" algn="ctr"/>
                          <a:tab pos="5273675" algn="r"/>
                        </a:tabLst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男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20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 typeface="Arial" pitchFamily="34" charset="0"/>
                        <a:buNone/>
                        <a:tabLst/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计算机系</a:t>
                      </a: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383">
                <a:tc>
                  <a:txBody>
                    <a:bodyPr/>
                    <a:lstStyle/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sym typeface="Times New Roman" pitchFamily="18" charset="0"/>
                      </a:endParaRPr>
                    </a:p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sym typeface="Times New Roman" pitchFamily="18" charset="0"/>
                      </a:endParaRPr>
                    </a:p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sym typeface="Arial" pitchFamily="34" charset="0"/>
                      </a:endParaRP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sym typeface="Times New Roman" pitchFamily="18" charset="0"/>
                      </a:endParaRPr>
                    </a:p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sym typeface="Times New Roman" pitchFamily="18" charset="0"/>
                      </a:endParaRPr>
                    </a:p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sym typeface="Arial" pitchFamily="34" charset="0"/>
                      </a:endParaRP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sym typeface="Times New Roman" pitchFamily="18" charset="0"/>
                      </a:endParaRPr>
                    </a:p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sym typeface="Times New Roman" pitchFamily="18" charset="0"/>
                      </a:endParaRPr>
                    </a:p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sym typeface="Arial" pitchFamily="34" charset="0"/>
                      </a:endParaRP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sym typeface="Times New Roman" pitchFamily="18" charset="0"/>
                      </a:endParaRPr>
                    </a:p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sym typeface="Times New Roman" pitchFamily="18" charset="0"/>
                      </a:endParaRPr>
                    </a:p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sym typeface="Arial" pitchFamily="34" charset="0"/>
                      </a:endParaRP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sym typeface="Times New Roman" pitchFamily="18" charset="0"/>
                      </a:endParaRPr>
                    </a:p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sym typeface="Times New Roman" pitchFamily="18" charset="0"/>
                      </a:endParaRPr>
                    </a:p>
                    <a:p>
                      <a:pPr marL="0" marR="0" lvl="0" indent="0" algn="l" defTabSz="0" rtl="0" eaLnBrk="1" fontAlgn="base" latinLnBrk="0" hangingPunct="1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sym typeface="Times New Roman" pitchFamily="18" charset="0"/>
                        </a:rPr>
                        <a:t>        .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sym typeface="Arial" pitchFamily="34" charset="0"/>
                      </a:endParaRPr>
                    </a:p>
                  </a:txBody>
                  <a:tcPr marT="45237" marB="452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7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0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1F661AA-3290-4620-9AD2-C3C7D1996E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函数依赖（续）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BC2CB73-DE6D-46E5-8A11-724E00004F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0125" y="2071688"/>
            <a:ext cx="77724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: Student(Sno, Sname, Ssex, Sage, Sdept)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假设不允许重名，则有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Sno → Ssex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     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Sno → Sage , Sno → Sdept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Sno </a:t>
            </a:r>
            <a:r>
              <a:rPr lang="en-US" altLang="zh-CN" sz="240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←→</a:t>
            </a:r>
            <a:r>
              <a:rPr lang="en-US" altLang="zh-CN" sz="24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Sname,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Sname → Ssex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Sname → Sage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Sname → Sdept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但</a:t>
            </a:r>
            <a:r>
              <a:rPr lang="en-US" altLang="zh-CN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Ssex →Sage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X→Y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，并且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Y→X, 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则记为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40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←→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不函数依赖于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X,  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则记为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X→Y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80" name="Line 4">
            <a:extLst>
              <a:ext uri="{FF2B5EF4-FFF2-40B4-BE49-F238E27FC236}">
                <a16:creationId xmlns:a16="http://schemas.microsoft.com/office/drawing/2014/main" id="{2158673F-78B1-451C-B61A-8E7FBE781E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7500" y="4643438"/>
            <a:ext cx="142875" cy="285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24581" name="Line 5">
            <a:extLst>
              <a:ext uri="{FF2B5EF4-FFF2-40B4-BE49-F238E27FC236}">
                <a16:creationId xmlns:a16="http://schemas.microsoft.com/office/drawing/2014/main" id="{09742234-A6F1-4C40-AA4C-2BACD9A5B9F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6375" y="6072188"/>
            <a:ext cx="214313" cy="2143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A5E2814-5F3B-4C92-B35F-0B9BF1D7A2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二、平凡函数依赖与非平凡函数依赖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D23523C-7501-4994-AC3F-EA8A82CBF5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000250"/>
            <a:ext cx="8305800" cy="41148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在关系模式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R(U)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中，对于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的子集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如果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X→Y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，但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Y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X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，则称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X→Y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zh-CN" altLang="en-US" sz="24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非平凡的函数依赖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X→Y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，但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Y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X,  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X→Y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zh-CN" altLang="en-US" sz="24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平凡的函数依赖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例：在关系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SC(Sno, Cno, Grade)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中，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     非平凡函数依赖：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(Sno, Cno) →</a:t>
            </a:r>
            <a:r>
              <a:rPr lang="en-US" altLang="zh-CN" sz="2400" baseline="460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Grade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平凡函数依赖：  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(Sno, Cno) →</a:t>
            </a:r>
            <a:r>
              <a:rPr lang="en-US" altLang="zh-CN" sz="2400" baseline="460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Sno 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                      (Sno, Cno) → Cno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28" name="Line 4">
            <a:extLst>
              <a:ext uri="{FF2B5EF4-FFF2-40B4-BE49-F238E27FC236}">
                <a16:creationId xmlns:a16="http://schemas.microsoft.com/office/drawing/2014/main" id="{FC880242-1D98-4599-98F2-8A79D9DD9F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1813" y="2714625"/>
            <a:ext cx="2286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3">
            <a:extLst>
              <a:ext uri="{FF2B5EF4-FFF2-40B4-BE49-F238E27FC236}">
                <a16:creationId xmlns:a16="http://schemas.microsoft.com/office/drawing/2014/main" id="{B00126DF-8F7B-4D52-8B90-BAEE41B58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Pct val="100000"/>
              <a:buFontTx/>
              <a:buNone/>
            </a:pPr>
            <a:r>
              <a:rPr lang="zh-CN" altLang="en-US" sz="1400" b="1">
                <a:solidFill>
                  <a:srgbClr val="9537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*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8675" name="文本框 4">
            <a:extLst>
              <a:ext uri="{FF2B5EF4-FFF2-40B4-BE49-F238E27FC236}">
                <a16:creationId xmlns:a16="http://schemas.microsoft.com/office/drawing/2014/main" id="{9A2D7550-80DE-4FBE-8F4E-52C0920B3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Pct val="100000"/>
              <a:buFontTx/>
              <a:buNone/>
            </a:pPr>
            <a:endParaRPr lang="zh-CN" altLang="zh-CN" sz="10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8676" name="Rectangle 1026">
            <a:extLst>
              <a:ext uri="{FF2B5EF4-FFF2-40B4-BE49-F238E27FC236}">
                <a16:creationId xmlns:a16="http://schemas.microsoft.com/office/drawing/2014/main" id="{5845F81D-0E4E-4C7D-A4B8-5F2AD24FC0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6650" y="617538"/>
            <a:ext cx="8043863" cy="1143000"/>
          </a:xfrm>
        </p:spPr>
        <p:txBody>
          <a:bodyPr/>
          <a:lstStyle/>
          <a:p>
            <a:r>
              <a:rPr lang="zh-CN" altLang="zh-CN" sz="3200">
                <a:sym typeface="微软雅黑" panose="020B0503020204020204" pitchFamily="34" charset="-122"/>
              </a:rPr>
              <a:t>平凡函数依赖与非平凡函数依赖（续）</a:t>
            </a:r>
          </a:p>
        </p:txBody>
      </p:sp>
      <p:sp>
        <p:nvSpPr>
          <p:cNvPr id="28677" name="Rectangle 1027">
            <a:extLst>
              <a:ext uri="{FF2B5EF4-FFF2-40B4-BE49-F238E27FC236}">
                <a16:creationId xmlns:a16="http://schemas.microsoft.com/office/drawing/2014/main" id="{548EE9C8-F902-4B86-8B7B-6D5DFB65F3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2133600"/>
            <a:ext cx="8280400" cy="41148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zh-CN" altLang="en-US">
                <a:sym typeface="Calibri" panose="020F0502020204030204" pitchFamily="34" charset="0"/>
              </a:rPr>
              <a:t>若</a:t>
            </a:r>
            <a:r>
              <a:rPr lang="en-US" altLang="zh-CN" i="1">
                <a:sym typeface="Calibri" panose="020F0502020204030204" pitchFamily="34" charset="0"/>
              </a:rPr>
              <a:t>X</a:t>
            </a:r>
            <a:r>
              <a:rPr lang="en-US" altLang="zh-CN">
                <a:sym typeface="Calibri" panose="020F0502020204030204" pitchFamily="34" charset="0"/>
              </a:rPr>
              <a:t>→</a:t>
            </a:r>
            <a:r>
              <a:rPr lang="en-US" altLang="zh-CN" i="1">
                <a:sym typeface="Calibri" panose="020F0502020204030204" pitchFamily="34" charset="0"/>
              </a:rPr>
              <a:t>Y</a:t>
            </a:r>
            <a:r>
              <a:rPr lang="zh-CN" altLang="en-US">
                <a:sym typeface="Calibri" panose="020F0502020204030204" pitchFamily="34" charset="0"/>
              </a:rPr>
              <a:t>，则</a:t>
            </a:r>
            <a:r>
              <a:rPr lang="en-US" altLang="zh-CN" i="1">
                <a:sym typeface="Calibri" panose="020F0502020204030204" pitchFamily="34" charset="0"/>
              </a:rPr>
              <a:t>X</a:t>
            </a:r>
            <a:r>
              <a:rPr lang="zh-CN" altLang="en-US">
                <a:sym typeface="Calibri" panose="020F0502020204030204" pitchFamily="34" charset="0"/>
              </a:rPr>
              <a:t>称为这个函数依赖的</a:t>
            </a:r>
            <a:r>
              <a:rPr lang="zh-CN" altLang="en-US">
                <a:solidFill>
                  <a:srgbClr val="FF00FF"/>
                </a:solidFill>
                <a:sym typeface="Calibri" panose="020F0502020204030204" pitchFamily="34" charset="0"/>
              </a:rPr>
              <a:t>决定因素</a:t>
            </a:r>
            <a:r>
              <a:rPr lang="zh-CN" altLang="en-US">
                <a:sym typeface="Calibri" panose="020F0502020204030204" pitchFamily="34" charset="0"/>
              </a:rPr>
              <a:t>（</a:t>
            </a:r>
            <a:r>
              <a:rPr lang="en-US" altLang="zh-CN">
                <a:sym typeface="Calibri" panose="020F0502020204030204" pitchFamily="34" charset="0"/>
              </a:rPr>
              <a:t>Determinant</a:t>
            </a:r>
            <a:r>
              <a:rPr lang="zh-CN" altLang="en-US">
                <a:sym typeface="Calibri" panose="020F0502020204030204" pitchFamily="34" charset="0"/>
              </a:rPr>
              <a:t>）。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F075606D-7191-44D4-9201-E4ECE02161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三、完全函数依赖与部分函数依赖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C9E559A9-5673-4544-B5B9-D1A40C2651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5813" y="1981200"/>
            <a:ext cx="8072437" cy="41148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6.2 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在关系模式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R(U)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中，如果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X→Y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，并且对于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的任何一个真子集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X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’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，都有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X’    Y,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lang="en-US" altLang="zh-CN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完全函数依赖于</a:t>
            </a:r>
            <a:r>
              <a:rPr lang="en-US" altLang="zh-CN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，记作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X </a:t>
            </a:r>
            <a:r>
              <a:rPr lang="zh-CN" altLang="en-US" sz="2800" baseline="46000">
                <a:latin typeface="黑体" panose="02010609060101010101" pitchFamily="49" charset="-122"/>
                <a:ea typeface="黑体" panose="02010609060101010101" pitchFamily="49" charset="-122"/>
              </a:rPr>
              <a:t>ｆ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。  </a:t>
            </a: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X→Y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，但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不完全函数依赖于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，则称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部分函数依赖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于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，记作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X   </a:t>
            </a:r>
            <a:r>
              <a:rPr lang="en-US" altLang="zh-CN" sz="2800" baseline="3000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 Y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00" name="Line 4">
            <a:extLst>
              <a:ext uri="{FF2B5EF4-FFF2-40B4-BE49-F238E27FC236}">
                <a16:creationId xmlns:a16="http://schemas.microsoft.com/office/drawing/2014/main" id="{F8418E03-A00E-4D98-B86E-3FD1266FC911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3750" y="2786063"/>
            <a:ext cx="3048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29701" name="Line 5">
            <a:extLst>
              <a:ext uri="{FF2B5EF4-FFF2-40B4-BE49-F238E27FC236}">
                <a16:creationId xmlns:a16="http://schemas.microsoft.com/office/drawing/2014/main" id="{98C6D0B2-3227-4339-874C-026DAB5124F7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3750" y="2928938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29702" name="Line 6">
            <a:extLst>
              <a:ext uri="{FF2B5EF4-FFF2-40B4-BE49-F238E27FC236}">
                <a16:creationId xmlns:a16="http://schemas.microsoft.com/office/drawing/2014/main" id="{FF0F7D2E-0014-4C5A-BE6D-2057DAFE96A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838" y="5300663"/>
            <a:ext cx="8207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29703" name="Line 7">
            <a:extLst>
              <a:ext uri="{FF2B5EF4-FFF2-40B4-BE49-F238E27FC236}">
                <a16:creationId xmlns:a16="http://schemas.microsoft.com/office/drawing/2014/main" id="{4615B25B-48D3-438F-9DA2-A4D2F93F06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2188" y="34290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>
            <a:extLst>
              <a:ext uri="{FF2B5EF4-FFF2-40B4-BE49-F238E27FC236}">
                <a16:creationId xmlns:a16="http://schemas.microsoft.com/office/drawing/2014/main" id="{DC2A7BD9-9349-4E99-AC38-3B3469F2C1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例子</a:t>
            </a:r>
          </a:p>
        </p:txBody>
      </p:sp>
      <p:sp>
        <p:nvSpPr>
          <p:cNvPr id="30723" name="内容占位符 2">
            <a:extLst>
              <a:ext uri="{FF2B5EF4-FFF2-40B4-BE49-F238E27FC236}">
                <a16:creationId xmlns:a16="http://schemas.microsoft.com/office/drawing/2014/main" id="{009264B3-B121-4B57-88E1-E526419CB1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(Sno,Cno) </a:t>
            </a:r>
            <a:r>
              <a:rPr lang="zh-CN" altLang="en-US" baseline="46000">
                <a:latin typeface="黑体" panose="02010609060101010101" pitchFamily="49" charset="-122"/>
                <a:ea typeface="黑体" panose="02010609060101010101" pitchFamily="49" charset="-122"/>
              </a:rPr>
              <a:t>ｆ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Grade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(Sno,Cno)   </a:t>
            </a:r>
            <a:r>
              <a:rPr lang="en-US" altLang="zh-CN" baseline="3000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 Sdept</a:t>
            </a:r>
          </a:p>
          <a:p>
            <a:endParaRPr lang="zh-CN" altLang="en-US"/>
          </a:p>
        </p:txBody>
      </p:sp>
      <p:sp>
        <p:nvSpPr>
          <p:cNvPr id="30724" name="Line 6">
            <a:extLst>
              <a:ext uri="{FF2B5EF4-FFF2-40B4-BE49-F238E27FC236}">
                <a16:creationId xmlns:a16="http://schemas.microsoft.com/office/drawing/2014/main" id="{550B2E65-9D5B-4BDA-B65B-F3BDF06487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2700" y="29972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30725" name="Line 6">
            <a:extLst>
              <a:ext uri="{FF2B5EF4-FFF2-40B4-BE49-F238E27FC236}">
                <a16:creationId xmlns:a16="http://schemas.microsoft.com/office/drawing/2014/main" id="{A710DF82-F3BA-44FA-8379-99E702F3AA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2500" y="23495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396BF34-21EF-4DE9-8AF7-C9077B6EBF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四、传递函数依赖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67E490B-57C4-4A12-9C13-BA6CB6514B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905000"/>
            <a:ext cx="77724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6.3 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在关系模式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R(U)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中，如果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X→Y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Y→Z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，且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Y 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Y→X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，则称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传递函数依赖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于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如果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Y→X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 即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X←→Y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直接依赖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于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在关系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Std(Sno, Sdept, Mname)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中，有：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Sno → Sdept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Sdept → Mname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 Mname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传递函数依赖于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Sno</a:t>
            </a:r>
          </a:p>
        </p:txBody>
      </p:sp>
      <p:sp>
        <p:nvSpPr>
          <p:cNvPr id="31748" name="Line 4">
            <a:extLst>
              <a:ext uri="{FF2B5EF4-FFF2-40B4-BE49-F238E27FC236}">
                <a16:creationId xmlns:a16="http://schemas.microsoft.com/office/drawing/2014/main" id="{7D156CEF-AD8E-4DA7-A62A-86510CCBBD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514600"/>
            <a:ext cx="2286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31749" name="Line 5">
            <a:extLst>
              <a:ext uri="{FF2B5EF4-FFF2-40B4-BE49-F238E27FC236}">
                <a16:creationId xmlns:a16="http://schemas.microsoft.com/office/drawing/2014/main" id="{3BC6D681-7333-49F9-803C-10C5632323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2438400"/>
            <a:ext cx="3048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A1A5D5EF-DF67-4A0D-AEA2-674218326F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6.2.2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91F820A3-C84F-4F26-9CF2-553AEA26BC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2938" y="1905000"/>
            <a:ext cx="8043862" cy="4114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6.4 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为关系模式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R&lt;U,F&gt;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中的属性或属性组合。若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K  </a:t>
            </a:r>
            <a:r>
              <a:rPr lang="zh-CN" altLang="en-US" sz="2800" baseline="46000">
                <a:latin typeface="黑体" panose="02010609060101010101" pitchFamily="49" charset="-122"/>
                <a:ea typeface="黑体" panose="02010609060101010101" pitchFamily="49" charset="-122"/>
              </a:rPr>
              <a:t>ｆ 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的一个</a:t>
            </a: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侯选码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Candidate Key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）。若关系模式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有多个候选码，则选定其中的一个做为</a:t>
            </a: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主码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Primary key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）。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主属性与非主属性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ALL KEY</a:t>
            </a:r>
          </a:p>
        </p:txBody>
      </p:sp>
      <p:sp>
        <p:nvSpPr>
          <p:cNvPr id="32772" name="Line 4">
            <a:extLst>
              <a:ext uri="{FF2B5EF4-FFF2-40B4-BE49-F238E27FC236}">
                <a16:creationId xmlns:a16="http://schemas.microsoft.com/office/drawing/2014/main" id="{52425440-5137-415C-8682-7E1A91D71B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1750" y="2928938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E41DF8C8-1020-4EB2-BA0E-65B1F79EEC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外部码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1B12FBD6-0F1F-4A90-92D3-DAE2F7D792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905000"/>
            <a:ext cx="7772400" cy="41148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6.5 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关系模式 </a:t>
            </a:r>
            <a:r>
              <a:rPr lang="en-US" altLang="zh-CN" i="1">
                <a:latin typeface="黑体" panose="02010609060101010101" pitchFamily="49" charset="-122"/>
                <a:ea typeface="黑体" panose="02010609060101010101" pitchFamily="49" charset="-122"/>
              </a:rPr>
              <a:t>R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中属性或属性组</a:t>
            </a:r>
            <a:r>
              <a:rPr lang="en-US" altLang="zh-CN" i="1">
                <a:latin typeface="黑体" panose="02010609060101010101" pitchFamily="49" charset="-122"/>
                <a:ea typeface="黑体" panose="02010609060101010101" pitchFamily="49" charset="-122"/>
              </a:rPr>
              <a:t>X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并非</a:t>
            </a:r>
            <a:r>
              <a:rPr lang="en-US" altLang="zh-CN" i="1">
                <a:latin typeface="黑体" panose="02010609060101010101" pitchFamily="49" charset="-122"/>
                <a:ea typeface="黑体" panose="02010609060101010101" pitchFamily="49" charset="-122"/>
              </a:rPr>
              <a:t>R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的码，但 </a:t>
            </a:r>
            <a:r>
              <a:rPr lang="en-US" altLang="zh-CN" i="1">
                <a:latin typeface="黑体" panose="02010609060101010101" pitchFamily="49" charset="-122"/>
                <a:ea typeface="黑体" panose="02010609060101010101" pitchFamily="49" charset="-122"/>
              </a:rPr>
              <a:t>X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是另一个关系模式的码，则称 </a:t>
            </a:r>
            <a:r>
              <a:rPr lang="en-US" altLang="zh-CN" i="1">
                <a:latin typeface="黑体" panose="02010609060101010101" pitchFamily="49" charset="-122"/>
                <a:ea typeface="黑体" panose="02010609060101010101" pitchFamily="49" charset="-122"/>
              </a:rPr>
              <a:t>X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i="1">
                <a:latin typeface="黑体" panose="02010609060101010101" pitchFamily="49" charset="-122"/>
                <a:ea typeface="黑体" panose="02010609060101010101" pitchFamily="49" charset="-122"/>
              </a:rPr>
              <a:t>R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外部码（</a:t>
            </a:r>
            <a:r>
              <a:rPr lang="en-US" altLang="zh-CN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Foreign key</a:t>
            </a:r>
            <a:r>
              <a:rPr lang="zh-CN" altLang="en-US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也称外码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主码和外部码一起提供了表示关系间联系的手段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70CCC6D2-87E6-4028-8D16-4D9CED83F1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关系模式举例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函数依赖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BC9BFDA0-A344-4C71-96EA-8982880A41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2938" y="2017713"/>
            <a:ext cx="8001000" cy="4114800"/>
          </a:xfrm>
        </p:spPr>
        <p:txBody>
          <a:bodyPr/>
          <a:lstStyle/>
          <a:p>
            <a:pPr marL="952500" indent="-952500" eaLnBrk="1" hangingPunct="1">
              <a:lnSpc>
                <a:spcPct val="110000"/>
              </a:lnSpc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学校数据库的语义：</a:t>
            </a:r>
          </a:p>
          <a:p>
            <a:pPr marL="900113" lvl="1" indent="-500063" eaLnBrk="1" hangingPunct="1">
              <a:lnSpc>
                <a:spcPct val="130000"/>
              </a:lnSpc>
              <a:spcAft>
                <a:spcPct val="30000"/>
              </a:spcAft>
              <a:buFont typeface="Tahoma" panose="020B0604030504040204" pitchFamily="34" charset="0"/>
              <a:buAutoNum type="arabicPeriod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一个系有若干学生， 一个学生只属于一个系；</a:t>
            </a:r>
          </a:p>
          <a:p>
            <a:pPr marL="900113" lvl="1" indent="-500063" eaLnBrk="1" hangingPunct="1">
              <a:lnSpc>
                <a:spcPct val="130000"/>
              </a:lnSpc>
              <a:spcAft>
                <a:spcPct val="30000"/>
              </a:spcAft>
              <a:buFont typeface="Tahoma" panose="020B0604030504040204" pitchFamily="34" charset="0"/>
              <a:buAutoNum type="arabicPeriod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一个系有特定的住宿位置；</a:t>
            </a:r>
          </a:p>
          <a:p>
            <a:pPr marL="900113" lvl="1" indent="-500063" eaLnBrk="1" hangingPunct="1">
              <a:lnSpc>
                <a:spcPct val="130000"/>
              </a:lnSpc>
              <a:spcAft>
                <a:spcPct val="30000"/>
              </a:spcAft>
              <a:buFont typeface="Tahoma" panose="020B0604030504040204" pitchFamily="34" charset="0"/>
              <a:buAutoNum type="arabicPeriod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一个学生可以选修多门课程， 每门课程有若干学生选修；</a:t>
            </a:r>
          </a:p>
          <a:p>
            <a:pPr marL="900113" lvl="1" indent="-500063" eaLnBrk="1" hangingPunct="1">
              <a:lnSpc>
                <a:spcPct val="130000"/>
              </a:lnSpc>
              <a:spcAft>
                <a:spcPct val="30000"/>
              </a:spcAft>
              <a:buFont typeface="Tahoma" panose="020B0604030504040204" pitchFamily="34" charset="0"/>
              <a:buAutoNum type="arabicPeriod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每个学生所学的每门课程都有一个成绩。</a:t>
            </a:r>
          </a:p>
          <a:p>
            <a:pPr marL="952500" indent="-952500" eaLnBrk="1" hangingPunct="1"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15759AE7-D714-46C9-A469-DAAC904A4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关系模式举例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函数依赖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续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1B08CA0-8322-42C6-8F06-F386E600B6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906588"/>
            <a:ext cx="843915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属性组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上的一组函数依赖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F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＝｛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Sno → Sdept,  Sdept → Sloc, 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               (Sno, Cno) → Grade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｝</a:t>
            </a:r>
          </a:p>
        </p:txBody>
      </p:sp>
      <p:grpSp>
        <p:nvGrpSpPr>
          <p:cNvPr id="35844" name="Group 4">
            <a:extLst>
              <a:ext uri="{FF2B5EF4-FFF2-40B4-BE49-F238E27FC236}">
                <a16:creationId xmlns:a16="http://schemas.microsoft.com/office/drawing/2014/main" id="{75EF9FCF-343B-4B1D-A0E2-FA4386E1F062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3641725"/>
            <a:ext cx="5715000" cy="2667000"/>
            <a:chOff x="3000" y="4872"/>
            <a:chExt cx="5580" cy="2028"/>
          </a:xfrm>
        </p:grpSpPr>
        <p:sp>
          <p:nvSpPr>
            <p:cNvPr id="35845" name="Rectangle 5">
              <a:extLst>
                <a:ext uri="{FF2B5EF4-FFF2-40B4-BE49-F238E27FC236}">
                  <a16:creationId xmlns:a16="http://schemas.microsoft.com/office/drawing/2014/main" id="{9D021789-177B-4A2B-B7BF-58DBAC297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0" y="4872"/>
              <a:ext cx="3600" cy="10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5846" name="Text Box 6">
              <a:extLst>
                <a:ext uri="{FF2B5EF4-FFF2-40B4-BE49-F238E27FC236}">
                  <a16:creationId xmlns:a16="http://schemas.microsoft.com/office/drawing/2014/main" id="{6060F20C-FE87-4D5C-8B3E-5A860D61E6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5184"/>
              <a:ext cx="108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latin typeface="Times New Roman" panose="02020603050405020304" pitchFamily="18" charset="0"/>
                </a:rPr>
                <a:t> </a:t>
              </a:r>
              <a:r>
                <a:rPr kumimoji="0" lang="en-US" altLang="zh-CN" sz="2400" b="1">
                  <a:latin typeface="Times New Roman" panose="02020603050405020304" pitchFamily="18" charset="0"/>
                </a:rPr>
                <a:t>Sno</a:t>
              </a:r>
              <a:endParaRPr kumimoji="0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5847" name="Text Box 7">
              <a:extLst>
                <a:ext uri="{FF2B5EF4-FFF2-40B4-BE49-F238E27FC236}">
                  <a16:creationId xmlns:a16="http://schemas.microsoft.com/office/drawing/2014/main" id="{D3884909-7495-42FF-9F92-E913DE6A6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0" y="5184"/>
              <a:ext cx="126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b="1">
                  <a:latin typeface="Times New Roman" panose="02020603050405020304" pitchFamily="18" charset="0"/>
                </a:rPr>
                <a:t>Cno</a:t>
              </a:r>
              <a:endParaRPr kumimoji="0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35848" name="Text Box 8">
              <a:extLst>
                <a:ext uri="{FF2B5EF4-FFF2-40B4-BE49-F238E27FC236}">
                  <a16:creationId xmlns:a16="http://schemas.microsoft.com/office/drawing/2014/main" id="{F8E3258B-703F-41ED-813C-AF8AADFC2B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6432"/>
              <a:ext cx="108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b="1">
                  <a:latin typeface="Times New Roman" panose="02020603050405020304" pitchFamily="18" charset="0"/>
                </a:rPr>
                <a:t>Sdept</a:t>
              </a:r>
              <a:endParaRPr kumimoji="0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5849" name="Text Box 9">
              <a:extLst>
                <a:ext uri="{FF2B5EF4-FFF2-40B4-BE49-F238E27FC236}">
                  <a16:creationId xmlns:a16="http://schemas.microsoft.com/office/drawing/2014/main" id="{856E029E-3E7B-4E98-957D-93A1FCA64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7" y="6432"/>
              <a:ext cx="126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b="1">
                  <a:latin typeface="Times New Roman" panose="02020603050405020304" pitchFamily="18" charset="0"/>
                </a:rPr>
                <a:t>Sloc</a:t>
              </a:r>
              <a:endParaRPr kumimoji="0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5850" name="Line 10">
              <a:extLst>
                <a:ext uri="{FF2B5EF4-FFF2-40B4-BE49-F238E27FC236}">
                  <a16:creationId xmlns:a16="http://schemas.microsoft.com/office/drawing/2014/main" id="{E65A8C06-63AA-4BA2-9EBC-128268F75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0" y="5652"/>
              <a:ext cx="0" cy="7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1" name="Line 11">
              <a:extLst>
                <a:ext uri="{FF2B5EF4-FFF2-40B4-BE49-F238E27FC236}">
                  <a16:creationId xmlns:a16="http://schemas.microsoft.com/office/drawing/2014/main" id="{D849F296-7D53-4481-94DF-52A1CEFAAE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7" y="6588"/>
              <a:ext cx="54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2" name="Text Box 12">
              <a:extLst>
                <a:ext uri="{FF2B5EF4-FFF2-40B4-BE49-F238E27FC236}">
                  <a16:creationId xmlns:a16="http://schemas.microsoft.com/office/drawing/2014/main" id="{AB174B4D-2388-4ECE-9F6F-9706EB614E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0" y="5112"/>
              <a:ext cx="126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b="1" dirty="0">
                  <a:latin typeface="Times New Roman" panose="02020603050405020304" pitchFamily="18" charset="0"/>
                </a:rPr>
                <a:t>Grade</a:t>
              </a:r>
              <a:endParaRPr kumimoji="0"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35853" name="Line 13">
              <a:extLst>
                <a:ext uri="{FF2B5EF4-FFF2-40B4-BE49-F238E27FC236}">
                  <a16:creationId xmlns:a16="http://schemas.microsoft.com/office/drawing/2014/main" id="{6456459E-E7D9-473B-8654-09130513A9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0" y="5340"/>
              <a:ext cx="7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995FD97F-437C-437B-9DA1-24DDF07250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关系模式举例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—”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问题模式”</a:t>
            </a:r>
            <a:endParaRPr lang="en-US" altLang="zh-CN" sz="3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609B76C0-5261-43CE-8F16-BA7EBD5ABF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2017713"/>
            <a:ext cx="8559800" cy="41148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插入异常</a:t>
            </a: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	假设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Sno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95102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Sdept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IS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Sloc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的学生还未选课，因课程号是主属性，因此该学生的信息无法插入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Sloc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删除异常</a:t>
            </a:r>
          </a:p>
          <a:p>
            <a:pPr lvl="1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  假定某个学生本来只选修了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号课程这一门课。现在因身体不适，他连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号课程也不选修了。因课程号是主属性，此操作将导致该学生信息的整个元组都要删除。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77A89FBA-5116-4894-97CC-2AFA3A1FCF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关系模式举例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—”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问题模式”</a:t>
            </a:r>
            <a:endParaRPr lang="en-US" altLang="zh-CN" sz="3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D62FAF8A-A678-432C-AA0A-1B4FCB428E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916113"/>
            <a:ext cx="8640763" cy="460851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(3)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数据冗余度大</a:t>
            </a:r>
          </a:p>
          <a:p>
            <a:pPr lvl="1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  如果一个学生选修了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门课程，那么他的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Sdept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Sloc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值就要重复存储了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次。</a:t>
            </a: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(4)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修改复杂</a:t>
            </a:r>
          </a:p>
          <a:p>
            <a:pPr lvl="1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  例如学生转系，在修改此学生元组的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Sdept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值的同时，还可能需要修改住处（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Sloc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）。如果这个学生选修了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门课，则必须无遗漏地修改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个元组中全部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Sdept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Sloc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信息。</a:t>
            </a:r>
          </a:p>
          <a:p>
            <a:pPr lvl="1" eaLnBrk="1" hangingPunct="1">
              <a:lnSpc>
                <a:spcPct val="120000"/>
              </a:lnSpc>
              <a:buClrTx/>
              <a:buFontTx/>
              <a:buNone/>
            </a:pP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因此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不是一个好的关系模式，是一个问题模式。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BEAC79D-6988-490E-B12F-42D62961E3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关系模式举例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—”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问题模式”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3B0CEE5-FBA6-4749-9F9D-7D5D2C83AC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600200"/>
            <a:ext cx="8083550" cy="449262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原因：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由存在于模式中的</a:t>
            </a: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某些数据依赖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引起的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解决方法：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分解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关系模式来消除其中不合适 的数据依赖。</a:t>
            </a: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规范化理论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正是用来改造关系模式，通过分解关系模式来消除其中不合适的数据依赖，以解决插入异常、删除异常、更新异常和数据冗余问题。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18FE0604-0691-4A19-8631-06D4B65633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规范化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641A11BF-D545-461D-A390-3D15B7A7AD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2017713"/>
            <a:ext cx="8486775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范式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是符合某一种级别的关系模式的集合。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关系数据库中的关系必须满足一定的要求。满足不同程度要求的为不同范式。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范式的种类：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			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第一范式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(1NF)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			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第二范式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(2NF)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			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第三范式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(3NF)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			BC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范式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(BCNF)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			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第四范式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(4NF)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			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第五范式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(5NF)</a:t>
            </a:r>
          </a:p>
        </p:txBody>
      </p:sp>
      <p:sp>
        <p:nvSpPr>
          <p:cNvPr id="24580" name="AutoShape 4">
            <a:extLst>
              <a:ext uri="{FF2B5EF4-FFF2-40B4-BE49-F238E27FC236}">
                <a16:creationId xmlns:a16="http://schemas.microsoft.com/office/drawing/2014/main" id="{6EDD64A9-4754-4C05-A9D1-EE2B31ACFE02}"/>
              </a:ext>
            </a:extLst>
          </p:cNvPr>
          <p:cNvSpPr>
            <a:spLocks/>
          </p:cNvSpPr>
          <p:nvPr/>
        </p:nvSpPr>
        <p:spPr bwMode="auto">
          <a:xfrm>
            <a:off x="1979613" y="4005263"/>
            <a:ext cx="304800" cy="2286000"/>
          </a:xfrm>
          <a:prstGeom prst="leftBrace">
            <a:avLst>
              <a:gd name="adj1" fmla="val 625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3155350E-88F2-48C0-96AC-58C5AC2C11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6.2.3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范式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D9ED1CC-5073-49D2-BE51-7469A7EEC8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2017713"/>
            <a:ext cx="8642350" cy="4114800"/>
          </a:xfrm>
        </p:spPr>
        <p:txBody>
          <a:bodyPr/>
          <a:lstStyle/>
          <a:p>
            <a:pPr eaLnBrk="1" hangingPunct="1"/>
            <a:r>
              <a:rPr lang="zh-CN" altLang="en-US" sz="3600">
                <a:latin typeface="黑体" panose="02010609060101010101" pitchFamily="49" charset="-122"/>
                <a:ea typeface="黑体" panose="02010609060101010101" pitchFamily="49" charset="-122"/>
              </a:rPr>
              <a:t>各种范式之间存在联系：</a:t>
            </a:r>
          </a:p>
          <a:p>
            <a:pPr eaLnBrk="1" hangingPunct="1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zh-CN" altLang="en-US" sz="36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某一关系模式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为第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范式，可简记为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R∈nNF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一个低一级范式的关系模式，通过模式分解可以转换为若干个高一级范式的关系模式的集合，这种过程就叫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规范化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（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normalization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）。</a:t>
            </a:r>
          </a:p>
          <a:p>
            <a:pPr eaLnBrk="1" hangingPunct="1"/>
            <a:endParaRPr lang="zh-CN" altLang="en-US" sz="3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0964" name="Object 4">
            <a:extLst>
              <a:ext uri="{FF2B5EF4-FFF2-40B4-BE49-F238E27FC236}">
                <a16:creationId xmlns:a16="http://schemas.microsoft.com/office/drawing/2014/main" id="{E4D5E901-837F-4CEF-878D-08CD84F8BA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2895600"/>
          <a:ext cx="72390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r:id="rId3" imgW="2870200" imgH="177800" progId="">
                  <p:embed/>
                </p:oleObj>
              </mc:Choice>
              <mc:Fallback>
                <p:oleObj r:id="rId3" imgW="2870200" imgH="1778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895600"/>
                        <a:ext cx="72390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BE6928C2-41BF-496D-9F7E-CFF1EBBF28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6.2.4  1NF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2CDBE82B-EA22-4494-948F-1FC5C3FA3A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2017713"/>
            <a:ext cx="8569325" cy="41148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1NF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的定义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	如果一个关系模式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的所有属性都是</a:t>
            </a: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不可分的基本数据项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R∈1NF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3FD714DC-67F2-4A57-B7B2-D0413BAC5F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2NF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414DED86-045A-4284-A4FF-DC6B3ADAC9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2017713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关系模式  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SLC(Sno, Sdept, Sloc, Cno, Grade)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函数依赖包括：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         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(Sno, Cno) </a:t>
            </a:r>
            <a:r>
              <a:rPr lang="en-US" altLang="zh-CN" sz="2800" baseline="30000"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 Grade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          Sno → Sdept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          (Sno, Cno)  </a:t>
            </a:r>
            <a:r>
              <a:rPr lang="en-US" altLang="zh-CN" sz="2800" baseline="3000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 Sdept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          Sno → Sloc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          (Sno, Cno) </a:t>
            </a:r>
            <a:r>
              <a:rPr lang="en-US" altLang="zh-CN" sz="2800" baseline="3000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  Sloc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          Sdept → Sloc</a:t>
            </a:r>
          </a:p>
        </p:txBody>
      </p:sp>
      <p:sp>
        <p:nvSpPr>
          <p:cNvPr id="43012" name="Line 4">
            <a:extLst>
              <a:ext uri="{FF2B5EF4-FFF2-40B4-BE49-F238E27FC236}">
                <a16:creationId xmlns:a16="http://schemas.microsoft.com/office/drawing/2014/main" id="{810909B1-B8C5-4EC1-9EA5-ED2877C03CD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6463" y="4071938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3013" name="Line 5">
            <a:extLst>
              <a:ext uri="{FF2B5EF4-FFF2-40B4-BE49-F238E27FC236}">
                <a16:creationId xmlns:a16="http://schemas.microsoft.com/office/drawing/2014/main" id="{44B9587D-177C-48CA-8482-8A4F604831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4929188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3014" name="Line 6">
            <a:extLst>
              <a:ext uri="{FF2B5EF4-FFF2-40B4-BE49-F238E27FC236}">
                <a16:creationId xmlns:a16="http://schemas.microsoft.com/office/drawing/2014/main" id="{165361ED-04DF-4B37-B2DF-C1E27DA1CB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6463" y="5786438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>
            <a:extLst>
              <a:ext uri="{FF2B5EF4-FFF2-40B4-BE49-F238E27FC236}">
                <a16:creationId xmlns:a16="http://schemas.microsoft.com/office/drawing/2014/main" id="{77A79EFE-716F-4455-8403-5DDB18791A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SLC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的码为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(Sno, Cno)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SLC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满足第一范式。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4035" name="Group 4">
            <a:extLst>
              <a:ext uri="{FF2B5EF4-FFF2-40B4-BE49-F238E27FC236}">
                <a16:creationId xmlns:a16="http://schemas.microsoft.com/office/drawing/2014/main" id="{3C6A31CC-7B68-4BEA-B3A2-156FD336A185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1600200"/>
            <a:ext cx="5715000" cy="3048000"/>
            <a:chOff x="1152" y="1248"/>
            <a:chExt cx="3600" cy="1920"/>
          </a:xfrm>
        </p:grpSpPr>
        <p:sp>
          <p:nvSpPr>
            <p:cNvPr id="44036" name="Rectangle 5">
              <a:extLst>
                <a:ext uri="{FF2B5EF4-FFF2-40B4-BE49-F238E27FC236}">
                  <a16:creationId xmlns:a16="http://schemas.microsoft.com/office/drawing/2014/main" id="{79C20033-F2B0-4ABA-B4BA-83EBC59B0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" y="1376"/>
              <a:ext cx="1157" cy="179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4037" name="Text Box 6">
              <a:extLst>
                <a:ext uri="{FF2B5EF4-FFF2-40B4-BE49-F238E27FC236}">
                  <a16:creationId xmlns:a16="http://schemas.microsoft.com/office/drawing/2014/main" id="{9B8D6A65-12BB-46CC-8933-A5C9E965DC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5" y="1632"/>
              <a:ext cx="643" cy="38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Sno</a:t>
              </a:r>
              <a:endParaRPr kumimoji="0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44038" name="Text Box 7">
              <a:extLst>
                <a:ext uri="{FF2B5EF4-FFF2-40B4-BE49-F238E27FC236}">
                  <a16:creationId xmlns:a16="http://schemas.microsoft.com/office/drawing/2014/main" id="{F8A5451D-ACC8-4E91-89C8-0E8C7E865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5" y="2528"/>
              <a:ext cx="643" cy="38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Cno</a:t>
              </a:r>
              <a:endParaRPr kumimoji="0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44039" name="Text Box 8">
              <a:extLst>
                <a:ext uri="{FF2B5EF4-FFF2-40B4-BE49-F238E27FC236}">
                  <a16:creationId xmlns:a16="http://schemas.microsoft.com/office/drawing/2014/main" id="{AB81B9A9-3F7D-4943-A01E-EE60F23114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1" y="2144"/>
              <a:ext cx="771" cy="38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Grade</a:t>
              </a:r>
            </a:p>
          </p:txBody>
        </p:sp>
        <p:sp>
          <p:nvSpPr>
            <p:cNvPr id="44040" name="Text Box 9">
              <a:extLst>
                <a:ext uri="{FF2B5EF4-FFF2-40B4-BE49-F238E27FC236}">
                  <a16:creationId xmlns:a16="http://schemas.microsoft.com/office/drawing/2014/main" id="{D8D99E23-A83E-4C74-AE47-2E2E9511D5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1" y="1632"/>
              <a:ext cx="771" cy="38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Sdept</a:t>
              </a:r>
              <a:endParaRPr kumimoji="0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44041" name="Text Box 10">
              <a:extLst>
                <a:ext uri="{FF2B5EF4-FFF2-40B4-BE49-F238E27FC236}">
                  <a16:creationId xmlns:a16="http://schemas.microsoft.com/office/drawing/2014/main" id="{D3F18E25-BEA1-4BD7-B48C-F27A309411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1" y="2528"/>
              <a:ext cx="771" cy="38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Sloc</a:t>
              </a:r>
              <a:endParaRPr kumimoji="0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44042" name="Line 11">
              <a:extLst>
                <a:ext uri="{FF2B5EF4-FFF2-40B4-BE49-F238E27FC236}">
                  <a16:creationId xmlns:a16="http://schemas.microsoft.com/office/drawing/2014/main" id="{1A713903-5C57-437A-9A8D-194FD8D0A9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2" y="2272"/>
              <a:ext cx="38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3" name="Line 12">
              <a:extLst>
                <a:ext uri="{FF2B5EF4-FFF2-40B4-BE49-F238E27FC236}">
                  <a16:creationId xmlns:a16="http://schemas.microsoft.com/office/drawing/2014/main" id="{A420B5AF-E08C-42CF-984E-6D65CB7158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8" y="1760"/>
              <a:ext cx="64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4" name="Line 13">
              <a:extLst>
                <a:ext uri="{FF2B5EF4-FFF2-40B4-BE49-F238E27FC236}">
                  <a16:creationId xmlns:a16="http://schemas.microsoft.com/office/drawing/2014/main" id="{7DCA67D2-FC4D-4DAA-8C01-D20F9CB397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8" y="1760"/>
              <a:ext cx="643" cy="89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5" name="Line 14">
              <a:extLst>
                <a:ext uri="{FF2B5EF4-FFF2-40B4-BE49-F238E27FC236}">
                  <a16:creationId xmlns:a16="http://schemas.microsoft.com/office/drawing/2014/main" id="{FF4C39B1-D014-437D-9A1D-C93A09870B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5" y="1888"/>
              <a:ext cx="386" cy="6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6" name="Line 15">
              <a:extLst>
                <a:ext uri="{FF2B5EF4-FFF2-40B4-BE49-F238E27FC236}">
                  <a16:creationId xmlns:a16="http://schemas.microsoft.com/office/drawing/2014/main" id="{DD942D51-6B48-4246-BD93-D5364C72C7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5" y="2528"/>
              <a:ext cx="386" cy="256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7" name="Line 16">
              <a:extLst>
                <a:ext uri="{FF2B5EF4-FFF2-40B4-BE49-F238E27FC236}">
                  <a16:creationId xmlns:a16="http://schemas.microsoft.com/office/drawing/2014/main" id="{2DCDDA4D-0E89-4781-84F0-764EB0E187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6" y="2016"/>
              <a:ext cx="0" cy="5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8" name="Text Box 17">
              <a:extLst>
                <a:ext uri="{FF2B5EF4-FFF2-40B4-BE49-F238E27FC236}">
                  <a16:creationId xmlns:a16="http://schemas.microsoft.com/office/drawing/2014/main" id="{47FD1FA5-ADC2-4281-BB5C-F42C1CF86B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248"/>
              <a:ext cx="771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SLC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3CDE9C96-CDB1-474E-9439-8FC5B401FF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2NF(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续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D4AA8EAE-4D22-407A-8FBC-1BD090AA63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2017713"/>
            <a:ext cx="8559800" cy="41148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插入异常</a:t>
            </a: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	假设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Sno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95102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Sdept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IS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Sloc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的学生还未选课，因课程号是主属性，因此该学生的信息无法插入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Sloc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删除异常</a:t>
            </a:r>
          </a:p>
          <a:p>
            <a:pPr lvl="1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 假定某个学生本来只选修了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号课程这一门课。现在因身体不适，他连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号课程也不选修了。因课程号是主属性，此操作将导致该学生信息的整个元组都要删除。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EF376D5-1726-423E-B131-82428A905B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2NF(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续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D7488184-B265-47FF-A77D-1894E10500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916113"/>
            <a:ext cx="8640763" cy="460851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(3)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数据冗余度大</a:t>
            </a:r>
          </a:p>
          <a:p>
            <a:pPr lvl="1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  如果一个学生选修了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门课程，那么他的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Sdept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Sloc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值就要重复存储了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次。</a:t>
            </a: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(4)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修改复杂</a:t>
            </a:r>
          </a:p>
          <a:p>
            <a:pPr lvl="1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  例如学生转系，在修改此学生元组的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Sdept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值的同时，还可能需要修改住处（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Sloc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）。如果这个学生选修了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门课，则必须无遗漏地修改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个元组中全部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Sdept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Sloc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信息。</a:t>
            </a:r>
          </a:p>
          <a:p>
            <a:pPr lvl="1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因此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SLC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不是一个好的关系模式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>
            <a:extLst>
              <a:ext uri="{FF2B5EF4-FFF2-40B4-BE49-F238E27FC236}">
                <a16:creationId xmlns:a16="http://schemas.microsoft.com/office/drawing/2014/main" id="{8922E3CD-15F6-407B-8524-093BBA933A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SLC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的码为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(Sno, Cno)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非主属性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Sdept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Sloc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部分函数依赖于码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(Sno, Cno)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7107" name="Group 4">
            <a:extLst>
              <a:ext uri="{FF2B5EF4-FFF2-40B4-BE49-F238E27FC236}">
                <a16:creationId xmlns:a16="http://schemas.microsoft.com/office/drawing/2014/main" id="{7ACF3E16-2D3B-47FD-9B19-881820E1B550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1803400"/>
            <a:ext cx="5715000" cy="2844800"/>
            <a:chOff x="1152" y="1376"/>
            <a:chExt cx="3600" cy="1792"/>
          </a:xfrm>
        </p:grpSpPr>
        <p:sp>
          <p:nvSpPr>
            <p:cNvPr id="47108" name="Rectangle 5">
              <a:extLst>
                <a:ext uri="{FF2B5EF4-FFF2-40B4-BE49-F238E27FC236}">
                  <a16:creationId xmlns:a16="http://schemas.microsoft.com/office/drawing/2014/main" id="{EBDD5C82-D42D-4C29-BD31-541C72F55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" y="1376"/>
              <a:ext cx="1157" cy="179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7109" name="Text Box 6">
              <a:extLst>
                <a:ext uri="{FF2B5EF4-FFF2-40B4-BE49-F238E27FC236}">
                  <a16:creationId xmlns:a16="http://schemas.microsoft.com/office/drawing/2014/main" id="{16939B12-30DB-42A2-9F4C-7E04F91CE0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5" y="1632"/>
              <a:ext cx="643" cy="38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Sno</a:t>
              </a:r>
              <a:endParaRPr kumimoji="0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47110" name="Text Box 7">
              <a:extLst>
                <a:ext uri="{FF2B5EF4-FFF2-40B4-BE49-F238E27FC236}">
                  <a16:creationId xmlns:a16="http://schemas.microsoft.com/office/drawing/2014/main" id="{1AAD9A15-3DF6-4504-8F48-891C15B85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5" y="2528"/>
              <a:ext cx="643" cy="38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Cno</a:t>
              </a:r>
              <a:endParaRPr kumimoji="0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47111" name="Text Box 8">
              <a:extLst>
                <a:ext uri="{FF2B5EF4-FFF2-40B4-BE49-F238E27FC236}">
                  <a16:creationId xmlns:a16="http://schemas.microsoft.com/office/drawing/2014/main" id="{C2F59A0B-D226-4B9A-91A6-4D255EBD0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1" y="2144"/>
              <a:ext cx="771" cy="38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Grade</a:t>
              </a:r>
            </a:p>
          </p:txBody>
        </p:sp>
        <p:sp>
          <p:nvSpPr>
            <p:cNvPr id="47112" name="Text Box 9">
              <a:extLst>
                <a:ext uri="{FF2B5EF4-FFF2-40B4-BE49-F238E27FC236}">
                  <a16:creationId xmlns:a16="http://schemas.microsoft.com/office/drawing/2014/main" id="{C0EE48E3-3BE5-4538-AEA4-099419E6EC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1" y="1632"/>
              <a:ext cx="771" cy="38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Sdept</a:t>
              </a:r>
              <a:endParaRPr kumimoji="0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47113" name="Text Box 10">
              <a:extLst>
                <a:ext uri="{FF2B5EF4-FFF2-40B4-BE49-F238E27FC236}">
                  <a16:creationId xmlns:a16="http://schemas.microsoft.com/office/drawing/2014/main" id="{D489DFC7-3A66-4C75-9330-2AEFF6E0EC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1" y="2528"/>
              <a:ext cx="771" cy="38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Sloc</a:t>
              </a:r>
              <a:endParaRPr kumimoji="0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47114" name="Line 11">
              <a:extLst>
                <a:ext uri="{FF2B5EF4-FFF2-40B4-BE49-F238E27FC236}">
                  <a16:creationId xmlns:a16="http://schemas.microsoft.com/office/drawing/2014/main" id="{0982A96E-1522-44DC-B151-52B3A75842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2" y="2272"/>
              <a:ext cx="38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5" name="Line 12">
              <a:extLst>
                <a:ext uri="{FF2B5EF4-FFF2-40B4-BE49-F238E27FC236}">
                  <a16:creationId xmlns:a16="http://schemas.microsoft.com/office/drawing/2014/main" id="{BCE17A9F-7B31-4F0E-91D2-9303F76790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8" y="1760"/>
              <a:ext cx="64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6" name="Line 13">
              <a:extLst>
                <a:ext uri="{FF2B5EF4-FFF2-40B4-BE49-F238E27FC236}">
                  <a16:creationId xmlns:a16="http://schemas.microsoft.com/office/drawing/2014/main" id="{658596EC-A631-4BD4-A397-C77E9CC941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8" y="1760"/>
              <a:ext cx="643" cy="89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7" name="Line 14">
              <a:extLst>
                <a:ext uri="{FF2B5EF4-FFF2-40B4-BE49-F238E27FC236}">
                  <a16:creationId xmlns:a16="http://schemas.microsoft.com/office/drawing/2014/main" id="{E3236973-1751-44D3-8494-EA196AD3EA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5" y="1888"/>
              <a:ext cx="386" cy="6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8" name="Line 15">
              <a:extLst>
                <a:ext uri="{FF2B5EF4-FFF2-40B4-BE49-F238E27FC236}">
                  <a16:creationId xmlns:a16="http://schemas.microsoft.com/office/drawing/2014/main" id="{7388510F-1D8C-41A0-B29F-AE4D9CC5F1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5" y="2528"/>
              <a:ext cx="386" cy="256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9" name="Line 16">
              <a:extLst>
                <a:ext uri="{FF2B5EF4-FFF2-40B4-BE49-F238E27FC236}">
                  <a16:creationId xmlns:a16="http://schemas.microsoft.com/office/drawing/2014/main" id="{EDCD4C5E-BA6C-4183-8888-325D4429B9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6" y="2016"/>
              <a:ext cx="0" cy="5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0" name="Text Box 17">
              <a:extLst>
                <a:ext uri="{FF2B5EF4-FFF2-40B4-BE49-F238E27FC236}">
                  <a16:creationId xmlns:a16="http://schemas.microsoft.com/office/drawing/2014/main" id="{79E5B3CD-E1C8-414D-9790-3D2B3692E4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517"/>
              <a:ext cx="771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SLC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F99E64A1-DC03-47E1-A2B5-60EDE0044D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2NF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90E000E-35A0-43AF-B450-2A05539632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978025"/>
            <a:ext cx="8559800" cy="4114800"/>
          </a:xfrm>
        </p:spPr>
        <p:txBody>
          <a:bodyPr/>
          <a:lstStyle/>
          <a:p>
            <a:pPr eaLnBrk="1" hangingPunct="1"/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原因：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有两类非主属性：</a:t>
            </a: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  <a:sym typeface="Calibri" panose="020F0502020204030204" pitchFamily="34" charset="0"/>
            </a:endParaRPr>
          </a:p>
          <a:p>
            <a:pPr lvl="2">
              <a:lnSpc>
                <a:spcPct val="125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一类如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Grade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，它对码完全函数依赖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  <a:sym typeface="Calibri" panose="020F0502020204030204" pitchFamily="34" charset="0"/>
            </a:endParaRPr>
          </a:p>
          <a:p>
            <a:pPr lvl="2">
              <a:lnSpc>
                <a:spcPct val="125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另一类如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Sdept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、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Sloc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，它们对码是部分函数依赖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解决方法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SLC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分解为两个关系模式，以消除这些部分函数依赖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			SC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Sno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Cno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Grade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			SL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Sno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Sdept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Sloc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0837ED0D-7A71-43E3-B820-D247DCE78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2NF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454610AC-4579-471E-B289-A5E1A8D249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600">
                <a:latin typeface="黑体" panose="02010609060101010101" pitchFamily="49" charset="-122"/>
                <a:ea typeface="黑体" panose="02010609060101010101" pitchFamily="49" charset="-122"/>
              </a:rPr>
              <a:t>函数依赖图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</p:txBody>
      </p:sp>
      <p:grpSp>
        <p:nvGrpSpPr>
          <p:cNvPr id="49156" name="Group 4">
            <a:extLst>
              <a:ext uri="{FF2B5EF4-FFF2-40B4-BE49-F238E27FC236}">
                <a16:creationId xmlns:a16="http://schemas.microsoft.com/office/drawing/2014/main" id="{049E22D6-7647-4372-BE00-6710EA31BC1D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352800"/>
            <a:ext cx="3352800" cy="1981200"/>
            <a:chOff x="720" y="2112"/>
            <a:chExt cx="2112" cy="1248"/>
          </a:xfrm>
        </p:grpSpPr>
        <p:sp>
          <p:nvSpPr>
            <p:cNvPr id="49165" name="Rectangle 5">
              <a:extLst>
                <a:ext uri="{FF2B5EF4-FFF2-40B4-BE49-F238E27FC236}">
                  <a16:creationId xmlns:a16="http://schemas.microsoft.com/office/drawing/2014/main" id="{90B3A8E4-8F4A-4DB9-B7F1-2F723C644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1" y="2112"/>
              <a:ext cx="1001" cy="124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9166" name="Text Box 6">
              <a:extLst>
                <a:ext uri="{FF2B5EF4-FFF2-40B4-BE49-F238E27FC236}">
                  <a16:creationId xmlns:a16="http://schemas.microsoft.com/office/drawing/2014/main" id="{7B92A960-6D43-419D-8D82-671DCA5A2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4" y="2290"/>
              <a:ext cx="556" cy="26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Sno</a:t>
              </a:r>
              <a:endParaRPr kumimoji="0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9167" name="Text Box 7">
              <a:extLst>
                <a:ext uri="{FF2B5EF4-FFF2-40B4-BE49-F238E27FC236}">
                  <a16:creationId xmlns:a16="http://schemas.microsoft.com/office/drawing/2014/main" id="{BA034ACD-B817-4CFB-9DA8-3BA37D79EB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4" y="2914"/>
              <a:ext cx="556" cy="26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b="1">
                  <a:latin typeface="Times New Roman" panose="02020603050405020304" pitchFamily="18" charset="0"/>
                </a:rPr>
                <a:t>Cno</a:t>
              </a:r>
            </a:p>
          </p:txBody>
        </p:sp>
        <p:sp>
          <p:nvSpPr>
            <p:cNvPr id="49168" name="Text Box 8">
              <a:extLst>
                <a:ext uri="{FF2B5EF4-FFF2-40B4-BE49-F238E27FC236}">
                  <a16:creationId xmlns:a16="http://schemas.microsoft.com/office/drawing/2014/main" id="{F3B1EE31-842C-4C07-9F1B-7BD5265568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" y="2647"/>
              <a:ext cx="666" cy="267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b="1">
                  <a:latin typeface="Times New Roman" panose="02020603050405020304" pitchFamily="18" charset="0"/>
                </a:rPr>
                <a:t>Grade</a:t>
              </a:r>
            </a:p>
          </p:txBody>
        </p:sp>
        <p:sp>
          <p:nvSpPr>
            <p:cNvPr id="49169" name="Line 9">
              <a:extLst>
                <a:ext uri="{FF2B5EF4-FFF2-40B4-BE49-F238E27FC236}">
                  <a16:creationId xmlns:a16="http://schemas.microsoft.com/office/drawing/2014/main" id="{1D98CBBE-EF94-489C-B7F2-3E029F07D0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98" y="2736"/>
              <a:ext cx="33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0" name="Text Box 10">
              <a:extLst>
                <a:ext uri="{FF2B5EF4-FFF2-40B4-BE49-F238E27FC236}">
                  <a16:creationId xmlns:a16="http://schemas.microsoft.com/office/drawing/2014/main" id="{FF59BF54-A7DD-44B2-9EAC-1CFCF6E1DF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112"/>
              <a:ext cx="556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SC</a:t>
              </a:r>
            </a:p>
          </p:txBody>
        </p:sp>
      </p:grpSp>
      <p:grpSp>
        <p:nvGrpSpPr>
          <p:cNvPr id="49157" name="Group 11">
            <a:extLst>
              <a:ext uri="{FF2B5EF4-FFF2-40B4-BE49-F238E27FC236}">
                <a16:creationId xmlns:a16="http://schemas.microsoft.com/office/drawing/2014/main" id="{719CE066-28B9-4B10-8D56-DF10EE6530D4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3048000"/>
            <a:ext cx="3124200" cy="2362200"/>
            <a:chOff x="3312" y="1920"/>
            <a:chExt cx="1968" cy="1488"/>
          </a:xfrm>
        </p:grpSpPr>
        <p:sp>
          <p:nvSpPr>
            <p:cNvPr id="49159" name="Text Box 12">
              <a:extLst>
                <a:ext uri="{FF2B5EF4-FFF2-40B4-BE49-F238E27FC236}">
                  <a16:creationId xmlns:a16="http://schemas.microsoft.com/office/drawing/2014/main" id="{A028CA0E-94C5-41E2-9F1E-A572094020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1920"/>
              <a:ext cx="695" cy="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SL</a:t>
              </a:r>
            </a:p>
          </p:txBody>
        </p:sp>
        <p:sp>
          <p:nvSpPr>
            <p:cNvPr id="49160" name="Text Box 13">
              <a:extLst>
                <a:ext uri="{FF2B5EF4-FFF2-40B4-BE49-F238E27FC236}">
                  <a16:creationId xmlns:a16="http://schemas.microsoft.com/office/drawing/2014/main" id="{116C02A6-80A7-4099-A596-10237B2CE6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8" y="2540"/>
              <a:ext cx="579" cy="37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Sno</a:t>
              </a:r>
              <a:endParaRPr kumimoji="0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9161" name="Text Box 14">
              <a:extLst>
                <a:ext uri="{FF2B5EF4-FFF2-40B4-BE49-F238E27FC236}">
                  <a16:creationId xmlns:a16="http://schemas.microsoft.com/office/drawing/2014/main" id="{B59F9553-339D-49A1-AE37-095FD5791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5" y="2168"/>
              <a:ext cx="695" cy="37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Sdept</a:t>
              </a:r>
              <a:endParaRPr kumimoji="0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9162" name="Text Box 15">
              <a:extLst>
                <a:ext uri="{FF2B5EF4-FFF2-40B4-BE49-F238E27FC236}">
                  <a16:creationId xmlns:a16="http://schemas.microsoft.com/office/drawing/2014/main" id="{B6DBAD1C-A65B-49D9-9F25-B3DE29707F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5" y="3036"/>
              <a:ext cx="695" cy="37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Sloc</a:t>
              </a:r>
              <a:endParaRPr kumimoji="0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9163" name="Line 16">
              <a:extLst>
                <a:ext uri="{FF2B5EF4-FFF2-40B4-BE49-F238E27FC236}">
                  <a16:creationId xmlns:a16="http://schemas.microsoft.com/office/drawing/2014/main" id="{12D15556-E5AF-4E8D-8B33-AA27CD4D25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7" y="2292"/>
              <a:ext cx="578" cy="3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4" name="Line 17">
              <a:extLst>
                <a:ext uri="{FF2B5EF4-FFF2-40B4-BE49-F238E27FC236}">
                  <a16:creationId xmlns:a16="http://schemas.microsoft.com/office/drawing/2014/main" id="{CFED74A8-773B-4723-A74A-36BBEE35D1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7" y="2788"/>
              <a:ext cx="578" cy="3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158" name="Line 18">
            <a:extLst>
              <a:ext uri="{FF2B5EF4-FFF2-40B4-BE49-F238E27FC236}">
                <a16:creationId xmlns:a16="http://schemas.microsoft.com/office/drawing/2014/main" id="{E4CB8655-E01A-4E6E-8C6B-969BFAFC5D5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8125" y="4032250"/>
            <a:ext cx="0" cy="787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84EACE99-80C8-42B1-86AE-977869D837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1563" y="571500"/>
            <a:ext cx="7793037" cy="1143000"/>
          </a:xfrm>
        </p:spPr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4000">
                <a:latin typeface="黑体" panose="02010609060101010101" pitchFamily="49" charset="-122"/>
                <a:ea typeface="黑体" panose="02010609060101010101" pitchFamily="49" charset="-122"/>
              </a:rPr>
              <a:t> 2NF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19B6C8C1-5906-42C3-B1F5-133277DEA8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4375" y="2017713"/>
            <a:ext cx="8240713" cy="4114800"/>
          </a:xfrm>
        </p:spPr>
        <p:txBody>
          <a:bodyPr/>
          <a:lstStyle/>
          <a:p>
            <a:pPr eaLnBrk="1" hangingPunct="1"/>
            <a:r>
              <a:rPr lang="en-US" altLang="zh-CN" sz="3600">
                <a:latin typeface="黑体" panose="02010609060101010101" pitchFamily="49" charset="-122"/>
                <a:ea typeface="黑体" panose="02010609060101010101" pitchFamily="49" charset="-122"/>
              </a:rPr>
              <a:t>2NF</a:t>
            </a:r>
            <a:r>
              <a:rPr lang="zh-CN" altLang="en-US" sz="3600">
                <a:latin typeface="黑体" panose="02010609060101010101" pitchFamily="49" charset="-122"/>
                <a:ea typeface="黑体" panose="02010609060101010101" pitchFamily="49" charset="-122"/>
              </a:rPr>
              <a:t>的定义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	定义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6.6 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若关系模式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R∈1NF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，并且每一个</a:t>
            </a:r>
            <a:r>
              <a:rPr lang="zh-CN" altLang="en-US" sz="280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非主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属性都</a:t>
            </a:r>
            <a:r>
              <a:rPr lang="zh-CN" altLang="en-US" sz="280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完全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函数依赖于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的码，则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R∈2NF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	例：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SLC(Sno, Sdept, Sloc, Cno, Grade) ∈1NF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     SLC(Sno, Sdept, Sloc, Cno, Grade) ∈2NF 		SC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Sno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Cno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Grade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） ∈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2NF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         	SL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Sno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Sdept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Sloc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） ∈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2NF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820" name="Line 4">
            <a:extLst>
              <a:ext uri="{FF2B5EF4-FFF2-40B4-BE49-F238E27FC236}">
                <a16:creationId xmlns:a16="http://schemas.microsoft.com/office/drawing/2014/main" id="{F5308956-9735-4BD9-AE46-47764539BCC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5143500"/>
            <a:ext cx="2286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2772AE7C-EAE3-4EE0-AC0D-C2C11051FD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2NF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（续）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948F3D70-5CA6-4D41-9BF5-553033953F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2017713"/>
            <a:ext cx="8704263" cy="20542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采用投影分解法将一个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1NF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的关系分解为多个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2NF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的关系，可以在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一定程度上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减轻原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1NF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关系中存在的插入异常、删除异常、数据冗余度大、修改复杂等问题。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FC2D20EE-EA3F-46D5-A0FE-C8BE692901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6.2.5  3NF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1929E49E-E256-4A01-95DF-9B25768741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2017713"/>
            <a:ext cx="8631238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2NF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关系模式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SL(Sno, Sdept, Sloc)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</a:p>
          <a:p>
            <a:pPr eaLnBrk="1" hangingPunct="1"/>
            <a:r>
              <a:rPr lang="zh-CN" altLang="en-US" sz="3600">
                <a:latin typeface="黑体" panose="02010609060101010101" pitchFamily="49" charset="-122"/>
                <a:ea typeface="黑体" panose="02010609060101010101" pitchFamily="49" charset="-122"/>
              </a:rPr>
              <a:t>函数依赖：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Sno→Sdept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         Sdept→Sloc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         Sno→Sloc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	Sloc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传递函数依赖于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Sno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，即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SL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中存在非主属性对码的传递函数依赖。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F44890AE-C89B-47D4-8692-DCC3889141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 3NF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93F574F0-1DA8-4C60-9D5C-2580C0CF11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600">
                <a:latin typeface="黑体" panose="02010609060101010101" pitchFamily="49" charset="-122"/>
                <a:ea typeface="黑体" panose="02010609060101010101" pitchFamily="49" charset="-122"/>
              </a:rPr>
              <a:t>函数依赖图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</p:txBody>
      </p:sp>
      <p:grpSp>
        <p:nvGrpSpPr>
          <p:cNvPr id="53252" name="Group 4">
            <a:extLst>
              <a:ext uri="{FF2B5EF4-FFF2-40B4-BE49-F238E27FC236}">
                <a16:creationId xmlns:a16="http://schemas.microsoft.com/office/drawing/2014/main" id="{E489ADC6-972E-49B8-B89C-58AE31A07BAD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048000"/>
            <a:ext cx="3124200" cy="2362200"/>
            <a:chOff x="3312" y="1920"/>
            <a:chExt cx="1968" cy="1488"/>
          </a:xfrm>
        </p:grpSpPr>
        <p:sp>
          <p:nvSpPr>
            <p:cNvPr id="53254" name="Text Box 5">
              <a:extLst>
                <a:ext uri="{FF2B5EF4-FFF2-40B4-BE49-F238E27FC236}">
                  <a16:creationId xmlns:a16="http://schemas.microsoft.com/office/drawing/2014/main" id="{785A3965-68B6-4E0E-A582-0C38A15A09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1920"/>
              <a:ext cx="695" cy="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SL</a:t>
              </a:r>
            </a:p>
          </p:txBody>
        </p:sp>
        <p:sp>
          <p:nvSpPr>
            <p:cNvPr id="53255" name="Text Box 6">
              <a:extLst>
                <a:ext uri="{FF2B5EF4-FFF2-40B4-BE49-F238E27FC236}">
                  <a16:creationId xmlns:a16="http://schemas.microsoft.com/office/drawing/2014/main" id="{2AB997BA-90DF-41A0-A79D-FB00E49A71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8" y="2540"/>
              <a:ext cx="579" cy="37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Sno</a:t>
              </a:r>
              <a:endParaRPr kumimoji="0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256" name="Text Box 7">
              <a:extLst>
                <a:ext uri="{FF2B5EF4-FFF2-40B4-BE49-F238E27FC236}">
                  <a16:creationId xmlns:a16="http://schemas.microsoft.com/office/drawing/2014/main" id="{52CE9B3E-ACC4-4196-98E3-4608AEF010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5" y="2168"/>
              <a:ext cx="695" cy="37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Sdept</a:t>
              </a:r>
              <a:endParaRPr kumimoji="0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257" name="Text Box 8">
              <a:extLst>
                <a:ext uri="{FF2B5EF4-FFF2-40B4-BE49-F238E27FC236}">
                  <a16:creationId xmlns:a16="http://schemas.microsoft.com/office/drawing/2014/main" id="{A602B9BE-0910-4048-9F36-7753D94098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5" y="3036"/>
              <a:ext cx="695" cy="37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Sloc</a:t>
              </a:r>
              <a:endParaRPr kumimoji="0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258" name="Line 9">
              <a:extLst>
                <a:ext uri="{FF2B5EF4-FFF2-40B4-BE49-F238E27FC236}">
                  <a16:creationId xmlns:a16="http://schemas.microsoft.com/office/drawing/2014/main" id="{C1E4D996-2A34-4798-961E-B5F88C411E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7" y="2292"/>
              <a:ext cx="578" cy="3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9" name="Line 10">
              <a:extLst>
                <a:ext uri="{FF2B5EF4-FFF2-40B4-BE49-F238E27FC236}">
                  <a16:creationId xmlns:a16="http://schemas.microsoft.com/office/drawing/2014/main" id="{7EA2247A-421D-403C-824E-323CFB060F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7" y="2788"/>
              <a:ext cx="578" cy="3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3253" name="Line 11">
            <a:extLst>
              <a:ext uri="{FF2B5EF4-FFF2-40B4-BE49-F238E27FC236}">
                <a16:creationId xmlns:a16="http://schemas.microsoft.com/office/drawing/2014/main" id="{3FFCCA78-AA41-4E8E-864D-08F437AC4C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038600"/>
            <a:ext cx="0" cy="787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124146C6-40CF-4EBD-BD89-4C0B4D6FA9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3NF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1F54FC4B-B884-440D-AA2A-BE3CD19F92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2017713"/>
            <a:ext cx="8704263" cy="41148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解决方法</a:t>
            </a: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  采用投影分解法，把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SL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分解为两个关系模式，以消除传递函数依赖：</a:t>
            </a: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           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SD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Sno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Sdept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           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DL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Sdept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Sloc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	SD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的码为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Sno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DL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的码为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Sdept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922FF076-4096-4373-8D7B-75E9117997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 3NF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9579F0E9-F837-4983-A112-0C94F08EB4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SD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的码为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Sno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DL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的码为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Sdept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pSp>
        <p:nvGrpSpPr>
          <p:cNvPr id="55300" name="Group 4">
            <a:extLst>
              <a:ext uri="{FF2B5EF4-FFF2-40B4-BE49-F238E27FC236}">
                <a16:creationId xmlns:a16="http://schemas.microsoft.com/office/drawing/2014/main" id="{64D97C2D-C929-4BAE-94B7-3AAD7E6CABDD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048000"/>
            <a:ext cx="6781800" cy="2057400"/>
            <a:chOff x="1056" y="1776"/>
            <a:chExt cx="4272" cy="1248"/>
          </a:xfrm>
        </p:grpSpPr>
        <p:sp>
          <p:nvSpPr>
            <p:cNvPr id="55301" name="Text Box 5">
              <a:extLst>
                <a:ext uri="{FF2B5EF4-FFF2-40B4-BE49-F238E27FC236}">
                  <a16:creationId xmlns:a16="http://schemas.microsoft.com/office/drawing/2014/main" id="{F9858757-3521-43E7-9EB2-E3670BC762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776"/>
              <a:ext cx="594" cy="46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Sno</a:t>
              </a:r>
            </a:p>
          </p:txBody>
        </p:sp>
        <p:sp>
          <p:nvSpPr>
            <p:cNvPr id="55302" name="Text Box 6">
              <a:extLst>
                <a:ext uri="{FF2B5EF4-FFF2-40B4-BE49-F238E27FC236}">
                  <a16:creationId xmlns:a16="http://schemas.microsoft.com/office/drawing/2014/main" id="{007A3D84-948B-4767-A9B8-C4688A4458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4" y="1776"/>
              <a:ext cx="712" cy="46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Sdept</a:t>
              </a:r>
              <a:endParaRPr kumimoji="0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55303" name="Line 7">
              <a:extLst>
                <a:ext uri="{FF2B5EF4-FFF2-40B4-BE49-F238E27FC236}">
                  <a16:creationId xmlns:a16="http://schemas.microsoft.com/office/drawing/2014/main" id="{A833C030-7962-4BB7-B6CD-DD04176B7F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0" y="1932"/>
              <a:ext cx="47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4" name="Text Box 8">
              <a:extLst>
                <a:ext uri="{FF2B5EF4-FFF2-40B4-BE49-F238E27FC236}">
                  <a16:creationId xmlns:a16="http://schemas.microsoft.com/office/drawing/2014/main" id="{30CDD8B5-8C90-47DA-82C2-F294BAD66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2556"/>
              <a:ext cx="474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SD</a:t>
              </a:r>
              <a:endParaRPr kumimoji="0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55305" name="Text Box 9">
              <a:extLst>
                <a:ext uri="{FF2B5EF4-FFF2-40B4-BE49-F238E27FC236}">
                  <a16:creationId xmlns:a16="http://schemas.microsoft.com/office/drawing/2014/main" id="{F404DE5F-3A76-4DC2-A31C-EC2B479A8E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0" y="1776"/>
              <a:ext cx="712" cy="46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Sdept</a:t>
              </a:r>
              <a:endParaRPr kumimoji="0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55306" name="Text Box 10">
              <a:extLst>
                <a:ext uri="{FF2B5EF4-FFF2-40B4-BE49-F238E27FC236}">
                  <a16:creationId xmlns:a16="http://schemas.microsoft.com/office/drawing/2014/main" id="{1582C2A3-89D9-44A2-93EB-063ECC7B98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4" y="1776"/>
              <a:ext cx="594" cy="46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Sloc</a:t>
              </a:r>
              <a:endParaRPr kumimoji="0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55307" name="Line 11">
              <a:extLst>
                <a:ext uri="{FF2B5EF4-FFF2-40B4-BE49-F238E27FC236}">
                  <a16:creationId xmlns:a16="http://schemas.microsoft.com/office/drawing/2014/main" id="{F8D526A3-0446-4C66-A5CF-21A4DBD34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1932"/>
              <a:ext cx="59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8" name="Text Box 12">
              <a:extLst>
                <a:ext uri="{FF2B5EF4-FFF2-40B4-BE49-F238E27FC236}">
                  <a16:creationId xmlns:a16="http://schemas.microsoft.com/office/drawing/2014/main" id="{9BD8BDBB-0198-4803-A528-6D5F0C4C11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0" y="2556"/>
              <a:ext cx="474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DL</a:t>
              </a:r>
              <a:endParaRPr kumimoji="0" lang="en-US" altLang="zh-CN" sz="2000" b="1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F24E8A2A-2BFC-4E20-8634-6C52DFB8C0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3NF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AF57C551-B1F0-4327-8073-A9C6E002F6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676400"/>
            <a:ext cx="7772400" cy="42672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3NF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的定义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	定义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6.8 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关系模式</a:t>
            </a:r>
            <a:r>
              <a:rPr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R&lt;U</a:t>
            </a:r>
            <a:r>
              <a:rPr lang="zh-CN" altLang="en-US" sz="2800" i="1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F&gt;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中若不存在这样的码</a:t>
            </a:r>
            <a:r>
              <a:rPr lang="en-US" altLang="zh-CN" sz="2800" i="1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、属性组</a:t>
            </a:r>
            <a:r>
              <a:rPr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及</a:t>
            </a:r>
            <a:r>
              <a:rPr lang="zh-CN" altLang="en-US" sz="280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非主属性</a:t>
            </a:r>
            <a:r>
              <a:rPr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lang="zh-CN" altLang="en-US" sz="2800" i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Z </a:t>
            </a:r>
            <a:r>
              <a:rPr lang="en-US" altLang="zh-CN" sz="2800">
                <a:sym typeface="宋体" panose="02010600030101010101" pitchFamily="2" charset="-122"/>
              </a:rPr>
              <a:t>⊇</a:t>
            </a:r>
            <a:r>
              <a:rPr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 Y</a:t>
            </a:r>
            <a:r>
              <a:rPr lang="zh-CN" altLang="en-US" sz="2800" i="1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使得</a:t>
            </a:r>
            <a:r>
              <a:rPr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→</a:t>
            </a:r>
            <a:r>
              <a:rPr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→ </a:t>
            </a:r>
            <a:r>
              <a:rPr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→</a:t>
            </a:r>
            <a:r>
              <a:rPr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，成立，则称</a:t>
            </a:r>
            <a:r>
              <a:rPr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R&lt;U</a:t>
            </a:r>
            <a:r>
              <a:rPr lang="zh-CN" altLang="en-US" sz="2800" i="1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F&gt;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∈ </a:t>
            </a:r>
            <a:r>
              <a:rPr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3NF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例，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SL(Sno, Sdept, Sloc) ∈ 2NF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		SL(Sno, Sdept, Sloc) ∈ 3NF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       SD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Sno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Sdept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） ∈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3NF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       DL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Sdept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Sloc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）∈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3NF</a:t>
            </a:r>
          </a:p>
        </p:txBody>
      </p:sp>
      <p:sp>
        <p:nvSpPr>
          <p:cNvPr id="56324" name="Line 4">
            <a:extLst>
              <a:ext uri="{FF2B5EF4-FFF2-40B4-BE49-F238E27FC236}">
                <a16:creationId xmlns:a16="http://schemas.microsoft.com/office/drawing/2014/main" id="{30F2B4C8-DB85-4842-B5F1-EE68232544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3688" y="2928938"/>
            <a:ext cx="3048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56325" name="Line 5">
            <a:extLst>
              <a:ext uri="{FF2B5EF4-FFF2-40B4-BE49-F238E27FC236}">
                <a16:creationId xmlns:a16="http://schemas.microsoft.com/office/drawing/2014/main" id="{26797820-D68C-40E4-907E-0E2E69F122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429000"/>
            <a:ext cx="247650" cy="3571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56326" name="Line 6">
            <a:extLst>
              <a:ext uri="{FF2B5EF4-FFF2-40B4-BE49-F238E27FC236}">
                <a16:creationId xmlns:a16="http://schemas.microsoft.com/office/drawing/2014/main" id="{C94D943B-75B0-4D23-A8C4-E9F952E7950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6438" y="5000625"/>
            <a:ext cx="22860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4189680F-FAC6-4778-80D3-388C33607E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3NF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DE1027DC-8AC0-42E3-B71C-72ED154C8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8153400" cy="41148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Aft>
                <a:spcPct val="30000"/>
              </a:spcAft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R∈3NF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的每一个</a:t>
            </a:r>
            <a:r>
              <a:rPr lang="zh-CN" altLang="en-US" sz="240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非主属性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既不部分函数依赖于候选码也不传递函数依赖于候选码。</a:t>
            </a:r>
          </a:p>
          <a:p>
            <a:pPr eaLnBrk="1" hangingPunct="1">
              <a:lnSpc>
                <a:spcPct val="140000"/>
              </a:lnSpc>
              <a:spcAft>
                <a:spcPct val="30000"/>
              </a:spcAft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如果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R∈3NF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也是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2NF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40000"/>
              </a:lnSpc>
              <a:spcAft>
                <a:spcPct val="30000"/>
              </a:spcAft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采用投影分解法将一个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2NF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的关系分解为多个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3NF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的关系，可以在</a:t>
            </a:r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一定程度上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解决原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2NF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关系中存在的插入异常、删除异常、数据冗余度大、修改复杂等问题。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将一个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2NF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关系分解为多个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3NF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的关系后，</a:t>
            </a:r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并不能完全消除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关系模式中的各种异常情况和数据冗余。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467127D0-B290-4C4B-9976-BC5AD4260B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6.2.6  BC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范式（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BCNF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D339FB76-841D-47A7-8BD5-C33C28E864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752600"/>
            <a:ext cx="8077200" cy="4114800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6.9  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设关系模式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R&lt;U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F&gt;∈</a:t>
            </a:r>
            <a:r>
              <a:rPr lang="en-US" altLang="zh-CN" sz="240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1NF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，如果对于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每个函数依赖</a:t>
            </a:r>
            <a:r>
              <a:rPr lang="en-US" altLang="zh-CN" sz="240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X→Y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，若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不属于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必含有候选码，那么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R∈BCNF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R∈BCNF 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每一个决定属性集（因素）都包含（候选）码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R∈3NF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R∈3NF   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则 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不一定∈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BCNF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AFE9EE1D-F0EE-4979-BEF4-D1ABBB489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 BCNF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D7EFF41F-3AA1-41EB-ACAE-C50B8F440B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772400" cy="4114800"/>
          </a:xfrm>
        </p:spPr>
        <p:txBody>
          <a:bodyPr/>
          <a:lstStyle/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例：在关系模式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STJ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）中，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表示学生，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表示教师，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表示课程。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每一教师只教一门课。每门课由若干教师教，某一学生选定某门课，就确定了一个固定的教师。某个学生选修某个教师的课就确定了所选课的名称 ：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             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(S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J)→T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(S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T)→J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T→J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3E123ACB-AE29-433D-9028-4A418341BF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6.2.6  BCNF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6302B2AF-C12E-4A3D-8773-BB5E64CE0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pSp>
        <p:nvGrpSpPr>
          <p:cNvPr id="61444" name="Group 4">
            <a:extLst>
              <a:ext uri="{FF2B5EF4-FFF2-40B4-BE49-F238E27FC236}">
                <a16:creationId xmlns:a16="http://schemas.microsoft.com/office/drawing/2014/main" id="{81C1EBD8-00B2-45B1-8A81-1E945875E5D5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2590800"/>
            <a:ext cx="4876800" cy="2971800"/>
            <a:chOff x="1392" y="1632"/>
            <a:chExt cx="3072" cy="1872"/>
          </a:xfrm>
        </p:grpSpPr>
        <p:sp>
          <p:nvSpPr>
            <p:cNvPr id="61445" name="Rectangle 5">
              <a:extLst>
                <a:ext uri="{FF2B5EF4-FFF2-40B4-BE49-F238E27FC236}">
                  <a16:creationId xmlns:a16="http://schemas.microsoft.com/office/drawing/2014/main" id="{C8144721-0D82-40C4-AF9E-6A9A066AB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632"/>
              <a:ext cx="591" cy="132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1446" name="Text Box 6">
              <a:extLst>
                <a:ext uri="{FF2B5EF4-FFF2-40B4-BE49-F238E27FC236}">
                  <a16:creationId xmlns:a16="http://schemas.microsoft.com/office/drawing/2014/main" id="{E9E84277-C526-448F-A30F-EDEA129DE6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0" y="1852"/>
              <a:ext cx="355" cy="33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61447" name="Text Box 7">
              <a:extLst>
                <a:ext uri="{FF2B5EF4-FFF2-40B4-BE49-F238E27FC236}">
                  <a16:creationId xmlns:a16="http://schemas.microsoft.com/office/drawing/2014/main" id="{1FE8E325-4D1E-4D93-9722-34B9D4608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0" y="2403"/>
              <a:ext cx="355" cy="33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61448" name="Text Box 8">
              <a:extLst>
                <a:ext uri="{FF2B5EF4-FFF2-40B4-BE49-F238E27FC236}">
                  <a16:creationId xmlns:a16="http://schemas.microsoft.com/office/drawing/2014/main" id="{5B9CB488-0940-4493-B514-2B32E5570F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9" y="2072"/>
              <a:ext cx="355" cy="33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61449" name="Line 9">
              <a:extLst>
                <a:ext uri="{FF2B5EF4-FFF2-40B4-BE49-F238E27FC236}">
                  <a16:creationId xmlns:a16="http://schemas.microsoft.com/office/drawing/2014/main" id="{9AD14681-5042-4BC8-B4AC-71649391BD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3" y="2183"/>
              <a:ext cx="23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0" name="Line 10">
              <a:extLst>
                <a:ext uri="{FF2B5EF4-FFF2-40B4-BE49-F238E27FC236}">
                  <a16:creationId xmlns:a16="http://schemas.microsoft.com/office/drawing/2014/main" id="{56C5BEAE-0A98-4BD1-B667-EE24C0E4A9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65" y="2293"/>
              <a:ext cx="354" cy="33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1" name="Rectangle 11">
              <a:extLst>
                <a:ext uri="{FF2B5EF4-FFF2-40B4-BE49-F238E27FC236}">
                  <a16:creationId xmlns:a16="http://schemas.microsoft.com/office/drawing/2014/main" id="{4127ADF2-E5E6-4EDB-B977-BAD8CAC01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2" y="1632"/>
              <a:ext cx="591" cy="132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1452" name="Text Box 12">
              <a:extLst>
                <a:ext uri="{FF2B5EF4-FFF2-40B4-BE49-F238E27FC236}">
                  <a16:creationId xmlns:a16="http://schemas.microsoft.com/office/drawing/2014/main" id="{33F84E2B-5DB7-4AF5-BB56-93D55C0B8D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1" y="1852"/>
              <a:ext cx="354" cy="33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61453" name="Text Box 13">
              <a:extLst>
                <a:ext uri="{FF2B5EF4-FFF2-40B4-BE49-F238E27FC236}">
                  <a16:creationId xmlns:a16="http://schemas.microsoft.com/office/drawing/2014/main" id="{0C0F8E13-C684-46C6-96AB-62634DDA14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1" y="2403"/>
              <a:ext cx="354" cy="33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61454" name="Text Box 14">
              <a:extLst>
                <a:ext uri="{FF2B5EF4-FFF2-40B4-BE49-F238E27FC236}">
                  <a16:creationId xmlns:a16="http://schemas.microsoft.com/office/drawing/2014/main" id="{A3E0985F-A439-49F4-AB96-E6BC4E1B1D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0" y="2072"/>
              <a:ext cx="354" cy="33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61455" name="Line 15">
              <a:extLst>
                <a:ext uri="{FF2B5EF4-FFF2-40B4-BE49-F238E27FC236}">
                  <a16:creationId xmlns:a16="http://schemas.microsoft.com/office/drawing/2014/main" id="{A10B4B4E-6E07-4332-938B-D904DC0C22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3" y="2183"/>
              <a:ext cx="23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6" name="Line 16">
              <a:extLst>
                <a:ext uri="{FF2B5EF4-FFF2-40B4-BE49-F238E27FC236}">
                  <a16:creationId xmlns:a16="http://schemas.microsoft.com/office/drawing/2014/main" id="{7F0351FD-62E1-4506-A2F6-BED2CBA5E8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55" y="2293"/>
              <a:ext cx="355" cy="33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7" name="Text Box 17">
              <a:extLst>
                <a:ext uri="{FF2B5EF4-FFF2-40B4-BE49-F238E27FC236}">
                  <a16:creationId xmlns:a16="http://schemas.microsoft.com/office/drawing/2014/main" id="{567BE151-23AD-4A09-9779-4EE1E95388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4" y="3174"/>
              <a:ext cx="59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STJ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C73D91DE-3480-4F82-84D1-3709F4731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BCNF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F2489132-6EC5-4851-BCB3-18A64B0AB0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600200"/>
            <a:ext cx="7772400" cy="4114800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STJ∈3NF </a:t>
            </a:r>
          </a:p>
          <a:p>
            <a:pPr algn="just" eaLnBrk="1" hangingPunct="1">
              <a:lnSpc>
                <a:spcPct val="140000"/>
              </a:lnSpc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(S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J)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(S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T)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都可以作为候选码 </a:t>
            </a:r>
          </a:p>
          <a:p>
            <a:pPr algn="just" eaLnBrk="1" hangingPunct="1">
              <a:lnSpc>
                <a:spcPct val="140000"/>
              </a:lnSpc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都是主属性</a:t>
            </a: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STJ∈BCNF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T→J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是决定属性集，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不是候选码</a:t>
            </a:r>
            <a:endParaRPr lang="zh-CN" altLang="en-US" sz="3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084" name="Line 4">
            <a:extLst>
              <a:ext uri="{FF2B5EF4-FFF2-40B4-BE49-F238E27FC236}">
                <a16:creationId xmlns:a16="http://schemas.microsoft.com/office/drawing/2014/main" id="{409640E5-D503-4354-ABA1-14848B095D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4114800"/>
            <a:ext cx="1524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1A9365E7-050B-4E98-B559-67CA74D574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BCNF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8FFD6781-C7A5-4067-A82D-D7E79E9E5D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77724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解决方法：将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STJ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分解为二个关系模式：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SJ(</a:t>
            </a:r>
            <a:r>
              <a:rPr lang="en-US" altLang="zh-CN" sz="2800" u="sng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800" u="sng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u="sng"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) ∈ BCNF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TJ(</a:t>
            </a:r>
            <a:r>
              <a:rPr lang="en-US" altLang="zh-CN" sz="2800" u="sng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J)∈ BCNF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没有</a:t>
            </a:r>
            <a:r>
              <a:rPr lang="zh-CN" altLang="en-US" sz="240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任何属性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对码的部分函数依赖和传递函数依赖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3492" name="Group 4">
            <a:extLst>
              <a:ext uri="{FF2B5EF4-FFF2-40B4-BE49-F238E27FC236}">
                <a16:creationId xmlns:a16="http://schemas.microsoft.com/office/drawing/2014/main" id="{48CA3C6C-5996-4445-8247-93A0A7D63E7F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3352800"/>
            <a:ext cx="6324600" cy="2239963"/>
            <a:chOff x="1008" y="1728"/>
            <a:chExt cx="3984" cy="1411"/>
          </a:xfrm>
        </p:grpSpPr>
        <p:sp>
          <p:nvSpPr>
            <p:cNvPr id="63493" name="Text Box 5">
              <a:extLst>
                <a:ext uri="{FF2B5EF4-FFF2-40B4-BE49-F238E27FC236}">
                  <a16:creationId xmlns:a16="http://schemas.microsoft.com/office/drawing/2014/main" id="{4A1AE1AB-DC97-477D-A495-A2CFB1A27B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1968"/>
              <a:ext cx="427" cy="43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63494" name="Text Box 6">
              <a:extLst>
                <a:ext uri="{FF2B5EF4-FFF2-40B4-BE49-F238E27FC236}">
                  <a16:creationId xmlns:a16="http://schemas.microsoft.com/office/drawing/2014/main" id="{C624A0DC-3926-453B-BAF8-F76B32D8E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1" y="1968"/>
              <a:ext cx="426" cy="43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63495" name="Text Box 7">
              <a:extLst>
                <a:ext uri="{FF2B5EF4-FFF2-40B4-BE49-F238E27FC236}">
                  <a16:creationId xmlns:a16="http://schemas.microsoft.com/office/drawing/2014/main" id="{86EF2300-ECE3-4C67-AF83-0C0BFEE17E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3" y="2700"/>
              <a:ext cx="568" cy="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b="1">
                  <a:latin typeface="Times New Roman" panose="02020603050405020304" pitchFamily="18" charset="0"/>
                </a:rPr>
                <a:t>SJ</a:t>
              </a:r>
            </a:p>
          </p:txBody>
        </p:sp>
        <p:sp>
          <p:nvSpPr>
            <p:cNvPr id="63496" name="Text Box 8">
              <a:extLst>
                <a:ext uri="{FF2B5EF4-FFF2-40B4-BE49-F238E27FC236}">
                  <a16:creationId xmlns:a16="http://schemas.microsoft.com/office/drawing/2014/main" id="{03243312-1244-4788-AC2E-265818838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8" y="1968"/>
              <a:ext cx="427" cy="43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63497" name="Text Box 9">
              <a:extLst>
                <a:ext uri="{FF2B5EF4-FFF2-40B4-BE49-F238E27FC236}">
                  <a16:creationId xmlns:a16="http://schemas.microsoft.com/office/drawing/2014/main" id="{73CFD763-A95E-47F7-9A64-FCBFAB6772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5" y="1968"/>
              <a:ext cx="427" cy="43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800" b="1"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63498" name="Line 10">
              <a:extLst>
                <a:ext uri="{FF2B5EF4-FFF2-40B4-BE49-F238E27FC236}">
                  <a16:creationId xmlns:a16="http://schemas.microsoft.com/office/drawing/2014/main" id="{35B781D0-8459-4C7A-8D7D-0F977AD473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5" y="2114"/>
              <a:ext cx="710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99" name="Text Box 11">
              <a:extLst>
                <a:ext uri="{FF2B5EF4-FFF2-40B4-BE49-F238E27FC236}">
                  <a16:creationId xmlns:a16="http://schemas.microsoft.com/office/drawing/2014/main" id="{87510104-6623-43CA-A77A-D18AE89EEE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7" y="2700"/>
              <a:ext cx="568" cy="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b="1">
                  <a:latin typeface="Times New Roman" panose="02020603050405020304" pitchFamily="18" charset="0"/>
                </a:rPr>
                <a:t>TJ</a:t>
              </a:r>
            </a:p>
          </p:txBody>
        </p:sp>
        <p:sp>
          <p:nvSpPr>
            <p:cNvPr id="63500" name="Rectangle 12">
              <a:extLst>
                <a:ext uri="{FF2B5EF4-FFF2-40B4-BE49-F238E27FC236}">
                  <a16:creationId xmlns:a16="http://schemas.microsoft.com/office/drawing/2014/main" id="{7BCAD048-CFE3-4F48-A1B1-000DF7D6F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728"/>
              <a:ext cx="1872" cy="86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A7A1F681-7787-4206-B2CB-23933F0BDF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3NF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BCNF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的关系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1433CFD9-47C7-4C95-A55A-2FBED9F914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1563" y="2143125"/>
            <a:ext cx="7772400" cy="41148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如果关系模式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R∈BCNF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   必定有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R∈3NF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如果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R∈3NF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，且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只有一个候选码，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   则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必属于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BCNF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440A9A1C-997D-46CB-A36C-A4060E0380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BCNF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的关系模式所具有的性质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2DD72682-82B9-457F-83F2-8F54684E8F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828800"/>
            <a:ext cx="8153400" cy="4114800"/>
          </a:xfrm>
        </p:spPr>
        <p:txBody>
          <a:bodyPr/>
          <a:lstStyle/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⒈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所有</a:t>
            </a:r>
            <a:r>
              <a:rPr lang="zh-CN" altLang="en-US" sz="280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非主属性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都完全函数依赖于每个候选码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⒉ 所有</a:t>
            </a:r>
            <a:r>
              <a:rPr lang="zh-CN" altLang="en-US" sz="280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主属性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都完全函数依赖于每个不包含它的候选码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⒊ 没有任何属性完全函数依赖于</a:t>
            </a:r>
            <a:r>
              <a:rPr lang="zh-CN" altLang="en-US" sz="280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非码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的任何一组属性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F19A6AFA-54E3-40E4-B299-24BE9BB5D1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/>
              <a:t>6.2.7 </a:t>
            </a:r>
            <a:r>
              <a:rPr lang="zh-CN" altLang="en-US" sz="3200"/>
              <a:t>多值依赖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7D510844-117D-4F4E-AD81-D377EB462B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844675"/>
            <a:ext cx="8059738" cy="4114800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/>
              <a:t>例</a:t>
            </a:r>
            <a:r>
              <a:rPr lang="en-US" altLang="zh-CN"/>
              <a:t>: </a:t>
            </a:r>
            <a:r>
              <a:rPr lang="zh-CN" altLang="en-US"/>
              <a:t>学校中某一门课程由多个教师讲授，他们使用相同的一套参考书。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/>
              <a:t>	关系模式</a:t>
            </a:r>
            <a:r>
              <a:rPr lang="en-US" altLang="zh-CN"/>
              <a:t>Teaching(C, T, B)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/>
              <a:t>  </a:t>
            </a:r>
            <a:r>
              <a:rPr lang="zh-CN" altLang="en-US"/>
              <a:t>课程</a:t>
            </a:r>
            <a:r>
              <a:rPr lang="en-US" altLang="zh-CN"/>
              <a:t>C</a:t>
            </a:r>
            <a:r>
              <a:rPr lang="zh-CN" altLang="en-US"/>
              <a:t>、教师</a:t>
            </a:r>
            <a:r>
              <a:rPr lang="en-US" altLang="zh-CN"/>
              <a:t>T </a:t>
            </a:r>
            <a:r>
              <a:rPr lang="zh-CN" altLang="en-US"/>
              <a:t>和 参考书</a:t>
            </a:r>
            <a:r>
              <a:rPr lang="en-US" altLang="zh-CN"/>
              <a:t>B</a:t>
            </a:r>
            <a:endParaRPr lang="en-US" altLang="zh-CN" sz="36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>
            <a:extLst>
              <a:ext uri="{FF2B5EF4-FFF2-40B4-BE49-F238E27FC236}">
                <a16:creationId xmlns:a16="http://schemas.microsoft.com/office/drawing/2014/main" id="{19497C2F-C281-499C-B9C4-47365DB7B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2088" y="57150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…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6000">
              <a:latin typeface="Times New Roman" panose="02020603050405020304" pitchFamily="18" charset="0"/>
            </a:endParaRPr>
          </a:p>
        </p:txBody>
      </p:sp>
      <p:sp>
        <p:nvSpPr>
          <p:cNvPr id="69635" name="Text Box 3">
            <a:extLst>
              <a:ext uri="{FF2B5EF4-FFF2-40B4-BE49-F238E27FC236}">
                <a16:creationId xmlns:a16="http://schemas.microsoft.com/office/drawing/2014/main" id="{FC7255C1-8E81-4AAF-9942-282C4443F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288" y="5638800"/>
            <a:ext cx="733425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…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6000">
              <a:latin typeface="Times New Roman" panose="02020603050405020304" pitchFamily="18" charset="0"/>
            </a:endParaRPr>
          </a:p>
        </p:txBody>
      </p:sp>
      <p:sp>
        <p:nvSpPr>
          <p:cNvPr id="69636" name="Text Box 4">
            <a:extLst>
              <a:ext uri="{FF2B5EF4-FFF2-40B4-BE49-F238E27FC236}">
                <a16:creationId xmlns:a16="http://schemas.microsoft.com/office/drawing/2014/main" id="{C8C512A6-9CC6-4638-84B3-9FE8EFA32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6248400"/>
            <a:ext cx="609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…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69637" name="Group 5">
            <a:extLst>
              <a:ext uri="{FF2B5EF4-FFF2-40B4-BE49-F238E27FC236}">
                <a16:creationId xmlns:a16="http://schemas.microsoft.com/office/drawing/2014/main" id="{1DF043A9-0777-42E1-B924-EF48B2AF4A94}"/>
              </a:ext>
            </a:extLst>
          </p:cNvPr>
          <p:cNvGrpSpPr>
            <a:grpSpLocks/>
          </p:cNvGrpSpPr>
          <p:nvPr/>
        </p:nvGrpSpPr>
        <p:grpSpPr bwMode="auto">
          <a:xfrm>
            <a:off x="3773488" y="2743200"/>
            <a:ext cx="685800" cy="533400"/>
            <a:chOff x="4266" y="7241"/>
            <a:chExt cx="644" cy="345"/>
          </a:xfrm>
        </p:grpSpPr>
        <p:sp>
          <p:nvSpPr>
            <p:cNvPr id="69675" name="AutoShape 6">
              <a:extLst>
                <a:ext uri="{FF2B5EF4-FFF2-40B4-BE49-F238E27FC236}">
                  <a16:creationId xmlns:a16="http://schemas.microsoft.com/office/drawing/2014/main" id="{5FCE5EA1-286E-4FC1-B56B-AAAABEE85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" y="7249"/>
              <a:ext cx="60" cy="337"/>
            </a:xfrm>
            <a:prstGeom prst="leftBrace">
              <a:avLst>
                <a:gd name="adj1" fmla="val 46806"/>
                <a:gd name="adj2" fmla="val 50000"/>
              </a:avLst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9676" name="AutoShape 7">
              <a:extLst>
                <a:ext uri="{FF2B5EF4-FFF2-40B4-BE49-F238E27FC236}">
                  <a16:creationId xmlns:a16="http://schemas.microsoft.com/office/drawing/2014/main" id="{FB00C10E-E308-481F-B71D-CB92CABB14EC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850" y="7241"/>
              <a:ext cx="60" cy="337"/>
            </a:xfrm>
            <a:prstGeom prst="leftBrace">
              <a:avLst>
                <a:gd name="adj1" fmla="val 46806"/>
                <a:gd name="adj2" fmla="val 50000"/>
              </a:avLst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9638" name="Group 8">
            <a:extLst>
              <a:ext uri="{FF2B5EF4-FFF2-40B4-BE49-F238E27FC236}">
                <a16:creationId xmlns:a16="http://schemas.microsoft.com/office/drawing/2014/main" id="{5642847A-6B9A-4A89-917C-C07245A95CDD}"/>
              </a:ext>
            </a:extLst>
          </p:cNvPr>
          <p:cNvGrpSpPr>
            <a:grpSpLocks/>
          </p:cNvGrpSpPr>
          <p:nvPr/>
        </p:nvGrpSpPr>
        <p:grpSpPr bwMode="auto">
          <a:xfrm>
            <a:off x="3697288" y="3733800"/>
            <a:ext cx="762000" cy="447675"/>
            <a:chOff x="4267" y="8180"/>
            <a:chExt cx="644" cy="345"/>
          </a:xfrm>
        </p:grpSpPr>
        <p:sp>
          <p:nvSpPr>
            <p:cNvPr id="69673" name="AutoShape 9">
              <a:extLst>
                <a:ext uri="{FF2B5EF4-FFF2-40B4-BE49-F238E27FC236}">
                  <a16:creationId xmlns:a16="http://schemas.microsoft.com/office/drawing/2014/main" id="{2A1C6BDA-7DF5-4057-B809-AB74555E1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" y="8188"/>
              <a:ext cx="60" cy="337"/>
            </a:xfrm>
            <a:prstGeom prst="leftBrace">
              <a:avLst>
                <a:gd name="adj1" fmla="val 46806"/>
                <a:gd name="adj2" fmla="val 50000"/>
              </a:avLst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9674" name="AutoShape 10">
              <a:extLst>
                <a:ext uri="{FF2B5EF4-FFF2-40B4-BE49-F238E27FC236}">
                  <a16:creationId xmlns:a16="http://schemas.microsoft.com/office/drawing/2014/main" id="{C7577B81-807D-4F95-BEAF-1B0B92ACFDC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851" y="8180"/>
              <a:ext cx="60" cy="337"/>
            </a:xfrm>
            <a:prstGeom prst="leftBrace">
              <a:avLst>
                <a:gd name="adj1" fmla="val 46806"/>
                <a:gd name="adj2" fmla="val 50000"/>
              </a:avLst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9639" name="Group 11">
            <a:extLst>
              <a:ext uri="{FF2B5EF4-FFF2-40B4-BE49-F238E27FC236}">
                <a16:creationId xmlns:a16="http://schemas.microsoft.com/office/drawing/2014/main" id="{CC282BA6-4AF3-4C11-8A6E-20463086A1A0}"/>
              </a:ext>
            </a:extLst>
          </p:cNvPr>
          <p:cNvGrpSpPr>
            <a:grpSpLocks/>
          </p:cNvGrpSpPr>
          <p:nvPr/>
        </p:nvGrpSpPr>
        <p:grpSpPr bwMode="auto">
          <a:xfrm>
            <a:off x="3773488" y="5029200"/>
            <a:ext cx="762000" cy="609600"/>
            <a:chOff x="4274" y="9139"/>
            <a:chExt cx="644" cy="345"/>
          </a:xfrm>
        </p:grpSpPr>
        <p:sp>
          <p:nvSpPr>
            <p:cNvPr id="69671" name="AutoShape 12">
              <a:extLst>
                <a:ext uri="{FF2B5EF4-FFF2-40B4-BE49-F238E27FC236}">
                  <a16:creationId xmlns:a16="http://schemas.microsoft.com/office/drawing/2014/main" id="{29292D5F-B418-4B58-92CB-CBD6EBAA0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4" y="9147"/>
              <a:ext cx="60" cy="337"/>
            </a:xfrm>
            <a:prstGeom prst="leftBrace">
              <a:avLst>
                <a:gd name="adj1" fmla="val 46806"/>
                <a:gd name="adj2" fmla="val 50000"/>
              </a:avLst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9672" name="AutoShape 13">
              <a:extLst>
                <a:ext uri="{FF2B5EF4-FFF2-40B4-BE49-F238E27FC236}">
                  <a16:creationId xmlns:a16="http://schemas.microsoft.com/office/drawing/2014/main" id="{B9C165FF-AF43-41D9-A7D4-F081C45B5313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858" y="9139"/>
              <a:ext cx="60" cy="337"/>
            </a:xfrm>
            <a:prstGeom prst="leftBrace">
              <a:avLst>
                <a:gd name="adj1" fmla="val 46806"/>
                <a:gd name="adj2" fmla="val 50000"/>
              </a:avLst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9640" name="Group 14">
            <a:extLst>
              <a:ext uri="{FF2B5EF4-FFF2-40B4-BE49-F238E27FC236}">
                <a16:creationId xmlns:a16="http://schemas.microsoft.com/office/drawing/2014/main" id="{5F40BAA4-55EE-4555-A57B-D6E25D47666D}"/>
              </a:ext>
            </a:extLst>
          </p:cNvPr>
          <p:cNvGrpSpPr>
            <a:grpSpLocks/>
          </p:cNvGrpSpPr>
          <p:nvPr/>
        </p:nvGrpSpPr>
        <p:grpSpPr bwMode="auto">
          <a:xfrm>
            <a:off x="5830888" y="2667000"/>
            <a:ext cx="1371600" cy="838200"/>
            <a:chOff x="5965" y="7255"/>
            <a:chExt cx="1007" cy="619"/>
          </a:xfrm>
        </p:grpSpPr>
        <p:sp>
          <p:nvSpPr>
            <p:cNvPr id="69669" name="AutoShape 15">
              <a:extLst>
                <a:ext uri="{FF2B5EF4-FFF2-40B4-BE49-F238E27FC236}">
                  <a16:creationId xmlns:a16="http://schemas.microsoft.com/office/drawing/2014/main" id="{10D574BD-B8B6-4A08-8ECA-2061A16A43F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965" y="7257"/>
              <a:ext cx="81" cy="617"/>
            </a:xfrm>
            <a:prstGeom prst="leftBrace">
              <a:avLst>
                <a:gd name="adj1" fmla="val 63477"/>
                <a:gd name="adj2" fmla="val 50000"/>
              </a:avLst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9670" name="AutoShape 16">
              <a:extLst>
                <a:ext uri="{FF2B5EF4-FFF2-40B4-BE49-F238E27FC236}">
                  <a16:creationId xmlns:a16="http://schemas.microsoft.com/office/drawing/2014/main" id="{14AEDA05-BEE1-4481-9C66-EFB2580F30CB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>
              <a:off x="6891" y="7255"/>
              <a:ext cx="81" cy="617"/>
            </a:xfrm>
            <a:prstGeom prst="leftBrace">
              <a:avLst>
                <a:gd name="adj1" fmla="val 63477"/>
                <a:gd name="adj2" fmla="val 50000"/>
              </a:avLst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9641" name="Group 17">
            <a:extLst>
              <a:ext uri="{FF2B5EF4-FFF2-40B4-BE49-F238E27FC236}">
                <a16:creationId xmlns:a16="http://schemas.microsoft.com/office/drawing/2014/main" id="{FADF8E72-CD16-4391-B639-F57E45517424}"/>
              </a:ext>
            </a:extLst>
          </p:cNvPr>
          <p:cNvGrpSpPr>
            <a:grpSpLocks/>
          </p:cNvGrpSpPr>
          <p:nvPr/>
        </p:nvGrpSpPr>
        <p:grpSpPr bwMode="auto">
          <a:xfrm>
            <a:off x="5907088" y="3810000"/>
            <a:ext cx="1219200" cy="838200"/>
            <a:chOff x="5965" y="8198"/>
            <a:chExt cx="959" cy="619"/>
          </a:xfrm>
        </p:grpSpPr>
        <p:sp>
          <p:nvSpPr>
            <p:cNvPr id="69667" name="AutoShape 18">
              <a:extLst>
                <a:ext uri="{FF2B5EF4-FFF2-40B4-BE49-F238E27FC236}">
                  <a16:creationId xmlns:a16="http://schemas.microsoft.com/office/drawing/2014/main" id="{EC7809E7-E421-4ECB-A0D6-D3CE8E73579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965" y="8200"/>
              <a:ext cx="81" cy="617"/>
            </a:xfrm>
            <a:prstGeom prst="leftBrace">
              <a:avLst>
                <a:gd name="adj1" fmla="val 63477"/>
                <a:gd name="adj2" fmla="val 50000"/>
              </a:avLst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9668" name="AutoShape 19">
              <a:extLst>
                <a:ext uri="{FF2B5EF4-FFF2-40B4-BE49-F238E27FC236}">
                  <a16:creationId xmlns:a16="http://schemas.microsoft.com/office/drawing/2014/main" id="{CCDB7496-4478-4407-8525-BB89E5BBD04D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>
              <a:off x="6843" y="8198"/>
              <a:ext cx="81" cy="617"/>
            </a:xfrm>
            <a:prstGeom prst="leftBrace">
              <a:avLst>
                <a:gd name="adj1" fmla="val 63477"/>
                <a:gd name="adj2" fmla="val 50000"/>
              </a:avLst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9642" name="Group 20">
            <a:extLst>
              <a:ext uri="{FF2B5EF4-FFF2-40B4-BE49-F238E27FC236}">
                <a16:creationId xmlns:a16="http://schemas.microsoft.com/office/drawing/2014/main" id="{7125C42C-5B0E-4070-88F5-6AE72B1B8A9E}"/>
              </a:ext>
            </a:extLst>
          </p:cNvPr>
          <p:cNvGrpSpPr>
            <a:grpSpLocks/>
          </p:cNvGrpSpPr>
          <p:nvPr/>
        </p:nvGrpSpPr>
        <p:grpSpPr bwMode="auto">
          <a:xfrm>
            <a:off x="5983288" y="5181600"/>
            <a:ext cx="1143000" cy="762000"/>
            <a:chOff x="5988" y="9130"/>
            <a:chExt cx="911" cy="619"/>
          </a:xfrm>
        </p:grpSpPr>
        <p:sp>
          <p:nvSpPr>
            <p:cNvPr id="69665" name="AutoShape 21">
              <a:extLst>
                <a:ext uri="{FF2B5EF4-FFF2-40B4-BE49-F238E27FC236}">
                  <a16:creationId xmlns:a16="http://schemas.microsoft.com/office/drawing/2014/main" id="{5A6DC450-E7E7-4F79-9AEB-1B7C5BB7650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988" y="9132"/>
              <a:ext cx="81" cy="617"/>
            </a:xfrm>
            <a:prstGeom prst="leftBrace">
              <a:avLst>
                <a:gd name="adj1" fmla="val 63477"/>
                <a:gd name="adj2" fmla="val 50000"/>
              </a:avLst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9666" name="AutoShape 22">
              <a:extLst>
                <a:ext uri="{FF2B5EF4-FFF2-40B4-BE49-F238E27FC236}">
                  <a16:creationId xmlns:a16="http://schemas.microsoft.com/office/drawing/2014/main" id="{2D876D88-A9B1-4575-A75C-5FDC569AA6D5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>
              <a:off x="6818" y="9130"/>
              <a:ext cx="81" cy="617"/>
            </a:xfrm>
            <a:prstGeom prst="leftBrace">
              <a:avLst>
                <a:gd name="adj1" fmla="val 63477"/>
                <a:gd name="adj2" fmla="val 50000"/>
              </a:avLst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9643" name="Group 23">
            <a:extLst>
              <a:ext uri="{FF2B5EF4-FFF2-40B4-BE49-F238E27FC236}">
                <a16:creationId xmlns:a16="http://schemas.microsoft.com/office/drawing/2014/main" id="{C07DB2BA-E8EC-439B-873B-17020AA85BE7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1676400"/>
            <a:ext cx="6477000" cy="4419600"/>
            <a:chOff x="-3" y="-3"/>
            <a:chExt cx="2278" cy="1616"/>
          </a:xfrm>
        </p:grpSpPr>
        <p:grpSp>
          <p:nvGrpSpPr>
            <p:cNvPr id="69645" name="Group 24">
              <a:extLst>
                <a:ext uri="{FF2B5EF4-FFF2-40B4-BE49-F238E27FC236}">
                  <a16:creationId xmlns:a16="http://schemas.microsoft.com/office/drawing/2014/main" id="{A97672C9-A2D2-490A-A245-5309DAC2AD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72" cy="1610"/>
              <a:chOff x="0" y="0"/>
              <a:chExt cx="2272" cy="1610"/>
            </a:xfrm>
          </p:grpSpPr>
          <p:grpSp>
            <p:nvGrpSpPr>
              <p:cNvPr id="69647" name="Group 25">
                <a:extLst>
                  <a:ext uri="{FF2B5EF4-FFF2-40B4-BE49-F238E27FC236}">
                    <a16:creationId xmlns:a16="http://schemas.microsoft.com/office/drawing/2014/main" id="{8D43A509-B7D5-49CA-9EB9-A5B5270699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96" cy="355"/>
                <a:chOff x="0" y="0"/>
                <a:chExt cx="596" cy="355"/>
              </a:xfrm>
            </p:grpSpPr>
            <p:sp>
              <p:nvSpPr>
                <p:cNvPr id="69663" name="Rectangle 26">
                  <a:extLst>
                    <a:ext uri="{FF2B5EF4-FFF2-40B4-BE49-F238E27FC236}">
                      <a16:creationId xmlns:a16="http://schemas.microsoft.com/office/drawing/2014/main" id="{41B29C39-54B8-4325-8DAC-71AA2DBD30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510" cy="3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000" b="1">
                      <a:latin typeface="Times New Roman" panose="02020603050405020304" pitchFamily="18" charset="0"/>
                    </a:rPr>
                    <a:t>课  程  </a:t>
                  </a:r>
                  <a:r>
                    <a:rPr lang="en-US" altLang="zh-CN" sz="2000" b="1">
                      <a:latin typeface="Times New Roman" panose="02020603050405020304" pitchFamily="18" charset="0"/>
                    </a:rPr>
                    <a:t>C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24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9664" name="Rectangle 27">
                  <a:extLst>
                    <a:ext uri="{FF2B5EF4-FFF2-40B4-BE49-F238E27FC236}">
                      <a16:creationId xmlns:a16="http://schemas.microsoft.com/office/drawing/2014/main" id="{C69CB8A2-9445-4D40-BA34-4F2DD28E96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96" cy="355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9648" name="Group 28">
                <a:extLst>
                  <a:ext uri="{FF2B5EF4-FFF2-40B4-BE49-F238E27FC236}">
                    <a16:creationId xmlns:a16="http://schemas.microsoft.com/office/drawing/2014/main" id="{02BFB578-0144-46B4-9E08-242AD6C55B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6" y="0"/>
                <a:ext cx="822" cy="355"/>
                <a:chOff x="596" y="0"/>
                <a:chExt cx="822" cy="355"/>
              </a:xfrm>
            </p:grpSpPr>
            <p:sp>
              <p:nvSpPr>
                <p:cNvPr id="69661" name="Rectangle 29">
                  <a:extLst>
                    <a:ext uri="{FF2B5EF4-FFF2-40B4-BE49-F238E27FC236}">
                      <a16:creationId xmlns:a16="http://schemas.microsoft.com/office/drawing/2014/main" id="{0839B1D9-525A-4F56-9F4E-771D1F9A06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9" y="0"/>
                  <a:ext cx="736" cy="3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400" b="1">
                      <a:latin typeface="Times New Roman" panose="02020603050405020304" pitchFamily="18" charset="0"/>
                    </a:rPr>
                    <a:t>教  员  </a:t>
                  </a:r>
                  <a:r>
                    <a:rPr lang="en-US" altLang="zh-CN" sz="2400" b="1">
                      <a:latin typeface="Times New Roman" panose="02020603050405020304" pitchFamily="18" charset="0"/>
                    </a:rPr>
                    <a:t>T</a:t>
                  </a:r>
                  <a:endParaRPr lang="en-US" altLang="zh-CN" sz="36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24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9662" name="Rectangle 30">
                  <a:extLst>
                    <a:ext uri="{FF2B5EF4-FFF2-40B4-BE49-F238E27FC236}">
                      <a16:creationId xmlns:a16="http://schemas.microsoft.com/office/drawing/2014/main" id="{4D070717-C7A9-4729-9EE3-93EE20EF2C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6" y="0"/>
                  <a:ext cx="822" cy="355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9649" name="Group 31">
                <a:extLst>
                  <a:ext uri="{FF2B5EF4-FFF2-40B4-BE49-F238E27FC236}">
                    <a16:creationId xmlns:a16="http://schemas.microsoft.com/office/drawing/2014/main" id="{D5420277-BD17-44F2-871E-0100CAED58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18" y="0"/>
                <a:ext cx="854" cy="355"/>
                <a:chOff x="1418" y="0"/>
                <a:chExt cx="854" cy="355"/>
              </a:xfrm>
            </p:grpSpPr>
            <p:sp>
              <p:nvSpPr>
                <p:cNvPr id="69659" name="Rectangle 32">
                  <a:extLst>
                    <a:ext uri="{FF2B5EF4-FFF2-40B4-BE49-F238E27FC236}">
                      <a16:creationId xmlns:a16="http://schemas.microsoft.com/office/drawing/2014/main" id="{8E2E539F-5731-4E95-9FE3-3F8356220D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61" y="0"/>
                  <a:ext cx="768" cy="3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400" b="1">
                      <a:latin typeface="Times New Roman" panose="02020603050405020304" pitchFamily="18" charset="0"/>
                    </a:rPr>
                    <a:t>参 考 书 </a:t>
                  </a:r>
                  <a:r>
                    <a:rPr lang="en-US" altLang="zh-CN" sz="2400" b="1">
                      <a:latin typeface="Times New Roman" panose="02020603050405020304" pitchFamily="18" charset="0"/>
                    </a:rPr>
                    <a:t>B</a:t>
                  </a:r>
                  <a:endParaRPr lang="en-US" altLang="zh-CN" sz="66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9660" name="Rectangle 33">
                  <a:extLst>
                    <a:ext uri="{FF2B5EF4-FFF2-40B4-BE49-F238E27FC236}">
                      <a16:creationId xmlns:a16="http://schemas.microsoft.com/office/drawing/2014/main" id="{DA4D7171-EFBF-4629-9116-586DF15233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18" y="0"/>
                  <a:ext cx="854" cy="355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9650" name="Group 34">
                <a:extLst>
                  <a:ext uri="{FF2B5EF4-FFF2-40B4-BE49-F238E27FC236}">
                    <a16:creationId xmlns:a16="http://schemas.microsoft.com/office/drawing/2014/main" id="{9B626D57-10D1-4612-897F-4557701C63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55"/>
                <a:ext cx="596" cy="1255"/>
                <a:chOff x="0" y="355"/>
                <a:chExt cx="596" cy="1255"/>
              </a:xfrm>
            </p:grpSpPr>
            <p:sp>
              <p:nvSpPr>
                <p:cNvPr id="69657" name="Rectangle 35">
                  <a:extLst>
                    <a:ext uri="{FF2B5EF4-FFF2-40B4-BE49-F238E27FC236}">
                      <a16:creationId xmlns:a16="http://schemas.microsoft.com/office/drawing/2014/main" id="{F6EBCBDA-6F0B-49DA-AEC4-581882D4BF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55"/>
                  <a:ext cx="510" cy="12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700" b="1">
                      <a:latin typeface="Times New Roman" panose="02020603050405020304" pitchFamily="18" charset="0"/>
                    </a:rPr>
                    <a:t> </a:t>
                  </a:r>
                  <a:endParaRPr lang="en-US" altLang="zh-CN" sz="10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700" b="1">
                      <a:latin typeface="Times New Roman" panose="02020603050405020304" pitchFamily="18" charset="0"/>
                    </a:rPr>
                    <a:t> </a:t>
                  </a:r>
                  <a:endParaRPr lang="en-US" altLang="zh-CN" sz="10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000" b="1">
                      <a:latin typeface="Times New Roman" panose="02020603050405020304" pitchFamily="18" charset="0"/>
                    </a:rPr>
                    <a:t>物理</a:t>
                  </a: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000" b="1">
                      <a:latin typeface="Times New Roman" panose="02020603050405020304" pitchFamily="18" charset="0"/>
                    </a:rPr>
                    <a:t> </a:t>
                  </a:r>
                  <a:endParaRPr lang="zh-CN" altLang="en-US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000" b="1">
                      <a:latin typeface="Times New Roman" panose="02020603050405020304" pitchFamily="18" charset="0"/>
                    </a:rPr>
                    <a:t>数学</a:t>
                  </a:r>
                  <a:endParaRPr lang="zh-CN" altLang="en-US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000" b="1">
                      <a:latin typeface="Times New Roman" panose="02020603050405020304" pitchFamily="18" charset="0"/>
                    </a:rPr>
                    <a:t> </a:t>
                  </a:r>
                  <a:endParaRPr lang="zh-CN" altLang="en-US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000" b="1">
                      <a:latin typeface="Times New Roman" panose="02020603050405020304" pitchFamily="18" charset="0"/>
                    </a:rPr>
                    <a:t> </a:t>
                  </a:r>
                  <a:endParaRPr lang="zh-CN" altLang="en-US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000" b="1">
                      <a:latin typeface="Times New Roman" panose="02020603050405020304" pitchFamily="18" charset="0"/>
                    </a:rPr>
                    <a:t> </a:t>
                  </a:r>
                  <a:endParaRPr lang="zh-CN" altLang="en-US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000" b="1">
                      <a:latin typeface="Times New Roman" panose="02020603050405020304" pitchFamily="18" charset="0"/>
                    </a:rPr>
                    <a:t>计算数学</a:t>
                  </a:r>
                  <a:endParaRPr lang="zh-CN" altLang="en-US" sz="6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9658" name="Rectangle 36">
                  <a:extLst>
                    <a:ext uri="{FF2B5EF4-FFF2-40B4-BE49-F238E27FC236}">
                      <a16:creationId xmlns:a16="http://schemas.microsoft.com/office/drawing/2014/main" id="{1399FD20-CDFE-4533-88F8-BA505971DF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55"/>
                  <a:ext cx="596" cy="1255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9651" name="Group 37">
                <a:extLst>
                  <a:ext uri="{FF2B5EF4-FFF2-40B4-BE49-F238E27FC236}">
                    <a16:creationId xmlns:a16="http://schemas.microsoft.com/office/drawing/2014/main" id="{19E55441-F6FF-46CB-962B-3DA0A56B27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6" y="355"/>
                <a:ext cx="822" cy="1255"/>
                <a:chOff x="596" y="355"/>
                <a:chExt cx="822" cy="1255"/>
              </a:xfrm>
            </p:grpSpPr>
            <p:sp>
              <p:nvSpPr>
                <p:cNvPr id="69655" name="Rectangle 38">
                  <a:extLst>
                    <a:ext uri="{FF2B5EF4-FFF2-40B4-BE49-F238E27FC236}">
                      <a16:creationId xmlns:a16="http://schemas.microsoft.com/office/drawing/2014/main" id="{768D2D7E-EEFC-4391-B64B-3434FC3AA8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9" y="355"/>
                  <a:ext cx="736" cy="12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000" b="1">
                      <a:latin typeface="Times New Roman" panose="02020603050405020304" pitchFamily="18" charset="0"/>
                    </a:rPr>
                    <a:t>李 勇</a:t>
                  </a:r>
                  <a:endParaRPr lang="zh-CN" altLang="en-US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000" b="1">
                      <a:latin typeface="Times New Roman" panose="02020603050405020304" pitchFamily="18" charset="0"/>
                    </a:rPr>
                    <a:t>王 军</a:t>
                  </a:r>
                  <a:endParaRPr lang="zh-CN" altLang="en-US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700" b="1">
                      <a:latin typeface="Times New Roman" panose="02020603050405020304" pitchFamily="18" charset="0"/>
                    </a:rPr>
                    <a:t> </a:t>
                  </a:r>
                  <a:endParaRPr lang="zh-CN" altLang="en-US" sz="10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>
                      <a:latin typeface="Times New Roman" panose="02020603050405020304" pitchFamily="18" charset="0"/>
                    </a:rPr>
                    <a:t> </a:t>
                  </a:r>
                  <a:endParaRPr lang="zh-CN" altLang="en-US" sz="28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>
                      <a:latin typeface="Times New Roman" panose="02020603050405020304" pitchFamily="18" charset="0"/>
                    </a:rPr>
                    <a:t>李 勇</a:t>
                  </a:r>
                  <a:endParaRPr lang="zh-CN" altLang="en-US" sz="28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>
                      <a:latin typeface="Times New Roman" panose="02020603050405020304" pitchFamily="18" charset="0"/>
                    </a:rPr>
                    <a:t>张 平</a:t>
                  </a:r>
                  <a:endParaRPr lang="zh-CN" altLang="en-US" sz="28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>
                      <a:latin typeface="Times New Roman" panose="02020603050405020304" pitchFamily="18" charset="0"/>
                    </a:rPr>
                    <a:t> </a:t>
                  </a:r>
                  <a:endParaRPr lang="zh-CN" altLang="en-US" sz="28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>
                      <a:latin typeface="Times New Roman" panose="02020603050405020304" pitchFamily="18" charset="0"/>
                    </a:rPr>
                    <a:t> </a:t>
                  </a:r>
                  <a:endParaRPr lang="zh-CN" altLang="en-US" sz="28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>
                      <a:latin typeface="Times New Roman" panose="02020603050405020304" pitchFamily="18" charset="0"/>
                    </a:rPr>
                    <a:t> </a:t>
                  </a:r>
                  <a:endParaRPr lang="zh-CN" altLang="en-US" sz="28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>
                      <a:latin typeface="Times New Roman" panose="02020603050405020304" pitchFamily="18" charset="0"/>
                    </a:rPr>
                    <a:t>张 平</a:t>
                  </a:r>
                  <a:endParaRPr lang="zh-CN" altLang="en-US" sz="28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>
                      <a:latin typeface="Times New Roman" panose="02020603050405020304" pitchFamily="18" charset="0"/>
                    </a:rPr>
                    <a:t>周 峰</a:t>
                  </a:r>
                  <a:endParaRPr lang="zh-CN" altLang="en-US" sz="54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9656" name="Rectangle 39">
                  <a:extLst>
                    <a:ext uri="{FF2B5EF4-FFF2-40B4-BE49-F238E27FC236}">
                      <a16:creationId xmlns:a16="http://schemas.microsoft.com/office/drawing/2014/main" id="{DA782789-58FE-49BD-BA34-5DC603AD84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6" y="355"/>
                  <a:ext cx="822" cy="1255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9652" name="Group 40">
                <a:extLst>
                  <a:ext uri="{FF2B5EF4-FFF2-40B4-BE49-F238E27FC236}">
                    <a16:creationId xmlns:a16="http://schemas.microsoft.com/office/drawing/2014/main" id="{72F350DC-2705-4FA9-A8A8-61B4118D7F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18" y="355"/>
                <a:ext cx="854" cy="1255"/>
                <a:chOff x="1418" y="355"/>
                <a:chExt cx="854" cy="1255"/>
              </a:xfrm>
            </p:grpSpPr>
            <p:sp>
              <p:nvSpPr>
                <p:cNvPr id="69653" name="Rectangle 41">
                  <a:extLst>
                    <a:ext uri="{FF2B5EF4-FFF2-40B4-BE49-F238E27FC236}">
                      <a16:creationId xmlns:a16="http://schemas.microsoft.com/office/drawing/2014/main" id="{0091DF0E-0D37-45D5-948F-F7AE5C2EC0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61" y="355"/>
                  <a:ext cx="768" cy="12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700" b="1">
                      <a:latin typeface="Times New Roman" panose="02020603050405020304" pitchFamily="18" charset="0"/>
                    </a:rPr>
                    <a:t>  </a:t>
                  </a:r>
                  <a:r>
                    <a:rPr lang="zh-CN" altLang="en-US" sz="1800" b="1">
                      <a:latin typeface="Times New Roman" panose="02020603050405020304" pitchFamily="18" charset="0"/>
                    </a:rPr>
                    <a:t>普通物理学</a:t>
                  </a:r>
                  <a:endParaRPr lang="zh-CN" altLang="en-US" sz="28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>
                      <a:latin typeface="Times New Roman" panose="02020603050405020304" pitchFamily="18" charset="0"/>
                    </a:rPr>
                    <a:t>光学原理</a:t>
                  </a:r>
                  <a:endParaRPr lang="zh-CN" altLang="en-US" sz="28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>
                      <a:latin typeface="Times New Roman" panose="02020603050405020304" pitchFamily="18" charset="0"/>
                    </a:rPr>
                    <a:t>  物理习题集</a:t>
                  </a:r>
                  <a:endParaRPr lang="zh-CN" altLang="en-US" sz="28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>
                      <a:latin typeface="Times New Roman" panose="02020603050405020304" pitchFamily="18" charset="0"/>
                    </a:rPr>
                    <a:t> </a:t>
                  </a:r>
                  <a:endParaRPr lang="zh-CN" altLang="en-US" sz="28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>
                      <a:latin typeface="Times New Roman" panose="02020603050405020304" pitchFamily="18" charset="0"/>
                    </a:rPr>
                    <a:t>数学分析</a:t>
                  </a:r>
                  <a:endParaRPr lang="zh-CN" altLang="en-US" sz="28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>
                      <a:latin typeface="Times New Roman" panose="02020603050405020304" pitchFamily="18" charset="0"/>
                    </a:rPr>
                    <a:t>微分方程</a:t>
                  </a:r>
                  <a:endParaRPr lang="zh-CN" altLang="en-US" sz="28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>
                      <a:latin typeface="Times New Roman" panose="02020603050405020304" pitchFamily="18" charset="0"/>
                    </a:rPr>
                    <a:t>高等代数</a:t>
                  </a:r>
                  <a:endParaRPr lang="zh-CN" altLang="en-US" sz="28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>
                      <a:latin typeface="Times New Roman" panose="02020603050405020304" pitchFamily="18" charset="0"/>
                    </a:rPr>
                    <a:t> </a:t>
                  </a:r>
                  <a:endParaRPr lang="zh-CN" altLang="en-US" sz="28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>
                      <a:latin typeface="Times New Roman" panose="02020603050405020304" pitchFamily="18" charset="0"/>
                    </a:rPr>
                    <a:t> </a:t>
                  </a:r>
                  <a:endParaRPr lang="zh-CN" altLang="en-US" sz="28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>
                      <a:latin typeface="Times New Roman" panose="02020603050405020304" pitchFamily="18" charset="0"/>
                    </a:rPr>
                    <a:t>数学分析</a:t>
                  </a:r>
                  <a:endParaRPr lang="zh-CN" altLang="en-US" sz="28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>
                      <a:latin typeface="Times New Roman" panose="02020603050405020304" pitchFamily="18" charset="0"/>
                    </a:rPr>
                    <a:t> </a:t>
                  </a:r>
                  <a:endParaRPr lang="zh-CN" altLang="en-US" sz="28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700" b="1">
                      <a:latin typeface="Times New Roman" panose="02020603050405020304" pitchFamily="18" charset="0"/>
                    </a:rPr>
                    <a:t> </a:t>
                  </a:r>
                  <a:endParaRPr lang="zh-CN" altLang="en-US" sz="10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700" b="1">
                      <a:latin typeface="Times New Roman" panose="02020603050405020304" pitchFamily="18" charset="0"/>
                    </a:rPr>
                    <a:t> </a:t>
                  </a:r>
                  <a:endParaRPr lang="zh-CN" altLang="en-US" sz="1000" b="1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000" b="1">
                      <a:latin typeface="Times New Roman" panose="02020603050405020304" pitchFamily="18" charset="0"/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24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9654" name="Rectangle 42">
                  <a:extLst>
                    <a:ext uri="{FF2B5EF4-FFF2-40B4-BE49-F238E27FC236}">
                      <a16:creationId xmlns:a16="http://schemas.microsoft.com/office/drawing/2014/main" id="{D7816A73-1267-4468-9D5B-C02A89B1CE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18" y="355"/>
                  <a:ext cx="854" cy="1255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9646" name="Rectangle 43">
              <a:extLst>
                <a:ext uri="{FF2B5EF4-FFF2-40B4-BE49-F238E27FC236}">
                  <a16:creationId xmlns:a16="http://schemas.microsoft.com/office/drawing/2014/main" id="{63EC150F-313E-4CEF-8A15-3D7B5D9BB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2278" cy="1616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69644" name="Rectangle 44">
            <a:extLst>
              <a:ext uri="{FF2B5EF4-FFF2-40B4-BE49-F238E27FC236}">
                <a16:creationId xmlns:a16="http://schemas.microsoft.com/office/drawing/2014/main" id="{0B141D55-091A-4937-B01D-6E1FFFDD4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088" y="762000"/>
            <a:ext cx="838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表</a:t>
            </a:r>
            <a:r>
              <a:rPr lang="en-US" altLang="zh-CN" sz="2400" b="1">
                <a:latin typeface="Times New Roman" panose="02020603050405020304" pitchFamily="18" charset="0"/>
              </a:rPr>
              <a:t>6.3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3">
            <a:extLst>
              <a:ext uri="{FF2B5EF4-FFF2-40B4-BE49-F238E27FC236}">
                <a16:creationId xmlns:a16="http://schemas.microsoft.com/office/drawing/2014/main" id="{56313500-B047-4A8E-8D8F-CCF44F847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Pct val="100000"/>
              <a:buFontTx/>
              <a:buNone/>
            </a:pPr>
            <a:r>
              <a:rPr lang="zh-CN" altLang="en-US" sz="1400" b="1">
                <a:solidFill>
                  <a:srgbClr val="9537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*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70659" name="文本框 4">
            <a:extLst>
              <a:ext uri="{FF2B5EF4-FFF2-40B4-BE49-F238E27FC236}">
                <a16:creationId xmlns:a16="http://schemas.microsoft.com/office/drawing/2014/main" id="{39B21A03-F2AE-41C2-8B03-0ED251976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Pct val="100000"/>
              <a:buFontTx/>
              <a:buNone/>
            </a:pPr>
            <a:endParaRPr lang="zh-CN" altLang="zh-CN" sz="10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70660" name="Rectangle 2">
            <a:extLst>
              <a:ext uri="{FF2B5EF4-FFF2-40B4-BE49-F238E27FC236}">
                <a16:creationId xmlns:a16="http://schemas.microsoft.com/office/drawing/2014/main" id="{B70E894C-9F81-4BAE-ACEA-F93D35AB56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-171450"/>
            <a:ext cx="7793037" cy="1143000"/>
          </a:xfrm>
        </p:spPr>
        <p:txBody>
          <a:bodyPr/>
          <a:lstStyle/>
          <a:p>
            <a:r>
              <a:rPr lang="zh-CN" altLang="zh-CN">
                <a:sym typeface="微软雅黑" panose="020B0503020204020204" pitchFamily="34" charset="-122"/>
              </a:rPr>
              <a:t>多值依赖（续）</a:t>
            </a:r>
            <a:endParaRPr lang="zh-CN" altLang="zh-CN"/>
          </a:p>
        </p:txBody>
      </p:sp>
      <p:sp>
        <p:nvSpPr>
          <p:cNvPr id="70661" name="内容占位符 1">
            <a:extLst>
              <a:ext uri="{FF2B5EF4-FFF2-40B4-BE49-F238E27FC236}">
                <a16:creationId xmlns:a16="http://schemas.microsoft.com/office/drawing/2014/main" id="{7709FB69-710D-421D-8D48-87337C423A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3494" name="Rectangle 36">
            <a:extLst>
              <a:ext uri="{FF2B5EF4-FFF2-40B4-BE49-F238E27FC236}">
                <a16:creationId xmlns:a16="http://schemas.microsoft.com/office/drawing/2014/main" id="{30CC0EF8-6DAB-488F-9C20-882F5BE2B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981075"/>
            <a:ext cx="5688012" cy="28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1" hangingPunct="1">
              <a:buClr>
                <a:schemeClr val="accent1"/>
              </a:buClr>
              <a:buSzPct val="90000"/>
              <a:buFont typeface="Monotype Sorts" pitchFamily="2" charset="2"/>
              <a:buNone/>
              <a:defRPr/>
            </a:pPr>
            <a:r>
              <a:rPr lang="zh-CN" altLang="en-US" sz="2000" b="1" dirty="0">
                <a:solidFill>
                  <a:srgbClr val="000000"/>
                </a:solidFill>
                <a:sym typeface="Times New Roman" pitchFamily="18" charset="0"/>
              </a:rPr>
              <a:t>表</a:t>
            </a:r>
            <a:r>
              <a:rPr lang="en-US" altLang="zh-CN" sz="2000" b="1" dirty="0">
                <a:solidFill>
                  <a:srgbClr val="000000"/>
                </a:solidFill>
                <a:sym typeface="Times New Roman" pitchFamily="18" charset="0"/>
              </a:rPr>
              <a:t>6.4  </a:t>
            </a:r>
            <a:r>
              <a:rPr lang="zh-CN" altLang="en-US" b="1" dirty="0">
                <a:solidFill>
                  <a:srgbClr val="000000"/>
                </a:solidFill>
                <a:sym typeface="Times New Roman" pitchFamily="18" charset="0"/>
              </a:rPr>
              <a:t>规范化</a:t>
            </a:r>
            <a:r>
              <a:rPr lang="zh-CN" altLang="en-US" sz="2000" b="1" dirty="0">
                <a:solidFill>
                  <a:srgbClr val="000000"/>
                </a:solidFill>
                <a:sym typeface="Times New Roman" pitchFamily="18" charset="0"/>
              </a:rPr>
              <a:t>的二维表 </a:t>
            </a:r>
            <a:r>
              <a:rPr lang="en-US" altLang="zh-CN" sz="2000" b="1" dirty="0">
                <a:solidFill>
                  <a:srgbClr val="000000"/>
                </a:solidFill>
                <a:latin typeface="+mn-lt"/>
                <a:sym typeface="Times New Roman" pitchFamily="18" charset="0"/>
              </a:rPr>
              <a:t>Teaching </a:t>
            </a:r>
            <a:endParaRPr lang="zh-CN" altLang="en-US" b="1" dirty="0">
              <a:solidFill>
                <a:srgbClr val="000000"/>
              </a:solidFill>
              <a:latin typeface="+mn-lt"/>
              <a:ea typeface="黑体" pitchFamily="49" charset="-122"/>
              <a:sym typeface="Times New Roman" pitchFamily="18" charset="0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1DDD4F72-6BB0-4758-A1B6-8292D44F67C8}"/>
              </a:ext>
            </a:extLst>
          </p:cNvPr>
          <p:cNvGraphicFramePr>
            <a:graphicFrameLocks noGrp="1"/>
          </p:cNvGraphicFramePr>
          <p:nvPr/>
        </p:nvGraphicFramePr>
        <p:xfrm>
          <a:off x="1403350" y="1476375"/>
          <a:ext cx="6408738" cy="5381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6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6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40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课程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C</a:t>
                      </a:r>
                      <a:endParaRPr lang="zh-CN" alt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教员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T</a:t>
                      </a:r>
                      <a:endParaRPr lang="zh-CN" alt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参考书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B</a:t>
                      </a:r>
                      <a:endParaRPr lang="zh-CN" altLang="en-US" sz="1800" dirty="0"/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402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普通物理学</a:t>
                      </a:r>
                      <a:endParaRPr lang="zh-CN" altLang="en-US" sz="1800" dirty="0"/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402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光学原理</a:t>
                      </a:r>
                      <a:endParaRPr lang="zh-CN" altLang="en-US" sz="1800" dirty="0"/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402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物理习题集</a:t>
                      </a:r>
                      <a:endParaRPr lang="zh-CN" altLang="en-US" sz="1800" dirty="0"/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402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王 军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普通物理学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402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王 军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光学原理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402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王 军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物理习题集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40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普通物理学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40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光学原理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40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物理习题集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40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张 平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普通物理学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40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张 平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光学原理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440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张 平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物理习题集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440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…</a:t>
                      </a:r>
                      <a:endParaRPr lang="zh-CN" alt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…</a:t>
                      </a:r>
                      <a:endParaRPr lang="zh-CN" altLang="en-US" sz="1800" dirty="0"/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6D48FECB-FB61-45CA-B3E5-7449A01F31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多值依赖与第四范式（续）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DE0DC574-4D1F-4A03-BD70-8673BA0E33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017713"/>
            <a:ext cx="8270875" cy="4114800"/>
          </a:xfrm>
        </p:spPr>
        <p:txBody>
          <a:bodyPr/>
          <a:lstStyle/>
          <a:p>
            <a:pPr eaLnBrk="1" hangingPunct="1"/>
            <a:r>
              <a:rPr lang="en-US" altLang="zh-CN" sz="2800"/>
              <a:t>Teaching∈BCNF:</a:t>
            </a:r>
          </a:p>
          <a:p>
            <a:pPr eaLnBrk="1" hangingPunct="1"/>
            <a:endParaRPr lang="en-US" altLang="zh-CN" sz="2800"/>
          </a:p>
          <a:p>
            <a:pPr eaLnBrk="1" hangingPunct="1"/>
            <a:r>
              <a:rPr lang="en-US" altLang="zh-CN" sz="2800"/>
              <a:t>Teach</a:t>
            </a:r>
            <a:r>
              <a:rPr lang="zh-CN" altLang="en-US" sz="2800"/>
              <a:t>具有唯一候选码</a:t>
            </a:r>
            <a:r>
              <a:rPr lang="en-US" altLang="zh-CN" sz="2800"/>
              <a:t>(C</a:t>
            </a:r>
            <a:r>
              <a:rPr lang="zh-CN" altLang="en-US" sz="2800"/>
              <a:t>，</a:t>
            </a:r>
            <a:r>
              <a:rPr lang="en-US" altLang="zh-CN" sz="2800"/>
              <a:t>T</a:t>
            </a:r>
            <a:r>
              <a:rPr lang="zh-CN" altLang="en-US" sz="2800"/>
              <a:t>，</a:t>
            </a:r>
            <a:r>
              <a:rPr lang="en-US" altLang="zh-CN" sz="2800"/>
              <a:t>B)</a:t>
            </a:r>
            <a:r>
              <a:rPr lang="zh-CN" altLang="en-US" sz="2800"/>
              <a:t>， 即全码</a:t>
            </a:r>
            <a:endParaRPr lang="en-US" altLang="zh-CN" sz="2800"/>
          </a:p>
          <a:p>
            <a:pPr eaLnBrk="1" hangingPunct="1"/>
            <a:endParaRPr lang="en-US" altLang="zh-CN" sz="2800"/>
          </a:p>
          <a:p>
            <a:pPr eaLnBrk="1" hangingPunct="1"/>
            <a:r>
              <a:rPr lang="zh-CN" altLang="en-US" sz="2800"/>
              <a:t>如下问题：</a:t>
            </a:r>
          </a:p>
          <a:p>
            <a:pPr eaLnBrk="1" hangingPunct="1"/>
            <a:endParaRPr lang="zh-CN" altLang="en-US" sz="28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/>
              <a:t> </a:t>
            </a:r>
            <a:r>
              <a:rPr lang="zh-CN" altLang="en-US" sz="2400"/>
              <a:t>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Box 3">
            <a:extLst>
              <a:ext uri="{FF2B5EF4-FFF2-40B4-BE49-F238E27FC236}">
                <a16:creationId xmlns:a16="http://schemas.microsoft.com/office/drawing/2014/main" id="{B179DF28-FE12-406E-A428-1FD2B95D3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Pct val="100000"/>
              <a:buFontTx/>
              <a:buNone/>
            </a:pPr>
            <a:r>
              <a:rPr lang="zh-CN" altLang="en-US" sz="1400" b="1">
                <a:solidFill>
                  <a:srgbClr val="9537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*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72707" name="文本框 4">
            <a:extLst>
              <a:ext uri="{FF2B5EF4-FFF2-40B4-BE49-F238E27FC236}">
                <a16:creationId xmlns:a16="http://schemas.microsoft.com/office/drawing/2014/main" id="{37278E54-6347-4CEF-8428-2074906DA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Pct val="100000"/>
              <a:buFontTx/>
              <a:buNone/>
            </a:pPr>
            <a:endParaRPr lang="zh-CN" altLang="zh-CN" sz="10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72708" name="Rectangle 2">
            <a:extLst>
              <a:ext uri="{FF2B5EF4-FFF2-40B4-BE49-F238E27FC236}">
                <a16:creationId xmlns:a16="http://schemas.microsoft.com/office/drawing/2014/main" id="{51A2A463-1A2B-4C3B-ABF9-E3287F3B474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zh-CN">
                <a:sym typeface="微软雅黑" panose="020B0503020204020204" pitchFamily="34" charset="-122"/>
              </a:rPr>
              <a:t>多值依赖（续）</a:t>
            </a: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512DDC8E-0D54-4C93-8353-0611B35808F5}"/>
              </a:ext>
            </a:extLst>
          </p:cNvPr>
          <p:cNvGraphicFramePr>
            <a:graphicFrameLocks noGrp="1"/>
          </p:cNvGraphicFramePr>
          <p:nvPr/>
        </p:nvGraphicFramePr>
        <p:xfrm>
          <a:off x="971550" y="1052513"/>
          <a:ext cx="6096000" cy="5121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课程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C</a:t>
                      </a:r>
                      <a:endParaRPr lang="zh-CN" alt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教员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T</a:t>
                      </a:r>
                      <a:endParaRPr lang="zh-CN" alt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参考书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B</a:t>
                      </a:r>
                      <a:endParaRPr lang="zh-CN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普通物理学</a:t>
                      </a:r>
                      <a:endParaRPr lang="zh-CN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光学原理</a:t>
                      </a:r>
                      <a:endParaRPr lang="zh-CN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物理习题集</a:t>
                      </a:r>
                      <a:endParaRPr lang="zh-CN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王 军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普通物理学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王 军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光学原理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王 军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物理习题集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普通物理学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光学原理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物理习题集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张 平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普通物理学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张 平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光学原理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张 平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物理习题集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…</a:t>
                      </a:r>
                      <a:endParaRPr lang="zh-CN" alt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…</a:t>
                      </a:r>
                      <a:endParaRPr lang="zh-CN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5" name="AutoShape 19">
            <a:extLst>
              <a:ext uri="{FF2B5EF4-FFF2-40B4-BE49-F238E27FC236}">
                <a16:creationId xmlns:a16="http://schemas.microsoft.com/office/drawing/2014/main" id="{2782CA8E-2393-4249-9767-3F562A235890}"/>
              </a:ext>
            </a:extLst>
          </p:cNvPr>
          <p:cNvSpPr>
            <a:spLocks/>
          </p:cNvSpPr>
          <p:nvPr/>
        </p:nvSpPr>
        <p:spPr bwMode="auto">
          <a:xfrm>
            <a:off x="6156325" y="620713"/>
            <a:ext cx="2947988" cy="1071562"/>
          </a:xfrm>
          <a:prstGeom prst="borderCallout2">
            <a:avLst>
              <a:gd name="adj1" fmla="val 10667"/>
              <a:gd name="adj2" fmla="val -2583"/>
              <a:gd name="adj3" fmla="val 10667"/>
              <a:gd name="adj4" fmla="val -14593"/>
              <a:gd name="adj5" fmla="val 121037"/>
              <a:gd name="adj6" fmla="val -27032"/>
            </a:avLst>
          </a:prstGeom>
          <a:gradFill flip="none" rotWithShape="1">
            <a:gsLst>
              <a:gs pos="0">
                <a:srgbClr val="D9FDA5"/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  <a:lin ang="5400000" scaled="0"/>
            <a:tileRect/>
          </a:gra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0000" tIns="190800" rIns="90000" bIns="46800" anchor="ctr"/>
          <a:lstStyle>
            <a:lvl1pPr algn="l" eaLnBrk="0" hangingPunct="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l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dirty="0"/>
              <a:t>(1)</a:t>
            </a:r>
            <a:r>
              <a:rPr lang="zh-CN" altLang="en-US" sz="2000" dirty="0"/>
              <a:t>数据冗余度大：有多少名任课教师，参考书就要存储多少次。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Box 3">
            <a:extLst>
              <a:ext uri="{FF2B5EF4-FFF2-40B4-BE49-F238E27FC236}">
                <a16:creationId xmlns:a16="http://schemas.microsoft.com/office/drawing/2014/main" id="{9E667350-5070-4848-91F3-6FDD6792C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Pct val="100000"/>
              <a:buFontTx/>
              <a:buNone/>
            </a:pPr>
            <a:r>
              <a:rPr lang="zh-CN" altLang="en-US" sz="1400" b="1">
                <a:solidFill>
                  <a:srgbClr val="9537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*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73731" name="文本框 4">
            <a:extLst>
              <a:ext uri="{FF2B5EF4-FFF2-40B4-BE49-F238E27FC236}">
                <a16:creationId xmlns:a16="http://schemas.microsoft.com/office/drawing/2014/main" id="{25E76AB6-8BD9-478F-B13E-DE83C4F77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Pct val="100000"/>
              <a:buFontTx/>
              <a:buNone/>
            </a:pPr>
            <a:endParaRPr lang="zh-CN" altLang="zh-CN" sz="10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4564825C-335B-4B21-941A-96DF8737673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zh-CN">
                <a:sym typeface="微软雅黑" panose="020B0503020204020204" pitchFamily="34" charset="-122"/>
              </a:rPr>
              <a:t>多值依赖（续）</a:t>
            </a: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238D72B2-F512-4956-BC6C-D7464B0C4022}"/>
              </a:ext>
            </a:extLst>
          </p:cNvPr>
          <p:cNvGraphicFramePr>
            <a:graphicFrameLocks noGrp="1"/>
          </p:cNvGraphicFramePr>
          <p:nvPr/>
        </p:nvGraphicFramePr>
        <p:xfrm>
          <a:off x="1116013" y="1052513"/>
          <a:ext cx="6096000" cy="5121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课程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C</a:t>
                      </a:r>
                      <a:endParaRPr lang="zh-CN" alt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教员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T</a:t>
                      </a:r>
                      <a:endParaRPr lang="zh-CN" alt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参考书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B</a:t>
                      </a:r>
                      <a:endParaRPr lang="zh-CN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普通物理学</a:t>
                      </a:r>
                      <a:endParaRPr lang="zh-CN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光学原理</a:t>
                      </a:r>
                      <a:endParaRPr lang="zh-CN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物理习题集</a:t>
                      </a:r>
                      <a:endParaRPr lang="zh-CN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王 军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普通物理学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王 军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光学原理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王 军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物理习题集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普通物理学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光学原理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物理习题集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张 平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普通物理学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张 平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光学原理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张 平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物理习题集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…</a:t>
                      </a:r>
                      <a:endParaRPr lang="zh-CN" alt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…</a:t>
                      </a:r>
                      <a:endParaRPr lang="zh-CN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2" name="AutoShape 18">
            <a:extLst>
              <a:ext uri="{FF2B5EF4-FFF2-40B4-BE49-F238E27FC236}">
                <a16:creationId xmlns:a16="http://schemas.microsoft.com/office/drawing/2014/main" id="{044D0603-FD35-4832-B2FE-2DE3BDE8DD0E}"/>
              </a:ext>
            </a:extLst>
          </p:cNvPr>
          <p:cNvSpPr>
            <a:spLocks/>
          </p:cNvSpPr>
          <p:nvPr/>
        </p:nvSpPr>
        <p:spPr bwMode="auto">
          <a:xfrm>
            <a:off x="6154738" y="765175"/>
            <a:ext cx="2881312" cy="1727200"/>
          </a:xfrm>
          <a:prstGeom prst="borderCallout2">
            <a:avLst>
              <a:gd name="adj1" fmla="val 7222"/>
              <a:gd name="adj2" fmla="val -2644"/>
              <a:gd name="adj3" fmla="val 7222"/>
              <a:gd name="adj4" fmla="val -14931"/>
              <a:gd name="adj5" fmla="val 100102"/>
              <a:gd name="adj6" fmla="val -27657"/>
            </a:avLst>
          </a:prstGeom>
          <a:gradFill>
            <a:gsLst>
              <a:gs pos="0">
                <a:srgbClr val="D9FDA5"/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  <a:lin ang="5400000" scaled="0"/>
          </a:gra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0000" tIns="190800" rIns="90000" bIns="46800" anchor="ctr"/>
          <a:lstStyle>
            <a:lvl1pPr marL="342900" indent="-342900" algn="l" eaLnBrk="0" hangingPunct="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l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79388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FontTx/>
              <a:buNone/>
              <a:defRPr/>
            </a:pPr>
            <a:r>
              <a:rPr lang="en-US" altLang="zh-CN" sz="2000" dirty="0"/>
              <a:t>(2)</a:t>
            </a:r>
            <a:r>
              <a:rPr lang="zh-CN" altLang="en-US" sz="2000" dirty="0"/>
              <a:t>增加操作复杂：当某一课程增加一名任课教师时，该课程有多少本参照书，就必须插入多少个元组。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Box 3">
            <a:extLst>
              <a:ext uri="{FF2B5EF4-FFF2-40B4-BE49-F238E27FC236}">
                <a16:creationId xmlns:a16="http://schemas.microsoft.com/office/drawing/2014/main" id="{6F202D70-6B97-4680-BF58-81C48A099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Pct val="100000"/>
              <a:buFontTx/>
              <a:buNone/>
            </a:pPr>
            <a:r>
              <a:rPr lang="zh-CN" altLang="en-US" sz="1400" b="1">
                <a:solidFill>
                  <a:srgbClr val="9537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*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74755" name="文本框 4">
            <a:extLst>
              <a:ext uri="{FF2B5EF4-FFF2-40B4-BE49-F238E27FC236}">
                <a16:creationId xmlns:a16="http://schemas.microsoft.com/office/drawing/2014/main" id="{E7D77E92-0924-47D4-8E0F-E750232F3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Pct val="100000"/>
              <a:buFontTx/>
              <a:buNone/>
            </a:pPr>
            <a:endParaRPr lang="zh-CN" altLang="zh-CN" sz="10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74756" name="Rectangle 2">
            <a:extLst>
              <a:ext uri="{FF2B5EF4-FFF2-40B4-BE49-F238E27FC236}">
                <a16:creationId xmlns:a16="http://schemas.microsoft.com/office/drawing/2014/main" id="{926E2A18-9FD9-4B30-BA2D-977ADAC1AD4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zh-CN">
                <a:sym typeface="微软雅黑" panose="020B0503020204020204" pitchFamily="34" charset="-122"/>
              </a:rPr>
              <a:t>多值依赖（续）</a:t>
            </a: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4399A634-4693-4925-AA05-8D7F3FF6FF14}"/>
              </a:ext>
            </a:extLst>
          </p:cNvPr>
          <p:cNvGraphicFramePr>
            <a:graphicFrameLocks noGrp="1"/>
          </p:cNvGraphicFramePr>
          <p:nvPr/>
        </p:nvGraphicFramePr>
        <p:xfrm>
          <a:off x="1116013" y="1044575"/>
          <a:ext cx="6096000" cy="5121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课程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C</a:t>
                      </a:r>
                      <a:endParaRPr lang="zh-CN" alt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教员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T</a:t>
                      </a:r>
                      <a:endParaRPr lang="zh-CN" alt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参考书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B</a:t>
                      </a:r>
                      <a:endParaRPr lang="zh-CN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普通物理学</a:t>
                      </a:r>
                      <a:endParaRPr lang="zh-CN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光学原理</a:t>
                      </a:r>
                      <a:endParaRPr lang="zh-CN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物理习题集</a:t>
                      </a:r>
                      <a:endParaRPr lang="zh-CN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王 军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普通物理学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王 军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光学原理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王 军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物理习题集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普通物理学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光学原理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物理习题集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张 平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普通物理学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张 平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光学原理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张 平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物理习题集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…</a:t>
                      </a:r>
                      <a:endParaRPr lang="zh-CN" alt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…</a:t>
                      </a:r>
                      <a:endParaRPr lang="zh-CN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2" name="AutoShape 18">
            <a:extLst>
              <a:ext uri="{FF2B5EF4-FFF2-40B4-BE49-F238E27FC236}">
                <a16:creationId xmlns:a16="http://schemas.microsoft.com/office/drawing/2014/main" id="{4A2096E8-8831-46AF-A976-B42871657322}"/>
              </a:ext>
            </a:extLst>
          </p:cNvPr>
          <p:cNvSpPr>
            <a:spLocks/>
          </p:cNvSpPr>
          <p:nvPr/>
        </p:nvSpPr>
        <p:spPr bwMode="auto">
          <a:xfrm>
            <a:off x="6156325" y="836613"/>
            <a:ext cx="2952750" cy="1439862"/>
          </a:xfrm>
          <a:prstGeom prst="borderCallout2">
            <a:avLst>
              <a:gd name="adj1" fmla="val 7940"/>
              <a:gd name="adj2" fmla="val -2579"/>
              <a:gd name="adj3" fmla="val 7940"/>
              <a:gd name="adj4" fmla="val -14569"/>
              <a:gd name="adj5" fmla="val 90079"/>
              <a:gd name="adj6" fmla="val -26991"/>
            </a:avLst>
          </a:prstGeom>
          <a:gradFill>
            <a:gsLst>
              <a:gs pos="0">
                <a:srgbClr val="D9FDA5"/>
              </a:gs>
              <a:gs pos="0">
                <a:srgbClr val="D9FDA5"/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  <a:lin ang="5400000" scaled="0"/>
          </a:gra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0000" tIns="190800" rIns="90000" bIns="46800" anchor="ctr"/>
          <a:lstStyle>
            <a:lvl1pPr algn="l" eaLnBrk="0" hangingPunct="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l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dirty="0"/>
              <a:t>(3)</a:t>
            </a:r>
            <a:r>
              <a:rPr lang="zh-CN" altLang="en-US" sz="2000" dirty="0"/>
              <a:t>删除操作复杂：某一门课要去掉一本参考书，该课程有多少名教师，就必须删除多少个元组。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Box 3">
            <a:extLst>
              <a:ext uri="{FF2B5EF4-FFF2-40B4-BE49-F238E27FC236}">
                <a16:creationId xmlns:a16="http://schemas.microsoft.com/office/drawing/2014/main" id="{E216822B-170A-4F85-8092-8F4D18A3F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Pct val="100000"/>
              <a:buFontTx/>
              <a:buNone/>
            </a:pPr>
            <a:r>
              <a:rPr lang="zh-CN" altLang="en-US" sz="1400" b="1">
                <a:solidFill>
                  <a:srgbClr val="9537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*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75779" name="文本框 4">
            <a:extLst>
              <a:ext uri="{FF2B5EF4-FFF2-40B4-BE49-F238E27FC236}">
                <a16:creationId xmlns:a16="http://schemas.microsoft.com/office/drawing/2014/main" id="{0C478C40-D324-4377-8A33-45E7B838D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Pct val="100000"/>
              <a:buFontTx/>
              <a:buNone/>
            </a:pPr>
            <a:endParaRPr lang="zh-CN" altLang="zh-CN" sz="10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75780" name="Rectangle 2">
            <a:extLst>
              <a:ext uri="{FF2B5EF4-FFF2-40B4-BE49-F238E27FC236}">
                <a16:creationId xmlns:a16="http://schemas.microsoft.com/office/drawing/2014/main" id="{D5E1781B-D15C-4BB3-988C-1B962C8E0D2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zh-CN">
                <a:sym typeface="微软雅黑" panose="020B0503020204020204" pitchFamily="34" charset="-122"/>
              </a:rPr>
              <a:t>多值依赖（续）</a:t>
            </a: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2B6A7986-292A-485F-BE15-7546FEAAA267}"/>
              </a:ext>
            </a:extLst>
          </p:cNvPr>
          <p:cNvGraphicFramePr>
            <a:graphicFrameLocks noGrp="1"/>
          </p:cNvGraphicFramePr>
          <p:nvPr/>
        </p:nvGraphicFramePr>
        <p:xfrm>
          <a:off x="1116013" y="1052513"/>
          <a:ext cx="6096000" cy="5121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课程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C</a:t>
                      </a:r>
                      <a:endParaRPr lang="zh-CN" alt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教员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T</a:t>
                      </a:r>
                      <a:endParaRPr lang="zh-CN" alt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参考书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B</a:t>
                      </a:r>
                      <a:endParaRPr lang="zh-CN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普通物理学</a:t>
                      </a:r>
                      <a:endParaRPr lang="zh-CN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光学原理</a:t>
                      </a:r>
                      <a:endParaRPr lang="zh-CN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物理习题集</a:t>
                      </a:r>
                      <a:endParaRPr lang="zh-CN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王 军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普通物理学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王 军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光学原理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 理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王 军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物理习题集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普通物理学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光学原理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李 勇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物理习题集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张 平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普通物理学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张 平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光学原理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数 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张 平</a:t>
                      </a: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物理习题集</a:t>
                      </a:r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itchFamily="18" charset="0"/>
                          <a:sym typeface="Times New Roman" pitchFamily="18" charset="0"/>
                        </a:rPr>
                        <a:t>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itchFamily="18" charset="0"/>
                        <a:sym typeface="Times New Roman" pitchFamily="18" charset="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…</a:t>
                      </a:r>
                      <a:endParaRPr lang="zh-CN" alt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…</a:t>
                      </a:r>
                      <a:endParaRPr lang="zh-CN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3" name="AutoShape 18">
            <a:extLst>
              <a:ext uri="{FF2B5EF4-FFF2-40B4-BE49-F238E27FC236}">
                <a16:creationId xmlns:a16="http://schemas.microsoft.com/office/drawing/2014/main" id="{F3105871-52BE-4944-A99A-33AD0A06F1BF}"/>
              </a:ext>
            </a:extLst>
          </p:cNvPr>
          <p:cNvSpPr>
            <a:spLocks/>
          </p:cNvSpPr>
          <p:nvPr/>
        </p:nvSpPr>
        <p:spPr bwMode="auto">
          <a:xfrm>
            <a:off x="6088063" y="836613"/>
            <a:ext cx="2947987" cy="1366837"/>
          </a:xfrm>
          <a:prstGeom prst="borderCallout2">
            <a:avLst>
              <a:gd name="adj1" fmla="val 8361"/>
              <a:gd name="adj2" fmla="val -2583"/>
              <a:gd name="adj3" fmla="val 8361"/>
              <a:gd name="adj4" fmla="val -14593"/>
              <a:gd name="adj5" fmla="val 100116"/>
              <a:gd name="adj6" fmla="val -27032"/>
            </a:avLst>
          </a:prstGeom>
          <a:gradFill>
            <a:gsLst>
              <a:gs pos="0">
                <a:srgbClr val="D9FDA5"/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  <a:lin ang="5400000" scaled="0"/>
          </a:gra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0000" tIns="190800" rIns="90000" bIns="46800" anchor="ctr"/>
          <a:lstStyle>
            <a:lvl1pPr algn="l" eaLnBrk="0" hangingPunct="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l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dirty="0"/>
              <a:t>(4)</a:t>
            </a:r>
            <a:r>
              <a:rPr lang="zh-CN" altLang="en-US" sz="2000" dirty="0"/>
              <a:t>修改操作复杂：某一门课要修改一本参考书，该课程有多少名教师，就必须修改多少个元组。</a:t>
            </a:r>
          </a:p>
        </p:txBody>
      </p:sp>
      <p:sp>
        <p:nvSpPr>
          <p:cNvPr id="24" name="Rectangle 19">
            <a:extLst>
              <a:ext uri="{FF2B5EF4-FFF2-40B4-BE49-F238E27FC236}">
                <a16:creationId xmlns:a16="http://schemas.microsoft.com/office/drawing/2014/main" id="{46BBE8F4-28D3-4F3A-8A48-10B00F0EE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500688"/>
            <a:ext cx="8137525" cy="85725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5400000" scaled="0"/>
            <a:tileRect/>
          </a:gra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 algn="l" defTabSz="220663" eaLnBrk="0" hangingPunct="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l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220663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220663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defTabSz="220663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defTabSz="220663" eaLnBrk="0" hangingPunct="0">
              <a:spcBef>
                <a:spcPct val="20000"/>
              </a:spcBef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2206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2206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2206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2206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200" dirty="0"/>
              <a:t>产生原因</a:t>
            </a:r>
            <a:r>
              <a:rPr lang="en-US" altLang="zh-CN" sz="2200" dirty="0"/>
              <a:t>:</a:t>
            </a:r>
            <a:r>
              <a:rPr lang="zh-CN" altLang="en-US" sz="2000" dirty="0">
                <a:ea typeface="宋体" charset="-122"/>
              </a:rPr>
              <a:t>	</a:t>
            </a:r>
            <a:r>
              <a:rPr lang="zh-CN" altLang="en-US" sz="2200" dirty="0">
                <a:solidFill>
                  <a:schemeClr val="accent2"/>
                </a:solidFill>
              </a:rPr>
              <a:t>存在多值依赖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07E59891-968B-4CAA-86BA-85E8392076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一、多值依赖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D3E6141F-98E2-47EB-8A42-637E4FAF28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844675"/>
            <a:ext cx="8415338" cy="41148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dirty="0"/>
              <a:t>定义</a:t>
            </a:r>
            <a:r>
              <a:rPr lang="en-US" altLang="zh-CN" sz="2800" dirty="0"/>
              <a:t>6.10  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设</a:t>
            </a:r>
            <a:r>
              <a:rPr lang="en-US" altLang="zh-CN" sz="2400" dirty="0"/>
              <a:t>R(U)</a:t>
            </a:r>
            <a:r>
              <a:rPr lang="zh-CN" altLang="en-US" sz="2400" dirty="0"/>
              <a:t>是一个属性集</a:t>
            </a:r>
            <a:r>
              <a:rPr lang="en-US" altLang="zh-CN" sz="2400" dirty="0"/>
              <a:t>U</a:t>
            </a:r>
            <a:r>
              <a:rPr lang="zh-CN" altLang="en-US" sz="2400" dirty="0"/>
              <a:t>上的一个关系模式， </a:t>
            </a:r>
            <a:r>
              <a:rPr lang="en-US" altLang="zh-CN" sz="2400" dirty="0"/>
              <a:t>X</a:t>
            </a:r>
            <a:r>
              <a:rPr lang="zh-CN" altLang="en-US" sz="2400" dirty="0"/>
              <a:t>、 </a:t>
            </a:r>
            <a:r>
              <a:rPr lang="en-US" altLang="zh-CN" sz="2400" dirty="0"/>
              <a:t>Y</a:t>
            </a:r>
            <a:r>
              <a:rPr lang="zh-CN" altLang="en-US" sz="2400" dirty="0"/>
              <a:t>和</a:t>
            </a:r>
            <a:r>
              <a:rPr lang="en-US" altLang="zh-CN" sz="2400" dirty="0"/>
              <a:t>Z</a:t>
            </a:r>
            <a:r>
              <a:rPr lang="zh-CN" altLang="en-US" sz="2400" dirty="0"/>
              <a:t>是</a:t>
            </a:r>
            <a:r>
              <a:rPr lang="en-US" altLang="zh-CN" sz="2400" dirty="0"/>
              <a:t>U</a:t>
            </a:r>
            <a:r>
              <a:rPr lang="zh-CN" altLang="en-US" sz="2400" dirty="0"/>
              <a:t>的子集，并且</a:t>
            </a:r>
            <a:r>
              <a:rPr lang="en-US" altLang="zh-CN" sz="2400" dirty="0"/>
              <a:t>Z</a:t>
            </a:r>
            <a:r>
              <a:rPr lang="zh-CN" altLang="en-US" sz="2400" dirty="0"/>
              <a:t>＝</a:t>
            </a:r>
            <a:r>
              <a:rPr lang="en-US" altLang="zh-CN" sz="2400" dirty="0"/>
              <a:t>U</a:t>
            </a:r>
            <a:r>
              <a:rPr lang="zh-CN" altLang="en-US" sz="2400" dirty="0"/>
              <a:t>－</a:t>
            </a:r>
            <a:r>
              <a:rPr lang="en-US" altLang="zh-CN" sz="2400" dirty="0"/>
              <a:t>X</a:t>
            </a:r>
            <a:r>
              <a:rPr lang="zh-CN" altLang="en-US" sz="2400" dirty="0"/>
              <a:t>－</a:t>
            </a:r>
            <a:r>
              <a:rPr lang="en-US" altLang="zh-CN" sz="2400" dirty="0"/>
              <a:t>Y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chemeClr val="accent2"/>
                </a:solidFill>
              </a:rPr>
              <a:t>多值依赖 </a:t>
            </a:r>
            <a:r>
              <a:rPr lang="en-US" altLang="zh-CN" sz="2400" dirty="0"/>
              <a:t>X→→Y</a:t>
            </a:r>
            <a:r>
              <a:rPr lang="zh-CN" altLang="en-US" sz="2400" dirty="0"/>
              <a:t>成立当且仅当对</a:t>
            </a:r>
            <a:r>
              <a:rPr lang="en-US" altLang="zh-CN" sz="2400" dirty="0"/>
              <a:t>R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6600FF"/>
                </a:solidFill>
              </a:rPr>
              <a:t>任一关系</a:t>
            </a:r>
            <a:r>
              <a:rPr lang="en-US" altLang="zh-CN" dirty="0">
                <a:solidFill>
                  <a:srgbClr val="6600FF"/>
                </a:solidFill>
              </a:rPr>
              <a:t>r</a:t>
            </a:r>
            <a:r>
              <a:rPr lang="zh-CN" altLang="en-US" sz="2400" dirty="0"/>
              <a:t>，</a:t>
            </a:r>
            <a:r>
              <a:rPr lang="en-US" altLang="zh-CN" dirty="0"/>
              <a:t>r</a:t>
            </a:r>
            <a:r>
              <a:rPr lang="zh-CN" altLang="en-US" sz="2400" dirty="0"/>
              <a:t>在（</a:t>
            </a:r>
            <a:r>
              <a:rPr lang="en-US" altLang="zh-CN" sz="2400" dirty="0"/>
              <a:t>X</a:t>
            </a:r>
            <a:r>
              <a:rPr lang="zh-CN" altLang="en-US" sz="2400" dirty="0"/>
              <a:t>，</a:t>
            </a:r>
            <a:r>
              <a:rPr lang="en-US" altLang="zh-CN" sz="2400" dirty="0"/>
              <a:t>Z</a:t>
            </a:r>
            <a:r>
              <a:rPr lang="zh-CN" altLang="en-US" sz="2400" dirty="0"/>
              <a:t>）上的每个值对应一组</a:t>
            </a:r>
            <a:r>
              <a:rPr lang="en-US" altLang="zh-CN" sz="2400" dirty="0"/>
              <a:t>Y</a:t>
            </a:r>
            <a:r>
              <a:rPr lang="zh-CN" altLang="en-US" sz="2400" dirty="0"/>
              <a:t>的值，这组值仅仅决定于</a:t>
            </a:r>
            <a:r>
              <a:rPr lang="en-US" altLang="zh-CN" sz="2400" dirty="0"/>
              <a:t>X</a:t>
            </a:r>
            <a:r>
              <a:rPr lang="zh-CN" altLang="en-US" sz="2400" dirty="0"/>
              <a:t>值而与</a:t>
            </a:r>
            <a:r>
              <a:rPr lang="en-US" altLang="zh-CN" sz="2400" dirty="0"/>
              <a:t>Z</a:t>
            </a:r>
            <a:r>
              <a:rPr lang="zh-CN" altLang="en-US" sz="2400" dirty="0"/>
              <a:t>值无关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	</a:t>
            </a:r>
            <a:endParaRPr lang="en-US" altLang="zh-CN" sz="28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例  </a:t>
            </a:r>
            <a:r>
              <a:rPr lang="en-US" altLang="zh-CN" sz="2800" dirty="0"/>
              <a:t>Teaching</a:t>
            </a:r>
            <a:r>
              <a:rPr lang="zh-CN" altLang="en-US" sz="2800" dirty="0"/>
              <a:t>（</a:t>
            </a:r>
            <a:r>
              <a:rPr lang="en-US" altLang="zh-CN" sz="2800" dirty="0"/>
              <a:t>C, T, B</a:t>
            </a:r>
            <a:r>
              <a:rPr lang="zh-CN" altLang="en-US" sz="2800" dirty="0"/>
              <a:t>）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 </a:t>
            </a:r>
            <a:r>
              <a:rPr lang="zh-CN" altLang="en-US" sz="2400" dirty="0"/>
              <a:t>对于</a:t>
            </a:r>
            <a:r>
              <a:rPr lang="en-US" altLang="zh-CN" sz="2400" dirty="0"/>
              <a:t>C</a:t>
            </a:r>
            <a:r>
              <a:rPr lang="zh-CN" altLang="en-US" sz="2400" dirty="0"/>
              <a:t>的每一个值，</a:t>
            </a:r>
            <a:r>
              <a:rPr lang="en-US" altLang="zh-CN" sz="2400" dirty="0"/>
              <a:t>T</a:t>
            </a:r>
            <a:r>
              <a:rPr lang="zh-CN" altLang="en-US" sz="2400" dirty="0"/>
              <a:t>有一组值与之对应，而不论</a:t>
            </a:r>
            <a:r>
              <a:rPr lang="en-US" altLang="zh-CN" sz="2400" dirty="0"/>
              <a:t>B</a:t>
            </a:r>
            <a:r>
              <a:rPr lang="zh-CN" altLang="en-US" sz="2400" dirty="0"/>
              <a:t>取何值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C→→T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页脚占位符 4">
            <a:extLst>
              <a:ext uri="{FF2B5EF4-FFF2-40B4-BE49-F238E27FC236}">
                <a16:creationId xmlns:a16="http://schemas.microsoft.com/office/drawing/2014/main" id="{F4DD333F-BF6C-4D91-B595-EF9BB9DECB8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4267200" y="6356350"/>
            <a:ext cx="476885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An Introduction to Database System</a:t>
            </a: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A89CE88F-2B7B-411F-AF6F-32BE1F7145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多值依赖（续）</a:t>
            </a: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B74C5CF2-55E5-4F5E-8151-F2706C6227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114800"/>
          </a:xfrm>
        </p:spPr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lang="zh-CN" altLang="en-US" sz="2800"/>
              <a:t>平凡多值依赖和非平凡的多值依赖</a:t>
            </a:r>
          </a:p>
          <a:p>
            <a:pPr lvl="1" eaLnBrk="1" hangingPunct="1">
              <a:lnSpc>
                <a:spcPct val="160000"/>
              </a:lnSpc>
            </a:pPr>
            <a:r>
              <a:rPr lang="zh-CN" altLang="en-US" sz="2400"/>
              <a:t>	</a:t>
            </a:r>
            <a:r>
              <a:rPr lang="zh-CN" altLang="en-US"/>
              <a:t>若</a:t>
            </a:r>
            <a:r>
              <a:rPr lang="en-US" altLang="zh-CN"/>
              <a:t>X→→Y</a:t>
            </a:r>
            <a:r>
              <a:rPr lang="zh-CN" altLang="en-US"/>
              <a:t>，而</a:t>
            </a:r>
            <a:r>
              <a:rPr lang="en-US" altLang="zh-CN"/>
              <a:t>Z</a:t>
            </a:r>
            <a:r>
              <a:rPr lang="zh-CN" altLang="en-US"/>
              <a:t>＝</a:t>
            </a:r>
            <a:r>
              <a:rPr lang="en-US" altLang="zh-CN"/>
              <a:t>φ</a:t>
            </a:r>
            <a:r>
              <a:rPr lang="zh-CN" altLang="en-US"/>
              <a:t>，则称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/>
              <a:t>     </a:t>
            </a:r>
            <a:r>
              <a:rPr lang="en-US" altLang="zh-CN"/>
              <a:t>X→→Y</a:t>
            </a:r>
            <a:r>
              <a:rPr lang="zh-CN" altLang="en-US"/>
              <a:t>为</a:t>
            </a:r>
            <a:r>
              <a:rPr lang="zh-CN" altLang="en-US">
                <a:solidFill>
                  <a:schemeClr val="accent2"/>
                </a:solidFill>
              </a:rPr>
              <a:t>平凡的多值依赖</a:t>
            </a:r>
            <a:endParaRPr lang="zh-CN" altLang="en-US"/>
          </a:p>
          <a:p>
            <a:pPr lvl="1" eaLnBrk="1" hangingPunct="1">
              <a:lnSpc>
                <a:spcPct val="200000"/>
              </a:lnSpc>
            </a:pPr>
            <a:r>
              <a:rPr lang="zh-CN" altLang="en-US"/>
              <a:t>	否则称</a:t>
            </a:r>
            <a:r>
              <a:rPr lang="en-US" altLang="zh-CN"/>
              <a:t>X→→Y</a:t>
            </a:r>
            <a:r>
              <a:rPr lang="zh-CN" altLang="en-US"/>
              <a:t>为</a:t>
            </a:r>
            <a:r>
              <a:rPr lang="zh-CN" altLang="en-US">
                <a:solidFill>
                  <a:schemeClr val="accent2"/>
                </a:solidFill>
              </a:rPr>
              <a:t>非平凡的多值依赖</a:t>
            </a:r>
            <a:endParaRPr lang="zh-CN" altLang="en-US" sz="24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页脚占位符 4">
            <a:extLst>
              <a:ext uri="{FF2B5EF4-FFF2-40B4-BE49-F238E27FC236}">
                <a16:creationId xmlns:a16="http://schemas.microsoft.com/office/drawing/2014/main" id="{FBCFF57A-E955-49FA-B7C5-9A60AD91537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4340225" y="6356350"/>
            <a:ext cx="476885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An Introduction to Database System</a:t>
            </a: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05A8B42E-D124-4461-BEA3-F14F0D599C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6.2.8 </a:t>
            </a:r>
            <a:r>
              <a:rPr lang="zh-CN" altLang="en-US"/>
              <a:t>第四范式（</a:t>
            </a:r>
            <a:r>
              <a:rPr lang="en-US" altLang="zh-CN"/>
              <a:t>4NF</a:t>
            </a:r>
            <a:r>
              <a:rPr lang="zh-CN" altLang="en-US"/>
              <a:t>）</a:t>
            </a:r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7E4C7AD1-FB06-4F17-AD6C-DC57F0C696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2017713"/>
            <a:ext cx="8486775" cy="41148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dirty="0"/>
              <a:t>定义</a:t>
            </a:r>
            <a:r>
              <a:rPr lang="en-US" altLang="zh-CN" sz="2800" dirty="0"/>
              <a:t>6.10   </a:t>
            </a:r>
            <a:r>
              <a:rPr lang="zh-CN" altLang="en-US" sz="2800" dirty="0"/>
              <a:t>关系模式</a:t>
            </a:r>
            <a:r>
              <a:rPr lang="en-US" altLang="zh-CN" sz="2800" dirty="0"/>
              <a:t>R&lt;U</a:t>
            </a:r>
            <a:r>
              <a:rPr lang="zh-CN" altLang="en-US" sz="2800" dirty="0"/>
              <a:t>，</a:t>
            </a:r>
            <a:r>
              <a:rPr lang="en-US" altLang="zh-CN" sz="2800" dirty="0"/>
              <a:t>F&gt;∈1NF</a:t>
            </a:r>
            <a:r>
              <a:rPr lang="zh-CN" altLang="en-US" sz="2800" dirty="0"/>
              <a:t>，如果对于</a:t>
            </a:r>
            <a:r>
              <a:rPr lang="en-US" altLang="zh-CN" sz="2800" dirty="0"/>
              <a:t>R</a:t>
            </a:r>
            <a:r>
              <a:rPr lang="zh-CN" altLang="en-US" sz="2800" dirty="0"/>
              <a:t>的每个非平凡多值依赖</a:t>
            </a:r>
            <a:r>
              <a:rPr lang="en-US" altLang="zh-CN" sz="2800" dirty="0"/>
              <a:t>X→→Y</a:t>
            </a:r>
            <a:r>
              <a:rPr lang="zh-CN" altLang="en-US" sz="2800" dirty="0"/>
              <a:t>（</a:t>
            </a:r>
            <a:r>
              <a:rPr lang="en-US" altLang="zh-CN" sz="2800" dirty="0"/>
              <a:t>Y 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 X</a:t>
            </a:r>
            <a:r>
              <a:rPr lang="zh-CN" altLang="en-US" sz="2800" dirty="0"/>
              <a:t>），</a:t>
            </a:r>
            <a:r>
              <a:rPr lang="en-US" altLang="zh-CN" sz="2800" dirty="0"/>
              <a:t>X</a:t>
            </a:r>
            <a:r>
              <a:rPr lang="zh-CN" altLang="en-US" sz="2800" dirty="0"/>
              <a:t>都含有候选码，则</a:t>
            </a:r>
            <a:r>
              <a:rPr lang="en-US" altLang="zh-CN" sz="2800" dirty="0"/>
              <a:t>R∈4NF</a:t>
            </a:r>
            <a:r>
              <a:rPr lang="zh-CN" altLang="en-US" sz="2800" dirty="0"/>
              <a:t>。</a:t>
            </a:r>
          </a:p>
          <a:p>
            <a:pPr eaLnBrk="1" hangingPunct="1">
              <a:lnSpc>
                <a:spcPct val="120000"/>
              </a:lnSpc>
            </a:pPr>
            <a:endParaRPr lang="en-US" altLang="zh-CN" sz="2800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/>
              <a:t>如果</a:t>
            </a:r>
            <a:r>
              <a:rPr lang="en-US" altLang="zh-CN" sz="2800" dirty="0"/>
              <a:t>R ∈ 4NF</a:t>
            </a:r>
            <a:r>
              <a:rPr lang="zh-CN" altLang="en-US" sz="2800" dirty="0"/>
              <a:t>， 则</a:t>
            </a:r>
            <a:r>
              <a:rPr lang="en-US" altLang="zh-CN" sz="2800" dirty="0"/>
              <a:t>R ∈ BCNF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</a:t>
            </a:r>
            <a:r>
              <a:rPr lang="zh-CN" altLang="en-US" sz="2800" dirty="0">
                <a:solidFill>
                  <a:srgbClr val="6600FF"/>
                </a:solidFill>
              </a:rPr>
              <a:t>不允许</a:t>
            </a:r>
            <a:r>
              <a:rPr lang="zh-CN" altLang="en-US" sz="2800" dirty="0"/>
              <a:t>有非平凡且非函数依赖的</a:t>
            </a:r>
            <a:r>
              <a:rPr lang="zh-CN" altLang="en-US" sz="2800" dirty="0">
                <a:solidFill>
                  <a:srgbClr val="6600FF"/>
                </a:solidFill>
              </a:rPr>
              <a:t>多值依赖</a:t>
            </a:r>
            <a:endParaRPr lang="zh-CN" altLang="en-US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  <a:r>
              <a:rPr lang="zh-CN" altLang="en-US" sz="2800" dirty="0">
                <a:solidFill>
                  <a:srgbClr val="6600FF"/>
                </a:solidFill>
              </a:rPr>
              <a:t>允许</a:t>
            </a:r>
            <a:r>
              <a:rPr lang="zh-CN" altLang="en-US" sz="2800" dirty="0"/>
              <a:t>的是</a:t>
            </a:r>
            <a:r>
              <a:rPr lang="zh-CN" altLang="en-US" sz="2800" dirty="0">
                <a:solidFill>
                  <a:srgbClr val="6600FF"/>
                </a:solidFill>
              </a:rPr>
              <a:t>函数依赖</a:t>
            </a:r>
            <a:r>
              <a:rPr lang="zh-CN" altLang="en-US" sz="2800" dirty="0"/>
              <a:t>（是非平凡多值依赖）</a:t>
            </a:r>
          </a:p>
        </p:txBody>
      </p:sp>
      <p:sp>
        <p:nvSpPr>
          <p:cNvPr id="78853" name="Line 4">
            <a:extLst>
              <a:ext uri="{FF2B5EF4-FFF2-40B4-BE49-F238E27FC236}">
                <a16:creationId xmlns:a16="http://schemas.microsoft.com/office/drawing/2014/main" id="{5CB341D7-71DA-4EC5-9101-599960BA1D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0788" y="2714625"/>
            <a:ext cx="214312" cy="428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6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6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页脚占位符 4">
            <a:extLst>
              <a:ext uri="{FF2B5EF4-FFF2-40B4-BE49-F238E27FC236}">
                <a16:creationId xmlns:a16="http://schemas.microsoft.com/office/drawing/2014/main" id="{B02D3A62-66FD-4CC3-9F6F-1907CA2C252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4340225" y="6427788"/>
            <a:ext cx="476885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An Introduction to Database System</a:t>
            </a: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B7508C4A-6340-4697-B821-FF52A6DF73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第四范式（续）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5A688FF9-8880-4329-A3B4-C75243DC7E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2017713"/>
            <a:ext cx="7772400" cy="41148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例： </a:t>
            </a:r>
            <a:r>
              <a:rPr lang="en-US" altLang="zh-CN" sz="2400"/>
              <a:t>Teach(C,T,B) ∈ 4NF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</a:t>
            </a:r>
            <a:r>
              <a:rPr lang="zh-CN" altLang="en-US" sz="2400"/>
              <a:t>存在非平凡的多值依赖</a:t>
            </a:r>
            <a:r>
              <a:rPr lang="en-US" altLang="zh-CN" sz="2400"/>
              <a:t>C→→T</a:t>
            </a:r>
            <a:r>
              <a:rPr lang="zh-CN" altLang="en-US" sz="2400"/>
              <a:t>，且</a:t>
            </a:r>
            <a:r>
              <a:rPr lang="en-US" altLang="zh-CN" sz="2400"/>
              <a:t>C</a:t>
            </a:r>
            <a:r>
              <a:rPr lang="zh-CN" altLang="en-US" sz="2400"/>
              <a:t>不是候选码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400"/>
              <a:t>用投影分解法把</a:t>
            </a:r>
            <a:r>
              <a:rPr lang="en-US" altLang="zh-CN" sz="2400"/>
              <a:t>Teach</a:t>
            </a:r>
            <a:r>
              <a:rPr lang="zh-CN" altLang="en-US" sz="2400"/>
              <a:t>分解为如下两个关系模式：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		               </a:t>
            </a:r>
            <a:r>
              <a:rPr lang="en-US" altLang="zh-CN" sz="2400"/>
              <a:t>CT(C, T) ∈ 4NF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        CB(C, B) ∈ 4NF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  <a:r>
              <a:rPr lang="en-US" altLang="zh-CN" sz="2400"/>
              <a:t>C→→T</a:t>
            </a:r>
            <a:r>
              <a:rPr lang="zh-CN" altLang="en-US" sz="2400"/>
              <a:t>， </a:t>
            </a:r>
            <a:r>
              <a:rPr lang="en-US" altLang="zh-CN" sz="2400"/>
              <a:t>C→→B</a:t>
            </a:r>
            <a:r>
              <a:rPr lang="zh-CN" altLang="en-US" sz="2400"/>
              <a:t>是平凡多值依赖</a:t>
            </a:r>
            <a:endParaRPr lang="zh-CN" altLang="en-US"/>
          </a:p>
          <a:p>
            <a:pPr lvl="3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</a:t>
            </a:r>
          </a:p>
        </p:txBody>
      </p:sp>
      <p:sp>
        <p:nvSpPr>
          <p:cNvPr id="79877" name="Line 4">
            <a:extLst>
              <a:ext uri="{FF2B5EF4-FFF2-40B4-BE49-F238E27FC236}">
                <a16:creationId xmlns:a16="http://schemas.microsoft.com/office/drawing/2014/main" id="{9FA6557D-0D14-415D-8939-DEAE67EFF5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3938" y="2205038"/>
            <a:ext cx="762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7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7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75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675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页脚占位符 4">
            <a:extLst>
              <a:ext uri="{FF2B5EF4-FFF2-40B4-BE49-F238E27FC236}">
                <a16:creationId xmlns:a16="http://schemas.microsoft.com/office/drawing/2014/main" id="{DC661129-396D-44F7-99C5-93A0E9BE449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4340225" y="6427788"/>
            <a:ext cx="476885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An Introduction to Database System</a:t>
            </a: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34128134-7161-44D2-A78E-47BC5A4026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6.2 </a:t>
            </a:r>
            <a:r>
              <a:rPr lang="zh-CN" altLang="en-US"/>
              <a:t>规范化</a:t>
            </a:r>
          </a:p>
        </p:txBody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D41C05AA-7E5F-4F69-8FF0-0ABE1985E0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/>
              <a:t>6.2.4 </a:t>
            </a:r>
            <a:r>
              <a:rPr lang="zh-CN" altLang="en-US"/>
              <a:t>第一范式（</a:t>
            </a:r>
            <a:r>
              <a:rPr lang="en-US" altLang="zh-CN"/>
              <a:t>1NF</a:t>
            </a:r>
            <a:r>
              <a:rPr lang="zh-CN" altLang="en-US"/>
              <a:t>）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/>
              <a:t>6.2.4 </a:t>
            </a:r>
            <a:r>
              <a:rPr lang="zh-CN" altLang="en-US"/>
              <a:t>第二范式（</a:t>
            </a:r>
            <a:r>
              <a:rPr lang="en-US" altLang="zh-CN"/>
              <a:t>2NF</a:t>
            </a:r>
            <a:r>
              <a:rPr lang="zh-CN" altLang="en-US"/>
              <a:t>）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/>
              <a:t>6.2.5 </a:t>
            </a:r>
            <a:r>
              <a:rPr lang="zh-CN" altLang="en-US"/>
              <a:t>第三范式（</a:t>
            </a:r>
            <a:r>
              <a:rPr lang="en-US" altLang="zh-CN"/>
              <a:t>3NF</a:t>
            </a:r>
            <a:r>
              <a:rPr lang="zh-CN" altLang="en-US"/>
              <a:t>）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/>
              <a:t>6.2.6 BC</a:t>
            </a:r>
            <a:r>
              <a:rPr lang="zh-CN" altLang="en-US"/>
              <a:t>范式（</a:t>
            </a:r>
            <a:r>
              <a:rPr lang="en-US" altLang="zh-CN"/>
              <a:t>BCNF</a:t>
            </a:r>
            <a:r>
              <a:rPr lang="zh-CN" altLang="en-US"/>
              <a:t>）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/>
              <a:t>6.2.7</a:t>
            </a:r>
            <a:r>
              <a:rPr lang="zh-CN" altLang="en-US"/>
              <a:t>多值依赖与第四范式（</a:t>
            </a:r>
            <a:r>
              <a:rPr lang="en-US" altLang="zh-CN"/>
              <a:t>4NF</a:t>
            </a:r>
            <a:r>
              <a:rPr lang="zh-CN" altLang="en-US"/>
              <a:t>）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accent2"/>
                </a:solidFill>
              </a:rPr>
              <a:t>6.2.9 </a:t>
            </a:r>
            <a:r>
              <a:rPr lang="zh-CN" altLang="en-US">
                <a:solidFill>
                  <a:schemeClr val="accent2"/>
                </a:solidFill>
              </a:rPr>
              <a:t>规范化小结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页脚占位符 4">
            <a:extLst>
              <a:ext uri="{FF2B5EF4-FFF2-40B4-BE49-F238E27FC236}">
                <a16:creationId xmlns:a16="http://schemas.microsoft.com/office/drawing/2014/main" id="{A69071F2-2880-47D0-BF17-9B6EAA6129F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4340225" y="6427788"/>
            <a:ext cx="476885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An Introduction to Database System</a:t>
            </a: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3D9A632B-3CF3-4E29-B6C3-50D67EC92C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6.2.9 </a:t>
            </a:r>
            <a:r>
              <a:rPr lang="zh-CN" altLang="en-US"/>
              <a:t>规范化小结</a:t>
            </a: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8974C05F-9946-4AB3-96D7-E7796D32AC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2017713"/>
            <a:ext cx="8631238" cy="4114800"/>
          </a:xfrm>
        </p:spPr>
        <p:txBody>
          <a:bodyPr/>
          <a:lstStyle/>
          <a:p>
            <a:pPr eaLnBrk="1" hangingPunct="1"/>
            <a:r>
              <a:rPr lang="zh-CN" altLang="en-US" sz="2800"/>
              <a:t>关系数据库的规范化理论是数据库逻辑设计的工具。</a:t>
            </a:r>
          </a:p>
          <a:p>
            <a:pPr lvl="3" eaLnBrk="1" hangingPunct="1"/>
            <a:endParaRPr lang="zh-CN" altLang="en-US" sz="1800"/>
          </a:p>
          <a:p>
            <a:pPr eaLnBrk="1" hangingPunct="1"/>
            <a:r>
              <a:rPr lang="zh-CN" altLang="en-US" sz="2800"/>
              <a:t>一个关系只要其分量都是不可分的数据项，它就是规范化的关系，但这只是</a:t>
            </a:r>
            <a:r>
              <a:rPr lang="zh-CN" altLang="en-US" sz="2800">
                <a:solidFill>
                  <a:srgbClr val="FF0000"/>
                </a:solidFill>
              </a:rPr>
              <a:t>最基本</a:t>
            </a:r>
            <a:r>
              <a:rPr lang="zh-CN" altLang="en-US" sz="2800"/>
              <a:t>的规范化。</a:t>
            </a:r>
          </a:p>
          <a:p>
            <a:pPr lvl="4" eaLnBrk="1" hangingPunct="1"/>
            <a:endParaRPr lang="zh-CN" altLang="en-US" sz="1800"/>
          </a:p>
          <a:p>
            <a:pPr eaLnBrk="1" hangingPunct="1"/>
            <a:r>
              <a:rPr lang="zh-CN" altLang="en-US" sz="2800"/>
              <a:t>规范化程度可以有多个不同的级别。</a:t>
            </a:r>
            <a:endParaRPr lang="zh-CN" altLang="en-US" sz="24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页脚占位符 4">
            <a:extLst>
              <a:ext uri="{FF2B5EF4-FFF2-40B4-BE49-F238E27FC236}">
                <a16:creationId xmlns:a16="http://schemas.microsoft.com/office/drawing/2014/main" id="{8A90AA81-8624-4815-A63C-4BF91B40C2F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4340225" y="6427788"/>
            <a:ext cx="476885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An Introduction to Database System</a:t>
            </a: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BDD889B1-1DF1-4406-A971-FD333710DA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规范化小结（续）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F2E95764-F875-4F79-B946-0E48CBAB06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828800"/>
            <a:ext cx="8359775" cy="41148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/>
              <a:t>规范化程度过低的关系不一定能够很好地描述现实世界，可能会存在插入异常、删除异常、修改复杂、数据冗余等问题。</a:t>
            </a:r>
          </a:p>
          <a:p>
            <a:pPr eaLnBrk="1" hangingPunct="1">
              <a:lnSpc>
                <a:spcPct val="150000"/>
              </a:lnSpc>
            </a:pPr>
            <a:endParaRPr lang="en-US" altLang="zh-CN" sz="2400"/>
          </a:p>
          <a:p>
            <a:pPr eaLnBrk="1" hangingPunct="1">
              <a:lnSpc>
                <a:spcPct val="150000"/>
              </a:lnSpc>
            </a:pPr>
            <a:r>
              <a:rPr lang="zh-CN" altLang="en-US" sz="2400"/>
              <a:t>一个低一级范式的关系模式，通过</a:t>
            </a:r>
            <a:r>
              <a:rPr lang="zh-CN" altLang="en-US" sz="2400">
                <a:solidFill>
                  <a:srgbClr val="FF0000"/>
                </a:solidFill>
              </a:rPr>
              <a:t>模式分解</a:t>
            </a:r>
            <a:r>
              <a:rPr lang="zh-CN" altLang="en-US" sz="2400"/>
              <a:t>可以转换为若干个高一级范式的关系模式集合，这种过程就叫</a:t>
            </a:r>
            <a:r>
              <a:rPr lang="zh-CN" altLang="en-US" sz="2400">
                <a:solidFill>
                  <a:schemeClr val="accent2"/>
                </a:solidFill>
              </a:rPr>
              <a:t>关系模式的规范化</a:t>
            </a:r>
            <a:r>
              <a:rPr lang="zh-CN" altLang="en-US" sz="240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FC2023BF-4532-479C-A707-6127A7705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630488"/>
            <a:ext cx="8153400" cy="4038600"/>
          </a:xfrm>
          <a:prstGeom prst="rect">
            <a:avLst/>
          </a:prstGeom>
          <a:solidFill>
            <a:srgbClr val="FFFF00">
              <a:alpha val="50195"/>
            </a:srgb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A21EDCE3-1022-4CC1-8BF2-00D0B49866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规范化小结（续）</a:t>
            </a:r>
          </a:p>
        </p:txBody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73CEC379-5DD5-4E03-9069-4D1C353A8C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关系模式规范化的基本步骤</a:t>
            </a:r>
            <a:endParaRPr lang="zh-CN" altLang="en-US" sz="28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            	   </a:t>
            </a:r>
            <a:r>
              <a:rPr lang="en-US" altLang="zh-CN" sz="2400"/>
              <a:t>1NF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	    ↓  </a:t>
            </a:r>
            <a:r>
              <a:rPr lang="zh-CN" altLang="en-US" sz="2400"/>
              <a:t>消除非主属性对码的部分函数依赖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消除决定属性   </a:t>
            </a:r>
            <a:r>
              <a:rPr lang="en-US" altLang="zh-CN" sz="2400"/>
              <a:t>2NF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集非码的非平    ↓  消除非主属性对码的传递函数依赖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凡函数依赖       </a:t>
            </a:r>
            <a:r>
              <a:rPr lang="en-US" altLang="zh-CN" sz="2400"/>
              <a:t>3NF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	    ↓  </a:t>
            </a:r>
            <a:r>
              <a:rPr lang="zh-CN" altLang="en-US" sz="2400"/>
              <a:t>消除主属性对码的部分和传递函数依			赖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           	  </a:t>
            </a:r>
            <a:r>
              <a:rPr lang="en-US" altLang="zh-CN" sz="2400"/>
              <a:t>BCNF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	    ↓  </a:t>
            </a:r>
            <a:r>
              <a:rPr lang="zh-CN" altLang="en-US" sz="2400"/>
              <a:t>消除非平凡且非函数依赖的多值依赖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           	  </a:t>
            </a:r>
            <a:r>
              <a:rPr lang="en-US" altLang="zh-CN" sz="2400"/>
              <a:t>4NF</a:t>
            </a:r>
          </a:p>
        </p:txBody>
      </p:sp>
      <p:sp>
        <p:nvSpPr>
          <p:cNvPr id="83973" name="Line 5">
            <a:extLst>
              <a:ext uri="{FF2B5EF4-FFF2-40B4-BE49-F238E27FC236}">
                <a16:creationId xmlns:a16="http://schemas.microsoft.com/office/drawing/2014/main" id="{3F667CDE-E639-425F-A705-32B27FF9C3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0400" y="2757488"/>
            <a:ext cx="0" cy="3048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B0E54971-A906-4FE8-94C7-FFEB37C7EB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800" b="1"/>
              <a:t>规范化的基本思想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AB0B6A37-53E9-426D-ABDD-82CBB9B5F5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981200"/>
            <a:ext cx="7772400" cy="4114800"/>
          </a:xfrm>
        </p:spPr>
        <p:txBody>
          <a:bodyPr/>
          <a:lstStyle/>
          <a:p>
            <a:pPr lvl="1" eaLnBrk="1" hangingPunct="1">
              <a:lnSpc>
                <a:spcPct val="120000"/>
              </a:lnSpc>
            </a:pPr>
            <a:r>
              <a:rPr lang="zh-CN" altLang="en-US" b="1"/>
              <a:t>消除不合适的数据依赖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/>
              <a:t>各关系模式达到某种程度的</a:t>
            </a:r>
            <a:r>
              <a:rPr lang="zh-CN" altLang="en-US" b="1">
                <a:latin typeface="Times New Roman" panose="02020603050405020304" pitchFamily="18" charset="0"/>
              </a:rPr>
              <a:t>“</a:t>
            </a:r>
            <a:r>
              <a:rPr lang="zh-CN" altLang="en-US" b="1"/>
              <a:t>分离</a:t>
            </a:r>
            <a:r>
              <a:rPr lang="zh-CN" altLang="en-US" b="1">
                <a:latin typeface="Times New Roman" panose="02020603050405020304" pitchFamily="18" charset="0"/>
              </a:rPr>
              <a:t>”</a:t>
            </a:r>
            <a:endParaRPr lang="zh-CN" altLang="en-US" b="1"/>
          </a:p>
          <a:p>
            <a:pPr lvl="1" eaLnBrk="1" hangingPunct="1">
              <a:lnSpc>
                <a:spcPct val="120000"/>
              </a:lnSpc>
            </a:pPr>
            <a:r>
              <a:rPr lang="zh-CN" altLang="en-US" b="1"/>
              <a:t>采用</a:t>
            </a:r>
            <a:r>
              <a:rPr lang="zh-CN" altLang="en-US" b="1">
                <a:latin typeface="Times New Roman" panose="02020603050405020304" pitchFamily="18" charset="0"/>
              </a:rPr>
              <a:t>“</a:t>
            </a:r>
            <a:r>
              <a:rPr lang="zh-CN" altLang="en-US" b="1"/>
              <a:t>一事一地</a:t>
            </a:r>
            <a:r>
              <a:rPr lang="zh-CN" altLang="en-US" b="1">
                <a:latin typeface="Times New Roman" panose="02020603050405020304" pitchFamily="18" charset="0"/>
              </a:rPr>
              <a:t>”</a:t>
            </a:r>
            <a:r>
              <a:rPr lang="zh-CN" altLang="en-US" b="1"/>
              <a:t>的模式设计原则</a:t>
            </a: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 让一个关系描述一个概念、一个实体或者实体间的一种联系。若多于一个概念就把它</a:t>
            </a:r>
            <a:r>
              <a:rPr lang="zh-CN" altLang="en-US" b="1">
                <a:latin typeface="Times New Roman" panose="02020603050405020304" pitchFamily="18" charset="0"/>
              </a:rPr>
              <a:t>“</a:t>
            </a:r>
            <a:r>
              <a:rPr lang="zh-CN" altLang="en-US" b="1"/>
              <a:t>分离</a:t>
            </a:r>
            <a:r>
              <a:rPr lang="zh-CN" altLang="en-US" b="1">
                <a:latin typeface="Times New Roman" panose="02020603050405020304" pitchFamily="18" charset="0"/>
              </a:rPr>
              <a:t>”</a:t>
            </a:r>
            <a:r>
              <a:rPr lang="zh-CN" altLang="en-US" b="1"/>
              <a:t>出去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页脚占位符 4">
            <a:extLst>
              <a:ext uri="{FF2B5EF4-FFF2-40B4-BE49-F238E27FC236}">
                <a16:creationId xmlns:a16="http://schemas.microsoft.com/office/drawing/2014/main" id="{0A347022-D951-4FD9-9142-9A217DAF87C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4340225" y="6427788"/>
            <a:ext cx="476885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An Introduction to Database System</a:t>
            </a: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34DCA615-0BF9-4013-9264-66FB73F45A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规范化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5025FBC8-9B98-4688-A869-E29AC8AF7A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2017713"/>
            <a:ext cx="8631238" cy="4579937"/>
          </a:xfrm>
        </p:spPr>
        <p:txBody>
          <a:bodyPr/>
          <a:lstStyle/>
          <a:p>
            <a:pPr eaLnBrk="1" hangingPunct="1"/>
            <a:r>
              <a:rPr lang="zh-CN" altLang="en-US" sz="2800"/>
              <a:t>数据库中数据规范化的优点是减少了数据冗余，节约了存储空间，相应逻辑和物理的</a:t>
            </a:r>
            <a:r>
              <a:rPr lang="en-US" altLang="zh-CN" sz="2800"/>
              <a:t>I/O</a:t>
            </a:r>
            <a:r>
              <a:rPr lang="zh-CN" altLang="en-US" sz="2800"/>
              <a:t>次数减少，同时加快了增、删、改的速度。</a:t>
            </a:r>
            <a:endParaRPr lang="en-US" altLang="zh-CN" sz="2800"/>
          </a:p>
          <a:p>
            <a:pPr eaLnBrk="1" hangingPunct="1"/>
            <a:endParaRPr lang="en-US" altLang="zh-CN" sz="2800"/>
          </a:p>
          <a:p>
            <a:pPr eaLnBrk="1" hangingPunct="1"/>
            <a:r>
              <a:rPr lang="zh-CN" altLang="en-US" sz="2800"/>
              <a:t>但是一个完全规范化的设计并不总能生成最优的性能，因为对数据库查询通常需要更多的连接操作，从而影响到查询的速度。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页脚占位符 4">
            <a:extLst>
              <a:ext uri="{FF2B5EF4-FFF2-40B4-BE49-F238E27FC236}">
                <a16:creationId xmlns:a16="http://schemas.microsoft.com/office/drawing/2014/main" id="{1378B376-6B62-4F43-98F2-B41DE1B259A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4340225" y="6427788"/>
            <a:ext cx="476885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An Introduction to Database System</a:t>
            </a: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E1E15215-4FFD-4CD0-AE18-47958C0DDB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反规范化</a:t>
            </a:r>
          </a:p>
        </p:txBody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7A7E16F6-ACC3-419E-96A7-428C53460A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2017713"/>
            <a:ext cx="8704263" cy="4579937"/>
          </a:xfrm>
        </p:spPr>
        <p:txBody>
          <a:bodyPr/>
          <a:lstStyle/>
          <a:p>
            <a:pPr eaLnBrk="1" hangingPunct="1"/>
            <a:r>
              <a:rPr lang="zh-CN" altLang="en-US" sz="2800"/>
              <a:t>是否规范化的程度越高越好呢？</a:t>
            </a:r>
          </a:p>
          <a:p>
            <a:pPr eaLnBrk="1" hangingPunct="1"/>
            <a:endParaRPr lang="en-US" altLang="zh-CN" sz="2800"/>
          </a:p>
          <a:p>
            <a:pPr eaLnBrk="1" hangingPunct="1"/>
            <a:r>
              <a:rPr lang="zh-CN" altLang="en-US" sz="2800"/>
              <a:t>在表格中有意识的引入一定的数据冗余以改进性能被称为</a:t>
            </a:r>
            <a:r>
              <a:rPr lang="zh-CN" altLang="en-US" sz="2800">
                <a:solidFill>
                  <a:srgbClr val="FF0000"/>
                </a:solidFill>
              </a:rPr>
              <a:t>反规范化</a:t>
            </a:r>
            <a:r>
              <a:rPr lang="zh-CN" altLang="en-US" sz="2800"/>
              <a:t>。</a:t>
            </a:r>
          </a:p>
          <a:p>
            <a:pPr eaLnBrk="1" hangingPunct="1"/>
            <a:endParaRPr lang="en-US" altLang="zh-CN" sz="2800"/>
          </a:p>
          <a:p>
            <a:pPr eaLnBrk="1" hangingPunct="1"/>
            <a:r>
              <a:rPr lang="zh-CN" altLang="en-US" sz="2800"/>
              <a:t>反规范化是查询效率与数据冗余的折中。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zq">
  <a:themeElements>
    <a:clrScheme name="">
      <a:dk1>
        <a:srgbClr val="000000"/>
      </a:dk1>
      <a:lt1>
        <a:srgbClr val="FEE8F7"/>
      </a:lt1>
      <a:dk2>
        <a:srgbClr val="333399"/>
      </a:dk2>
      <a:lt2>
        <a:srgbClr val="1C1C1C"/>
      </a:lt2>
      <a:accent1>
        <a:srgbClr val="00E4A8"/>
      </a:accent1>
      <a:accent2>
        <a:srgbClr val="F4490C"/>
      </a:accent2>
      <a:accent3>
        <a:srgbClr val="FEF2FA"/>
      </a:accent3>
      <a:accent4>
        <a:srgbClr val="000000"/>
      </a:accent4>
      <a:accent5>
        <a:srgbClr val="AAEFD1"/>
      </a:accent5>
      <a:accent6>
        <a:srgbClr val="DD410A"/>
      </a:accent6>
      <a:hlink>
        <a:srgbClr val="FF0000"/>
      </a:hlink>
      <a:folHlink>
        <a:srgbClr val="3333CC"/>
      </a:folHlink>
    </a:clrScheme>
    <a:fontScheme name="zq">
      <a:majorFont>
        <a:latin typeface="Tahoma"/>
        <a:ea typeface="仿宋_GB2312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zq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q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q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q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q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q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q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4686</TotalTime>
  <Words>4936</Words>
  <Application>Microsoft Office PowerPoint</Application>
  <PresentationFormat>全屏显示(4:3)</PresentationFormat>
  <Paragraphs>847</Paragraphs>
  <Slides>71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71</vt:i4>
      </vt:variant>
    </vt:vector>
  </HeadingPairs>
  <TitlesOfParts>
    <vt:vector size="82" baseType="lpstr">
      <vt:lpstr>Monotype Sorts</vt:lpstr>
      <vt:lpstr>黑体</vt:lpstr>
      <vt:lpstr>宋体</vt:lpstr>
      <vt:lpstr>微软雅黑</vt:lpstr>
      <vt:lpstr>微软雅黑</vt:lpstr>
      <vt:lpstr>Arial</vt:lpstr>
      <vt:lpstr>Arial Black</vt:lpstr>
      <vt:lpstr>Tahoma</vt:lpstr>
      <vt:lpstr>Times New Roman</vt:lpstr>
      <vt:lpstr>Wingdings</vt:lpstr>
      <vt:lpstr>zq</vt:lpstr>
      <vt:lpstr>PowerPoint 演示文稿</vt:lpstr>
      <vt:lpstr>6.1 问题的提出</vt:lpstr>
      <vt:lpstr>关系模式举例</vt:lpstr>
      <vt:lpstr>问题（1/2）</vt:lpstr>
      <vt:lpstr>问题（2/2）</vt:lpstr>
      <vt:lpstr>关系模式举例－“问题模式”（续）</vt:lpstr>
      <vt:lpstr>关系模式举例－“问题模式”（续）</vt:lpstr>
      <vt:lpstr>二、关系模式的形式化定义</vt:lpstr>
      <vt:lpstr>什么是数据依赖</vt:lpstr>
      <vt:lpstr>6.2.1 函数依赖</vt:lpstr>
      <vt:lpstr>一、函数依赖</vt:lpstr>
      <vt:lpstr>PowerPoint 演示文稿</vt:lpstr>
      <vt:lpstr>函数依赖（续）</vt:lpstr>
      <vt:lpstr>PowerPoint 演示文稿</vt:lpstr>
      <vt:lpstr>函数依赖（续）</vt:lpstr>
      <vt:lpstr>二、平凡函数依赖与非平凡函数依赖</vt:lpstr>
      <vt:lpstr>平凡函数依赖与非平凡函数依赖（续）</vt:lpstr>
      <vt:lpstr>三、完全函数依赖与部分函数依赖</vt:lpstr>
      <vt:lpstr>例子</vt:lpstr>
      <vt:lpstr>四、传递函数依赖</vt:lpstr>
      <vt:lpstr>6.2.2 码</vt:lpstr>
      <vt:lpstr>外部码</vt:lpstr>
      <vt:lpstr>关系模式举例—函数依赖</vt:lpstr>
      <vt:lpstr>关系模式举例—函数依赖(续)</vt:lpstr>
      <vt:lpstr>关系模式举例—”问题模式”</vt:lpstr>
      <vt:lpstr>关系模式举例—”问题模式”</vt:lpstr>
      <vt:lpstr>关系模式举例—”问题模式”</vt:lpstr>
      <vt:lpstr>规范化</vt:lpstr>
      <vt:lpstr>6.2.3 范式</vt:lpstr>
      <vt:lpstr>6.2.4  1NF</vt:lpstr>
      <vt:lpstr>2NF</vt:lpstr>
      <vt:lpstr>PowerPoint 演示文稿</vt:lpstr>
      <vt:lpstr>2NF(续)</vt:lpstr>
      <vt:lpstr>2NF(续)</vt:lpstr>
      <vt:lpstr>PowerPoint 演示文稿</vt:lpstr>
      <vt:lpstr> 2NF</vt:lpstr>
      <vt:lpstr>2NF</vt:lpstr>
      <vt:lpstr>  2NF</vt:lpstr>
      <vt:lpstr> 2NF（续）</vt:lpstr>
      <vt:lpstr> 6.2.5  3NF</vt:lpstr>
      <vt:lpstr>  3NF</vt:lpstr>
      <vt:lpstr> 3NF</vt:lpstr>
      <vt:lpstr>  3NF</vt:lpstr>
      <vt:lpstr> 3NF</vt:lpstr>
      <vt:lpstr> 3NF</vt:lpstr>
      <vt:lpstr> 6.2.6  BC范式（BCNF）</vt:lpstr>
      <vt:lpstr>  BCNF</vt:lpstr>
      <vt:lpstr> 6.2.6  BCNF</vt:lpstr>
      <vt:lpstr>BCNF</vt:lpstr>
      <vt:lpstr>BCNF</vt:lpstr>
      <vt:lpstr>3NF与BCNF的关系</vt:lpstr>
      <vt:lpstr>BCNF的关系模式所具有的性质</vt:lpstr>
      <vt:lpstr>6.2.7 多值依赖</vt:lpstr>
      <vt:lpstr>PowerPoint 演示文稿</vt:lpstr>
      <vt:lpstr>多值依赖（续）</vt:lpstr>
      <vt:lpstr>多值依赖与第四范式（续）</vt:lpstr>
      <vt:lpstr>多值依赖（续）</vt:lpstr>
      <vt:lpstr>多值依赖（续）</vt:lpstr>
      <vt:lpstr>多值依赖（续）</vt:lpstr>
      <vt:lpstr>多值依赖（续）</vt:lpstr>
      <vt:lpstr>一、多值依赖</vt:lpstr>
      <vt:lpstr>多值依赖（续）</vt:lpstr>
      <vt:lpstr>6.2.8 第四范式（4NF）</vt:lpstr>
      <vt:lpstr>第四范式（续）</vt:lpstr>
      <vt:lpstr>6.2 规范化</vt:lpstr>
      <vt:lpstr>6.2.9 规范化小结</vt:lpstr>
      <vt:lpstr>规范化小结（续）</vt:lpstr>
      <vt:lpstr>规范化小结（续）</vt:lpstr>
      <vt:lpstr>规范化的基本思想</vt:lpstr>
      <vt:lpstr>规范化</vt:lpstr>
      <vt:lpstr>反规范化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课程名称：数据库系统概论</dc:title>
  <dc:creator>why</dc:creator>
  <cp:lastModifiedBy>a9400</cp:lastModifiedBy>
  <cp:revision>241</cp:revision>
  <dcterms:created xsi:type="dcterms:W3CDTF">2000-08-09T08:19:19Z</dcterms:created>
  <dcterms:modified xsi:type="dcterms:W3CDTF">2025-10-30T02:30:58Z</dcterms:modified>
</cp:coreProperties>
</file>