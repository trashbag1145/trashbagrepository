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handoutMasterIdLst>
    <p:handoutMasterId r:id="rId58"/>
  </p:handoutMasterIdLst>
  <p:sldIdLst>
    <p:sldId id="256" r:id="rId2"/>
    <p:sldId id="257" r:id="rId3"/>
    <p:sldId id="428" r:id="rId4"/>
    <p:sldId id="429" r:id="rId5"/>
    <p:sldId id="430" r:id="rId6"/>
    <p:sldId id="431" r:id="rId7"/>
    <p:sldId id="432" r:id="rId8"/>
    <p:sldId id="433" r:id="rId9"/>
    <p:sldId id="434" r:id="rId10"/>
    <p:sldId id="435" r:id="rId11"/>
    <p:sldId id="436" r:id="rId12"/>
    <p:sldId id="437" r:id="rId13"/>
    <p:sldId id="438" r:id="rId14"/>
    <p:sldId id="439" r:id="rId15"/>
    <p:sldId id="440" r:id="rId16"/>
    <p:sldId id="441" r:id="rId17"/>
    <p:sldId id="442" r:id="rId18"/>
    <p:sldId id="443" r:id="rId19"/>
    <p:sldId id="444" r:id="rId20"/>
    <p:sldId id="445" r:id="rId21"/>
    <p:sldId id="446" r:id="rId22"/>
    <p:sldId id="447" r:id="rId23"/>
    <p:sldId id="448" r:id="rId24"/>
    <p:sldId id="449" r:id="rId25"/>
    <p:sldId id="450" r:id="rId26"/>
    <p:sldId id="451" r:id="rId27"/>
    <p:sldId id="452" r:id="rId28"/>
    <p:sldId id="453" r:id="rId29"/>
    <p:sldId id="454" r:id="rId30"/>
    <p:sldId id="455" r:id="rId31"/>
    <p:sldId id="456" r:id="rId32"/>
    <p:sldId id="457" r:id="rId33"/>
    <p:sldId id="458" r:id="rId34"/>
    <p:sldId id="459" r:id="rId35"/>
    <p:sldId id="460" r:id="rId36"/>
    <p:sldId id="461" r:id="rId37"/>
    <p:sldId id="462" r:id="rId38"/>
    <p:sldId id="463" r:id="rId39"/>
    <p:sldId id="464" r:id="rId40"/>
    <p:sldId id="465" r:id="rId41"/>
    <p:sldId id="466" r:id="rId42"/>
    <p:sldId id="467" r:id="rId43"/>
    <p:sldId id="468" r:id="rId44"/>
    <p:sldId id="469" r:id="rId45"/>
    <p:sldId id="470" r:id="rId46"/>
    <p:sldId id="471" r:id="rId47"/>
    <p:sldId id="472" r:id="rId48"/>
    <p:sldId id="473" r:id="rId49"/>
    <p:sldId id="474" r:id="rId50"/>
    <p:sldId id="475" r:id="rId51"/>
    <p:sldId id="476" r:id="rId52"/>
    <p:sldId id="479" r:id="rId53"/>
    <p:sldId id="494" r:id="rId54"/>
    <p:sldId id="515" r:id="rId55"/>
    <p:sldId id="495" r:id="rId56"/>
  </p:sldIdLst>
  <p:sldSz cx="9144000" cy="6858000" type="screen4x3"/>
  <p:notesSz cx="9144000" cy="6858000"/>
  <p:defaultTextStyle>
    <a:defPPr>
      <a:defRPr lang="en-US"/>
    </a:defPPr>
    <a:lvl1pPr algn="l" rtl="0" fontAlgn="base">
      <a:spcBef>
        <a:spcPct val="0"/>
      </a:spcBef>
      <a:spcAft>
        <a:spcPct val="0"/>
      </a:spcAft>
      <a:defRPr kumimoji="1" sz="2400" kern="1200">
        <a:solidFill>
          <a:schemeClr val="tx1"/>
        </a:solidFill>
        <a:latin typeface="Tahoma" panose="020B0604030504040204" pitchFamily="34" charset="0"/>
        <a:ea typeface="SimSun" panose="02010600030101010101" pitchFamily="2" charset="-122"/>
        <a:cs typeface="+mn-cs"/>
      </a:defRPr>
    </a:lvl1pPr>
    <a:lvl2pPr marL="457200" algn="l" rtl="0" fontAlgn="base">
      <a:spcBef>
        <a:spcPct val="0"/>
      </a:spcBef>
      <a:spcAft>
        <a:spcPct val="0"/>
      </a:spcAft>
      <a:defRPr kumimoji="1" sz="2400" kern="1200">
        <a:solidFill>
          <a:schemeClr val="tx1"/>
        </a:solidFill>
        <a:latin typeface="Tahoma" panose="020B0604030504040204" pitchFamily="34" charset="0"/>
        <a:ea typeface="SimSun" panose="02010600030101010101" pitchFamily="2" charset="-122"/>
        <a:cs typeface="+mn-cs"/>
      </a:defRPr>
    </a:lvl2pPr>
    <a:lvl3pPr marL="914400" algn="l" rtl="0" fontAlgn="base">
      <a:spcBef>
        <a:spcPct val="0"/>
      </a:spcBef>
      <a:spcAft>
        <a:spcPct val="0"/>
      </a:spcAft>
      <a:defRPr kumimoji="1" sz="2400" kern="1200">
        <a:solidFill>
          <a:schemeClr val="tx1"/>
        </a:solidFill>
        <a:latin typeface="Tahoma" panose="020B0604030504040204" pitchFamily="34" charset="0"/>
        <a:ea typeface="SimSun" panose="02010600030101010101" pitchFamily="2" charset="-122"/>
        <a:cs typeface="+mn-cs"/>
      </a:defRPr>
    </a:lvl3pPr>
    <a:lvl4pPr marL="1371600" algn="l" rtl="0" fontAlgn="base">
      <a:spcBef>
        <a:spcPct val="0"/>
      </a:spcBef>
      <a:spcAft>
        <a:spcPct val="0"/>
      </a:spcAft>
      <a:defRPr kumimoji="1" sz="2400" kern="1200">
        <a:solidFill>
          <a:schemeClr val="tx1"/>
        </a:solidFill>
        <a:latin typeface="Tahoma" panose="020B0604030504040204" pitchFamily="34" charset="0"/>
        <a:ea typeface="SimSun" panose="02010600030101010101" pitchFamily="2" charset="-122"/>
        <a:cs typeface="+mn-cs"/>
      </a:defRPr>
    </a:lvl4pPr>
    <a:lvl5pPr marL="1828800" algn="l" rtl="0" fontAlgn="base">
      <a:spcBef>
        <a:spcPct val="0"/>
      </a:spcBef>
      <a:spcAft>
        <a:spcPct val="0"/>
      </a:spcAft>
      <a:defRPr kumimoji="1" sz="2400" kern="1200">
        <a:solidFill>
          <a:schemeClr val="tx1"/>
        </a:solidFill>
        <a:latin typeface="Tahoma" panose="020B0604030504040204" pitchFamily="34" charset="0"/>
        <a:ea typeface="SimSun" panose="02010600030101010101"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SimSun" panose="02010600030101010101"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SimSun" panose="02010600030101010101"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SimSun" panose="02010600030101010101"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SimSun"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FFFF00"/>
    <a:srgbClr val="CC0099"/>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372" autoAdjust="0"/>
    <p:restoredTop sz="80705" autoAdjust="0"/>
  </p:normalViewPr>
  <p:slideViewPr>
    <p:cSldViewPr>
      <p:cViewPr varScale="1">
        <p:scale>
          <a:sx n="88" d="100"/>
          <a:sy n="88" d="100"/>
        </p:scale>
        <p:origin x="186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010" name="Rectangle 2"/>
          <p:cNvSpPr>
            <a:spLocks noGrp="1" noChangeArrowheads="1"/>
          </p:cNvSpPr>
          <p:nvPr>
            <p:ph type="hdr" sz="quarter"/>
          </p:nvPr>
        </p:nvSpPr>
        <p:spPr bwMode="auto">
          <a:xfrm>
            <a:off x="0" y="0"/>
            <a:ext cx="3962400" cy="342900"/>
          </a:xfrm>
          <a:prstGeom prst="rect">
            <a:avLst/>
          </a:prstGeom>
          <a:noFill/>
          <a:ln>
            <a:noFill/>
          </a:ln>
          <a:effectLst/>
        </p:spPr>
        <p:txBody>
          <a:bodyPr vert="horz" wrap="square" lIns="91440" tIns="45720" rIns="91440" bIns="45720" numCol="1" anchor="t" anchorCtr="0" compatLnSpc="1"/>
          <a:lstStyle>
            <a:lvl1pPr>
              <a:defRPr sz="1200">
                <a:latin typeface="Times New Roman" panose="02020503050405090304" pitchFamily="18" charset="0"/>
              </a:defRPr>
            </a:lvl1pPr>
          </a:lstStyle>
          <a:p>
            <a:pPr>
              <a:defRPr/>
            </a:pPr>
            <a:endParaRPr lang="zh-CN" altLang="en-US"/>
          </a:p>
        </p:txBody>
      </p:sp>
      <p:sp>
        <p:nvSpPr>
          <p:cNvPr id="171011" name="Rectangle 3"/>
          <p:cNvSpPr>
            <a:spLocks noGrp="1" noChangeArrowheads="1"/>
          </p:cNvSpPr>
          <p:nvPr>
            <p:ph type="dt" sz="quarter" idx="1"/>
          </p:nvPr>
        </p:nvSpPr>
        <p:spPr bwMode="auto">
          <a:xfrm>
            <a:off x="5180013" y="0"/>
            <a:ext cx="3962400" cy="342900"/>
          </a:xfrm>
          <a:prstGeom prst="rect">
            <a:avLst/>
          </a:prstGeom>
          <a:noFill/>
          <a:ln>
            <a:noFill/>
          </a:ln>
          <a:effectLst/>
        </p:spPr>
        <p:txBody>
          <a:bodyPr vert="horz" wrap="square" lIns="91440" tIns="45720" rIns="91440" bIns="45720" numCol="1" anchor="t" anchorCtr="0" compatLnSpc="1"/>
          <a:lstStyle>
            <a:lvl1pPr algn="r">
              <a:defRPr sz="1200">
                <a:latin typeface="Times New Roman" panose="02020503050405090304" pitchFamily="18" charset="0"/>
              </a:defRPr>
            </a:lvl1pPr>
          </a:lstStyle>
          <a:p>
            <a:pPr>
              <a:defRPr/>
            </a:pPr>
            <a:endParaRPr lang="en-US" altLang="zh-CN"/>
          </a:p>
        </p:txBody>
      </p:sp>
      <p:sp>
        <p:nvSpPr>
          <p:cNvPr id="171012" name="Rectangle 4"/>
          <p:cNvSpPr>
            <a:spLocks noGrp="1" noChangeArrowheads="1"/>
          </p:cNvSpPr>
          <p:nvPr>
            <p:ph type="ftr" sz="quarter" idx="2"/>
          </p:nvPr>
        </p:nvSpPr>
        <p:spPr bwMode="auto">
          <a:xfrm>
            <a:off x="0" y="6513513"/>
            <a:ext cx="3962400" cy="342900"/>
          </a:xfrm>
          <a:prstGeom prst="rect">
            <a:avLst/>
          </a:prstGeom>
          <a:noFill/>
          <a:ln>
            <a:noFill/>
          </a:ln>
          <a:effectLst/>
        </p:spPr>
        <p:txBody>
          <a:bodyPr vert="horz" wrap="square" lIns="91440" tIns="45720" rIns="91440" bIns="45720" numCol="1" anchor="b" anchorCtr="0" compatLnSpc="1"/>
          <a:lstStyle>
            <a:lvl1pPr>
              <a:defRPr sz="1200">
                <a:latin typeface="Times New Roman" panose="02020503050405090304" pitchFamily="18" charset="0"/>
              </a:defRPr>
            </a:lvl1pPr>
          </a:lstStyle>
          <a:p>
            <a:pPr>
              <a:defRPr/>
            </a:pPr>
            <a:endParaRPr lang="en-US" altLang="zh-CN"/>
          </a:p>
        </p:txBody>
      </p:sp>
      <p:sp>
        <p:nvSpPr>
          <p:cNvPr id="171013" name="Rectangle 5"/>
          <p:cNvSpPr>
            <a:spLocks noGrp="1" noChangeArrowheads="1"/>
          </p:cNvSpPr>
          <p:nvPr>
            <p:ph type="sldNum" sz="quarter" idx="3"/>
          </p:nvPr>
        </p:nvSpPr>
        <p:spPr bwMode="auto">
          <a:xfrm>
            <a:off x="5180013" y="6513513"/>
            <a:ext cx="3962400" cy="342900"/>
          </a:xfrm>
          <a:prstGeom prst="rect">
            <a:avLst/>
          </a:prstGeom>
          <a:noFill/>
          <a:ln>
            <a:noFill/>
          </a:ln>
          <a:effectLst/>
        </p:spPr>
        <p:txBody>
          <a:bodyPr vert="horz" wrap="square" lIns="91440" tIns="45720" rIns="91440" bIns="45720" numCol="1" anchor="b" anchorCtr="0" compatLnSpc="1"/>
          <a:lstStyle>
            <a:lvl1pPr algn="r">
              <a:defRPr sz="1200">
                <a:latin typeface="Times New Roman" panose="02020503050405090304" pitchFamily="18" charset="0"/>
              </a:defRPr>
            </a:lvl1pPr>
          </a:lstStyle>
          <a:p>
            <a:fld id="{466DEB35-16F3-4E58-B91F-743CE3356E75}" type="slidenum">
              <a:rPr lang="zh-CN" altLang="en-US"/>
              <a:t>‹#›</a:t>
            </a:fld>
            <a:endParaRPr lang="en-US" altLang="zh-CN"/>
          </a:p>
        </p:txBody>
      </p:sp>
    </p:spTree>
    <p:extLst>
      <p:ext uri="{BB962C8B-B14F-4D97-AF65-F5344CB8AC3E}">
        <p14:creationId xmlns:p14="http://schemas.microsoft.com/office/powerpoint/2010/main" val="30172074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962400" cy="342900"/>
          </a:xfrm>
          <a:prstGeom prst="rect">
            <a:avLst/>
          </a:prstGeom>
          <a:noFill/>
          <a:ln>
            <a:noFill/>
          </a:ln>
          <a:effectLst/>
        </p:spPr>
        <p:txBody>
          <a:bodyPr vert="horz" wrap="square" lIns="91440" tIns="45720" rIns="91440" bIns="45720" numCol="1" anchor="t" anchorCtr="0" compatLnSpc="1"/>
          <a:lstStyle>
            <a:lvl1pPr>
              <a:defRPr sz="1200">
                <a:latin typeface="Times New Roman" panose="02020503050405090304" pitchFamily="18" charset="0"/>
              </a:defRPr>
            </a:lvl1pPr>
          </a:lstStyle>
          <a:p>
            <a:pPr>
              <a:defRPr/>
            </a:pPr>
            <a:endParaRPr lang="zh-CN" altLang="en-US"/>
          </a:p>
        </p:txBody>
      </p:sp>
      <p:sp>
        <p:nvSpPr>
          <p:cNvPr id="5123" name="Rectangle 3"/>
          <p:cNvSpPr>
            <a:spLocks noGrp="1" noChangeArrowheads="1"/>
          </p:cNvSpPr>
          <p:nvPr>
            <p:ph type="dt" idx="1"/>
          </p:nvPr>
        </p:nvSpPr>
        <p:spPr bwMode="auto">
          <a:xfrm>
            <a:off x="5181600" y="0"/>
            <a:ext cx="3962400" cy="342900"/>
          </a:xfrm>
          <a:prstGeom prst="rect">
            <a:avLst/>
          </a:prstGeom>
          <a:noFill/>
          <a:ln>
            <a:noFill/>
          </a:ln>
          <a:effectLst/>
        </p:spPr>
        <p:txBody>
          <a:bodyPr vert="horz" wrap="square" lIns="91440" tIns="45720" rIns="91440" bIns="45720" numCol="1" anchor="t" anchorCtr="0" compatLnSpc="1"/>
          <a:lstStyle>
            <a:lvl1pPr algn="r">
              <a:defRPr sz="1200">
                <a:latin typeface="Times New Roman" panose="02020503050405090304" pitchFamily="18" charset="0"/>
              </a:defRPr>
            </a:lvl1pPr>
          </a:lstStyle>
          <a:p>
            <a:pPr>
              <a:defRPr/>
            </a:pPr>
            <a:endParaRPr lang="en-US" altLang="zh-CN"/>
          </a:p>
        </p:txBody>
      </p:sp>
      <p:sp>
        <p:nvSpPr>
          <p:cNvPr id="221188"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1219200" y="3257550"/>
            <a:ext cx="6705600" cy="3086100"/>
          </a:xfrm>
          <a:prstGeom prst="rect">
            <a:avLst/>
          </a:prstGeom>
          <a:noFill/>
          <a:ln>
            <a:noFill/>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p:cNvSpPr>
            <a:spLocks noGrp="1" noChangeArrowheads="1"/>
          </p:cNvSpPr>
          <p:nvPr>
            <p:ph type="ftr" sz="quarter" idx="4"/>
          </p:nvPr>
        </p:nvSpPr>
        <p:spPr bwMode="auto">
          <a:xfrm>
            <a:off x="0" y="6515100"/>
            <a:ext cx="3962400" cy="342900"/>
          </a:xfrm>
          <a:prstGeom prst="rect">
            <a:avLst/>
          </a:prstGeom>
          <a:noFill/>
          <a:ln>
            <a:noFill/>
          </a:ln>
          <a:effectLst/>
        </p:spPr>
        <p:txBody>
          <a:bodyPr vert="horz" wrap="square" lIns="91440" tIns="45720" rIns="91440" bIns="45720" numCol="1" anchor="b" anchorCtr="0" compatLnSpc="1"/>
          <a:lstStyle>
            <a:lvl1pPr>
              <a:defRPr sz="1200">
                <a:latin typeface="Times New Roman" panose="02020503050405090304" pitchFamily="18" charset="0"/>
              </a:defRPr>
            </a:lvl1pPr>
          </a:lstStyle>
          <a:p>
            <a:pPr>
              <a:defRPr/>
            </a:pPr>
            <a:endParaRPr lang="en-US" altLang="zh-CN"/>
          </a:p>
        </p:txBody>
      </p:sp>
      <p:sp>
        <p:nvSpPr>
          <p:cNvPr id="5127" name="Rectangle 7"/>
          <p:cNvSpPr>
            <a:spLocks noGrp="1" noChangeArrowheads="1"/>
          </p:cNvSpPr>
          <p:nvPr>
            <p:ph type="sldNum" sz="quarter" idx="5"/>
          </p:nvPr>
        </p:nvSpPr>
        <p:spPr bwMode="auto">
          <a:xfrm>
            <a:off x="5181600" y="6515100"/>
            <a:ext cx="3962400" cy="342900"/>
          </a:xfrm>
          <a:prstGeom prst="rect">
            <a:avLst/>
          </a:prstGeom>
          <a:noFill/>
          <a:ln>
            <a:noFill/>
          </a:ln>
          <a:effectLst/>
        </p:spPr>
        <p:txBody>
          <a:bodyPr vert="horz" wrap="square" lIns="91440" tIns="45720" rIns="91440" bIns="45720" numCol="1" anchor="b" anchorCtr="0" compatLnSpc="1"/>
          <a:lstStyle>
            <a:lvl1pPr algn="r">
              <a:defRPr sz="1200">
                <a:latin typeface="Times New Roman" panose="02020503050405090304" pitchFamily="18" charset="0"/>
              </a:defRPr>
            </a:lvl1pPr>
          </a:lstStyle>
          <a:p>
            <a:fld id="{EAD88155-0117-4039-965F-D45B5A939B32}" type="slidenum">
              <a:rPr lang="zh-CN" altLang="en-US"/>
              <a:t>‹#›</a:t>
            </a:fld>
            <a:endParaRPr lang="en-US" altLang="zh-CN"/>
          </a:p>
        </p:txBody>
      </p:sp>
    </p:spTree>
    <p:extLst>
      <p:ext uri="{BB962C8B-B14F-4D97-AF65-F5344CB8AC3E}">
        <p14:creationId xmlns:p14="http://schemas.microsoft.com/office/powerpoint/2010/main" val="32087709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503050405090304" pitchFamily="18" charset="0"/>
        <a:ea typeface="SimSun"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503050405090304" pitchFamily="18" charset="0"/>
        <a:ea typeface="SimSun"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503050405090304" pitchFamily="18" charset="0"/>
        <a:ea typeface="SimSun"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503050405090304" pitchFamily="18" charset="0"/>
        <a:ea typeface="SimSun"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503050405090304" pitchFamily="18" charset="0"/>
        <a:ea typeface="SimSun"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anose="020B0604030504040204" pitchFamily="34" charset="0"/>
                <a:ea typeface="SimSun" panose="02010600030101010101" pitchFamily="2" charset="-122"/>
              </a:defRPr>
            </a:lvl1pPr>
            <a:lvl2pPr marL="742950" indent="-285750" eaLnBrk="0" hangingPunct="0">
              <a:defRPr kumimoji="1" sz="2400">
                <a:solidFill>
                  <a:schemeClr val="tx1"/>
                </a:solidFill>
                <a:latin typeface="Tahoma" panose="020B0604030504040204" pitchFamily="34" charset="0"/>
                <a:ea typeface="SimSun" panose="02010600030101010101" pitchFamily="2" charset="-122"/>
              </a:defRPr>
            </a:lvl2pPr>
            <a:lvl3pPr marL="1143000" indent="-228600" eaLnBrk="0" hangingPunct="0">
              <a:defRPr kumimoji="1" sz="2400">
                <a:solidFill>
                  <a:schemeClr val="tx1"/>
                </a:solidFill>
                <a:latin typeface="Tahoma" panose="020B0604030504040204" pitchFamily="34" charset="0"/>
                <a:ea typeface="SimSun" panose="02010600030101010101" pitchFamily="2" charset="-122"/>
              </a:defRPr>
            </a:lvl3pPr>
            <a:lvl4pPr marL="1600200" indent="-228600" eaLnBrk="0" hangingPunct="0">
              <a:defRPr kumimoji="1" sz="2400">
                <a:solidFill>
                  <a:schemeClr val="tx1"/>
                </a:solidFill>
                <a:latin typeface="Tahoma" panose="020B0604030504040204" pitchFamily="34" charset="0"/>
                <a:ea typeface="SimSun" panose="02010600030101010101" pitchFamily="2" charset="-122"/>
              </a:defRPr>
            </a:lvl4pPr>
            <a:lvl5pPr marL="2057400" indent="-228600" eaLnBrk="0" hangingPunct="0">
              <a:defRPr kumimoji="1" sz="2400">
                <a:solidFill>
                  <a:schemeClr val="tx1"/>
                </a:solidFill>
                <a:latin typeface="Tahoma" panose="020B0604030504040204" pitchFamily="34"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9pPr>
          </a:lstStyle>
          <a:p>
            <a:pPr eaLnBrk="1" hangingPunct="1"/>
            <a:fld id="{41C585FC-6F19-4227-A1B9-FBA7FCDBC3D9}" type="slidenum">
              <a:rPr lang="zh-CN" altLang="en-US" sz="1200">
                <a:latin typeface="Times New Roman" panose="02020503050405090304" pitchFamily="18" charset="0"/>
              </a:rPr>
              <a:t>1</a:t>
            </a:fld>
            <a:endParaRPr lang="en-US" altLang="zh-CN" sz="1200">
              <a:latin typeface="Times New Roman" panose="02020503050405090304" pitchFamily="18" charset="0"/>
            </a:endParaRPr>
          </a:p>
        </p:txBody>
      </p:sp>
      <p:sp>
        <p:nvSpPr>
          <p:cNvPr id="222211" name="Rectangle 2"/>
          <p:cNvSpPr>
            <a:spLocks noGrp="1" noRot="1" noChangeAspect="1" noChangeArrowheads="1" noTextEdit="1"/>
          </p:cNvSpPr>
          <p:nvPr>
            <p:ph type="sldImg"/>
          </p:nvPr>
        </p:nvSpPr>
        <p:spPr>
          <a:solidFill>
            <a:srgbClr val="FFFFFF"/>
          </a:solidFill>
        </p:spPr>
      </p:sp>
      <p:sp>
        <p:nvSpPr>
          <p:cNvPr id="222212"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anose="020B0604030504040204" pitchFamily="34" charset="0"/>
                <a:ea typeface="SimSun" panose="02010600030101010101" pitchFamily="2" charset="-122"/>
              </a:defRPr>
            </a:lvl1pPr>
            <a:lvl2pPr marL="742950" indent="-285750" eaLnBrk="0" hangingPunct="0">
              <a:defRPr kumimoji="1" sz="2400">
                <a:solidFill>
                  <a:schemeClr val="tx1"/>
                </a:solidFill>
                <a:latin typeface="Tahoma" panose="020B0604030504040204" pitchFamily="34" charset="0"/>
                <a:ea typeface="SimSun" panose="02010600030101010101" pitchFamily="2" charset="-122"/>
              </a:defRPr>
            </a:lvl2pPr>
            <a:lvl3pPr marL="1143000" indent="-228600" eaLnBrk="0" hangingPunct="0">
              <a:defRPr kumimoji="1" sz="2400">
                <a:solidFill>
                  <a:schemeClr val="tx1"/>
                </a:solidFill>
                <a:latin typeface="Tahoma" panose="020B0604030504040204" pitchFamily="34" charset="0"/>
                <a:ea typeface="SimSun" panose="02010600030101010101" pitchFamily="2" charset="-122"/>
              </a:defRPr>
            </a:lvl3pPr>
            <a:lvl4pPr marL="1600200" indent="-228600" eaLnBrk="0" hangingPunct="0">
              <a:defRPr kumimoji="1" sz="2400">
                <a:solidFill>
                  <a:schemeClr val="tx1"/>
                </a:solidFill>
                <a:latin typeface="Tahoma" panose="020B0604030504040204" pitchFamily="34" charset="0"/>
                <a:ea typeface="SimSun" panose="02010600030101010101" pitchFamily="2" charset="-122"/>
              </a:defRPr>
            </a:lvl4pPr>
            <a:lvl5pPr marL="2057400" indent="-228600" eaLnBrk="0" hangingPunct="0">
              <a:defRPr kumimoji="1" sz="2400">
                <a:solidFill>
                  <a:schemeClr val="tx1"/>
                </a:solidFill>
                <a:latin typeface="Tahoma" panose="020B0604030504040204" pitchFamily="34"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9pPr>
          </a:lstStyle>
          <a:p>
            <a:pPr eaLnBrk="1" hangingPunct="1"/>
            <a:fld id="{EC9078F8-16B1-45B5-A6A1-A0D413DA2B5D}" type="slidenum">
              <a:rPr lang="zh-CN" altLang="en-US" sz="1200">
                <a:latin typeface="Times New Roman" panose="02020503050405090304" pitchFamily="18" charset="0"/>
              </a:rPr>
              <a:t>44</a:t>
            </a:fld>
            <a:endParaRPr lang="en-US" altLang="zh-CN" sz="1200">
              <a:latin typeface="Times New Roman" panose="02020503050405090304" pitchFamily="18" charset="0"/>
            </a:endParaRPr>
          </a:p>
        </p:txBody>
      </p:sp>
      <p:sp>
        <p:nvSpPr>
          <p:cNvPr id="232451" name="Rectangle 2"/>
          <p:cNvSpPr>
            <a:spLocks noGrp="1" noRot="1" noChangeAspect="1" noChangeArrowheads="1" noTextEdit="1"/>
          </p:cNvSpPr>
          <p:nvPr>
            <p:ph type="sldImg"/>
          </p:nvPr>
        </p:nvSpPr>
        <p:spPr/>
      </p:sp>
      <p:sp>
        <p:nvSpPr>
          <p:cNvPr id="2324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先让学生思考，再给出</a:t>
            </a:r>
            <a:r>
              <a:rPr lang="en-US" altLang="zh-CN"/>
              <a:t>ppt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anose="020B0604030504040204" pitchFamily="34" charset="0"/>
                <a:ea typeface="SimSun" panose="02010600030101010101" pitchFamily="2" charset="-122"/>
              </a:defRPr>
            </a:lvl1pPr>
            <a:lvl2pPr marL="742950" indent="-285750" eaLnBrk="0" hangingPunct="0">
              <a:defRPr kumimoji="1" sz="2400">
                <a:solidFill>
                  <a:schemeClr val="tx1"/>
                </a:solidFill>
                <a:latin typeface="Tahoma" panose="020B0604030504040204" pitchFamily="34" charset="0"/>
                <a:ea typeface="SimSun" panose="02010600030101010101" pitchFamily="2" charset="-122"/>
              </a:defRPr>
            </a:lvl2pPr>
            <a:lvl3pPr marL="1143000" indent="-228600" eaLnBrk="0" hangingPunct="0">
              <a:defRPr kumimoji="1" sz="2400">
                <a:solidFill>
                  <a:schemeClr val="tx1"/>
                </a:solidFill>
                <a:latin typeface="Tahoma" panose="020B0604030504040204" pitchFamily="34" charset="0"/>
                <a:ea typeface="SimSun" panose="02010600030101010101" pitchFamily="2" charset="-122"/>
              </a:defRPr>
            </a:lvl3pPr>
            <a:lvl4pPr marL="1600200" indent="-228600" eaLnBrk="0" hangingPunct="0">
              <a:defRPr kumimoji="1" sz="2400">
                <a:solidFill>
                  <a:schemeClr val="tx1"/>
                </a:solidFill>
                <a:latin typeface="Tahoma" panose="020B0604030504040204" pitchFamily="34" charset="0"/>
                <a:ea typeface="SimSun" panose="02010600030101010101" pitchFamily="2" charset="-122"/>
              </a:defRPr>
            </a:lvl4pPr>
            <a:lvl5pPr marL="2057400" indent="-228600" eaLnBrk="0" hangingPunct="0">
              <a:defRPr kumimoji="1" sz="2400">
                <a:solidFill>
                  <a:schemeClr val="tx1"/>
                </a:solidFill>
                <a:latin typeface="Tahoma" panose="020B0604030504040204" pitchFamily="34"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9pPr>
          </a:lstStyle>
          <a:p>
            <a:pPr eaLnBrk="1" hangingPunct="1"/>
            <a:fld id="{8720E3DB-8448-4C7B-A806-7AF90550DC50}" type="slidenum">
              <a:rPr lang="zh-CN" altLang="en-US" sz="1200">
                <a:latin typeface="Times New Roman" panose="02020503050405090304" pitchFamily="18" charset="0"/>
              </a:rPr>
              <a:t>52</a:t>
            </a:fld>
            <a:endParaRPr lang="en-US" altLang="zh-CN" sz="1200">
              <a:latin typeface="Times New Roman" panose="02020503050405090304" pitchFamily="18" charset="0"/>
            </a:endParaRPr>
          </a:p>
        </p:txBody>
      </p:sp>
      <p:sp>
        <p:nvSpPr>
          <p:cNvPr id="233475" name="Rectangle 2"/>
          <p:cNvSpPr>
            <a:spLocks noGrp="1" noRot="1" noChangeAspect="1" noChangeArrowheads="1" noTextEdit="1"/>
          </p:cNvSpPr>
          <p:nvPr>
            <p:ph type="sldImg"/>
          </p:nvPr>
        </p:nvSpPr>
        <p:spPr/>
      </p:sp>
      <p:sp>
        <p:nvSpPr>
          <p:cNvPr id="2334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z="1000"/>
              <a:t>1. </a:t>
            </a:r>
            <a:r>
              <a:rPr lang="zh-CN" altLang="en-US" sz="1000"/>
              <a:t>视点集中</a:t>
            </a:r>
            <a:br>
              <a:rPr lang="zh-CN" altLang="en-US" sz="1000"/>
            </a:br>
            <a:r>
              <a:rPr lang="zh-CN" altLang="en-US" sz="1000"/>
              <a:t>　　视图集中即是使用户只关心它感兴趣的某些特定数据和他们所负责的特定任务。这样通过只允许用户看到视图中所定义的数据而不是视图引用表中的数据而提高了数据的安全性。</a:t>
            </a:r>
            <a:br>
              <a:rPr lang="zh-CN" altLang="en-US" sz="1000"/>
            </a:br>
            <a:r>
              <a:rPr lang="en-US" altLang="zh-CN" sz="1000"/>
              <a:t>2. </a:t>
            </a:r>
            <a:r>
              <a:rPr lang="zh-CN" altLang="en-US" sz="1000"/>
              <a:t>简化操作</a:t>
            </a:r>
            <a:br>
              <a:rPr lang="zh-CN" altLang="en-US" sz="1000"/>
            </a:br>
            <a:r>
              <a:rPr lang="zh-CN" altLang="en-US" sz="1000"/>
              <a:t>　　视图大大简化了用户对数据的操作。因为在定义视图时，若视图本身就是一个复杂查询的结果集，这样在每一次执行相同的查询时，不必重新写这些复杂的查询语句</a:t>
            </a:r>
            <a:r>
              <a:rPr lang="en-US" altLang="zh-CN" sz="1000"/>
              <a:t>,</a:t>
            </a:r>
            <a:r>
              <a:rPr lang="zh-CN" altLang="en-US" sz="1000"/>
              <a:t>只要一条简单的查询视图语句即可。可见视图向用户隐藏了表与表之间的复杂的连接操作。</a:t>
            </a:r>
            <a:br>
              <a:rPr lang="zh-CN" altLang="en-US" sz="1000"/>
            </a:br>
            <a:r>
              <a:rPr lang="zh-CN" altLang="en-US" sz="1000"/>
              <a:t>　　</a:t>
            </a:r>
            <a:r>
              <a:rPr lang="en-US" altLang="zh-CN" sz="1000"/>
              <a:t>3. </a:t>
            </a:r>
            <a:r>
              <a:rPr lang="zh-CN" altLang="en-US" sz="1000"/>
              <a:t>定制数据</a:t>
            </a:r>
            <a:br>
              <a:rPr lang="zh-CN" altLang="en-US" sz="1000"/>
            </a:br>
            <a:r>
              <a:rPr lang="zh-CN" altLang="en-US" sz="1000"/>
              <a:t>　　视图能够实现让不同的用户以不同的方式看到不同或相同的数据集。因此，当有许多不同水平的用户共用同一数据库时，这显得极为重要。</a:t>
            </a:r>
          </a:p>
          <a:p>
            <a:pPr eaLnBrk="1" hangingPunct="1"/>
            <a:r>
              <a:rPr lang="zh-CN" altLang="en-US" sz="1000"/>
              <a:t>　　</a:t>
            </a:r>
            <a:r>
              <a:rPr lang="en-US" altLang="zh-CN" sz="1000"/>
              <a:t>4. </a:t>
            </a:r>
            <a:r>
              <a:rPr lang="zh-CN" altLang="en-US" sz="1000"/>
              <a:t>合并分割数据</a:t>
            </a:r>
            <a:br>
              <a:rPr lang="zh-CN" altLang="en-US" sz="1000"/>
            </a:br>
            <a:r>
              <a:rPr lang="zh-CN" altLang="en-US" sz="1000"/>
              <a:t>　　在有些情况下，由于表中数据量太大，故在表的设计时常将表进行水平分割或垂直分割，但表的结构的变化却对应用程序产生不良的影响。如果使用视图就可以重新保持原有的结构关系，从而使外模式保持不变，原有的应用程序仍可以通过视图来重载数据。</a:t>
            </a:r>
            <a:br>
              <a:rPr lang="zh-CN" altLang="en-US" sz="1000"/>
            </a:br>
            <a:r>
              <a:rPr lang="zh-CN" altLang="en-US" sz="1000"/>
              <a:t>　　</a:t>
            </a:r>
            <a:r>
              <a:rPr lang="en-US" altLang="zh-CN" sz="1000"/>
              <a:t>5. </a:t>
            </a:r>
            <a:r>
              <a:rPr lang="zh-CN" altLang="en-US" sz="1000"/>
              <a:t>安全性</a:t>
            </a:r>
            <a:br>
              <a:rPr lang="zh-CN" altLang="en-US" sz="1000"/>
            </a:br>
            <a:r>
              <a:rPr lang="zh-CN" altLang="en-US" sz="1000"/>
              <a:t>　　视图可以作为一种安全机制。通过视图用户只能查看和修改他们所能看到的数据。其它数据库或表既不可见也不可以访问。如果某一用户想要访问视图的结果集，必须授予其访问权限。视图所引用表的访问权限与视图权限的设置互不影响。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1026"/>
          <p:cNvGrpSpPr/>
          <p:nvPr/>
        </p:nvGrpSpPr>
        <p:grpSpPr bwMode="auto">
          <a:xfrm>
            <a:off x="0" y="2438400"/>
            <a:ext cx="9009063" cy="1052513"/>
            <a:chOff x="0" y="1536"/>
            <a:chExt cx="5675" cy="663"/>
          </a:xfrm>
        </p:grpSpPr>
        <p:grpSp>
          <p:nvGrpSpPr>
            <p:cNvPr id="5" name="Group 1027"/>
            <p:cNvGrpSpPr/>
            <p:nvPr/>
          </p:nvGrpSpPr>
          <p:grpSpPr bwMode="auto">
            <a:xfrm>
              <a:off x="183" y="1604"/>
              <a:ext cx="448" cy="299"/>
              <a:chOff x="720" y="336"/>
              <a:chExt cx="624" cy="432"/>
            </a:xfrm>
          </p:grpSpPr>
          <p:sp>
            <p:nvSpPr>
              <p:cNvPr id="12" name="Rectangle 1028"/>
              <p:cNvSpPr>
                <a:spLocks noChangeArrowheads="1"/>
              </p:cNvSpPr>
              <p:nvPr/>
            </p:nvSpPr>
            <p:spPr bwMode="auto">
              <a:xfrm>
                <a:off x="720" y="336"/>
                <a:ext cx="384" cy="432"/>
              </a:xfrm>
              <a:prstGeom prst="rect">
                <a:avLst/>
              </a:prstGeom>
              <a:solidFill>
                <a:schemeClr val="folHlink"/>
              </a:solidFill>
              <a:ln w="9525">
                <a:noFill/>
                <a:miter lim="800000"/>
              </a:ln>
              <a:effectLst/>
            </p:spPr>
            <p:txBody>
              <a:bodyPr wrap="none" anchor="ctr"/>
              <a:lstStyle/>
              <a:p>
                <a:pPr>
                  <a:defRPr/>
                </a:pPr>
                <a:endParaRPr lang="zh-CN" altLang="en-US"/>
              </a:p>
            </p:txBody>
          </p:sp>
          <p:sp>
            <p:nvSpPr>
              <p:cNvPr id="13" name="Rectangle 1029"/>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defRPr/>
                </a:pPr>
                <a:endParaRPr lang="zh-CN" altLang="en-US"/>
              </a:p>
            </p:txBody>
          </p:sp>
        </p:grpSp>
        <p:grpSp>
          <p:nvGrpSpPr>
            <p:cNvPr id="6" name="Group 1030"/>
            <p:cNvGrpSpPr/>
            <p:nvPr/>
          </p:nvGrpSpPr>
          <p:grpSpPr bwMode="auto">
            <a:xfrm>
              <a:off x="261" y="1870"/>
              <a:ext cx="465" cy="299"/>
              <a:chOff x="912" y="2640"/>
              <a:chExt cx="672" cy="432"/>
            </a:xfrm>
          </p:grpSpPr>
          <p:sp>
            <p:nvSpPr>
              <p:cNvPr id="10" name="Rectangle 1031"/>
              <p:cNvSpPr>
                <a:spLocks noChangeArrowheads="1"/>
              </p:cNvSpPr>
              <p:nvPr/>
            </p:nvSpPr>
            <p:spPr bwMode="auto">
              <a:xfrm>
                <a:off x="912" y="2640"/>
                <a:ext cx="384" cy="432"/>
              </a:xfrm>
              <a:prstGeom prst="rect">
                <a:avLst/>
              </a:prstGeom>
              <a:solidFill>
                <a:schemeClr val="accent2"/>
              </a:solidFill>
              <a:ln w="9525">
                <a:noFill/>
                <a:miter lim="800000"/>
              </a:ln>
              <a:effectLst/>
            </p:spPr>
            <p:txBody>
              <a:bodyPr wrap="none" anchor="ctr"/>
              <a:lstStyle/>
              <a:p>
                <a:pPr>
                  <a:defRPr/>
                </a:pPr>
                <a:endParaRPr lang="zh-CN" altLang="en-US"/>
              </a:p>
            </p:txBody>
          </p:sp>
          <p:sp>
            <p:nvSpPr>
              <p:cNvPr id="11" name="Rectangle 1032"/>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defRPr/>
                </a:pPr>
                <a:endParaRPr lang="zh-CN" altLang="en-US"/>
              </a:p>
            </p:txBody>
          </p:sp>
        </p:grpSp>
        <p:sp>
          <p:nvSpPr>
            <p:cNvPr id="7" name="Rectangle 1033"/>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defRPr/>
              </a:pPr>
              <a:endParaRPr lang="zh-CN" altLang="en-US"/>
            </a:p>
          </p:txBody>
        </p:sp>
        <p:sp>
          <p:nvSpPr>
            <p:cNvPr id="8" name="Rectangle 1034"/>
            <p:cNvSpPr>
              <a:spLocks noChangeArrowheads="1"/>
            </p:cNvSpPr>
            <p:nvPr/>
          </p:nvSpPr>
          <p:spPr bwMode="auto">
            <a:xfrm>
              <a:off x="400" y="1536"/>
              <a:ext cx="20" cy="663"/>
            </a:xfrm>
            <a:prstGeom prst="rect">
              <a:avLst/>
            </a:prstGeom>
            <a:solidFill>
              <a:schemeClr val="bg2"/>
            </a:solidFill>
            <a:ln w="9525">
              <a:noFill/>
              <a:miter lim="800000"/>
            </a:ln>
            <a:effectLst/>
          </p:spPr>
          <p:txBody>
            <a:bodyPr wrap="none" anchor="ctr"/>
            <a:lstStyle/>
            <a:p>
              <a:pPr>
                <a:defRPr/>
              </a:pPr>
              <a:endParaRPr lang="zh-CN" altLang="en-US"/>
            </a:p>
          </p:txBody>
        </p:sp>
        <p:sp>
          <p:nvSpPr>
            <p:cNvPr id="9" name="Rectangle 1035"/>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defRPr/>
              </a:pPr>
              <a:endParaRPr lang="zh-CN" altLang="en-US"/>
            </a:p>
          </p:txBody>
        </p:sp>
      </p:grpSp>
      <p:sp>
        <p:nvSpPr>
          <p:cNvPr id="14348" name="Rectangle 1036"/>
          <p:cNvSpPr>
            <a:spLocks noGrp="1" noChangeArrowheads="1"/>
          </p:cNvSpPr>
          <p:nvPr>
            <p:ph type="ctrTitle"/>
          </p:nvPr>
        </p:nvSpPr>
        <p:spPr>
          <a:xfrm>
            <a:off x="990600" y="1828800"/>
            <a:ext cx="7772400" cy="1143000"/>
          </a:xfrm>
        </p:spPr>
        <p:txBody>
          <a:bodyPr/>
          <a:lstStyle>
            <a:lvl1pPr>
              <a:defRPr/>
            </a:lvl1pPr>
          </a:lstStyle>
          <a:p>
            <a:pPr lvl="0"/>
            <a:r>
              <a:rPr lang="zh-CN" altLang="en-US" noProof="0"/>
              <a:t>单击此处编辑母版标题样式</a:t>
            </a:r>
          </a:p>
        </p:txBody>
      </p:sp>
      <p:sp>
        <p:nvSpPr>
          <p:cNvPr id="14349" name="Rectangle 1037"/>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14" name="Rectangle 1038"/>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039"/>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040"/>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A3D8FAA1-BA08-4BFA-9674-ED779CE3B3A2}" type="slidenum">
              <a:rPr lang="zh-CN" altLang="en-US"/>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B3745BE4-6838-4EFA-9782-2003DA052FA6}"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5F2FA833-3F3E-416B-8822-4DEE579E58C4}"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fld id="{5CE99AC0-312C-4F0E-BEE0-BA5A399DBCD7}"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p:txBody>
          <a:bodyPr/>
          <a:lstStyle>
            <a:lvl1pPr>
              <a:defRPr/>
            </a:lvl1pPr>
          </a:lstStyle>
          <a:p>
            <a:fld id="{1322C273-D9B2-4E46-A238-B31F2B1DD674}"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p:txBody>
          <a:bodyPr/>
          <a:lstStyle>
            <a:lvl1pPr>
              <a:defRPr/>
            </a:lvl1pPr>
          </a:lstStyle>
          <a:p>
            <a:fld id="{8613CBD0-654B-46F2-B98A-1716F57DB51E}"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p:txBody>
          <a:bodyPr/>
          <a:lstStyle>
            <a:lvl1pPr>
              <a:defRPr/>
            </a:lvl1pPr>
          </a:lstStyle>
          <a:p>
            <a:fld id="{D93E1A7C-2E2F-48E5-B212-E6D45C7DD189}"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fld id="{E868ACE5-E88B-4C6E-BD6E-4849254E3D22}"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p:txBody>
          <a:bodyPr/>
          <a:lstStyle>
            <a:lvl1pPr>
              <a:defRPr/>
            </a:lvl1pPr>
          </a:lstStyle>
          <a:p>
            <a:fld id="{18C25080-B910-431A-9470-9D1704102FFA}"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0F4903B5-6A8D-4E3B-A55E-E806019901D6}"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p:txBody>
          <a:bodyPr/>
          <a:lstStyle>
            <a:lvl1pPr>
              <a:defRPr/>
            </a:lvl1pPr>
          </a:lstStyle>
          <a:p>
            <a:fld id="{9F0AC3AB-2A10-496F-8F36-55143085034E}" type="slidenum">
              <a:rPr lang="zh-CN" altLang="en-US"/>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w="9525">
            <a:noFill/>
            <a:miter lim="800000"/>
          </a:ln>
          <a:effectLst/>
        </p:spPr>
        <p:txBody>
          <a:bodyPr wrap="none" anchor="ctr"/>
          <a:lstStyle/>
          <a:p>
            <a:pPr algn="ctr">
              <a:defRPr/>
            </a:pPr>
            <a:endParaRPr lang="zh-CN" altLang="en-US"/>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lgn="ctr">
              <a:defRPr/>
            </a:pPr>
            <a:endParaRPr lang="zh-CN" altLang="en-US"/>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w="9525">
            <a:noFill/>
            <a:miter lim="800000"/>
          </a:ln>
          <a:effectLst/>
        </p:spPr>
        <p:txBody>
          <a:bodyPr wrap="none" anchor="ctr"/>
          <a:lstStyle/>
          <a:p>
            <a:pPr algn="ctr">
              <a:defRPr/>
            </a:pPr>
            <a:endParaRPr lang="zh-CN" altLang="en-US"/>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en-US"/>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lgn="ctr">
              <a:defRPr/>
            </a:pPr>
            <a:endParaRPr lang="zh-CN" altLang="en-US"/>
          </a:p>
        </p:txBody>
      </p:sp>
      <p:sp>
        <p:nvSpPr>
          <p:cNvPr id="1031" name="Rectangle 7"/>
          <p:cNvSpPr>
            <a:spLocks noChangeArrowheads="1"/>
          </p:cNvSpPr>
          <p:nvPr/>
        </p:nvSpPr>
        <p:spPr bwMode="gray">
          <a:xfrm>
            <a:off x="762000" y="990600"/>
            <a:ext cx="31750" cy="1052513"/>
          </a:xfrm>
          <a:prstGeom prst="rect">
            <a:avLst/>
          </a:prstGeom>
          <a:solidFill>
            <a:schemeClr val="bg2"/>
          </a:solidFill>
          <a:ln w="9525">
            <a:noFill/>
            <a:miter lim="800000"/>
          </a:ln>
          <a:effectLst/>
        </p:spPr>
        <p:txBody>
          <a:bodyPr wrap="none" anchor="ctr"/>
          <a:lstStyle/>
          <a:p>
            <a:pPr algn="ctr">
              <a:defRPr/>
            </a:pPr>
            <a:endParaRPr lang="zh-CN" altLang="en-US"/>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en-US"/>
          </a:p>
        </p:txBody>
      </p:sp>
      <p:sp>
        <p:nvSpPr>
          <p:cNvPr id="6153" name="Rectangle 9"/>
          <p:cNvSpPr>
            <a:spLocks noGrp="1" noChangeArrowheads="1"/>
          </p:cNvSpPr>
          <p:nvPr>
            <p:ph type="title"/>
          </p:nvPr>
        </p:nvSpPr>
        <p:spPr bwMode="auto">
          <a:xfrm>
            <a:off x="1150938" y="617538"/>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6154" name="Rectangle 10"/>
          <p:cNvSpPr>
            <a:spLocks noGrp="1" noChangeArrowheads="1"/>
          </p:cNvSpPr>
          <p:nvPr>
            <p:ph type="body" idx="1"/>
          </p:nvPr>
        </p:nvSpPr>
        <p:spPr bwMode="auto">
          <a:xfrm>
            <a:off x="1182688" y="20177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3323" name="Rectangle 11"/>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lstStyle>
            <a:lvl1pPr>
              <a:defRPr kumimoji="0" sz="1400"/>
            </a:lvl1pPr>
          </a:lstStyle>
          <a:p>
            <a:pPr>
              <a:defRPr/>
            </a:pPr>
            <a:endParaRPr lang="en-US" altLang="zh-CN"/>
          </a:p>
        </p:txBody>
      </p:sp>
      <p:sp>
        <p:nvSpPr>
          <p:cNvPr id="13324" name="Rectangle 12"/>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lstStyle>
            <a:lvl1pPr algn="ctr">
              <a:defRPr kumimoji="0" sz="1400"/>
            </a:lvl1pPr>
          </a:lstStyle>
          <a:p>
            <a:pPr>
              <a:defRPr/>
            </a:pPr>
            <a:endParaRPr lang="en-US" altLang="zh-CN"/>
          </a:p>
        </p:txBody>
      </p:sp>
      <p:sp>
        <p:nvSpPr>
          <p:cNvPr id="13325" name="Rectangle 13"/>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lstStyle>
            <a:lvl1pPr algn="r">
              <a:defRPr kumimoji="0" sz="1400"/>
            </a:lvl1pPr>
          </a:lstStyle>
          <a:p>
            <a:fld id="{F09D0D33-5703-487C-ADB5-12B16EE67D3D}"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anose="020B0604030504040204" pitchFamily="34" charset="0"/>
          <a:ea typeface="SimSun" panose="02010600030101010101" pitchFamily="2" charset="-122"/>
        </a:defRPr>
      </a:lvl2pPr>
      <a:lvl3pPr algn="l" rtl="0" eaLnBrk="0" fontAlgn="base" hangingPunct="0">
        <a:spcBef>
          <a:spcPct val="0"/>
        </a:spcBef>
        <a:spcAft>
          <a:spcPct val="0"/>
        </a:spcAft>
        <a:defRPr kumimoji="1" sz="4400">
          <a:solidFill>
            <a:schemeClr val="tx2"/>
          </a:solidFill>
          <a:latin typeface="Tahoma" panose="020B0604030504040204" pitchFamily="34" charset="0"/>
          <a:ea typeface="SimSun" panose="02010600030101010101" pitchFamily="2" charset="-122"/>
        </a:defRPr>
      </a:lvl3pPr>
      <a:lvl4pPr algn="l" rtl="0" eaLnBrk="0" fontAlgn="base" hangingPunct="0">
        <a:spcBef>
          <a:spcPct val="0"/>
        </a:spcBef>
        <a:spcAft>
          <a:spcPct val="0"/>
        </a:spcAft>
        <a:defRPr kumimoji="1" sz="4400">
          <a:solidFill>
            <a:schemeClr val="tx2"/>
          </a:solidFill>
          <a:latin typeface="Tahoma" panose="020B0604030504040204" pitchFamily="34" charset="0"/>
          <a:ea typeface="SimSun" panose="02010600030101010101" pitchFamily="2" charset="-122"/>
        </a:defRPr>
      </a:lvl4pPr>
      <a:lvl5pPr algn="l" rtl="0" eaLnBrk="0" fontAlgn="base" hangingPunct="0">
        <a:spcBef>
          <a:spcPct val="0"/>
        </a:spcBef>
        <a:spcAft>
          <a:spcPct val="0"/>
        </a:spcAft>
        <a:defRPr kumimoji="1" sz="4400">
          <a:solidFill>
            <a:schemeClr val="tx2"/>
          </a:solidFill>
          <a:latin typeface="Tahoma" panose="020B0604030504040204" pitchFamily="34" charset="0"/>
          <a:ea typeface="SimSun" panose="02010600030101010101" pitchFamily="2" charset="-122"/>
        </a:defRPr>
      </a:lvl5pPr>
      <a:lvl6pPr marL="457200" algn="l" rtl="0" fontAlgn="base">
        <a:spcBef>
          <a:spcPct val="0"/>
        </a:spcBef>
        <a:spcAft>
          <a:spcPct val="0"/>
        </a:spcAft>
        <a:defRPr kumimoji="1" sz="4400">
          <a:solidFill>
            <a:schemeClr val="tx2"/>
          </a:solidFill>
          <a:latin typeface="Tahoma" panose="020B0604030504040204" pitchFamily="34" charset="0"/>
          <a:ea typeface="SimSun" panose="02010600030101010101" pitchFamily="2" charset="-122"/>
        </a:defRPr>
      </a:lvl6pPr>
      <a:lvl7pPr marL="914400" algn="l" rtl="0" fontAlgn="base">
        <a:spcBef>
          <a:spcPct val="0"/>
        </a:spcBef>
        <a:spcAft>
          <a:spcPct val="0"/>
        </a:spcAft>
        <a:defRPr kumimoji="1" sz="4400">
          <a:solidFill>
            <a:schemeClr val="tx2"/>
          </a:solidFill>
          <a:latin typeface="Tahoma" panose="020B0604030504040204" pitchFamily="34" charset="0"/>
          <a:ea typeface="SimSun" panose="02010600030101010101" pitchFamily="2" charset="-122"/>
        </a:defRPr>
      </a:lvl7pPr>
      <a:lvl8pPr marL="1371600" algn="l" rtl="0" fontAlgn="base">
        <a:spcBef>
          <a:spcPct val="0"/>
        </a:spcBef>
        <a:spcAft>
          <a:spcPct val="0"/>
        </a:spcAft>
        <a:defRPr kumimoji="1" sz="4400">
          <a:solidFill>
            <a:schemeClr val="tx2"/>
          </a:solidFill>
          <a:latin typeface="Tahoma" panose="020B0604030504040204" pitchFamily="34" charset="0"/>
          <a:ea typeface="SimSun" panose="02010600030101010101" pitchFamily="2" charset="-122"/>
        </a:defRPr>
      </a:lvl8pPr>
      <a:lvl9pPr marL="1828800" algn="l" rtl="0" fontAlgn="base">
        <a:spcBef>
          <a:spcPct val="0"/>
        </a:spcBef>
        <a:spcAft>
          <a:spcPct val="0"/>
        </a:spcAft>
        <a:defRPr kumimoji="1" sz="4400">
          <a:solidFill>
            <a:schemeClr val="tx2"/>
          </a:solidFill>
          <a:latin typeface="Tahoma" panose="020B0604030504040204" pitchFamily="34" charset="0"/>
          <a:ea typeface="SimSun"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sunteam.com.cn/putong/yingxiao.ht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www.bilibili.com/video/BV1AeyeY9EKM/?spm_id_from=333.337.search-card.all.click&amp;vd_source=31b8cdf62fecff492433b8c24d65e7d2" TargetMode="External"/><Relationship Id="rId2" Type="http://schemas.openxmlformats.org/officeDocument/2006/relationships/hyperlink" Target="https://www.bilibili.com/video/BV13N4y1S71c/?spm_id_from=333.337.search-card.all.click&amp;vd_source=31b8cdf62fecff492433b8c24d65e7d2"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457200" y="4648200"/>
            <a:ext cx="8534400" cy="685800"/>
          </a:xfrm>
          <a:noFill/>
        </p:spPr>
        <p:txBody>
          <a:bodyPr/>
          <a:lstStyle/>
          <a:p>
            <a:pPr algn="ctr" eaLnBrk="1" hangingPunct="1"/>
            <a:r>
              <a:rPr lang="zh-CN" altLang="en-US" sz="3200" b="1">
                <a:solidFill>
                  <a:schemeClr val="tx1"/>
                </a:solidFill>
                <a:latin typeface="Times-Roman"/>
                <a:ea typeface="华文行楷" panose="02010800040101010101" pitchFamily="2" charset="-122"/>
              </a:rPr>
              <a:t>主讲：王海燕</a:t>
            </a:r>
            <a:br>
              <a:rPr lang="zh-CN" altLang="en-US" sz="3200" b="1">
                <a:solidFill>
                  <a:schemeClr val="tx1"/>
                </a:solidFill>
                <a:latin typeface="Times-Roman"/>
                <a:ea typeface="华文行楷" panose="02010800040101010101" pitchFamily="2" charset="-122"/>
              </a:rPr>
            </a:br>
            <a:r>
              <a:rPr lang="en-US" altLang="zh-CN" sz="3200" b="1">
                <a:solidFill>
                  <a:schemeClr val="tx1"/>
                </a:solidFill>
                <a:latin typeface="Times-Roman"/>
                <a:ea typeface="华文行楷" panose="02010800040101010101" pitchFamily="2" charset="-122"/>
              </a:rPr>
              <a:t>E-mail：wanghaiyan@mail.hzau.edu.cn</a:t>
            </a:r>
          </a:p>
        </p:txBody>
      </p:sp>
      <p:sp>
        <p:nvSpPr>
          <p:cNvPr id="8195" name="Rectangle 3"/>
          <p:cNvSpPr>
            <a:spLocks noChangeArrowheads="1"/>
          </p:cNvSpPr>
          <p:nvPr/>
        </p:nvSpPr>
        <p:spPr bwMode="auto">
          <a:xfrm>
            <a:off x="685800" y="2716213"/>
            <a:ext cx="7924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ahoma" panose="020B0604030504040204" pitchFamily="34" charset="0"/>
                <a:ea typeface="SimSun" panose="02010600030101010101" pitchFamily="2" charset="-122"/>
              </a:defRPr>
            </a:lvl1pPr>
            <a:lvl2pPr marL="742950" indent="-285750" eaLnBrk="0" hangingPunct="0">
              <a:defRPr kumimoji="1" sz="2400">
                <a:solidFill>
                  <a:schemeClr val="tx1"/>
                </a:solidFill>
                <a:latin typeface="Tahoma" panose="020B0604030504040204" pitchFamily="34" charset="0"/>
                <a:ea typeface="SimSun" panose="02010600030101010101" pitchFamily="2" charset="-122"/>
              </a:defRPr>
            </a:lvl2pPr>
            <a:lvl3pPr marL="1143000" indent="-228600" eaLnBrk="0" hangingPunct="0">
              <a:defRPr kumimoji="1" sz="2400">
                <a:solidFill>
                  <a:schemeClr val="tx1"/>
                </a:solidFill>
                <a:latin typeface="Tahoma" panose="020B0604030504040204" pitchFamily="34" charset="0"/>
                <a:ea typeface="SimSun" panose="02010600030101010101" pitchFamily="2" charset="-122"/>
              </a:defRPr>
            </a:lvl3pPr>
            <a:lvl4pPr marL="1600200" indent="-228600" eaLnBrk="0" hangingPunct="0">
              <a:defRPr kumimoji="1" sz="2400">
                <a:solidFill>
                  <a:schemeClr val="tx1"/>
                </a:solidFill>
                <a:latin typeface="Tahoma" panose="020B0604030504040204" pitchFamily="34" charset="0"/>
                <a:ea typeface="SimSun" panose="02010600030101010101" pitchFamily="2" charset="-122"/>
              </a:defRPr>
            </a:lvl4pPr>
            <a:lvl5pPr marL="2057400" indent="-228600" eaLnBrk="0" hangingPunct="0">
              <a:defRPr kumimoji="1" sz="2400">
                <a:solidFill>
                  <a:schemeClr val="tx1"/>
                </a:solidFill>
                <a:latin typeface="Tahoma" panose="020B0604030504040204" pitchFamily="34"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9pPr>
          </a:lstStyle>
          <a:p>
            <a:pPr algn="ctr" eaLnBrk="1" hangingPunct="1"/>
            <a:r>
              <a:rPr lang="zh-CN" altLang="en-US" sz="3600" b="1" dirty="0">
                <a:solidFill>
                  <a:schemeClr val="tx2"/>
                </a:solidFill>
                <a:latin typeface="Arial Black" panose="020B0A04020102020204" pitchFamily="34" charset="0"/>
                <a:ea typeface="隶书" panose="02010509060101010101" pitchFamily="49" charset="-122"/>
              </a:rPr>
              <a:t>第三章  关系数据库标准语言－</a:t>
            </a:r>
            <a:r>
              <a:rPr lang="en-US" altLang="zh-CN" sz="3600" b="1" dirty="0">
                <a:solidFill>
                  <a:schemeClr val="tx2"/>
                </a:solidFill>
                <a:latin typeface="Arial Black" panose="020B0A04020102020204" pitchFamily="34" charset="0"/>
                <a:ea typeface="隶书" panose="02010509060101010101" pitchFamily="49" charset="-122"/>
              </a:rPr>
              <a:t>SQL</a:t>
            </a:r>
            <a:endParaRPr lang="zh-CN" altLang="en-US" sz="3600" b="1" dirty="0">
              <a:solidFill>
                <a:schemeClr val="tx2"/>
              </a:solidFill>
              <a:latin typeface="SimSun" panose="02010600030101010101" pitchFamily="2" charset="-122"/>
            </a:endParaRPr>
          </a:p>
        </p:txBody>
      </p:sp>
      <p:pic>
        <p:nvPicPr>
          <p:cNvPr id="8196" name="Picture 4" descr="tuli">
            <a:hlinkClick r:id="rId3"/>
          </p:cNvPr>
          <p:cNvPicPr>
            <a:picLocks noGrp="1" noChangeAspect="1" noChangeArrowheads="1"/>
          </p:cNvPicPr>
          <p:nvPr>
            <p:ph idx="4294967295"/>
          </p:nvPr>
        </p:nvPicPr>
        <p:blipFill>
          <a:blip r:embed="rId4">
            <a:extLst>
              <a:ext uri="{28A0092B-C50C-407E-A947-70E740481C1C}">
                <a14:useLocalDpi xmlns:a14="http://schemas.microsoft.com/office/drawing/2010/main" val="0"/>
              </a:ext>
            </a:extLst>
          </a:blip>
          <a:srcRect/>
          <a:stretch>
            <a:fillRect/>
          </a:stretch>
        </p:blipFill>
        <p:spPr>
          <a:xfrm>
            <a:off x="8010525" y="5486400"/>
            <a:ext cx="1133475" cy="1143000"/>
          </a:xfrm>
        </p:spPr>
      </p:pic>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b="1"/>
              <a:t>主要内容</a:t>
            </a:r>
          </a:p>
        </p:txBody>
      </p:sp>
      <p:sp>
        <p:nvSpPr>
          <p:cNvPr id="9219" name="Rectangle 3"/>
          <p:cNvSpPr>
            <a:spLocks noGrp="1" noChangeArrowheads="1"/>
          </p:cNvSpPr>
          <p:nvPr>
            <p:ph type="body" idx="1"/>
          </p:nvPr>
        </p:nvSpPr>
        <p:spPr/>
        <p:txBody>
          <a:bodyPr/>
          <a:lstStyle/>
          <a:p>
            <a:pPr eaLnBrk="1" hangingPunct="1"/>
            <a:r>
              <a:rPr lang="en-US" altLang="zh-CN" b="1"/>
              <a:t>3.1 SQL</a:t>
            </a:r>
            <a:r>
              <a:rPr lang="zh-CN" altLang="en-US" b="1"/>
              <a:t>语言的基本概念和特点</a:t>
            </a:r>
          </a:p>
          <a:p>
            <a:pPr eaLnBrk="1" hangingPunct="1"/>
            <a:r>
              <a:rPr lang="en-US" altLang="zh-CN" b="1"/>
              <a:t>3.4 </a:t>
            </a:r>
            <a:r>
              <a:rPr lang="zh-CN" altLang="en-US" b="1"/>
              <a:t>创建与使用数据表</a:t>
            </a:r>
          </a:p>
          <a:p>
            <a:pPr eaLnBrk="1" hangingPunct="1"/>
            <a:r>
              <a:rPr lang="en-US" altLang="zh-CN" b="1"/>
              <a:t>3.5 </a:t>
            </a:r>
            <a:r>
              <a:rPr lang="zh-CN" altLang="en-US" b="1"/>
              <a:t>创建与使用索引</a:t>
            </a:r>
          </a:p>
          <a:p>
            <a:pPr eaLnBrk="1" hangingPunct="1"/>
            <a:r>
              <a:rPr lang="en-US" altLang="zh-CN" b="1"/>
              <a:t>3.6 </a:t>
            </a:r>
            <a:r>
              <a:rPr lang="zh-CN" altLang="en-US" b="1"/>
              <a:t>数据查询</a:t>
            </a:r>
          </a:p>
          <a:p>
            <a:pPr eaLnBrk="1" hangingPunct="1"/>
            <a:r>
              <a:rPr lang="en-US" altLang="zh-CN" b="1"/>
              <a:t>3.7 </a:t>
            </a:r>
            <a:r>
              <a:rPr lang="zh-CN" altLang="en-US" b="1"/>
              <a:t>数据操纵</a:t>
            </a:r>
          </a:p>
          <a:p>
            <a:pPr eaLnBrk="1" hangingPunct="1"/>
            <a:r>
              <a:rPr lang="en-US" altLang="zh-CN" b="1"/>
              <a:t>3.8 </a:t>
            </a:r>
            <a:r>
              <a:rPr lang="zh-CN" altLang="en-US" b="1"/>
              <a:t>视图</a:t>
            </a:r>
          </a:p>
          <a:p>
            <a:pPr eaLnBrk="1" hangingPunct="1"/>
            <a:r>
              <a:rPr lang="en-US" altLang="zh-CN" b="1"/>
              <a:t>3.9 </a:t>
            </a:r>
            <a:r>
              <a:rPr lang="zh-CN" altLang="en-US" b="1"/>
              <a:t>数据控制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pPr eaLnBrk="1" hangingPunct="1"/>
            <a:r>
              <a:rPr lang="en-US" altLang="zh-CN" b="1"/>
              <a:t>3.7 </a:t>
            </a:r>
            <a:r>
              <a:rPr lang="zh-CN" altLang="en-US" b="1"/>
              <a:t>数据操纵</a:t>
            </a:r>
          </a:p>
        </p:txBody>
      </p:sp>
      <p:sp>
        <p:nvSpPr>
          <p:cNvPr id="154627" name="Rectangle 3"/>
          <p:cNvSpPr>
            <a:spLocks noGrp="1" noChangeArrowheads="1"/>
          </p:cNvSpPr>
          <p:nvPr>
            <p:ph type="body" idx="1"/>
          </p:nvPr>
        </p:nvSpPr>
        <p:spPr/>
        <p:txBody>
          <a:bodyPr/>
          <a:lstStyle/>
          <a:p>
            <a:pPr eaLnBrk="1" hangingPunct="1"/>
            <a:r>
              <a:rPr lang="zh-CN" altLang="en-US" b="1"/>
              <a:t>插入数据</a:t>
            </a:r>
          </a:p>
          <a:p>
            <a:pPr eaLnBrk="1" hangingPunct="1"/>
            <a:endParaRPr lang="zh-CN" altLang="en-US" b="1"/>
          </a:p>
          <a:p>
            <a:pPr eaLnBrk="1" hangingPunct="1"/>
            <a:r>
              <a:rPr lang="zh-CN" altLang="en-US" b="1"/>
              <a:t>修改数据</a:t>
            </a:r>
          </a:p>
          <a:p>
            <a:pPr eaLnBrk="1" hangingPunct="1"/>
            <a:endParaRPr lang="zh-CN" altLang="en-US" b="1"/>
          </a:p>
          <a:p>
            <a:pPr eaLnBrk="1" hangingPunct="1"/>
            <a:r>
              <a:rPr lang="zh-CN" altLang="en-US" b="1"/>
              <a:t>删除数据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r>
              <a:rPr lang="zh-CN" altLang="en-US" sz="4000" b="1"/>
              <a:t>（一）、插入数据</a:t>
            </a:r>
          </a:p>
        </p:txBody>
      </p:sp>
      <p:sp>
        <p:nvSpPr>
          <p:cNvPr id="155651" name="Rectangle 3"/>
          <p:cNvSpPr>
            <a:spLocks noGrp="1" noChangeArrowheads="1"/>
          </p:cNvSpPr>
          <p:nvPr>
            <p:ph type="body" idx="1"/>
          </p:nvPr>
        </p:nvSpPr>
        <p:spPr/>
        <p:txBody>
          <a:bodyPr/>
          <a:lstStyle/>
          <a:p>
            <a:pPr eaLnBrk="1" hangingPunct="1">
              <a:lnSpc>
                <a:spcPct val="140000"/>
              </a:lnSpc>
            </a:pPr>
            <a:r>
              <a:rPr lang="zh-CN" altLang="en-US" sz="3600" b="1"/>
              <a:t>两种插入数据方式</a:t>
            </a:r>
          </a:p>
          <a:p>
            <a:pPr lvl="1" eaLnBrk="1" hangingPunct="1">
              <a:lnSpc>
                <a:spcPct val="140000"/>
              </a:lnSpc>
            </a:pPr>
            <a:r>
              <a:rPr lang="zh-CN" altLang="en-US" b="1"/>
              <a:t> 插入单个元组</a:t>
            </a:r>
          </a:p>
          <a:p>
            <a:pPr lvl="1" eaLnBrk="1" hangingPunct="1">
              <a:lnSpc>
                <a:spcPct val="140000"/>
              </a:lnSpc>
            </a:pPr>
            <a:endParaRPr lang="zh-CN" altLang="en-US" b="1"/>
          </a:p>
          <a:p>
            <a:pPr lvl="1" eaLnBrk="1" hangingPunct="1">
              <a:lnSpc>
                <a:spcPct val="140000"/>
              </a:lnSpc>
            </a:pPr>
            <a:r>
              <a:rPr lang="zh-CN" altLang="en-US" b="1"/>
              <a:t> 插入子查询结果</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pPr eaLnBrk="1" hangingPunct="1"/>
            <a:r>
              <a:rPr lang="zh-CN" altLang="en-US" sz="4800" b="1"/>
              <a:t>1. 插入单个元组</a:t>
            </a:r>
          </a:p>
        </p:txBody>
      </p:sp>
      <p:sp>
        <p:nvSpPr>
          <p:cNvPr id="156675" name="Rectangle 3"/>
          <p:cNvSpPr>
            <a:spLocks noGrp="1" noChangeArrowheads="1"/>
          </p:cNvSpPr>
          <p:nvPr>
            <p:ph type="body" idx="1"/>
          </p:nvPr>
        </p:nvSpPr>
        <p:spPr>
          <a:xfrm>
            <a:off x="609600" y="2133600"/>
            <a:ext cx="8153400" cy="4114800"/>
          </a:xfrm>
        </p:spPr>
        <p:txBody>
          <a:bodyPr/>
          <a:lstStyle/>
          <a:p>
            <a:pPr marL="609600" indent="-609600" eaLnBrk="1" hangingPunct="1"/>
            <a:r>
              <a:rPr lang="zh-CN" altLang="en-US" sz="3600" b="1"/>
              <a:t>语句格式</a:t>
            </a:r>
          </a:p>
          <a:p>
            <a:pPr marL="609600" indent="-609600" eaLnBrk="1" hangingPunct="1">
              <a:lnSpc>
                <a:spcPct val="120000"/>
              </a:lnSpc>
              <a:buFont typeface="Wingdings" panose="05000000000000000000" pitchFamily="2" charset="2"/>
              <a:buNone/>
            </a:pPr>
            <a:r>
              <a:rPr lang="en-US" altLang="zh-CN" sz="2800" b="1"/>
              <a:t>INSERT</a:t>
            </a:r>
          </a:p>
          <a:p>
            <a:pPr marL="609600" indent="-609600" eaLnBrk="1" hangingPunct="1">
              <a:lnSpc>
                <a:spcPct val="120000"/>
              </a:lnSpc>
              <a:buFont typeface="Wingdings" panose="05000000000000000000" pitchFamily="2" charset="2"/>
              <a:buNone/>
            </a:pPr>
            <a:r>
              <a:rPr lang="en-US" altLang="zh-CN" sz="2800" b="1"/>
              <a:t>INTO &lt;</a:t>
            </a:r>
            <a:r>
              <a:rPr lang="zh-CN" altLang="en-US" sz="2800" b="1"/>
              <a:t>表名&gt; [(&lt;属性列1&gt;[，&lt;属性列2 &gt;</a:t>
            </a:r>
            <a:r>
              <a:rPr lang="zh-CN" altLang="en-US" sz="2800" b="1">
                <a:latin typeface="Times New Roman" panose="02020503050405090304" pitchFamily="18" charset="0"/>
              </a:rPr>
              <a:t>…</a:t>
            </a:r>
            <a:r>
              <a:rPr lang="zh-CN" altLang="en-US" sz="2800" b="1"/>
              <a:t>)]</a:t>
            </a:r>
          </a:p>
          <a:p>
            <a:pPr marL="609600" indent="-609600" eaLnBrk="1" hangingPunct="1">
              <a:lnSpc>
                <a:spcPct val="120000"/>
              </a:lnSpc>
              <a:buFont typeface="Wingdings" panose="05000000000000000000" pitchFamily="2" charset="2"/>
              <a:buNone/>
            </a:pPr>
            <a:r>
              <a:rPr lang="en-US" altLang="zh-CN" sz="2800" b="1"/>
              <a:t>VALUES (&lt;</a:t>
            </a:r>
            <a:r>
              <a:rPr lang="zh-CN" altLang="en-US" sz="2800" b="1"/>
              <a:t>常量1&gt; [，&lt;常量2&gt;]    </a:t>
            </a:r>
            <a:r>
              <a:rPr lang="zh-CN" altLang="en-US" sz="2800" b="1">
                <a:latin typeface="Times New Roman" panose="02020503050405090304" pitchFamily="18" charset="0"/>
              </a:rPr>
              <a:t>…</a:t>
            </a:r>
            <a:r>
              <a:rPr lang="zh-CN" altLang="en-US" sz="2800" b="1"/>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pPr eaLnBrk="1" hangingPunct="1"/>
            <a:r>
              <a:rPr lang="zh-CN" altLang="en-US" b="1"/>
              <a:t>插入单个元组（续）</a:t>
            </a:r>
          </a:p>
        </p:txBody>
      </p:sp>
      <p:sp>
        <p:nvSpPr>
          <p:cNvPr id="157699" name="Rectangle 3"/>
          <p:cNvSpPr>
            <a:spLocks noGrp="1" noChangeArrowheads="1"/>
          </p:cNvSpPr>
          <p:nvPr>
            <p:ph type="body" idx="1"/>
          </p:nvPr>
        </p:nvSpPr>
        <p:spPr>
          <a:xfrm>
            <a:off x="838200" y="2017713"/>
            <a:ext cx="7772400" cy="4114800"/>
          </a:xfrm>
        </p:spPr>
        <p:txBody>
          <a:bodyPr/>
          <a:lstStyle/>
          <a:p>
            <a:pPr eaLnBrk="1" hangingPunct="1">
              <a:buFont typeface="Wingdings" panose="05000000000000000000" pitchFamily="2" charset="2"/>
              <a:buNone/>
            </a:pPr>
            <a:r>
              <a:rPr lang="zh-CN" altLang="en-US" b="1"/>
              <a:t>[例1]  </a:t>
            </a:r>
            <a:r>
              <a:rPr lang="zh-CN" altLang="en-US" sz="2800" b="1"/>
              <a:t>将一个新学生记录</a:t>
            </a:r>
          </a:p>
          <a:p>
            <a:pPr eaLnBrk="1" hangingPunct="1">
              <a:buFont typeface="Wingdings" panose="05000000000000000000" pitchFamily="2" charset="2"/>
              <a:buNone/>
            </a:pPr>
            <a:r>
              <a:rPr lang="zh-CN" altLang="en-US" sz="2400" b="1"/>
              <a:t>（学号：95020；姓名：陈冬；性别：男；所在系：</a:t>
            </a:r>
            <a:r>
              <a:rPr lang="en-US" altLang="zh-CN" sz="2400" b="1"/>
              <a:t>IS；</a:t>
            </a:r>
            <a:r>
              <a:rPr lang="zh-CN" altLang="en-US" sz="2400" b="1"/>
              <a:t>年龄：18岁）插入到</a:t>
            </a:r>
            <a:r>
              <a:rPr lang="en-US" altLang="zh-CN" sz="2800" b="1"/>
              <a:t>Student</a:t>
            </a:r>
            <a:r>
              <a:rPr lang="zh-CN" altLang="en-US" sz="2800" b="1"/>
              <a:t>表中。</a:t>
            </a:r>
            <a:endParaRPr lang="zh-CN" altLang="en-US" sz="3600" b="1"/>
          </a:p>
          <a:p>
            <a:pPr eaLnBrk="1" hangingPunct="1">
              <a:buFont typeface="Wingdings" panose="05000000000000000000" pitchFamily="2" charset="2"/>
              <a:buNone/>
            </a:pPr>
            <a:r>
              <a:rPr lang="en-US" altLang="zh-CN" sz="2800" b="1"/>
              <a:t>INSERT</a:t>
            </a:r>
          </a:p>
          <a:p>
            <a:pPr eaLnBrk="1" hangingPunct="1">
              <a:buFont typeface="Wingdings" panose="05000000000000000000" pitchFamily="2" charset="2"/>
              <a:buNone/>
            </a:pPr>
            <a:r>
              <a:rPr lang="en-US" altLang="zh-CN" sz="2800" b="1"/>
              <a:t>INTO Student</a:t>
            </a:r>
          </a:p>
          <a:p>
            <a:pPr eaLnBrk="1" hangingPunct="1">
              <a:buFont typeface="Wingdings" panose="05000000000000000000" pitchFamily="2" charset="2"/>
              <a:buNone/>
            </a:pPr>
            <a:r>
              <a:rPr lang="en-US" altLang="zh-CN" sz="2800" b="1"/>
              <a:t>VALUES ('95020'，'</a:t>
            </a:r>
            <a:r>
              <a:rPr lang="zh-CN" altLang="en-US" sz="2800" b="1"/>
              <a:t>陈冬'，'男'，'</a:t>
            </a:r>
            <a:r>
              <a:rPr lang="en-US" altLang="zh-CN" sz="2800" b="1"/>
              <a:t>IS'，18)；</a:t>
            </a:r>
            <a:endParaRPr lang="zh-CN" altLang="en-US" sz="280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pPr eaLnBrk="1" hangingPunct="1"/>
            <a:r>
              <a:rPr lang="zh-CN" altLang="en-US" b="1"/>
              <a:t>插入单个元组（续）</a:t>
            </a:r>
          </a:p>
        </p:txBody>
      </p:sp>
      <p:sp>
        <p:nvSpPr>
          <p:cNvPr id="158723" name="Rectangle 3"/>
          <p:cNvSpPr>
            <a:spLocks noGrp="1" noChangeArrowheads="1"/>
          </p:cNvSpPr>
          <p:nvPr>
            <p:ph type="body" idx="1"/>
          </p:nvPr>
        </p:nvSpPr>
        <p:spPr>
          <a:xfrm>
            <a:off x="762000" y="2057400"/>
            <a:ext cx="7772400" cy="4114800"/>
          </a:xfrm>
        </p:spPr>
        <p:txBody>
          <a:bodyPr/>
          <a:lstStyle/>
          <a:p>
            <a:pPr eaLnBrk="1" hangingPunct="1"/>
            <a:r>
              <a:rPr lang="zh-CN" altLang="en-US" sz="2800" b="1"/>
              <a:t> </a:t>
            </a:r>
            <a:r>
              <a:rPr lang="en-US" altLang="zh-CN" b="1"/>
              <a:t>INTO</a:t>
            </a:r>
            <a:r>
              <a:rPr lang="zh-CN" altLang="en-US" b="1"/>
              <a:t>子句</a:t>
            </a:r>
          </a:p>
          <a:p>
            <a:pPr lvl="1" eaLnBrk="1" hangingPunct="1"/>
            <a:r>
              <a:rPr lang="zh-CN" altLang="en-US" b="1"/>
              <a:t>指定要插入数据的表名及属性列</a:t>
            </a:r>
          </a:p>
          <a:p>
            <a:pPr lvl="1" eaLnBrk="1" hangingPunct="1"/>
            <a:r>
              <a:rPr lang="zh-CN" altLang="en-US" b="1"/>
              <a:t>属性列的顺序可与表定义中的顺序不一致</a:t>
            </a:r>
          </a:p>
          <a:p>
            <a:pPr lvl="1" eaLnBrk="1" hangingPunct="1"/>
            <a:r>
              <a:rPr lang="zh-CN" altLang="en-US" b="1"/>
              <a:t>没有指定属性列：表示要插入的是一条完整的元组，且属性列属性与表定义中的顺序一致</a:t>
            </a:r>
          </a:p>
          <a:p>
            <a:pPr lvl="1" eaLnBrk="1" hangingPunct="1"/>
            <a:r>
              <a:rPr lang="zh-CN" altLang="en-US" b="1"/>
              <a:t>指定部分属性列：插入的元组在其余属性列上取空值</a:t>
            </a:r>
            <a:r>
              <a:rPr lang="zh-CN" altLang="en-US" sz="2000" b="1"/>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pPr eaLnBrk="1" hangingPunct="1"/>
            <a:endParaRPr lang="zh-CN" altLang="en-US" b="1"/>
          </a:p>
        </p:txBody>
      </p:sp>
      <p:sp>
        <p:nvSpPr>
          <p:cNvPr id="159747" name="Rectangle 3"/>
          <p:cNvSpPr>
            <a:spLocks noGrp="1" noChangeArrowheads="1"/>
          </p:cNvSpPr>
          <p:nvPr>
            <p:ph type="body" idx="1"/>
          </p:nvPr>
        </p:nvSpPr>
        <p:spPr/>
        <p:txBody>
          <a:bodyPr/>
          <a:lstStyle/>
          <a:p>
            <a:pPr eaLnBrk="1" hangingPunct="1"/>
            <a:r>
              <a:rPr lang="en-US" altLang="zh-CN" b="1"/>
              <a:t>VALUES</a:t>
            </a:r>
            <a:r>
              <a:rPr lang="zh-CN" altLang="en-US" b="1"/>
              <a:t>子句</a:t>
            </a:r>
            <a:endParaRPr lang="zh-CN" altLang="en-US" sz="2400" b="1"/>
          </a:p>
          <a:p>
            <a:pPr lvl="1" eaLnBrk="1" hangingPunct="1"/>
            <a:r>
              <a:rPr lang="zh-CN" altLang="en-US" sz="2000" b="1"/>
              <a:t> </a:t>
            </a:r>
            <a:r>
              <a:rPr lang="zh-CN" altLang="en-US" b="1"/>
              <a:t>提供的值必须与</a:t>
            </a:r>
            <a:r>
              <a:rPr lang="en-US" altLang="zh-CN" b="1"/>
              <a:t>INTO</a:t>
            </a:r>
            <a:r>
              <a:rPr lang="zh-CN" altLang="en-US" b="1"/>
              <a:t>子句匹配</a:t>
            </a:r>
          </a:p>
          <a:p>
            <a:pPr lvl="2" eaLnBrk="1" hangingPunct="1">
              <a:buFontTx/>
              <a:buChar char="&gt;"/>
            </a:pPr>
            <a:r>
              <a:rPr lang="zh-CN" altLang="en-US" sz="2800" b="1"/>
              <a:t>值的个数</a:t>
            </a:r>
          </a:p>
          <a:p>
            <a:pPr lvl="2" eaLnBrk="1" hangingPunct="1">
              <a:buFontTx/>
              <a:buChar char="&gt;"/>
            </a:pPr>
            <a:r>
              <a:rPr lang="zh-CN" altLang="en-US" sz="2800" b="1"/>
              <a:t>值的类型</a:t>
            </a:r>
            <a:endParaRPr lang="zh-CN" altLang="en-US"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pPr eaLnBrk="1" hangingPunct="1"/>
            <a:r>
              <a:rPr lang="zh-CN" altLang="en-US" b="1"/>
              <a:t>2. 插入子查询结果</a:t>
            </a:r>
          </a:p>
        </p:txBody>
      </p:sp>
      <p:sp>
        <p:nvSpPr>
          <p:cNvPr id="160771" name="Rectangle 3"/>
          <p:cNvSpPr>
            <a:spLocks noGrp="1" noChangeArrowheads="1"/>
          </p:cNvSpPr>
          <p:nvPr>
            <p:ph type="body" idx="1"/>
          </p:nvPr>
        </p:nvSpPr>
        <p:spPr/>
        <p:txBody>
          <a:bodyPr/>
          <a:lstStyle/>
          <a:p>
            <a:pPr eaLnBrk="1" hangingPunct="1"/>
            <a:r>
              <a:rPr lang="zh-CN" altLang="en-US" b="1"/>
              <a:t>语句格式</a:t>
            </a:r>
          </a:p>
          <a:p>
            <a:pPr eaLnBrk="1" hangingPunct="1">
              <a:buFont typeface="Wingdings" panose="05000000000000000000" pitchFamily="2" charset="2"/>
              <a:buNone/>
            </a:pPr>
            <a:r>
              <a:rPr lang="zh-CN" altLang="en-US" b="1"/>
              <a:t>    </a:t>
            </a:r>
            <a:r>
              <a:rPr lang="en-US" altLang="zh-CN" b="1"/>
              <a:t>INSERT </a:t>
            </a:r>
          </a:p>
          <a:p>
            <a:pPr eaLnBrk="1" hangingPunct="1">
              <a:buFont typeface="Wingdings" panose="05000000000000000000" pitchFamily="2" charset="2"/>
              <a:buNone/>
            </a:pPr>
            <a:r>
              <a:rPr lang="en-US" altLang="zh-CN" b="1"/>
              <a:t>    INTO </a:t>
            </a:r>
            <a:r>
              <a:rPr lang="en-US" altLang="zh-CN" sz="2400" b="1"/>
              <a:t>&lt;</a:t>
            </a:r>
            <a:r>
              <a:rPr lang="zh-CN" altLang="en-US" sz="2400" b="1"/>
              <a:t>表名&gt;  [(&lt;属性列1&gt; [，&lt;属性列2&gt;</a:t>
            </a:r>
            <a:r>
              <a:rPr lang="zh-CN" altLang="en-US" sz="2400" b="1">
                <a:latin typeface="Times New Roman" panose="02020503050405090304" pitchFamily="18" charset="0"/>
              </a:rPr>
              <a:t>…</a:t>
            </a:r>
            <a:r>
              <a:rPr lang="zh-CN" altLang="en-US" sz="2400" b="1"/>
              <a:t>  )]</a:t>
            </a:r>
          </a:p>
          <a:p>
            <a:pPr eaLnBrk="1" hangingPunct="1">
              <a:buFont typeface="Wingdings" panose="05000000000000000000" pitchFamily="2" charset="2"/>
              <a:buNone/>
            </a:pPr>
            <a:r>
              <a:rPr lang="zh-CN" altLang="en-US" b="1"/>
              <a:t>    </a:t>
            </a:r>
            <a:r>
              <a:rPr lang="zh-CN" altLang="en-US" b="1">
                <a:solidFill>
                  <a:srgbClr val="FF3399"/>
                </a:solidFill>
              </a:rPr>
              <a:t>子查询</a:t>
            </a:r>
            <a:r>
              <a:rPr lang="zh-CN" altLang="en-US" b="1"/>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pPr eaLnBrk="1" hangingPunct="1"/>
            <a:r>
              <a:rPr lang="zh-CN" altLang="en-US" b="1"/>
              <a:t>插入子查询结果（续）</a:t>
            </a:r>
          </a:p>
        </p:txBody>
      </p:sp>
      <p:sp>
        <p:nvSpPr>
          <p:cNvPr id="161795" name="Rectangle 3"/>
          <p:cNvSpPr>
            <a:spLocks noGrp="1" noChangeArrowheads="1"/>
          </p:cNvSpPr>
          <p:nvPr>
            <p:ph type="body" sz="half" idx="1"/>
          </p:nvPr>
        </p:nvSpPr>
        <p:spPr>
          <a:xfrm>
            <a:off x="1182688" y="2017713"/>
            <a:ext cx="7123112" cy="1411287"/>
          </a:xfrm>
        </p:spPr>
        <p:txBody>
          <a:bodyPr/>
          <a:lstStyle/>
          <a:p>
            <a:pPr eaLnBrk="1" hangingPunct="1">
              <a:buFont typeface="Wingdings" panose="05000000000000000000" pitchFamily="2" charset="2"/>
              <a:buNone/>
            </a:pPr>
            <a:r>
              <a:rPr lang="zh-CN" altLang="en-US" sz="3200" b="1"/>
              <a:t>[例3]  对每一个系，求学生的平均年龄，并把结果存入数据库。</a:t>
            </a:r>
            <a:endParaRPr lang="zh-CN" altLang="en-US" b="1"/>
          </a:p>
        </p:txBody>
      </p:sp>
      <p:sp>
        <p:nvSpPr>
          <p:cNvPr id="231428" name="Rectangle 4"/>
          <p:cNvSpPr>
            <a:spLocks noGrp="1" noChangeArrowheads="1"/>
          </p:cNvSpPr>
          <p:nvPr>
            <p:ph type="body" sz="half" idx="2"/>
          </p:nvPr>
        </p:nvSpPr>
        <p:spPr>
          <a:xfrm>
            <a:off x="381000" y="3276600"/>
            <a:ext cx="8610600" cy="2895600"/>
          </a:xfrm>
        </p:spPr>
        <p:txBody>
          <a:bodyPr/>
          <a:lstStyle/>
          <a:p>
            <a:pPr eaLnBrk="1" hangingPunct="1">
              <a:buFont typeface="Wingdings" panose="05000000000000000000" pitchFamily="2" charset="2"/>
              <a:buNone/>
            </a:pPr>
            <a:r>
              <a:rPr lang="zh-CN" altLang="en-US" sz="3200" b="1"/>
              <a:t>第一步：建表</a:t>
            </a:r>
          </a:p>
          <a:p>
            <a:pPr eaLnBrk="1" hangingPunct="1">
              <a:buFont typeface="Wingdings" panose="05000000000000000000" pitchFamily="2" charset="2"/>
              <a:buNone/>
            </a:pPr>
            <a:r>
              <a:rPr lang="zh-CN" altLang="en-US" b="1"/>
              <a:t>      </a:t>
            </a:r>
            <a:r>
              <a:rPr lang="en-US" altLang="zh-CN" b="1"/>
              <a:t>CREATE  TABLE  Deptage</a:t>
            </a:r>
          </a:p>
          <a:p>
            <a:pPr eaLnBrk="1" hangingPunct="1">
              <a:buFont typeface="Wingdings" panose="05000000000000000000" pitchFamily="2" charset="2"/>
              <a:buNone/>
            </a:pPr>
            <a:r>
              <a:rPr lang="en-US" altLang="zh-CN" b="1"/>
              <a:t>          (Sdept  CHAR(15)           /* </a:t>
            </a:r>
            <a:r>
              <a:rPr lang="zh-CN" altLang="en-US" b="1"/>
              <a:t>系名*/</a:t>
            </a:r>
          </a:p>
          <a:p>
            <a:pPr eaLnBrk="1" hangingPunct="1">
              <a:buFont typeface="Wingdings" panose="05000000000000000000" pitchFamily="2" charset="2"/>
              <a:buNone/>
            </a:pPr>
            <a:r>
              <a:rPr lang="zh-CN" altLang="en-US" b="1"/>
              <a:t>          </a:t>
            </a:r>
            <a:r>
              <a:rPr lang="en-US" altLang="zh-CN" b="1"/>
              <a:t>Avgage SMALLINT)；  /*</a:t>
            </a:r>
            <a:r>
              <a:rPr lang="zh-CN" altLang="en-US" b="1"/>
              <a:t>学生平均年龄*/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14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142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142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142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pPr eaLnBrk="1" hangingPunct="1"/>
            <a:r>
              <a:rPr lang="zh-CN" altLang="en-US" b="1"/>
              <a:t>插入子查询结果（续）</a:t>
            </a:r>
          </a:p>
        </p:txBody>
      </p:sp>
      <p:sp>
        <p:nvSpPr>
          <p:cNvPr id="232451"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b="1"/>
              <a:t>第二步：插入数据</a:t>
            </a:r>
          </a:p>
          <a:p>
            <a:pPr eaLnBrk="1" hangingPunct="1">
              <a:buFont typeface="Wingdings" panose="05000000000000000000" pitchFamily="2" charset="2"/>
              <a:buNone/>
            </a:pPr>
            <a:r>
              <a:rPr lang="zh-CN" altLang="en-US" b="1"/>
              <a:t>        </a:t>
            </a:r>
            <a:r>
              <a:rPr lang="en-US" altLang="zh-CN" b="1"/>
              <a:t>INSERT</a:t>
            </a:r>
          </a:p>
          <a:p>
            <a:pPr eaLnBrk="1" hangingPunct="1">
              <a:buFont typeface="Wingdings" panose="05000000000000000000" pitchFamily="2" charset="2"/>
              <a:buNone/>
            </a:pPr>
            <a:r>
              <a:rPr lang="en-US" altLang="zh-CN" b="1"/>
              <a:t>        INTO  Deptage(Sdept，Avgage)</a:t>
            </a:r>
          </a:p>
          <a:p>
            <a:pPr eaLnBrk="1" hangingPunct="1">
              <a:buFont typeface="Wingdings" panose="05000000000000000000" pitchFamily="2" charset="2"/>
              <a:buNone/>
            </a:pPr>
            <a:r>
              <a:rPr lang="en-US" altLang="zh-CN" b="1"/>
              <a:t>              SELECT  Sdept，AVG(Sage)</a:t>
            </a:r>
          </a:p>
          <a:p>
            <a:pPr eaLnBrk="1" hangingPunct="1">
              <a:buFont typeface="Wingdings" panose="05000000000000000000" pitchFamily="2" charset="2"/>
              <a:buNone/>
            </a:pPr>
            <a:r>
              <a:rPr lang="en-US" altLang="zh-CN" b="1"/>
              <a:t>              FROM  Student</a:t>
            </a:r>
          </a:p>
          <a:p>
            <a:pPr eaLnBrk="1" hangingPunct="1">
              <a:buFont typeface="Wingdings" panose="05000000000000000000" pitchFamily="2" charset="2"/>
              <a:buNone/>
            </a:pPr>
            <a:r>
              <a:rPr lang="en-US" altLang="zh-CN" b="1"/>
              <a:t>              GROUP BY Sdept；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24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245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245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245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245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24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pPr eaLnBrk="1" hangingPunct="1"/>
            <a:r>
              <a:rPr lang="zh-CN" altLang="en-US" b="1"/>
              <a:t>插入子查询结果（续）</a:t>
            </a:r>
          </a:p>
        </p:txBody>
      </p:sp>
      <p:sp>
        <p:nvSpPr>
          <p:cNvPr id="163843" name="Rectangle 3"/>
          <p:cNvSpPr>
            <a:spLocks noGrp="1" noChangeArrowheads="1"/>
          </p:cNvSpPr>
          <p:nvPr>
            <p:ph type="body" idx="1"/>
          </p:nvPr>
        </p:nvSpPr>
        <p:spPr/>
        <p:txBody>
          <a:bodyPr/>
          <a:lstStyle/>
          <a:p>
            <a:pPr eaLnBrk="1" hangingPunct="1"/>
            <a:r>
              <a:rPr lang="en-US" altLang="zh-CN" sz="2800" b="1"/>
              <a:t>INTO</a:t>
            </a:r>
            <a:r>
              <a:rPr lang="zh-CN" altLang="en-US" sz="2800" b="1"/>
              <a:t>子句(与插入单条元组类似)</a:t>
            </a:r>
          </a:p>
          <a:p>
            <a:pPr lvl="1" eaLnBrk="1" hangingPunct="1"/>
            <a:r>
              <a:rPr lang="zh-CN" altLang="en-US" b="1"/>
              <a:t>指定要插入数据的表名及属性列</a:t>
            </a:r>
          </a:p>
          <a:p>
            <a:pPr lvl="1" eaLnBrk="1" hangingPunct="1"/>
            <a:r>
              <a:rPr lang="zh-CN" altLang="en-US" b="1"/>
              <a:t>属性列的顺序可与表定义中的顺序不一致</a:t>
            </a:r>
          </a:p>
          <a:p>
            <a:pPr lvl="1" eaLnBrk="1" hangingPunct="1"/>
            <a:r>
              <a:rPr lang="zh-CN" altLang="en-US" b="1"/>
              <a:t>没有指定属性列：表示要插入的是一条完整的元组</a:t>
            </a:r>
          </a:p>
          <a:p>
            <a:pPr lvl="1" eaLnBrk="1" hangingPunct="1"/>
            <a:r>
              <a:rPr lang="zh-CN" altLang="en-US" b="1"/>
              <a:t>指定部分属性列：插入的元组在其余属性列上取空值</a:t>
            </a:r>
            <a:r>
              <a:rPr lang="zh-CN" altLang="en-US" sz="2400" b="1"/>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pPr eaLnBrk="1" hangingPunct="1"/>
            <a:endParaRPr lang="zh-CN" altLang="en-US" b="1"/>
          </a:p>
        </p:txBody>
      </p:sp>
      <p:sp>
        <p:nvSpPr>
          <p:cNvPr id="164867" name="Rectangle 3"/>
          <p:cNvSpPr>
            <a:spLocks noGrp="1" noChangeArrowheads="1"/>
          </p:cNvSpPr>
          <p:nvPr>
            <p:ph type="body" idx="1"/>
          </p:nvPr>
        </p:nvSpPr>
        <p:spPr/>
        <p:txBody>
          <a:bodyPr/>
          <a:lstStyle/>
          <a:p>
            <a:pPr eaLnBrk="1" hangingPunct="1"/>
            <a:r>
              <a:rPr lang="zh-CN" altLang="en-US" sz="2800" b="1"/>
              <a:t>子查询</a:t>
            </a:r>
          </a:p>
          <a:p>
            <a:pPr lvl="1" eaLnBrk="1" hangingPunct="1"/>
            <a:r>
              <a:rPr lang="en-US" altLang="zh-CN" b="1"/>
              <a:t>SELECT</a:t>
            </a:r>
            <a:r>
              <a:rPr lang="zh-CN" altLang="en-US" b="1"/>
              <a:t>子句目标列必须与</a:t>
            </a:r>
            <a:r>
              <a:rPr lang="en-US" altLang="zh-CN" b="1"/>
              <a:t>INTO</a:t>
            </a:r>
            <a:r>
              <a:rPr lang="zh-CN" altLang="en-US" b="1"/>
              <a:t>子句匹配</a:t>
            </a:r>
          </a:p>
          <a:p>
            <a:pPr lvl="2" eaLnBrk="1" hangingPunct="1"/>
            <a:r>
              <a:rPr lang="zh-CN" altLang="en-US" sz="2800" b="1"/>
              <a:t>值的个数</a:t>
            </a:r>
          </a:p>
          <a:p>
            <a:pPr lvl="2" eaLnBrk="1" hangingPunct="1"/>
            <a:r>
              <a:rPr lang="zh-CN" altLang="en-US" sz="2800" b="1"/>
              <a:t>值的类型</a:t>
            </a:r>
            <a:endParaRPr lang="zh-CN" altLang="en-US"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pPr eaLnBrk="1" hangingPunct="1"/>
            <a:r>
              <a:rPr lang="zh-CN" altLang="en-US" b="1"/>
              <a:t>（二）、修改数据</a:t>
            </a:r>
          </a:p>
        </p:txBody>
      </p:sp>
      <p:sp>
        <p:nvSpPr>
          <p:cNvPr id="235523" name="Rectangle 3"/>
          <p:cNvSpPr>
            <a:spLocks noGrp="1" noChangeArrowheads="1"/>
          </p:cNvSpPr>
          <p:nvPr>
            <p:ph type="body" idx="1"/>
          </p:nvPr>
        </p:nvSpPr>
        <p:spPr>
          <a:xfrm>
            <a:off x="228600" y="2362200"/>
            <a:ext cx="8915400" cy="4114800"/>
          </a:xfrm>
        </p:spPr>
        <p:txBody>
          <a:bodyPr/>
          <a:lstStyle/>
          <a:p>
            <a:pPr eaLnBrk="1" hangingPunct="1"/>
            <a:r>
              <a:rPr lang="zh-CN" altLang="en-US" sz="3600" b="1"/>
              <a:t>语句格式</a:t>
            </a:r>
          </a:p>
          <a:p>
            <a:pPr eaLnBrk="1" hangingPunct="1">
              <a:buFont typeface="Wingdings" panose="05000000000000000000" pitchFamily="2" charset="2"/>
              <a:buNone/>
            </a:pPr>
            <a:r>
              <a:rPr lang="zh-CN" altLang="en-US" sz="3600" b="1"/>
              <a:t>   </a:t>
            </a:r>
            <a:r>
              <a:rPr lang="en-US" altLang="zh-CN" sz="2800" b="1"/>
              <a:t>UPDATE  &lt;</a:t>
            </a:r>
            <a:r>
              <a:rPr lang="zh-CN" altLang="en-US" sz="2800" b="1"/>
              <a:t>表名&gt;</a:t>
            </a:r>
          </a:p>
          <a:p>
            <a:pPr eaLnBrk="1" hangingPunct="1">
              <a:buFont typeface="Wingdings" panose="05000000000000000000" pitchFamily="2" charset="2"/>
              <a:buNone/>
            </a:pPr>
            <a:r>
              <a:rPr lang="zh-CN" altLang="en-US" sz="2800" b="1"/>
              <a:t>    </a:t>
            </a:r>
            <a:r>
              <a:rPr lang="en-US" altLang="zh-CN" sz="2800" b="1"/>
              <a:t>SET  &lt;</a:t>
            </a:r>
            <a:r>
              <a:rPr lang="zh-CN" altLang="en-US" sz="2800" b="1"/>
              <a:t>列名&gt;=&lt;表达式&gt;[，&lt;列名&gt;=&lt;表达式&gt;]</a:t>
            </a:r>
            <a:r>
              <a:rPr lang="zh-CN" altLang="en-US" sz="2800" b="1">
                <a:latin typeface="Times New Roman" panose="02020503050405090304" pitchFamily="18" charset="0"/>
              </a:rPr>
              <a:t>…</a:t>
            </a:r>
            <a:endParaRPr lang="zh-CN" altLang="en-US" sz="2800" b="1"/>
          </a:p>
          <a:p>
            <a:pPr eaLnBrk="1" hangingPunct="1">
              <a:buFont typeface="Wingdings" panose="05000000000000000000" pitchFamily="2" charset="2"/>
              <a:buNone/>
            </a:pPr>
            <a:r>
              <a:rPr lang="zh-CN" altLang="en-US" sz="2800" b="1"/>
              <a:t>    [</a:t>
            </a:r>
            <a:r>
              <a:rPr lang="en-US" altLang="zh-CN" sz="2800" b="1"/>
              <a:t>WHERE &lt;</a:t>
            </a:r>
            <a:r>
              <a:rPr lang="zh-CN" altLang="en-US" sz="2800" b="1"/>
              <a:t>条件&gt;]；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55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55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lstStyle/>
          <a:p>
            <a:pPr eaLnBrk="1" hangingPunct="1"/>
            <a:r>
              <a:rPr lang="zh-CN" altLang="en-US" b="1"/>
              <a:t>修改数据（续）</a:t>
            </a:r>
          </a:p>
        </p:txBody>
      </p:sp>
      <p:sp>
        <p:nvSpPr>
          <p:cNvPr id="166915" name="Rectangle 3"/>
          <p:cNvSpPr>
            <a:spLocks noGrp="1" noChangeArrowheads="1"/>
          </p:cNvSpPr>
          <p:nvPr>
            <p:ph type="body" idx="1"/>
          </p:nvPr>
        </p:nvSpPr>
        <p:spPr/>
        <p:txBody>
          <a:bodyPr/>
          <a:lstStyle/>
          <a:p>
            <a:pPr eaLnBrk="1" hangingPunct="1">
              <a:lnSpc>
                <a:spcPct val="120000"/>
              </a:lnSpc>
            </a:pPr>
            <a:r>
              <a:rPr lang="zh-CN" altLang="en-US" sz="3600" b="1"/>
              <a:t>三种修改方式</a:t>
            </a:r>
          </a:p>
          <a:p>
            <a:pPr lvl="1" eaLnBrk="1" hangingPunct="1">
              <a:lnSpc>
                <a:spcPct val="120000"/>
              </a:lnSpc>
            </a:pPr>
            <a:r>
              <a:rPr lang="zh-CN" altLang="en-US" sz="3200" b="1"/>
              <a:t>修改某一个元组的值</a:t>
            </a:r>
          </a:p>
          <a:p>
            <a:pPr lvl="1" eaLnBrk="1" hangingPunct="1">
              <a:lnSpc>
                <a:spcPct val="120000"/>
              </a:lnSpc>
            </a:pPr>
            <a:r>
              <a:rPr lang="zh-CN" altLang="en-US" sz="3200" b="1"/>
              <a:t>修改多个元组的值</a:t>
            </a:r>
          </a:p>
          <a:p>
            <a:pPr lvl="1" eaLnBrk="1" hangingPunct="1">
              <a:lnSpc>
                <a:spcPct val="120000"/>
              </a:lnSpc>
            </a:pPr>
            <a:r>
              <a:rPr lang="zh-CN" altLang="en-US" sz="3200" b="1"/>
              <a:t>带子查询的修改语句</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a:lstStyle/>
          <a:p>
            <a:pPr eaLnBrk="1" hangingPunct="1"/>
            <a:r>
              <a:rPr lang="zh-CN" altLang="en-US" b="1"/>
              <a:t>1. 修改某一个元组的值</a:t>
            </a:r>
          </a:p>
        </p:txBody>
      </p:sp>
      <p:sp>
        <p:nvSpPr>
          <p:cNvPr id="237571" name="Rectangle 3"/>
          <p:cNvSpPr>
            <a:spLocks noGrp="1" noChangeArrowheads="1"/>
          </p:cNvSpPr>
          <p:nvPr>
            <p:ph type="body" idx="1"/>
          </p:nvPr>
        </p:nvSpPr>
        <p:spPr/>
        <p:txBody>
          <a:bodyPr/>
          <a:lstStyle/>
          <a:p>
            <a:pPr lvl="3" eaLnBrk="1" hangingPunct="1">
              <a:spcBef>
                <a:spcPts val="900"/>
              </a:spcBef>
              <a:spcAft>
                <a:spcPts val="850"/>
              </a:spcAft>
              <a:buFont typeface="Wingdings" panose="05000000000000000000" pitchFamily="2" charset="2"/>
              <a:buNone/>
            </a:pPr>
            <a:endParaRPr lang="zh-CN" altLang="en-US" b="1" dirty="0"/>
          </a:p>
          <a:p>
            <a:pPr algn="just" eaLnBrk="1" hangingPunct="1">
              <a:buFont typeface="Wingdings" panose="05000000000000000000" pitchFamily="2" charset="2"/>
              <a:buNone/>
            </a:pPr>
            <a:r>
              <a:rPr lang="zh-CN" altLang="en-US" b="1" dirty="0"/>
              <a:t>[</a:t>
            </a:r>
            <a:r>
              <a:rPr lang="zh-CN" altLang="en-US" b="1" dirty="0">
                <a:ea typeface="黑体" panose="02010609060101010101" pitchFamily="49" charset="-122"/>
              </a:rPr>
              <a:t>例</a:t>
            </a:r>
            <a:r>
              <a:rPr lang="zh-CN" altLang="en-US" b="1" dirty="0"/>
              <a:t>4]  将学生95001的年龄改为22岁。</a:t>
            </a:r>
          </a:p>
          <a:p>
            <a:pPr algn="just" eaLnBrk="1" hangingPunct="1">
              <a:buFont typeface="Wingdings" panose="05000000000000000000" pitchFamily="2" charset="2"/>
              <a:buNone/>
            </a:pPr>
            <a:r>
              <a:rPr lang="zh-CN" altLang="en-US" b="1" dirty="0"/>
              <a:t>         </a:t>
            </a:r>
            <a:r>
              <a:rPr lang="en-US" altLang="zh-CN" b="1" dirty="0"/>
              <a:t>UPDATE  Student</a:t>
            </a:r>
          </a:p>
          <a:p>
            <a:pPr algn="just" eaLnBrk="1" hangingPunct="1">
              <a:buFont typeface="Wingdings" panose="05000000000000000000" pitchFamily="2" charset="2"/>
              <a:buNone/>
            </a:pPr>
            <a:r>
              <a:rPr lang="en-US" altLang="zh-CN" b="1" dirty="0"/>
              <a:t>         SET Sage=22</a:t>
            </a:r>
          </a:p>
          <a:p>
            <a:pPr algn="just" eaLnBrk="1" hangingPunct="1">
              <a:buFont typeface="Wingdings" panose="05000000000000000000" pitchFamily="2" charset="2"/>
              <a:buNone/>
            </a:pPr>
            <a:r>
              <a:rPr lang="en-US" altLang="zh-CN" b="1" dirty="0"/>
              <a:t>         WHERE  </a:t>
            </a:r>
            <a:r>
              <a:rPr lang="en-US" altLang="zh-CN" b="1" dirty="0" err="1"/>
              <a:t>Sno</a:t>
            </a:r>
            <a:r>
              <a:rPr lang="en-US" altLang="zh-CN" b="1" dirty="0"/>
              <a:t>=' 95001 '；</a:t>
            </a:r>
            <a:endParaRPr lang="zh-CN" altLang="en-US" sz="36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757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757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75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pPr eaLnBrk="1" hangingPunct="1"/>
            <a:r>
              <a:rPr lang="zh-CN" altLang="en-US" b="1"/>
              <a:t>2. 修改多个元组的值</a:t>
            </a:r>
          </a:p>
        </p:txBody>
      </p:sp>
      <p:sp>
        <p:nvSpPr>
          <p:cNvPr id="238595" name="Rectangle 3"/>
          <p:cNvSpPr>
            <a:spLocks noGrp="1" noChangeArrowheads="1"/>
          </p:cNvSpPr>
          <p:nvPr>
            <p:ph type="body" idx="1"/>
          </p:nvPr>
        </p:nvSpPr>
        <p:spPr/>
        <p:txBody>
          <a:bodyPr/>
          <a:lstStyle/>
          <a:p>
            <a:pPr lvl="3" eaLnBrk="1" hangingPunct="1">
              <a:spcBef>
                <a:spcPts val="900"/>
              </a:spcBef>
              <a:spcAft>
                <a:spcPts val="850"/>
              </a:spcAft>
            </a:pPr>
            <a:endParaRPr lang="zh-CN" altLang="en-US" b="1" dirty="0">
              <a:ea typeface="黑体" panose="02010609060101010101" pitchFamily="49" charset="-122"/>
            </a:endParaRPr>
          </a:p>
          <a:p>
            <a:pPr algn="just" eaLnBrk="1" hangingPunct="1">
              <a:buFont typeface="Wingdings" panose="05000000000000000000" pitchFamily="2" charset="2"/>
              <a:buNone/>
            </a:pPr>
            <a:r>
              <a:rPr lang="zh-CN" altLang="en-US" b="1" dirty="0"/>
              <a:t>[</a:t>
            </a:r>
            <a:r>
              <a:rPr lang="zh-CN" altLang="en-US" b="1" dirty="0">
                <a:ea typeface="黑体" panose="02010609060101010101" pitchFamily="49" charset="-122"/>
              </a:rPr>
              <a:t>例</a:t>
            </a:r>
            <a:r>
              <a:rPr lang="zh-CN" altLang="en-US" b="1" dirty="0"/>
              <a:t>5]  将所有学生的年龄减少1岁。</a:t>
            </a:r>
          </a:p>
          <a:p>
            <a:pPr algn="just" eaLnBrk="1" hangingPunct="1">
              <a:buFont typeface="Wingdings" panose="05000000000000000000" pitchFamily="2" charset="2"/>
              <a:buNone/>
            </a:pPr>
            <a:r>
              <a:rPr lang="zh-CN" altLang="en-US" b="1" dirty="0"/>
              <a:t>         </a:t>
            </a:r>
            <a:r>
              <a:rPr lang="en-US" altLang="zh-CN" b="1" dirty="0"/>
              <a:t>UPDATE Student</a:t>
            </a:r>
          </a:p>
          <a:p>
            <a:pPr algn="just" eaLnBrk="1" hangingPunct="1">
              <a:buFont typeface="Wingdings" panose="05000000000000000000" pitchFamily="2" charset="2"/>
              <a:buNone/>
            </a:pPr>
            <a:r>
              <a:rPr lang="en-US" altLang="zh-CN" b="1" dirty="0"/>
              <a:t>         SET Sage= Sage-1；</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38595">
                                            <p:txEl>
                                              <p:pRg st="2" end="2"/>
                                            </p:txEl>
                                          </p:spTgt>
                                        </p:tgtEl>
                                        <p:attrNameLst>
                                          <p:attrName>style.visibility</p:attrName>
                                        </p:attrNameLst>
                                      </p:cBhvr>
                                      <p:to>
                                        <p:strVal val="visible"/>
                                      </p:to>
                                    </p:set>
                                    <p:animEffect transition="in" filter="diamond(in)">
                                      <p:cBhvr>
                                        <p:cTn id="7" dur="1000"/>
                                        <p:tgtEl>
                                          <p:spTgt spid="238595">
                                            <p:txEl>
                                              <p:pRg st="2" end="2"/>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238595">
                                            <p:txEl>
                                              <p:pRg st="3" end="3"/>
                                            </p:txEl>
                                          </p:spTgt>
                                        </p:tgtEl>
                                        <p:attrNameLst>
                                          <p:attrName>style.visibility</p:attrName>
                                        </p:attrNameLst>
                                      </p:cBhvr>
                                      <p:to>
                                        <p:strVal val="visible"/>
                                      </p:to>
                                    </p:set>
                                    <p:animEffect transition="in" filter="diamond(in)">
                                      <p:cBhvr>
                                        <p:cTn id="10" dur="1000"/>
                                        <p:tgtEl>
                                          <p:spTgt spid="2385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pPr eaLnBrk="1" hangingPunct="1"/>
            <a:r>
              <a:rPr lang="zh-CN" altLang="en-US" b="1"/>
              <a:t>3. 带子查询的修改语句</a:t>
            </a:r>
          </a:p>
        </p:txBody>
      </p:sp>
      <p:sp>
        <p:nvSpPr>
          <p:cNvPr id="169987" name="Rectangle 3"/>
          <p:cNvSpPr>
            <a:spLocks noGrp="1" noChangeArrowheads="1"/>
          </p:cNvSpPr>
          <p:nvPr>
            <p:ph type="body" sz="half" idx="1"/>
          </p:nvPr>
        </p:nvSpPr>
        <p:spPr>
          <a:xfrm>
            <a:off x="573088" y="1752600"/>
            <a:ext cx="7959352" cy="1639888"/>
          </a:xfrm>
        </p:spPr>
        <p:txBody>
          <a:bodyPr/>
          <a:lstStyle/>
          <a:p>
            <a:pPr lvl="3" eaLnBrk="1" hangingPunct="1">
              <a:spcBef>
                <a:spcPts val="900"/>
              </a:spcBef>
              <a:spcAft>
                <a:spcPts val="850"/>
              </a:spcAft>
            </a:pPr>
            <a:endParaRPr lang="zh-CN" altLang="en-US" sz="2000" b="1" dirty="0">
              <a:ea typeface="黑体" panose="02010609060101010101" pitchFamily="49" charset="-122"/>
            </a:endParaRPr>
          </a:p>
          <a:p>
            <a:pPr algn="just" eaLnBrk="1" hangingPunct="1">
              <a:buFont typeface="Wingdings" panose="05000000000000000000" pitchFamily="2" charset="2"/>
              <a:buNone/>
            </a:pPr>
            <a:r>
              <a:rPr lang="zh-CN" altLang="en-US" b="1" dirty="0"/>
              <a:t>[</a:t>
            </a:r>
            <a:r>
              <a:rPr lang="zh-CN" altLang="en-US" b="1" dirty="0">
                <a:ea typeface="黑体" panose="02010609060101010101" pitchFamily="49" charset="-122"/>
              </a:rPr>
              <a:t>例7</a:t>
            </a:r>
            <a:r>
              <a:rPr lang="zh-CN" altLang="en-US" b="1" dirty="0"/>
              <a:t>]  将计算机科学系全体学生的成绩置为</a:t>
            </a:r>
            <a:r>
              <a:rPr lang="en-US" altLang="zh-CN" b="1" dirty="0"/>
              <a:t>80</a:t>
            </a:r>
            <a:r>
              <a:rPr lang="zh-CN" altLang="en-US" b="1" dirty="0"/>
              <a:t>分。        </a:t>
            </a:r>
            <a:endParaRPr lang="zh-CN" altLang="en-US" sz="3200" b="1" dirty="0"/>
          </a:p>
        </p:txBody>
      </p:sp>
      <p:sp>
        <p:nvSpPr>
          <p:cNvPr id="239620" name="Rectangle 4"/>
          <p:cNvSpPr>
            <a:spLocks noGrp="1" noChangeArrowheads="1"/>
          </p:cNvSpPr>
          <p:nvPr>
            <p:ph type="body" sz="half" idx="2"/>
          </p:nvPr>
        </p:nvSpPr>
        <p:spPr>
          <a:xfrm>
            <a:off x="990600" y="2895600"/>
            <a:ext cx="7772400" cy="4114800"/>
          </a:xfrm>
        </p:spPr>
        <p:txBody>
          <a:bodyPr/>
          <a:lstStyle/>
          <a:p>
            <a:pPr eaLnBrk="1" hangingPunct="1">
              <a:buFont typeface="Wingdings" panose="05000000000000000000" pitchFamily="2" charset="2"/>
              <a:buNone/>
            </a:pPr>
            <a:r>
              <a:rPr lang="en-US" altLang="zh-CN" b="1" dirty="0"/>
              <a:t>UPDATE SC</a:t>
            </a:r>
          </a:p>
          <a:p>
            <a:pPr eaLnBrk="1" hangingPunct="1">
              <a:buFont typeface="Wingdings" panose="05000000000000000000" pitchFamily="2" charset="2"/>
              <a:buNone/>
            </a:pPr>
            <a:r>
              <a:rPr lang="en-US" altLang="zh-CN" b="1" dirty="0"/>
              <a:t>SET  Grade=80</a:t>
            </a:r>
          </a:p>
          <a:p>
            <a:pPr eaLnBrk="1" hangingPunct="1">
              <a:buFont typeface="Wingdings" panose="05000000000000000000" pitchFamily="2" charset="2"/>
              <a:buNone/>
            </a:pPr>
            <a:r>
              <a:rPr lang="en-US" altLang="zh-CN" b="1" dirty="0"/>
              <a:t>WHERE  'CS'=</a:t>
            </a:r>
          </a:p>
          <a:p>
            <a:pPr eaLnBrk="1" hangingPunct="1">
              <a:buFont typeface="Wingdings" panose="05000000000000000000" pitchFamily="2" charset="2"/>
              <a:buNone/>
            </a:pPr>
            <a:r>
              <a:rPr lang="en-US" altLang="zh-CN" b="1" dirty="0"/>
              <a:t>              </a:t>
            </a:r>
            <a:r>
              <a:rPr lang="en-US" altLang="zh-CN" b="1"/>
              <a:t>(SELECT </a:t>
            </a:r>
            <a:r>
              <a:rPr lang="en-US" altLang="zh-CN" b="1" dirty="0" err="1"/>
              <a:t>Sdept</a:t>
            </a:r>
            <a:endParaRPr lang="en-US" altLang="zh-CN" b="1" dirty="0"/>
          </a:p>
          <a:p>
            <a:pPr eaLnBrk="1" hangingPunct="1">
              <a:buFont typeface="Wingdings" panose="05000000000000000000" pitchFamily="2" charset="2"/>
              <a:buNone/>
            </a:pPr>
            <a:r>
              <a:rPr lang="en-US" altLang="zh-CN" b="1" dirty="0"/>
              <a:t>               FROM  Student</a:t>
            </a:r>
          </a:p>
          <a:p>
            <a:pPr eaLnBrk="1" hangingPunct="1">
              <a:buFont typeface="Wingdings" panose="05000000000000000000" pitchFamily="2" charset="2"/>
              <a:buNone/>
            </a:pPr>
            <a:r>
              <a:rPr lang="en-US" altLang="zh-CN" b="1" dirty="0"/>
              <a:t>               WHERE  </a:t>
            </a:r>
            <a:r>
              <a:rPr lang="en-US" altLang="zh-CN" b="1" dirty="0" err="1"/>
              <a:t>Student.Sno</a:t>
            </a:r>
            <a:r>
              <a:rPr lang="en-US" altLang="zh-CN" b="1" dirty="0"/>
              <a:t> = </a:t>
            </a:r>
            <a:r>
              <a:rPr lang="en-US" altLang="zh-CN" b="1" dirty="0" err="1"/>
              <a:t>SC.Sno</a:t>
            </a:r>
            <a:r>
              <a:rPr lang="en-US" altLang="zh-CN" b="1" dirty="0"/>
              <a:t>)；</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96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396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3962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3962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3962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3962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20"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eaLnBrk="1" hangingPunct="1"/>
            <a:r>
              <a:rPr lang="zh-CN" altLang="en-US" b="1"/>
              <a:t>修改数据（续）</a:t>
            </a:r>
          </a:p>
        </p:txBody>
      </p:sp>
      <p:sp>
        <p:nvSpPr>
          <p:cNvPr id="240643" name="Rectangle 3"/>
          <p:cNvSpPr>
            <a:spLocks noGrp="1" noChangeArrowheads="1"/>
          </p:cNvSpPr>
          <p:nvPr>
            <p:ph type="body" idx="1"/>
          </p:nvPr>
        </p:nvSpPr>
        <p:spPr/>
        <p:txBody>
          <a:bodyPr/>
          <a:lstStyle/>
          <a:p>
            <a:pPr eaLnBrk="1" hangingPunct="1">
              <a:lnSpc>
                <a:spcPct val="120000"/>
              </a:lnSpc>
            </a:pPr>
            <a:r>
              <a:rPr lang="en-US" altLang="zh-CN" sz="2800" b="1"/>
              <a:t>SET</a:t>
            </a:r>
            <a:r>
              <a:rPr lang="zh-CN" altLang="en-US" sz="2800" b="1"/>
              <a:t>子句</a:t>
            </a:r>
          </a:p>
          <a:p>
            <a:pPr eaLnBrk="1" hangingPunct="1">
              <a:lnSpc>
                <a:spcPct val="120000"/>
              </a:lnSpc>
              <a:buFont typeface="Wingdings" panose="05000000000000000000" pitchFamily="2" charset="2"/>
              <a:buNone/>
            </a:pPr>
            <a:r>
              <a:rPr lang="zh-CN" altLang="en-US" sz="2400" b="1"/>
              <a:t>       指定修改方式</a:t>
            </a:r>
          </a:p>
          <a:p>
            <a:pPr lvl="1" eaLnBrk="1" hangingPunct="1">
              <a:lnSpc>
                <a:spcPct val="120000"/>
              </a:lnSpc>
              <a:buFont typeface="Wingdings" panose="05000000000000000000" pitchFamily="2" charset="2"/>
              <a:buNone/>
            </a:pPr>
            <a:r>
              <a:rPr lang="zh-CN" altLang="en-US" sz="2400" b="1"/>
              <a:t>  要修改的列</a:t>
            </a:r>
          </a:p>
          <a:p>
            <a:pPr lvl="1" eaLnBrk="1" hangingPunct="1">
              <a:lnSpc>
                <a:spcPct val="120000"/>
              </a:lnSpc>
              <a:buFont typeface="Wingdings" panose="05000000000000000000" pitchFamily="2" charset="2"/>
              <a:buNone/>
            </a:pPr>
            <a:r>
              <a:rPr lang="zh-CN" altLang="en-US" sz="2400" b="1"/>
              <a:t>  修改后取值</a:t>
            </a:r>
            <a:endParaRPr lang="zh-CN" altLang="en-US" sz="3200" b="1"/>
          </a:p>
          <a:p>
            <a:pPr eaLnBrk="1" hangingPunct="1">
              <a:lnSpc>
                <a:spcPct val="160000"/>
              </a:lnSpc>
            </a:pPr>
            <a:r>
              <a:rPr lang="en-US" altLang="zh-CN" sz="2800" b="1"/>
              <a:t>WHERE</a:t>
            </a:r>
            <a:r>
              <a:rPr lang="zh-CN" altLang="en-US" sz="2800" b="1"/>
              <a:t>子句</a:t>
            </a:r>
          </a:p>
          <a:p>
            <a:pPr lvl="2" eaLnBrk="1" hangingPunct="1">
              <a:lnSpc>
                <a:spcPct val="120000"/>
              </a:lnSpc>
              <a:buFont typeface="Wingdings" panose="05000000000000000000" pitchFamily="2" charset="2"/>
              <a:buNone/>
            </a:pPr>
            <a:r>
              <a:rPr lang="zh-CN" altLang="en-US" b="1"/>
              <a:t>指定要修改的元组</a:t>
            </a:r>
          </a:p>
          <a:p>
            <a:pPr lvl="2" eaLnBrk="1" hangingPunct="1">
              <a:lnSpc>
                <a:spcPct val="120000"/>
              </a:lnSpc>
              <a:buFont typeface="Wingdings" panose="05000000000000000000" pitchFamily="2" charset="2"/>
              <a:buNone/>
            </a:pPr>
            <a:r>
              <a:rPr lang="zh-CN" altLang="en-US" b="1"/>
              <a:t>缺省表示要修改表中的所有元组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06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06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064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064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064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064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06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pPr eaLnBrk="1" hangingPunct="1"/>
            <a:r>
              <a:rPr lang="zh-CN" altLang="en-US" b="1">
                <a:ea typeface="黑体" panose="02010609060101010101" pitchFamily="49" charset="-122"/>
              </a:rPr>
              <a:t>（</a:t>
            </a:r>
            <a:r>
              <a:rPr lang="zh-CN" altLang="en-US" b="1"/>
              <a:t>三</a:t>
            </a:r>
            <a:r>
              <a:rPr lang="zh-CN" altLang="en-US" b="1">
                <a:ea typeface="黑体" panose="02010609060101010101" pitchFamily="49" charset="-122"/>
              </a:rPr>
              <a:t>）、</a:t>
            </a:r>
            <a:r>
              <a:rPr lang="zh-CN" altLang="en-US" b="1"/>
              <a:t>删除数据</a:t>
            </a:r>
          </a:p>
        </p:txBody>
      </p:sp>
      <p:sp>
        <p:nvSpPr>
          <p:cNvPr id="241667" name="Rectangle 3"/>
          <p:cNvSpPr>
            <a:spLocks noGrp="1" noChangeArrowheads="1"/>
          </p:cNvSpPr>
          <p:nvPr>
            <p:ph type="body" idx="1"/>
          </p:nvPr>
        </p:nvSpPr>
        <p:spPr>
          <a:xfrm>
            <a:off x="838200" y="2133600"/>
            <a:ext cx="7772400" cy="4114800"/>
          </a:xfrm>
        </p:spPr>
        <p:txBody>
          <a:bodyPr/>
          <a:lstStyle/>
          <a:p>
            <a:pPr algn="just" eaLnBrk="1" hangingPunct="1">
              <a:buFont typeface="Wingdings" panose="05000000000000000000" pitchFamily="2" charset="2"/>
              <a:buNone/>
            </a:pPr>
            <a:r>
              <a:rPr lang="zh-CN" altLang="en-US" sz="2800" b="1"/>
              <a:t>       </a:t>
            </a:r>
            <a:r>
              <a:rPr lang="en-US" altLang="zh-CN" b="1"/>
              <a:t>DELETE</a:t>
            </a:r>
          </a:p>
          <a:p>
            <a:pPr algn="just" eaLnBrk="1" hangingPunct="1">
              <a:buFont typeface="Wingdings" panose="05000000000000000000" pitchFamily="2" charset="2"/>
              <a:buNone/>
            </a:pPr>
            <a:r>
              <a:rPr lang="en-US" altLang="zh-CN" b="1"/>
              <a:t>       FROM     &lt;</a:t>
            </a:r>
            <a:r>
              <a:rPr lang="zh-CN" altLang="en-US" b="1"/>
              <a:t>表名&gt;</a:t>
            </a:r>
          </a:p>
          <a:p>
            <a:pPr algn="just" eaLnBrk="1" hangingPunct="1">
              <a:buFont typeface="Wingdings" panose="05000000000000000000" pitchFamily="2" charset="2"/>
              <a:buNone/>
            </a:pPr>
            <a:r>
              <a:rPr lang="zh-CN" altLang="en-US" b="1"/>
              <a:t>       [</a:t>
            </a:r>
            <a:r>
              <a:rPr lang="en-US" altLang="zh-CN" b="1"/>
              <a:t>WHERE &lt;</a:t>
            </a:r>
            <a:r>
              <a:rPr lang="zh-CN" altLang="en-US" b="1"/>
              <a:t>条件&gt;]；</a:t>
            </a:r>
          </a:p>
          <a:p>
            <a:pPr algn="just" eaLnBrk="1" hangingPunct="1">
              <a:buFont typeface="Wingdings" panose="05000000000000000000" pitchFamily="2" charset="2"/>
              <a:buNone/>
            </a:pPr>
            <a:endParaRPr lang="zh-CN" altLang="en-US" sz="2800" b="1"/>
          </a:p>
          <a:p>
            <a:pPr algn="just" eaLnBrk="1" hangingPunct="1">
              <a:buFontTx/>
              <a:buChar char="–"/>
            </a:pPr>
            <a:r>
              <a:rPr lang="en-US" altLang="zh-CN" b="1"/>
              <a:t>WHERE</a:t>
            </a:r>
            <a:r>
              <a:rPr lang="zh-CN" altLang="en-US" b="1"/>
              <a:t>子句</a:t>
            </a:r>
          </a:p>
          <a:p>
            <a:pPr lvl="1" algn="just" eaLnBrk="1" hangingPunct="1">
              <a:buFont typeface="Wingdings" panose="05000000000000000000" pitchFamily="2" charset="2"/>
              <a:buChar char="w"/>
            </a:pPr>
            <a:r>
              <a:rPr lang="zh-CN" altLang="en-US" b="1"/>
              <a:t>指定要删除的元组</a:t>
            </a:r>
          </a:p>
          <a:p>
            <a:pPr lvl="1" algn="just" eaLnBrk="1" hangingPunct="1">
              <a:buFont typeface="Wingdings" panose="05000000000000000000" pitchFamily="2" charset="2"/>
              <a:buChar char="w"/>
            </a:pPr>
            <a:r>
              <a:rPr lang="zh-CN" altLang="en-US" b="1"/>
              <a:t>缺省表示要修改表中的所有元组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166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166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16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166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166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16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pPr eaLnBrk="1" hangingPunct="1"/>
            <a:r>
              <a:rPr lang="zh-CN" altLang="en-US" b="1"/>
              <a:t>删除数据（续）</a:t>
            </a:r>
          </a:p>
        </p:txBody>
      </p:sp>
      <p:sp>
        <p:nvSpPr>
          <p:cNvPr id="173059" name="Rectangle 3"/>
          <p:cNvSpPr>
            <a:spLocks noGrp="1" noChangeArrowheads="1"/>
          </p:cNvSpPr>
          <p:nvPr>
            <p:ph type="body" idx="1"/>
          </p:nvPr>
        </p:nvSpPr>
        <p:spPr/>
        <p:txBody>
          <a:bodyPr/>
          <a:lstStyle/>
          <a:p>
            <a:pPr eaLnBrk="1" hangingPunct="1">
              <a:lnSpc>
                <a:spcPct val="120000"/>
              </a:lnSpc>
            </a:pPr>
            <a:r>
              <a:rPr lang="zh-CN" altLang="en-US" sz="3600" b="1"/>
              <a:t>三种删除方式</a:t>
            </a:r>
          </a:p>
          <a:p>
            <a:pPr lvl="1" eaLnBrk="1" hangingPunct="1">
              <a:lnSpc>
                <a:spcPct val="120000"/>
              </a:lnSpc>
            </a:pPr>
            <a:r>
              <a:rPr lang="zh-CN" altLang="en-US" sz="3200" b="1"/>
              <a:t>删除某一个元组的值</a:t>
            </a:r>
          </a:p>
          <a:p>
            <a:pPr lvl="1" eaLnBrk="1" hangingPunct="1">
              <a:lnSpc>
                <a:spcPct val="120000"/>
              </a:lnSpc>
            </a:pPr>
            <a:r>
              <a:rPr lang="zh-CN" altLang="en-US" sz="3200" b="1"/>
              <a:t>删除多个元组的值</a:t>
            </a:r>
          </a:p>
          <a:p>
            <a:pPr lvl="1" eaLnBrk="1" hangingPunct="1">
              <a:lnSpc>
                <a:spcPct val="120000"/>
              </a:lnSpc>
            </a:pPr>
            <a:r>
              <a:rPr lang="zh-CN" altLang="en-US" sz="3200" b="1"/>
              <a:t>带子查询的删除语句</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pPr eaLnBrk="1" hangingPunct="1"/>
            <a:r>
              <a:rPr lang="zh-CN" altLang="en-US" sz="4000" b="1"/>
              <a:t>1. 删除某一个元组的值</a:t>
            </a:r>
          </a:p>
        </p:txBody>
      </p:sp>
      <p:sp>
        <p:nvSpPr>
          <p:cNvPr id="243715" name="Rectangle 3"/>
          <p:cNvSpPr>
            <a:spLocks noGrp="1" noChangeArrowheads="1"/>
          </p:cNvSpPr>
          <p:nvPr>
            <p:ph type="body" idx="1"/>
          </p:nvPr>
        </p:nvSpPr>
        <p:spPr>
          <a:xfrm>
            <a:off x="838200" y="2133600"/>
            <a:ext cx="7772400" cy="4114800"/>
          </a:xfrm>
        </p:spPr>
        <p:txBody>
          <a:bodyPr/>
          <a:lstStyle/>
          <a:p>
            <a:pPr eaLnBrk="1" hangingPunct="1">
              <a:buFont typeface="Wingdings" panose="05000000000000000000" pitchFamily="2" charset="2"/>
              <a:buNone/>
            </a:pPr>
            <a:r>
              <a:rPr lang="zh-CN" altLang="en-US" b="1"/>
              <a:t>[例8]  删除学号为95019的学生记录。</a:t>
            </a:r>
          </a:p>
          <a:p>
            <a:pPr eaLnBrk="1" hangingPunct="1">
              <a:buFont typeface="Wingdings" panose="05000000000000000000" pitchFamily="2" charset="2"/>
              <a:buNone/>
            </a:pPr>
            <a:r>
              <a:rPr lang="zh-CN" altLang="en-US" b="1"/>
              <a:t>        </a:t>
            </a:r>
            <a:r>
              <a:rPr lang="en-US" altLang="zh-CN" b="1"/>
              <a:t>DELETE</a:t>
            </a:r>
          </a:p>
          <a:p>
            <a:pPr eaLnBrk="1" hangingPunct="1">
              <a:buFont typeface="Wingdings" panose="05000000000000000000" pitchFamily="2" charset="2"/>
              <a:buNone/>
            </a:pPr>
            <a:r>
              <a:rPr lang="en-US" altLang="zh-CN" b="1"/>
              <a:t>        FROM Student</a:t>
            </a:r>
          </a:p>
          <a:p>
            <a:pPr eaLnBrk="1" hangingPunct="1">
              <a:buFont typeface="Wingdings" panose="05000000000000000000" pitchFamily="2" charset="2"/>
              <a:buNone/>
            </a:pPr>
            <a:r>
              <a:rPr lang="en-US" altLang="zh-CN" b="1"/>
              <a:t>        WHERE Sno='95019'；</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371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371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37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pPr eaLnBrk="1" hangingPunct="1"/>
            <a:r>
              <a:rPr lang="zh-CN" altLang="en-US" sz="4000" b="1"/>
              <a:t>2. 删除多个元组的值</a:t>
            </a:r>
          </a:p>
        </p:txBody>
      </p:sp>
      <p:sp>
        <p:nvSpPr>
          <p:cNvPr id="244739"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b="1"/>
              <a:t>[例9]  删除2号课程的所有选课记录。</a:t>
            </a:r>
          </a:p>
          <a:p>
            <a:pPr eaLnBrk="1" hangingPunct="1">
              <a:buFont typeface="Wingdings" panose="05000000000000000000" pitchFamily="2" charset="2"/>
              <a:buNone/>
            </a:pPr>
            <a:r>
              <a:rPr lang="zh-CN" altLang="en-US" b="1"/>
              <a:t>        </a:t>
            </a:r>
            <a:r>
              <a:rPr lang="en-US" altLang="zh-CN" b="1"/>
              <a:t>DELETE</a:t>
            </a:r>
          </a:p>
          <a:p>
            <a:pPr eaLnBrk="1" hangingPunct="1">
              <a:buFont typeface="Wingdings" panose="05000000000000000000" pitchFamily="2" charset="2"/>
              <a:buNone/>
            </a:pPr>
            <a:r>
              <a:rPr lang="en-US" altLang="zh-CN" b="1"/>
              <a:t>        FROM SC；</a:t>
            </a:r>
          </a:p>
          <a:p>
            <a:pPr eaLnBrk="1" hangingPunct="1">
              <a:buFont typeface="Wingdings" panose="05000000000000000000" pitchFamily="2" charset="2"/>
              <a:buNone/>
            </a:pPr>
            <a:r>
              <a:rPr lang="en-US" altLang="zh-CN" b="1"/>
              <a:t>        WHERE Cno='2'；</a:t>
            </a:r>
          </a:p>
          <a:p>
            <a:pPr lvl="2" eaLnBrk="1" hangingPunct="1">
              <a:buFont typeface="Wingdings" panose="05000000000000000000" pitchFamily="2" charset="2"/>
              <a:buNone/>
            </a:pPr>
            <a:endParaRPr lang="en-US" altLang="zh-CN"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473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473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47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r>
              <a:rPr lang="zh-CN" altLang="en-US" sz="4000" b="1"/>
              <a:t>3. 带子查询的删除语句</a:t>
            </a:r>
          </a:p>
        </p:txBody>
      </p:sp>
      <p:sp>
        <p:nvSpPr>
          <p:cNvPr id="245763"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800" b="1"/>
              <a:t>[例11]  删除计算机科学系所有学生的选课记录。</a:t>
            </a:r>
          </a:p>
          <a:p>
            <a:pPr eaLnBrk="1" hangingPunct="1">
              <a:buFont typeface="Wingdings" panose="05000000000000000000" pitchFamily="2" charset="2"/>
              <a:buNone/>
            </a:pPr>
            <a:r>
              <a:rPr lang="zh-CN" altLang="en-US" sz="2800" b="1"/>
              <a:t>        </a:t>
            </a:r>
            <a:r>
              <a:rPr lang="en-US" altLang="zh-CN" sz="2800" b="1"/>
              <a:t>DELETE</a:t>
            </a:r>
          </a:p>
          <a:p>
            <a:pPr eaLnBrk="1" hangingPunct="1">
              <a:buFont typeface="Wingdings" panose="05000000000000000000" pitchFamily="2" charset="2"/>
              <a:buNone/>
            </a:pPr>
            <a:r>
              <a:rPr lang="en-US" altLang="zh-CN" sz="2800" b="1"/>
              <a:t>        FROM SC</a:t>
            </a:r>
          </a:p>
          <a:p>
            <a:pPr eaLnBrk="1" hangingPunct="1">
              <a:buFont typeface="Wingdings" panose="05000000000000000000" pitchFamily="2" charset="2"/>
              <a:buNone/>
            </a:pPr>
            <a:r>
              <a:rPr lang="en-US" altLang="zh-CN" sz="2800" b="1"/>
              <a:t>        WHERE  'CS'=</a:t>
            </a:r>
          </a:p>
          <a:p>
            <a:pPr eaLnBrk="1" hangingPunct="1">
              <a:buFont typeface="Wingdings" panose="05000000000000000000" pitchFamily="2" charset="2"/>
              <a:buNone/>
            </a:pPr>
            <a:r>
              <a:rPr lang="en-US" altLang="zh-CN" sz="2800" b="1"/>
              <a:t>            (SELECT Sdept</a:t>
            </a:r>
          </a:p>
          <a:p>
            <a:pPr eaLnBrk="1" hangingPunct="1">
              <a:buFont typeface="Wingdings" panose="05000000000000000000" pitchFamily="2" charset="2"/>
              <a:buNone/>
            </a:pPr>
            <a:r>
              <a:rPr lang="en-US" altLang="zh-CN" sz="2800" b="1"/>
              <a:t>             FROM Student</a:t>
            </a:r>
          </a:p>
          <a:p>
            <a:pPr eaLnBrk="1" hangingPunct="1">
              <a:buFont typeface="Wingdings" panose="05000000000000000000" pitchFamily="2" charset="2"/>
              <a:buNone/>
            </a:pPr>
            <a:r>
              <a:rPr lang="en-US" altLang="zh-CN" sz="2800" b="1"/>
              <a:t>             WHERE Student.Sno=SC.Sno)；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6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76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576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576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76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57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pPr eaLnBrk="1" hangingPunct="1"/>
            <a:r>
              <a:rPr lang="zh-CN" altLang="en-US" b="1"/>
              <a:t>更新数据与数据一致性</a:t>
            </a:r>
          </a:p>
        </p:txBody>
      </p:sp>
      <p:sp>
        <p:nvSpPr>
          <p:cNvPr id="246787" name="Rectangle 3"/>
          <p:cNvSpPr>
            <a:spLocks noGrp="1" noChangeArrowheads="1"/>
          </p:cNvSpPr>
          <p:nvPr>
            <p:ph type="body" idx="1"/>
          </p:nvPr>
        </p:nvSpPr>
        <p:spPr/>
        <p:txBody>
          <a:bodyPr/>
          <a:lstStyle/>
          <a:p>
            <a:pPr algn="just" eaLnBrk="1" hangingPunct="1">
              <a:lnSpc>
                <a:spcPct val="110000"/>
              </a:lnSpc>
              <a:buFont typeface="Wingdings" panose="05000000000000000000" pitchFamily="2" charset="2"/>
              <a:buNone/>
            </a:pPr>
            <a:r>
              <a:rPr lang="en-US" altLang="zh-CN" b="1"/>
              <a:t>DBMS</a:t>
            </a:r>
            <a:r>
              <a:rPr lang="zh-CN" altLang="en-US" b="1"/>
              <a:t>在执行插入、删除、更新语句时必</a:t>
            </a:r>
          </a:p>
          <a:p>
            <a:pPr algn="just" eaLnBrk="1" hangingPunct="1">
              <a:lnSpc>
                <a:spcPct val="110000"/>
              </a:lnSpc>
              <a:buFont typeface="Wingdings" panose="05000000000000000000" pitchFamily="2" charset="2"/>
              <a:buNone/>
            </a:pPr>
            <a:r>
              <a:rPr lang="zh-CN" altLang="en-US" b="1"/>
              <a:t>须保证数据库一致性</a:t>
            </a:r>
          </a:p>
          <a:p>
            <a:pPr algn="just" eaLnBrk="1" hangingPunct="1">
              <a:lnSpc>
                <a:spcPct val="110000"/>
              </a:lnSpc>
              <a:buFont typeface="Wingdings" panose="05000000000000000000" pitchFamily="2" charset="2"/>
              <a:buChar char="l"/>
            </a:pPr>
            <a:r>
              <a:rPr lang="zh-CN" altLang="en-US" b="1"/>
              <a:t>必须有事务的概念和原子性</a:t>
            </a:r>
          </a:p>
          <a:p>
            <a:pPr algn="just" eaLnBrk="1" hangingPunct="1">
              <a:lnSpc>
                <a:spcPct val="110000"/>
              </a:lnSpc>
              <a:buFont typeface="Wingdings" panose="05000000000000000000" pitchFamily="2" charset="2"/>
              <a:buChar char="l"/>
            </a:pPr>
            <a:r>
              <a:rPr lang="zh-CN" altLang="en-US" b="1"/>
              <a:t>完整性检查和保证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678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67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pPr eaLnBrk="1" hangingPunct="1"/>
            <a:r>
              <a:rPr lang="en-US" altLang="zh-CN" b="1"/>
              <a:t>3.8 </a:t>
            </a:r>
            <a:r>
              <a:rPr lang="zh-CN" altLang="en-US" b="1"/>
              <a:t>视图</a:t>
            </a:r>
          </a:p>
        </p:txBody>
      </p:sp>
      <p:sp>
        <p:nvSpPr>
          <p:cNvPr id="178179" name="Rectangle 3"/>
          <p:cNvSpPr>
            <a:spLocks noGrp="1" noChangeArrowheads="1"/>
          </p:cNvSpPr>
          <p:nvPr>
            <p:ph type="body" idx="1"/>
          </p:nvPr>
        </p:nvSpPr>
        <p:spPr/>
        <p:txBody>
          <a:bodyPr/>
          <a:lstStyle/>
          <a:p>
            <a:pPr eaLnBrk="1" hangingPunct="1">
              <a:lnSpc>
                <a:spcPct val="110000"/>
              </a:lnSpc>
              <a:buSzPct val="130000"/>
              <a:buFont typeface="Wingdings" panose="05000000000000000000" pitchFamily="2" charset="2"/>
              <a:buChar char="Ø"/>
            </a:pPr>
            <a:r>
              <a:rPr lang="zh-CN" altLang="en-US" b="1"/>
              <a:t>定义视图</a:t>
            </a:r>
          </a:p>
          <a:p>
            <a:pPr eaLnBrk="1" hangingPunct="1">
              <a:lnSpc>
                <a:spcPct val="110000"/>
              </a:lnSpc>
              <a:buSzPct val="130000"/>
              <a:buFont typeface="Wingdings" panose="05000000000000000000" pitchFamily="2" charset="2"/>
              <a:buChar char="Ø"/>
            </a:pPr>
            <a:r>
              <a:rPr lang="zh-CN" altLang="en-US" b="1"/>
              <a:t>查询视图</a:t>
            </a:r>
          </a:p>
          <a:p>
            <a:pPr eaLnBrk="1" hangingPunct="1">
              <a:lnSpc>
                <a:spcPct val="110000"/>
              </a:lnSpc>
              <a:buSzPct val="130000"/>
              <a:buFont typeface="Wingdings" panose="05000000000000000000" pitchFamily="2" charset="2"/>
              <a:buChar char="Ø"/>
            </a:pPr>
            <a:r>
              <a:rPr lang="zh-CN" altLang="en-US" b="1"/>
              <a:t>更新视图</a:t>
            </a:r>
          </a:p>
          <a:p>
            <a:pPr eaLnBrk="1" hangingPunct="1">
              <a:lnSpc>
                <a:spcPct val="110000"/>
              </a:lnSpc>
              <a:buSzPct val="130000"/>
              <a:buFont typeface="Wingdings" panose="05000000000000000000" pitchFamily="2" charset="2"/>
              <a:buChar char="Ø"/>
            </a:pPr>
            <a:r>
              <a:rPr lang="zh-CN" altLang="en-US" b="1"/>
              <a:t>视图的作用</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title"/>
          </p:nvPr>
        </p:nvSpPr>
        <p:spPr/>
        <p:txBody>
          <a:bodyPr/>
          <a:lstStyle/>
          <a:p>
            <a:pPr eaLnBrk="1" hangingPunct="1"/>
            <a:r>
              <a:rPr lang="zh-CN" altLang="en-US" b="1"/>
              <a:t>（一）、定义视图</a:t>
            </a:r>
          </a:p>
        </p:txBody>
      </p:sp>
      <p:sp>
        <p:nvSpPr>
          <p:cNvPr id="179203" name="Rectangle 3"/>
          <p:cNvSpPr>
            <a:spLocks noGrp="1" noChangeArrowheads="1"/>
          </p:cNvSpPr>
          <p:nvPr>
            <p:ph type="body" idx="1"/>
          </p:nvPr>
        </p:nvSpPr>
        <p:spPr/>
        <p:txBody>
          <a:bodyPr/>
          <a:lstStyle/>
          <a:p>
            <a:pPr eaLnBrk="1" hangingPunct="1"/>
            <a:r>
              <a:rPr lang="zh-CN" altLang="en-US" b="1"/>
              <a:t>建立视图</a:t>
            </a:r>
          </a:p>
          <a:p>
            <a:pPr eaLnBrk="1" hangingPunct="1"/>
            <a:endParaRPr lang="zh-CN" altLang="en-US" b="1"/>
          </a:p>
          <a:p>
            <a:pPr eaLnBrk="1" hangingPunct="1"/>
            <a:r>
              <a:rPr lang="zh-CN" altLang="en-US" b="1"/>
              <a:t>删除视图</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pPr eaLnBrk="1" hangingPunct="1"/>
            <a:r>
              <a:rPr lang="zh-CN" altLang="en-US" sz="4000" b="1"/>
              <a:t>1. 建立视图</a:t>
            </a:r>
          </a:p>
        </p:txBody>
      </p:sp>
      <p:sp>
        <p:nvSpPr>
          <p:cNvPr id="180227" name="Rectangle 3"/>
          <p:cNvSpPr>
            <a:spLocks noGrp="1" noChangeArrowheads="1"/>
          </p:cNvSpPr>
          <p:nvPr>
            <p:ph type="body" idx="1"/>
          </p:nvPr>
        </p:nvSpPr>
        <p:spPr/>
        <p:txBody>
          <a:bodyPr/>
          <a:lstStyle/>
          <a:p>
            <a:pPr eaLnBrk="1" hangingPunct="1"/>
            <a:r>
              <a:rPr lang="zh-CN" altLang="en-US" sz="3600" b="1"/>
              <a:t>语句格式</a:t>
            </a:r>
            <a:endParaRPr lang="zh-CN" altLang="en-US" b="1"/>
          </a:p>
          <a:p>
            <a:pPr eaLnBrk="1" hangingPunct="1">
              <a:lnSpc>
                <a:spcPct val="120000"/>
              </a:lnSpc>
              <a:buFont typeface="Wingdings" panose="05000000000000000000" pitchFamily="2" charset="2"/>
              <a:buNone/>
            </a:pPr>
            <a:r>
              <a:rPr lang="zh-CN" altLang="en-US" sz="2800" b="1"/>
              <a:t>       </a:t>
            </a:r>
            <a:r>
              <a:rPr lang="en-US" altLang="zh-CN" sz="2800" b="1">
                <a:solidFill>
                  <a:srgbClr val="FF3399"/>
                </a:solidFill>
              </a:rPr>
              <a:t>CREATE  VIEW</a:t>
            </a:r>
            <a:r>
              <a:rPr lang="en-US" altLang="zh-CN" sz="2800" b="1"/>
              <a:t> </a:t>
            </a:r>
          </a:p>
          <a:p>
            <a:pPr eaLnBrk="1" hangingPunct="1">
              <a:lnSpc>
                <a:spcPct val="120000"/>
              </a:lnSpc>
              <a:buFont typeface="Wingdings" panose="05000000000000000000" pitchFamily="2" charset="2"/>
              <a:buNone/>
            </a:pPr>
            <a:r>
              <a:rPr lang="en-US" altLang="zh-CN" sz="2800" b="1"/>
              <a:t>             &lt;</a:t>
            </a:r>
            <a:r>
              <a:rPr lang="zh-CN" altLang="en-US" sz="2800" b="1"/>
              <a:t>视图名&gt;  [(&lt;列名&gt;  [，&lt;列名&gt;]</a:t>
            </a:r>
            <a:r>
              <a:rPr lang="zh-CN" altLang="en-US" sz="2800" b="1">
                <a:latin typeface="Times New Roman" panose="02020503050405090304" pitchFamily="18" charset="0"/>
              </a:rPr>
              <a:t>…</a:t>
            </a:r>
            <a:r>
              <a:rPr lang="zh-CN" altLang="en-US" sz="2800" b="1"/>
              <a:t>)]</a:t>
            </a:r>
          </a:p>
          <a:p>
            <a:pPr eaLnBrk="1" hangingPunct="1">
              <a:lnSpc>
                <a:spcPct val="120000"/>
              </a:lnSpc>
              <a:buFont typeface="Wingdings" panose="05000000000000000000" pitchFamily="2" charset="2"/>
              <a:buNone/>
            </a:pPr>
            <a:r>
              <a:rPr lang="zh-CN" altLang="en-US" sz="2800" b="1">
                <a:solidFill>
                  <a:srgbClr val="FF3399"/>
                </a:solidFill>
              </a:rPr>
              <a:t>      </a:t>
            </a:r>
            <a:r>
              <a:rPr lang="en-US" altLang="zh-CN" sz="2800" b="1">
                <a:solidFill>
                  <a:srgbClr val="FF3399"/>
                </a:solidFill>
              </a:rPr>
              <a:t>AS</a:t>
            </a:r>
            <a:r>
              <a:rPr lang="en-US" altLang="zh-CN" sz="2800" b="1"/>
              <a:t>  &lt;</a:t>
            </a:r>
            <a:r>
              <a:rPr lang="zh-CN" altLang="en-US" sz="2800" b="1"/>
              <a:t>子查询&gt;</a:t>
            </a:r>
          </a:p>
          <a:p>
            <a:pPr eaLnBrk="1" hangingPunct="1">
              <a:lnSpc>
                <a:spcPct val="120000"/>
              </a:lnSpc>
              <a:buFont typeface="Wingdings" panose="05000000000000000000" pitchFamily="2" charset="2"/>
              <a:buNone/>
            </a:pPr>
            <a:r>
              <a:rPr lang="zh-CN" altLang="en-US" sz="2800" b="1"/>
              <a:t>       [</a:t>
            </a:r>
            <a:r>
              <a:rPr lang="en-US" altLang="zh-CN" sz="2800" b="1">
                <a:solidFill>
                  <a:srgbClr val="FF3399"/>
                </a:solidFill>
              </a:rPr>
              <a:t>WITH  CHECK  OPTION</a:t>
            </a:r>
            <a:r>
              <a:rPr lang="en-US" altLang="zh-CN" sz="2800" b="1"/>
              <a:t>]；</a:t>
            </a:r>
            <a:endParaRPr lang="zh-CN" altLang="en-US" b="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pPr eaLnBrk="1" hangingPunct="1"/>
            <a:r>
              <a:rPr lang="zh-CN" altLang="en-US" b="1"/>
              <a:t>组成视图的属性列名</a:t>
            </a:r>
          </a:p>
        </p:txBody>
      </p:sp>
      <p:sp>
        <p:nvSpPr>
          <p:cNvPr id="250883" name="Rectangle 3"/>
          <p:cNvSpPr>
            <a:spLocks noGrp="1" noChangeArrowheads="1"/>
          </p:cNvSpPr>
          <p:nvPr>
            <p:ph type="body" idx="1"/>
          </p:nvPr>
        </p:nvSpPr>
        <p:spPr>
          <a:xfrm>
            <a:off x="685800" y="1905000"/>
            <a:ext cx="8229600" cy="4114800"/>
          </a:xfrm>
        </p:spPr>
        <p:txBody>
          <a:bodyPr/>
          <a:lstStyle/>
          <a:p>
            <a:pPr lvl="1" defTabSz="889000" eaLnBrk="1" hangingPunct="1">
              <a:lnSpc>
                <a:spcPct val="120000"/>
              </a:lnSpc>
              <a:buFont typeface="Wingdings" panose="05000000000000000000" pitchFamily="2" charset="2"/>
              <a:buNone/>
            </a:pPr>
            <a:r>
              <a:rPr lang="zh-CN" altLang="en-US" sz="2400" b="1"/>
              <a:t>全部省略或全部指定</a:t>
            </a:r>
          </a:p>
          <a:p>
            <a:pPr lvl="1" defTabSz="889000" eaLnBrk="1" hangingPunct="1">
              <a:lnSpc>
                <a:spcPct val="130000"/>
              </a:lnSpc>
            </a:pPr>
            <a:r>
              <a:rPr lang="zh-CN" altLang="en-US" sz="2400" b="1"/>
              <a:t>省略: </a:t>
            </a:r>
          </a:p>
          <a:p>
            <a:pPr lvl="1" defTabSz="889000" eaLnBrk="1" hangingPunct="1">
              <a:lnSpc>
                <a:spcPct val="130000"/>
              </a:lnSpc>
              <a:buFont typeface="Wingdings" panose="05000000000000000000" pitchFamily="2" charset="2"/>
              <a:buNone/>
            </a:pPr>
            <a:r>
              <a:rPr lang="zh-CN" altLang="en-US" sz="2400" b="1"/>
              <a:t>    由子查询中</a:t>
            </a:r>
            <a:r>
              <a:rPr lang="en-US" altLang="zh-CN" sz="2400" b="1"/>
              <a:t>SELECT</a:t>
            </a:r>
            <a:r>
              <a:rPr lang="zh-CN" altLang="en-US" sz="2400" b="1"/>
              <a:t>目标列中的诸字段组成</a:t>
            </a:r>
          </a:p>
          <a:p>
            <a:pPr lvl="1" defTabSz="889000" eaLnBrk="1" hangingPunct="1">
              <a:lnSpc>
                <a:spcPct val="130000"/>
              </a:lnSpc>
            </a:pPr>
            <a:r>
              <a:rPr lang="zh-CN" altLang="en-US" sz="2400" b="1"/>
              <a:t>以下情况需要明确指定视图的所有列名:</a:t>
            </a:r>
          </a:p>
          <a:p>
            <a:pPr marL="1765300" lvl="3" indent="-431800" defTabSz="889000" eaLnBrk="1" hangingPunct="1">
              <a:lnSpc>
                <a:spcPct val="130000"/>
              </a:lnSpc>
              <a:buFont typeface="Wingdings" panose="05000000000000000000" pitchFamily="2" charset="2"/>
              <a:buNone/>
            </a:pPr>
            <a:r>
              <a:rPr lang="zh-CN" altLang="en-US" b="1"/>
              <a:t>(1) 某个目标列是集函数或列表达式</a:t>
            </a:r>
          </a:p>
          <a:p>
            <a:pPr marL="1765300" lvl="3" indent="-431800" defTabSz="889000" eaLnBrk="1" hangingPunct="1">
              <a:lnSpc>
                <a:spcPct val="130000"/>
              </a:lnSpc>
              <a:buFont typeface="Wingdings" panose="05000000000000000000" pitchFamily="2" charset="2"/>
              <a:buNone/>
            </a:pPr>
            <a:r>
              <a:rPr lang="zh-CN" altLang="en-US" b="1"/>
              <a:t>(2) 目标列为  *</a:t>
            </a:r>
          </a:p>
          <a:p>
            <a:pPr marL="1765300" lvl="3" indent="-431800" defTabSz="889000" eaLnBrk="1" hangingPunct="1">
              <a:lnSpc>
                <a:spcPct val="130000"/>
              </a:lnSpc>
              <a:buFont typeface="Wingdings" panose="05000000000000000000" pitchFamily="2" charset="2"/>
              <a:buNone/>
            </a:pPr>
            <a:r>
              <a:rPr lang="zh-CN" altLang="en-US" b="1"/>
              <a:t>(3) 多表连接时选出了几个同名列作为视图的字段</a:t>
            </a:r>
          </a:p>
          <a:p>
            <a:pPr marL="1765300" lvl="3" indent="-431800" defTabSz="889000" eaLnBrk="1" hangingPunct="1">
              <a:lnSpc>
                <a:spcPct val="130000"/>
              </a:lnSpc>
              <a:buFont typeface="Wingdings" panose="05000000000000000000" pitchFamily="2" charset="2"/>
              <a:buNone/>
            </a:pPr>
            <a:r>
              <a:rPr lang="zh-CN" altLang="en-US" b="1"/>
              <a:t>(4) 需要在视图中为某个列启用新的更合适的名字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088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088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088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088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088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088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08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a:lstStyle/>
          <a:p>
            <a:pPr eaLnBrk="1" hangingPunct="1"/>
            <a:r>
              <a:rPr lang="zh-CN" altLang="en-US" sz="4800" b="1"/>
              <a:t>行列子集视图</a:t>
            </a:r>
          </a:p>
        </p:txBody>
      </p:sp>
      <p:sp>
        <p:nvSpPr>
          <p:cNvPr id="251907"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zh-CN" altLang="en-US" b="1"/>
              <a:t> </a:t>
            </a:r>
            <a:r>
              <a:rPr lang="zh-CN" altLang="en-US" sz="2800" b="1"/>
              <a:t>[例1]  建立信息系学生的视图。</a:t>
            </a:r>
          </a:p>
          <a:p>
            <a:pPr eaLnBrk="1" hangingPunct="1">
              <a:lnSpc>
                <a:spcPct val="90000"/>
              </a:lnSpc>
              <a:buFont typeface="Wingdings" panose="05000000000000000000" pitchFamily="2" charset="2"/>
              <a:buNone/>
            </a:pPr>
            <a:r>
              <a:rPr lang="zh-CN" altLang="en-US" sz="2800" b="1"/>
              <a:t>        </a:t>
            </a:r>
            <a:r>
              <a:rPr lang="en-US" altLang="zh-CN" sz="2800" b="1"/>
              <a:t>CREATE VIEW IS_Student</a:t>
            </a:r>
          </a:p>
          <a:p>
            <a:pPr eaLnBrk="1" hangingPunct="1">
              <a:lnSpc>
                <a:spcPct val="90000"/>
              </a:lnSpc>
              <a:buFont typeface="Wingdings" panose="05000000000000000000" pitchFamily="2" charset="2"/>
              <a:buNone/>
            </a:pPr>
            <a:r>
              <a:rPr lang="en-US" altLang="zh-CN" sz="2800" b="1"/>
              <a:t>               AS </a:t>
            </a:r>
          </a:p>
          <a:p>
            <a:pPr eaLnBrk="1" hangingPunct="1">
              <a:lnSpc>
                <a:spcPct val="90000"/>
              </a:lnSpc>
              <a:buFont typeface="Wingdings" panose="05000000000000000000" pitchFamily="2" charset="2"/>
              <a:buNone/>
            </a:pPr>
            <a:r>
              <a:rPr lang="en-US" altLang="zh-CN" sz="2800" b="1"/>
              <a:t>               </a:t>
            </a:r>
            <a:r>
              <a:rPr lang="en-US" altLang="zh-CN" sz="2800" b="1">
                <a:solidFill>
                  <a:srgbClr val="FF3399"/>
                </a:solidFill>
              </a:rPr>
              <a:t>SELECT Sno，Sname，Sage</a:t>
            </a:r>
          </a:p>
          <a:p>
            <a:pPr eaLnBrk="1" hangingPunct="1">
              <a:lnSpc>
                <a:spcPct val="90000"/>
              </a:lnSpc>
              <a:buFont typeface="Wingdings" panose="05000000000000000000" pitchFamily="2" charset="2"/>
              <a:buNone/>
            </a:pPr>
            <a:r>
              <a:rPr lang="en-US" altLang="zh-CN" sz="2800" b="1">
                <a:solidFill>
                  <a:srgbClr val="FF3399"/>
                </a:solidFill>
              </a:rPr>
              <a:t>               FROM    Student</a:t>
            </a:r>
          </a:p>
          <a:p>
            <a:pPr eaLnBrk="1" hangingPunct="1">
              <a:lnSpc>
                <a:spcPct val="90000"/>
              </a:lnSpc>
              <a:buFont typeface="Wingdings" panose="05000000000000000000" pitchFamily="2" charset="2"/>
              <a:buNone/>
            </a:pPr>
            <a:r>
              <a:rPr lang="en-US" altLang="zh-CN" sz="2800" b="1">
                <a:solidFill>
                  <a:srgbClr val="FF3399"/>
                </a:solidFill>
              </a:rPr>
              <a:t>               WHERE  Sdept= 'IS'；</a:t>
            </a:r>
            <a:endParaRPr lang="en-US" altLang="zh-CN" sz="2800" b="1"/>
          </a:p>
          <a:p>
            <a:pPr lvl="1" eaLnBrk="1" hangingPunct="1">
              <a:lnSpc>
                <a:spcPct val="140000"/>
              </a:lnSpc>
              <a:buFont typeface="Wingdings" panose="05000000000000000000" pitchFamily="2" charset="2"/>
              <a:buNone/>
            </a:pPr>
            <a:r>
              <a:rPr lang="zh-CN" altLang="en-US" sz="2400" b="1"/>
              <a:t> 从单个基本表导出只是去掉了基本表的某些行和某些列，但保留了码。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190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190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190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190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190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190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pPr eaLnBrk="1" hangingPunct="1"/>
            <a:r>
              <a:rPr lang="en-US" altLang="zh-CN" sz="3600" b="1"/>
              <a:t>WITH CHECK OPTION</a:t>
            </a:r>
            <a:r>
              <a:rPr lang="zh-CN" altLang="en-US" sz="3600" b="1"/>
              <a:t>的视图</a:t>
            </a:r>
            <a:endParaRPr lang="zh-CN" altLang="en-US" b="1"/>
          </a:p>
        </p:txBody>
      </p:sp>
      <p:sp>
        <p:nvSpPr>
          <p:cNvPr id="183299" name="Rectangle 3"/>
          <p:cNvSpPr>
            <a:spLocks noGrp="1" noChangeArrowheads="1"/>
          </p:cNvSpPr>
          <p:nvPr>
            <p:ph type="body" sz="half" idx="1"/>
          </p:nvPr>
        </p:nvSpPr>
        <p:spPr>
          <a:xfrm>
            <a:off x="1182688" y="2017713"/>
            <a:ext cx="7566025" cy="1639887"/>
          </a:xfrm>
        </p:spPr>
        <p:txBody>
          <a:bodyPr/>
          <a:lstStyle/>
          <a:p>
            <a:pPr eaLnBrk="1" hangingPunct="1">
              <a:lnSpc>
                <a:spcPct val="130000"/>
              </a:lnSpc>
              <a:buFont typeface="Wingdings" panose="05000000000000000000" pitchFamily="2" charset="2"/>
              <a:buNone/>
            </a:pPr>
            <a:r>
              <a:rPr lang="zh-CN" altLang="en-US" b="1"/>
              <a:t>[例2]  建立信息系学生的视图，并要求透过该视图进行的更新操作只涉及信息系学生。</a:t>
            </a:r>
            <a:r>
              <a:rPr lang="zh-CN" altLang="en-US" sz="2400" b="1"/>
              <a:t>        </a:t>
            </a:r>
            <a:endParaRPr lang="en-US" altLang="zh-CN" sz="2400" b="1"/>
          </a:p>
        </p:txBody>
      </p:sp>
      <p:sp>
        <p:nvSpPr>
          <p:cNvPr id="252932" name="Rectangle 4"/>
          <p:cNvSpPr>
            <a:spLocks noGrp="1" noChangeArrowheads="1"/>
          </p:cNvSpPr>
          <p:nvPr>
            <p:ph type="body" sz="half" idx="2"/>
          </p:nvPr>
        </p:nvSpPr>
        <p:spPr>
          <a:xfrm>
            <a:off x="1219200" y="3276600"/>
            <a:ext cx="6553200" cy="4114800"/>
          </a:xfrm>
        </p:spPr>
        <p:txBody>
          <a:bodyPr/>
          <a:lstStyle/>
          <a:p>
            <a:pPr eaLnBrk="1" hangingPunct="1">
              <a:lnSpc>
                <a:spcPct val="130000"/>
              </a:lnSpc>
              <a:buFont typeface="Wingdings" panose="05000000000000000000" pitchFamily="2" charset="2"/>
              <a:buNone/>
            </a:pPr>
            <a:r>
              <a:rPr lang="en-US" altLang="zh-CN" sz="2400" b="1"/>
              <a:t>CREATE VIEW IS_Student</a:t>
            </a:r>
          </a:p>
          <a:p>
            <a:pPr eaLnBrk="1" hangingPunct="1">
              <a:lnSpc>
                <a:spcPct val="130000"/>
              </a:lnSpc>
              <a:buFont typeface="Wingdings" panose="05000000000000000000" pitchFamily="2" charset="2"/>
              <a:buNone/>
            </a:pPr>
            <a:r>
              <a:rPr lang="en-US" altLang="zh-CN" sz="2400" b="1"/>
              <a:t>               AS </a:t>
            </a:r>
          </a:p>
          <a:p>
            <a:pPr eaLnBrk="1" hangingPunct="1">
              <a:lnSpc>
                <a:spcPct val="130000"/>
              </a:lnSpc>
              <a:buFont typeface="Wingdings" panose="05000000000000000000" pitchFamily="2" charset="2"/>
              <a:buNone/>
            </a:pPr>
            <a:r>
              <a:rPr lang="en-US" altLang="zh-CN" sz="2400" b="1"/>
              <a:t>               SELECT Sno，Sname，Sage</a:t>
            </a:r>
          </a:p>
          <a:p>
            <a:pPr eaLnBrk="1" hangingPunct="1">
              <a:lnSpc>
                <a:spcPct val="130000"/>
              </a:lnSpc>
              <a:buFont typeface="Wingdings" panose="05000000000000000000" pitchFamily="2" charset="2"/>
              <a:buNone/>
            </a:pPr>
            <a:r>
              <a:rPr lang="en-US" altLang="zh-CN" sz="2400" b="1"/>
              <a:t>               FROM  Student</a:t>
            </a:r>
          </a:p>
          <a:p>
            <a:pPr eaLnBrk="1" hangingPunct="1">
              <a:lnSpc>
                <a:spcPct val="130000"/>
              </a:lnSpc>
              <a:buFont typeface="Wingdings" panose="05000000000000000000" pitchFamily="2" charset="2"/>
              <a:buNone/>
            </a:pPr>
            <a:r>
              <a:rPr lang="en-US" altLang="zh-CN" sz="2400" b="1"/>
              <a:t>               WHERE  Sdept= 'IS'</a:t>
            </a:r>
          </a:p>
          <a:p>
            <a:pPr eaLnBrk="1" hangingPunct="1">
              <a:lnSpc>
                <a:spcPct val="130000"/>
              </a:lnSpc>
              <a:buFont typeface="Wingdings" panose="05000000000000000000" pitchFamily="2" charset="2"/>
              <a:buNone/>
            </a:pPr>
            <a:r>
              <a:rPr lang="en-US" altLang="zh-CN" sz="2400" b="1"/>
              <a:t>               WITH CHECK OPTION；</a:t>
            </a:r>
          </a:p>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29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5293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5293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5293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5293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5293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2"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eaLnBrk="1" hangingPunct="1"/>
            <a:r>
              <a:rPr lang="zh-CN" altLang="en-US" sz="3600" b="1"/>
              <a:t>对</a:t>
            </a:r>
            <a:r>
              <a:rPr lang="en-US" altLang="zh-CN" sz="3600" b="1"/>
              <a:t>IS_Student</a:t>
            </a:r>
            <a:r>
              <a:rPr lang="zh-CN" altLang="en-US" sz="3600" b="1"/>
              <a:t>视图的更新操作</a:t>
            </a:r>
            <a:endParaRPr lang="zh-CN" altLang="en-US" b="1"/>
          </a:p>
        </p:txBody>
      </p:sp>
      <p:sp>
        <p:nvSpPr>
          <p:cNvPr id="253955" name="Rectangle 3"/>
          <p:cNvSpPr>
            <a:spLocks noGrp="1" noChangeArrowheads="1"/>
          </p:cNvSpPr>
          <p:nvPr>
            <p:ph type="body" idx="1"/>
          </p:nvPr>
        </p:nvSpPr>
        <p:spPr>
          <a:xfrm>
            <a:off x="685800" y="2057400"/>
            <a:ext cx="8229600" cy="4114800"/>
          </a:xfrm>
        </p:spPr>
        <p:txBody>
          <a:bodyPr/>
          <a:lstStyle/>
          <a:p>
            <a:pPr eaLnBrk="1" hangingPunct="1">
              <a:lnSpc>
                <a:spcPct val="140000"/>
              </a:lnSpc>
            </a:pPr>
            <a:r>
              <a:rPr lang="zh-CN" altLang="en-US" sz="2800" b="1"/>
              <a:t>修改操作：</a:t>
            </a:r>
            <a:r>
              <a:rPr lang="en-US" altLang="zh-CN" sz="2800" b="1"/>
              <a:t>DBMS</a:t>
            </a:r>
            <a:r>
              <a:rPr lang="zh-CN" altLang="en-US" sz="2800" b="1"/>
              <a:t>自动加上</a:t>
            </a:r>
            <a:r>
              <a:rPr lang="en-US" altLang="zh-CN" sz="2800" b="1"/>
              <a:t>Sdept= 'IS'</a:t>
            </a:r>
            <a:r>
              <a:rPr lang="zh-CN" altLang="en-US" sz="2800" b="1"/>
              <a:t>的条件</a:t>
            </a:r>
          </a:p>
          <a:p>
            <a:pPr eaLnBrk="1" hangingPunct="1">
              <a:lnSpc>
                <a:spcPct val="140000"/>
              </a:lnSpc>
            </a:pPr>
            <a:r>
              <a:rPr lang="zh-CN" altLang="en-US" sz="2800" b="1"/>
              <a:t>删除操作：</a:t>
            </a:r>
            <a:r>
              <a:rPr lang="en-US" altLang="zh-CN" sz="2800" b="1"/>
              <a:t>DBMS</a:t>
            </a:r>
            <a:r>
              <a:rPr lang="zh-CN" altLang="en-US" sz="2800" b="1"/>
              <a:t>自动加上</a:t>
            </a:r>
            <a:r>
              <a:rPr lang="en-US" altLang="zh-CN" sz="2800" b="1"/>
              <a:t>Sdept= 'IS'</a:t>
            </a:r>
            <a:r>
              <a:rPr lang="zh-CN" altLang="en-US" sz="2800" b="1"/>
              <a:t>的条件</a:t>
            </a:r>
          </a:p>
          <a:p>
            <a:pPr eaLnBrk="1" hangingPunct="1">
              <a:lnSpc>
                <a:spcPct val="140000"/>
              </a:lnSpc>
            </a:pPr>
            <a:r>
              <a:rPr lang="zh-CN" altLang="en-US" sz="2800" b="1"/>
              <a:t>插入操作：</a:t>
            </a:r>
            <a:r>
              <a:rPr lang="en-US" altLang="zh-CN" sz="2800" b="1"/>
              <a:t>DBMS</a:t>
            </a:r>
            <a:r>
              <a:rPr lang="zh-CN" altLang="en-US" sz="2800" b="1"/>
              <a:t>自动检查</a:t>
            </a:r>
            <a:r>
              <a:rPr lang="en-US" altLang="zh-CN" sz="2800" b="1"/>
              <a:t>Sdept</a:t>
            </a:r>
            <a:r>
              <a:rPr lang="zh-CN" altLang="en-US" sz="2800" b="1"/>
              <a:t>属性值是否为'</a:t>
            </a:r>
            <a:r>
              <a:rPr lang="en-US" altLang="zh-CN" sz="2800" b="1"/>
              <a:t>IS' </a:t>
            </a:r>
          </a:p>
          <a:p>
            <a:pPr lvl="1" eaLnBrk="1" hangingPunct="1">
              <a:lnSpc>
                <a:spcPct val="140000"/>
              </a:lnSpc>
            </a:pPr>
            <a:r>
              <a:rPr lang="zh-CN" altLang="en-US" b="1"/>
              <a:t>如果不是，则拒绝该插入操作</a:t>
            </a:r>
          </a:p>
          <a:p>
            <a:pPr lvl="1" eaLnBrk="1" hangingPunct="1">
              <a:lnSpc>
                <a:spcPct val="140000"/>
              </a:lnSpc>
            </a:pPr>
            <a:r>
              <a:rPr lang="zh-CN" altLang="en-US" b="1"/>
              <a:t>如果没有提供</a:t>
            </a:r>
            <a:r>
              <a:rPr lang="en-US" altLang="zh-CN" b="1"/>
              <a:t>Sdept</a:t>
            </a:r>
            <a:r>
              <a:rPr lang="zh-CN" altLang="en-US" b="1"/>
              <a:t>属性值，则自动定义</a:t>
            </a:r>
            <a:r>
              <a:rPr lang="en-US" altLang="zh-CN" b="1"/>
              <a:t>Sdept</a:t>
            </a:r>
            <a:r>
              <a:rPr lang="zh-CN" altLang="en-US" b="1"/>
              <a:t>为'</a:t>
            </a:r>
            <a:r>
              <a:rPr lang="en-US" altLang="zh-CN" b="1"/>
              <a:t>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39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39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395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395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39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5"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a:lstStyle/>
          <a:p>
            <a:pPr eaLnBrk="1" hangingPunct="1"/>
            <a:r>
              <a:rPr lang="zh-CN" altLang="en-US" sz="4000" b="1"/>
              <a:t>基于多个基表的视图</a:t>
            </a:r>
            <a:endParaRPr lang="zh-CN" altLang="en-US" b="1"/>
          </a:p>
        </p:txBody>
      </p:sp>
      <p:sp>
        <p:nvSpPr>
          <p:cNvPr id="185347" name="Rectangle 3"/>
          <p:cNvSpPr>
            <a:spLocks noGrp="1" noChangeArrowheads="1"/>
          </p:cNvSpPr>
          <p:nvPr>
            <p:ph type="body" sz="half" idx="1"/>
          </p:nvPr>
        </p:nvSpPr>
        <p:spPr>
          <a:xfrm>
            <a:off x="1182688" y="2017713"/>
            <a:ext cx="7427912" cy="877887"/>
          </a:xfrm>
        </p:spPr>
        <p:txBody>
          <a:bodyPr/>
          <a:lstStyle/>
          <a:p>
            <a:pPr eaLnBrk="1" hangingPunct="1">
              <a:lnSpc>
                <a:spcPct val="110000"/>
              </a:lnSpc>
              <a:buFont typeface="Wingdings" panose="05000000000000000000" pitchFamily="2" charset="2"/>
              <a:buNone/>
            </a:pPr>
            <a:r>
              <a:rPr lang="zh-CN" altLang="en-US" b="1"/>
              <a:t>[例4]  建立信息系选修了1号课程的学生视图。</a:t>
            </a:r>
            <a:r>
              <a:rPr lang="zh-CN" altLang="en-US" sz="2400" b="1"/>
              <a:t>        </a:t>
            </a:r>
          </a:p>
        </p:txBody>
      </p:sp>
      <p:sp>
        <p:nvSpPr>
          <p:cNvPr id="254980" name="Rectangle 4"/>
          <p:cNvSpPr>
            <a:spLocks noGrp="1" noChangeArrowheads="1"/>
          </p:cNvSpPr>
          <p:nvPr>
            <p:ph type="body" sz="half" idx="2"/>
          </p:nvPr>
        </p:nvSpPr>
        <p:spPr>
          <a:xfrm>
            <a:off x="1447800" y="2895600"/>
            <a:ext cx="6553200" cy="4114800"/>
          </a:xfrm>
        </p:spPr>
        <p:txBody>
          <a:bodyPr/>
          <a:lstStyle/>
          <a:p>
            <a:pPr eaLnBrk="1" hangingPunct="1">
              <a:lnSpc>
                <a:spcPct val="110000"/>
              </a:lnSpc>
              <a:buFont typeface="Wingdings" panose="05000000000000000000" pitchFamily="2" charset="2"/>
              <a:buNone/>
            </a:pPr>
            <a:r>
              <a:rPr lang="en-US" altLang="zh-CN" sz="2000" b="1"/>
              <a:t>CREATE VIEW IS_S1(Sno，Sname，Grade)</a:t>
            </a:r>
          </a:p>
          <a:p>
            <a:pPr eaLnBrk="1" hangingPunct="1">
              <a:lnSpc>
                <a:spcPct val="110000"/>
              </a:lnSpc>
              <a:buFont typeface="Wingdings" panose="05000000000000000000" pitchFamily="2" charset="2"/>
              <a:buNone/>
            </a:pPr>
            <a:r>
              <a:rPr lang="en-US" altLang="zh-CN" sz="2000" b="1"/>
              <a:t>               AS </a:t>
            </a:r>
          </a:p>
          <a:p>
            <a:pPr eaLnBrk="1" hangingPunct="1">
              <a:lnSpc>
                <a:spcPct val="110000"/>
              </a:lnSpc>
              <a:buFont typeface="Wingdings" panose="05000000000000000000" pitchFamily="2" charset="2"/>
              <a:buNone/>
            </a:pPr>
            <a:r>
              <a:rPr lang="en-US" altLang="zh-CN" sz="2000" b="1"/>
              <a:t>               SELECT </a:t>
            </a:r>
            <a:r>
              <a:rPr lang="en-US" altLang="zh-CN" sz="2000" b="1">
                <a:solidFill>
                  <a:srgbClr val="FF3399"/>
                </a:solidFill>
              </a:rPr>
              <a:t>Student.</a:t>
            </a:r>
            <a:r>
              <a:rPr lang="en-US" altLang="zh-CN" sz="2000" b="1"/>
              <a:t>Sno，Sname，Grade</a:t>
            </a:r>
          </a:p>
          <a:p>
            <a:pPr eaLnBrk="1" hangingPunct="1">
              <a:lnSpc>
                <a:spcPct val="110000"/>
              </a:lnSpc>
              <a:buFont typeface="Wingdings" panose="05000000000000000000" pitchFamily="2" charset="2"/>
              <a:buNone/>
            </a:pPr>
            <a:r>
              <a:rPr lang="en-US" altLang="zh-CN" sz="2000" b="1"/>
              <a:t>               FROM  </a:t>
            </a:r>
            <a:r>
              <a:rPr lang="en-US" altLang="zh-CN" sz="2000" b="1">
                <a:solidFill>
                  <a:srgbClr val="FF3399"/>
                </a:solidFill>
              </a:rPr>
              <a:t>Student，SC</a:t>
            </a:r>
            <a:endParaRPr lang="en-US" altLang="zh-CN" sz="2000" b="1"/>
          </a:p>
          <a:p>
            <a:pPr eaLnBrk="1" hangingPunct="1">
              <a:lnSpc>
                <a:spcPct val="110000"/>
              </a:lnSpc>
              <a:buFont typeface="Wingdings" panose="05000000000000000000" pitchFamily="2" charset="2"/>
              <a:buNone/>
            </a:pPr>
            <a:r>
              <a:rPr lang="en-US" altLang="zh-CN" sz="2000" b="1"/>
              <a:t>               WHERE  Sdept= 'IS' AND</a:t>
            </a:r>
          </a:p>
          <a:p>
            <a:pPr eaLnBrk="1" hangingPunct="1">
              <a:lnSpc>
                <a:spcPct val="110000"/>
              </a:lnSpc>
              <a:buFont typeface="Wingdings" panose="05000000000000000000" pitchFamily="2" charset="2"/>
              <a:buNone/>
            </a:pPr>
            <a:r>
              <a:rPr lang="en-US" altLang="zh-CN" sz="2000" b="1"/>
              <a:t>                      Student.Sno=SC.Sno AND</a:t>
            </a:r>
          </a:p>
          <a:p>
            <a:pPr eaLnBrk="1" hangingPunct="1">
              <a:lnSpc>
                <a:spcPct val="110000"/>
              </a:lnSpc>
              <a:buFont typeface="Wingdings" panose="05000000000000000000" pitchFamily="2" charset="2"/>
              <a:buNone/>
            </a:pPr>
            <a:r>
              <a:rPr lang="en-US" altLang="zh-CN" sz="2000" b="1"/>
              <a:t>                      SC.Cno= '1'；</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498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498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498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498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498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498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498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80"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pPr eaLnBrk="1" hangingPunct="1"/>
            <a:r>
              <a:rPr lang="zh-CN" altLang="en-US" sz="3600" b="1"/>
              <a:t>基于视图的视图</a:t>
            </a:r>
            <a:endParaRPr lang="zh-CN" altLang="en-US" b="1"/>
          </a:p>
        </p:txBody>
      </p:sp>
      <p:sp>
        <p:nvSpPr>
          <p:cNvPr id="256003" name="Rectangle 3"/>
          <p:cNvSpPr>
            <a:spLocks noGrp="1" noChangeArrowheads="1"/>
          </p:cNvSpPr>
          <p:nvPr>
            <p:ph type="body" idx="1"/>
          </p:nvPr>
        </p:nvSpPr>
        <p:spPr/>
        <p:txBody>
          <a:bodyPr/>
          <a:lstStyle/>
          <a:p>
            <a:pPr eaLnBrk="1" hangingPunct="1">
              <a:lnSpc>
                <a:spcPct val="130000"/>
              </a:lnSpc>
              <a:buFont typeface="Wingdings" panose="05000000000000000000" pitchFamily="2" charset="2"/>
              <a:buNone/>
            </a:pPr>
            <a:r>
              <a:rPr lang="zh-CN" altLang="en-US" sz="2400" b="1"/>
              <a:t>	</a:t>
            </a:r>
            <a:r>
              <a:rPr lang="zh-CN" altLang="en-US" sz="2800" b="1"/>
              <a:t>[例5]  建立信息系选修了1号课程且成绩在90分以上的学生的视图。</a:t>
            </a:r>
            <a:endParaRPr lang="zh-CN" altLang="en-US" sz="2400" b="1"/>
          </a:p>
          <a:p>
            <a:pPr eaLnBrk="1" hangingPunct="1">
              <a:lnSpc>
                <a:spcPct val="130000"/>
              </a:lnSpc>
              <a:buFont typeface="Wingdings" panose="05000000000000000000" pitchFamily="2" charset="2"/>
              <a:buNone/>
            </a:pPr>
            <a:r>
              <a:rPr lang="zh-CN" altLang="en-US" sz="2400" b="1"/>
              <a:t>        </a:t>
            </a:r>
            <a:r>
              <a:rPr lang="en-US" altLang="zh-CN" sz="2400" b="1"/>
              <a:t>CREATE VIEW IS_S2</a:t>
            </a:r>
          </a:p>
          <a:p>
            <a:pPr eaLnBrk="1" hangingPunct="1">
              <a:lnSpc>
                <a:spcPct val="130000"/>
              </a:lnSpc>
              <a:buFont typeface="Wingdings" panose="05000000000000000000" pitchFamily="2" charset="2"/>
              <a:buNone/>
            </a:pPr>
            <a:r>
              <a:rPr lang="en-US" altLang="zh-CN" sz="2400" b="1"/>
              <a:t>               AS</a:t>
            </a:r>
          </a:p>
          <a:p>
            <a:pPr eaLnBrk="1" hangingPunct="1">
              <a:lnSpc>
                <a:spcPct val="130000"/>
              </a:lnSpc>
              <a:buFont typeface="Wingdings" panose="05000000000000000000" pitchFamily="2" charset="2"/>
              <a:buNone/>
            </a:pPr>
            <a:r>
              <a:rPr lang="en-US" altLang="zh-CN" sz="2400" b="1"/>
              <a:t>               SELECT Sno，Sname，Grade</a:t>
            </a:r>
          </a:p>
          <a:p>
            <a:pPr eaLnBrk="1" hangingPunct="1">
              <a:lnSpc>
                <a:spcPct val="130000"/>
              </a:lnSpc>
              <a:buFont typeface="Wingdings" panose="05000000000000000000" pitchFamily="2" charset="2"/>
              <a:buNone/>
            </a:pPr>
            <a:r>
              <a:rPr lang="en-US" altLang="zh-CN" sz="2400" b="1"/>
              <a:t>               FROM  </a:t>
            </a:r>
            <a:r>
              <a:rPr lang="en-US" altLang="zh-CN" sz="2400" b="1">
                <a:solidFill>
                  <a:srgbClr val="FF3399"/>
                </a:solidFill>
              </a:rPr>
              <a:t>IS_S1</a:t>
            </a:r>
          </a:p>
          <a:p>
            <a:pPr eaLnBrk="1" hangingPunct="1">
              <a:lnSpc>
                <a:spcPct val="130000"/>
              </a:lnSpc>
              <a:buFont typeface="Wingdings" panose="05000000000000000000" pitchFamily="2" charset="2"/>
              <a:buNone/>
            </a:pPr>
            <a:r>
              <a:rPr lang="en-US" altLang="zh-CN" sz="2400" b="1"/>
              <a:t>               WHERE  Grade&gt;=90；</a:t>
            </a:r>
            <a:endParaRPr lang="en-US" altLang="zh-CN"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6003">
                                            <p:txEl>
                                              <p:pRg st="1" end="1"/>
                                            </p:txEl>
                                          </p:spTgt>
                                        </p:tgtEl>
                                        <p:attrNameLst>
                                          <p:attrName>style.visibility</p:attrName>
                                        </p:attrNameLst>
                                      </p:cBhvr>
                                      <p:to>
                                        <p:strVal val="visible"/>
                                      </p:to>
                                    </p:set>
                                    <p:animEffect transition="in" filter="blinds(horizontal)">
                                      <p:cBhvr>
                                        <p:cTn id="7" dur="500"/>
                                        <p:tgtEl>
                                          <p:spTgt spid="25600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56003">
                                            <p:txEl>
                                              <p:pRg st="2" end="2"/>
                                            </p:txEl>
                                          </p:spTgt>
                                        </p:tgtEl>
                                        <p:attrNameLst>
                                          <p:attrName>style.visibility</p:attrName>
                                        </p:attrNameLst>
                                      </p:cBhvr>
                                      <p:to>
                                        <p:strVal val="visible"/>
                                      </p:to>
                                    </p:set>
                                    <p:animEffect transition="in" filter="blinds(horizontal)">
                                      <p:cBhvr>
                                        <p:cTn id="10" dur="500"/>
                                        <p:tgtEl>
                                          <p:spTgt spid="25600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56003">
                                            <p:txEl>
                                              <p:pRg st="3" end="3"/>
                                            </p:txEl>
                                          </p:spTgt>
                                        </p:tgtEl>
                                        <p:attrNameLst>
                                          <p:attrName>style.visibility</p:attrName>
                                        </p:attrNameLst>
                                      </p:cBhvr>
                                      <p:to>
                                        <p:strVal val="visible"/>
                                      </p:to>
                                    </p:set>
                                    <p:animEffect transition="in" filter="blinds(horizontal)">
                                      <p:cBhvr>
                                        <p:cTn id="13" dur="500"/>
                                        <p:tgtEl>
                                          <p:spTgt spid="25600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56003">
                                            <p:txEl>
                                              <p:pRg st="4" end="4"/>
                                            </p:txEl>
                                          </p:spTgt>
                                        </p:tgtEl>
                                        <p:attrNameLst>
                                          <p:attrName>style.visibility</p:attrName>
                                        </p:attrNameLst>
                                      </p:cBhvr>
                                      <p:to>
                                        <p:strVal val="visible"/>
                                      </p:to>
                                    </p:set>
                                    <p:animEffect transition="in" filter="blinds(horizontal)">
                                      <p:cBhvr>
                                        <p:cTn id="16" dur="500"/>
                                        <p:tgtEl>
                                          <p:spTgt spid="256003">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56003">
                                            <p:txEl>
                                              <p:pRg st="5" end="5"/>
                                            </p:txEl>
                                          </p:spTgt>
                                        </p:tgtEl>
                                        <p:attrNameLst>
                                          <p:attrName>style.visibility</p:attrName>
                                        </p:attrNameLst>
                                      </p:cBhvr>
                                      <p:to>
                                        <p:strVal val="visible"/>
                                      </p:to>
                                    </p:set>
                                    <p:animEffect transition="in" filter="blinds(horizontal)">
                                      <p:cBhvr>
                                        <p:cTn id="19" dur="500"/>
                                        <p:tgtEl>
                                          <p:spTgt spid="25600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p:txBody>
          <a:bodyPr/>
          <a:lstStyle/>
          <a:p>
            <a:pPr eaLnBrk="1" hangingPunct="1"/>
            <a:r>
              <a:rPr lang="zh-CN" altLang="en-US" b="1"/>
              <a:t>带表达式的视图</a:t>
            </a:r>
          </a:p>
        </p:txBody>
      </p:sp>
      <p:sp>
        <p:nvSpPr>
          <p:cNvPr id="257027" name="Rectangle 3"/>
          <p:cNvSpPr>
            <a:spLocks noGrp="1" noChangeArrowheads="1"/>
          </p:cNvSpPr>
          <p:nvPr>
            <p:ph type="body" idx="1"/>
          </p:nvPr>
        </p:nvSpPr>
        <p:spPr>
          <a:xfrm>
            <a:off x="755650" y="1989138"/>
            <a:ext cx="7772400" cy="4114800"/>
          </a:xfrm>
        </p:spPr>
        <p:txBody>
          <a:bodyPr/>
          <a:lstStyle/>
          <a:p>
            <a:pPr eaLnBrk="1" hangingPunct="1">
              <a:buFont typeface="Wingdings" panose="05000000000000000000" pitchFamily="2" charset="2"/>
              <a:buNone/>
            </a:pPr>
            <a:r>
              <a:rPr lang="zh-CN" altLang="en-US" b="1" dirty="0"/>
              <a:t>[例6]  定义一个反映学生出生年份的视图。</a:t>
            </a:r>
          </a:p>
          <a:p>
            <a:pPr lvl="1" eaLnBrk="1" hangingPunct="1">
              <a:lnSpc>
                <a:spcPct val="130000"/>
              </a:lnSpc>
              <a:buFont typeface="Wingdings" panose="05000000000000000000" pitchFamily="2" charset="2"/>
              <a:buNone/>
            </a:pPr>
            <a:r>
              <a:rPr lang="zh-CN" altLang="en-US" b="1" dirty="0"/>
              <a:t>      </a:t>
            </a:r>
            <a:r>
              <a:rPr lang="en-US" altLang="zh-CN" sz="2400" b="1" dirty="0"/>
              <a:t>CREATE  VIEW BT_S(</a:t>
            </a:r>
            <a:r>
              <a:rPr lang="en-US" altLang="zh-CN" sz="2400" b="1" dirty="0" err="1"/>
              <a:t>Sno，Sname，</a:t>
            </a:r>
            <a:r>
              <a:rPr lang="en-US" altLang="zh-CN" sz="2400" b="1" dirty="0" err="1">
                <a:solidFill>
                  <a:srgbClr val="FF3399"/>
                </a:solidFill>
              </a:rPr>
              <a:t>Sbirth</a:t>
            </a:r>
            <a:r>
              <a:rPr lang="en-US" altLang="zh-CN" sz="2400" b="1" dirty="0"/>
              <a:t>)</a:t>
            </a:r>
          </a:p>
          <a:p>
            <a:pPr lvl="1" eaLnBrk="1" hangingPunct="1">
              <a:lnSpc>
                <a:spcPct val="130000"/>
              </a:lnSpc>
              <a:buFont typeface="Wingdings" panose="05000000000000000000" pitchFamily="2" charset="2"/>
              <a:buNone/>
            </a:pPr>
            <a:r>
              <a:rPr lang="en-US" altLang="zh-CN" sz="2400" b="1" dirty="0"/>
              <a:t>               AS </a:t>
            </a:r>
          </a:p>
          <a:p>
            <a:pPr lvl="1" eaLnBrk="1" hangingPunct="1">
              <a:lnSpc>
                <a:spcPct val="130000"/>
              </a:lnSpc>
              <a:buFont typeface="Wingdings" panose="05000000000000000000" pitchFamily="2" charset="2"/>
              <a:buNone/>
            </a:pPr>
            <a:r>
              <a:rPr lang="en-US" altLang="zh-CN" sz="2400" b="1" dirty="0"/>
              <a:t>           SELECT Sno，Sname，</a:t>
            </a:r>
            <a:r>
              <a:rPr lang="en-US" altLang="zh-CN" sz="2400" b="1" dirty="0">
                <a:solidFill>
                  <a:srgbClr val="FF3399"/>
                </a:solidFill>
              </a:rPr>
              <a:t>2025-Sage</a:t>
            </a:r>
          </a:p>
          <a:p>
            <a:pPr lvl="1" eaLnBrk="1" hangingPunct="1">
              <a:lnSpc>
                <a:spcPct val="130000"/>
              </a:lnSpc>
              <a:buFont typeface="Wingdings" panose="05000000000000000000" pitchFamily="2" charset="2"/>
              <a:buNone/>
            </a:pPr>
            <a:r>
              <a:rPr lang="en-US" altLang="zh-CN" sz="2400" b="1" dirty="0"/>
              <a:t>           FROM  Student</a:t>
            </a:r>
            <a:endParaRPr lang="zh-CN" altLang="en-US" sz="2400" b="1" dirty="0"/>
          </a:p>
          <a:p>
            <a:pPr lvl="1" eaLnBrk="1" hangingPunct="1">
              <a:buFont typeface="Wingdings" panose="05000000000000000000" pitchFamily="2" charset="2"/>
              <a:buNone/>
            </a:pPr>
            <a:endParaRPr lang="zh-CN" alt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7027">
                                            <p:txEl>
                                              <p:pRg st="1" end="1"/>
                                            </p:txEl>
                                          </p:spTgt>
                                        </p:tgtEl>
                                        <p:attrNameLst>
                                          <p:attrName>style.visibility</p:attrName>
                                        </p:attrNameLst>
                                      </p:cBhvr>
                                      <p:to>
                                        <p:strVal val="visible"/>
                                      </p:to>
                                    </p:set>
                                    <p:animEffect transition="in" filter="blinds(horizontal)">
                                      <p:cBhvr>
                                        <p:cTn id="7" dur="500"/>
                                        <p:tgtEl>
                                          <p:spTgt spid="25702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57027">
                                            <p:txEl>
                                              <p:pRg st="2" end="2"/>
                                            </p:txEl>
                                          </p:spTgt>
                                        </p:tgtEl>
                                        <p:attrNameLst>
                                          <p:attrName>style.visibility</p:attrName>
                                        </p:attrNameLst>
                                      </p:cBhvr>
                                      <p:to>
                                        <p:strVal val="visible"/>
                                      </p:to>
                                    </p:set>
                                    <p:animEffect transition="in" filter="blinds(horizontal)">
                                      <p:cBhvr>
                                        <p:cTn id="10" dur="500"/>
                                        <p:tgtEl>
                                          <p:spTgt spid="257027">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57027">
                                            <p:txEl>
                                              <p:pRg st="3" end="3"/>
                                            </p:txEl>
                                          </p:spTgt>
                                        </p:tgtEl>
                                        <p:attrNameLst>
                                          <p:attrName>style.visibility</p:attrName>
                                        </p:attrNameLst>
                                      </p:cBhvr>
                                      <p:to>
                                        <p:strVal val="visible"/>
                                      </p:to>
                                    </p:set>
                                    <p:animEffect transition="in" filter="blinds(horizontal)">
                                      <p:cBhvr>
                                        <p:cTn id="13" dur="500"/>
                                        <p:tgtEl>
                                          <p:spTgt spid="257027">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57027">
                                            <p:txEl>
                                              <p:pRg st="4" end="4"/>
                                            </p:txEl>
                                          </p:spTgt>
                                        </p:tgtEl>
                                        <p:attrNameLst>
                                          <p:attrName>style.visibility</p:attrName>
                                        </p:attrNameLst>
                                      </p:cBhvr>
                                      <p:to>
                                        <p:strVal val="visible"/>
                                      </p:to>
                                    </p:set>
                                    <p:animEffect transition="in" filter="blinds(horizontal)">
                                      <p:cBhvr>
                                        <p:cTn id="16" dur="500"/>
                                        <p:tgtEl>
                                          <p:spTgt spid="257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pPr eaLnBrk="1" hangingPunct="1"/>
            <a:r>
              <a:rPr lang="zh-CN" altLang="en-US" b="1"/>
              <a:t>2. 删除视图</a:t>
            </a:r>
          </a:p>
        </p:txBody>
      </p:sp>
      <p:sp>
        <p:nvSpPr>
          <p:cNvPr id="188419" name="Rectangle 3"/>
          <p:cNvSpPr>
            <a:spLocks noGrp="1" noChangeArrowheads="1"/>
          </p:cNvSpPr>
          <p:nvPr>
            <p:ph type="body" idx="1"/>
          </p:nvPr>
        </p:nvSpPr>
        <p:spPr/>
        <p:txBody>
          <a:bodyPr/>
          <a:lstStyle/>
          <a:p>
            <a:pPr eaLnBrk="1" hangingPunct="1"/>
            <a:r>
              <a:rPr lang="en-US" altLang="zh-CN" b="1"/>
              <a:t>DROP  VIEW  &lt;</a:t>
            </a:r>
            <a:r>
              <a:rPr lang="zh-CN" altLang="en-US" b="1"/>
              <a:t>视图名&gt;；</a:t>
            </a:r>
          </a:p>
          <a:p>
            <a:pPr lvl="1" eaLnBrk="1" hangingPunct="1">
              <a:lnSpc>
                <a:spcPct val="130000"/>
              </a:lnSpc>
            </a:pPr>
            <a:r>
              <a:rPr lang="zh-CN" altLang="en-US" b="1"/>
              <a:t>该语句从数据字典中删除指定的视图定义</a:t>
            </a:r>
          </a:p>
          <a:p>
            <a:pPr lvl="1" eaLnBrk="1" hangingPunct="1">
              <a:lnSpc>
                <a:spcPct val="130000"/>
              </a:lnSpc>
            </a:pPr>
            <a:r>
              <a:rPr lang="zh-CN" altLang="en-US" b="1"/>
              <a:t>由该视图导出的其他视图定义仍在数据字典中，但已不能使用，必须显式删除</a:t>
            </a:r>
          </a:p>
          <a:p>
            <a:pPr lvl="1" eaLnBrk="1" hangingPunct="1">
              <a:lnSpc>
                <a:spcPct val="130000"/>
              </a:lnSpc>
            </a:pPr>
            <a:r>
              <a:rPr lang="zh-CN" altLang="en-US" b="1"/>
              <a:t>删除基表时，由该基表导出的所有视图定义都必须显式删除</a:t>
            </a:r>
          </a:p>
          <a:p>
            <a:pPr lvl="1" eaLnBrk="1" hangingPunct="1">
              <a:lnSpc>
                <a:spcPct val="130000"/>
              </a:lnSpc>
              <a:buFont typeface="Wingdings" panose="05000000000000000000" pitchFamily="2" charset="2"/>
              <a:buNone/>
            </a:pPr>
            <a:endParaRPr lang="zh-CN" altLang="en-US" b="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pPr eaLnBrk="1" hangingPunct="1"/>
            <a:r>
              <a:rPr lang="zh-CN" altLang="en-US" b="1"/>
              <a:t>删除视图(续）</a:t>
            </a:r>
          </a:p>
        </p:txBody>
      </p:sp>
      <p:sp>
        <p:nvSpPr>
          <p:cNvPr id="189443" name="Rectangle 3"/>
          <p:cNvSpPr>
            <a:spLocks noGrp="1" noChangeArrowheads="1"/>
          </p:cNvSpPr>
          <p:nvPr>
            <p:ph type="body" idx="1"/>
          </p:nvPr>
        </p:nvSpPr>
        <p:spPr/>
        <p:txBody>
          <a:bodyPr/>
          <a:lstStyle/>
          <a:p>
            <a:pPr lvl="4" algn="just" eaLnBrk="1" hangingPunct="1">
              <a:buFont typeface="Wingdings" panose="05000000000000000000" pitchFamily="2" charset="2"/>
              <a:buNone/>
            </a:pPr>
            <a:r>
              <a:rPr lang="zh-CN" altLang="en-US" sz="1800" b="1"/>
              <a:t>  		</a:t>
            </a:r>
          </a:p>
          <a:p>
            <a:pPr algn="just" eaLnBrk="1" hangingPunct="1">
              <a:buFont typeface="Wingdings" panose="05000000000000000000" pitchFamily="2" charset="2"/>
              <a:buNone/>
            </a:pPr>
            <a:r>
              <a:rPr lang="zh-CN" altLang="en-US" sz="2800" b="1"/>
              <a:t>  </a:t>
            </a:r>
            <a:r>
              <a:rPr lang="zh-CN" altLang="en-US" b="1"/>
              <a:t>[</a:t>
            </a:r>
            <a:r>
              <a:rPr lang="zh-CN" altLang="en-US" b="1">
                <a:ea typeface="黑体" panose="02010609060101010101" pitchFamily="49" charset="-122"/>
              </a:rPr>
              <a:t>例</a:t>
            </a:r>
            <a:r>
              <a:rPr lang="zh-CN" altLang="en-US" b="1"/>
              <a:t>9]  删除视图</a:t>
            </a:r>
            <a:r>
              <a:rPr lang="en-US" altLang="zh-CN" b="1"/>
              <a:t>IS_S1</a:t>
            </a:r>
          </a:p>
          <a:p>
            <a:pPr algn="just" eaLnBrk="1" hangingPunct="1">
              <a:buFont typeface="Wingdings" panose="05000000000000000000" pitchFamily="2" charset="2"/>
              <a:buNone/>
            </a:pPr>
            <a:r>
              <a:rPr lang="en-US" altLang="zh-CN" sz="2800" b="1"/>
              <a:t>     </a:t>
            </a:r>
          </a:p>
          <a:p>
            <a:pPr algn="just" eaLnBrk="1" hangingPunct="1">
              <a:buFont typeface="Wingdings" panose="05000000000000000000" pitchFamily="2" charset="2"/>
              <a:buNone/>
            </a:pPr>
            <a:r>
              <a:rPr lang="en-US" altLang="zh-CN" sz="2800" b="1"/>
              <a:t>   DROP VIEW IS_S1；</a:t>
            </a:r>
            <a:r>
              <a:rPr lang="en-US" altLang="zh-CN" b="1"/>
              <a:t> </a:t>
            </a:r>
          </a:p>
          <a:p>
            <a:pPr eaLnBrk="1" hangingPunct="1"/>
            <a:endParaRPr lang="zh-CN" altLang="en-US"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eaLnBrk="1" hangingPunct="1"/>
            <a:r>
              <a:rPr lang="zh-CN" altLang="en-US" b="1"/>
              <a:t>（二）、 查询视图</a:t>
            </a:r>
          </a:p>
        </p:txBody>
      </p:sp>
      <p:sp>
        <p:nvSpPr>
          <p:cNvPr id="260099" name="Rectangle 3"/>
          <p:cNvSpPr>
            <a:spLocks noGrp="1" noChangeArrowheads="1"/>
          </p:cNvSpPr>
          <p:nvPr>
            <p:ph type="body" idx="1"/>
          </p:nvPr>
        </p:nvSpPr>
        <p:spPr>
          <a:xfrm>
            <a:off x="914400" y="1828800"/>
            <a:ext cx="7772400" cy="4114800"/>
          </a:xfrm>
        </p:spPr>
        <p:txBody>
          <a:bodyPr/>
          <a:lstStyle/>
          <a:p>
            <a:pPr eaLnBrk="1" hangingPunct="1">
              <a:lnSpc>
                <a:spcPct val="130000"/>
              </a:lnSpc>
              <a:spcAft>
                <a:spcPct val="30000"/>
              </a:spcAft>
            </a:pPr>
            <a:r>
              <a:rPr lang="zh-CN" altLang="en-US" sz="2800" b="1"/>
              <a:t>从用户角度：查询视图与查询基本表相同</a:t>
            </a:r>
          </a:p>
          <a:p>
            <a:pPr eaLnBrk="1" hangingPunct="1">
              <a:lnSpc>
                <a:spcPct val="170000"/>
              </a:lnSpc>
            </a:pPr>
            <a:r>
              <a:rPr lang="zh-CN" altLang="en-US" sz="2800" b="1"/>
              <a:t>视图消解法（</a:t>
            </a:r>
            <a:r>
              <a:rPr lang="en-US" altLang="zh-CN" sz="2800" b="1"/>
              <a:t>View Resolution）</a:t>
            </a:r>
          </a:p>
          <a:p>
            <a:pPr lvl="1" eaLnBrk="1" hangingPunct="1">
              <a:lnSpc>
                <a:spcPct val="170000"/>
              </a:lnSpc>
            </a:pPr>
            <a:r>
              <a:rPr lang="zh-CN" altLang="en-US" sz="2400" b="1"/>
              <a:t>进行有效性检查，检查查询的表、视图等是否存在。如果存在，则从数据字典中取出视图的定义</a:t>
            </a:r>
          </a:p>
          <a:p>
            <a:pPr lvl="1" eaLnBrk="1" hangingPunct="1">
              <a:lnSpc>
                <a:spcPct val="170000"/>
              </a:lnSpc>
            </a:pPr>
            <a:r>
              <a:rPr lang="zh-CN" altLang="en-US" sz="2400" b="1"/>
              <a:t>把视图定义中的子查询与用户的查询结合起来，转换成等价的对基本表的查询</a:t>
            </a:r>
          </a:p>
          <a:p>
            <a:pPr lvl="1" eaLnBrk="1" hangingPunct="1">
              <a:lnSpc>
                <a:spcPct val="170000"/>
              </a:lnSpc>
            </a:pPr>
            <a:r>
              <a:rPr lang="zh-CN" altLang="en-US" sz="2400" b="1"/>
              <a:t>执行</a:t>
            </a:r>
            <a:r>
              <a:rPr lang="zh-CN" altLang="en-US" sz="2400" b="1">
                <a:solidFill>
                  <a:srgbClr val="D32DB7"/>
                </a:solidFill>
              </a:rPr>
              <a:t>修正</a:t>
            </a:r>
            <a:r>
              <a:rPr lang="zh-CN" altLang="en-US" sz="2400" b="1"/>
              <a:t>后的查询</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0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009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009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009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00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pPr eaLnBrk="1" hangingPunct="1"/>
            <a:r>
              <a:rPr lang="zh-CN" altLang="en-US" b="1"/>
              <a:t>查询视图（续）</a:t>
            </a:r>
          </a:p>
        </p:txBody>
      </p:sp>
      <p:sp>
        <p:nvSpPr>
          <p:cNvPr id="191491" name="Rectangle 3"/>
          <p:cNvSpPr>
            <a:spLocks noGrp="1" noChangeArrowheads="1"/>
          </p:cNvSpPr>
          <p:nvPr>
            <p:ph type="body" idx="1"/>
          </p:nvPr>
        </p:nvSpPr>
        <p:spPr/>
        <p:txBody>
          <a:bodyPr/>
          <a:lstStyle/>
          <a:p>
            <a:pPr lvl="1" eaLnBrk="1" hangingPunct="1">
              <a:lnSpc>
                <a:spcPct val="130000"/>
              </a:lnSpc>
            </a:pPr>
            <a:r>
              <a:rPr lang="zh-CN" altLang="en-US" sz="2400" b="1"/>
              <a:t>实体化视图（</a:t>
            </a:r>
            <a:r>
              <a:rPr lang="en-US" altLang="zh-CN" sz="2400" b="1"/>
              <a:t>View Materialization）</a:t>
            </a:r>
          </a:p>
          <a:p>
            <a:pPr lvl="2" eaLnBrk="1" hangingPunct="1">
              <a:lnSpc>
                <a:spcPct val="130000"/>
              </a:lnSpc>
            </a:pPr>
            <a:r>
              <a:rPr lang="zh-CN" altLang="en-US" b="1"/>
              <a:t>有效性检查：检查所查询的视图是否存在</a:t>
            </a:r>
          </a:p>
          <a:p>
            <a:pPr lvl="2" eaLnBrk="1" hangingPunct="1">
              <a:lnSpc>
                <a:spcPct val="130000"/>
              </a:lnSpc>
            </a:pPr>
            <a:r>
              <a:rPr lang="zh-CN" altLang="en-US" b="1"/>
              <a:t>执行视图定义，将视图临时实体化，生成临时表</a:t>
            </a:r>
          </a:p>
          <a:p>
            <a:pPr lvl="2" eaLnBrk="1" hangingPunct="1">
              <a:lnSpc>
                <a:spcPct val="130000"/>
              </a:lnSpc>
            </a:pPr>
            <a:r>
              <a:rPr lang="zh-CN" altLang="en-US" b="1"/>
              <a:t>查询视图转换为查询临时表</a:t>
            </a:r>
          </a:p>
          <a:p>
            <a:pPr lvl="2" eaLnBrk="1" hangingPunct="1">
              <a:lnSpc>
                <a:spcPct val="130000"/>
              </a:lnSpc>
            </a:pPr>
            <a:r>
              <a:rPr lang="zh-CN" altLang="en-US" b="1"/>
              <a:t>查询完毕删除被实体化的视图(临时表)</a:t>
            </a:r>
          </a:p>
        </p:txBody>
      </p:sp>
      <p:sp>
        <p:nvSpPr>
          <p:cNvPr id="191492" name="AutoShape 4"/>
          <p:cNvSpPr>
            <a:spLocks noChangeArrowheads="1"/>
          </p:cNvSpPr>
          <p:nvPr/>
        </p:nvSpPr>
        <p:spPr bwMode="auto">
          <a:xfrm>
            <a:off x="7848600" y="5257800"/>
            <a:ext cx="838200" cy="609600"/>
          </a:xfrm>
          <a:prstGeom prst="irregularSeal1">
            <a:avLst/>
          </a:prstGeom>
          <a:solidFill>
            <a:srgbClr val="FFFF00"/>
          </a:solidFill>
          <a:ln w="28575">
            <a:solidFill>
              <a:schemeClr val="tx1"/>
            </a:solidFill>
            <a:miter lim="800000"/>
          </a:ln>
        </p:spPr>
        <p:txBody>
          <a:bodyPr wrap="none" lIns="90000" tIns="46800" rIns="90000" bIns="46800" anchor="ctr"/>
          <a:lstStyle>
            <a:lvl1pPr eaLnBrk="0" hangingPunct="0">
              <a:defRPr kumimoji="1" sz="2400">
                <a:solidFill>
                  <a:schemeClr val="tx1"/>
                </a:solidFill>
                <a:latin typeface="Tahoma" panose="020B0604030504040204" pitchFamily="34" charset="0"/>
                <a:ea typeface="SimSun" panose="02010600030101010101" pitchFamily="2" charset="-122"/>
              </a:defRPr>
            </a:lvl1pPr>
            <a:lvl2pPr marL="742950" indent="-285750" eaLnBrk="0" hangingPunct="0">
              <a:defRPr kumimoji="1" sz="2400">
                <a:solidFill>
                  <a:schemeClr val="tx1"/>
                </a:solidFill>
                <a:latin typeface="Tahoma" panose="020B0604030504040204" pitchFamily="34" charset="0"/>
                <a:ea typeface="SimSun" panose="02010600030101010101" pitchFamily="2" charset="-122"/>
              </a:defRPr>
            </a:lvl2pPr>
            <a:lvl3pPr marL="1143000" indent="-228600" eaLnBrk="0" hangingPunct="0">
              <a:defRPr kumimoji="1" sz="2400">
                <a:solidFill>
                  <a:schemeClr val="tx1"/>
                </a:solidFill>
                <a:latin typeface="Tahoma" panose="020B0604030504040204" pitchFamily="34" charset="0"/>
                <a:ea typeface="SimSun" panose="02010600030101010101" pitchFamily="2" charset="-122"/>
              </a:defRPr>
            </a:lvl3pPr>
            <a:lvl4pPr marL="1600200" indent="-228600" eaLnBrk="0" hangingPunct="0">
              <a:defRPr kumimoji="1" sz="2400">
                <a:solidFill>
                  <a:schemeClr val="tx1"/>
                </a:solidFill>
                <a:latin typeface="Tahoma" panose="020B0604030504040204" pitchFamily="34" charset="0"/>
                <a:ea typeface="SimSun" panose="02010600030101010101" pitchFamily="2" charset="-122"/>
              </a:defRPr>
            </a:lvl4pPr>
            <a:lvl5pPr marL="2057400" indent="-228600" eaLnBrk="0" hangingPunct="0">
              <a:defRPr kumimoji="1" sz="2400">
                <a:solidFill>
                  <a:schemeClr val="tx1"/>
                </a:solidFill>
                <a:latin typeface="Tahoma" panose="020B0604030504040204" pitchFamily="34"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9pPr>
          </a:lstStyle>
          <a:p>
            <a:pPr algn="ctr" eaLnBrk="1" hangingPunct="1"/>
            <a:r>
              <a:rPr lang="en-US" altLang="zh-CN">
                <a:latin typeface="Times New Roman" panose="02020503050405090304" pitchFamily="18" charset="0"/>
              </a:rPr>
              <a:t>new</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pPr eaLnBrk="1" hangingPunct="1"/>
            <a:r>
              <a:rPr lang="zh-CN" altLang="en-US" b="1"/>
              <a:t>查询视图（续）</a:t>
            </a:r>
          </a:p>
        </p:txBody>
      </p:sp>
      <p:sp>
        <p:nvSpPr>
          <p:cNvPr id="262147"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zh-CN" altLang="en-US" sz="2800" b="1"/>
              <a:t>[例1]  </a:t>
            </a:r>
            <a:r>
              <a:rPr lang="zh-CN" altLang="en-US" sz="2400" b="1"/>
              <a:t>在信息系学生的视图中找出年龄小于20岁的学生。</a:t>
            </a:r>
          </a:p>
          <a:p>
            <a:pPr lvl="1" eaLnBrk="1" hangingPunct="1">
              <a:lnSpc>
                <a:spcPct val="90000"/>
              </a:lnSpc>
              <a:buFont typeface="Wingdings" panose="05000000000000000000" pitchFamily="2" charset="2"/>
              <a:buNone/>
            </a:pPr>
            <a:r>
              <a:rPr lang="zh-CN" altLang="en-US" sz="2400" b="1"/>
              <a:t>        </a:t>
            </a:r>
            <a:r>
              <a:rPr lang="en-US" altLang="zh-CN" sz="2400" b="1"/>
              <a:t>SELECT   Sno，Sage</a:t>
            </a:r>
          </a:p>
          <a:p>
            <a:pPr lvl="1" eaLnBrk="1" hangingPunct="1">
              <a:lnSpc>
                <a:spcPct val="90000"/>
              </a:lnSpc>
              <a:buFont typeface="Wingdings" panose="05000000000000000000" pitchFamily="2" charset="2"/>
              <a:buNone/>
            </a:pPr>
            <a:r>
              <a:rPr lang="en-US" altLang="zh-CN" sz="2400" b="1"/>
              <a:t>        FROM      IS_Student</a:t>
            </a:r>
          </a:p>
          <a:p>
            <a:pPr lvl="1" eaLnBrk="1" hangingPunct="1">
              <a:lnSpc>
                <a:spcPct val="90000"/>
              </a:lnSpc>
              <a:buFont typeface="Wingdings" panose="05000000000000000000" pitchFamily="2" charset="2"/>
              <a:buNone/>
            </a:pPr>
            <a:r>
              <a:rPr lang="en-US" altLang="zh-CN" sz="2400" b="1"/>
              <a:t>        WHERE   Sage&lt;20；</a:t>
            </a:r>
          </a:p>
          <a:p>
            <a:pPr lvl="1" eaLnBrk="1" hangingPunct="1">
              <a:lnSpc>
                <a:spcPct val="90000"/>
              </a:lnSpc>
              <a:buFont typeface="Wingdings" panose="05000000000000000000" pitchFamily="2" charset="2"/>
              <a:buNone/>
            </a:pPr>
            <a:r>
              <a:rPr lang="en-US" altLang="zh-CN" sz="2400" b="1"/>
              <a:t>IS_Student</a:t>
            </a:r>
            <a:r>
              <a:rPr lang="zh-CN" altLang="en-US" sz="2400" b="1"/>
              <a:t>视图的定义 (视图定义例1)：</a:t>
            </a:r>
          </a:p>
          <a:p>
            <a:pPr lvl="1" eaLnBrk="1" hangingPunct="1">
              <a:lnSpc>
                <a:spcPct val="90000"/>
              </a:lnSpc>
              <a:buFont typeface="Wingdings" panose="05000000000000000000" pitchFamily="2" charset="2"/>
              <a:buNone/>
            </a:pPr>
            <a:r>
              <a:rPr lang="zh-CN" altLang="en-US" sz="2400" b="1"/>
              <a:t>        </a:t>
            </a:r>
            <a:r>
              <a:rPr lang="en-US" altLang="zh-CN" sz="2400" b="1"/>
              <a:t>CREATE VIEW IS_Student</a:t>
            </a:r>
          </a:p>
          <a:p>
            <a:pPr lvl="1" eaLnBrk="1" hangingPunct="1">
              <a:lnSpc>
                <a:spcPct val="90000"/>
              </a:lnSpc>
              <a:buFont typeface="Wingdings" panose="05000000000000000000" pitchFamily="2" charset="2"/>
              <a:buNone/>
            </a:pPr>
            <a:r>
              <a:rPr lang="en-US" altLang="zh-CN" sz="2400" b="1"/>
              <a:t>               AS </a:t>
            </a:r>
          </a:p>
          <a:p>
            <a:pPr lvl="1" eaLnBrk="1" hangingPunct="1">
              <a:lnSpc>
                <a:spcPct val="90000"/>
              </a:lnSpc>
              <a:buFont typeface="Wingdings" panose="05000000000000000000" pitchFamily="2" charset="2"/>
              <a:buNone/>
            </a:pPr>
            <a:r>
              <a:rPr lang="en-US" altLang="zh-CN" sz="2400" b="1"/>
              <a:t>               SELECT Sno，Sname，Sage</a:t>
            </a:r>
          </a:p>
          <a:p>
            <a:pPr lvl="1" eaLnBrk="1" hangingPunct="1">
              <a:lnSpc>
                <a:spcPct val="90000"/>
              </a:lnSpc>
              <a:buFont typeface="Wingdings" panose="05000000000000000000" pitchFamily="2" charset="2"/>
              <a:buNone/>
            </a:pPr>
            <a:r>
              <a:rPr lang="en-US" altLang="zh-CN" sz="2400" b="1"/>
              <a:t>               FROM  Student</a:t>
            </a:r>
          </a:p>
          <a:p>
            <a:pPr lvl="1" eaLnBrk="1" hangingPunct="1">
              <a:lnSpc>
                <a:spcPct val="90000"/>
              </a:lnSpc>
              <a:buFont typeface="Wingdings" panose="05000000000000000000" pitchFamily="2" charset="2"/>
              <a:buNone/>
            </a:pPr>
            <a:r>
              <a:rPr lang="en-US" altLang="zh-CN" sz="2400" b="1"/>
              <a:t>               WHERE  Sdept= 'IS</a:t>
            </a:r>
            <a:r>
              <a:rPr lang="en-US" altLang="zh-CN" sz="2400" b="1">
                <a:latin typeface="Times New Roman" panose="02020503050405090304" pitchFamily="18" charset="0"/>
              </a:rPr>
              <a:t>‘</a:t>
            </a:r>
            <a:r>
              <a:rPr lang="en-US" altLang="zh-CN" sz="2400" b="1"/>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2147">
                                            <p:txEl>
                                              <p:pRg st="1" end="1"/>
                                            </p:txEl>
                                          </p:spTgt>
                                        </p:tgtEl>
                                        <p:attrNameLst>
                                          <p:attrName>style.visibility</p:attrName>
                                        </p:attrNameLst>
                                      </p:cBhvr>
                                      <p:to>
                                        <p:strVal val="visible"/>
                                      </p:to>
                                    </p:set>
                                    <p:animEffect transition="in" filter="blinds(horizontal)">
                                      <p:cBhvr>
                                        <p:cTn id="7" dur="500"/>
                                        <p:tgtEl>
                                          <p:spTgt spid="26214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62147">
                                            <p:txEl>
                                              <p:pRg st="2" end="2"/>
                                            </p:txEl>
                                          </p:spTgt>
                                        </p:tgtEl>
                                        <p:attrNameLst>
                                          <p:attrName>style.visibility</p:attrName>
                                        </p:attrNameLst>
                                      </p:cBhvr>
                                      <p:to>
                                        <p:strVal val="visible"/>
                                      </p:to>
                                    </p:set>
                                    <p:animEffect transition="in" filter="blinds(horizontal)">
                                      <p:cBhvr>
                                        <p:cTn id="10" dur="500"/>
                                        <p:tgtEl>
                                          <p:spTgt spid="262147">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62147">
                                            <p:txEl>
                                              <p:pRg st="3" end="3"/>
                                            </p:txEl>
                                          </p:spTgt>
                                        </p:tgtEl>
                                        <p:attrNameLst>
                                          <p:attrName>style.visibility</p:attrName>
                                        </p:attrNameLst>
                                      </p:cBhvr>
                                      <p:to>
                                        <p:strVal val="visible"/>
                                      </p:to>
                                    </p:set>
                                    <p:animEffect transition="in" filter="blinds(horizontal)">
                                      <p:cBhvr>
                                        <p:cTn id="13" dur="500"/>
                                        <p:tgtEl>
                                          <p:spTgt spid="2621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pPr eaLnBrk="1" hangingPunct="1"/>
            <a:r>
              <a:rPr lang="zh-CN" altLang="en-US" b="1"/>
              <a:t>查询视图（续）</a:t>
            </a:r>
          </a:p>
        </p:txBody>
      </p:sp>
      <p:sp>
        <p:nvSpPr>
          <p:cNvPr id="193539" name="Rectangle 3"/>
          <p:cNvSpPr>
            <a:spLocks noGrp="1" noChangeArrowheads="1"/>
          </p:cNvSpPr>
          <p:nvPr>
            <p:ph type="body" idx="1"/>
          </p:nvPr>
        </p:nvSpPr>
        <p:spPr/>
        <p:txBody>
          <a:bodyPr/>
          <a:lstStyle/>
          <a:p>
            <a:pPr lvl="1" eaLnBrk="1" hangingPunct="1">
              <a:lnSpc>
                <a:spcPct val="120000"/>
              </a:lnSpc>
              <a:buFont typeface="Wingdings" panose="05000000000000000000" pitchFamily="2" charset="2"/>
              <a:buNone/>
            </a:pPr>
            <a:r>
              <a:rPr lang="zh-CN" altLang="en-US" b="1"/>
              <a:t>转换后的查询语句为：</a:t>
            </a:r>
          </a:p>
          <a:p>
            <a:pPr lvl="1" eaLnBrk="1" hangingPunct="1">
              <a:lnSpc>
                <a:spcPct val="120000"/>
              </a:lnSpc>
              <a:buFont typeface="Wingdings" panose="05000000000000000000" pitchFamily="2" charset="2"/>
              <a:buNone/>
            </a:pPr>
            <a:r>
              <a:rPr lang="en-US" altLang="zh-CN" b="1"/>
              <a:t>SELECT  Sno，Sage       </a:t>
            </a:r>
          </a:p>
          <a:p>
            <a:pPr lvl="1" eaLnBrk="1" hangingPunct="1">
              <a:lnSpc>
                <a:spcPct val="120000"/>
              </a:lnSpc>
              <a:buFont typeface="Wingdings" panose="05000000000000000000" pitchFamily="2" charset="2"/>
              <a:buNone/>
            </a:pPr>
            <a:r>
              <a:rPr lang="en-US" altLang="zh-CN" b="1"/>
              <a:t>FROM  Student</a:t>
            </a:r>
          </a:p>
          <a:p>
            <a:pPr lvl="1" eaLnBrk="1" hangingPunct="1">
              <a:lnSpc>
                <a:spcPct val="120000"/>
              </a:lnSpc>
              <a:buFont typeface="Wingdings" panose="05000000000000000000" pitchFamily="2" charset="2"/>
              <a:buNone/>
            </a:pPr>
            <a:r>
              <a:rPr lang="en-US" altLang="zh-CN" b="1"/>
              <a:t>WHERE  Sdept= 'IS'  AND  Sage&lt;20；</a:t>
            </a:r>
          </a:p>
          <a:p>
            <a:pPr eaLnBrk="1" hangingPunct="1">
              <a:buFont typeface="Wingdings" panose="05000000000000000000" pitchFamily="2" charset="2"/>
              <a:buNone/>
            </a:pPr>
            <a:endParaRPr lang="zh-CN" altLang="en-US" b="1"/>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eaLnBrk="1" hangingPunct="1"/>
            <a:r>
              <a:rPr lang="zh-CN" altLang="en-US" b="1"/>
              <a:t>查询视图（续）</a:t>
            </a:r>
          </a:p>
        </p:txBody>
      </p:sp>
      <p:sp>
        <p:nvSpPr>
          <p:cNvPr id="264195"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b="1"/>
              <a:t>[例2]  查询信息系选修了1号课程的学生</a:t>
            </a:r>
          </a:p>
          <a:p>
            <a:pPr lvl="1" eaLnBrk="1" hangingPunct="1">
              <a:lnSpc>
                <a:spcPct val="140000"/>
              </a:lnSpc>
              <a:buFont typeface="Wingdings" panose="05000000000000000000" pitchFamily="2" charset="2"/>
              <a:buNone/>
            </a:pPr>
            <a:r>
              <a:rPr lang="en-US" altLang="zh-CN" b="1"/>
              <a:t>SELECT  Sno，Sname</a:t>
            </a:r>
          </a:p>
          <a:p>
            <a:pPr lvl="1" eaLnBrk="1" hangingPunct="1">
              <a:buFont typeface="Wingdings" panose="05000000000000000000" pitchFamily="2" charset="2"/>
              <a:buNone/>
            </a:pPr>
            <a:r>
              <a:rPr lang="en-US" altLang="zh-CN" b="1"/>
              <a:t>FROM     </a:t>
            </a:r>
            <a:r>
              <a:rPr lang="en-US" altLang="zh-CN" b="1">
                <a:solidFill>
                  <a:srgbClr val="D32DB7"/>
                </a:solidFill>
              </a:rPr>
              <a:t>IS_Student</a:t>
            </a:r>
            <a:r>
              <a:rPr lang="en-US" altLang="zh-CN" b="1"/>
              <a:t>，SC</a:t>
            </a:r>
          </a:p>
          <a:p>
            <a:pPr lvl="1" eaLnBrk="1" hangingPunct="1">
              <a:buFont typeface="Wingdings" panose="05000000000000000000" pitchFamily="2" charset="2"/>
              <a:buNone/>
            </a:pPr>
            <a:r>
              <a:rPr lang="en-US" altLang="zh-CN" b="1"/>
              <a:t>WHERE  IS_Student.Sno =SC.Sno AND</a:t>
            </a:r>
          </a:p>
          <a:p>
            <a:pPr lvl="1" eaLnBrk="1" hangingPunct="1">
              <a:buFont typeface="Wingdings" panose="05000000000000000000" pitchFamily="2" charset="2"/>
              <a:buNone/>
            </a:pPr>
            <a:r>
              <a:rPr lang="en-US" altLang="zh-CN" b="1"/>
              <a:t>                  SC.Cno= '1'；</a:t>
            </a:r>
          </a:p>
          <a:p>
            <a:pPr lvl="1" eaLnBrk="1" hangingPunct="1">
              <a:buFont typeface="Wingdings" panose="05000000000000000000" pitchFamily="2" charset="2"/>
              <a:buNone/>
            </a:pPr>
            <a:endParaRPr lang="en-US" altLang="zh-CN" b="1"/>
          </a:p>
          <a:p>
            <a:pPr lvl="1" eaLnBrk="1" hangingPunct="1">
              <a:buFont typeface="Wingdings" panose="05000000000000000000" pitchFamily="2" charset="2"/>
              <a:buNone/>
            </a:pPr>
            <a:endParaRPr lang="zh-CN" altLang="en-US" sz="4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64195">
                                            <p:txEl>
                                              <p:pRg st="1" end="1"/>
                                            </p:txEl>
                                          </p:spTgt>
                                        </p:tgtEl>
                                        <p:attrNameLst>
                                          <p:attrName>style.visibility</p:attrName>
                                        </p:attrNameLst>
                                      </p:cBhvr>
                                      <p:to>
                                        <p:strVal val="visible"/>
                                      </p:to>
                                    </p:set>
                                    <p:animEffect transition="in" filter="box(in)">
                                      <p:cBhvr>
                                        <p:cTn id="7" dur="500"/>
                                        <p:tgtEl>
                                          <p:spTgt spid="264195">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64195">
                                            <p:txEl>
                                              <p:pRg st="2" end="2"/>
                                            </p:txEl>
                                          </p:spTgt>
                                        </p:tgtEl>
                                        <p:attrNameLst>
                                          <p:attrName>style.visibility</p:attrName>
                                        </p:attrNameLst>
                                      </p:cBhvr>
                                      <p:to>
                                        <p:strVal val="visible"/>
                                      </p:to>
                                    </p:set>
                                    <p:animEffect transition="in" filter="box(in)">
                                      <p:cBhvr>
                                        <p:cTn id="10" dur="500"/>
                                        <p:tgtEl>
                                          <p:spTgt spid="264195">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64195">
                                            <p:txEl>
                                              <p:pRg st="3" end="3"/>
                                            </p:txEl>
                                          </p:spTgt>
                                        </p:tgtEl>
                                        <p:attrNameLst>
                                          <p:attrName>style.visibility</p:attrName>
                                        </p:attrNameLst>
                                      </p:cBhvr>
                                      <p:to>
                                        <p:strVal val="visible"/>
                                      </p:to>
                                    </p:set>
                                    <p:animEffect transition="in" filter="box(in)">
                                      <p:cBhvr>
                                        <p:cTn id="13" dur="500"/>
                                        <p:tgtEl>
                                          <p:spTgt spid="264195">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64195">
                                            <p:txEl>
                                              <p:pRg st="4" end="4"/>
                                            </p:txEl>
                                          </p:spTgt>
                                        </p:tgtEl>
                                        <p:attrNameLst>
                                          <p:attrName>style.visibility</p:attrName>
                                        </p:attrNameLst>
                                      </p:cBhvr>
                                      <p:to>
                                        <p:strVal val="visible"/>
                                      </p:to>
                                    </p:set>
                                    <p:animEffect transition="in" filter="box(in)">
                                      <p:cBhvr>
                                        <p:cTn id="16" dur="500"/>
                                        <p:tgtEl>
                                          <p:spTgt spid="2641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pPr eaLnBrk="1" hangingPunct="1"/>
            <a:r>
              <a:rPr lang="zh-CN" altLang="en-US" b="1"/>
              <a:t>查询视图（续）</a:t>
            </a:r>
          </a:p>
        </p:txBody>
      </p:sp>
      <p:sp>
        <p:nvSpPr>
          <p:cNvPr id="265219" name="Rectangle 3"/>
          <p:cNvSpPr>
            <a:spLocks noGrp="1" noChangeArrowheads="1"/>
          </p:cNvSpPr>
          <p:nvPr>
            <p:ph type="body" idx="1"/>
          </p:nvPr>
        </p:nvSpPr>
        <p:spPr>
          <a:xfrm>
            <a:off x="914400" y="1828800"/>
            <a:ext cx="7772400" cy="4114800"/>
          </a:xfrm>
        </p:spPr>
        <p:txBody>
          <a:bodyPr/>
          <a:lstStyle/>
          <a:p>
            <a:pPr eaLnBrk="1" hangingPunct="1">
              <a:lnSpc>
                <a:spcPct val="120000"/>
              </a:lnSpc>
              <a:buFont typeface="Wingdings" panose="05000000000000000000" pitchFamily="2" charset="2"/>
              <a:buNone/>
            </a:pPr>
            <a:r>
              <a:rPr lang="zh-CN" altLang="en-US" sz="2400" b="1">
                <a:latin typeface="SimSun" panose="02010600030101010101" pitchFamily="2" charset="-122"/>
              </a:rPr>
              <a:t>[例3]在</a:t>
            </a:r>
            <a:r>
              <a:rPr lang="en-US" altLang="zh-CN" sz="2400" b="1">
                <a:latin typeface="SimSun" panose="02010600030101010101" pitchFamily="2" charset="-122"/>
              </a:rPr>
              <a:t>S_G</a:t>
            </a:r>
            <a:r>
              <a:rPr lang="zh-CN" altLang="en-US" sz="2400" b="1">
                <a:latin typeface="SimSun" panose="02010600030101010101" pitchFamily="2" charset="-122"/>
              </a:rPr>
              <a:t>视图中查询平均成绩在90分以上的学生学号和平均成绩</a:t>
            </a:r>
          </a:p>
          <a:p>
            <a:pPr lvl="2" eaLnBrk="1" hangingPunct="1">
              <a:lnSpc>
                <a:spcPct val="90000"/>
              </a:lnSpc>
              <a:buFont typeface="Wingdings" panose="05000000000000000000" pitchFamily="2" charset="2"/>
              <a:buNone/>
            </a:pPr>
            <a:r>
              <a:rPr lang="en-US" altLang="zh-CN" sz="2800" b="1">
                <a:latin typeface="SimSun" panose="02010600030101010101" pitchFamily="2" charset="-122"/>
              </a:rPr>
              <a:t>SELECT *</a:t>
            </a:r>
          </a:p>
          <a:p>
            <a:pPr lvl="2" eaLnBrk="1" hangingPunct="1">
              <a:lnSpc>
                <a:spcPct val="90000"/>
              </a:lnSpc>
              <a:buFont typeface="Wingdings" panose="05000000000000000000" pitchFamily="2" charset="2"/>
              <a:buNone/>
            </a:pPr>
            <a:r>
              <a:rPr lang="en-US" altLang="zh-CN" sz="2800" b="1">
                <a:latin typeface="SimSun" panose="02010600030101010101" pitchFamily="2" charset="-122"/>
              </a:rPr>
              <a:t>FROM   </a:t>
            </a:r>
            <a:r>
              <a:rPr lang="en-US" altLang="zh-CN" sz="2800" b="1">
                <a:solidFill>
                  <a:srgbClr val="D32DB7"/>
                </a:solidFill>
                <a:latin typeface="SimSun" panose="02010600030101010101" pitchFamily="2" charset="-122"/>
              </a:rPr>
              <a:t>S_G</a:t>
            </a:r>
            <a:endParaRPr lang="en-US" altLang="zh-CN" sz="2800" b="1">
              <a:latin typeface="SimSun" panose="02010600030101010101" pitchFamily="2" charset="-122"/>
            </a:endParaRPr>
          </a:p>
          <a:p>
            <a:pPr lvl="2" eaLnBrk="1" hangingPunct="1">
              <a:lnSpc>
                <a:spcPct val="90000"/>
              </a:lnSpc>
              <a:buFont typeface="Wingdings" panose="05000000000000000000" pitchFamily="2" charset="2"/>
              <a:buNone/>
            </a:pPr>
            <a:r>
              <a:rPr lang="en-US" altLang="zh-CN" sz="2800" b="1">
                <a:latin typeface="SimSun" panose="02010600030101010101" pitchFamily="2" charset="-122"/>
              </a:rPr>
              <a:t>WHERE  Gavg&gt;=90；</a:t>
            </a:r>
          </a:p>
          <a:p>
            <a:pPr eaLnBrk="1" hangingPunct="1">
              <a:lnSpc>
                <a:spcPct val="90000"/>
              </a:lnSpc>
              <a:buFont typeface="Wingdings" panose="05000000000000000000" pitchFamily="2" charset="2"/>
              <a:buNone/>
            </a:pPr>
            <a:r>
              <a:rPr lang="en-US" altLang="zh-CN" sz="2400" b="1">
                <a:solidFill>
                  <a:srgbClr val="D32DB7"/>
                </a:solidFill>
              </a:rPr>
              <a:t>S_G</a:t>
            </a:r>
            <a:r>
              <a:rPr lang="zh-CN" altLang="en-US" sz="2400" b="1"/>
              <a:t>视图定义： </a:t>
            </a:r>
          </a:p>
          <a:p>
            <a:pPr eaLnBrk="1" hangingPunct="1">
              <a:lnSpc>
                <a:spcPct val="90000"/>
              </a:lnSpc>
              <a:buFont typeface="Wingdings" panose="05000000000000000000" pitchFamily="2" charset="2"/>
              <a:buNone/>
            </a:pPr>
            <a:r>
              <a:rPr lang="zh-CN" altLang="en-US" sz="2400" b="1"/>
              <a:t>       </a:t>
            </a:r>
            <a:r>
              <a:rPr lang="en-US" altLang="zh-CN" sz="2000" b="1"/>
              <a:t>CREATE VIEW S_G (Sno，Gavg)</a:t>
            </a:r>
          </a:p>
          <a:p>
            <a:pPr eaLnBrk="1" hangingPunct="1">
              <a:lnSpc>
                <a:spcPct val="90000"/>
              </a:lnSpc>
              <a:buFont typeface="Wingdings" panose="05000000000000000000" pitchFamily="2" charset="2"/>
              <a:buNone/>
            </a:pPr>
            <a:r>
              <a:rPr lang="en-US" altLang="zh-CN" sz="2000" b="1"/>
              <a:t>         AS </a:t>
            </a:r>
          </a:p>
          <a:p>
            <a:pPr lvl="2" eaLnBrk="1" hangingPunct="1">
              <a:lnSpc>
                <a:spcPct val="90000"/>
              </a:lnSpc>
              <a:buFont typeface="Wingdings" panose="05000000000000000000" pitchFamily="2" charset="2"/>
              <a:buNone/>
            </a:pPr>
            <a:r>
              <a:rPr lang="en-US" altLang="zh-CN" sz="2000" b="1">
                <a:solidFill>
                  <a:srgbClr val="D32DB7"/>
                </a:solidFill>
              </a:rPr>
              <a:t>SELECT  Sno，AVG(Grade)</a:t>
            </a:r>
          </a:p>
          <a:p>
            <a:pPr lvl="2" eaLnBrk="1" hangingPunct="1">
              <a:lnSpc>
                <a:spcPct val="90000"/>
              </a:lnSpc>
              <a:buFont typeface="Wingdings" panose="05000000000000000000" pitchFamily="2" charset="2"/>
              <a:buNone/>
            </a:pPr>
            <a:r>
              <a:rPr lang="en-US" altLang="zh-CN" sz="2000" b="1">
                <a:solidFill>
                  <a:srgbClr val="D32DB7"/>
                </a:solidFill>
              </a:rPr>
              <a:t>FROM  SC</a:t>
            </a:r>
          </a:p>
          <a:p>
            <a:pPr lvl="2" eaLnBrk="1" hangingPunct="1">
              <a:lnSpc>
                <a:spcPct val="90000"/>
              </a:lnSpc>
              <a:buFont typeface="Wingdings" panose="05000000000000000000" pitchFamily="2" charset="2"/>
              <a:buNone/>
            </a:pPr>
            <a:r>
              <a:rPr lang="en-US" altLang="zh-CN" sz="2000" b="1">
                <a:solidFill>
                  <a:srgbClr val="D32DB7"/>
                </a:solidFill>
              </a:rPr>
              <a:t>GROUP BY Sno；</a:t>
            </a:r>
            <a:endParaRPr lang="zh-CN" altLang="en-US" b="1">
              <a:latin typeface="SimSu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5219">
                                            <p:txEl>
                                              <p:pRg st="4" end="4"/>
                                            </p:txEl>
                                          </p:spTgt>
                                        </p:tgtEl>
                                        <p:attrNameLst>
                                          <p:attrName>style.visibility</p:attrName>
                                        </p:attrNameLst>
                                      </p:cBhvr>
                                      <p:to>
                                        <p:strVal val="visible"/>
                                      </p:to>
                                    </p:set>
                                    <p:animEffect transition="in" filter="blinds(horizontal)">
                                      <p:cBhvr>
                                        <p:cTn id="7" dur="500"/>
                                        <p:tgtEl>
                                          <p:spTgt spid="265219">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65219">
                                            <p:txEl>
                                              <p:pRg st="5" end="5"/>
                                            </p:txEl>
                                          </p:spTgt>
                                        </p:tgtEl>
                                        <p:attrNameLst>
                                          <p:attrName>style.visibility</p:attrName>
                                        </p:attrNameLst>
                                      </p:cBhvr>
                                      <p:to>
                                        <p:strVal val="visible"/>
                                      </p:to>
                                    </p:set>
                                    <p:animEffect transition="in" filter="blinds(horizontal)">
                                      <p:cBhvr>
                                        <p:cTn id="10" dur="500"/>
                                        <p:tgtEl>
                                          <p:spTgt spid="265219">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65219">
                                            <p:txEl>
                                              <p:pRg st="6" end="6"/>
                                            </p:txEl>
                                          </p:spTgt>
                                        </p:tgtEl>
                                        <p:attrNameLst>
                                          <p:attrName>style.visibility</p:attrName>
                                        </p:attrNameLst>
                                      </p:cBhvr>
                                      <p:to>
                                        <p:strVal val="visible"/>
                                      </p:to>
                                    </p:set>
                                    <p:animEffect transition="in" filter="blinds(horizontal)">
                                      <p:cBhvr>
                                        <p:cTn id="13" dur="500"/>
                                        <p:tgtEl>
                                          <p:spTgt spid="265219">
                                            <p:txEl>
                                              <p:pRg st="6" end="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65219">
                                            <p:txEl>
                                              <p:pRg st="7" end="7"/>
                                            </p:txEl>
                                          </p:spTgt>
                                        </p:tgtEl>
                                        <p:attrNameLst>
                                          <p:attrName>style.visibility</p:attrName>
                                        </p:attrNameLst>
                                      </p:cBhvr>
                                      <p:to>
                                        <p:strVal val="visible"/>
                                      </p:to>
                                    </p:set>
                                    <p:animEffect transition="in" filter="blinds(horizontal)">
                                      <p:cBhvr>
                                        <p:cTn id="16" dur="500"/>
                                        <p:tgtEl>
                                          <p:spTgt spid="265219">
                                            <p:txEl>
                                              <p:pRg st="7" end="7"/>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65219">
                                            <p:txEl>
                                              <p:pRg st="8" end="8"/>
                                            </p:txEl>
                                          </p:spTgt>
                                        </p:tgtEl>
                                        <p:attrNameLst>
                                          <p:attrName>style.visibility</p:attrName>
                                        </p:attrNameLst>
                                      </p:cBhvr>
                                      <p:to>
                                        <p:strVal val="visible"/>
                                      </p:to>
                                    </p:set>
                                    <p:animEffect transition="in" filter="blinds(horizontal)">
                                      <p:cBhvr>
                                        <p:cTn id="19" dur="500"/>
                                        <p:tgtEl>
                                          <p:spTgt spid="265219">
                                            <p:txEl>
                                              <p:pRg st="8" end="8"/>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265219">
                                            <p:txEl>
                                              <p:pRg st="9" end="9"/>
                                            </p:txEl>
                                          </p:spTgt>
                                        </p:tgtEl>
                                        <p:attrNameLst>
                                          <p:attrName>style.visibility</p:attrName>
                                        </p:attrNameLst>
                                      </p:cBhvr>
                                      <p:to>
                                        <p:strVal val="visible"/>
                                      </p:to>
                                    </p:set>
                                    <p:animEffect transition="in" filter="blinds(horizontal)">
                                      <p:cBhvr>
                                        <p:cTn id="22" dur="500"/>
                                        <p:tgtEl>
                                          <p:spTgt spid="265219">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65219">
                                            <p:txEl>
                                              <p:pRg st="1" end="1"/>
                                            </p:txEl>
                                          </p:spTgt>
                                        </p:tgtEl>
                                        <p:attrNameLst>
                                          <p:attrName>style.visibility</p:attrName>
                                        </p:attrNameLst>
                                      </p:cBhvr>
                                      <p:to>
                                        <p:strVal val="visible"/>
                                      </p:to>
                                    </p:set>
                                    <p:animEffect transition="in" filter="blinds(horizontal)">
                                      <p:cBhvr>
                                        <p:cTn id="27" dur="500"/>
                                        <p:tgtEl>
                                          <p:spTgt spid="265219">
                                            <p:txEl>
                                              <p:pRg st="1" end="1"/>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265219">
                                            <p:txEl>
                                              <p:pRg st="2" end="2"/>
                                            </p:txEl>
                                          </p:spTgt>
                                        </p:tgtEl>
                                        <p:attrNameLst>
                                          <p:attrName>style.visibility</p:attrName>
                                        </p:attrNameLst>
                                      </p:cBhvr>
                                      <p:to>
                                        <p:strVal val="visible"/>
                                      </p:to>
                                    </p:set>
                                    <p:animEffect transition="in" filter="blinds(horizontal)">
                                      <p:cBhvr>
                                        <p:cTn id="30" dur="500"/>
                                        <p:tgtEl>
                                          <p:spTgt spid="265219">
                                            <p:txEl>
                                              <p:pRg st="2" end="2"/>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265219">
                                            <p:txEl>
                                              <p:pRg st="3" end="3"/>
                                            </p:txEl>
                                          </p:spTgt>
                                        </p:tgtEl>
                                        <p:attrNameLst>
                                          <p:attrName>style.visibility</p:attrName>
                                        </p:attrNameLst>
                                      </p:cBhvr>
                                      <p:to>
                                        <p:strVal val="visible"/>
                                      </p:to>
                                    </p:set>
                                    <p:animEffect transition="in" filter="blinds(horizontal)">
                                      <p:cBhvr>
                                        <p:cTn id="33" dur="500"/>
                                        <p:tgtEl>
                                          <p:spTgt spid="265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pPr eaLnBrk="1" hangingPunct="1"/>
            <a:r>
              <a:rPr lang="zh-CN" altLang="en-US" b="1"/>
              <a:t>查询转换</a:t>
            </a:r>
          </a:p>
        </p:txBody>
      </p:sp>
      <p:sp>
        <p:nvSpPr>
          <p:cNvPr id="266243" name="Rectangle 3"/>
          <p:cNvSpPr>
            <a:spLocks noGrp="1" noChangeArrowheads="1"/>
          </p:cNvSpPr>
          <p:nvPr>
            <p:ph type="body" sz="half" idx="1"/>
          </p:nvPr>
        </p:nvSpPr>
        <p:spPr>
          <a:xfrm>
            <a:off x="838200" y="2017713"/>
            <a:ext cx="5446713" cy="2249487"/>
          </a:xfrm>
        </p:spPr>
        <p:txBody>
          <a:bodyPr/>
          <a:lstStyle/>
          <a:p>
            <a:pPr lvl="1" eaLnBrk="1" hangingPunct="1">
              <a:buFont typeface="Wingdings" panose="05000000000000000000" pitchFamily="2" charset="2"/>
              <a:buNone/>
            </a:pPr>
            <a:r>
              <a:rPr lang="en-US" altLang="zh-CN" b="1"/>
              <a:t>SELECT Sno，AVG(Grade)</a:t>
            </a:r>
          </a:p>
          <a:p>
            <a:pPr lvl="1" eaLnBrk="1" hangingPunct="1">
              <a:buFont typeface="Wingdings" panose="05000000000000000000" pitchFamily="2" charset="2"/>
              <a:buNone/>
            </a:pPr>
            <a:r>
              <a:rPr lang="en-US" altLang="zh-CN" b="1"/>
              <a:t>FROM     SC</a:t>
            </a:r>
          </a:p>
          <a:p>
            <a:pPr lvl="1" eaLnBrk="1" hangingPunct="1">
              <a:buFont typeface="Wingdings" panose="05000000000000000000" pitchFamily="2" charset="2"/>
              <a:buNone/>
            </a:pPr>
            <a:r>
              <a:rPr lang="en-US" altLang="zh-CN" b="1"/>
              <a:t>WHERE  </a:t>
            </a:r>
            <a:r>
              <a:rPr lang="en-US" altLang="zh-CN" b="1">
                <a:solidFill>
                  <a:srgbClr val="D32DB7"/>
                </a:solidFill>
              </a:rPr>
              <a:t>AVG(Grade)&gt;=90</a:t>
            </a:r>
          </a:p>
          <a:p>
            <a:pPr lvl="1" eaLnBrk="1" hangingPunct="1">
              <a:buFont typeface="Wingdings" panose="05000000000000000000" pitchFamily="2" charset="2"/>
              <a:buNone/>
            </a:pPr>
            <a:r>
              <a:rPr lang="en-US" altLang="zh-CN" b="1"/>
              <a:t>GROUP BY Sno；</a:t>
            </a:r>
            <a:endParaRPr lang="zh-CN" altLang="en-US" b="1"/>
          </a:p>
        </p:txBody>
      </p:sp>
      <p:sp>
        <p:nvSpPr>
          <p:cNvPr id="266244" name="Rectangle 4"/>
          <p:cNvSpPr>
            <a:spLocks noGrp="1" noChangeArrowheads="1"/>
          </p:cNvSpPr>
          <p:nvPr>
            <p:ph type="body" sz="half" idx="2"/>
          </p:nvPr>
        </p:nvSpPr>
        <p:spPr>
          <a:xfrm>
            <a:off x="838200" y="4191000"/>
            <a:ext cx="4876800" cy="4114800"/>
          </a:xfrm>
        </p:spPr>
        <p:txBody>
          <a:bodyPr/>
          <a:lstStyle/>
          <a:p>
            <a:pPr lvl="1" eaLnBrk="1" hangingPunct="1">
              <a:buFont typeface="Wingdings" panose="05000000000000000000" pitchFamily="2" charset="2"/>
              <a:buNone/>
            </a:pPr>
            <a:r>
              <a:rPr lang="en-US" altLang="zh-CN" b="1"/>
              <a:t>SELECT  Sno，AVG(Grade)</a:t>
            </a:r>
          </a:p>
          <a:p>
            <a:pPr lvl="1" eaLnBrk="1" hangingPunct="1">
              <a:buFont typeface="Wingdings" panose="05000000000000000000" pitchFamily="2" charset="2"/>
              <a:buNone/>
            </a:pPr>
            <a:r>
              <a:rPr lang="en-US" altLang="zh-CN" b="1"/>
              <a:t>FROM  SC</a:t>
            </a:r>
          </a:p>
          <a:p>
            <a:pPr lvl="1" eaLnBrk="1" hangingPunct="1">
              <a:buFont typeface="Wingdings" panose="05000000000000000000" pitchFamily="2" charset="2"/>
              <a:buNone/>
            </a:pPr>
            <a:r>
              <a:rPr lang="en-US" altLang="zh-CN" b="1"/>
              <a:t>GROUP BY Sno</a:t>
            </a:r>
          </a:p>
          <a:p>
            <a:pPr lvl="1" eaLnBrk="1" hangingPunct="1">
              <a:buFont typeface="Wingdings" panose="05000000000000000000" pitchFamily="2" charset="2"/>
              <a:buNone/>
            </a:pPr>
            <a:r>
              <a:rPr lang="en-US" altLang="zh-CN" b="1">
                <a:solidFill>
                  <a:srgbClr val="D32DB7"/>
                </a:solidFill>
              </a:rPr>
              <a:t>HAVING AVG(Grade)&gt;=90；</a:t>
            </a:r>
            <a:endParaRPr lang="zh-CN" altLang="en-US"/>
          </a:p>
        </p:txBody>
      </p:sp>
      <p:grpSp>
        <p:nvGrpSpPr>
          <p:cNvPr id="2" name="Group 5"/>
          <p:cNvGrpSpPr/>
          <p:nvPr/>
        </p:nvGrpSpPr>
        <p:grpSpPr bwMode="auto">
          <a:xfrm>
            <a:off x="6019800" y="2590800"/>
            <a:ext cx="990600" cy="533400"/>
            <a:chOff x="2928" y="2352"/>
            <a:chExt cx="624" cy="336"/>
          </a:xfrm>
        </p:grpSpPr>
        <p:sp>
          <p:nvSpPr>
            <p:cNvPr id="196617" name="Line 6"/>
            <p:cNvSpPr>
              <a:spLocks noChangeShapeType="1"/>
            </p:cNvSpPr>
            <p:nvPr/>
          </p:nvSpPr>
          <p:spPr bwMode="auto">
            <a:xfrm flipH="1">
              <a:off x="2928" y="2352"/>
              <a:ext cx="624" cy="336"/>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96618" name="Line 7"/>
            <p:cNvSpPr>
              <a:spLocks noChangeShapeType="1"/>
            </p:cNvSpPr>
            <p:nvPr/>
          </p:nvSpPr>
          <p:spPr bwMode="auto">
            <a:xfrm>
              <a:off x="2928" y="2352"/>
              <a:ext cx="624" cy="336"/>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3" name="Group 8"/>
          <p:cNvGrpSpPr/>
          <p:nvPr/>
        </p:nvGrpSpPr>
        <p:grpSpPr bwMode="auto">
          <a:xfrm>
            <a:off x="6096000" y="4724400"/>
            <a:ext cx="1309688" cy="533400"/>
            <a:chOff x="3840" y="2976"/>
            <a:chExt cx="825" cy="336"/>
          </a:xfrm>
        </p:grpSpPr>
        <p:sp>
          <p:nvSpPr>
            <p:cNvPr id="196615" name="Line 9"/>
            <p:cNvSpPr>
              <a:spLocks noChangeShapeType="1"/>
            </p:cNvSpPr>
            <p:nvPr/>
          </p:nvSpPr>
          <p:spPr bwMode="auto">
            <a:xfrm flipH="1">
              <a:off x="4041" y="2976"/>
              <a:ext cx="624" cy="336"/>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96616" name="Line 10"/>
            <p:cNvSpPr>
              <a:spLocks noChangeShapeType="1"/>
            </p:cNvSpPr>
            <p:nvPr/>
          </p:nvSpPr>
          <p:spPr bwMode="auto">
            <a:xfrm>
              <a:off x="3840" y="3120"/>
              <a:ext cx="240" cy="192"/>
            </a:xfrm>
            <a:prstGeom prst="line">
              <a:avLst/>
            </a:prstGeom>
            <a:noFill/>
            <a:ln w="57150">
              <a:solidFill>
                <a:schemeClr val="hlink"/>
              </a:solidFill>
              <a:miter lim="800000"/>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6243">
                                            <p:txEl>
                                              <p:pRg st="0" end="0"/>
                                            </p:txEl>
                                          </p:spTgt>
                                        </p:tgtEl>
                                        <p:attrNameLst>
                                          <p:attrName>style.visibility</p:attrName>
                                        </p:attrNameLst>
                                      </p:cBhvr>
                                      <p:to>
                                        <p:strVal val="visible"/>
                                      </p:to>
                                    </p:set>
                                    <p:anim calcmode="lin" valueType="num">
                                      <p:cBhvr additive="base">
                                        <p:cTn id="7" dur="500" fill="hold"/>
                                        <p:tgtEl>
                                          <p:spTgt spid="2662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662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66243">
                                            <p:txEl>
                                              <p:pRg st="1" end="1"/>
                                            </p:txEl>
                                          </p:spTgt>
                                        </p:tgtEl>
                                        <p:attrNameLst>
                                          <p:attrName>style.visibility</p:attrName>
                                        </p:attrNameLst>
                                      </p:cBhvr>
                                      <p:to>
                                        <p:strVal val="visible"/>
                                      </p:to>
                                    </p:set>
                                    <p:anim calcmode="lin" valueType="num">
                                      <p:cBhvr additive="base">
                                        <p:cTn id="11" dur="500" fill="hold"/>
                                        <p:tgtEl>
                                          <p:spTgt spid="26624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662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66243">
                                            <p:txEl>
                                              <p:pRg st="2" end="2"/>
                                            </p:txEl>
                                          </p:spTgt>
                                        </p:tgtEl>
                                        <p:attrNameLst>
                                          <p:attrName>style.visibility</p:attrName>
                                        </p:attrNameLst>
                                      </p:cBhvr>
                                      <p:to>
                                        <p:strVal val="visible"/>
                                      </p:to>
                                    </p:set>
                                    <p:anim calcmode="lin" valueType="num">
                                      <p:cBhvr additive="base">
                                        <p:cTn id="15" dur="500" fill="hold"/>
                                        <p:tgtEl>
                                          <p:spTgt spid="266243">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26624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66243">
                                            <p:txEl>
                                              <p:pRg st="3" end="3"/>
                                            </p:txEl>
                                          </p:spTgt>
                                        </p:tgtEl>
                                        <p:attrNameLst>
                                          <p:attrName>style.visibility</p:attrName>
                                        </p:attrNameLst>
                                      </p:cBhvr>
                                      <p:to>
                                        <p:strVal val="visible"/>
                                      </p:to>
                                    </p:set>
                                    <p:anim calcmode="lin" valueType="num">
                                      <p:cBhvr additive="base">
                                        <p:cTn id="19" dur="500" fill="hold"/>
                                        <p:tgtEl>
                                          <p:spTgt spid="2662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662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266244">
                                            <p:txEl>
                                              <p:pRg st="0" end="0"/>
                                            </p:txEl>
                                          </p:spTgt>
                                        </p:tgtEl>
                                        <p:attrNameLst>
                                          <p:attrName>style.visibility</p:attrName>
                                        </p:attrNameLst>
                                      </p:cBhvr>
                                      <p:to>
                                        <p:strVal val="visible"/>
                                      </p:to>
                                    </p:set>
                                    <p:anim calcmode="lin" valueType="num">
                                      <p:cBhvr additive="base">
                                        <p:cTn id="29" dur="500" fill="hold"/>
                                        <p:tgtEl>
                                          <p:spTgt spid="266244">
                                            <p:txEl>
                                              <p:pRg st="0" end="0"/>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66244">
                                            <p:txEl>
                                              <p:pRg st="0" end="0"/>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266244">
                                            <p:txEl>
                                              <p:pRg st="1" end="1"/>
                                            </p:txEl>
                                          </p:spTgt>
                                        </p:tgtEl>
                                        <p:attrNameLst>
                                          <p:attrName>style.visibility</p:attrName>
                                        </p:attrNameLst>
                                      </p:cBhvr>
                                      <p:to>
                                        <p:strVal val="visible"/>
                                      </p:to>
                                    </p:set>
                                    <p:anim calcmode="lin" valueType="num">
                                      <p:cBhvr additive="base">
                                        <p:cTn id="33" dur="500" fill="hold"/>
                                        <p:tgtEl>
                                          <p:spTgt spid="266244">
                                            <p:txEl>
                                              <p:pRg st="1" end="1"/>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266244">
                                            <p:txEl>
                                              <p:pRg st="1" end="1"/>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266244">
                                            <p:txEl>
                                              <p:pRg st="2" end="2"/>
                                            </p:txEl>
                                          </p:spTgt>
                                        </p:tgtEl>
                                        <p:attrNameLst>
                                          <p:attrName>style.visibility</p:attrName>
                                        </p:attrNameLst>
                                      </p:cBhvr>
                                      <p:to>
                                        <p:strVal val="visible"/>
                                      </p:to>
                                    </p:set>
                                    <p:anim calcmode="lin" valueType="num">
                                      <p:cBhvr additive="base">
                                        <p:cTn id="37" dur="500" fill="hold"/>
                                        <p:tgtEl>
                                          <p:spTgt spid="266244">
                                            <p:txEl>
                                              <p:pRg st="2" end="2"/>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66244">
                                            <p:txEl>
                                              <p:pRg st="2" end="2"/>
                                            </p:txEl>
                                          </p:spTgt>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266244">
                                            <p:txEl>
                                              <p:pRg st="3" end="3"/>
                                            </p:txEl>
                                          </p:spTgt>
                                        </p:tgtEl>
                                        <p:attrNameLst>
                                          <p:attrName>style.visibility</p:attrName>
                                        </p:attrNameLst>
                                      </p:cBhvr>
                                      <p:to>
                                        <p:strVal val="visible"/>
                                      </p:to>
                                    </p:set>
                                    <p:anim calcmode="lin" valueType="num">
                                      <p:cBhvr additive="base">
                                        <p:cTn id="41" dur="500" fill="hold"/>
                                        <p:tgtEl>
                                          <p:spTgt spid="266244">
                                            <p:txEl>
                                              <p:pRg st="3" end="3"/>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26624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3" grpId="0" build="p" autoUpdateAnimBg="0"/>
      <p:bldP spid="266244"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pPr eaLnBrk="1" hangingPunct="1"/>
            <a:r>
              <a:rPr lang="zh-CN" altLang="en-US" b="1"/>
              <a:t>（三）、更新视图</a:t>
            </a:r>
          </a:p>
        </p:txBody>
      </p:sp>
      <p:sp>
        <p:nvSpPr>
          <p:cNvPr id="197635" name="Rectangle 3"/>
          <p:cNvSpPr>
            <a:spLocks noGrp="1" noChangeArrowheads="1"/>
          </p:cNvSpPr>
          <p:nvPr>
            <p:ph type="body" idx="1"/>
          </p:nvPr>
        </p:nvSpPr>
        <p:spPr>
          <a:xfrm>
            <a:off x="914400" y="2057400"/>
            <a:ext cx="7772400" cy="4114800"/>
          </a:xfrm>
        </p:spPr>
        <p:txBody>
          <a:bodyPr/>
          <a:lstStyle/>
          <a:p>
            <a:pPr eaLnBrk="1" hangingPunct="1">
              <a:lnSpc>
                <a:spcPct val="140000"/>
              </a:lnSpc>
            </a:pPr>
            <a:r>
              <a:rPr lang="en-US" altLang="zh-CN" sz="2800" b="1"/>
              <a:t>DBMS</a:t>
            </a:r>
            <a:r>
              <a:rPr lang="zh-CN" altLang="en-US" sz="2800" b="1"/>
              <a:t>实现视图更新的方法</a:t>
            </a:r>
          </a:p>
          <a:p>
            <a:pPr lvl="1" eaLnBrk="1" hangingPunct="1">
              <a:lnSpc>
                <a:spcPct val="140000"/>
              </a:lnSpc>
            </a:pPr>
            <a:r>
              <a:rPr lang="zh-CN" altLang="en-US" sz="2400" b="1"/>
              <a:t>视图实体化法（</a:t>
            </a:r>
            <a:r>
              <a:rPr lang="en-US" altLang="zh-CN" sz="2400" b="1"/>
              <a:t>View Materialization）</a:t>
            </a:r>
          </a:p>
          <a:p>
            <a:pPr lvl="1" eaLnBrk="1" hangingPunct="1">
              <a:lnSpc>
                <a:spcPct val="140000"/>
              </a:lnSpc>
            </a:pPr>
            <a:r>
              <a:rPr lang="zh-CN" altLang="en-US" sz="2400" b="1"/>
              <a:t>视图消解法（</a:t>
            </a:r>
            <a:r>
              <a:rPr lang="en-US" altLang="zh-CN" sz="2400" b="1"/>
              <a:t>View Resolution）</a:t>
            </a:r>
          </a:p>
          <a:p>
            <a:pPr eaLnBrk="1" hangingPunct="1">
              <a:lnSpc>
                <a:spcPct val="140000"/>
              </a:lnSpc>
            </a:pPr>
            <a:r>
              <a:rPr lang="zh-CN" altLang="en-US" sz="2800" b="1"/>
              <a:t>指定</a:t>
            </a:r>
            <a:r>
              <a:rPr lang="en-US" altLang="zh-CN" sz="2800" b="1"/>
              <a:t>WITH CHECK OPTION</a:t>
            </a:r>
            <a:r>
              <a:rPr lang="zh-CN" altLang="en-US" sz="2800" b="1"/>
              <a:t>子句</a:t>
            </a:r>
          </a:p>
          <a:p>
            <a:pPr eaLnBrk="1" hangingPunct="1">
              <a:lnSpc>
                <a:spcPct val="180000"/>
              </a:lnSpc>
              <a:buFont typeface="Wingdings" panose="05000000000000000000" pitchFamily="2" charset="2"/>
              <a:buNone/>
            </a:pPr>
            <a:r>
              <a:rPr lang="zh-CN" altLang="en-US" sz="2800" b="1"/>
              <a:t>    </a:t>
            </a:r>
            <a:r>
              <a:rPr lang="en-US" altLang="zh-CN" sz="2400" b="1"/>
              <a:t>DBMS</a:t>
            </a:r>
            <a:r>
              <a:rPr lang="zh-CN" altLang="en-US" sz="2400" b="1"/>
              <a:t>在更新视图时会进行检查，防止用户通过视图对</a:t>
            </a:r>
            <a:r>
              <a:rPr lang="zh-CN" altLang="en-US" sz="2400" b="1">
                <a:solidFill>
                  <a:srgbClr val="D32DB7"/>
                </a:solidFill>
              </a:rPr>
              <a:t>不属于视图范围内</a:t>
            </a:r>
            <a:r>
              <a:rPr lang="zh-CN" altLang="en-US" sz="2400" b="1"/>
              <a:t>的基本表数据进行更新</a:t>
            </a:r>
          </a:p>
          <a:p>
            <a:pPr eaLnBrk="1" hangingPunct="1">
              <a:lnSpc>
                <a:spcPct val="140000"/>
              </a:lnSpc>
            </a:pPr>
            <a:endParaRPr lang="zh-CN" altLang="en-US" b="1"/>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eaLnBrk="1" hangingPunct="1"/>
            <a:r>
              <a:rPr lang="zh-CN" altLang="en-US" b="1"/>
              <a:t>更新视图（续）</a:t>
            </a:r>
          </a:p>
        </p:txBody>
      </p:sp>
      <p:sp>
        <p:nvSpPr>
          <p:cNvPr id="268291" name="Rectangle 3"/>
          <p:cNvSpPr>
            <a:spLocks noGrp="1" noChangeArrowheads="1"/>
          </p:cNvSpPr>
          <p:nvPr>
            <p:ph type="body" idx="1"/>
          </p:nvPr>
        </p:nvSpPr>
        <p:spPr>
          <a:xfrm>
            <a:off x="838200" y="1828800"/>
            <a:ext cx="7772400" cy="4114800"/>
          </a:xfrm>
        </p:spPr>
        <p:txBody>
          <a:bodyPr/>
          <a:lstStyle/>
          <a:p>
            <a:pPr eaLnBrk="1" hangingPunct="1">
              <a:lnSpc>
                <a:spcPct val="130000"/>
              </a:lnSpc>
              <a:buFont typeface="Wingdings" panose="05000000000000000000" pitchFamily="2" charset="2"/>
              <a:buNone/>
            </a:pPr>
            <a:r>
              <a:rPr lang="zh-CN" altLang="en-US" sz="2400" b="1"/>
              <a:t>[例1]  将信息系学生视图</a:t>
            </a:r>
            <a:r>
              <a:rPr lang="en-US" altLang="zh-CN" sz="2400" b="1"/>
              <a:t>IS_Student</a:t>
            </a:r>
            <a:r>
              <a:rPr lang="zh-CN" altLang="en-US" sz="2400" b="1"/>
              <a:t>中学号95002</a:t>
            </a:r>
          </a:p>
          <a:p>
            <a:pPr eaLnBrk="1" hangingPunct="1">
              <a:lnSpc>
                <a:spcPct val="130000"/>
              </a:lnSpc>
              <a:buFont typeface="Wingdings" panose="05000000000000000000" pitchFamily="2" charset="2"/>
              <a:buNone/>
            </a:pPr>
            <a:r>
              <a:rPr lang="zh-CN" altLang="en-US" sz="2400" b="1"/>
              <a:t>           的学生姓名改为</a:t>
            </a:r>
            <a:r>
              <a:rPr lang="zh-CN" altLang="en-US" sz="2400" b="1">
                <a:latin typeface="Times New Roman" panose="02020503050405090304" pitchFamily="18" charset="0"/>
              </a:rPr>
              <a:t>“</a:t>
            </a:r>
            <a:r>
              <a:rPr lang="zh-CN" altLang="en-US" sz="2400" b="1"/>
              <a:t>刘辰</a:t>
            </a:r>
            <a:r>
              <a:rPr lang="zh-CN" altLang="en-US" sz="2400" b="1">
                <a:latin typeface="Times New Roman" panose="02020503050405090304" pitchFamily="18" charset="0"/>
              </a:rPr>
              <a:t>”</a:t>
            </a:r>
            <a:r>
              <a:rPr lang="zh-CN" altLang="en-US" sz="2400" b="1"/>
              <a:t>。</a:t>
            </a:r>
          </a:p>
          <a:p>
            <a:pPr lvl="1" eaLnBrk="1" hangingPunct="1">
              <a:lnSpc>
                <a:spcPct val="130000"/>
              </a:lnSpc>
              <a:buFont typeface="Wingdings" panose="05000000000000000000" pitchFamily="2" charset="2"/>
              <a:buNone/>
            </a:pPr>
            <a:r>
              <a:rPr lang="en-US" altLang="zh-CN" sz="2400" b="1"/>
              <a:t>UPDATE  </a:t>
            </a:r>
            <a:r>
              <a:rPr lang="en-US" altLang="zh-CN" sz="2400" b="1">
                <a:solidFill>
                  <a:srgbClr val="D32DB7"/>
                </a:solidFill>
              </a:rPr>
              <a:t>IS_Student</a:t>
            </a:r>
            <a:endParaRPr lang="en-US" altLang="zh-CN" sz="2400" b="1"/>
          </a:p>
          <a:p>
            <a:pPr lvl="1" eaLnBrk="1" hangingPunct="1">
              <a:lnSpc>
                <a:spcPct val="130000"/>
              </a:lnSpc>
              <a:buFont typeface="Wingdings" panose="05000000000000000000" pitchFamily="2" charset="2"/>
              <a:buNone/>
            </a:pPr>
            <a:r>
              <a:rPr lang="en-US" altLang="zh-CN" sz="2400" b="1"/>
              <a:t>SET  Sname= '</a:t>
            </a:r>
            <a:r>
              <a:rPr lang="zh-CN" altLang="en-US" sz="2400" b="1"/>
              <a:t>刘辰'</a:t>
            </a:r>
          </a:p>
          <a:p>
            <a:pPr lvl="1" eaLnBrk="1" hangingPunct="1">
              <a:lnSpc>
                <a:spcPct val="130000"/>
              </a:lnSpc>
              <a:buFont typeface="Wingdings" panose="05000000000000000000" pitchFamily="2" charset="2"/>
              <a:buNone/>
            </a:pPr>
            <a:r>
              <a:rPr lang="en-US" altLang="zh-CN" sz="2400" b="1"/>
              <a:t>WHERE  Sno= '95002'；</a:t>
            </a:r>
          </a:p>
          <a:p>
            <a:pPr lvl="1" eaLnBrk="1" hangingPunct="1">
              <a:lnSpc>
                <a:spcPct val="130000"/>
              </a:lnSpc>
              <a:buFont typeface="Wingdings" panose="05000000000000000000" pitchFamily="2" charset="2"/>
              <a:buNone/>
            </a:pPr>
            <a:r>
              <a:rPr lang="zh-CN" altLang="en-US" sz="2000" b="1"/>
              <a:t>转换后的语句：</a:t>
            </a:r>
            <a:endParaRPr lang="zh-CN" altLang="en-US" b="1"/>
          </a:p>
          <a:p>
            <a:pPr lvl="2" eaLnBrk="1" hangingPunct="1">
              <a:lnSpc>
                <a:spcPct val="130000"/>
              </a:lnSpc>
              <a:buFont typeface="Wingdings" panose="05000000000000000000" pitchFamily="2" charset="2"/>
              <a:buNone/>
            </a:pPr>
            <a:r>
              <a:rPr lang="en-US" altLang="zh-CN" b="1"/>
              <a:t>UPDATE  </a:t>
            </a:r>
            <a:r>
              <a:rPr lang="en-US" altLang="zh-CN" b="1">
                <a:solidFill>
                  <a:srgbClr val="D32DB7"/>
                </a:solidFill>
              </a:rPr>
              <a:t>Student</a:t>
            </a:r>
          </a:p>
          <a:p>
            <a:pPr lvl="2" eaLnBrk="1" hangingPunct="1">
              <a:lnSpc>
                <a:spcPct val="130000"/>
              </a:lnSpc>
              <a:buFont typeface="Wingdings" panose="05000000000000000000" pitchFamily="2" charset="2"/>
              <a:buNone/>
            </a:pPr>
            <a:r>
              <a:rPr lang="en-US" altLang="zh-CN" b="1"/>
              <a:t>SET Sname= '</a:t>
            </a:r>
            <a:r>
              <a:rPr lang="zh-CN" altLang="en-US" b="1"/>
              <a:t>刘辰'</a:t>
            </a:r>
          </a:p>
          <a:p>
            <a:pPr lvl="2" eaLnBrk="1" hangingPunct="1">
              <a:lnSpc>
                <a:spcPct val="130000"/>
              </a:lnSpc>
              <a:buFont typeface="Wingdings" panose="05000000000000000000" pitchFamily="2" charset="2"/>
              <a:buNone/>
            </a:pPr>
            <a:r>
              <a:rPr lang="en-US" altLang="zh-CN" b="1"/>
              <a:t>WHERE Sno= '95002' AND </a:t>
            </a:r>
            <a:r>
              <a:rPr lang="en-US" altLang="zh-CN" b="1">
                <a:solidFill>
                  <a:srgbClr val="D32DB7"/>
                </a:solidFill>
              </a:rPr>
              <a:t>Sdept= 'IS'</a:t>
            </a:r>
            <a:r>
              <a:rPr lang="en-US" altLang="zh-CN" b="1"/>
              <a:t>；</a:t>
            </a:r>
            <a:endParaRPr lang="en-US" altLang="zh-CN"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8291">
                                            <p:txEl>
                                              <p:pRg st="5" end="5"/>
                                            </p:txEl>
                                          </p:spTgt>
                                        </p:tgtEl>
                                        <p:attrNameLst>
                                          <p:attrName>style.visibility</p:attrName>
                                        </p:attrNameLst>
                                      </p:cBhvr>
                                      <p:to>
                                        <p:strVal val="visible"/>
                                      </p:to>
                                    </p:set>
                                    <p:animEffect transition="in" filter="blinds(horizontal)">
                                      <p:cBhvr>
                                        <p:cTn id="7" dur="500"/>
                                        <p:tgtEl>
                                          <p:spTgt spid="268291">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68291">
                                            <p:txEl>
                                              <p:pRg st="6" end="6"/>
                                            </p:txEl>
                                          </p:spTgt>
                                        </p:tgtEl>
                                        <p:attrNameLst>
                                          <p:attrName>style.visibility</p:attrName>
                                        </p:attrNameLst>
                                      </p:cBhvr>
                                      <p:to>
                                        <p:strVal val="visible"/>
                                      </p:to>
                                    </p:set>
                                    <p:animEffect transition="in" filter="blinds(horizontal)">
                                      <p:cBhvr>
                                        <p:cTn id="10" dur="500"/>
                                        <p:tgtEl>
                                          <p:spTgt spid="268291">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68291">
                                            <p:txEl>
                                              <p:pRg st="7" end="7"/>
                                            </p:txEl>
                                          </p:spTgt>
                                        </p:tgtEl>
                                        <p:attrNameLst>
                                          <p:attrName>style.visibility</p:attrName>
                                        </p:attrNameLst>
                                      </p:cBhvr>
                                      <p:to>
                                        <p:strVal val="visible"/>
                                      </p:to>
                                    </p:set>
                                    <p:animEffect transition="in" filter="blinds(horizontal)">
                                      <p:cBhvr>
                                        <p:cTn id="13" dur="500"/>
                                        <p:tgtEl>
                                          <p:spTgt spid="268291">
                                            <p:txEl>
                                              <p:pRg st="7" end="7"/>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68291">
                                            <p:txEl>
                                              <p:pRg st="8" end="8"/>
                                            </p:txEl>
                                          </p:spTgt>
                                        </p:tgtEl>
                                        <p:attrNameLst>
                                          <p:attrName>style.visibility</p:attrName>
                                        </p:attrNameLst>
                                      </p:cBhvr>
                                      <p:to>
                                        <p:strVal val="visible"/>
                                      </p:to>
                                    </p:set>
                                    <p:animEffect transition="in" filter="blinds(horizontal)">
                                      <p:cBhvr>
                                        <p:cTn id="16" dur="500"/>
                                        <p:tgtEl>
                                          <p:spTgt spid="26829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pPr eaLnBrk="1" hangingPunct="1"/>
            <a:r>
              <a:rPr lang="zh-CN" altLang="en-US" b="1"/>
              <a:t>更新视图（续）</a:t>
            </a:r>
          </a:p>
        </p:txBody>
      </p:sp>
      <p:sp>
        <p:nvSpPr>
          <p:cNvPr id="269315"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sz="2800" b="1"/>
              <a:t>[例2]  向信息系学生视图</a:t>
            </a:r>
            <a:r>
              <a:rPr lang="en-US" altLang="zh-CN" sz="2800" b="1"/>
              <a:t>IS_S</a:t>
            </a:r>
            <a:r>
              <a:rPr lang="zh-CN" altLang="en-US" sz="2800" b="1"/>
              <a:t>中插入一个新的学生记录：95029，赵新，20岁</a:t>
            </a:r>
          </a:p>
          <a:p>
            <a:pPr lvl="1" eaLnBrk="1" hangingPunct="1">
              <a:buFont typeface="Wingdings" panose="05000000000000000000" pitchFamily="2" charset="2"/>
              <a:buNone/>
            </a:pPr>
            <a:r>
              <a:rPr lang="en-US" altLang="zh-CN" sz="2400" b="1"/>
              <a:t>INSERT</a:t>
            </a:r>
          </a:p>
          <a:p>
            <a:pPr lvl="1" eaLnBrk="1" hangingPunct="1">
              <a:buFont typeface="Wingdings" panose="05000000000000000000" pitchFamily="2" charset="2"/>
              <a:buNone/>
            </a:pPr>
            <a:r>
              <a:rPr lang="en-US" altLang="zh-CN" sz="2400" b="1"/>
              <a:t>INTO </a:t>
            </a:r>
            <a:r>
              <a:rPr lang="en-US" altLang="zh-CN" sz="2400" b="1">
                <a:solidFill>
                  <a:srgbClr val="D32DB7"/>
                </a:solidFill>
              </a:rPr>
              <a:t>IS_Student</a:t>
            </a:r>
          </a:p>
          <a:p>
            <a:pPr lvl="1" eaLnBrk="1" hangingPunct="1">
              <a:buFont typeface="Wingdings" panose="05000000000000000000" pitchFamily="2" charset="2"/>
              <a:buNone/>
            </a:pPr>
            <a:r>
              <a:rPr lang="en-US" altLang="zh-CN" sz="2400" b="1"/>
              <a:t>VALUES(</a:t>
            </a:r>
            <a:r>
              <a:rPr lang="en-US" altLang="zh-CN" sz="2400" b="1">
                <a:latin typeface="Times New Roman" panose="02020503050405090304" pitchFamily="18" charset="0"/>
              </a:rPr>
              <a:t>‘</a:t>
            </a:r>
            <a:r>
              <a:rPr lang="en-US" altLang="zh-CN" sz="2400" b="1"/>
              <a:t>95029</a:t>
            </a:r>
            <a:r>
              <a:rPr lang="en-US" altLang="zh-CN" sz="2400" b="1">
                <a:latin typeface="Times New Roman" panose="02020503050405090304" pitchFamily="18" charset="0"/>
              </a:rPr>
              <a:t>’</a:t>
            </a:r>
            <a:r>
              <a:rPr lang="en-US" altLang="zh-CN" sz="2400" b="1"/>
              <a:t>，</a:t>
            </a:r>
            <a:r>
              <a:rPr lang="en-US" altLang="zh-CN" sz="2400" b="1">
                <a:latin typeface="Times New Roman" panose="02020503050405090304" pitchFamily="18" charset="0"/>
              </a:rPr>
              <a:t>‘</a:t>
            </a:r>
            <a:r>
              <a:rPr lang="zh-CN" altLang="en-US" sz="2400" b="1"/>
              <a:t>赵新</a:t>
            </a:r>
            <a:r>
              <a:rPr lang="zh-CN" altLang="en-US" sz="2400" b="1">
                <a:latin typeface="Times New Roman" panose="02020503050405090304" pitchFamily="18" charset="0"/>
              </a:rPr>
              <a:t>’</a:t>
            </a:r>
            <a:r>
              <a:rPr lang="zh-CN" altLang="en-US" sz="2400" b="1"/>
              <a:t>，20)；</a:t>
            </a:r>
          </a:p>
          <a:p>
            <a:pPr eaLnBrk="1" hangingPunct="1">
              <a:buFont typeface="Wingdings" panose="05000000000000000000" pitchFamily="2" charset="2"/>
              <a:buNone/>
            </a:pPr>
            <a:r>
              <a:rPr lang="zh-CN" altLang="en-US" sz="2800" b="1"/>
              <a:t>转换为对基本表的更新：</a:t>
            </a:r>
          </a:p>
          <a:p>
            <a:pPr lvl="1" eaLnBrk="1" hangingPunct="1">
              <a:buFont typeface="Wingdings" panose="05000000000000000000" pitchFamily="2" charset="2"/>
              <a:buNone/>
            </a:pPr>
            <a:r>
              <a:rPr lang="en-US" altLang="zh-CN" sz="2400" b="1"/>
              <a:t>INSERT</a:t>
            </a:r>
          </a:p>
          <a:p>
            <a:pPr lvl="1" eaLnBrk="1" hangingPunct="1">
              <a:buFont typeface="Wingdings" panose="05000000000000000000" pitchFamily="2" charset="2"/>
              <a:buNone/>
            </a:pPr>
            <a:r>
              <a:rPr lang="en-US" altLang="zh-CN" sz="2400" b="1"/>
              <a:t>INTO   </a:t>
            </a:r>
            <a:r>
              <a:rPr lang="en-US" altLang="zh-CN" sz="2400" b="1">
                <a:solidFill>
                  <a:srgbClr val="D32DB7"/>
                </a:solidFill>
              </a:rPr>
              <a:t>Student</a:t>
            </a:r>
            <a:r>
              <a:rPr lang="en-US" altLang="zh-CN" sz="2400" b="1"/>
              <a:t>(Sno，Sname，Sage，</a:t>
            </a:r>
            <a:r>
              <a:rPr lang="en-US" altLang="zh-CN" sz="2400" b="1">
                <a:solidFill>
                  <a:srgbClr val="D32DB7"/>
                </a:solidFill>
              </a:rPr>
              <a:t>Sdep</a:t>
            </a:r>
            <a:r>
              <a:rPr lang="en-US" altLang="zh-CN" sz="2400" b="1"/>
              <a:t>t)</a:t>
            </a:r>
          </a:p>
          <a:p>
            <a:pPr lvl="1" eaLnBrk="1" hangingPunct="1">
              <a:buFont typeface="Wingdings" panose="05000000000000000000" pitchFamily="2" charset="2"/>
              <a:buNone/>
            </a:pPr>
            <a:r>
              <a:rPr lang="en-US" altLang="zh-CN" sz="2400" b="1"/>
              <a:t>VALUES('95029'，'</a:t>
            </a:r>
            <a:r>
              <a:rPr lang="zh-CN" altLang="en-US" sz="2400" b="1"/>
              <a:t>赵新'，20，</a:t>
            </a:r>
            <a:r>
              <a:rPr lang="zh-CN" altLang="en-US" sz="2400" b="1">
                <a:solidFill>
                  <a:srgbClr val="D32DB7"/>
                </a:solidFill>
              </a:rPr>
              <a:t>'</a:t>
            </a:r>
            <a:r>
              <a:rPr lang="en-US" altLang="zh-CN" sz="2400" b="1">
                <a:solidFill>
                  <a:srgbClr val="D32DB7"/>
                </a:solidFill>
              </a:rPr>
              <a:t>IS'</a:t>
            </a:r>
            <a:r>
              <a:rPr lang="en-US" altLang="zh-CN" sz="2400" b="1"/>
              <a:t> )；</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931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931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931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9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pPr eaLnBrk="1" hangingPunct="1"/>
            <a:r>
              <a:rPr lang="zh-CN" altLang="en-US" b="1"/>
              <a:t>更新视图（续）</a:t>
            </a:r>
          </a:p>
        </p:txBody>
      </p:sp>
      <p:sp>
        <p:nvSpPr>
          <p:cNvPr id="270339" name="Rectangle 3"/>
          <p:cNvSpPr>
            <a:spLocks noGrp="1" noChangeArrowheads="1"/>
          </p:cNvSpPr>
          <p:nvPr>
            <p:ph type="body" idx="1"/>
          </p:nvPr>
        </p:nvSpPr>
        <p:spPr>
          <a:xfrm>
            <a:off x="914400" y="1828800"/>
            <a:ext cx="7772400" cy="4114800"/>
          </a:xfrm>
        </p:spPr>
        <p:txBody>
          <a:bodyPr/>
          <a:lstStyle/>
          <a:p>
            <a:pPr eaLnBrk="1" hangingPunct="1">
              <a:lnSpc>
                <a:spcPct val="120000"/>
              </a:lnSpc>
              <a:buFont typeface="Wingdings" panose="05000000000000000000" pitchFamily="2" charset="2"/>
              <a:buNone/>
            </a:pPr>
            <a:r>
              <a:rPr lang="zh-CN" altLang="en-US" sz="2800" b="1"/>
              <a:t>[例3]  删除视图</a:t>
            </a:r>
            <a:r>
              <a:rPr lang="en-US" altLang="zh-CN" sz="2800" b="1"/>
              <a:t>CS_S</a:t>
            </a:r>
            <a:r>
              <a:rPr lang="zh-CN" altLang="en-US" sz="2800" b="1"/>
              <a:t>中学号为95029的记录</a:t>
            </a:r>
          </a:p>
          <a:p>
            <a:pPr lvl="1" eaLnBrk="1" hangingPunct="1">
              <a:lnSpc>
                <a:spcPct val="120000"/>
              </a:lnSpc>
              <a:buFont typeface="Wingdings" panose="05000000000000000000" pitchFamily="2" charset="2"/>
              <a:buNone/>
            </a:pPr>
            <a:r>
              <a:rPr lang="en-US" altLang="zh-CN" sz="2400" b="1"/>
              <a:t>DELETE</a:t>
            </a:r>
          </a:p>
          <a:p>
            <a:pPr lvl="1" eaLnBrk="1" hangingPunct="1">
              <a:lnSpc>
                <a:spcPct val="120000"/>
              </a:lnSpc>
              <a:buFont typeface="Wingdings" panose="05000000000000000000" pitchFamily="2" charset="2"/>
              <a:buNone/>
            </a:pPr>
            <a:r>
              <a:rPr lang="en-US" altLang="zh-CN" sz="2400" b="1"/>
              <a:t>FROM </a:t>
            </a:r>
            <a:r>
              <a:rPr lang="en-US" altLang="zh-CN" sz="2400" b="1">
                <a:solidFill>
                  <a:srgbClr val="D32DB7"/>
                </a:solidFill>
              </a:rPr>
              <a:t>IS_Student</a:t>
            </a:r>
          </a:p>
          <a:p>
            <a:pPr lvl="1" eaLnBrk="1" hangingPunct="1">
              <a:lnSpc>
                <a:spcPct val="120000"/>
              </a:lnSpc>
              <a:buFont typeface="Wingdings" panose="05000000000000000000" pitchFamily="2" charset="2"/>
              <a:buNone/>
            </a:pPr>
            <a:r>
              <a:rPr lang="en-US" altLang="zh-CN" sz="2400" b="1"/>
              <a:t>WHERE Sno= '95029'；</a:t>
            </a:r>
          </a:p>
          <a:p>
            <a:pPr eaLnBrk="1" hangingPunct="1">
              <a:lnSpc>
                <a:spcPct val="120000"/>
              </a:lnSpc>
              <a:buFont typeface="Wingdings" panose="05000000000000000000" pitchFamily="2" charset="2"/>
              <a:buNone/>
            </a:pPr>
            <a:r>
              <a:rPr lang="zh-CN" altLang="en-US" sz="2800" b="1"/>
              <a:t>转换为对基本表的更新：</a:t>
            </a:r>
            <a:endParaRPr lang="zh-CN" altLang="en-US" b="1"/>
          </a:p>
          <a:p>
            <a:pPr lvl="1" eaLnBrk="1" hangingPunct="1">
              <a:lnSpc>
                <a:spcPct val="120000"/>
              </a:lnSpc>
              <a:buFont typeface="Wingdings" panose="05000000000000000000" pitchFamily="2" charset="2"/>
              <a:buNone/>
            </a:pPr>
            <a:r>
              <a:rPr lang="en-US" altLang="zh-CN" sz="2400" b="1"/>
              <a:t>DELETE</a:t>
            </a:r>
          </a:p>
          <a:p>
            <a:pPr lvl="1" eaLnBrk="1" hangingPunct="1">
              <a:lnSpc>
                <a:spcPct val="120000"/>
              </a:lnSpc>
              <a:buFont typeface="Wingdings" panose="05000000000000000000" pitchFamily="2" charset="2"/>
              <a:buNone/>
            </a:pPr>
            <a:r>
              <a:rPr lang="en-US" altLang="zh-CN" sz="2400" b="1"/>
              <a:t>FROM </a:t>
            </a:r>
            <a:r>
              <a:rPr lang="en-US" altLang="zh-CN" sz="2400" b="1">
                <a:solidFill>
                  <a:srgbClr val="D32DB7"/>
                </a:solidFill>
              </a:rPr>
              <a:t>Student</a:t>
            </a:r>
          </a:p>
          <a:p>
            <a:pPr lvl="1" eaLnBrk="1" hangingPunct="1">
              <a:lnSpc>
                <a:spcPct val="120000"/>
              </a:lnSpc>
              <a:buFont typeface="Wingdings" panose="05000000000000000000" pitchFamily="2" charset="2"/>
              <a:buNone/>
            </a:pPr>
            <a:r>
              <a:rPr lang="en-US" altLang="zh-CN" sz="2400" b="1"/>
              <a:t>WHERE Sno= '95029' AND </a:t>
            </a:r>
            <a:r>
              <a:rPr lang="en-US" altLang="zh-CN" sz="2400" b="1">
                <a:solidFill>
                  <a:srgbClr val="D32DB7"/>
                </a:solidFill>
              </a:rPr>
              <a:t>Sdept= 'IS'</a:t>
            </a:r>
            <a:r>
              <a:rPr lang="en-US" altLang="zh-CN" sz="2400" b="1"/>
              <a:t>；</a:t>
            </a:r>
            <a:endParaRPr lang="zh-CN" altLang="en-US" sz="32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033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0339">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0339">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033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p:txBody>
          <a:bodyPr/>
          <a:lstStyle/>
          <a:p>
            <a:pPr eaLnBrk="1" hangingPunct="1"/>
            <a:r>
              <a:rPr lang="zh-CN" altLang="en-US" b="1"/>
              <a:t>更新视图的限制</a:t>
            </a:r>
          </a:p>
        </p:txBody>
      </p:sp>
      <p:sp>
        <p:nvSpPr>
          <p:cNvPr id="201731" name="Rectangle 3"/>
          <p:cNvSpPr>
            <a:spLocks noGrp="1" noChangeArrowheads="1"/>
          </p:cNvSpPr>
          <p:nvPr>
            <p:ph type="body" sz="half" idx="1"/>
          </p:nvPr>
        </p:nvSpPr>
        <p:spPr>
          <a:xfrm>
            <a:off x="1182688" y="2017713"/>
            <a:ext cx="7199312" cy="1716087"/>
          </a:xfrm>
        </p:spPr>
        <p:txBody>
          <a:bodyPr/>
          <a:lstStyle/>
          <a:p>
            <a:pPr eaLnBrk="1" hangingPunct="1"/>
            <a:r>
              <a:rPr lang="zh-CN" altLang="en-US" b="1"/>
              <a:t>一些视图是不可更新的，因为对这些视图的更新不能唯一地有意义地转换成对相应基本表的更新(对两类方法均如此)</a:t>
            </a:r>
            <a:endParaRPr lang="zh-CN" altLang="en-US" sz="2400" b="1"/>
          </a:p>
        </p:txBody>
      </p:sp>
      <p:sp>
        <p:nvSpPr>
          <p:cNvPr id="271364" name="Rectangle 4"/>
          <p:cNvSpPr>
            <a:spLocks noGrp="1" noChangeArrowheads="1"/>
          </p:cNvSpPr>
          <p:nvPr>
            <p:ph type="body" sz="half" idx="2"/>
          </p:nvPr>
        </p:nvSpPr>
        <p:spPr>
          <a:xfrm>
            <a:off x="914400" y="3357563"/>
            <a:ext cx="6705600" cy="4114800"/>
          </a:xfrm>
        </p:spPr>
        <p:txBody>
          <a:bodyPr/>
          <a:lstStyle/>
          <a:p>
            <a:pPr lvl="1" eaLnBrk="1" hangingPunct="1">
              <a:buFont typeface="Wingdings" panose="05000000000000000000" pitchFamily="2" charset="2"/>
              <a:buNone/>
            </a:pPr>
            <a:r>
              <a:rPr lang="zh-CN" altLang="en-US" sz="2800" b="1"/>
              <a:t>例：</a:t>
            </a:r>
          </a:p>
          <a:p>
            <a:pPr eaLnBrk="1" hangingPunct="1">
              <a:buFont typeface="Wingdings" panose="05000000000000000000" pitchFamily="2" charset="2"/>
              <a:buNone/>
            </a:pPr>
            <a:r>
              <a:rPr lang="zh-CN" altLang="en-US" sz="2400" b="1"/>
              <a:t>        </a:t>
            </a:r>
            <a:r>
              <a:rPr lang="en-US" altLang="zh-CN" sz="2400" b="1"/>
              <a:t>CREATE VIEW S_G (Sno，Gavg)</a:t>
            </a:r>
          </a:p>
          <a:p>
            <a:pPr eaLnBrk="1" hangingPunct="1">
              <a:buFont typeface="Wingdings" panose="05000000000000000000" pitchFamily="2" charset="2"/>
              <a:buNone/>
            </a:pPr>
            <a:r>
              <a:rPr lang="en-US" altLang="zh-CN" sz="2400" b="1"/>
              <a:t>               AS </a:t>
            </a:r>
          </a:p>
          <a:p>
            <a:pPr eaLnBrk="1" hangingPunct="1">
              <a:buFont typeface="Wingdings" panose="05000000000000000000" pitchFamily="2" charset="2"/>
              <a:buNone/>
            </a:pPr>
            <a:r>
              <a:rPr lang="en-US" altLang="zh-CN" sz="2400" b="1"/>
              <a:t>		SELECT  Sno，AVG(Grade)</a:t>
            </a:r>
          </a:p>
          <a:p>
            <a:pPr eaLnBrk="1" hangingPunct="1">
              <a:buFont typeface="Wingdings" panose="05000000000000000000" pitchFamily="2" charset="2"/>
              <a:buNone/>
            </a:pPr>
            <a:r>
              <a:rPr lang="en-US" altLang="zh-CN" sz="2400" b="1"/>
              <a:t>		FROM    SC</a:t>
            </a:r>
          </a:p>
          <a:p>
            <a:pPr eaLnBrk="1" hangingPunct="1">
              <a:buFont typeface="Wingdings" panose="05000000000000000000" pitchFamily="2" charset="2"/>
              <a:buNone/>
            </a:pPr>
            <a:r>
              <a:rPr lang="en-US" altLang="zh-CN" sz="2400" b="1"/>
              <a:t>		GROUP BY Sno；</a:t>
            </a:r>
          </a:p>
          <a:p>
            <a:pPr eaLnBrk="1" hangingPunct="1">
              <a:buFont typeface="Wingdings" panose="05000000000000000000" pitchFamily="2" charset="2"/>
              <a:buNone/>
            </a:pPr>
            <a:r>
              <a:rPr lang="zh-CN" altLang="en-US" sz="3200" b="1"/>
              <a:t>视图</a:t>
            </a:r>
            <a:r>
              <a:rPr lang="en-US" altLang="zh-CN" sz="3200" b="1"/>
              <a:t>S_G</a:t>
            </a:r>
            <a:r>
              <a:rPr lang="zh-CN" altLang="en-US" sz="3200" b="1"/>
              <a:t>为不可更新视图。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136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136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136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136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136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136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136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pPr eaLnBrk="1" hangingPunct="1"/>
            <a:r>
              <a:rPr lang="zh-CN" altLang="en-US" b="1"/>
              <a:t>更新视图（续）</a:t>
            </a:r>
          </a:p>
        </p:txBody>
      </p:sp>
      <p:sp>
        <p:nvSpPr>
          <p:cNvPr id="272387" name="Rectangle 3"/>
          <p:cNvSpPr>
            <a:spLocks noGrp="1" noChangeArrowheads="1"/>
          </p:cNvSpPr>
          <p:nvPr>
            <p:ph type="body" idx="1"/>
          </p:nvPr>
        </p:nvSpPr>
        <p:spPr/>
        <p:txBody>
          <a:bodyPr/>
          <a:lstStyle/>
          <a:p>
            <a:pPr eaLnBrk="1" hangingPunct="1">
              <a:lnSpc>
                <a:spcPct val="110000"/>
              </a:lnSpc>
              <a:buFont typeface="Wingdings" panose="05000000000000000000" pitchFamily="2" charset="2"/>
              <a:buNone/>
            </a:pPr>
            <a:r>
              <a:rPr lang="zh-CN" altLang="en-US" sz="2800" b="1"/>
              <a:t>对于如下更新语句：</a:t>
            </a:r>
          </a:p>
          <a:p>
            <a:pPr lvl="1" eaLnBrk="1" hangingPunct="1">
              <a:lnSpc>
                <a:spcPct val="110000"/>
              </a:lnSpc>
              <a:buFont typeface="Wingdings" panose="05000000000000000000" pitchFamily="2" charset="2"/>
              <a:buNone/>
            </a:pPr>
            <a:r>
              <a:rPr lang="en-US" altLang="zh-CN" b="1"/>
              <a:t>UPDATE  S_G</a:t>
            </a:r>
          </a:p>
          <a:p>
            <a:pPr lvl="1" eaLnBrk="1" hangingPunct="1">
              <a:lnSpc>
                <a:spcPct val="110000"/>
              </a:lnSpc>
              <a:buFont typeface="Wingdings" panose="05000000000000000000" pitchFamily="2" charset="2"/>
              <a:buNone/>
            </a:pPr>
            <a:r>
              <a:rPr lang="en-US" altLang="zh-CN" b="1"/>
              <a:t>SET          </a:t>
            </a:r>
            <a:r>
              <a:rPr lang="en-US" altLang="zh-CN" b="1">
                <a:solidFill>
                  <a:srgbClr val="D32DB7"/>
                </a:solidFill>
              </a:rPr>
              <a:t>Gavg=90</a:t>
            </a:r>
          </a:p>
          <a:p>
            <a:pPr lvl="1" eaLnBrk="1" hangingPunct="1">
              <a:lnSpc>
                <a:spcPct val="110000"/>
              </a:lnSpc>
              <a:buFont typeface="Wingdings" panose="05000000000000000000" pitchFamily="2" charset="2"/>
              <a:buNone/>
            </a:pPr>
            <a:r>
              <a:rPr lang="en-US" altLang="zh-CN" b="1"/>
              <a:t>WHERE  Sno= '95001'；</a:t>
            </a:r>
          </a:p>
          <a:p>
            <a:pPr eaLnBrk="1" hangingPunct="1">
              <a:lnSpc>
                <a:spcPct val="110000"/>
              </a:lnSpc>
              <a:buFont typeface="Wingdings" panose="05000000000000000000" pitchFamily="2" charset="2"/>
              <a:buNone/>
            </a:pPr>
            <a:endParaRPr lang="en-US" altLang="zh-CN" b="1"/>
          </a:p>
          <a:p>
            <a:pPr eaLnBrk="1" hangingPunct="1">
              <a:lnSpc>
                <a:spcPct val="110000"/>
              </a:lnSpc>
              <a:buFont typeface="Wingdings" panose="05000000000000000000" pitchFamily="2" charset="2"/>
              <a:buNone/>
            </a:pPr>
            <a:r>
              <a:rPr lang="zh-CN" altLang="en-US" sz="2800" b="1"/>
              <a:t>无论实体化法还是消解法都无法将其转换成对</a:t>
            </a:r>
          </a:p>
          <a:p>
            <a:pPr eaLnBrk="1" hangingPunct="1">
              <a:lnSpc>
                <a:spcPct val="110000"/>
              </a:lnSpc>
              <a:buFont typeface="Wingdings" panose="05000000000000000000" pitchFamily="2" charset="2"/>
              <a:buNone/>
            </a:pPr>
            <a:r>
              <a:rPr lang="zh-CN" altLang="en-US" sz="2800" b="1"/>
              <a:t>基本表</a:t>
            </a:r>
            <a:r>
              <a:rPr lang="en-US" altLang="zh-CN" sz="2800" b="1"/>
              <a:t>SC</a:t>
            </a:r>
            <a:r>
              <a:rPr lang="zh-CN" altLang="en-US" sz="2800" b="1"/>
              <a:t>的更新。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2387">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23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r>
              <a:rPr lang="zh-CN" altLang="en-US" sz="3600" b="1">
                <a:latin typeface="SimSun" panose="02010600030101010101" pitchFamily="2" charset="-122"/>
              </a:rPr>
              <a:t>实际系统对视图更新的限制</a:t>
            </a:r>
            <a:endParaRPr lang="zh-CN" altLang="en-US" b="1">
              <a:latin typeface="SimSun" panose="02010600030101010101" pitchFamily="2" charset="-122"/>
            </a:endParaRPr>
          </a:p>
        </p:txBody>
      </p:sp>
      <p:sp>
        <p:nvSpPr>
          <p:cNvPr id="203779" name="Rectangle 3"/>
          <p:cNvSpPr>
            <a:spLocks noGrp="1" noChangeArrowheads="1"/>
          </p:cNvSpPr>
          <p:nvPr>
            <p:ph type="body" idx="1"/>
          </p:nvPr>
        </p:nvSpPr>
        <p:spPr/>
        <p:txBody>
          <a:bodyPr/>
          <a:lstStyle/>
          <a:p>
            <a:pPr eaLnBrk="1" hangingPunct="1">
              <a:lnSpc>
                <a:spcPct val="120000"/>
              </a:lnSpc>
            </a:pPr>
            <a:r>
              <a:rPr lang="zh-CN" altLang="en-US" b="1">
                <a:latin typeface="SimSun" panose="02010600030101010101" pitchFamily="2" charset="-122"/>
              </a:rPr>
              <a:t>允许对行列子集视图进行更新</a:t>
            </a:r>
          </a:p>
          <a:p>
            <a:pPr eaLnBrk="1" hangingPunct="1">
              <a:lnSpc>
                <a:spcPct val="120000"/>
              </a:lnSpc>
            </a:pPr>
            <a:r>
              <a:rPr lang="zh-CN" altLang="en-US" b="1">
                <a:latin typeface="SimSun" panose="02010600030101010101" pitchFamily="2" charset="-122"/>
              </a:rPr>
              <a:t>对其他类型视图的更新不同系统有不同限制</a:t>
            </a:r>
          </a:p>
          <a:p>
            <a:pPr eaLnBrk="1" hangingPunct="1">
              <a:lnSpc>
                <a:spcPct val="120000"/>
              </a:lnSpc>
              <a:buFont typeface="Wingdings" panose="05000000000000000000" pitchFamily="2" charset="2"/>
              <a:buNone/>
            </a:pPr>
            <a:endParaRPr lang="zh-CN" altLang="en-US" b="1"/>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pPr eaLnBrk="1" hangingPunct="1"/>
            <a:r>
              <a:rPr lang="zh-CN" altLang="en-US" b="1"/>
              <a:t>（四）、视图的作用</a:t>
            </a:r>
          </a:p>
        </p:txBody>
      </p:sp>
      <p:sp>
        <p:nvSpPr>
          <p:cNvPr id="204803" name="Rectangle 3"/>
          <p:cNvSpPr>
            <a:spLocks noGrp="1" noChangeArrowheads="1"/>
          </p:cNvSpPr>
          <p:nvPr>
            <p:ph type="body" idx="1"/>
          </p:nvPr>
        </p:nvSpPr>
        <p:spPr/>
        <p:txBody>
          <a:bodyPr/>
          <a:lstStyle/>
          <a:p>
            <a:pPr eaLnBrk="1" hangingPunct="1">
              <a:buSzPct val="120000"/>
              <a:buFont typeface="Wingdings" panose="05000000000000000000" pitchFamily="2" charset="2"/>
              <a:buChar char="§"/>
            </a:pPr>
            <a:r>
              <a:rPr lang="zh-CN" altLang="en-US" b="1"/>
              <a:t>视图能够</a:t>
            </a:r>
            <a:r>
              <a:rPr lang="zh-CN" altLang="en-US" b="1">
                <a:solidFill>
                  <a:srgbClr val="D32DB7"/>
                </a:solidFill>
              </a:rPr>
              <a:t>简化</a:t>
            </a:r>
            <a:r>
              <a:rPr lang="zh-CN" altLang="en-US" b="1"/>
              <a:t>用户的操作</a:t>
            </a:r>
          </a:p>
          <a:p>
            <a:pPr eaLnBrk="1" hangingPunct="1">
              <a:buSzPct val="120000"/>
              <a:buFont typeface="Wingdings" panose="05000000000000000000" pitchFamily="2" charset="2"/>
              <a:buChar char="§"/>
            </a:pPr>
            <a:r>
              <a:rPr lang="zh-CN" altLang="en-US" b="1"/>
              <a:t>视图使用户能以</a:t>
            </a:r>
            <a:r>
              <a:rPr lang="zh-CN" altLang="en-US" b="1">
                <a:solidFill>
                  <a:srgbClr val="D32DB7"/>
                </a:solidFill>
              </a:rPr>
              <a:t>多种角度</a:t>
            </a:r>
            <a:r>
              <a:rPr lang="zh-CN" altLang="en-US" b="1"/>
              <a:t>看待同一数据</a:t>
            </a:r>
          </a:p>
          <a:p>
            <a:pPr eaLnBrk="1" hangingPunct="1">
              <a:buSzPct val="120000"/>
              <a:buFont typeface="Wingdings" panose="05000000000000000000" pitchFamily="2" charset="2"/>
              <a:buChar char="§"/>
            </a:pPr>
            <a:r>
              <a:rPr lang="zh-CN" altLang="en-US" b="1"/>
              <a:t>视图对重构数据库提供了一定程度的逻辑独立性</a:t>
            </a:r>
          </a:p>
          <a:p>
            <a:pPr eaLnBrk="1" hangingPunct="1">
              <a:buSzPct val="120000"/>
              <a:buFont typeface="Wingdings" panose="05000000000000000000" pitchFamily="2" charset="2"/>
              <a:buChar char="§"/>
            </a:pPr>
            <a:r>
              <a:rPr lang="zh-CN" altLang="en-US" b="1"/>
              <a:t>视图能够对机密数据提供安全保护</a:t>
            </a:r>
          </a:p>
          <a:p>
            <a:pPr eaLnBrk="1" hangingPunct="1">
              <a:buSzPct val="120000"/>
              <a:buFont typeface="Wingdings" panose="05000000000000000000" pitchFamily="2" charset="2"/>
              <a:buChar char="§"/>
            </a:pPr>
            <a:r>
              <a:rPr lang="zh-CN" altLang="en-US" b="1"/>
              <a:t>适当利用可使查询表达更清晰</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pPr eaLnBrk="1" hangingPunct="1"/>
            <a:r>
              <a:rPr lang="zh-CN" altLang="en-US" b="1"/>
              <a:t>小结</a:t>
            </a:r>
          </a:p>
        </p:txBody>
      </p:sp>
      <p:sp>
        <p:nvSpPr>
          <p:cNvPr id="219139" name="Rectangle 3"/>
          <p:cNvSpPr>
            <a:spLocks noGrp="1" noChangeArrowheads="1"/>
          </p:cNvSpPr>
          <p:nvPr>
            <p:ph type="body" idx="1"/>
          </p:nvPr>
        </p:nvSpPr>
        <p:spPr/>
        <p:txBody>
          <a:bodyPr/>
          <a:lstStyle/>
          <a:p>
            <a:pPr eaLnBrk="1" hangingPunct="1"/>
            <a:r>
              <a:rPr lang="en-US" altLang="zh-CN" b="1" dirty="0" err="1"/>
              <a:t>SQl</a:t>
            </a:r>
            <a:r>
              <a:rPr lang="zh-CN" altLang="en-US" b="1" dirty="0"/>
              <a:t>语言的四类：</a:t>
            </a:r>
          </a:p>
          <a:p>
            <a:pPr lvl="1" eaLnBrk="1" hangingPunct="1"/>
            <a:r>
              <a:rPr lang="zh-CN" altLang="en-US" b="1" dirty="0"/>
              <a:t>数据定义</a:t>
            </a:r>
          </a:p>
          <a:p>
            <a:pPr lvl="1" eaLnBrk="1" hangingPunct="1"/>
            <a:r>
              <a:rPr lang="zh-CN" altLang="en-US" b="1" dirty="0"/>
              <a:t>数据查询</a:t>
            </a:r>
          </a:p>
          <a:p>
            <a:pPr lvl="1" eaLnBrk="1" hangingPunct="1"/>
            <a:r>
              <a:rPr lang="zh-CN" altLang="en-US" b="1" dirty="0"/>
              <a:t>数据更新</a:t>
            </a:r>
          </a:p>
          <a:p>
            <a:pPr lvl="1" eaLnBrk="1" hangingPunct="1"/>
            <a:r>
              <a:rPr lang="zh-CN" altLang="en-US" b="1" dirty="0"/>
              <a:t>数据控制</a:t>
            </a:r>
          </a:p>
          <a:p>
            <a:pPr eaLnBrk="1" hangingPunct="1"/>
            <a:r>
              <a:rPr lang="en-US" altLang="zh-CN" b="1" dirty="0" err="1"/>
              <a:t>SQl</a:t>
            </a:r>
            <a:r>
              <a:rPr lang="zh-CN" altLang="en-US" b="1" dirty="0"/>
              <a:t>语言查询功能最丰富、最复杂，应多加强练习</a:t>
            </a:r>
            <a:endParaRPr lang="en-US" altLang="zh-CN" b="1" dirty="0"/>
          </a:p>
          <a:p>
            <a:pPr eaLnBrk="1" hangingPunct="1"/>
            <a:r>
              <a:rPr lang="zh-CN" altLang="en-US" b="1" dirty="0"/>
              <a:t>作业：</a:t>
            </a:r>
            <a:r>
              <a:rPr lang="en-US" altLang="zh-CN" b="1" dirty="0"/>
              <a:t>P</a:t>
            </a:r>
            <a:r>
              <a:rPr lang="en-US" altLang="zh-CN" b="1" baseline="-25000" dirty="0"/>
              <a:t>123</a:t>
            </a:r>
            <a:r>
              <a:rPr lang="en-US" altLang="zh-CN" b="1" dirty="0"/>
              <a:t>  1</a:t>
            </a:r>
            <a:r>
              <a:rPr lang="zh-CN" altLang="en-US" b="1" dirty="0"/>
              <a:t>、</a:t>
            </a:r>
            <a:r>
              <a:rPr lang="en-US" altLang="zh-CN" b="1" dirty="0"/>
              <a:t>5</a:t>
            </a:r>
            <a:r>
              <a:rPr lang="zh-CN" altLang="en-US" b="1" dirty="0"/>
              <a:t>、</a:t>
            </a:r>
            <a:r>
              <a:rPr lang="en-US" altLang="zh-CN" b="1" dirty="0"/>
              <a:t>7</a:t>
            </a:r>
            <a:endParaRPr lang="zh-CN" altLang="en-US" b="1" dirty="0"/>
          </a:p>
          <a:p>
            <a:pPr eaLnBrk="1" hangingPunct="1"/>
            <a:endParaRPr lang="zh-CN" altLang="en-US" b="1"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8509E7-DA26-250B-0401-B265A35E9234}"/>
              </a:ext>
            </a:extLst>
          </p:cNvPr>
          <p:cNvSpPr>
            <a:spLocks noGrp="1"/>
          </p:cNvSpPr>
          <p:nvPr>
            <p:ph type="title"/>
          </p:nvPr>
        </p:nvSpPr>
        <p:spPr/>
        <p:txBody>
          <a:bodyPr/>
          <a:lstStyle/>
          <a:p>
            <a:r>
              <a:rPr lang="zh-CN" altLang="en-US" dirty="0"/>
              <a:t>课后作业</a:t>
            </a:r>
          </a:p>
        </p:txBody>
      </p:sp>
      <p:sp>
        <p:nvSpPr>
          <p:cNvPr id="3" name="内容占位符 2">
            <a:extLst>
              <a:ext uri="{FF2B5EF4-FFF2-40B4-BE49-F238E27FC236}">
                <a16:creationId xmlns:a16="http://schemas.microsoft.com/office/drawing/2014/main" id="{DFA29641-AB4A-0BE4-13E3-1FBC45EDB4E5}"/>
              </a:ext>
            </a:extLst>
          </p:cNvPr>
          <p:cNvSpPr>
            <a:spLocks noGrp="1"/>
          </p:cNvSpPr>
          <p:nvPr>
            <p:ph idx="1"/>
          </p:nvPr>
        </p:nvSpPr>
        <p:spPr/>
        <p:txBody>
          <a:bodyPr/>
          <a:lstStyle/>
          <a:p>
            <a:pPr marL="0" indent="0">
              <a:buNone/>
            </a:pPr>
            <a:r>
              <a:rPr lang="zh-CN" altLang="en-US" sz="2400" b="1" dirty="0"/>
              <a:t>拓展学习：查询优化</a:t>
            </a:r>
            <a:endParaRPr lang="en-US" altLang="zh-CN" sz="2400" b="1" dirty="0"/>
          </a:p>
          <a:p>
            <a:r>
              <a:rPr lang="en-US" altLang="zh-CN" sz="1400" dirty="0">
                <a:hlinkClick r:id="rId2">
                  <a:extLst>
                    <a:ext uri="{A12FA001-AC4F-418D-AE19-62706E023703}">
                      <ahyp:hlinkClr xmlns:ahyp="http://schemas.microsoft.com/office/drawing/2018/hyperlinkcolor" val="tx"/>
                    </a:ext>
                  </a:extLst>
                </a:hlinkClick>
              </a:rPr>
              <a:t>https://www.bilibili.com/video/BV13N4y1S71c/?spm_id_from=333.337.search-card.all.click&amp;vd_source=31b8cdf62fecff492433b8c24d65e7d2</a:t>
            </a:r>
            <a:endParaRPr lang="en-US" altLang="zh-CN" sz="1400" dirty="0"/>
          </a:p>
          <a:p>
            <a:r>
              <a:rPr lang="zh-CN" altLang="en-US" sz="1400" dirty="0">
                <a:hlinkClick r:id="rId3">
                  <a:extLst>
                    <a:ext uri="{A12FA001-AC4F-418D-AE19-62706E023703}">
                      <ahyp:hlinkClr xmlns:ahyp="http://schemas.microsoft.com/office/drawing/2018/hyperlinkcolor" val="tx"/>
                    </a:ext>
                  </a:extLst>
                </a:hlinkClick>
              </a:rPr>
              <a:t>https://www.bilibili.com/video/BV1AeyeY9EKM/?spm_id_from=333.337.search-card.all.click&amp;vd_source=31b8cdf62fecff492433b8c24d65e7d2</a:t>
            </a:r>
            <a:endParaRPr lang="en-US" altLang="zh-CN" sz="1400" dirty="0"/>
          </a:p>
          <a:p>
            <a:endParaRPr lang="en-US" altLang="zh-CN" sz="1400" dirty="0"/>
          </a:p>
        </p:txBody>
      </p:sp>
      <p:pic>
        <p:nvPicPr>
          <p:cNvPr id="6" name="图片 5" descr="电脑屏幕的截图&#10;&#10;AI 生成的内容可能不正确。">
            <a:extLst>
              <a:ext uri="{FF2B5EF4-FFF2-40B4-BE49-F238E27FC236}">
                <a16:creationId xmlns:a16="http://schemas.microsoft.com/office/drawing/2014/main" id="{F4CBA4A0-F1A8-8D8C-537B-81F68910E03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62742" y="3573016"/>
            <a:ext cx="3563295" cy="2321045"/>
          </a:xfrm>
          <a:prstGeom prst="rect">
            <a:avLst/>
          </a:prstGeom>
        </p:spPr>
      </p:pic>
      <p:pic>
        <p:nvPicPr>
          <p:cNvPr id="4" name="图片 3" descr="图形用户界面, 文本, 电子邮件&#10;&#10;AI 生成的内容可能不正确。">
            <a:extLst>
              <a:ext uri="{FF2B5EF4-FFF2-40B4-BE49-F238E27FC236}">
                <a16:creationId xmlns:a16="http://schemas.microsoft.com/office/drawing/2014/main" id="{505A3863-FBAA-29A7-6546-B0A119B8E3F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20657" y="3573016"/>
            <a:ext cx="3851304" cy="2321045"/>
          </a:xfrm>
          <a:prstGeom prst="rect">
            <a:avLst/>
          </a:prstGeom>
        </p:spPr>
      </p:pic>
    </p:spTree>
    <p:extLst>
      <p:ext uri="{BB962C8B-B14F-4D97-AF65-F5344CB8AC3E}">
        <p14:creationId xmlns:p14="http://schemas.microsoft.com/office/powerpoint/2010/main" val="4545628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pPr eaLnBrk="1" hangingPunct="1"/>
            <a:r>
              <a:rPr lang="zh-CN" altLang="en-US" sz="4800" b="1">
                <a:ea typeface="隶书" panose="02010509060101010101" pitchFamily="49" charset="-122"/>
              </a:rPr>
              <a:t>下次课内容预告（请预习）</a:t>
            </a:r>
          </a:p>
        </p:txBody>
      </p:sp>
      <p:sp>
        <p:nvSpPr>
          <p:cNvPr id="220163" name="Rectangle 3"/>
          <p:cNvSpPr>
            <a:spLocks noGrp="1" noChangeArrowheads="1"/>
          </p:cNvSpPr>
          <p:nvPr>
            <p:ph type="body" idx="1"/>
          </p:nvPr>
        </p:nvSpPr>
        <p:spPr/>
        <p:txBody>
          <a:bodyPr/>
          <a:lstStyle/>
          <a:p>
            <a:pPr eaLnBrk="1" hangingPunct="1"/>
            <a:r>
              <a:rPr lang="zh-CN" altLang="en-US" b="1" dirty="0"/>
              <a:t>第四</a:t>
            </a:r>
            <a:r>
              <a:rPr lang="zh-CN" altLang="en-US" b="1"/>
              <a:t>章 数据库安全性</a:t>
            </a:r>
            <a:endParaRPr lang="zh-CN" altLang="en-US" b="1" dirty="0"/>
          </a:p>
        </p:txBody>
      </p:sp>
      <p:grpSp>
        <p:nvGrpSpPr>
          <p:cNvPr id="220164" name="Group 4"/>
          <p:cNvGrpSpPr/>
          <p:nvPr/>
        </p:nvGrpSpPr>
        <p:grpSpPr bwMode="auto">
          <a:xfrm>
            <a:off x="5653088" y="4879975"/>
            <a:ext cx="3414712" cy="1825625"/>
            <a:chOff x="3456" y="2976"/>
            <a:chExt cx="2151" cy="1150"/>
          </a:xfrm>
        </p:grpSpPr>
        <p:pic>
          <p:nvPicPr>
            <p:cNvPr id="220165" name="Picture 5" descr="0006"/>
            <p:cNvPicPr>
              <a:picLocks noChangeAspect="1" noChangeArrowheads="1"/>
            </p:cNvPicPr>
            <p:nvPr/>
          </p:nvPicPr>
          <p:blipFill>
            <a:blip r:embed="rId2">
              <a:grayscl/>
              <a:lum bright="18000" contrast="12000"/>
              <a:extLst>
                <a:ext uri="{28A0092B-C50C-407E-A947-70E740481C1C}">
                  <a14:useLocalDpi xmlns:a14="http://schemas.microsoft.com/office/drawing/2010/main" val="0"/>
                </a:ext>
              </a:extLst>
            </a:blip>
            <a:srcRect/>
            <a:stretch>
              <a:fillRect/>
            </a:stretch>
          </p:blipFill>
          <p:spPr bwMode="auto">
            <a:xfrm>
              <a:off x="4512" y="3264"/>
              <a:ext cx="1095" cy="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0166" name="Rectangle 6"/>
            <p:cNvSpPr>
              <a:spLocks noChangeArrowheads="1"/>
            </p:cNvSpPr>
            <p:nvPr/>
          </p:nvSpPr>
          <p:spPr bwMode="auto">
            <a:xfrm>
              <a:off x="3456" y="2976"/>
              <a:ext cx="1584"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ahoma" panose="020B0604030504040204" pitchFamily="34" charset="0"/>
                  <a:ea typeface="SimSun" panose="02010600030101010101" pitchFamily="2" charset="-122"/>
                </a:defRPr>
              </a:lvl1pPr>
              <a:lvl2pPr marL="742950" indent="-285750" eaLnBrk="0" hangingPunct="0">
                <a:defRPr kumimoji="1" sz="2400">
                  <a:solidFill>
                    <a:schemeClr val="tx1"/>
                  </a:solidFill>
                  <a:latin typeface="Tahoma" panose="020B0604030504040204" pitchFamily="34" charset="0"/>
                  <a:ea typeface="SimSun" panose="02010600030101010101" pitchFamily="2" charset="-122"/>
                </a:defRPr>
              </a:lvl2pPr>
              <a:lvl3pPr marL="1143000" indent="-228600" eaLnBrk="0" hangingPunct="0">
                <a:defRPr kumimoji="1" sz="2400">
                  <a:solidFill>
                    <a:schemeClr val="tx1"/>
                  </a:solidFill>
                  <a:latin typeface="Tahoma" panose="020B0604030504040204" pitchFamily="34" charset="0"/>
                  <a:ea typeface="SimSun" panose="02010600030101010101" pitchFamily="2" charset="-122"/>
                </a:defRPr>
              </a:lvl3pPr>
              <a:lvl4pPr marL="1600200" indent="-228600" eaLnBrk="0" hangingPunct="0">
                <a:defRPr kumimoji="1" sz="2400">
                  <a:solidFill>
                    <a:schemeClr val="tx1"/>
                  </a:solidFill>
                  <a:latin typeface="Tahoma" panose="020B0604030504040204" pitchFamily="34" charset="0"/>
                  <a:ea typeface="SimSun" panose="02010600030101010101" pitchFamily="2" charset="-122"/>
                </a:defRPr>
              </a:lvl4pPr>
              <a:lvl5pPr marL="2057400" indent="-228600" eaLnBrk="0" hangingPunct="0">
                <a:defRPr kumimoji="1" sz="2400">
                  <a:solidFill>
                    <a:schemeClr val="tx1"/>
                  </a:solidFill>
                  <a:latin typeface="Tahoma" panose="020B0604030504040204" pitchFamily="34"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SimSun" panose="02010600030101010101" pitchFamily="2" charset="-122"/>
                </a:defRPr>
              </a:lvl9pPr>
            </a:lstStyle>
            <a:p>
              <a:pPr eaLnBrk="1" hangingPunct="1">
                <a:spcBef>
                  <a:spcPct val="50000"/>
                </a:spcBef>
              </a:pPr>
              <a:r>
                <a:rPr lang="en-US" altLang="zh-CN" sz="4000" b="1">
                  <a:solidFill>
                    <a:srgbClr val="990099"/>
                  </a:solidFill>
                  <a:latin typeface="Comic Sans MS" panose="030F0902030302020204" pitchFamily="66" charset="0"/>
                </a:rPr>
                <a:t>Bye-bye!</a:t>
              </a:r>
            </a:p>
          </p:txBody>
        </p:sp>
      </p:grpSp>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0" i="0" u="none" strike="noStrike" cap="none" normalizeH="0" baseline="0" smtClean="0">
            <a:ln>
              <a:noFill/>
            </a:ln>
            <a:solidFill>
              <a:schemeClr val="tx1"/>
            </a:solidFill>
            <a:effectLst/>
            <a:latin typeface="Tahoma" panose="020B0604030504040204" pitchFamily="34" charset="0"/>
            <a:ea typeface="SimSun"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0" i="0" u="none" strike="noStrike" cap="none" normalizeH="0" baseline="0" smtClean="0">
            <a:ln>
              <a:noFill/>
            </a:ln>
            <a:solidFill>
              <a:schemeClr val="tx1"/>
            </a:solidFill>
            <a:effectLst/>
            <a:latin typeface="Tahoma" panose="020B0604030504040204" pitchFamily="34" charset="0"/>
            <a:ea typeface="SimSun"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2536</TotalTime>
  <Words>2863</Words>
  <Application>Microsoft Office PowerPoint</Application>
  <PresentationFormat>全屏显示(4:3)</PresentationFormat>
  <Paragraphs>358</Paragraphs>
  <Slides>55</Slides>
  <Notes>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55</vt:i4>
      </vt:variant>
    </vt:vector>
  </HeadingPairs>
  <TitlesOfParts>
    <vt:vector size="63" baseType="lpstr">
      <vt:lpstr>Times-Roman</vt:lpstr>
      <vt:lpstr>宋体</vt:lpstr>
      <vt:lpstr>Arial Black</vt:lpstr>
      <vt:lpstr>Comic Sans MS</vt:lpstr>
      <vt:lpstr>Tahoma</vt:lpstr>
      <vt:lpstr>Times New Roman</vt:lpstr>
      <vt:lpstr>Wingdings</vt:lpstr>
      <vt:lpstr>Blends</vt:lpstr>
      <vt:lpstr>主讲：王海燕 E-mail：wanghaiyan@mail.hzau.edu.cn</vt:lpstr>
      <vt:lpstr>主要内容</vt:lpstr>
      <vt:lpstr>3.7 数据操纵</vt:lpstr>
      <vt:lpstr>（一）、插入数据</vt:lpstr>
      <vt:lpstr>1. 插入单个元组</vt:lpstr>
      <vt:lpstr>插入单个元组（续）</vt:lpstr>
      <vt:lpstr>插入单个元组（续）</vt:lpstr>
      <vt:lpstr>PowerPoint 演示文稿</vt:lpstr>
      <vt:lpstr>2. 插入子查询结果</vt:lpstr>
      <vt:lpstr>插入子查询结果（续）</vt:lpstr>
      <vt:lpstr>插入子查询结果（续）</vt:lpstr>
      <vt:lpstr>插入子查询结果（续）</vt:lpstr>
      <vt:lpstr>PowerPoint 演示文稿</vt:lpstr>
      <vt:lpstr>（二）、修改数据</vt:lpstr>
      <vt:lpstr>修改数据（续）</vt:lpstr>
      <vt:lpstr>1. 修改某一个元组的值</vt:lpstr>
      <vt:lpstr>2. 修改多个元组的值</vt:lpstr>
      <vt:lpstr>3. 带子查询的修改语句</vt:lpstr>
      <vt:lpstr>修改数据（续）</vt:lpstr>
      <vt:lpstr>（三）、删除数据</vt:lpstr>
      <vt:lpstr>删除数据（续）</vt:lpstr>
      <vt:lpstr>1. 删除某一个元组的值</vt:lpstr>
      <vt:lpstr>2. 删除多个元组的值</vt:lpstr>
      <vt:lpstr>3. 带子查询的删除语句</vt:lpstr>
      <vt:lpstr>更新数据与数据一致性</vt:lpstr>
      <vt:lpstr>3.8 视图</vt:lpstr>
      <vt:lpstr>（一）、定义视图</vt:lpstr>
      <vt:lpstr>1. 建立视图</vt:lpstr>
      <vt:lpstr>组成视图的属性列名</vt:lpstr>
      <vt:lpstr>行列子集视图</vt:lpstr>
      <vt:lpstr>WITH CHECK OPTION的视图</vt:lpstr>
      <vt:lpstr>对IS_Student视图的更新操作</vt:lpstr>
      <vt:lpstr>基于多个基表的视图</vt:lpstr>
      <vt:lpstr>基于视图的视图</vt:lpstr>
      <vt:lpstr>带表达式的视图</vt:lpstr>
      <vt:lpstr>2. 删除视图</vt:lpstr>
      <vt:lpstr>删除视图(续）</vt:lpstr>
      <vt:lpstr>（二）、 查询视图</vt:lpstr>
      <vt:lpstr>查询视图（续）</vt:lpstr>
      <vt:lpstr>查询视图（续）</vt:lpstr>
      <vt:lpstr>查询视图（续）</vt:lpstr>
      <vt:lpstr>查询视图（续）</vt:lpstr>
      <vt:lpstr>查询视图（续）</vt:lpstr>
      <vt:lpstr>查询转换</vt:lpstr>
      <vt:lpstr>（三）、更新视图</vt:lpstr>
      <vt:lpstr>更新视图（续）</vt:lpstr>
      <vt:lpstr>更新视图（续）</vt:lpstr>
      <vt:lpstr>更新视图（续）</vt:lpstr>
      <vt:lpstr>更新视图的限制</vt:lpstr>
      <vt:lpstr>更新视图（续）</vt:lpstr>
      <vt:lpstr>实际系统对视图更新的限制</vt:lpstr>
      <vt:lpstr>（四）、视图的作用</vt:lpstr>
      <vt:lpstr>小结</vt:lpstr>
      <vt:lpstr>课后作业</vt:lpstr>
      <vt:lpstr>下次课内容预告（请预习）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why</dc:creator>
  <cp:lastModifiedBy>a9400</cp:lastModifiedBy>
  <cp:revision>209</cp:revision>
  <dcterms:created xsi:type="dcterms:W3CDTF">2020-10-30T07:31:42Z</dcterms:created>
  <dcterms:modified xsi:type="dcterms:W3CDTF">2025-10-09T09:39:26Z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1033-2.6.1.4274</vt:lpwstr>
  </property>
</Properties>
</file>