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notesMasterIdLst>
    <p:notesMasterId r:id="rId63"/>
  </p:notesMasterIdLst>
  <p:sldIdLst>
    <p:sldId id="541" r:id="rId2"/>
    <p:sldId id="544" r:id="rId3"/>
    <p:sldId id="614" r:id="rId4"/>
    <p:sldId id="548" r:id="rId5"/>
    <p:sldId id="546" r:id="rId6"/>
    <p:sldId id="552" r:id="rId7"/>
    <p:sldId id="554" r:id="rId8"/>
    <p:sldId id="555" r:id="rId9"/>
    <p:sldId id="556" r:id="rId10"/>
    <p:sldId id="557" r:id="rId11"/>
    <p:sldId id="615" r:id="rId12"/>
    <p:sldId id="633" r:id="rId13"/>
    <p:sldId id="567" r:id="rId14"/>
    <p:sldId id="568" r:id="rId15"/>
    <p:sldId id="637" r:id="rId16"/>
    <p:sldId id="638" r:id="rId17"/>
    <p:sldId id="639" r:id="rId18"/>
    <p:sldId id="640" r:id="rId19"/>
    <p:sldId id="641" r:id="rId20"/>
    <p:sldId id="642" r:id="rId21"/>
    <p:sldId id="643" r:id="rId22"/>
    <p:sldId id="616" r:id="rId23"/>
    <p:sldId id="591" r:id="rId24"/>
    <p:sldId id="592" r:id="rId25"/>
    <p:sldId id="596" r:id="rId26"/>
    <p:sldId id="597" r:id="rId27"/>
    <p:sldId id="618" r:id="rId28"/>
    <p:sldId id="617" r:id="rId29"/>
    <p:sldId id="619" r:id="rId30"/>
    <p:sldId id="634" r:id="rId31"/>
    <p:sldId id="635" r:id="rId32"/>
    <p:sldId id="598" r:id="rId33"/>
    <p:sldId id="599" r:id="rId34"/>
    <p:sldId id="600" r:id="rId35"/>
    <p:sldId id="601" r:id="rId36"/>
    <p:sldId id="602" r:id="rId37"/>
    <p:sldId id="636" r:id="rId38"/>
    <p:sldId id="603" r:id="rId39"/>
    <p:sldId id="609" r:id="rId40"/>
    <p:sldId id="604" r:id="rId41"/>
    <p:sldId id="610" r:id="rId42"/>
    <p:sldId id="605" r:id="rId43"/>
    <p:sldId id="611" r:id="rId44"/>
    <p:sldId id="606" r:id="rId45"/>
    <p:sldId id="607" r:id="rId46"/>
    <p:sldId id="612" r:id="rId47"/>
    <p:sldId id="644" r:id="rId48"/>
    <p:sldId id="645" r:id="rId49"/>
    <p:sldId id="620" r:id="rId50"/>
    <p:sldId id="621" r:id="rId51"/>
    <p:sldId id="622" r:id="rId52"/>
    <p:sldId id="623" r:id="rId53"/>
    <p:sldId id="624" r:id="rId54"/>
    <p:sldId id="646" r:id="rId55"/>
    <p:sldId id="626" r:id="rId56"/>
    <p:sldId id="627" r:id="rId57"/>
    <p:sldId id="628" r:id="rId58"/>
    <p:sldId id="629" r:id="rId59"/>
    <p:sldId id="630" r:id="rId60"/>
    <p:sldId id="631" r:id="rId61"/>
    <p:sldId id="632" r:id="rId62"/>
  </p:sldIdLst>
  <p:sldSz cx="9144000" cy="6858000" type="screen4x3"/>
  <p:notesSz cx="6797675" cy="9926638"/>
  <p:defaultTex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7">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a:srgbClr val="130A36"/>
    <a:srgbClr val="79710F"/>
    <a:srgbClr val="EEE67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727" autoAdjust="0"/>
    <p:restoredTop sz="94660"/>
  </p:normalViewPr>
  <p:slideViewPr>
    <p:cSldViewPr>
      <p:cViewPr>
        <p:scale>
          <a:sx n="71" d="100"/>
          <a:sy n="71" d="100"/>
        </p:scale>
        <p:origin x="576"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9012"/>
    </p:cViewPr>
  </p:sorterViewPr>
  <p:notesViewPr>
    <p:cSldViewPr>
      <p:cViewPr varScale="1">
        <p:scale>
          <a:sx n="36" d="100"/>
          <a:sy n="36" d="100"/>
        </p:scale>
        <p:origin x="-864" y="-84"/>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D7FD5F02-E928-0A39-9D8B-EB11F2863A89}"/>
              </a:ext>
            </a:extLst>
          </p:cNvPr>
          <p:cNvSpPr>
            <a:spLocks noGrp="1" noChangeArrowheads="1"/>
          </p:cNvSpPr>
          <p:nvPr>
            <p:ph type="hdr" sz="quarter"/>
          </p:nvPr>
        </p:nvSpPr>
        <p:spPr bwMode="auto">
          <a:xfrm>
            <a:off x="0"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ltLang="zh-CN"/>
          </a:p>
        </p:txBody>
      </p:sp>
      <p:sp>
        <p:nvSpPr>
          <p:cNvPr id="46083" name="Rectangle 3">
            <a:extLst>
              <a:ext uri="{FF2B5EF4-FFF2-40B4-BE49-F238E27FC236}">
                <a16:creationId xmlns:a16="http://schemas.microsoft.com/office/drawing/2014/main" id="{CE8E8A3E-1BA7-4E64-F45F-745BAB11DF07}"/>
              </a:ext>
            </a:extLst>
          </p:cNvPr>
          <p:cNvSpPr>
            <a:spLocks noGrp="1" noChangeArrowheads="1"/>
          </p:cNvSpPr>
          <p:nvPr>
            <p:ph type="dt" idx="1"/>
          </p:nvPr>
        </p:nvSpPr>
        <p:spPr bwMode="auto">
          <a:xfrm>
            <a:off x="3851275"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ltLang="zh-CN"/>
          </a:p>
        </p:txBody>
      </p:sp>
      <p:sp>
        <p:nvSpPr>
          <p:cNvPr id="3076" name="Rectangle 4">
            <a:extLst>
              <a:ext uri="{FF2B5EF4-FFF2-40B4-BE49-F238E27FC236}">
                <a16:creationId xmlns:a16="http://schemas.microsoft.com/office/drawing/2014/main" id="{C025730A-A315-29CA-13EB-DDA361F810BE}"/>
              </a:ext>
            </a:extLst>
          </p:cNvPr>
          <p:cNvSpPr>
            <a:spLocks noChangeArrowheads="1" noTextEdit="1"/>
          </p:cNvSpPr>
          <p:nvPr>
            <p:ph type="sldImg" idx="2"/>
          </p:nvPr>
        </p:nvSpPr>
        <p:spPr bwMode="auto">
          <a:xfrm>
            <a:off x="917575" y="744538"/>
            <a:ext cx="4962525" cy="3722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5" name="Rectangle 5">
            <a:extLst>
              <a:ext uri="{FF2B5EF4-FFF2-40B4-BE49-F238E27FC236}">
                <a16:creationId xmlns:a16="http://schemas.microsoft.com/office/drawing/2014/main" id="{C7326D9D-C597-307D-1D8F-239F7C7C0B54}"/>
              </a:ext>
            </a:extLst>
          </p:cNvPr>
          <p:cNvSpPr>
            <a:spLocks noGrp="1" noChangeArrowheads="1"/>
          </p:cNvSpPr>
          <p:nvPr>
            <p:ph type="body" sz="quarter" idx="3"/>
          </p:nvPr>
        </p:nvSpPr>
        <p:spPr bwMode="auto">
          <a:xfrm>
            <a:off x="906463" y="4714875"/>
            <a:ext cx="4984750" cy="44672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6086" name="Rectangle 6">
            <a:extLst>
              <a:ext uri="{FF2B5EF4-FFF2-40B4-BE49-F238E27FC236}">
                <a16:creationId xmlns:a16="http://schemas.microsoft.com/office/drawing/2014/main" id="{7074A071-5C21-9D4F-21C1-839E393E1DC0}"/>
              </a:ext>
            </a:extLst>
          </p:cNvPr>
          <p:cNvSpPr>
            <a:spLocks noGrp="1" noChangeArrowheads="1"/>
          </p:cNvSpPr>
          <p:nvPr>
            <p:ph type="ftr" sz="quarter" idx="4"/>
          </p:nvPr>
        </p:nvSpPr>
        <p:spPr bwMode="auto">
          <a:xfrm>
            <a:off x="0" y="9429750"/>
            <a:ext cx="2946400"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ltLang="zh-CN"/>
          </a:p>
        </p:txBody>
      </p:sp>
      <p:sp>
        <p:nvSpPr>
          <p:cNvPr id="46087" name="Rectangle 7">
            <a:extLst>
              <a:ext uri="{FF2B5EF4-FFF2-40B4-BE49-F238E27FC236}">
                <a16:creationId xmlns:a16="http://schemas.microsoft.com/office/drawing/2014/main" id="{0EC8FA77-BA82-545E-C6DB-EBF2536C95A9}"/>
              </a:ext>
            </a:extLst>
          </p:cNvPr>
          <p:cNvSpPr>
            <a:spLocks noGrp="1" noChangeArrowheads="1"/>
          </p:cNvSpPr>
          <p:nvPr>
            <p:ph type="sldNum" sz="quarter" idx="5"/>
          </p:nvPr>
        </p:nvSpPr>
        <p:spPr bwMode="auto">
          <a:xfrm>
            <a:off x="3851275" y="9429750"/>
            <a:ext cx="2946400"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DFC7BD45-B6DF-4555-A7FD-F163FA97112E}"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8960A282-C532-12D6-7AB1-3B1675203FE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89306DF3-41DA-4B6F-B252-B2E394A71D6A}" type="slidenum">
              <a:rPr lang="en-US" altLang="zh-CN"/>
              <a:pPr>
                <a:spcBef>
                  <a:spcPct val="0"/>
                </a:spcBef>
              </a:pPr>
              <a:t>1</a:t>
            </a:fld>
            <a:endParaRPr lang="en-US" altLang="zh-CN"/>
          </a:p>
        </p:txBody>
      </p:sp>
      <p:sp>
        <p:nvSpPr>
          <p:cNvPr id="5123" name="Rectangle 2">
            <a:extLst>
              <a:ext uri="{FF2B5EF4-FFF2-40B4-BE49-F238E27FC236}">
                <a16:creationId xmlns:a16="http://schemas.microsoft.com/office/drawing/2014/main" id="{DB47EE26-3617-BD8E-527D-1F4AC8BB22B7}"/>
              </a:ext>
            </a:extLst>
          </p:cNvPr>
          <p:cNvSpPr>
            <a:spLocks noChangeArrowheads="1" noTextEdit="1"/>
          </p:cNvSpPr>
          <p:nvPr>
            <p:ph type="sldImg"/>
          </p:nvPr>
        </p:nvSpPr>
        <p:spPr>
          <a:ln/>
        </p:spPr>
      </p:sp>
      <p:sp>
        <p:nvSpPr>
          <p:cNvPr id="5124" name="Rectangle 3">
            <a:extLst>
              <a:ext uri="{FF2B5EF4-FFF2-40B4-BE49-F238E27FC236}">
                <a16:creationId xmlns:a16="http://schemas.microsoft.com/office/drawing/2014/main" id="{1FA15B22-8057-781F-B38F-9C67F92BB5D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C5ABB4B5-33BF-3F31-5AD6-037847193A4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5409F856-1404-413C-BDB1-177DB1C14E4F}" type="slidenum">
              <a:rPr lang="en-US" altLang="zh-CN"/>
              <a:pPr>
                <a:spcBef>
                  <a:spcPct val="0"/>
                </a:spcBef>
              </a:pPr>
              <a:t>10</a:t>
            </a:fld>
            <a:endParaRPr lang="en-US" altLang="zh-CN"/>
          </a:p>
        </p:txBody>
      </p:sp>
      <p:sp>
        <p:nvSpPr>
          <p:cNvPr id="15363" name="Rectangle 2">
            <a:extLst>
              <a:ext uri="{FF2B5EF4-FFF2-40B4-BE49-F238E27FC236}">
                <a16:creationId xmlns:a16="http://schemas.microsoft.com/office/drawing/2014/main" id="{D018CE6D-C5AD-5A5D-3AE2-872922027D50}"/>
              </a:ext>
            </a:extLst>
          </p:cNvPr>
          <p:cNvSpPr>
            <a:spLocks noChangeArrowheads="1" noTextEdit="1"/>
          </p:cNvSpPr>
          <p:nvPr>
            <p:ph type="sldImg"/>
          </p:nvPr>
        </p:nvSpPr>
        <p:spPr>
          <a:ln/>
        </p:spPr>
      </p:sp>
      <p:sp>
        <p:nvSpPr>
          <p:cNvPr id="15364" name="Rectangle 3">
            <a:extLst>
              <a:ext uri="{FF2B5EF4-FFF2-40B4-BE49-F238E27FC236}">
                <a16:creationId xmlns:a16="http://schemas.microsoft.com/office/drawing/2014/main" id="{0621FA2A-A124-46BD-5969-50C5BDF308D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eaLnBrk="1" hangingPunct="1">
              <a:lnSpc>
                <a:spcPct val="110000"/>
              </a:lnSpc>
            </a:pPr>
            <a:r>
              <a:rPr lang="en-US" altLang="zh-CN">
                <a:solidFill>
                  <a:srgbClr val="2355F3"/>
                </a:solidFill>
              </a:rPr>
              <a:t>1. </a:t>
            </a:r>
            <a:r>
              <a:rPr lang="zh-CN" altLang="en-US">
                <a:solidFill>
                  <a:srgbClr val="2355F3"/>
                </a:solidFill>
              </a:rPr>
              <a:t>数据库分析设计人员</a:t>
            </a:r>
            <a:endParaRPr lang="zh-CN" altLang="en-US" sz="1000">
              <a:solidFill>
                <a:srgbClr val="2355F3"/>
              </a:solidFill>
            </a:endParaRPr>
          </a:p>
          <a:p>
            <a:pPr lvl="1" eaLnBrk="1" hangingPunct="1">
              <a:lnSpc>
                <a:spcPct val="140000"/>
              </a:lnSpc>
            </a:pPr>
            <a:r>
              <a:rPr lang="zh-CN" altLang="en-US"/>
              <a:t>数据库设计的核心人员</a:t>
            </a:r>
          </a:p>
          <a:p>
            <a:pPr lvl="1" eaLnBrk="1" hangingPunct="1">
              <a:lnSpc>
                <a:spcPct val="140000"/>
              </a:lnSpc>
            </a:pPr>
            <a:r>
              <a:rPr lang="zh-CN" altLang="en-US"/>
              <a:t>自始至终参与数据库设计</a:t>
            </a:r>
          </a:p>
          <a:p>
            <a:pPr lvl="1" eaLnBrk="1" hangingPunct="1">
              <a:lnSpc>
                <a:spcPct val="140000"/>
              </a:lnSpc>
            </a:pPr>
            <a:r>
              <a:rPr lang="zh-CN" altLang="en-US"/>
              <a:t>其水平决定了数据库系统的质量</a:t>
            </a:r>
          </a:p>
          <a:p>
            <a:pPr eaLnBrk="1" hangingPunct="1"/>
            <a:r>
              <a:rPr lang="en-US" altLang="zh-CN" sz="1000">
                <a:solidFill>
                  <a:srgbClr val="2355F3"/>
                </a:solidFill>
              </a:rPr>
              <a:t>2. </a:t>
            </a:r>
            <a:r>
              <a:rPr lang="zh-CN" altLang="en-US" sz="1000">
                <a:solidFill>
                  <a:srgbClr val="2355F3"/>
                </a:solidFill>
              </a:rPr>
              <a:t>用户</a:t>
            </a:r>
          </a:p>
          <a:p>
            <a:pPr lvl="1" eaLnBrk="1" hangingPunct="1">
              <a:lnSpc>
                <a:spcPct val="140000"/>
              </a:lnSpc>
            </a:pPr>
            <a:r>
              <a:rPr lang="zh-CN" altLang="en-US"/>
              <a:t>在数据库设计中也是举足轻重的</a:t>
            </a:r>
          </a:p>
          <a:p>
            <a:pPr lvl="1" eaLnBrk="1" hangingPunct="1">
              <a:lnSpc>
                <a:spcPct val="140000"/>
              </a:lnSpc>
            </a:pPr>
            <a:r>
              <a:rPr lang="zh-CN" altLang="en-US"/>
              <a:t>主要参加需求分析和数据库的运行维护</a:t>
            </a:r>
          </a:p>
          <a:p>
            <a:pPr lvl="1" eaLnBrk="1" hangingPunct="1">
              <a:lnSpc>
                <a:spcPct val="140000"/>
              </a:lnSpc>
            </a:pPr>
            <a:r>
              <a:rPr lang="zh-CN" altLang="en-US"/>
              <a:t>用户积极参与带来的好处</a:t>
            </a:r>
          </a:p>
          <a:p>
            <a:pPr lvl="2" eaLnBrk="1" hangingPunct="1">
              <a:lnSpc>
                <a:spcPct val="120000"/>
              </a:lnSpc>
            </a:pPr>
            <a:r>
              <a:rPr lang="zh-CN" altLang="en-US" sz="1400"/>
              <a:t>加速数据库设计</a:t>
            </a:r>
          </a:p>
          <a:p>
            <a:pPr lvl="2" eaLnBrk="1" hangingPunct="1">
              <a:lnSpc>
                <a:spcPct val="120000"/>
              </a:lnSpc>
            </a:pPr>
            <a:r>
              <a:rPr lang="zh-CN" altLang="en-US" sz="1400"/>
              <a:t>提高数据库设计的质量</a:t>
            </a:r>
          </a:p>
          <a:p>
            <a:pPr eaLnBrk="1" hangingPunct="1"/>
            <a:r>
              <a:rPr lang="en-US" altLang="zh-CN" sz="1000">
                <a:solidFill>
                  <a:srgbClr val="2355F3"/>
                </a:solidFill>
              </a:rPr>
              <a:t>3. </a:t>
            </a:r>
            <a:r>
              <a:rPr lang="zh-CN" altLang="en-US" sz="1000">
                <a:solidFill>
                  <a:srgbClr val="2355F3"/>
                </a:solidFill>
              </a:rPr>
              <a:t>程序员</a:t>
            </a:r>
          </a:p>
          <a:p>
            <a:pPr lvl="1" eaLnBrk="1" hangingPunct="1">
              <a:lnSpc>
                <a:spcPct val="120000"/>
              </a:lnSpc>
            </a:pPr>
            <a:r>
              <a:rPr lang="zh-CN" altLang="en-US"/>
              <a:t>在系统实施阶段参与进来，负责编制程序</a:t>
            </a:r>
          </a:p>
          <a:p>
            <a:pPr eaLnBrk="1" hangingPunct="1">
              <a:lnSpc>
                <a:spcPct val="120000"/>
              </a:lnSpc>
            </a:pPr>
            <a:r>
              <a:rPr lang="en-US" altLang="zh-CN" sz="1000">
                <a:solidFill>
                  <a:srgbClr val="2355F3"/>
                </a:solidFill>
              </a:rPr>
              <a:t>4. </a:t>
            </a:r>
            <a:r>
              <a:rPr lang="zh-CN" altLang="en-US" sz="1000">
                <a:solidFill>
                  <a:srgbClr val="2355F3"/>
                </a:solidFill>
              </a:rPr>
              <a:t>操作员</a:t>
            </a:r>
          </a:p>
          <a:p>
            <a:pPr lvl="1" eaLnBrk="1" hangingPunct="1">
              <a:lnSpc>
                <a:spcPct val="120000"/>
              </a:lnSpc>
            </a:pPr>
            <a:r>
              <a:rPr lang="zh-CN" altLang="en-US"/>
              <a:t>在系统实施阶段参与进来，准备软硬件环境</a:t>
            </a:r>
          </a:p>
          <a:p>
            <a:pPr eaLnBrk="1" hangingPunct="1"/>
            <a:endParaRPr lang="en-US" altLang="zh-CN" sz="10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8926425C-4A85-B818-7B46-98F0611A57C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0F76DB2C-3336-45D5-87F1-E7D7817BF49F}" type="slidenum">
              <a:rPr lang="en-US" altLang="zh-CN"/>
              <a:pPr>
                <a:spcBef>
                  <a:spcPct val="0"/>
                </a:spcBef>
              </a:pPr>
              <a:t>11</a:t>
            </a:fld>
            <a:endParaRPr lang="en-US" altLang="zh-CN"/>
          </a:p>
        </p:txBody>
      </p:sp>
      <p:sp>
        <p:nvSpPr>
          <p:cNvPr id="17411" name="Rectangle 2">
            <a:extLst>
              <a:ext uri="{FF2B5EF4-FFF2-40B4-BE49-F238E27FC236}">
                <a16:creationId xmlns:a16="http://schemas.microsoft.com/office/drawing/2014/main" id="{20DFEFCA-C1B5-4BDF-B36D-31CC3847C61A}"/>
              </a:ext>
            </a:extLst>
          </p:cNvPr>
          <p:cNvSpPr>
            <a:spLocks noChangeArrowheads="1" noTextEdit="1"/>
          </p:cNvSpPr>
          <p:nvPr>
            <p:ph type="sldImg"/>
          </p:nvPr>
        </p:nvSpPr>
        <p:spPr>
          <a:ln/>
        </p:spPr>
      </p:sp>
      <p:sp>
        <p:nvSpPr>
          <p:cNvPr id="17412" name="Rectangle 3">
            <a:extLst>
              <a:ext uri="{FF2B5EF4-FFF2-40B4-BE49-F238E27FC236}">
                <a16:creationId xmlns:a16="http://schemas.microsoft.com/office/drawing/2014/main" id="{9C469BB9-063F-AE1D-C3F3-17D9FB683F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80000"/>
              </a:lnSpc>
            </a:pPr>
            <a:r>
              <a:rPr lang="zh-CN" altLang="en-US" sz="800"/>
              <a:t>二、数据库设计的过程</a:t>
            </a:r>
            <a:r>
              <a:rPr lang="en-US" altLang="zh-CN" sz="800"/>
              <a:t>(</a:t>
            </a:r>
            <a:r>
              <a:rPr lang="zh-CN" altLang="en-US" sz="800"/>
              <a:t>六个阶段</a:t>
            </a:r>
            <a:r>
              <a:rPr lang="en-US" altLang="zh-CN" sz="800"/>
              <a:t>) </a:t>
            </a:r>
          </a:p>
          <a:p>
            <a:pPr eaLnBrk="1" hangingPunct="1">
              <a:lnSpc>
                <a:spcPct val="170000"/>
              </a:lnSpc>
            </a:pPr>
            <a:r>
              <a:rPr lang="zh-CN" altLang="en-US" sz="700"/>
              <a:t>　</a:t>
            </a:r>
            <a:r>
              <a:rPr lang="zh-CN" altLang="en-US" sz="800">
                <a:solidFill>
                  <a:schemeClr val="accent2"/>
                </a:solidFill>
              </a:rPr>
              <a:t>⒈需求分析阶段</a:t>
            </a:r>
          </a:p>
          <a:p>
            <a:pPr lvl="1" eaLnBrk="1" hangingPunct="1">
              <a:lnSpc>
                <a:spcPct val="170000"/>
              </a:lnSpc>
            </a:pPr>
            <a:r>
              <a:rPr lang="zh-CN" altLang="en-US" sz="800"/>
              <a:t>准确了解与分析用户需求（包括数据与处理）</a:t>
            </a:r>
          </a:p>
          <a:p>
            <a:pPr lvl="1" eaLnBrk="1" hangingPunct="1">
              <a:lnSpc>
                <a:spcPct val="170000"/>
              </a:lnSpc>
            </a:pPr>
            <a:r>
              <a:rPr lang="zh-CN" altLang="en-US" sz="800"/>
              <a:t>是整个设计过程的基础，是最困难、最耗费时间的一步</a:t>
            </a:r>
          </a:p>
          <a:p>
            <a:pPr eaLnBrk="1" hangingPunct="1">
              <a:lnSpc>
                <a:spcPct val="160000"/>
              </a:lnSpc>
            </a:pPr>
            <a:r>
              <a:rPr lang="zh-CN" altLang="en-US" sz="700"/>
              <a:t>　</a:t>
            </a:r>
            <a:r>
              <a:rPr lang="zh-CN" altLang="en-US" sz="800">
                <a:solidFill>
                  <a:schemeClr val="accent2"/>
                </a:solidFill>
              </a:rPr>
              <a:t>⒉概念结构设计阶段</a:t>
            </a:r>
          </a:p>
          <a:p>
            <a:pPr lvl="1" eaLnBrk="1" hangingPunct="1">
              <a:lnSpc>
                <a:spcPct val="160000"/>
              </a:lnSpc>
            </a:pPr>
            <a:r>
              <a:rPr lang="zh-CN" altLang="en-US" sz="800"/>
              <a:t>是整个数据库设计的关键</a:t>
            </a:r>
          </a:p>
          <a:p>
            <a:pPr lvl="1" eaLnBrk="1" hangingPunct="1">
              <a:lnSpc>
                <a:spcPct val="160000"/>
              </a:lnSpc>
            </a:pPr>
            <a:r>
              <a:rPr lang="zh-CN" altLang="en-US" sz="800"/>
              <a:t>通过对用户需求进行综合、归纳与抽象，形成一个独立于具体</a:t>
            </a:r>
            <a:r>
              <a:rPr lang="en-US" altLang="zh-CN" sz="800"/>
              <a:t>DBMS</a:t>
            </a:r>
            <a:r>
              <a:rPr lang="zh-CN" altLang="en-US" sz="800"/>
              <a:t>的概念模型</a:t>
            </a:r>
          </a:p>
          <a:p>
            <a:pPr eaLnBrk="1" hangingPunct="1">
              <a:lnSpc>
                <a:spcPct val="150000"/>
              </a:lnSpc>
            </a:pPr>
            <a:r>
              <a:rPr lang="zh-CN" altLang="en-US" sz="800"/>
              <a:t>	</a:t>
            </a:r>
            <a:r>
              <a:rPr lang="zh-CN" altLang="en-US" sz="800">
                <a:solidFill>
                  <a:schemeClr val="accent2"/>
                </a:solidFill>
              </a:rPr>
              <a:t>⒊逻辑结构设计阶段</a:t>
            </a:r>
          </a:p>
          <a:p>
            <a:pPr lvl="1" eaLnBrk="1" hangingPunct="1">
              <a:lnSpc>
                <a:spcPct val="150000"/>
              </a:lnSpc>
            </a:pPr>
            <a:r>
              <a:rPr lang="zh-CN" altLang="en-US" sz="800"/>
              <a:t>将概念结构转换为某个</a:t>
            </a:r>
            <a:r>
              <a:rPr lang="en-US" altLang="zh-CN" sz="800"/>
              <a:t>DBMS</a:t>
            </a:r>
            <a:r>
              <a:rPr lang="zh-CN" altLang="en-US" sz="800"/>
              <a:t>所支持的数据模型</a:t>
            </a:r>
          </a:p>
          <a:p>
            <a:pPr lvl="1" eaLnBrk="1" hangingPunct="1">
              <a:lnSpc>
                <a:spcPct val="150000"/>
              </a:lnSpc>
            </a:pPr>
            <a:r>
              <a:rPr lang="zh-CN" altLang="en-US" sz="800"/>
              <a:t>对其进行优化</a:t>
            </a:r>
          </a:p>
          <a:p>
            <a:pPr eaLnBrk="1" hangingPunct="1">
              <a:lnSpc>
                <a:spcPct val="200000"/>
              </a:lnSpc>
            </a:pPr>
            <a:r>
              <a:rPr lang="zh-CN" altLang="en-US" sz="800"/>
              <a:t>	</a:t>
            </a:r>
            <a:r>
              <a:rPr lang="zh-CN" altLang="en-US" sz="800">
                <a:solidFill>
                  <a:schemeClr val="accent2"/>
                </a:solidFill>
              </a:rPr>
              <a:t>⒋数据库物理设计阶段</a:t>
            </a:r>
          </a:p>
          <a:p>
            <a:pPr lvl="1" eaLnBrk="1" hangingPunct="1">
              <a:lnSpc>
                <a:spcPct val="200000"/>
              </a:lnSpc>
            </a:pPr>
            <a:r>
              <a:rPr lang="zh-CN" altLang="en-US" sz="800"/>
              <a:t>为逻辑数据模型选取一个最适合应用环境的物理结构（包括存储结构和存取方法）</a:t>
            </a:r>
          </a:p>
          <a:p>
            <a:pPr eaLnBrk="1" hangingPunct="1">
              <a:lnSpc>
                <a:spcPct val="120000"/>
              </a:lnSpc>
            </a:pPr>
            <a:r>
              <a:rPr lang="zh-CN" altLang="en-US" sz="700">
                <a:solidFill>
                  <a:schemeClr val="accent2"/>
                </a:solidFill>
              </a:rPr>
              <a:t>	</a:t>
            </a:r>
            <a:r>
              <a:rPr lang="zh-CN" altLang="en-US" sz="800">
                <a:solidFill>
                  <a:schemeClr val="accent2"/>
                </a:solidFill>
              </a:rPr>
              <a:t>⒌数据库实施阶段</a:t>
            </a:r>
          </a:p>
          <a:p>
            <a:pPr lvl="1" eaLnBrk="1" hangingPunct="1">
              <a:lnSpc>
                <a:spcPct val="120000"/>
              </a:lnSpc>
            </a:pPr>
            <a:r>
              <a:rPr lang="zh-CN" altLang="en-US" sz="800"/>
              <a:t>运用</a:t>
            </a:r>
            <a:r>
              <a:rPr lang="en-US" altLang="zh-CN" sz="800"/>
              <a:t>DBMS</a:t>
            </a:r>
            <a:r>
              <a:rPr lang="zh-CN" altLang="en-US" sz="800"/>
              <a:t>提供的数据语言、工具及宿主语言，根据逻辑设计和物理设计的结果</a:t>
            </a:r>
          </a:p>
          <a:p>
            <a:pPr lvl="2" eaLnBrk="1" hangingPunct="1">
              <a:lnSpc>
                <a:spcPct val="120000"/>
              </a:lnSpc>
            </a:pPr>
            <a:r>
              <a:rPr lang="zh-CN" altLang="en-US" sz="900"/>
              <a:t>建立数据库</a:t>
            </a:r>
          </a:p>
          <a:p>
            <a:pPr lvl="2" eaLnBrk="1" hangingPunct="1">
              <a:lnSpc>
                <a:spcPct val="120000"/>
              </a:lnSpc>
            </a:pPr>
            <a:r>
              <a:rPr lang="zh-CN" altLang="en-US" sz="900"/>
              <a:t>编制与调试应用程序</a:t>
            </a:r>
          </a:p>
          <a:p>
            <a:pPr lvl="2" eaLnBrk="1" hangingPunct="1">
              <a:lnSpc>
                <a:spcPct val="120000"/>
              </a:lnSpc>
            </a:pPr>
            <a:r>
              <a:rPr lang="zh-CN" altLang="en-US" sz="900"/>
              <a:t>组织数据入库</a:t>
            </a:r>
          </a:p>
          <a:p>
            <a:pPr lvl="2" eaLnBrk="1" hangingPunct="1">
              <a:lnSpc>
                <a:spcPct val="120000"/>
              </a:lnSpc>
            </a:pPr>
            <a:r>
              <a:rPr lang="zh-CN" altLang="en-US" sz="900"/>
              <a:t>并进行试运行</a:t>
            </a:r>
          </a:p>
          <a:p>
            <a:pPr eaLnBrk="1" hangingPunct="1">
              <a:lnSpc>
                <a:spcPct val="120000"/>
              </a:lnSpc>
            </a:pPr>
            <a:r>
              <a:rPr lang="zh-CN" altLang="en-US" sz="800"/>
              <a:t>	</a:t>
            </a:r>
            <a:r>
              <a:rPr lang="zh-CN" altLang="en-US" sz="800">
                <a:solidFill>
                  <a:schemeClr val="accent2"/>
                </a:solidFill>
              </a:rPr>
              <a:t>⒍数据库运行和维护阶段</a:t>
            </a:r>
          </a:p>
          <a:p>
            <a:pPr lvl="1" eaLnBrk="1" hangingPunct="1">
              <a:lnSpc>
                <a:spcPct val="120000"/>
              </a:lnSpc>
            </a:pPr>
            <a:r>
              <a:rPr lang="zh-CN" altLang="en-US" sz="800"/>
              <a:t>数据库应用系统经过试运行后即可投入正式运行。</a:t>
            </a:r>
          </a:p>
          <a:p>
            <a:pPr lvl="1" eaLnBrk="1" hangingPunct="1">
              <a:lnSpc>
                <a:spcPct val="120000"/>
              </a:lnSpc>
            </a:pPr>
            <a:r>
              <a:rPr lang="zh-CN" altLang="en-US" sz="800"/>
              <a:t>在数据库系统运行过程中必须不断地对其进行评价、调整与修改。</a:t>
            </a:r>
          </a:p>
          <a:p>
            <a:pPr lvl="1" eaLnBrk="1" hangingPunct="1">
              <a:lnSpc>
                <a:spcPct val="170000"/>
              </a:lnSpc>
            </a:pPr>
            <a:endParaRPr lang="zh-CN" altLang="en-US" sz="800"/>
          </a:p>
          <a:p>
            <a:pPr eaLnBrk="1" hangingPunct="1">
              <a:lnSpc>
                <a:spcPct val="80000"/>
              </a:lnSpc>
            </a:pPr>
            <a:endParaRPr lang="en-US" altLang="zh-CN" sz="8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1E46AAE3-238D-ECD3-C30A-C054358B650C}"/>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62DC79E2-21B8-7B7D-38A9-CD98829C67C7}"/>
                </a:ext>
              </a:extLst>
            </p:cNvPr>
            <p:cNvGrpSpPr>
              <a:grpSpLocks/>
            </p:cNvGrpSpPr>
            <p:nvPr/>
          </p:nvGrpSpPr>
          <p:grpSpPr bwMode="auto">
            <a:xfrm>
              <a:off x="185" y="1604"/>
              <a:ext cx="449" cy="299"/>
              <a:chOff x="720" y="336"/>
              <a:chExt cx="624" cy="432"/>
            </a:xfrm>
          </p:grpSpPr>
          <p:sp>
            <p:nvSpPr>
              <p:cNvPr id="10" name="Rectangle 4">
                <a:extLst>
                  <a:ext uri="{FF2B5EF4-FFF2-40B4-BE49-F238E27FC236}">
                    <a16:creationId xmlns:a16="http://schemas.microsoft.com/office/drawing/2014/main" id="{FECBE495-ACD6-F958-132E-0AE87E468BDB}"/>
                  </a:ext>
                </a:extLst>
              </p:cNvPr>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defRPr/>
                </a:pPr>
                <a:endParaRPr lang="zh-CN" altLang="en-US"/>
              </a:p>
            </p:txBody>
          </p:sp>
          <p:sp>
            <p:nvSpPr>
              <p:cNvPr id="11" name="Rectangle 5">
                <a:extLst>
                  <a:ext uri="{FF2B5EF4-FFF2-40B4-BE49-F238E27FC236}">
                    <a16:creationId xmlns:a16="http://schemas.microsoft.com/office/drawing/2014/main" id="{F7A56D2C-7E7A-6AC5-1D33-27EBF95D4E6A}"/>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defRPr/>
                </a:pPr>
                <a:endParaRPr lang="zh-CN" altLang="en-US"/>
              </a:p>
            </p:txBody>
          </p:sp>
        </p:grpSp>
        <p:grpSp>
          <p:nvGrpSpPr>
            <p:cNvPr id="4" name="Group 6">
              <a:extLst>
                <a:ext uri="{FF2B5EF4-FFF2-40B4-BE49-F238E27FC236}">
                  <a16:creationId xmlns:a16="http://schemas.microsoft.com/office/drawing/2014/main" id="{E2DC9692-D962-6FCA-A305-8C25E8EEEE41}"/>
                </a:ext>
              </a:extLst>
            </p:cNvPr>
            <p:cNvGrpSpPr>
              <a:grpSpLocks/>
            </p:cNvGrpSpPr>
            <p:nvPr/>
          </p:nvGrpSpPr>
          <p:grpSpPr bwMode="auto">
            <a:xfrm>
              <a:off x="263" y="1870"/>
              <a:ext cx="466" cy="299"/>
              <a:chOff x="912" y="2640"/>
              <a:chExt cx="672" cy="432"/>
            </a:xfrm>
          </p:grpSpPr>
          <p:sp>
            <p:nvSpPr>
              <p:cNvPr id="8" name="Rectangle 7">
                <a:extLst>
                  <a:ext uri="{FF2B5EF4-FFF2-40B4-BE49-F238E27FC236}">
                    <a16:creationId xmlns:a16="http://schemas.microsoft.com/office/drawing/2014/main" id="{743959BE-263B-6172-5C1E-0FFD5854E5BB}"/>
                  </a:ext>
                </a:extLst>
              </p:cNvPr>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defRPr/>
                </a:pPr>
                <a:endParaRPr lang="zh-CN" altLang="en-US"/>
              </a:p>
            </p:txBody>
          </p:sp>
          <p:sp>
            <p:nvSpPr>
              <p:cNvPr id="9" name="Rectangle 8">
                <a:extLst>
                  <a:ext uri="{FF2B5EF4-FFF2-40B4-BE49-F238E27FC236}">
                    <a16:creationId xmlns:a16="http://schemas.microsoft.com/office/drawing/2014/main" id="{CE6BE813-741E-46E8-62E4-91F94AF258BE}"/>
                  </a:ext>
                </a:extLst>
              </p:cNvPr>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defRPr/>
                </a:pPr>
                <a:endParaRPr lang="zh-CN" altLang="en-US"/>
              </a:p>
            </p:txBody>
          </p:sp>
        </p:grpSp>
        <p:sp>
          <p:nvSpPr>
            <p:cNvPr id="5" name="Rectangle 9">
              <a:extLst>
                <a:ext uri="{FF2B5EF4-FFF2-40B4-BE49-F238E27FC236}">
                  <a16:creationId xmlns:a16="http://schemas.microsoft.com/office/drawing/2014/main" id="{421D606A-2CE2-78A9-FA0B-090D98796C37}"/>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defRPr/>
              </a:pPr>
              <a:endParaRPr lang="zh-CN" altLang="en-US"/>
            </a:p>
          </p:txBody>
        </p:sp>
        <p:sp>
          <p:nvSpPr>
            <p:cNvPr id="6" name="Rectangle 10">
              <a:extLst>
                <a:ext uri="{FF2B5EF4-FFF2-40B4-BE49-F238E27FC236}">
                  <a16:creationId xmlns:a16="http://schemas.microsoft.com/office/drawing/2014/main" id="{B780BFA4-FDE8-97EC-8179-F9AA764C2737}"/>
                </a:ext>
              </a:extLst>
            </p:cNvPr>
            <p:cNvSpPr>
              <a:spLocks noChangeArrowheads="1"/>
            </p:cNvSpPr>
            <p:nvPr/>
          </p:nvSpPr>
          <p:spPr bwMode="auto">
            <a:xfrm>
              <a:off x="400" y="1536"/>
              <a:ext cx="20" cy="663"/>
            </a:xfrm>
            <a:prstGeom prst="rect">
              <a:avLst/>
            </a:prstGeom>
            <a:solidFill>
              <a:schemeClr val="bg2"/>
            </a:solidFill>
            <a:ln>
              <a:noFill/>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defRPr/>
              </a:pPr>
              <a:endParaRPr lang="zh-CN" altLang="en-US"/>
            </a:p>
          </p:txBody>
        </p:sp>
        <p:sp>
          <p:nvSpPr>
            <p:cNvPr id="7" name="Rectangle 11">
              <a:extLst>
                <a:ext uri="{FF2B5EF4-FFF2-40B4-BE49-F238E27FC236}">
                  <a16:creationId xmlns:a16="http://schemas.microsoft.com/office/drawing/2014/main" id="{8377C267-23AB-7EA8-0F69-9803AEE2B3B0}"/>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defRPr/>
              </a:pPr>
              <a:endParaRPr lang="zh-CN" altLang="en-US"/>
            </a:p>
          </p:txBody>
        </p:sp>
      </p:grpSp>
      <p:sp>
        <p:nvSpPr>
          <p:cNvPr id="329740" name="Rectangle 12"/>
          <p:cNvSpPr>
            <a:spLocks noGrp="1" noChangeArrowheads="1"/>
          </p:cNvSpPr>
          <p:nvPr>
            <p:ph type="ctrTitle"/>
          </p:nvPr>
        </p:nvSpPr>
        <p:spPr>
          <a:xfrm>
            <a:off x="990600" y="1828800"/>
            <a:ext cx="7772400" cy="1143000"/>
          </a:xfrm>
        </p:spPr>
        <p:txBody>
          <a:bodyPr/>
          <a:lstStyle>
            <a:lvl1pPr>
              <a:defRPr/>
            </a:lvl1pPr>
          </a:lstStyle>
          <a:p>
            <a:r>
              <a:rPr lang="zh-CN" altLang="en-US"/>
              <a:t>单击此处编辑母版标题样式</a:t>
            </a:r>
          </a:p>
        </p:txBody>
      </p:sp>
      <p:sp>
        <p:nvSpPr>
          <p:cNvPr id="329741"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zh-CN" altLang="en-US"/>
              <a:t>单击此处编辑母版副标题样式</a:t>
            </a:r>
          </a:p>
        </p:txBody>
      </p:sp>
      <p:sp>
        <p:nvSpPr>
          <p:cNvPr id="12" name="Rectangle 14">
            <a:extLst>
              <a:ext uri="{FF2B5EF4-FFF2-40B4-BE49-F238E27FC236}">
                <a16:creationId xmlns:a16="http://schemas.microsoft.com/office/drawing/2014/main" id="{844E46AC-C56C-B4AD-2AB8-CEE93276C400}"/>
              </a:ext>
            </a:extLst>
          </p:cNvPr>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ltLang="zh-CN"/>
          </a:p>
        </p:txBody>
      </p:sp>
      <p:sp>
        <p:nvSpPr>
          <p:cNvPr id="13" name="Rectangle 15">
            <a:extLst>
              <a:ext uri="{FF2B5EF4-FFF2-40B4-BE49-F238E27FC236}">
                <a16:creationId xmlns:a16="http://schemas.microsoft.com/office/drawing/2014/main" id="{0DF4B75F-913F-CF0D-6F8B-043370D6F4CE}"/>
              </a:ext>
            </a:extLst>
          </p:cNvPr>
          <p:cNvSpPr>
            <a:spLocks noGrp="1" noChangeArrowheads="1"/>
          </p:cNvSpPr>
          <p:nvPr>
            <p:ph type="ftr" sz="quarter" idx="11"/>
          </p:nvPr>
        </p:nvSpPr>
        <p:spPr>
          <a:xfrm>
            <a:off x="3429000" y="6248400"/>
            <a:ext cx="2895600" cy="457200"/>
          </a:xfrm>
        </p:spPr>
        <p:txBody>
          <a:bodyPr/>
          <a:lstStyle>
            <a:lvl1pPr>
              <a:defRPr>
                <a:solidFill>
                  <a:schemeClr val="bg2"/>
                </a:solidFill>
                <a:latin typeface="+mn-lt"/>
              </a:defRPr>
            </a:lvl1pPr>
          </a:lstStyle>
          <a:p>
            <a:pPr>
              <a:defRPr/>
            </a:pPr>
            <a:r>
              <a:rPr lang="en-US" altLang="zh-CN"/>
              <a:t>An Introduction to Database System</a:t>
            </a:r>
          </a:p>
        </p:txBody>
      </p:sp>
      <p:sp>
        <p:nvSpPr>
          <p:cNvPr id="14" name="Rectangle 16">
            <a:extLst>
              <a:ext uri="{FF2B5EF4-FFF2-40B4-BE49-F238E27FC236}">
                <a16:creationId xmlns:a16="http://schemas.microsoft.com/office/drawing/2014/main" id="{054230AD-72E5-0675-CBEE-0BDB270B1995}"/>
              </a:ext>
            </a:extLst>
          </p:cNvPr>
          <p:cNvSpPr>
            <a:spLocks noGrp="1" noChangeArrowheads="1"/>
          </p:cNvSpPr>
          <p:nvPr>
            <p:ph type="sldNum" sz="quarter" idx="12"/>
          </p:nvPr>
        </p:nvSpPr>
        <p:spPr bwMode="auto">
          <a:xfrm>
            <a:off x="6858000" y="6248400"/>
            <a:ext cx="19050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r" eaLnBrk="1" hangingPunct="1">
              <a:defRPr kumimoji="0" sz="1400">
                <a:solidFill>
                  <a:schemeClr val="bg2"/>
                </a:solidFill>
                <a:latin typeface="Tahoma" panose="020B0604030504040204" pitchFamily="34" charset="0"/>
              </a:defRPr>
            </a:lvl1pPr>
          </a:lstStyle>
          <a:p>
            <a:fld id="{88A6DDCD-547A-40F0-B60B-DC108D390828}" type="slidenum">
              <a:rPr lang="en-US" altLang="zh-CN"/>
              <a:pPr/>
              <a:t>‹#›</a:t>
            </a:fld>
            <a:endParaRPr lang="en-US" altLang="zh-CN"/>
          </a:p>
        </p:txBody>
      </p:sp>
    </p:spTree>
    <p:extLst>
      <p:ext uri="{BB962C8B-B14F-4D97-AF65-F5344CB8AC3E}">
        <p14:creationId xmlns:p14="http://schemas.microsoft.com/office/powerpoint/2010/main" val="13629364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a:extLst>
              <a:ext uri="{FF2B5EF4-FFF2-40B4-BE49-F238E27FC236}">
                <a16:creationId xmlns:a16="http://schemas.microsoft.com/office/drawing/2014/main" id="{2CC32464-17BB-E7CF-8C98-DAEFDD34F31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83836A3D-1AD6-583A-1198-B68530A694CC}"/>
              </a:ext>
            </a:extLst>
          </p:cNvPr>
          <p:cNvSpPr>
            <a:spLocks noGrp="1" noChangeArrowheads="1"/>
          </p:cNvSpPr>
          <p:nvPr>
            <p:ph type="ftr" sz="quarter" idx="11"/>
          </p:nvPr>
        </p:nvSpPr>
        <p:spPr>
          <a:ln/>
        </p:spPr>
        <p:txBody>
          <a:bodyPr/>
          <a:lstStyle>
            <a:lvl1pPr>
              <a:defRPr/>
            </a:lvl1pPr>
          </a:lstStyle>
          <a:p>
            <a:pPr>
              <a:defRPr/>
            </a:pPr>
            <a:r>
              <a:rPr lang="en-US" altLang="zh-CN"/>
              <a:t>An Introduction to Database System</a:t>
            </a:r>
          </a:p>
        </p:txBody>
      </p:sp>
    </p:spTree>
    <p:extLst>
      <p:ext uri="{BB962C8B-B14F-4D97-AF65-F5344CB8AC3E}">
        <p14:creationId xmlns:p14="http://schemas.microsoft.com/office/powerpoint/2010/main" val="14638139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11">
            <a:extLst>
              <a:ext uri="{FF2B5EF4-FFF2-40B4-BE49-F238E27FC236}">
                <a16:creationId xmlns:a16="http://schemas.microsoft.com/office/drawing/2014/main" id="{A07D9AF4-F3A2-88F7-860D-87032E1FE54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B78F493F-CAC5-D54A-904A-F0DDC44A67A0}"/>
              </a:ext>
            </a:extLst>
          </p:cNvPr>
          <p:cNvSpPr>
            <a:spLocks noGrp="1" noChangeArrowheads="1"/>
          </p:cNvSpPr>
          <p:nvPr>
            <p:ph type="ftr" sz="quarter" idx="11"/>
          </p:nvPr>
        </p:nvSpPr>
        <p:spPr>
          <a:ln/>
        </p:spPr>
        <p:txBody>
          <a:bodyPr/>
          <a:lstStyle>
            <a:lvl1pPr>
              <a:defRPr/>
            </a:lvl1pPr>
          </a:lstStyle>
          <a:p>
            <a:pPr>
              <a:defRPr/>
            </a:pPr>
            <a:r>
              <a:rPr lang="en-US" altLang="zh-CN"/>
              <a:t>An Introduction to Database System</a:t>
            </a:r>
          </a:p>
        </p:txBody>
      </p:sp>
    </p:spTree>
    <p:extLst>
      <p:ext uri="{BB962C8B-B14F-4D97-AF65-F5344CB8AC3E}">
        <p14:creationId xmlns:p14="http://schemas.microsoft.com/office/powerpoint/2010/main" val="4443708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a:extLst>
              <a:ext uri="{FF2B5EF4-FFF2-40B4-BE49-F238E27FC236}">
                <a16:creationId xmlns:a16="http://schemas.microsoft.com/office/drawing/2014/main" id="{E0D9252B-BC39-3108-8CB8-1F534A616BD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4EB436DC-DD91-5984-6E2D-6BE10C22BA6E}"/>
              </a:ext>
            </a:extLst>
          </p:cNvPr>
          <p:cNvSpPr>
            <a:spLocks noGrp="1" noChangeArrowheads="1"/>
          </p:cNvSpPr>
          <p:nvPr>
            <p:ph type="ftr" sz="quarter" idx="11"/>
          </p:nvPr>
        </p:nvSpPr>
        <p:spPr>
          <a:ln/>
        </p:spPr>
        <p:txBody>
          <a:bodyPr/>
          <a:lstStyle>
            <a:lvl1pPr>
              <a:defRPr/>
            </a:lvl1pPr>
          </a:lstStyle>
          <a:p>
            <a:pPr>
              <a:defRPr/>
            </a:pPr>
            <a:r>
              <a:rPr lang="en-US" altLang="zh-CN"/>
              <a:t>An Introduction to Database System</a:t>
            </a:r>
          </a:p>
        </p:txBody>
      </p:sp>
    </p:spTree>
    <p:extLst>
      <p:ext uri="{BB962C8B-B14F-4D97-AF65-F5344CB8AC3E}">
        <p14:creationId xmlns:p14="http://schemas.microsoft.com/office/powerpoint/2010/main" val="40886506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1">
            <a:extLst>
              <a:ext uri="{FF2B5EF4-FFF2-40B4-BE49-F238E27FC236}">
                <a16:creationId xmlns:a16="http://schemas.microsoft.com/office/drawing/2014/main" id="{A14D2E09-61C0-A5C1-BD93-49022C3A412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12">
            <a:extLst>
              <a:ext uri="{FF2B5EF4-FFF2-40B4-BE49-F238E27FC236}">
                <a16:creationId xmlns:a16="http://schemas.microsoft.com/office/drawing/2014/main" id="{085F8F39-366F-7356-6FDA-4FDD6D76A96E}"/>
              </a:ext>
            </a:extLst>
          </p:cNvPr>
          <p:cNvSpPr>
            <a:spLocks noGrp="1" noChangeArrowheads="1"/>
          </p:cNvSpPr>
          <p:nvPr>
            <p:ph type="ftr" sz="quarter" idx="11"/>
          </p:nvPr>
        </p:nvSpPr>
        <p:spPr>
          <a:ln/>
        </p:spPr>
        <p:txBody>
          <a:bodyPr/>
          <a:lstStyle>
            <a:lvl1pPr>
              <a:defRPr/>
            </a:lvl1pPr>
          </a:lstStyle>
          <a:p>
            <a:pPr>
              <a:defRPr/>
            </a:pPr>
            <a:r>
              <a:rPr lang="en-US" altLang="zh-CN"/>
              <a:t>An Introduction to Database System</a:t>
            </a:r>
          </a:p>
        </p:txBody>
      </p:sp>
    </p:spTree>
    <p:extLst>
      <p:ext uri="{BB962C8B-B14F-4D97-AF65-F5344CB8AC3E}">
        <p14:creationId xmlns:p14="http://schemas.microsoft.com/office/powerpoint/2010/main" val="40077330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1">
            <a:extLst>
              <a:ext uri="{FF2B5EF4-FFF2-40B4-BE49-F238E27FC236}">
                <a16:creationId xmlns:a16="http://schemas.microsoft.com/office/drawing/2014/main" id="{B5D302EA-3AAD-6940-EFF9-DFE68273767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12">
            <a:extLst>
              <a:ext uri="{FF2B5EF4-FFF2-40B4-BE49-F238E27FC236}">
                <a16:creationId xmlns:a16="http://schemas.microsoft.com/office/drawing/2014/main" id="{57FC17C3-AB64-DBCB-6333-355A9D15A9AF}"/>
              </a:ext>
            </a:extLst>
          </p:cNvPr>
          <p:cNvSpPr>
            <a:spLocks noGrp="1" noChangeArrowheads="1"/>
          </p:cNvSpPr>
          <p:nvPr>
            <p:ph type="ftr" sz="quarter" idx="11"/>
          </p:nvPr>
        </p:nvSpPr>
        <p:spPr>
          <a:ln/>
        </p:spPr>
        <p:txBody>
          <a:bodyPr/>
          <a:lstStyle>
            <a:lvl1pPr>
              <a:defRPr/>
            </a:lvl1pPr>
          </a:lstStyle>
          <a:p>
            <a:pPr>
              <a:defRPr/>
            </a:pPr>
            <a:r>
              <a:rPr lang="en-US" altLang="zh-CN"/>
              <a:t>An Introduction to Database System</a:t>
            </a:r>
          </a:p>
        </p:txBody>
      </p:sp>
    </p:spTree>
    <p:extLst>
      <p:ext uri="{BB962C8B-B14F-4D97-AF65-F5344CB8AC3E}">
        <p14:creationId xmlns:p14="http://schemas.microsoft.com/office/powerpoint/2010/main" val="30291476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548FEDE5-D2B6-479C-6B49-67443013397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12">
            <a:extLst>
              <a:ext uri="{FF2B5EF4-FFF2-40B4-BE49-F238E27FC236}">
                <a16:creationId xmlns:a16="http://schemas.microsoft.com/office/drawing/2014/main" id="{5850C522-EC19-2918-1E17-940FCA9FBB4F}"/>
              </a:ext>
            </a:extLst>
          </p:cNvPr>
          <p:cNvSpPr>
            <a:spLocks noGrp="1" noChangeArrowheads="1"/>
          </p:cNvSpPr>
          <p:nvPr>
            <p:ph type="ftr" sz="quarter" idx="11"/>
          </p:nvPr>
        </p:nvSpPr>
        <p:spPr>
          <a:ln/>
        </p:spPr>
        <p:txBody>
          <a:bodyPr/>
          <a:lstStyle>
            <a:lvl1pPr>
              <a:defRPr/>
            </a:lvl1pPr>
          </a:lstStyle>
          <a:p>
            <a:pPr>
              <a:defRPr/>
            </a:pPr>
            <a:r>
              <a:rPr lang="en-US" altLang="zh-CN"/>
              <a:t>An Introduction to Database System</a:t>
            </a:r>
          </a:p>
        </p:txBody>
      </p:sp>
    </p:spTree>
    <p:extLst>
      <p:ext uri="{BB962C8B-B14F-4D97-AF65-F5344CB8AC3E}">
        <p14:creationId xmlns:p14="http://schemas.microsoft.com/office/powerpoint/2010/main" val="19007632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a:extLst>
              <a:ext uri="{FF2B5EF4-FFF2-40B4-BE49-F238E27FC236}">
                <a16:creationId xmlns:a16="http://schemas.microsoft.com/office/drawing/2014/main" id="{3E696C3E-1E4A-1C58-D8C3-734FC17215B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CAE76553-D7E2-6777-E131-EB981687D50B}"/>
              </a:ext>
            </a:extLst>
          </p:cNvPr>
          <p:cNvSpPr>
            <a:spLocks noGrp="1" noChangeArrowheads="1"/>
          </p:cNvSpPr>
          <p:nvPr>
            <p:ph type="ftr" sz="quarter" idx="11"/>
          </p:nvPr>
        </p:nvSpPr>
        <p:spPr>
          <a:ln/>
        </p:spPr>
        <p:txBody>
          <a:bodyPr/>
          <a:lstStyle>
            <a:lvl1pPr>
              <a:defRPr/>
            </a:lvl1pPr>
          </a:lstStyle>
          <a:p>
            <a:pPr>
              <a:defRPr/>
            </a:pPr>
            <a:r>
              <a:rPr lang="en-US" altLang="zh-CN"/>
              <a:t>An Introduction to Database System</a:t>
            </a:r>
          </a:p>
        </p:txBody>
      </p:sp>
    </p:spTree>
    <p:extLst>
      <p:ext uri="{BB962C8B-B14F-4D97-AF65-F5344CB8AC3E}">
        <p14:creationId xmlns:p14="http://schemas.microsoft.com/office/powerpoint/2010/main" val="4978509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a:extLst>
              <a:ext uri="{FF2B5EF4-FFF2-40B4-BE49-F238E27FC236}">
                <a16:creationId xmlns:a16="http://schemas.microsoft.com/office/drawing/2014/main" id="{BA9501FC-3E88-213F-3694-E63F38664C3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D13D19C8-91D5-DA7F-BAF3-E00DC1EC0D21}"/>
              </a:ext>
            </a:extLst>
          </p:cNvPr>
          <p:cNvSpPr>
            <a:spLocks noGrp="1" noChangeArrowheads="1"/>
          </p:cNvSpPr>
          <p:nvPr>
            <p:ph type="ftr" sz="quarter" idx="11"/>
          </p:nvPr>
        </p:nvSpPr>
        <p:spPr>
          <a:ln/>
        </p:spPr>
        <p:txBody>
          <a:bodyPr/>
          <a:lstStyle>
            <a:lvl1pPr>
              <a:defRPr/>
            </a:lvl1pPr>
          </a:lstStyle>
          <a:p>
            <a:pPr>
              <a:defRPr/>
            </a:pPr>
            <a:r>
              <a:rPr lang="en-US" altLang="zh-CN"/>
              <a:t>An Introduction to Database System</a:t>
            </a:r>
          </a:p>
        </p:txBody>
      </p:sp>
    </p:spTree>
    <p:extLst>
      <p:ext uri="{BB962C8B-B14F-4D97-AF65-F5344CB8AC3E}">
        <p14:creationId xmlns:p14="http://schemas.microsoft.com/office/powerpoint/2010/main" val="17836495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a:extLst>
              <a:ext uri="{FF2B5EF4-FFF2-40B4-BE49-F238E27FC236}">
                <a16:creationId xmlns:a16="http://schemas.microsoft.com/office/drawing/2014/main" id="{C3518BAC-A831-EABC-6400-E667B37B9A6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CD57ED79-2B18-F219-AD80-93EBD6212FC4}"/>
              </a:ext>
            </a:extLst>
          </p:cNvPr>
          <p:cNvSpPr>
            <a:spLocks noGrp="1" noChangeArrowheads="1"/>
          </p:cNvSpPr>
          <p:nvPr>
            <p:ph type="ftr" sz="quarter" idx="11"/>
          </p:nvPr>
        </p:nvSpPr>
        <p:spPr>
          <a:ln/>
        </p:spPr>
        <p:txBody>
          <a:bodyPr/>
          <a:lstStyle>
            <a:lvl1pPr>
              <a:defRPr/>
            </a:lvl1pPr>
          </a:lstStyle>
          <a:p>
            <a:pPr>
              <a:defRPr/>
            </a:pPr>
            <a:r>
              <a:rPr lang="en-US" altLang="zh-CN"/>
              <a:t>An Introduction to Database System</a:t>
            </a:r>
          </a:p>
        </p:txBody>
      </p:sp>
    </p:spTree>
    <p:extLst>
      <p:ext uri="{BB962C8B-B14F-4D97-AF65-F5344CB8AC3E}">
        <p14:creationId xmlns:p14="http://schemas.microsoft.com/office/powerpoint/2010/main" val="36826015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617538"/>
            <a:ext cx="1951038" cy="55149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150938" y="617538"/>
            <a:ext cx="5700712" cy="55149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a:extLst>
              <a:ext uri="{FF2B5EF4-FFF2-40B4-BE49-F238E27FC236}">
                <a16:creationId xmlns:a16="http://schemas.microsoft.com/office/drawing/2014/main" id="{59BE33FB-20A9-432A-BEEF-FA8BAEC4FA1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6C02ED74-E7F5-D904-F241-06BA5818C980}"/>
              </a:ext>
            </a:extLst>
          </p:cNvPr>
          <p:cNvSpPr>
            <a:spLocks noGrp="1" noChangeArrowheads="1"/>
          </p:cNvSpPr>
          <p:nvPr>
            <p:ph type="ftr" sz="quarter" idx="11"/>
          </p:nvPr>
        </p:nvSpPr>
        <p:spPr>
          <a:ln/>
        </p:spPr>
        <p:txBody>
          <a:bodyPr/>
          <a:lstStyle>
            <a:lvl1pPr>
              <a:defRPr/>
            </a:lvl1pPr>
          </a:lstStyle>
          <a:p>
            <a:pPr>
              <a:defRPr/>
            </a:pPr>
            <a:r>
              <a:rPr lang="en-US" altLang="zh-CN"/>
              <a:t>An Introduction to Database System</a:t>
            </a:r>
          </a:p>
        </p:txBody>
      </p:sp>
    </p:spTree>
    <p:extLst>
      <p:ext uri="{BB962C8B-B14F-4D97-AF65-F5344CB8AC3E}">
        <p14:creationId xmlns:p14="http://schemas.microsoft.com/office/powerpoint/2010/main" val="22515990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1150938" y="617538"/>
            <a:ext cx="7804150" cy="55149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11">
            <a:extLst>
              <a:ext uri="{FF2B5EF4-FFF2-40B4-BE49-F238E27FC236}">
                <a16:creationId xmlns:a16="http://schemas.microsoft.com/office/drawing/2014/main" id="{33945017-E640-6B7F-C676-75E3566F335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12">
            <a:extLst>
              <a:ext uri="{FF2B5EF4-FFF2-40B4-BE49-F238E27FC236}">
                <a16:creationId xmlns:a16="http://schemas.microsoft.com/office/drawing/2014/main" id="{252B4CFA-0D41-24DB-6AB0-9A77EDCB5C0D}"/>
              </a:ext>
            </a:extLst>
          </p:cNvPr>
          <p:cNvSpPr>
            <a:spLocks noGrp="1" noChangeArrowheads="1"/>
          </p:cNvSpPr>
          <p:nvPr>
            <p:ph type="ftr" sz="quarter" idx="11"/>
          </p:nvPr>
        </p:nvSpPr>
        <p:spPr>
          <a:ln/>
        </p:spPr>
        <p:txBody>
          <a:bodyPr/>
          <a:lstStyle>
            <a:lvl1pPr>
              <a:defRPr/>
            </a:lvl1pPr>
          </a:lstStyle>
          <a:p>
            <a:pPr>
              <a:defRPr/>
            </a:pPr>
            <a:r>
              <a:rPr lang="en-US" altLang="zh-CN"/>
              <a:t>An Introduction to Database System</a:t>
            </a:r>
          </a:p>
        </p:txBody>
      </p:sp>
    </p:spTree>
    <p:extLst>
      <p:ext uri="{BB962C8B-B14F-4D97-AF65-F5344CB8AC3E}">
        <p14:creationId xmlns:p14="http://schemas.microsoft.com/office/powerpoint/2010/main" val="13557111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8" y="617538"/>
            <a:ext cx="7793037"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1182688" y="2017713"/>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45088" y="2017713"/>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a:extLst>
              <a:ext uri="{FF2B5EF4-FFF2-40B4-BE49-F238E27FC236}">
                <a16:creationId xmlns:a16="http://schemas.microsoft.com/office/drawing/2014/main" id="{9C0103B5-A675-5CDD-E44C-46223FCEB2A9}"/>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790406EB-4269-124C-74C0-360EE68B74B2}"/>
              </a:ext>
            </a:extLst>
          </p:cNvPr>
          <p:cNvSpPr>
            <a:spLocks noGrp="1" noChangeArrowheads="1"/>
          </p:cNvSpPr>
          <p:nvPr>
            <p:ph type="ftr" sz="quarter" idx="11"/>
          </p:nvPr>
        </p:nvSpPr>
        <p:spPr>
          <a:ln/>
        </p:spPr>
        <p:txBody>
          <a:bodyPr/>
          <a:lstStyle>
            <a:lvl1pPr>
              <a:defRPr/>
            </a:lvl1pPr>
          </a:lstStyle>
          <a:p>
            <a:pPr>
              <a:defRPr/>
            </a:pPr>
            <a:r>
              <a:rPr lang="en-US" altLang="zh-CN"/>
              <a:t>An Introduction to Database System</a:t>
            </a:r>
          </a:p>
        </p:txBody>
      </p:sp>
    </p:spTree>
    <p:extLst>
      <p:ext uri="{BB962C8B-B14F-4D97-AF65-F5344CB8AC3E}">
        <p14:creationId xmlns:p14="http://schemas.microsoft.com/office/powerpoint/2010/main" val="28720264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1150938" y="617538"/>
            <a:ext cx="7793037" cy="1143000"/>
          </a:xfrm>
        </p:spPr>
        <p:txBody>
          <a:bodyPr/>
          <a:lstStyle/>
          <a:p>
            <a:r>
              <a:rPr lang="zh-CN" altLang="en-US"/>
              <a:t>单击此处编辑母版标题样式</a:t>
            </a:r>
          </a:p>
        </p:txBody>
      </p:sp>
      <p:sp>
        <p:nvSpPr>
          <p:cNvPr id="3" name="内容占位符 2"/>
          <p:cNvSpPr>
            <a:spLocks noGrp="1"/>
          </p:cNvSpPr>
          <p:nvPr>
            <p:ph sz="quarter" idx="1"/>
          </p:nvPr>
        </p:nvSpPr>
        <p:spPr>
          <a:xfrm>
            <a:off x="1182688" y="2017713"/>
            <a:ext cx="38100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5145088" y="2017713"/>
            <a:ext cx="38100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1182688" y="4151313"/>
            <a:ext cx="38100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5145088" y="4151313"/>
            <a:ext cx="38100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1">
            <a:extLst>
              <a:ext uri="{FF2B5EF4-FFF2-40B4-BE49-F238E27FC236}">
                <a16:creationId xmlns:a16="http://schemas.microsoft.com/office/drawing/2014/main" id="{4677392D-A024-91BE-8390-5653B5FF705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12">
            <a:extLst>
              <a:ext uri="{FF2B5EF4-FFF2-40B4-BE49-F238E27FC236}">
                <a16:creationId xmlns:a16="http://schemas.microsoft.com/office/drawing/2014/main" id="{ED82F1AA-2036-328F-B846-C78E4AD78D4F}"/>
              </a:ext>
            </a:extLst>
          </p:cNvPr>
          <p:cNvSpPr>
            <a:spLocks noGrp="1" noChangeArrowheads="1"/>
          </p:cNvSpPr>
          <p:nvPr>
            <p:ph type="ftr" sz="quarter" idx="11"/>
          </p:nvPr>
        </p:nvSpPr>
        <p:spPr>
          <a:ln/>
        </p:spPr>
        <p:txBody>
          <a:bodyPr/>
          <a:lstStyle>
            <a:lvl1pPr>
              <a:defRPr/>
            </a:lvl1pPr>
          </a:lstStyle>
          <a:p>
            <a:pPr>
              <a:defRPr/>
            </a:pPr>
            <a:r>
              <a:rPr lang="en-US" altLang="zh-CN"/>
              <a:t>An Introduction to Database System</a:t>
            </a:r>
          </a:p>
        </p:txBody>
      </p:sp>
    </p:spTree>
    <p:extLst>
      <p:ext uri="{BB962C8B-B14F-4D97-AF65-F5344CB8AC3E}">
        <p14:creationId xmlns:p14="http://schemas.microsoft.com/office/powerpoint/2010/main" val="232576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98FC408-20ED-0FC2-B3D3-8CDA49B3A72B}"/>
              </a:ext>
            </a:extLst>
          </p:cNvPr>
          <p:cNvSpPr>
            <a:spLocks noChangeArrowheads="1"/>
          </p:cNvSpPr>
          <p:nvPr/>
        </p:nvSpPr>
        <p:spPr bwMode="ltGray">
          <a:xfrm>
            <a:off x="417513" y="1098550"/>
            <a:ext cx="438150" cy="474663"/>
          </a:xfrm>
          <a:prstGeom prst="rect">
            <a:avLst/>
          </a:prstGeom>
          <a:solidFill>
            <a:schemeClr val="accent2"/>
          </a:solidFill>
          <a:ln>
            <a:noFill/>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defRPr/>
            </a:pPr>
            <a:endParaRPr lang="zh-CN" altLang="zh-CN">
              <a:latin typeface="Tahoma" pitchFamily="34" charset="0"/>
            </a:endParaRPr>
          </a:p>
        </p:txBody>
      </p:sp>
      <p:sp>
        <p:nvSpPr>
          <p:cNvPr id="1027" name="Rectangle 3">
            <a:extLst>
              <a:ext uri="{FF2B5EF4-FFF2-40B4-BE49-F238E27FC236}">
                <a16:creationId xmlns:a16="http://schemas.microsoft.com/office/drawing/2014/main" id="{D604FA03-BB48-8708-F680-E29CEDD7B64A}"/>
              </a:ext>
            </a:extLst>
          </p:cNvPr>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defRPr/>
            </a:pPr>
            <a:endParaRPr lang="zh-CN" altLang="zh-CN">
              <a:latin typeface="Tahoma" pitchFamily="34" charset="0"/>
            </a:endParaRPr>
          </a:p>
        </p:txBody>
      </p:sp>
      <p:sp>
        <p:nvSpPr>
          <p:cNvPr id="1028" name="Rectangle 4">
            <a:extLst>
              <a:ext uri="{FF2B5EF4-FFF2-40B4-BE49-F238E27FC236}">
                <a16:creationId xmlns:a16="http://schemas.microsoft.com/office/drawing/2014/main" id="{FA884005-9178-25C6-BF74-CC2F2CDCB8F4}"/>
              </a:ext>
            </a:extLst>
          </p:cNvPr>
          <p:cNvSpPr>
            <a:spLocks noChangeArrowheads="1"/>
          </p:cNvSpPr>
          <p:nvPr/>
        </p:nvSpPr>
        <p:spPr bwMode="ltGray">
          <a:xfrm>
            <a:off x="541338" y="1520825"/>
            <a:ext cx="422275" cy="474663"/>
          </a:xfrm>
          <a:prstGeom prst="rect">
            <a:avLst/>
          </a:prstGeom>
          <a:solidFill>
            <a:schemeClr val="folHlink"/>
          </a:solidFill>
          <a:ln>
            <a:noFill/>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defRPr/>
            </a:pPr>
            <a:endParaRPr lang="zh-CN" altLang="zh-CN">
              <a:latin typeface="Tahoma" pitchFamily="34" charset="0"/>
            </a:endParaRPr>
          </a:p>
        </p:txBody>
      </p:sp>
      <p:sp>
        <p:nvSpPr>
          <p:cNvPr id="1029" name="Rectangle 5">
            <a:extLst>
              <a:ext uri="{FF2B5EF4-FFF2-40B4-BE49-F238E27FC236}">
                <a16:creationId xmlns:a16="http://schemas.microsoft.com/office/drawing/2014/main" id="{74E804AD-EEE4-052C-99C3-EF702489F073}"/>
              </a:ext>
            </a:extLst>
          </p:cNvPr>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defRPr/>
            </a:pPr>
            <a:endParaRPr lang="zh-CN" altLang="zh-CN">
              <a:latin typeface="Tahoma" pitchFamily="34" charset="0"/>
            </a:endParaRPr>
          </a:p>
        </p:txBody>
      </p:sp>
      <p:sp>
        <p:nvSpPr>
          <p:cNvPr id="1030" name="Rectangle 6">
            <a:extLst>
              <a:ext uri="{FF2B5EF4-FFF2-40B4-BE49-F238E27FC236}">
                <a16:creationId xmlns:a16="http://schemas.microsoft.com/office/drawing/2014/main" id="{A9BD6EAA-9380-A0F5-7121-30077C9BE021}"/>
              </a:ext>
            </a:extLst>
          </p:cNvPr>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defRPr/>
            </a:pPr>
            <a:endParaRPr lang="zh-CN" altLang="zh-CN">
              <a:latin typeface="Tahoma" pitchFamily="34" charset="0"/>
            </a:endParaRPr>
          </a:p>
        </p:txBody>
      </p:sp>
      <p:sp>
        <p:nvSpPr>
          <p:cNvPr id="1031" name="Rectangle 7">
            <a:extLst>
              <a:ext uri="{FF2B5EF4-FFF2-40B4-BE49-F238E27FC236}">
                <a16:creationId xmlns:a16="http://schemas.microsoft.com/office/drawing/2014/main" id="{3A746198-93B7-24BA-A1A2-869D31A8A9F0}"/>
              </a:ext>
            </a:extLst>
          </p:cNvPr>
          <p:cNvSpPr>
            <a:spLocks noChangeArrowheads="1"/>
          </p:cNvSpPr>
          <p:nvPr/>
        </p:nvSpPr>
        <p:spPr bwMode="gray">
          <a:xfrm>
            <a:off x="762000" y="990600"/>
            <a:ext cx="31750" cy="1052513"/>
          </a:xfrm>
          <a:prstGeom prst="rect">
            <a:avLst/>
          </a:prstGeom>
          <a:solidFill>
            <a:schemeClr val="bg2"/>
          </a:solidFill>
          <a:ln>
            <a:noFill/>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defRPr/>
            </a:pPr>
            <a:endParaRPr lang="zh-CN" altLang="zh-CN">
              <a:latin typeface="Tahoma" pitchFamily="34" charset="0"/>
            </a:endParaRPr>
          </a:p>
        </p:txBody>
      </p:sp>
      <p:sp>
        <p:nvSpPr>
          <p:cNvPr id="1032" name="Rectangle 8">
            <a:extLst>
              <a:ext uri="{FF2B5EF4-FFF2-40B4-BE49-F238E27FC236}">
                <a16:creationId xmlns:a16="http://schemas.microsoft.com/office/drawing/2014/main" id="{CE5C86D1-710A-29D3-090D-579825A8D090}"/>
              </a:ext>
            </a:extLst>
          </p:cNvPr>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defRPr/>
            </a:pPr>
            <a:endParaRPr lang="zh-CN" altLang="zh-CN">
              <a:latin typeface="Tahoma" pitchFamily="34" charset="0"/>
            </a:endParaRPr>
          </a:p>
        </p:txBody>
      </p:sp>
      <p:sp>
        <p:nvSpPr>
          <p:cNvPr id="1033" name="Rectangle 9">
            <a:extLst>
              <a:ext uri="{FF2B5EF4-FFF2-40B4-BE49-F238E27FC236}">
                <a16:creationId xmlns:a16="http://schemas.microsoft.com/office/drawing/2014/main" id="{2AE1B27D-7E0C-A10D-3E77-168B855BB69F}"/>
              </a:ext>
            </a:extLst>
          </p:cNvPr>
          <p:cNvSpPr>
            <a:spLocks noGrp="1" noChangeArrowheads="1"/>
          </p:cNvSpPr>
          <p:nvPr>
            <p:ph type="title"/>
          </p:nvPr>
        </p:nvSpPr>
        <p:spPr bwMode="auto">
          <a:xfrm>
            <a:off x="1150938" y="617538"/>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34" name="Rectangle 10">
            <a:extLst>
              <a:ext uri="{FF2B5EF4-FFF2-40B4-BE49-F238E27FC236}">
                <a16:creationId xmlns:a16="http://schemas.microsoft.com/office/drawing/2014/main" id="{1DEDDDDE-EDC0-4863-202F-BE630468CF03}"/>
              </a:ext>
            </a:extLst>
          </p:cNvPr>
          <p:cNvSpPr>
            <a:spLocks noGrp="1" noChangeArrowheads="1"/>
          </p:cNvSpPr>
          <p:nvPr>
            <p:ph type="body" idx="1"/>
          </p:nvPr>
        </p:nvSpPr>
        <p:spPr bwMode="auto">
          <a:xfrm>
            <a:off x="1182688" y="2017713"/>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28715" name="Rectangle 11">
            <a:extLst>
              <a:ext uri="{FF2B5EF4-FFF2-40B4-BE49-F238E27FC236}">
                <a16:creationId xmlns:a16="http://schemas.microsoft.com/office/drawing/2014/main" id="{3E617566-FA95-6191-6B7B-36E9C7F5B10C}"/>
              </a:ext>
            </a:extLst>
          </p:cNvPr>
          <p:cNvSpPr>
            <a:spLocks noGrp="1" noChangeArrowheads="1"/>
          </p:cNvSpPr>
          <p:nvPr>
            <p:ph type="dt" sz="half" idx="2"/>
          </p:nvPr>
        </p:nvSpPr>
        <p:spPr bwMode="auto">
          <a:xfrm>
            <a:off x="9144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kumimoji="0" sz="1400">
                <a:latin typeface="+mn-lt"/>
              </a:defRPr>
            </a:lvl1pPr>
          </a:lstStyle>
          <a:p>
            <a:pPr>
              <a:defRPr/>
            </a:pPr>
            <a:endParaRPr lang="en-US" altLang="zh-CN"/>
          </a:p>
        </p:txBody>
      </p:sp>
      <p:sp>
        <p:nvSpPr>
          <p:cNvPr id="328716" name="Rectangle 12">
            <a:extLst>
              <a:ext uri="{FF2B5EF4-FFF2-40B4-BE49-F238E27FC236}">
                <a16:creationId xmlns:a16="http://schemas.microsoft.com/office/drawing/2014/main" id="{420542C7-7715-B9A7-D144-FFDD35CBC3AF}"/>
              </a:ext>
            </a:extLst>
          </p:cNvPr>
          <p:cNvSpPr>
            <a:spLocks noGrp="1" noChangeArrowheads="1"/>
          </p:cNvSpPr>
          <p:nvPr>
            <p:ph type="ftr" sz="quarter" idx="3"/>
          </p:nvPr>
        </p:nvSpPr>
        <p:spPr bwMode="auto">
          <a:xfrm>
            <a:off x="5029200" y="6165850"/>
            <a:ext cx="3735388"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kumimoji="0" sz="1400">
                <a:solidFill>
                  <a:schemeClr val="hlink"/>
                </a:solidFill>
                <a:latin typeface="Principals of Database System"/>
              </a:defRPr>
            </a:lvl1pPr>
          </a:lstStyle>
          <a:p>
            <a:pPr>
              <a:defRPr/>
            </a:pPr>
            <a:r>
              <a:rPr lang="en-US" altLang="zh-CN"/>
              <a:t>An Introduction to Database System</a:t>
            </a:r>
          </a:p>
        </p:txBody>
      </p:sp>
    </p:spTree>
  </p:cSld>
  <p:clrMap bg1="lt1" tx1="dk1" bg2="lt2" tx2="dk2" accent1="accent1" accent2="accent2" accent3="accent3" accent4="accent4" accent5="accent5" accent6="accent6" hlink="hlink" folHlink="folHlink"/>
  <p:sldLayoutIdLst>
    <p:sldLayoutId id="2147483995" r:id="rId1"/>
    <p:sldLayoutId id="2147483982" r:id="rId2"/>
    <p:sldLayoutId id="2147483983" r:id="rId3"/>
    <p:sldLayoutId id="2147483984" r:id="rId4"/>
    <p:sldLayoutId id="2147483985" r:id="rId5"/>
    <p:sldLayoutId id="2147483986" r:id="rId6"/>
    <p:sldLayoutId id="2147483987" r:id="rId7"/>
    <p:sldLayoutId id="2147483988" r:id="rId8"/>
    <p:sldLayoutId id="2147483989" r:id="rId9"/>
    <p:sldLayoutId id="2147483990" r:id="rId10"/>
    <p:sldLayoutId id="2147483991" r:id="rId11"/>
    <p:sldLayoutId id="2147483992" r:id="rId12"/>
    <p:sldLayoutId id="2147483993" r:id="rId13"/>
    <p:sldLayoutId id="2147483994" r:id="rId14"/>
  </p:sldLayoutIdLst>
  <p:hf sldNum="0" hdr="0" dt="0"/>
  <p:txStyles>
    <p:titleStyle>
      <a:lvl1pPr algn="l" rtl="0" eaLnBrk="0" fontAlgn="base" hangingPunct="0">
        <a:spcBef>
          <a:spcPct val="0"/>
        </a:spcBef>
        <a:spcAft>
          <a:spcPct val="0"/>
        </a:spcAft>
        <a:defRPr kumimoji="1" sz="3600" b="1">
          <a:solidFill>
            <a:schemeClr val="tx2"/>
          </a:solidFill>
          <a:latin typeface="+mj-lt"/>
          <a:ea typeface="+mj-ea"/>
          <a:cs typeface="+mj-cs"/>
        </a:defRPr>
      </a:lvl1pPr>
      <a:lvl2pPr algn="l" rtl="0" eaLnBrk="0" fontAlgn="base" hangingPunct="0">
        <a:spcBef>
          <a:spcPct val="0"/>
        </a:spcBef>
        <a:spcAft>
          <a:spcPct val="0"/>
        </a:spcAft>
        <a:defRPr kumimoji="1" sz="3600" b="1">
          <a:solidFill>
            <a:schemeClr val="tx2"/>
          </a:solidFill>
          <a:latin typeface="Tahoma" pitchFamily="34" charset="0"/>
          <a:ea typeface="仿宋_GB2312" pitchFamily="49" charset="-122"/>
        </a:defRPr>
      </a:lvl2pPr>
      <a:lvl3pPr algn="l" rtl="0" eaLnBrk="0" fontAlgn="base" hangingPunct="0">
        <a:spcBef>
          <a:spcPct val="0"/>
        </a:spcBef>
        <a:spcAft>
          <a:spcPct val="0"/>
        </a:spcAft>
        <a:defRPr kumimoji="1" sz="3600" b="1">
          <a:solidFill>
            <a:schemeClr val="tx2"/>
          </a:solidFill>
          <a:latin typeface="Tahoma" pitchFamily="34" charset="0"/>
          <a:ea typeface="仿宋_GB2312" pitchFamily="49" charset="-122"/>
        </a:defRPr>
      </a:lvl3pPr>
      <a:lvl4pPr algn="l" rtl="0" eaLnBrk="0" fontAlgn="base" hangingPunct="0">
        <a:spcBef>
          <a:spcPct val="0"/>
        </a:spcBef>
        <a:spcAft>
          <a:spcPct val="0"/>
        </a:spcAft>
        <a:defRPr kumimoji="1" sz="3600" b="1">
          <a:solidFill>
            <a:schemeClr val="tx2"/>
          </a:solidFill>
          <a:latin typeface="Tahoma" pitchFamily="34" charset="0"/>
          <a:ea typeface="仿宋_GB2312" pitchFamily="49" charset="-122"/>
        </a:defRPr>
      </a:lvl4pPr>
      <a:lvl5pPr algn="l" rtl="0" eaLnBrk="0" fontAlgn="base" hangingPunct="0">
        <a:spcBef>
          <a:spcPct val="0"/>
        </a:spcBef>
        <a:spcAft>
          <a:spcPct val="0"/>
        </a:spcAft>
        <a:defRPr kumimoji="1" sz="3600" b="1">
          <a:solidFill>
            <a:schemeClr val="tx2"/>
          </a:solidFill>
          <a:latin typeface="Tahoma" pitchFamily="34" charset="0"/>
          <a:ea typeface="仿宋_GB2312" pitchFamily="49" charset="-122"/>
        </a:defRPr>
      </a:lvl5pPr>
      <a:lvl6pPr marL="457200" algn="l" rtl="0" fontAlgn="base">
        <a:spcBef>
          <a:spcPct val="0"/>
        </a:spcBef>
        <a:spcAft>
          <a:spcPct val="0"/>
        </a:spcAft>
        <a:defRPr kumimoji="1" sz="3600" b="1">
          <a:solidFill>
            <a:schemeClr val="tx2"/>
          </a:solidFill>
          <a:latin typeface="Tahoma" pitchFamily="34" charset="0"/>
          <a:ea typeface="仿宋_GB2312" pitchFamily="49" charset="-122"/>
        </a:defRPr>
      </a:lvl6pPr>
      <a:lvl7pPr marL="914400" algn="l" rtl="0" fontAlgn="base">
        <a:spcBef>
          <a:spcPct val="0"/>
        </a:spcBef>
        <a:spcAft>
          <a:spcPct val="0"/>
        </a:spcAft>
        <a:defRPr kumimoji="1" sz="3600" b="1">
          <a:solidFill>
            <a:schemeClr val="tx2"/>
          </a:solidFill>
          <a:latin typeface="Tahoma" pitchFamily="34" charset="0"/>
          <a:ea typeface="仿宋_GB2312" pitchFamily="49" charset="-122"/>
        </a:defRPr>
      </a:lvl7pPr>
      <a:lvl8pPr marL="1371600" algn="l" rtl="0" fontAlgn="base">
        <a:spcBef>
          <a:spcPct val="0"/>
        </a:spcBef>
        <a:spcAft>
          <a:spcPct val="0"/>
        </a:spcAft>
        <a:defRPr kumimoji="1" sz="3600" b="1">
          <a:solidFill>
            <a:schemeClr val="tx2"/>
          </a:solidFill>
          <a:latin typeface="Tahoma" pitchFamily="34" charset="0"/>
          <a:ea typeface="仿宋_GB2312" pitchFamily="49" charset="-122"/>
        </a:defRPr>
      </a:lvl8pPr>
      <a:lvl9pPr marL="1828800" algn="l" rtl="0" fontAlgn="base">
        <a:spcBef>
          <a:spcPct val="0"/>
        </a:spcBef>
        <a:spcAft>
          <a:spcPct val="0"/>
        </a:spcAft>
        <a:defRPr kumimoji="1" sz="3600" b="1">
          <a:solidFill>
            <a:schemeClr val="tx2"/>
          </a:solidFill>
          <a:latin typeface="Tahoma" pitchFamily="34" charset="0"/>
          <a:ea typeface="仿宋_GB2312" pitchFamily="49"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页脚占位符 4">
            <a:extLst>
              <a:ext uri="{FF2B5EF4-FFF2-40B4-BE49-F238E27FC236}">
                <a16:creationId xmlns:a16="http://schemas.microsoft.com/office/drawing/2014/main" id="{B6EA58A5-F5F5-D208-B0D2-4A0EC405023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4099" name="Rectangle 3">
            <a:extLst>
              <a:ext uri="{FF2B5EF4-FFF2-40B4-BE49-F238E27FC236}">
                <a16:creationId xmlns:a16="http://schemas.microsoft.com/office/drawing/2014/main" id="{ABDDEFFB-CEC3-C9D2-F3CC-59ADD5272BDF}"/>
              </a:ext>
            </a:extLst>
          </p:cNvPr>
          <p:cNvSpPr>
            <a:spLocks noChangeArrowheads="1"/>
          </p:cNvSpPr>
          <p:nvPr/>
        </p:nvSpPr>
        <p:spPr bwMode="auto">
          <a:xfrm>
            <a:off x="755650" y="990600"/>
            <a:ext cx="7924800" cy="271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4800" b="1">
                <a:latin typeface="Arial Black" panose="020B0A04020102020204" pitchFamily="34" charset="0"/>
                <a:ea typeface="隶书" panose="02010509060101010101" pitchFamily="49" charset="-122"/>
              </a:rPr>
              <a:t>数据库系统概论</a:t>
            </a:r>
            <a:endParaRPr lang="zh-CN" altLang="en-US" sz="4800" b="1">
              <a:latin typeface="宋体" panose="02010600030101010101" pitchFamily="2" charset="-122"/>
            </a:endParaRPr>
          </a:p>
          <a:p>
            <a:pPr algn="ctr" eaLnBrk="1" hangingPunct="1">
              <a:spcBef>
                <a:spcPct val="0"/>
              </a:spcBef>
              <a:buClrTx/>
              <a:buSzTx/>
              <a:buFontTx/>
              <a:buNone/>
            </a:pPr>
            <a:r>
              <a:rPr lang="en-US" altLang="zh-CN" sz="3600" b="1">
                <a:latin typeface="Times New Roman" panose="02020603050405020304" pitchFamily="18" charset="0"/>
              </a:rPr>
              <a:t>An Introduction to Database System</a:t>
            </a:r>
          </a:p>
          <a:p>
            <a:pPr algn="ctr" eaLnBrk="1" hangingPunct="1">
              <a:spcBef>
                <a:spcPct val="0"/>
              </a:spcBef>
              <a:buClrTx/>
              <a:buSzTx/>
              <a:buFontTx/>
              <a:buNone/>
            </a:pPr>
            <a:endParaRPr lang="en-US" altLang="zh-CN" sz="4400" b="1">
              <a:latin typeface="Times New Roman" panose="02020603050405020304" pitchFamily="18" charset="0"/>
            </a:endParaRPr>
          </a:p>
          <a:p>
            <a:pPr algn="ctr" eaLnBrk="1" hangingPunct="1">
              <a:spcBef>
                <a:spcPct val="0"/>
              </a:spcBef>
              <a:buClrTx/>
              <a:buSzTx/>
              <a:buFontTx/>
              <a:buNone/>
            </a:pPr>
            <a:r>
              <a:rPr lang="zh-CN" altLang="en-US" sz="4400" b="1">
                <a:solidFill>
                  <a:schemeClr val="tx2"/>
                </a:solidFill>
                <a:latin typeface="楷体_GB2312" panose="02010609030101010101" pitchFamily="49" charset="-122"/>
                <a:ea typeface="楷体_GB2312" panose="02010609030101010101" pitchFamily="49" charset="-122"/>
              </a:rPr>
              <a:t>第七章  数据库设计</a:t>
            </a:r>
          </a:p>
        </p:txBody>
      </p:sp>
    </p:spTree>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页脚占位符 4">
            <a:extLst>
              <a:ext uri="{FF2B5EF4-FFF2-40B4-BE49-F238E27FC236}">
                <a16:creationId xmlns:a16="http://schemas.microsoft.com/office/drawing/2014/main" id="{F5D7CCE9-2AF5-2F9D-7D80-3C52F8718A2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6147" name="Rectangle 2">
            <a:extLst>
              <a:ext uri="{FF2B5EF4-FFF2-40B4-BE49-F238E27FC236}">
                <a16:creationId xmlns:a16="http://schemas.microsoft.com/office/drawing/2014/main" id="{50FCF793-715B-EAF4-AEE7-39DBA50630E7}"/>
              </a:ext>
            </a:extLst>
          </p:cNvPr>
          <p:cNvSpPr>
            <a:spLocks noGrp="1" noChangeArrowheads="1"/>
          </p:cNvSpPr>
          <p:nvPr>
            <p:ph type="title"/>
          </p:nvPr>
        </p:nvSpPr>
        <p:spPr/>
        <p:txBody>
          <a:bodyPr/>
          <a:lstStyle/>
          <a:p>
            <a:pPr eaLnBrk="1" hangingPunct="1"/>
            <a:r>
              <a:rPr lang="zh-CN" altLang="en-US"/>
              <a:t>数据库设计概述（续）</a:t>
            </a:r>
          </a:p>
        </p:txBody>
      </p:sp>
      <p:sp>
        <p:nvSpPr>
          <p:cNvPr id="4100" name="Rectangle 3">
            <a:extLst>
              <a:ext uri="{FF2B5EF4-FFF2-40B4-BE49-F238E27FC236}">
                <a16:creationId xmlns:a16="http://schemas.microsoft.com/office/drawing/2014/main" id="{67D9297E-88E1-10DF-9BCD-C3FC08CC34A4}"/>
              </a:ext>
            </a:extLst>
          </p:cNvPr>
          <p:cNvSpPr>
            <a:spLocks noGrp="1" noChangeArrowheads="1"/>
          </p:cNvSpPr>
          <p:nvPr>
            <p:ph type="body" idx="1"/>
          </p:nvPr>
        </p:nvSpPr>
        <p:spPr>
          <a:xfrm>
            <a:off x="323850" y="2017713"/>
            <a:ext cx="8631238" cy="4364037"/>
          </a:xfrm>
        </p:spPr>
        <p:txBody>
          <a:bodyPr/>
          <a:lstStyle/>
          <a:p>
            <a:pPr eaLnBrk="1" hangingPunct="1">
              <a:lnSpc>
                <a:spcPct val="110000"/>
              </a:lnSpc>
              <a:spcBef>
                <a:spcPct val="40000"/>
              </a:spcBef>
              <a:spcAft>
                <a:spcPct val="20000"/>
              </a:spcAft>
            </a:pPr>
            <a:r>
              <a:rPr lang="zh-CN" altLang="en-US"/>
              <a:t>在数据库领域内，常常把使用数据库的各类系统统称为数据库应用系统。</a:t>
            </a:r>
          </a:p>
          <a:p>
            <a:pPr eaLnBrk="1" hangingPunct="1">
              <a:lnSpc>
                <a:spcPct val="90000"/>
              </a:lnSpc>
            </a:pPr>
            <a:r>
              <a:rPr lang="zh-CN" altLang="en-US"/>
              <a:t>什么是数据库设计</a:t>
            </a:r>
          </a:p>
          <a:p>
            <a:pPr lvl="1" eaLnBrk="1" hangingPunct="1">
              <a:lnSpc>
                <a:spcPct val="110000"/>
              </a:lnSpc>
              <a:spcBef>
                <a:spcPct val="40000"/>
              </a:spcBef>
              <a:spcAft>
                <a:spcPct val="20000"/>
              </a:spcAft>
            </a:pPr>
            <a:r>
              <a:rPr lang="zh-CN" altLang="en-US"/>
              <a:t>广义地讲，是数据库及其应用系统的设计，即设计整个的数据库应用系统。</a:t>
            </a:r>
            <a:endParaRPr lang="en-US" altLang="zh-CN"/>
          </a:p>
          <a:p>
            <a:pPr lvl="1" eaLnBrk="1" hangingPunct="1">
              <a:lnSpc>
                <a:spcPct val="110000"/>
              </a:lnSpc>
              <a:spcBef>
                <a:spcPct val="40000"/>
              </a:spcBef>
              <a:spcAft>
                <a:spcPct val="20000"/>
              </a:spcAft>
            </a:pPr>
            <a:r>
              <a:rPr lang="zh-CN" altLang="en-US"/>
              <a:t>狭义地讲，即设计数据库的各级模式并建立数据库，这是数据库应用系统设计的一部分。重点讲解狭义的数据库设计。</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100">
                                            <p:txEl>
                                              <p:pRg st="1" end="1"/>
                                            </p:txEl>
                                          </p:spTgt>
                                        </p:tgtEl>
                                        <p:attrNameLst>
                                          <p:attrName>style.visibility</p:attrName>
                                        </p:attrNameLst>
                                      </p:cBhvr>
                                      <p:to>
                                        <p:strVal val="visible"/>
                                      </p:to>
                                    </p:set>
                                    <p:animEffect transition="in" filter="box(in)">
                                      <p:cBhvr>
                                        <p:cTn id="7" dur="500"/>
                                        <p:tgtEl>
                                          <p:spTgt spid="4100">
                                            <p:txEl>
                                              <p:pRg st="1" end="1"/>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4100">
                                            <p:txEl>
                                              <p:pRg st="2" end="2"/>
                                            </p:txEl>
                                          </p:spTgt>
                                        </p:tgtEl>
                                        <p:attrNameLst>
                                          <p:attrName>style.visibility</p:attrName>
                                        </p:attrNameLst>
                                      </p:cBhvr>
                                      <p:to>
                                        <p:strVal val="visible"/>
                                      </p:to>
                                    </p:set>
                                    <p:animEffect transition="in" filter="box(in)">
                                      <p:cBhvr>
                                        <p:cTn id="10" dur="500"/>
                                        <p:tgtEl>
                                          <p:spTgt spid="4100">
                                            <p:txEl>
                                              <p:pRg st="2" end="2"/>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4100">
                                            <p:txEl>
                                              <p:pRg st="3" end="3"/>
                                            </p:txEl>
                                          </p:spTgt>
                                        </p:tgtEl>
                                        <p:attrNameLst>
                                          <p:attrName>style.visibility</p:attrName>
                                        </p:attrNameLst>
                                      </p:cBhvr>
                                      <p:to>
                                        <p:strVal val="visible"/>
                                      </p:to>
                                    </p:set>
                                    <p:animEffect transition="in" filter="box(in)">
                                      <p:cBhvr>
                                        <p:cTn id="13" dur="500"/>
                                        <p:tgtEl>
                                          <p:spTgt spid="410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页脚占位符 4">
            <a:extLst>
              <a:ext uri="{FF2B5EF4-FFF2-40B4-BE49-F238E27FC236}">
                <a16:creationId xmlns:a16="http://schemas.microsoft.com/office/drawing/2014/main" id="{FAF2210D-FF3A-EAB7-01C9-FB3EEF4D738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7171" name="Rectangle 2">
            <a:extLst>
              <a:ext uri="{FF2B5EF4-FFF2-40B4-BE49-F238E27FC236}">
                <a16:creationId xmlns:a16="http://schemas.microsoft.com/office/drawing/2014/main" id="{5E4A17E0-65D4-5467-9872-99A6C9BA0FC1}"/>
              </a:ext>
            </a:extLst>
          </p:cNvPr>
          <p:cNvSpPr>
            <a:spLocks noGrp="1" noChangeArrowheads="1"/>
          </p:cNvSpPr>
          <p:nvPr>
            <p:ph type="title"/>
          </p:nvPr>
        </p:nvSpPr>
        <p:spPr/>
        <p:txBody>
          <a:bodyPr/>
          <a:lstStyle/>
          <a:p>
            <a:pPr eaLnBrk="1" hangingPunct="1"/>
            <a:r>
              <a:rPr lang="zh-CN" altLang="en-US"/>
              <a:t>数据库设计概述（续）</a:t>
            </a:r>
          </a:p>
        </p:txBody>
      </p:sp>
      <p:sp>
        <p:nvSpPr>
          <p:cNvPr id="7172" name="Rectangle 3">
            <a:extLst>
              <a:ext uri="{FF2B5EF4-FFF2-40B4-BE49-F238E27FC236}">
                <a16:creationId xmlns:a16="http://schemas.microsoft.com/office/drawing/2014/main" id="{13C754EA-B244-BAAB-D474-57A0AD0146A9}"/>
              </a:ext>
            </a:extLst>
          </p:cNvPr>
          <p:cNvSpPr>
            <a:spLocks noGrp="1" noChangeArrowheads="1"/>
          </p:cNvSpPr>
          <p:nvPr>
            <p:ph type="body" idx="1"/>
          </p:nvPr>
        </p:nvSpPr>
        <p:spPr>
          <a:xfrm>
            <a:off x="323850" y="2017713"/>
            <a:ext cx="8631238" cy="4114800"/>
          </a:xfrm>
        </p:spPr>
        <p:txBody>
          <a:bodyPr/>
          <a:lstStyle/>
          <a:p>
            <a:pPr eaLnBrk="1" hangingPunct="1">
              <a:lnSpc>
                <a:spcPct val="90000"/>
              </a:lnSpc>
            </a:pPr>
            <a:r>
              <a:rPr lang="zh-CN" altLang="en-US"/>
              <a:t>数据库设计的一般定义</a:t>
            </a:r>
          </a:p>
          <a:p>
            <a:pPr lvl="1" eaLnBrk="1" hangingPunct="1">
              <a:lnSpc>
                <a:spcPct val="110000"/>
              </a:lnSpc>
              <a:spcBef>
                <a:spcPct val="40000"/>
              </a:spcBef>
              <a:spcAft>
                <a:spcPct val="20000"/>
              </a:spcAft>
            </a:pPr>
            <a:r>
              <a:rPr lang="zh-CN" altLang="en-US"/>
              <a:t>数据库设计是指对于一个给定的应用环境，构造最优的数据库模式，并据此建立数据库及其应用系统，使之能够有效地存储数据，满足各种用户的应用需求（信息要求和处理要求）。</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页脚占位符 4">
            <a:extLst>
              <a:ext uri="{FF2B5EF4-FFF2-40B4-BE49-F238E27FC236}">
                <a16:creationId xmlns:a16="http://schemas.microsoft.com/office/drawing/2014/main" id="{034AB812-4E88-5929-AB09-51AFE616BE2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8195" name="Rectangle 2">
            <a:extLst>
              <a:ext uri="{FF2B5EF4-FFF2-40B4-BE49-F238E27FC236}">
                <a16:creationId xmlns:a16="http://schemas.microsoft.com/office/drawing/2014/main" id="{24ED098B-DA58-381B-BC39-3C8A13F2AB30}"/>
              </a:ext>
            </a:extLst>
          </p:cNvPr>
          <p:cNvSpPr>
            <a:spLocks noGrp="1" noChangeArrowheads="1"/>
          </p:cNvSpPr>
          <p:nvPr>
            <p:ph type="title"/>
          </p:nvPr>
        </p:nvSpPr>
        <p:spPr/>
        <p:txBody>
          <a:bodyPr/>
          <a:lstStyle/>
          <a:p>
            <a:pPr eaLnBrk="1" hangingPunct="1"/>
            <a:r>
              <a:rPr lang="en-US" altLang="zh-CN"/>
              <a:t>7.1.1  </a:t>
            </a:r>
            <a:r>
              <a:rPr lang="zh-CN" altLang="en-US"/>
              <a:t>数据库设计的特点</a:t>
            </a:r>
          </a:p>
        </p:txBody>
      </p:sp>
      <p:sp>
        <p:nvSpPr>
          <p:cNvPr id="6148" name="Rectangle 3">
            <a:extLst>
              <a:ext uri="{FF2B5EF4-FFF2-40B4-BE49-F238E27FC236}">
                <a16:creationId xmlns:a16="http://schemas.microsoft.com/office/drawing/2014/main" id="{41D951D8-7490-2F79-7D60-210463899DF5}"/>
              </a:ext>
            </a:extLst>
          </p:cNvPr>
          <p:cNvSpPr>
            <a:spLocks noGrp="1" noChangeArrowheads="1"/>
          </p:cNvSpPr>
          <p:nvPr>
            <p:ph type="body" idx="1"/>
          </p:nvPr>
        </p:nvSpPr>
        <p:spPr>
          <a:xfrm>
            <a:off x="395288" y="2017713"/>
            <a:ext cx="8559800" cy="4114800"/>
          </a:xfrm>
        </p:spPr>
        <p:txBody>
          <a:bodyPr/>
          <a:lstStyle/>
          <a:p>
            <a:pPr eaLnBrk="1" hangingPunct="1"/>
            <a:r>
              <a:rPr lang="zh-CN" altLang="en-US"/>
              <a:t>数据库建设是硬件、软件的结合</a:t>
            </a:r>
          </a:p>
          <a:p>
            <a:pPr lvl="1" eaLnBrk="1" hangingPunct="1"/>
            <a:r>
              <a:rPr lang="zh-CN" altLang="en-US"/>
              <a:t>三分技术，七分管理，十二分基础数据</a:t>
            </a:r>
          </a:p>
          <a:p>
            <a:pPr lvl="1" eaLnBrk="1" hangingPunct="1">
              <a:buFont typeface="Wingdings" panose="05000000000000000000" pitchFamily="2" charset="2"/>
              <a:buNone/>
            </a:pPr>
            <a:endParaRPr lang="zh-CN" altLang="en-US"/>
          </a:p>
          <a:p>
            <a:pPr eaLnBrk="1" hangingPunct="1"/>
            <a:r>
              <a:rPr lang="zh-CN" altLang="en-US"/>
              <a:t> 数据库设计应该与应用系统设计相结合</a:t>
            </a:r>
          </a:p>
          <a:p>
            <a:pPr lvl="1" eaLnBrk="1" hangingPunct="1"/>
            <a:r>
              <a:rPr lang="zh-CN" altLang="en-US"/>
              <a:t>结构（数据）设计：设计数据库框架或数据库结构</a:t>
            </a:r>
          </a:p>
          <a:p>
            <a:pPr lvl="1" eaLnBrk="1" hangingPunct="1"/>
            <a:r>
              <a:rPr lang="zh-CN" altLang="en-US"/>
              <a:t>行为（处理）设计：设计应用程序、事务处理等</a:t>
            </a:r>
            <a:endParaRPr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6148">
                                            <p:txEl>
                                              <p:pRg st="0" end="0"/>
                                            </p:txEl>
                                          </p:spTgt>
                                        </p:tgtEl>
                                        <p:attrNameLst>
                                          <p:attrName>style.visibility</p:attrName>
                                        </p:attrNameLst>
                                      </p:cBhvr>
                                      <p:to>
                                        <p:strVal val="visible"/>
                                      </p:to>
                                    </p:set>
                                    <p:animEffect transition="in" filter="box(in)">
                                      <p:cBhvr>
                                        <p:cTn id="7" dur="500"/>
                                        <p:tgtEl>
                                          <p:spTgt spid="6148">
                                            <p:txEl>
                                              <p:pRg st="0" end="0"/>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6148">
                                            <p:txEl>
                                              <p:pRg st="1" end="1"/>
                                            </p:txEl>
                                          </p:spTgt>
                                        </p:tgtEl>
                                        <p:attrNameLst>
                                          <p:attrName>style.visibility</p:attrName>
                                        </p:attrNameLst>
                                      </p:cBhvr>
                                      <p:to>
                                        <p:strVal val="visible"/>
                                      </p:to>
                                    </p:set>
                                    <p:animEffect transition="in" filter="box(in)">
                                      <p:cBhvr>
                                        <p:cTn id="10" dur="500"/>
                                        <p:tgtEl>
                                          <p:spTgt spid="6148">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 presetClass="entr" presetSubtype="16" fill="hold" nodeType="clickEffect">
                                  <p:stCondLst>
                                    <p:cond delay="0"/>
                                  </p:stCondLst>
                                  <p:childTnLst>
                                    <p:set>
                                      <p:cBhvr>
                                        <p:cTn id="14" dur="1" fill="hold">
                                          <p:stCondLst>
                                            <p:cond delay="0"/>
                                          </p:stCondLst>
                                        </p:cTn>
                                        <p:tgtEl>
                                          <p:spTgt spid="6148">
                                            <p:txEl>
                                              <p:pRg st="3" end="3"/>
                                            </p:txEl>
                                          </p:spTgt>
                                        </p:tgtEl>
                                        <p:attrNameLst>
                                          <p:attrName>style.visibility</p:attrName>
                                        </p:attrNameLst>
                                      </p:cBhvr>
                                      <p:to>
                                        <p:strVal val="visible"/>
                                      </p:to>
                                    </p:set>
                                    <p:animEffect transition="in" filter="box(in)">
                                      <p:cBhvr>
                                        <p:cTn id="15" dur="500"/>
                                        <p:tgtEl>
                                          <p:spTgt spid="6148">
                                            <p:txEl>
                                              <p:pRg st="3" end="3"/>
                                            </p:txEl>
                                          </p:spTgt>
                                        </p:tgtEl>
                                      </p:cBhvr>
                                    </p:animEffect>
                                  </p:childTnLst>
                                </p:cTn>
                              </p:par>
                              <p:par>
                                <p:cTn id="16" presetID="4" presetClass="entr" presetSubtype="16" fill="hold" nodeType="withEffect">
                                  <p:stCondLst>
                                    <p:cond delay="0"/>
                                  </p:stCondLst>
                                  <p:childTnLst>
                                    <p:set>
                                      <p:cBhvr>
                                        <p:cTn id="17" dur="1" fill="hold">
                                          <p:stCondLst>
                                            <p:cond delay="0"/>
                                          </p:stCondLst>
                                        </p:cTn>
                                        <p:tgtEl>
                                          <p:spTgt spid="6148">
                                            <p:txEl>
                                              <p:pRg st="4" end="4"/>
                                            </p:txEl>
                                          </p:spTgt>
                                        </p:tgtEl>
                                        <p:attrNameLst>
                                          <p:attrName>style.visibility</p:attrName>
                                        </p:attrNameLst>
                                      </p:cBhvr>
                                      <p:to>
                                        <p:strVal val="visible"/>
                                      </p:to>
                                    </p:set>
                                    <p:animEffect transition="in" filter="box(in)">
                                      <p:cBhvr>
                                        <p:cTn id="18" dur="500"/>
                                        <p:tgtEl>
                                          <p:spTgt spid="6148">
                                            <p:txEl>
                                              <p:pRg st="4" end="4"/>
                                            </p:txEl>
                                          </p:spTgt>
                                        </p:tgtEl>
                                      </p:cBhvr>
                                    </p:animEffect>
                                  </p:childTnLst>
                                </p:cTn>
                              </p:par>
                              <p:par>
                                <p:cTn id="19" presetID="4" presetClass="entr" presetSubtype="16" fill="hold" nodeType="withEffect">
                                  <p:stCondLst>
                                    <p:cond delay="0"/>
                                  </p:stCondLst>
                                  <p:childTnLst>
                                    <p:set>
                                      <p:cBhvr>
                                        <p:cTn id="20" dur="1" fill="hold">
                                          <p:stCondLst>
                                            <p:cond delay="0"/>
                                          </p:stCondLst>
                                        </p:cTn>
                                        <p:tgtEl>
                                          <p:spTgt spid="6148">
                                            <p:txEl>
                                              <p:pRg st="5" end="5"/>
                                            </p:txEl>
                                          </p:spTgt>
                                        </p:tgtEl>
                                        <p:attrNameLst>
                                          <p:attrName>style.visibility</p:attrName>
                                        </p:attrNameLst>
                                      </p:cBhvr>
                                      <p:to>
                                        <p:strVal val="visible"/>
                                      </p:to>
                                    </p:set>
                                    <p:animEffect transition="in" filter="box(in)">
                                      <p:cBhvr>
                                        <p:cTn id="21" dur="500"/>
                                        <p:tgtEl>
                                          <p:spTgt spid="614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页脚占位符 4">
            <a:extLst>
              <a:ext uri="{FF2B5EF4-FFF2-40B4-BE49-F238E27FC236}">
                <a16:creationId xmlns:a16="http://schemas.microsoft.com/office/drawing/2014/main" id="{DEA1A85E-7931-DC1E-1C01-4C0804D978B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9219" name="Rectangle 2">
            <a:extLst>
              <a:ext uri="{FF2B5EF4-FFF2-40B4-BE49-F238E27FC236}">
                <a16:creationId xmlns:a16="http://schemas.microsoft.com/office/drawing/2014/main" id="{50F73566-E87F-734A-81B8-C818A915723F}"/>
              </a:ext>
            </a:extLst>
          </p:cNvPr>
          <p:cNvSpPr>
            <a:spLocks noGrp="1" noChangeArrowheads="1"/>
          </p:cNvSpPr>
          <p:nvPr>
            <p:ph type="title"/>
          </p:nvPr>
        </p:nvSpPr>
        <p:spPr/>
        <p:txBody>
          <a:bodyPr/>
          <a:lstStyle/>
          <a:p>
            <a:pPr eaLnBrk="1" hangingPunct="1"/>
            <a:r>
              <a:rPr lang="zh-CN" altLang="en-US" sz="3200"/>
              <a:t>数据库设计人员应该具备的技术和知识</a:t>
            </a:r>
            <a:endParaRPr lang="zh-CN" altLang="en-US" sz="4400"/>
          </a:p>
        </p:txBody>
      </p:sp>
      <p:sp>
        <p:nvSpPr>
          <p:cNvPr id="9220" name="Rectangle 3">
            <a:extLst>
              <a:ext uri="{FF2B5EF4-FFF2-40B4-BE49-F238E27FC236}">
                <a16:creationId xmlns:a16="http://schemas.microsoft.com/office/drawing/2014/main" id="{24756D60-F175-B2F3-57CC-1C1E0A503603}"/>
              </a:ext>
            </a:extLst>
          </p:cNvPr>
          <p:cNvSpPr>
            <a:spLocks noGrp="1" noChangeArrowheads="1"/>
          </p:cNvSpPr>
          <p:nvPr>
            <p:ph type="body" idx="1"/>
          </p:nvPr>
        </p:nvSpPr>
        <p:spPr>
          <a:xfrm>
            <a:off x="323850" y="2017713"/>
            <a:ext cx="8631238" cy="4114800"/>
          </a:xfrm>
        </p:spPr>
        <p:txBody>
          <a:bodyPr/>
          <a:lstStyle/>
          <a:p>
            <a:pPr eaLnBrk="1" hangingPunct="1">
              <a:lnSpc>
                <a:spcPct val="110000"/>
              </a:lnSpc>
              <a:spcBef>
                <a:spcPct val="30000"/>
              </a:spcBef>
              <a:spcAft>
                <a:spcPct val="20000"/>
              </a:spcAft>
            </a:pPr>
            <a:r>
              <a:rPr lang="zh-CN" altLang="en-US"/>
              <a:t>数据库的基本知识和数据库设计技术</a:t>
            </a:r>
          </a:p>
          <a:p>
            <a:pPr eaLnBrk="1" hangingPunct="1">
              <a:lnSpc>
                <a:spcPct val="110000"/>
              </a:lnSpc>
              <a:spcBef>
                <a:spcPct val="30000"/>
              </a:spcBef>
              <a:spcAft>
                <a:spcPct val="20000"/>
              </a:spcAft>
            </a:pPr>
            <a:r>
              <a:rPr lang="zh-CN" altLang="en-US"/>
              <a:t>计算机科学的基础知识和程序设计的方法和技巧</a:t>
            </a:r>
          </a:p>
          <a:p>
            <a:pPr eaLnBrk="1" hangingPunct="1">
              <a:lnSpc>
                <a:spcPct val="110000"/>
              </a:lnSpc>
              <a:spcBef>
                <a:spcPct val="30000"/>
              </a:spcBef>
              <a:spcAft>
                <a:spcPct val="20000"/>
              </a:spcAft>
            </a:pPr>
            <a:r>
              <a:rPr lang="zh-CN" altLang="en-US"/>
              <a:t>软件工程的原理和方法</a:t>
            </a:r>
          </a:p>
          <a:p>
            <a:pPr eaLnBrk="1" hangingPunct="1">
              <a:lnSpc>
                <a:spcPct val="110000"/>
              </a:lnSpc>
              <a:spcBef>
                <a:spcPct val="30000"/>
              </a:spcBef>
              <a:spcAft>
                <a:spcPct val="20000"/>
              </a:spcAft>
            </a:pPr>
            <a:r>
              <a:rPr lang="zh-CN" altLang="en-US"/>
              <a:t>应用领域的知识</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页脚占位符 4">
            <a:extLst>
              <a:ext uri="{FF2B5EF4-FFF2-40B4-BE49-F238E27FC236}">
                <a16:creationId xmlns:a16="http://schemas.microsoft.com/office/drawing/2014/main" id="{A089D921-3ECC-4467-4128-412DB6099B1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10243" name="Rectangle 2">
            <a:extLst>
              <a:ext uri="{FF2B5EF4-FFF2-40B4-BE49-F238E27FC236}">
                <a16:creationId xmlns:a16="http://schemas.microsoft.com/office/drawing/2014/main" id="{5E335C8D-EBCC-EB6A-1CA6-064FC4888BD6}"/>
              </a:ext>
            </a:extLst>
          </p:cNvPr>
          <p:cNvSpPr>
            <a:spLocks noGrp="1" noChangeArrowheads="1"/>
          </p:cNvSpPr>
          <p:nvPr>
            <p:ph type="title"/>
          </p:nvPr>
        </p:nvSpPr>
        <p:spPr/>
        <p:txBody>
          <a:bodyPr/>
          <a:lstStyle/>
          <a:p>
            <a:pPr eaLnBrk="1" hangingPunct="1"/>
            <a:r>
              <a:rPr lang="en-US" altLang="zh-CN"/>
              <a:t>7.1.2  </a:t>
            </a:r>
            <a:r>
              <a:rPr lang="zh-CN" altLang="en-US"/>
              <a:t>数据库设计方法简述</a:t>
            </a:r>
          </a:p>
        </p:txBody>
      </p:sp>
      <p:sp>
        <p:nvSpPr>
          <p:cNvPr id="8196" name="Rectangle 3">
            <a:extLst>
              <a:ext uri="{FF2B5EF4-FFF2-40B4-BE49-F238E27FC236}">
                <a16:creationId xmlns:a16="http://schemas.microsoft.com/office/drawing/2014/main" id="{C226FA30-0659-CA88-89EA-D98E2B0D0DEE}"/>
              </a:ext>
            </a:extLst>
          </p:cNvPr>
          <p:cNvSpPr>
            <a:spLocks noGrp="1" noChangeArrowheads="1"/>
          </p:cNvSpPr>
          <p:nvPr>
            <p:ph type="body" idx="1"/>
          </p:nvPr>
        </p:nvSpPr>
        <p:spPr>
          <a:xfrm>
            <a:off x="323850" y="2017713"/>
            <a:ext cx="8631238" cy="4114800"/>
          </a:xfrm>
        </p:spPr>
        <p:txBody>
          <a:bodyPr/>
          <a:lstStyle/>
          <a:p>
            <a:pPr eaLnBrk="1" hangingPunct="1"/>
            <a:r>
              <a:rPr lang="zh-CN" altLang="en-US" sz="3600"/>
              <a:t>手工试凑法</a:t>
            </a:r>
          </a:p>
          <a:p>
            <a:pPr lvl="1" eaLnBrk="1" hangingPunct="1">
              <a:spcAft>
                <a:spcPct val="30000"/>
              </a:spcAft>
            </a:pPr>
            <a:r>
              <a:rPr lang="zh-CN" altLang="en-US"/>
              <a:t>设计质量与设计人员的经验和水平有直接关系</a:t>
            </a:r>
          </a:p>
          <a:p>
            <a:pPr lvl="1" eaLnBrk="1" hangingPunct="1">
              <a:spcAft>
                <a:spcPct val="30000"/>
              </a:spcAft>
            </a:pPr>
            <a:r>
              <a:rPr lang="zh-CN" altLang="en-US"/>
              <a:t>缺乏科学理论和工程方法的支持，工程的质量难以保证</a:t>
            </a:r>
          </a:p>
          <a:p>
            <a:pPr lvl="1" eaLnBrk="1" hangingPunct="1">
              <a:spcAft>
                <a:spcPct val="30000"/>
              </a:spcAft>
            </a:pPr>
            <a:r>
              <a:rPr lang="zh-CN" altLang="en-US"/>
              <a:t>数据库运行一段时间后常常又不同程度地发现各种问题，增加了维护代价</a:t>
            </a:r>
          </a:p>
          <a:p>
            <a:pPr eaLnBrk="1" hangingPunct="1"/>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8196">
                                            <p:txEl>
                                              <p:pRg st="0" end="0"/>
                                            </p:txEl>
                                          </p:spTgt>
                                        </p:tgtEl>
                                        <p:attrNameLst>
                                          <p:attrName>style.visibility</p:attrName>
                                        </p:attrNameLst>
                                      </p:cBhvr>
                                      <p:to>
                                        <p:strVal val="visible"/>
                                      </p:to>
                                    </p:set>
                                    <p:animEffect transition="in" filter="box(in)">
                                      <p:cBhvr>
                                        <p:cTn id="7" dur="500"/>
                                        <p:tgtEl>
                                          <p:spTgt spid="819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8196">
                                            <p:txEl>
                                              <p:pRg st="1" end="1"/>
                                            </p:txEl>
                                          </p:spTgt>
                                        </p:tgtEl>
                                        <p:attrNameLst>
                                          <p:attrName>style.visibility</p:attrName>
                                        </p:attrNameLst>
                                      </p:cBhvr>
                                      <p:to>
                                        <p:strVal val="visible"/>
                                      </p:to>
                                    </p:set>
                                    <p:animEffect transition="in" filter="box(in)">
                                      <p:cBhvr>
                                        <p:cTn id="12" dur="500"/>
                                        <p:tgtEl>
                                          <p:spTgt spid="8196">
                                            <p:txEl>
                                              <p:pRg st="1" end="1"/>
                                            </p:txEl>
                                          </p:spTgt>
                                        </p:tgtEl>
                                      </p:cBhvr>
                                    </p:animEffect>
                                  </p:childTnLst>
                                </p:cTn>
                              </p:par>
                              <p:par>
                                <p:cTn id="13" presetID="4" presetClass="entr" presetSubtype="16" fill="hold" nodeType="withEffect">
                                  <p:stCondLst>
                                    <p:cond delay="0"/>
                                  </p:stCondLst>
                                  <p:childTnLst>
                                    <p:set>
                                      <p:cBhvr>
                                        <p:cTn id="14" dur="1" fill="hold">
                                          <p:stCondLst>
                                            <p:cond delay="0"/>
                                          </p:stCondLst>
                                        </p:cTn>
                                        <p:tgtEl>
                                          <p:spTgt spid="8196">
                                            <p:txEl>
                                              <p:pRg st="2" end="2"/>
                                            </p:txEl>
                                          </p:spTgt>
                                        </p:tgtEl>
                                        <p:attrNameLst>
                                          <p:attrName>style.visibility</p:attrName>
                                        </p:attrNameLst>
                                      </p:cBhvr>
                                      <p:to>
                                        <p:strVal val="visible"/>
                                      </p:to>
                                    </p:set>
                                    <p:animEffect transition="in" filter="box(in)">
                                      <p:cBhvr>
                                        <p:cTn id="15" dur="500"/>
                                        <p:tgtEl>
                                          <p:spTgt spid="8196">
                                            <p:txEl>
                                              <p:pRg st="2" end="2"/>
                                            </p:txEl>
                                          </p:spTgt>
                                        </p:tgtEl>
                                      </p:cBhvr>
                                    </p:animEffect>
                                  </p:childTnLst>
                                </p:cTn>
                              </p:par>
                              <p:par>
                                <p:cTn id="16" presetID="4" presetClass="entr" presetSubtype="16" fill="hold" nodeType="withEffect">
                                  <p:stCondLst>
                                    <p:cond delay="0"/>
                                  </p:stCondLst>
                                  <p:childTnLst>
                                    <p:set>
                                      <p:cBhvr>
                                        <p:cTn id="17" dur="1" fill="hold">
                                          <p:stCondLst>
                                            <p:cond delay="0"/>
                                          </p:stCondLst>
                                        </p:cTn>
                                        <p:tgtEl>
                                          <p:spTgt spid="8196">
                                            <p:txEl>
                                              <p:pRg st="3" end="3"/>
                                            </p:txEl>
                                          </p:spTgt>
                                        </p:tgtEl>
                                        <p:attrNameLst>
                                          <p:attrName>style.visibility</p:attrName>
                                        </p:attrNameLst>
                                      </p:cBhvr>
                                      <p:to>
                                        <p:strVal val="visible"/>
                                      </p:to>
                                    </p:set>
                                    <p:animEffect transition="in" filter="box(in)">
                                      <p:cBhvr>
                                        <p:cTn id="18" dur="500"/>
                                        <p:tgtEl>
                                          <p:spTgt spid="819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页脚占位符 4">
            <a:extLst>
              <a:ext uri="{FF2B5EF4-FFF2-40B4-BE49-F238E27FC236}">
                <a16:creationId xmlns:a16="http://schemas.microsoft.com/office/drawing/2014/main" id="{C428A4DC-464B-710D-CDD0-A440F82A4B3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11267" name="Rectangle 2">
            <a:extLst>
              <a:ext uri="{FF2B5EF4-FFF2-40B4-BE49-F238E27FC236}">
                <a16:creationId xmlns:a16="http://schemas.microsoft.com/office/drawing/2014/main" id="{1A96D09B-97EF-2560-1BB6-C7796CA3BC59}"/>
              </a:ext>
            </a:extLst>
          </p:cNvPr>
          <p:cNvSpPr>
            <a:spLocks noGrp="1" noChangeArrowheads="1"/>
          </p:cNvSpPr>
          <p:nvPr>
            <p:ph type="title"/>
          </p:nvPr>
        </p:nvSpPr>
        <p:spPr/>
        <p:txBody>
          <a:bodyPr/>
          <a:lstStyle/>
          <a:p>
            <a:pPr eaLnBrk="1" hangingPunct="1"/>
            <a:r>
              <a:rPr lang="zh-CN" altLang="en-US"/>
              <a:t>数据库设计方法简述（续）</a:t>
            </a:r>
          </a:p>
        </p:txBody>
      </p:sp>
      <p:sp>
        <p:nvSpPr>
          <p:cNvPr id="9220" name="Rectangle 3">
            <a:extLst>
              <a:ext uri="{FF2B5EF4-FFF2-40B4-BE49-F238E27FC236}">
                <a16:creationId xmlns:a16="http://schemas.microsoft.com/office/drawing/2014/main" id="{52C6CC0A-FC8A-68AC-EB59-16505E804126}"/>
              </a:ext>
            </a:extLst>
          </p:cNvPr>
          <p:cNvSpPr>
            <a:spLocks noGrp="1" noChangeArrowheads="1"/>
          </p:cNvSpPr>
          <p:nvPr>
            <p:ph type="body" idx="1"/>
          </p:nvPr>
        </p:nvSpPr>
        <p:spPr>
          <a:xfrm>
            <a:off x="395288" y="2017713"/>
            <a:ext cx="8559800" cy="4114800"/>
          </a:xfrm>
        </p:spPr>
        <p:txBody>
          <a:bodyPr/>
          <a:lstStyle/>
          <a:p>
            <a:pPr eaLnBrk="1" hangingPunct="1"/>
            <a:r>
              <a:rPr lang="zh-CN" altLang="en-US" sz="3600"/>
              <a:t>规范设计法</a:t>
            </a:r>
            <a:endParaRPr lang="en-US" altLang="zh-CN" sz="3600"/>
          </a:p>
          <a:p>
            <a:pPr lvl="1" eaLnBrk="1" hangingPunct="1"/>
            <a:r>
              <a:rPr lang="zh-CN" altLang="en-US"/>
              <a:t>典型方法</a:t>
            </a:r>
          </a:p>
          <a:p>
            <a:pPr lvl="2" eaLnBrk="1" hangingPunct="1"/>
            <a:r>
              <a:rPr lang="zh-CN" altLang="en-US" sz="2800"/>
              <a:t>新奥尔良（</a:t>
            </a:r>
            <a:r>
              <a:rPr lang="en-US" altLang="zh-CN" sz="2800"/>
              <a:t>New Orleans</a:t>
            </a:r>
            <a:r>
              <a:rPr lang="zh-CN" altLang="en-US" sz="2800"/>
              <a:t>）方法</a:t>
            </a:r>
          </a:p>
          <a:p>
            <a:pPr lvl="3" eaLnBrk="1" hangingPunct="1"/>
            <a:r>
              <a:rPr lang="zh-CN" altLang="en-US" sz="2800"/>
              <a:t> 将数据库设计分为四个阶段</a:t>
            </a:r>
          </a:p>
          <a:p>
            <a:pPr lvl="2" eaLnBrk="1" hangingPunct="1"/>
            <a:r>
              <a:rPr lang="zh-CN" altLang="en-US" sz="2800"/>
              <a:t>基于</a:t>
            </a:r>
            <a:r>
              <a:rPr lang="en-US" altLang="zh-CN" sz="2800"/>
              <a:t>E-R</a:t>
            </a:r>
            <a:r>
              <a:rPr lang="zh-CN" altLang="en-US" sz="2800"/>
              <a:t>模型的数据库设计方法</a:t>
            </a:r>
          </a:p>
          <a:p>
            <a:pPr lvl="2" eaLnBrk="1" hangingPunct="1"/>
            <a:r>
              <a:rPr lang="en-US" altLang="zh-CN" sz="2800"/>
              <a:t>3NF</a:t>
            </a:r>
            <a:r>
              <a:rPr lang="zh-CN" altLang="en-US" sz="2800"/>
              <a:t>的设计方法</a:t>
            </a:r>
            <a:endParaRPr lang="en-US" altLang="zh-CN" sz="2800"/>
          </a:p>
          <a:p>
            <a:pPr lvl="2" eaLnBrk="1" hangingPunct="1">
              <a:lnSpc>
                <a:spcPct val="120000"/>
              </a:lnSpc>
            </a:pPr>
            <a:r>
              <a:rPr lang="zh-CN" altLang="en-US" sz="2800"/>
              <a:t>面向对象的数据库设计方法</a:t>
            </a:r>
          </a:p>
          <a:p>
            <a:pPr lvl="2" eaLnBrk="1" hangingPunct="1">
              <a:lnSpc>
                <a:spcPct val="120000"/>
              </a:lnSpc>
            </a:pPr>
            <a:r>
              <a:rPr lang="zh-CN" altLang="en-US" sz="2800"/>
              <a:t>统一建模语言（</a:t>
            </a:r>
            <a:r>
              <a:rPr lang="en-US" altLang="zh-CN" sz="2800"/>
              <a:t>UML</a:t>
            </a:r>
            <a:r>
              <a:rPr lang="zh-CN" altLang="en-US" sz="2800"/>
              <a:t>）方法</a:t>
            </a:r>
          </a:p>
          <a:p>
            <a:pPr lvl="2" eaLnBrk="1" hangingPunct="1"/>
            <a:endParaRPr lang="zh-CN" altLang="en-US" sz="2800"/>
          </a:p>
          <a:p>
            <a:pPr lvl="2" eaLnBrk="1" hangingPunct="1">
              <a:buFont typeface="Wingdings" panose="05000000000000000000" pitchFamily="2" charset="2"/>
              <a:buNone/>
            </a:pPr>
            <a:endParaRPr lang="zh-CN" altLang="en-US" sz="2800"/>
          </a:p>
          <a:p>
            <a:pPr lvl="2" eaLnBrk="1" hangingPunct="1"/>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9220">
                                            <p:txEl>
                                              <p:pRg st="0" end="0"/>
                                            </p:txEl>
                                          </p:spTgt>
                                        </p:tgtEl>
                                        <p:attrNameLst>
                                          <p:attrName>style.visibility</p:attrName>
                                        </p:attrNameLst>
                                      </p:cBhvr>
                                      <p:to>
                                        <p:strVal val="visible"/>
                                      </p:to>
                                    </p:set>
                                    <p:animEffect transition="in" filter="box(in)">
                                      <p:cBhvr>
                                        <p:cTn id="7" dur="500"/>
                                        <p:tgtEl>
                                          <p:spTgt spid="9220">
                                            <p:txEl>
                                              <p:pRg st="0" end="0"/>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9220">
                                            <p:txEl>
                                              <p:pRg st="1" end="1"/>
                                            </p:txEl>
                                          </p:spTgt>
                                        </p:tgtEl>
                                        <p:attrNameLst>
                                          <p:attrName>style.visibility</p:attrName>
                                        </p:attrNameLst>
                                      </p:cBhvr>
                                      <p:to>
                                        <p:strVal val="visible"/>
                                      </p:to>
                                    </p:set>
                                    <p:animEffect transition="in" filter="box(in)">
                                      <p:cBhvr>
                                        <p:cTn id="10" dur="500"/>
                                        <p:tgtEl>
                                          <p:spTgt spid="9220">
                                            <p:txEl>
                                              <p:pRg st="1" end="1"/>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9220">
                                            <p:txEl>
                                              <p:pRg st="2" end="2"/>
                                            </p:txEl>
                                          </p:spTgt>
                                        </p:tgtEl>
                                        <p:attrNameLst>
                                          <p:attrName>style.visibility</p:attrName>
                                        </p:attrNameLst>
                                      </p:cBhvr>
                                      <p:to>
                                        <p:strVal val="visible"/>
                                      </p:to>
                                    </p:set>
                                    <p:animEffect transition="in" filter="box(in)">
                                      <p:cBhvr>
                                        <p:cTn id="13" dur="500"/>
                                        <p:tgtEl>
                                          <p:spTgt spid="9220">
                                            <p:txEl>
                                              <p:pRg st="2" end="2"/>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9220">
                                            <p:txEl>
                                              <p:pRg st="3" end="3"/>
                                            </p:txEl>
                                          </p:spTgt>
                                        </p:tgtEl>
                                        <p:attrNameLst>
                                          <p:attrName>style.visibility</p:attrName>
                                        </p:attrNameLst>
                                      </p:cBhvr>
                                      <p:to>
                                        <p:strVal val="visible"/>
                                      </p:to>
                                    </p:set>
                                    <p:animEffect transition="in" filter="box(in)">
                                      <p:cBhvr>
                                        <p:cTn id="16" dur="500"/>
                                        <p:tgtEl>
                                          <p:spTgt spid="9220">
                                            <p:txEl>
                                              <p:pRg st="3" end="3"/>
                                            </p:txEl>
                                          </p:spTgt>
                                        </p:tgtEl>
                                      </p:cBhvr>
                                    </p:animEffect>
                                  </p:childTnLst>
                                </p:cTn>
                              </p:par>
                              <p:par>
                                <p:cTn id="17" presetID="4" presetClass="entr" presetSubtype="16" fill="hold" nodeType="withEffect">
                                  <p:stCondLst>
                                    <p:cond delay="0"/>
                                  </p:stCondLst>
                                  <p:childTnLst>
                                    <p:set>
                                      <p:cBhvr>
                                        <p:cTn id="18" dur="1" fill="hold">
                                          <p:stCondLst>
                                            <p:cond delay="0"/>
                                          </p:stCondLst>
                                        </p:cTn>
                                        <p:tgtEl>
                                          <p:spTgt spid="9220">
                                            <p:txEl>
                                              <p:pRg st="4" end="4"/>
                                            </p:txEl>
                                          </p:spTgt>
                                        </p:tgtEl>
                                        <p:attrNameLst>
                                          <p:attrName>style.visibility</p:attrName>
                                        </p:attrNameLst>
                                      </p:cBhvr>
                                      <p:to>
                                        <p:strVal val="visible"/>
                                      </p:to>
                                    </p:set>
                                    <p:animEffect transition="in" filter="box(in)">
                                      <p:cBhvr>
                                        <p:cTn id="19" dur="500"/>
                                        <p:tgtEl>
                                          <p:spTgt spid="9220">
                                            <p:txEl>
                                              <p:pRg st="4" end="4"/>
                                            </p:txEl>
                                          </p:spTgt>
                                        </p:tgtEl>
                                      </p:cBhvr>
                                    </p:animEffect>
                                  </p:childTnLst>
                                </p:cTn>
                              </p:par>
                              <p:par>
                                <p:cTn id="20" presetID="4" presetClass="entr" presetSubtype="16" fill="hold" nodeType="withEffect">
                                  <p:stCondLst>
                                    <p:cond delay="0"/>
                                  </p:stCondLst>
                                  <p:childTnLst>
                                    <p:set>
                                      <p:cBhvr>
                                        <p:cTn id="21" dur="1" fill="hold">
                                          <p:stCondLst>
                                            <p:cond delay="0"/>
                                          </p:stCondLst>
                                        </p:cTn>
                                        <p:tgtEl>
                                          <p:spTgt spid="9220">
                                            <p:txEl>
                                              <p:pRg st="5" end="5"/>
                                            </p:txEl>
                                          </p:spTgt>
                                        </p:tgtEl>
                                        <p:attrNameLst>
                                          <p:attrName>style.visibility</p:attrName>
                                        </p:attrNameLst>
                                      </p:cBhvr>
                                      <p:to>
                                        <p:strVal val="visible"/>
                                      </p:to>
                                    </p:set>
                                    <p:animEffect transition="in" filter="box(in)">
                                      <p:cBhvr>
                                        <p:cTn id="22" dur="500"/>
                                        <p:tgtEl>
                                          <p:spTgt spid="9220">
                                            <p:txEl>
                                              <p:pRg st="5" end="5"/>
                                            </p:txEl>
                                          </p:spTgt>
                                        </p:tgtEl>
                                      </p:cBhvr>
                                    </p:animEffect>
                                  </p:childTnLst>
                                </p:cTn>
                              </p:par>
                              <p:par>
                                <p:cTn id="23" presetID="4" presetClass="entr" presetSubtype="16" fill="hold" nodeType="withEffect">
                                  <p:stCondLst>
                                    <p:cond delay="0"/>
                                  </p:stCondLst>
                                  <p:childTnLst>
                                    <p:set>
                                      <p:cBhvr>
                                        <p:cTn id="24" dur="1" fill="hold">
                                          <p:stCondLst>
                                            <p:cond delay="0"/>
                                          </p:stCondLst>
                                        </p:cTn>
                                        <p:tgtEl>
                                          <p:spTgt spid="9220">
                                            <p:txEl>
                                              <p:pRg st="6" end="6"/>
                                            </p:txEl>
                                          </p:spTgt>
                                        </p:tgtEl>
                                        <p:attrNameLst>
                                          <p:attrName>style.visibility</p:attrName>
                                        </p:attrNameLst>
                                      </p:cBhvr>
                                      <p:to>
                                        <p:strVal val="visible"/>
                                      </p:to>
                                    </p:set>
                                    <p:animEffect transition="in" filter="box(in)">
                                      <p:cBhvr>
                                        <p:cTn id="25" dur="500"/>
                                        <p:tgtEl>
                                          <p:spTgt spid="9220">
                                            <p:txEl>
                                              <p:pRg st="6" end="6"/>
                                            </p:txEl>
                                          </p:spTgt>
                                        </p:tgtEl>
                                      </p:cBhvr>
                                    </p:animEffect>
                                  </p:childTnLst>
                                </p:cTn>
                              </p:par>
                              <p:par>
                                <p:cTn id="26" presetID="4" presetClass="entr" presetSubtype="16" fill="hold" nodeType="withEffect">
                                  <p:stCondLst>
                                    <p:cond delay="0"/>
                                  </p:stCondLst>
                                  <p:childTnLst>
                                    <p:set>
                                      <p:cBhvr>
                                        <p:cTn id="27" dur="1" fill="hold">
                                          <p:stCondLst>
                                            <p:cond delay="0"/>
                                          </p:stCondLst>
                                        </p:cTn>
                                        <p:tgtEl>
                                          <p:spTgt spid="9220">
                                            <p:txEl>
                                              <p:pRg st="7" end="7"/>
                                            </p:txEl>
                                          </p:spTgt>
                                        </p:tgtEl>
                                        <p:attrNameLst>
                                          <p:attrName>style.visibility</p:attrName>
                                        </p:attrNameLst>
                                      </p:cBhvr>
                                      <p:to>
                                        <p:strVal val="visible"/>
                                      </p:to>
                                    </p:set>
                                    <p:animEffect transition="in" filter="box(in)">
                                      <p:cBhvr>
                                        <p:cTn id="28" dur="500"/>
                                        <p:tgtEl>
                                          <p:spTgt spid="9220">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页脚占位符 4">
            <a:extLst>
              <a:ext uri="{FF2B5EF4-FFF2-40B4-BE49-F238E27FC236}">
                <a16:creationId xmlns:a16="http://schemas.microsoft.com/office/drawing/2014/main" id="{7F0D2AB5-8AD2-DA7F-8836-846616EE12E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12291" name="Rectangle 2">
            <a:extLst>
              <a:ext uri="{FF2B5EF4-FFF2-40B4-BE49-F238E27FC236}">
                <a16:creationId xmlns:a16="http://schemas.microsoft.com/office/drawing/2014/main" id="{8CA1B87A-6B41-3300-D110-37EE03B3D4D9}"/>
              </a:ext>
            </a:extLst>
          </p:cNvPr>
          <p:cNvSpPr>
            <a:spLocks noGrp="1" noChangeArrowheads="1"/>
          </p:cNvSpPr>
          <p:nvPr>
            <p:ph type="title"/>
          </p:nvPr>
        </p:nvSpPr>
        <p:spPr/>
        <p:txBody>
          <a:bodyPr/>
          <a:lstStyle/>
          <a:p>
            <a:pPr eaLnBrk="1" hangingPunct="1"/>
            <a:r>
              <a:rPr lang="zh-CN" altLang="en-US"/>
              <a:t>数据库设计工具</a:t>
            </a:r>
          </a:p>
        </p:txBody>
      </p:sp>
      <p:sp>
        <p:nvSpPr>
          <p:cNvPr id="12292" name="Rectangle 3">
            <a:extLst>
              <a:ext uri="{FF2B5EF4-FFF2-40B4-BE49-F238E27FC236}">
                <a16:creationId xmlns:a16="http://schemas.microsoft.com/office/drawing/2014/main" id="{86F82C05-FA4B-166A-C2E3-EEFA2EB3F432}"/>
              </a:ext>
            </a:extLst>
          </p:cNvPr>
          <p:cNvSpPr>
            <a:spLocks noGrp="1" noChangeArrowheads="1"/>
          </p:cNvSpPr>
          <p:nvPr>
            <p:ph type="body" idx="1"/>
          </p:nvPr>
        </p:nvSpPr>
        <p:spPr>
          <a:xfrm>
            <a:off x="611188" y="2017713"/>
            <a:ext cx="8343900" cy="4114800"/>
          </a:xfrm>
        </p:spPr>
        <p:txBody>
          <a:bodyPr/>
          <a:lstStyle/>
          <a:p>
            <a:pPr lvl="1" eaLnBrk="1" hangingPunct="1">
              <a:lnSpc>
                <a:spcPct val="170000"/>
              </a:lnSpc>
            </a:pPr>
            <a:r>
              <a:rPr lang="en-US" altLang="zh-CN"/>
              <a:t>ORACLE  Designer</a:t>
            </a:r>
          </a:p>
          <a:p>
            <a:pPr lvl="1" eaLnBrk="1" hangingPunct="1">
              <a:lnSpc>
                <a:spcPct val="170000"/>
              </a:lnSpc>
            </a:pPr>
            <a:r>
              <a:rPr lang="en-US" altLang="zh-CN"/>
              <a:t>SYBASE  PowerDesigner</a:t>
            </a:r>
          </a:p>
          <a:p>
            <a:pPr eaLnBrk="1" hangingPunct="1">
              <a:lnSpc>
                <a:spcPct val="170000"/>
              </a:lnSpc>
            </a:pPr>
            <a:endParaRPr lang="en-US" altLang="zh-C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页脚占位符 4">
            <a:extLst>
              <a:ext uri="{FF2B5EF4-FFF2-40B4-BE49-F238E27FC236}">
                <a16:creationId xmlns:a16="http://schemas.microsoft.com/office/drawing/2014/main" id="{BEE168DF-B8DF-B477-4CA0-BA6AAF787F7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13315" name="Rectangle 2">
            <a:extLst>
              <a:ext uri="{FF2B5EF4-FFF2-40B4-BE49-F238E27FC236}">
                <a16:creationId xmlns:a16="http://schemas.microsoft.com/office/drawing/2014/main" id="{CA14FFC7-1757-676E-D99E-4505620B52A7}"/>
              </a:ext>
            </a:extLst>
          </p:cNvPr>
          <p:cNvSpPr>
            <a:spLocks noGrp="1" noChangeArrowheads="1"/>
          </p:cNvSpPr>
          <p:nvPr>
            <p:ph type="title"/>
          </p:nvPr>
        </p:nvSpPr>
        <p:spPr/>
        <p:txBody>
          <a:bodyPr/>
          <a:lstStyle/>
          <a:p>
            <a:pPr eaLnBrk="1" hangingPunct="1"/>
            <a:r>
              <a:rPr lang="en-US" altLang="zh-CN"/>
              <a:t>7.1  </a:t>
            </a:r>
            <a:r>
              <a:rPr lang="zh-CN" altLang="en-US"/>
              <a:t>数据库设计概述</a:t>
            </a:r>
          </a:p>
        </p:txBody>
      </p:sp>
      <p:sp>
        <p:nvSpPr>
          <p:cNvPr id="13316" name="Rectangle 3">
            <a:extLst>
              <a:ext uri="{FF2B5EF4-FFF2-40B4-BE49-F238E27FC236}">
                <a16:creationId xmlns:a16="http://schemas.microsoft.com/office/drawing/2014/main" id="{9AD867E4-F877-CE9C-37F3-F3F470B2752F}"/>
              </a:ext>
            </a:extLst>
          </p:cNvPr>
          <p:cNvSpPr>
            <a:spLocks noGrp="1" noChangeArrowheads="1"/>
          </p:cNvSpPr>
          <p:nvPr>
            <p:ph type="body" idx="1"/>
          </p:nvPr>
        </p:nvSpPr>
        <p:spPr>
          <a:xfrm>
            <a:off x="323850" y="2017713"/>
            <a:ext cx="8631238" cy="4114800"/>
          </a:xfrm>
        </p:spPr>
        <p:txBody>
          <a:bodyPr/>
          <a:lstStyle/>
          <a:p>
            <a:pPr eaLnBrk="1" hangingPunct="1">
              <a:lnSpc>
                <a:spcPct val="130000"/>
              </a:lnSpc>
              <a:buFont typeface="Wingdings" panose="05000000000000000000" pitchFamily="2" charset="2"/>
              <a:buNone/>
            </a:pPr>
            <a:r>
              <a:rPr lang="en-US" altLang="zh-CN"/>
              <a:t>7.1.1  </a:t>
            </a:r>
            <a:r>
              <a:rPr lang="zh-CN" altLang="en-US"/>
              <a:t>数据库设计的特点</a:t>
            </a:r>
          </a:p>
          <a:p>
            <a:pPr eaLnBrk="1" hangingPunct="1">
              <a:lnSpc>
                <a:spcPct val="130000"/>
              </a:lnSpc>
              <a:buFont typeface="Wingdings" panose="05000000000000000000" pitchFamily="2" charset="2"/>
              <a:buNone/>
            </a:pPr>
            <a:r>
              <a:rPr lang="en-US" altLang="zh-CN"/>
              <a:t>7.1.2  </a:t>
            </a:r>
            <a:r>
              <a:rPr lang="zh-CN" altLang="en-US"/>
              <a:t>数据库设计方法简述</a:t>
            </a:r>
          </a:p>
          <a:p>
            <a:pPr eaLnBrk="1" hangingPunct="1">
              <a:lnSpc>
                <a:spcPct val="130000"/>
              </a:lnSpc>
              <a:buFont typeface="Wingdings" panose="05000000000000000000" pitchFamily="2" charset="2"/>
              <a:buNone/>
            </a:pPr>
            <a:r>
              <a:rPr lang="en-US" altLang="zh-CN">
                <a:solidFill>
                  <a:schemeClr val="accent2"/>
                </a:solidFill>
              </a:rPr>
              <a:t>7.1.3  </a:t>
            </a:r>
            <a:r>
              <a:rPr lang="zh-CN" altLang="en-US">
                <a:solidFill>
                  <a:schemeClr val="accent2"/>
                </a:solidFill>
              </a:rPr>
              <a:t>数据库设计的基本步骤</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页脚占位符 4">
            <a:extLst>
              <a:ext uri="{FF2B5EF4-FFF2-40B4-BE49-F238E27FC236}">
                <a16:creationId xmlns:a16="http://schemas.microsoft.com/office/drawing/2014/main" id="{50646669-6180-7D08-7A71-3403960A2BF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14339" name="Rectangle 2">
            <a:extLst>
              <a:ext uri="{FF2B5EF4-FFF2-40B4-BE49-F238E27FC236}">
                <a16:creationId xmlns:a16="http://schemas.microsoft.com/office/drawing/2014/main" id="{25D00C14-5439-2F91-9846-F733E423D1BD}"/>
              </a:ext>
            </a:extLst>
          </p:cNvPr>
          <p:cNvSpPr>
            <a:spLocks noGrp="1" noChangeArrowheads="1"/>
          </p:cNvSpPr>
          <p:nvPr>
            <p:ph type="title"/>
          </p:nvPr>
        </p:nvSpPr>
        <p:spPr/>
        <p:txBody>
          <a:bodyPr/>
          <a:lstStyle/>
          <a:p>
            <a:pPr eaLnBrk="1" hangingPunct="1"/>
            <a:r>
              <a:rPr lang="en-US" altLang="zh-CN"/>
              <a:t>7.1.3  </a:t>
            </a:r>
            <a:r>
              <a:rPr lang="zh-CN" altLang="en-US"/>
              <a:t>数据库设计的基本步骤</a:t>
            </a:r>
          </a:p>
        </p:txBody>
      </p:sp>
      <p:sp>
        <p:nvSpPr>
          <p:cNvPr id="14340" name="Rectangle 3">
            <a:extLst>
              <a:ext uri="{FF2B5EF4-FFF2-40B4-BE49-F238E27FC236}">
                <a16:creationId xmlns:a16="http://schemas.microsoft.com/office/drawing/2014/main" id="{9837F2B6-FFA8-72BC-A737-1F506B1BBD93}"/>
              </a:ext>
            </a:extLst>
          </p:cNvPr>
          <p:cNvSpPr>
            <a:spLocks noGrp="1" noChangeArrowheads="1"/>
          </p:cNvSpPr>
          <p:nvPr>
            <p:ph type="body" idx="1"/>
          </p:nvPr>
        </p:nvSpPr>
        <p:spPr>
          <a:xfrm>
            <a:off x="323850" y="2017713"/>
            <a:ext cx="8631238" cy="4114800"/>
          </a:xfrm>
        </p:spPr>
        <p:txBody>
          <a:bodyPr/>
          <a:lstStyle/>
          <a:p>
            <a:pPr eaLnBrk="1" hangingPunct="1">
              <a:lnSpc>
                <a:spcPct val="110000"/>
              </a:lnSpc>
              <a:buFont typeface="Wingdings" panose="05000000000000000000" pitchFamily="2" charset="2"/>
              <a:buNone/>
            </a:pPr>
            <a:r>
              <a:rPr lang="zh-CN" altLang="en-US"/>
              <a:t>一、数据库设计的准备工作</a:t>
            </a:r>
          </a:p>
          <a:p>
            <a:pPr eaLnBrk="1" hangingPunct="1">
              <a:lnSpc>
                <a:spcPct val="110000"/>
              </a:lnSpc>
              <a:buFont typeface="Wingdings" panose="05000000000000000000" pitchFamily="2" charset="2"/>
              <a:buNone/>
            </a:pPr>
            <a:r>
              <a:rPr lang="zh-CN" altLang="en-US"/>
              <a:t>   选定参加设计的人员</a:t>
            </a:r>
          </a:p>
          <a:p>
            <a:pPr lvl="1" eaLnBrk="1" hangingPunct="1">
              <a:lnSpc>
                <a:spcPct val="110000"/>
              </a:lnSpc>
              <a:buFont typeface="Wingdings" panose="05000000000000000000" pitchFamily="2" charset="2"/>
              <a:buNone/>
            </a:pPr>
            <a:r>
              <a:rPr lang="en-US" altLang="zh-CN" sz="3200">
                <a:solidFill>
                  <a:srgbClr val="2355F3"/>
                </a:solidFill>
              </a:rPr>
              <a:t>1. </a:t>
            </a:r>
            <a:r>
              <a:rPr lang="zh-CN" altLang="en-US" sz="3200">
                <a:solidFill>
                  <a:srgbClr val="2355F3"/>
                </a:solidFill>
              </a:rPr>
              <a:t>数据库分析设计人员</a:t>
            </a:r>
          </a:p>
          <a:p>
            <a:pPr eaLnBrk="1" hangingPunct="1">
              <a:lnSpc>
                <a:spcPct val="90000"/>
              </a:lnSpc>
              <a:buFont typeface="Wingdings" panose="05000000000000000000" pitchFamily="2" charset="2"/>
              <a:buNone/>
            </a:pPr>
            <a:r>
              <a:rPr lang="zh-CN" altLang="en-US">
                <a:solidFill>
                  <a:srgbClr val="2355F3"/>
                </a:solidFill>
              </a:rPr>
              <a:t>	 </a:t>
            </a:r>
            <a:r>
              <a:rPr lang="en-US" altLang="zh-CN">
                <a:solidFill>
                  <a:srgbClr val="2355F3"/>
                </a:solidFill>
              </a:rPr>
              <a:t>2. </a:t>
            </a:r>
            <a:r>
              <a:rPr lang="zh-CN" altLang="en-US">
                <a:solidFill>
                  <a:srgbClr val="2355F3"/>
                </a:solidFill>
              </a:rPr>
              <a:t>用户</a:t>
            </a:r>
          </a:p>
          <a:p>
            <a:pPr eaLnBrk="1" hangingPunct="1">
              <a:lnSpc>
                <a:spcPct val="90000"/>
              </a:lnSpc>
              <a:buFont typeface="Wingdings" panose="05000000000000000000" pitchFamily="2" charset="2"/>
              <a:buNone/>
            </a:pPr>
            <a:r>
              <a:rPr lang="zh-CN" altLang="en-US">
                <a:solidFill>
                  <a:srgbClr val="2355F3"/>
                </a:solidFill>
              </a:rPr>
              <a:t>   </a:t>
            </a:r>
            <a:r>
              <a:rPr lang="en-US" altLang="zh-CN">
                <a:solidFill>
                  <a:srgbClr val="2355F3"/>
                </a:solidFill>
              </a:rPr>
              <a:t>3. </a:t>
            </a:r>
            <a:r>
              <a:rPr lang="zh-CN" altLang="en-US">
                <a:solidFill>
                  <a:srgbClr val="2355F3"/>
                </a:solidFill>
              </a:rPr>
              <a:t>程序员</a:t>
            </a:r>
          </a:p>
          <a:p>
            <a:pPr eaLnBrk="1" hangingPunct="1">
              <a:lnSpc>
                <a:spcPct val="120000"/>
              </a:lnSpc>
              <a:buFont typeface="Wingdings" panose="05000000000000000000" pitchFamily="2" charset="2"/>
              <a:buNone/>
            </a:pPr>
            <a:r>
              <a:rPr lang="zh-CN" altLang="en-US">
                <a:solidFill>
                  <a:srgbClr val="2355F3"/>
                </a:solidFill>
              </a:rPr>
              <a:t>   </a:t>
            </a:r>
            <a:r>
              <a:rPr lang="en-US" altLang="zh-CN">
                <a:solidFill>
                  <a:srgbClr val="2355F3"/>
                </a:solidFill>
              </a:rPr>
              <a:t>4. </a:t>
            </a:r>
            <a:r>
              <a:rPr lang="zh-CN" altLang="en-US">
                <a:solidFill>
                  <a:srgbClr val="2355F3"/>
                </a:solidFill>
              </a:rPr>
              <a:t>操作员</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页脚占位符 4">
            <a:extLst>
              <a:ext uri="{FF2B5EF4-FFF2-40B4-BE49-F238E27FC236}">
                <a16:creationId xmlns:a16="http://schemas.microsoft.com/office/drawing/2014/main" id="{4308F11A-8A5A-EB7C-7A14-9D95266AE72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16387" name="Rectangle 2">
            <a:extLst>
              <a:ext uri="{FF2B5EF4-FFF2-40B4-BE49-F238E27FC236}">
                <a16:creationId xmlns:a16="http://schemas.microsoft.com/office/drawing/2014/main" id="{F117B804-C33C-B9D8-647C-8FD39DF758BF}"/>
              </a:ext>
            </a:extLst>
          </p:cNvPr>
          <p:cNvSpPr>
            <a:spLocks noGrp="1" noChangeArrowheads="1"/>
          </p:cNvSpPr>
          <p:nvPr>
            <p:ph type="title"/>
          </p:nvPr>
        </p:nvSpPr>
        <p:spPr/>
        <p:txBody>
          <a:bodyPr/>
          <a:lstStyle/>
          <a:p>
            <a:pPr eaLnBrk="1" hangingPunct="1"/>
            <a:r>
              <a:rPr lang="zh-CN" altLang="en-US"/>
              <a:t>数据库设计的步骤</a:t>
            </a:r>
          </a:p>
        </p:txBody>
      </p:sp>
      <p:sp>
        <p:nvSpPr>
          <p:cNvPr id="13316" name="Rectangle 3">
            <a:extLst>
              <a:ext uri="{FF2B5EF4-FFF2-40B4-BE49-F238E27FC236}">
                <a16:creationId xmlns:a16="http://schemas.microsoft.com/office/drawing/2014/main" id="{CC8D4B3D-93A0-1901-A902-739861F8D8D6}"/>
              </a:ext>
            </a:extLst>
          </p:cNvPr>
          <p:cNvSpPr>
            <a:spLocks noGrp="1" noChangeArrowheads="1"/>
          </p:cNvSpPr>
          <p:nvPr>
            <p:ph type="body" idx="1"/>
          </p:nvPr>
        </p:nvSpPr>
        <p:spPr>
          <a:xfrm>
            <a:off x="1116013" y="1916113"/>
            <a:ext cx="7772400" cy="4114800"/>
          </a:xfrm>
        </p:spPr>
        <p:txBody>
          <a:bodyPr/>
          <a:lstStyle/>
          <a:p>
            <a:pPr marL="609600" indent="-609600" eaLnBrk="1" hangingPunct="1">
              <a:lnSpc>
                <a:spcPct val="90000"/>
              </a:lnSpc>
              <a:buFont typeface="Wingdings" panose="05000000000000000000" pitchFamily="2" charset="2"/>
              <a:buAutoNum type="arabicPeriod"/>
            </a:pPr>
            <a:r>
              <a:rPr lang="zh-CN" altLang="en-US" sz="2800"/>
              <a:t>需求分析</a:t>
            </a:r>
          </a:p>
          <a:p>
            <a:pPr marL="609600" indent="-609600" eaLnBrk="1" hangingPunct="1">
              <a:lnSpc>
                <a:spcPct val="90000"/>
              </a:lnSpc>
              <a:buFont typeface="Wingdings" panose="05000000000000000000" pitchFamily="2" charset="2"/>
              <a:buAutoNum type="arabicPeriod"/>
            </a:pPr>
            <a:r>
              <a:rPr lang="zh-CN" altLang="en-US" sz="2800"/>
              <a:t>概念结构设计</a:t>
            </a:r>
          </a:p>
          <a:p>
            <a:pPr marL="1009650" lvl="1" indent="-609600" eaLnBrk="1" hangingPunct="1">
              <a:lnSpc>
                <a:spcPct val="90000"/>
              </a:lnSpc>
              <a:buFont typeface="Wingdings" panose="05000000000000000000" pitchFamily="2" charset="2"/>
              <a:buNone/>
            </a:pPr>
            <a:r>
              <a:rPr lang="zh-CN" altLang="en-US" sz="2400"/>
              <a:t>	局部视图，集成视图</a:t>
            </a:r>
          </a:p>
          <a:p>
            <a:pPr marL="609600" indent="-609600" eaLnBrk="1" hangingPunct="1">
              <a:lnSpc>
                <a:spcPct val="90000"/>
              </a:lnSpc>
              <a:buFont typeface="Wingdings" panose="05000000000000000000" pitchFamily="2" charset="2"/>
              <a:buAutoNum type="arabicPeriod" startAt="3"/>
            </a:pPr>
            <a:r>
              <a:rPr lang="zh-CN" altLang="en-US" sz="2800"/>
              <a:t>逻辑结构设计</a:t>
            </a:r>
          </a:p>
          <a:p>
            <a:pPr marL="1009650" lvl="1" indent="-609600" eaLnBrk="1" hangingPunct="1">
              <a:lnSpc>
                <a:spcPct val="90000"/>
              </a:lnSpc>
              <a:buFont typeface="Wingdings" panose="05000000000000000000" pitchFamily="2" charset="2"/>
              <a:buNone/>
            </a:pPr>
            <a:r>
              <a:rPr lang="zh-CN" altLang="en-US" sz="2400"/>
              <a:t>	逻辑结构，优化逻辑模型</a:t>
            </a:r>
          </a:p>
          <a:p>
            <a:pPr marL="609600" indent="-609600" eaLnBrk="1" hangingPunct="1">
              <a:lnSpc>
                <a:spcPct val="90000"/>
              </a:lnSpc>
              <a:buFont typeface="Wingdings" panose="05000000000000000000" pitchFamily="2" charset="2"/>
              <a:buAutoNum type="arabicPeriod" startAt="4"/>
            </a:pPr>
            <a:r>
              <a:rPr lang="zh-CN" altLang="en-US" sz="2800"/>
              <a:t>物理设计</a:t>
            </a:r>
          </a:p>
          <a:p>
            <a:pPr marL="1009650" lvl="1" indent="-609600" eaLnBrk="1" hangingPunct="1">
              <a:lnSpc>
                <a:spcPct val="90000"/>
              </a:lnSpc>
              <a:buFont typeface="Wingdings" panose="05000000000000000000" pitchFamily="2" charset="2"/>
              <a:buNone/>
            </a:pPr>
            <a:r>
              <a:rPr lang="zh-CN" altLang="en-US" sz="2400"/>
              <a:t>	物理结构，评价物理结构</a:t>
            </a:r>
          </a:p>
          <a:p>
            <a:pPr marL="609600" indent="-609600" eaLnBrk="1" hangingPunct="1">
              <a:lnSpc>
                <a:spcPct val="90000"/>
              </a:lnSpc>
              <a:buFont typeface="Wingdings" panose="05000000000000000000" pitchFamily="2" charset="2"/>
              <a:buAutoNum type="arabicPeriod" startAt="5"/>
            </a:pPr>
            <a:r>
              <a:rPr lang="zh-CN" altLang="en-US" sz="2800"/>
              <a:t>数据库实施阶段</a:t>
            </a:r>
          </a:p>
          <a:p>
            <a:pPr marL="1009650" lvl="1" indent="-609600" eaLnBrk="1" hangingPunct="1">
              <a:lnSpc>
                <a:spcPct val="90000"/>
              </a:lnSpc>
              <a:buFont typeface="Wingdings" panose="05000000000000000000" pitchFamily="2" charset="2"/>
              <a:buNone/>
            </a:pPr>
            <a:r>
              <a:rPr lang="zh-CN" altLang="en-US" sz="2400"/>
              <a:t>	建立数据库，编制及调试应用程序</a:t>
            </a:r>
          </a:p>
          <a:p>
            <a:pPr marL="609600" indent="-609600" eaLnBrk="1" hangingPunct="1">
              <a:lnSpc>
                <a:spcPct val="90000"/>
              </a:lnSpc>
              <a:buFont typeface="Wingdings" panose="05000000000000000000" pitchFamily="2" charset="2"/>
              <a:buAutoNum type="arabicPeriod" startAt="6"/>
            </a:pPr>
            <a:r>
              <a:rPr lang="zh-CN" altLang="en-US" sz="2800"/>
              <a:t>数据库运行及维护阶段</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3316">
                                            <p:txEl>
                                              <p:pRg st="0" end="0"/>
                                            </p:txEl>
                                          </p:spTgt>
                                        </p:tgtEl>
                                        <p:attrNameLst>
                                          <p:attrName>style.visibility</p:attrName>
                                        </p:attrNameLst>
                                      </p:cBhvr>
                                      <p:to>
                                        <p:strVal val="visible"/>
                                      </p:to>
                                    </p:set>
                                    <p:animEffect transition="in" filter="box(in)">
                                      <p:cBhvr>
                                        <p:cTn id="7" dur="500"/>
                                        <p:tgtEl>
                                          <p:spTgt spid="1331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13316">
                                            <p:txEl>
                                              <p:pRg st="1" end="1"/>
                                            </p:txEl>
                                          </p:spTgt>
                                        </p:tgtEl>
                                        <p:attrNameLst>
                                          <p:attrName>style.visibility</p:attrName>
                                        </p:attrNameLst>
                                      </p:cBhvr>
                                      <p:to>
                                        <p:strVal val="visible"/>
                                      </p:to>
                                    </p:set>
                                    <p:animEffect transition="in" filter="box(in)">
                                      <p:cBhvr>
                                        <p:cTn id="12" dur="500"/>
                                        <p:tgtEl>
                                          <p:spTgt spid="13316">
                                            <p:txEl>
                                              <p:pRg st="1" end="1"/>
                                            </p:txEl>
                                          </p:spTgt>
                                        </p:tgtEl>
                                      </p:cBhvr>
                                    </p:animEffect>
                                  </p:childTnLst>
                                </p:cTn>
                              </p:par>
                              <p:par>
                                <p:cTn id="13" presetID="4" presetClass="entr" presetSubtype="16" fill="hold" nodeType="withEffect">
                                  <p:stCondLst>
                                    <p:cond delay="0"/>
                                  </p:stCondLst>
                                  <p:childTnLst>
                                    <p:set>
                                      <p:cBhvr>
                                        <p:cTn id="14" dur="1" fill="hold">
                                          <p:stCondLst>
                                            <p:cond delay="0"/>
                                          </p:stCondLst>
                                        </p:cTn>
                                        <p:tgtEl>
                                          <p:spTgt spid="13316">
                                            <p:txEl>
                                              <p:pRg st="2" end="2"/>
                                            </p:txEl>
                                          </p:spTgt>
                                        </p:tgtEl>
                                        <p:attrNameLst>
                                          <p:attrName>style.visibility</p:attrName>
                                        </p:attrNameLst>
                                      </p:cBhvr>
                                      <p:to>
                                        <p:strVal val="visible"/>
                                      </p:to>
                                    </p:set>
                                    <p:animEffect transition="in" filter="box(in)">
                                      <p:cBhvr>
                                        <p:cTn id="15" dur="500"/>
                                        <p:tgtEl>
                                          <p:spTgt spid="13316">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4" presetClass="entr" presetSubtype="16" fill="hold" nodeType="clickEffect">
                                  <p:stCondLst>
                                    <p:cond delay="0"/>
                                  </p:stCondLst>
                                  <p:childTnLst>
                                    <p:set>
                                      <p:cBhvr>
                                        <p:cTn id="19" dur="1" fill="hold">
                                          <p:stCondLst>
                                            <p:cond delay="0"/>
                                          </p:stCondLst>
                                        </p:cTn>
                                        <p:tgtEl>
                                          <p:spTgt spid="13316">
                                            <p:txEl>
                                              <p:pRg st="3" end="3"/>
                                            </p:txEl>
                                          </p:spTgt>
                                        </p:tgtEl>
                                        <p:attrNameLst>
                                          <p:attrName>style.visibility</p:attrName>
                                        </p:attrNameLst>
                                      </p:cBhvr>
                                      <p:to>
                                        <p:strVal val="visible"/>
                                      </p:to>
                                    </p:set>
                                    <p:animEffect transition="in" filter="box(in)">
                                      <p:cBhvr>
                                        <p:cTn id="20" dur="500"/>
                                        <p:tgtEl>
                                          <p:spTgt spid="13316">
                                            <p:txEl>
                                              <p:pRg st="3" end="3"/>
                                            </p:txEl>
                                          </p:spTgt>
                                        </p:tgtEl>
                                      </p:cBhvr>
                                    </p:animEffect>
                                  </p:childTnLst>
                                </p:cTn>
                              </p:par>
                              <p:par>
                                <p:cTn id="21" presetID="4" presetClass="entr" presetSubtype="16" fill="hold" nodeType="withEffect">
                                  <p:stCondLst>
                                    <p:cond delay="0"/>
                                  </p:stCondLst>
                                  <p:childTnLst>
                                    <p:set>
                                      <p:cBhvr>
                                        <p:cTn id="22" dur="1" fill="hold">
                                          <p:stCondLst>
                                            <p:cond delay="0"/>
                                          </p:stCondLst>
                                        </p:cTn>
                                        <p:tgtEl>
                                          <p:spTgt spid="13316">
                                            <p:txEl>
                                              <p:pRg st="4" end="4"/>
                                            </p:txEl>
                                          </p:spTgt>
                                        </p:tgtEl>
                                        <p:attrNameLst>
                                          <p:attrName>style.visibility</p:attrName>
                                        </p:attrNameLst>
                                      </p:cBhvr>
                                      <p:to>
                                        <p:strVal val="visible"/>
                                      </p:to>
                                    </p:set>
                                    <p:animEffect transition="in" filter="box(in)">
                                      <p:cBhvr>
                                        <p:cTn id="23" dur="500"/>
                                        <p:tgtEl>
                                          <p:spTgt spid="13316">
                                            <p:txEl>
                                              <p:pRg st="4" end="4"/>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4" presetClass="entr" presetSubtype="16" fill="hold" nodeType="clickEffect">
                                  <p:stCondLst>
                                    <p:cond delay="0"/>
                                  </p:stCondLst>
                                  <p:childTnLst>
                                    <p:set>
                                      <p:cBhvr>
                                        <p:cTn id="27" dur="1" fill="hold">
                                          <p:stCondLst>
                                            <p:cond delay="0"/>
                                          </p:stCondLst>
                                        </p:cTn>
                                        <p:tgtEl>
                                          <p:spTgt spid="13316">
                                            <p:txEl>
                                              <p:pRg st="5" end="5"/>
                                            </p:txEl>
                                          </p:spTgt>
                                        </p:tgtEl>
                                        <p:attrNameLst>
                                          <p:attrName>style.visibility</p:attrName>
                                        </p:attrNameLst>
                                      </p:cBhvr>
                                      <p:to>
                                        <p:strVal val="visible"/>
                                      </p:to>
                                    </p:set>
                                    <p:animEffect transition="in" filter="box(in)">
                                      <p:cBhvr>
                                        <p:cTn id="28" dur="500"/>
                                        <p:tgtEl>
                                          <p:spTgt spid="13316">
                                            <p:txEl>
                                              <p:pRg st="5" end="5"/>
                                            </p:txEl>
                                          </p:spTgt>
                                        </p:tgtEl>
                                      </p:cBhvr>
                                    </p:animEffect>
                                  </p:childTnLst>
                                </p:cTn>
                              </p:par>
                              <p:par>
                                <p:cTn id="29" presetID="4" presetClass="entr" presetSubtype="16" fill="hold" nodeType="withEffect">
                                  <p:stCondLst>
                                    <p:cond delay="0"/>
                                  </p:stCondLst>
                                  <p:childTnLst>
                                    <p:set>
                                      <p:cBhvr>
                                        <p:cTn id="30" dur="1" fill="hold">
                                          <p:stCondLst>
                                            <p:cond delay="0"/>
                                          </p:stCondLst>
                                        </p:cTn>
                                        <p:tgtEl>
                                          <p:spTgt spid="13316">
                                            <p:txEl>
                                              <p:pRg st="6" end="6"/>
                                            </p:txEl>
                                          </p:spTgt>
                                        </p:tgtEl>
                                        <p:attrNameLst>
                                          <p:attrName>style.visibility</p:attrName>
                                        </p:attrNameLst>
                                      </p:cBhvr>
                                      <p:to>
                                        <p:strVal val="visible"/>
                                      </p:to>
                                    </p:set>
                                    <p:animEffect transition="in" filter="box(in)">
                                      <p:cBhvr>
                                        <p:cTn id="31" dur="500"/>
                                        <p:tgtEl>
                                          <p:spTgt spid="13316">
                                            <p:txEl>
                                              <p:pRg st="6" end="6"/>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4" presetClass="entr" presetSubtype="16" fill="hold" nodeType="clickEffect">
                                  <p:stCondLst>
                                    <p:cond delay="0"/>
                                  </p:stCondLst>
                                  <p:childTnLst>
                                    <p:set>
                                      <p:cBhvr>
                                        <p:cTn id="35" dur="1" fill="hold">
                                          <p:stCondLst>
                                            <p:cond delay="0"/>
                                          </p:stCondLst>
                                        </p:cTn>
                                        <p:tgtEl>
                                          <p:spTgt spid="13316">
                                            <p:txEl>
                                              <p:pRg st="7" end="7"/>
                                            </p:txEl>
                                          </p:spTgt>
                                        </p:tgtEl>
                                        <p:attrNameLst>
                                          <p:attrName>style.visibility</p:attrName>
                                        </p:attrNameLst>
                                      </p:cBhvr>
                                      <p:to>
                                        <p:strVal val="visible"/>
                                      </p:to>
                                    </p:set>
                                    <p:animEffect transition="in" filter="box(in)">
                                      <p:cBhvr>
                                        <p:cTn id="36" dur="500"/>
                                        <p:tgtEl>
                                          <p:spTgt spid="13316">
                                            <p:txEl>
                                              <p:pRg st="7" end="7"/>
                                            </p:txEl>
                                          </p:spTgt>
                                        </p:tgtEl>
                                      </p:cBhvr>
                                    </p:animEffect>
                                  </p:childTnLst>
                                </p:cTn>
                              </p:par>
                              <p:par>
                                <p:cTn id="37" presetID="4" presetClass="entr" presetSubtype="16" fill="hold" nodeType="withEffect">
                                  <p:stCondLst>
                                    <p:cond delay="0"/>
                                  </p:stCondLst>
                                  <p:childTnLst>
                                    <p:set>
                                      <p:cBhvr>
                                        <p:cTn id="38" dur="1" fill="hold">
                                          <p:stCondLst>
                                            <p:cond delay="0"/>
                                          </p:stCondLst>
                                        </p:cTn>
                                        <p:tgtEl>
                                          <p:spTgt spid="13316">
                                            <p:txEl>
                                              <p:pRg st="8" end="8"/>
                                            </p:txEl>
                                          </p:spTgt>
                                        </p:tgtEl>
                                        <p:attrNameLst>
                                          <p:attrName>style.visibility</p:attrName>
                                        </p:attrNameLst>
                                      </p:cBhvr>
                                      <p:to>
                                        <p:strVal val="visible"/>
                                      </p:to>
                                    </p:set>
                                    <p:animEffect transition="in" filter="box(in)">
                                      <p:cBhvr>
                                        <p:cTn id="39" dur="500"/>
                                        <p:tgtEl>
                                          <p:spTgt spid="13316">
                                            <p:txEl>
                                              <p:pRg st="8" end="8"/>
                                            </p:txEl>
                                          </p:spTgt>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4" presetClass="entr" presetSubtype="16" fill="hold" nodeType="clickEffect">
                                  <p:stCondLst>
                                    <p:cond delay="0"/>
                                  </p:stCondLst>
                                  <p:childTnLst>
                                    <p:set>
                                      <p:cBhvr>
                                        <p:cTn id="43" dur="1" fill="hold">
                                          <p:stCondLst>
                                            <p:cond delay="0"/>
                                          </p:stCondLst>
                                        </p:cTn>
                                        <p:tgtEl>
                                          <p:spTgt spid="13316">
                                            <p:txEl>
                                              <p:pRg st="9" end="9"/>
                                            </p:txEl>
                                          </p:spTgt>
                                        </p:tgtEl>
                                        <p:attrNameLst>
                                          <p:attrName>style.visibility</p:attrName>
                                        </p:attrNameLst>
                                      </p:cBhvr>
                                      <p:to>
                                        <p:strVal val="visible"/>
                                      </p:to>
                                    </p:set>
                                    <p:animEffect transition="in" filter="box(in)">
                                      <p:cBhvr>
                                        <p:cTn id="44" dur="500"/>
                                        <p:tgtEl>
                                          <p:spTgt spid="13316">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8434" name="Picture 6">
            <a:extLst>
              <a:ext uri="{FF2B5EF4-FFF2-40B4-BE49-F238E27FC236}">
                <a16:creationId xmlns:a16="http://schemas.microsoft.com/office/drawing/2014/main" id="{3C4F0A66-18D7-8B13-BA67-98C22BE143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188" y="0"/>
            <a:ext cx="3906837"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5" name="矩形 1">
            <a:extLst>
              <a:ext uri="{FF2B5EF4-FFF2-40B4-BE49-F238E27FC236}">
                <a16:creationId xmlns:a16="http://schemas.microsoft.com/office/drawing/2014/main" id="{9AF37857-35BA-5B2A-50E6-4C7EBD2667A2}"/>
              </a:ext>
            </a:extLst>
          </p:cNvPr>
          <p:cNvSpPr>
            <a:spLocks noChangeArrowheads="1"/>
          </p:cNvSpPr>
          <p:nvPr/>
        </p:nvSpPr>
        <p:spPr bwMode="auto">
          <a:xfrm>
            <a:off x="5003800" y="549275"/>
            <a:ext cx="3367088" cy="208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80000"/>
              </a:lnSpc>
              <a:buFont typeface="Wingdings" panose="05000000000000000000" pitchFamily="2" charset="2"/>
              <a:buNone/>
            </a:pPr>
            <a:r>
              <a:rPr lang="zh-CN" altLang="en-US">
                <a:solidFill>
                  <a:schemeClr val="accent2"/>
                </a:solidFill>
              </a:rPr>
              <a:t>设计一个完善的数据库应用系统往往是这六个阶段的不断反复。</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15F20338-157B-6E53-7EF3-9FF9ADFE6E3E}"/>
              </a:ext>
            </a:extLst>
          </p:cNvPr>
          <p:cNvSpPr>
            <a:spLocks noGrp="1" noChangeArrowheads="1"/>
          </p:cNvSpPr>
          <p:nvPr>
            <p:ph type="title"/>
          </p:nvPr>
        </p:nvSpPr>
        <p:spPr/>
        <p:txBody>
          <a:bodyPr/>
          <a:lstStyle/>
          <a:p>
            <a:pPr eaLnBrk="1" hangingPunct="1"/>
            <a:r>
              <a:rPr lang="zh-CN" altLang="en-US" sz="4000"/>
              <a:t>设计特点</a:t>
            </a:r>
          </a:p>
        </p:txBody>
      </p:sp>
      <p:sp>
        <p:nvSpPr>
          <p:cNvPr id="16387" name="Rectangle 3">
            <a:extLst>
              <a:ext uri="{FF2B5EF4-FFF2-40B4-BE49-F238E27FC236}">
                <a16:creationId xmlns:a16="http://schemas.microsoft.com/office/drawing/2014/main" id="{C026600A-65BB-FD8F-40E0-49877368DE4B}"/>
              </a:ext>
            </a:extLst>
          </p:cNvPr>
          <p:cNvSpPr>
            <a:spLocks noGrp="1" noChangeArrowheads="1"/>
          </p:cNvSpPr>
          <p:nvPr>
            <p:ph type="body" idx="1"/>
          </p:nvPr>
        </p:nvSpPr>
        <p:spPr>
          <a:xfrm>
            <a:off x="468313" y="2051050"/>
            <a:ext cx="8424862" cy="4114800"/>
          </a:xfrm>
        </p:spPr>
        <p:txBody>
          <a:bodyPr/>
          <a:lstStyle/>
          <a:p>
            <a:pPr eaLnBrk="1" hangingPunct="1">
              <a:lnSpc>
                <a:spcPct val="120000"/>
              </a:lnSpc>
            </a:pPr>
            <a:r>
              <a:rPr lang="zh-CN" altLang="en-US" sz="2800"/>
              <a:t>在设计过程中把数据库的设计和对数据库中数据处理的设计紧密结合起来</a:t>
            </a:r>
          </a:p>
          <a:p>
            <a:pPr eaLnBrk="1" hangingPunct="1">
              <a:lnSpc>
                <a:spcPct val="120000"/>
              </a:lnSpc>
            </a:pPr>
            <a:r>
              <a:rPr lang="zh-CN" altLang="en-US" sz="2800"/>
              <a:t>将这两个方面的需求分析、抽象、设计、实现在各个阶段同时进行，相互参照，相互补充，以完善两方面的设计</a:t>
            </a:r>
          </a:p>
          <a:p>
            <a:pPr eaLnBrk="1" hangingPunct="1">
              <a:lnSpc>
                <a:spcPct val="120000"/>
              </a:lnSpc>
            </a:pPr>
            <a:r>
              <a:rPr lang="zh-CN" altLang="en-US" sz="2800"/>
              <a:t>设计过程各个阶段的设计描述：</a:t>
            </a:r>
            <a:endParaRPr lang="en-US" altLang="zh-CN" sz="2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animEffect transition="in" filter="box(in)">
                                      <p:cBhvr>
                                        <p:cTn id="7" dur="500"/>
                                        <p:tgtEl>
                                          <p:spTgt spid="163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16387">
                                            <p:txEl>
                                              <p:pRg st="1" end="1"/>
                                            </p:txEl>
                                          </p:spTgt>
                                        </p:tgtEl>
                                        <p:attrNameLst>
                                          <p:attrName>style.visibility</p:attrName>
                                        </p:attrNameLst>
                                      </p:cBhvr>
                                      <p:to>
                                        <p:strVal val="visible"/>
                                      </p:to>
                                    </p:set>
                                    <p:animEffect transition="in" filter="box(in)">
                                      <p:cBhvr>
                                        <p:cTn id="12" dur="500"/>
                                        <p:tgtEl>
                                          <p:spTgt spid="1638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16387">
                                            <p:txEl>
                                              <p:pRg st="2" end="2"/>
                                            </p:txEl>
                                          </p:spTgt>
                                        </p:tgtEl>
                                        <p:attrNameLst>
                                          <p:attrName>style.visibility</p:attrName>
                                        </p:attrNameLst>
                                      </p:cBhvr>
                                      <p:to>
                                        <p:strVal val="visible"/>
                                      </p:to>
                                    </p:set>
                                    <p:animEffect transition="in" filter="box(in)">
                                      <p:cBhvr>
                                        <p:cTn id="17" dur="500"/>
                                        <p:tgtEl>
                                          <p:spTgt spid="1638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2" name="页脚占位符 2">
            <a:extLst>
              <a:ext uri="{FF2B5EF4-FFF2-40B4-BE49-F238E27FC236}">
                <a16:creationId xmlns:a16="http://schemas.microsoft.com/office/drawing/2014/main" id="{28F90F64-8725-F101-51B9-FE7722AA00E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pic>
        <p:nvPicPr>
          <p:cNvPr id="20483" name="图片 36" descr="图7.3.jpg">
            <a:extLst>
              <a:ext uri="{FF2B5EF4-FFF2-40B4-BE49-F238E27FC236}">
                <a16:creationId xmlns:a16="http://schemas.microsoft.com/office/drawing/2014/main" id="{58044578-CCBF-786B-9C84-09FD315C901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71550" y="115888"/>
            <a:ext cx="6264275" cy="616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F1883BA6-1FE2-1C1D-B4D6-53EA8BE49948}"/>
              </a:ext>
            </a:extLst>
          </p:cNvPr>
          <p:cNvSpPr>
            <a:spLocks noGrp="1" noChangeArrowheads="1"/>
          </p:cNvSpPr>
          <p:nvPr>
            <p:ph type="title" idx="4294967295"/>
          </p:nvPr>
        </p:nvSpPr>
        <p:spPr/>
        <p:txBody>
          <a:bodyPr/>
          <a:lstStyle/>
          <a:p>
            <a:r>
              <a:rPr lang="en-US" altLang="zh-CN"/>
              <a:t>7.1  </a:t>
            </a:r>
            <a:r>
              <a:rPr lang="zh-CN" altLang="en-US"/>
              <a:t>数据库设计概述</a:t>
            </a:r>
          </a:p>
        </p:txBody>
      </p:sp>
      <p:sp>
        <p:nvSpPr>
          <p:cNvPr id="21507" name="Rectangle 3">
            <a:extLst>
              <a:ext uri="{FF2B5EF4-FFF2-40B4-BE49-F238E27FC236}">
                <a16:creationId xmlns:a16="http://schemas.microsoft.com/office/drawing/2014/main" id="{EE88BE86-2874-8F15-25EB-6403E3564CF9}"/>
              </a:ext>
            </a:extLst>
          </p:cNvPr>
          <p:cNvSpPr>
            <a:spLocks noGrp="1" noChangeArrowheads="1"/>
          </p:cNvSpPr>
          <p:nvPr>
            <p:ph idx="4294967295"/>
          </p:nvPr>
        </p:nvSpPr>
        <p:spPr>
          <a:xfrm>
            <a:off x="720725" y="1844675"/>
            <a:ext cx="8229600" cy="4089400"/>
          </a:xfrm>
        </p:spPr>
        <p:txBody>
          <a:bodyPr/>
          <a:lstStyle/>
          <a:p>
            <a:pPr marL="0" indent="0" eaLnBrk="1" hangingPunct="1">
              <a:lnSpc>
                <a:spcPct val="150000"/>
              </a:lnSpc>
              <a:buFont typeface="Wingdings" panose="05000000000000000000" pitchFamily="2" charset="2"/>
              <a:buNone/>
            </a:pPr>
            <a:r>
              <a:rPr lang="en-US" altLang="zh-CN"/>
              <a:t>7.1.1  </a:t>
            </a:r>
            <a:r>
              <a:rPr lang="zh-CN" altLang="en-US"/>
              <a:t>数据库设计的特点</a:t>
            </a:r>
          </a:p>
          <a:p>
            <a:pPr marL="0" indent="0">
              <a:lnSpc>
                <a:spcPct val="150000"/>
              </a:lnSpc>
              <a:buFont typeface="Wingdings" panose="05000000000000000000" pitchFamily="2" charset="2"/>
              <a:buNone/>
            </a:pPr>
            <a:r>
              <a:rPr lang="en-US" altLang="zh-CN"/>
              <a:t>7.1.2  </a:t>
            </a:r>
            <a:r>
              <a:rPr lang="zh-CN" altLang="en-US"/>
              <a:t>数据库设计方法</a:t>
            </a:r>
          </a:p>
          <a:p>
            <a:pPr marL="0" indent="0">
              <a:lnSpc>
                <a:spcPct val="150000"/>
              </a:lnSpc>
              <a:buFont typeface="Wingdings" panose="05000000000000000000" pitchFamily="2" charset="2"/>
              <a:buNone/>
            </a:pPr>
            <a:r>
              <a:rPr lang="en-US" altLang="zh-CN"/>
              <a:t>7.1.3  </a:t>
            </a:r>
            <a:r>
              <a:rPr lang="zh-CN" altLang="en-US"/>
              <a:t>数据库设计的基本步骤</a:t>
            </a:r>
          </a:p>
          <a:p>
            <a:pPr marL="0" indent="0">
              <a:lnSpc>
                <a:spcPct val="150000"/>
              </a:lnSpc>
              <a:buFont typeface="Wingdings" panose="05000000000000000000" pitchFamily="2" charset="2"/>
              <a:buNone/>
            </a:pPr>
            <a:r>
              <a:rPr lang="en-US" altLang="zh-CN">
                <a:solidFill>
                  <a:srgbClr val="FF0000"/>
                </a:solidFill>
              </a:rPr>
              <a:t>7.1.4  </a:t>
            </a:r>
            <a:r>
              <a:rPr lang="zh-CN" altLang="en-US">
                <a:solidFill>
                  <a:srgbClr val="FF0000"/>
                </a:solidFill>
              </a:rPr>
              <a:t>数据库设计过程中的各级模式</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3CDD07C7-BC91-E426-8A8B-410D2E6D3C8A}"/>
              </a:ext>
            </a:extLst>
          </p:cNvPr>
          <p:cNvSpPr>
            <a:spLocks noGrp="1" noChangeArrowheads="1"/>
          </p:cNvSpPr>
          <p:nvPr>
            <p:ph type="title" idx="4294967295"/>
          </p:nvPr>
        </p:nvSpPr>
        <p:spPr/>
        <p:txBody>
          <a:bodyPr/>
          <a:lstStyle/>
          <a:p>
            <a:r>
              <a:rPr lang="en-US" altLang="zh-CN"/>
              <a:t>7.1.4 </a:t>
            </a:r>
            <a:r>
              <a:rPr lang="zh-CN" altLang="en-US"/>
              <a:t>数据库设计过程中的各级模式</a:t>
            </a:r>
          </a:p>
        </p:txBody>
      </p:sp>
      <p:sp>
        <p:nvSpPr>
          <p:cNvPr id="22531" name="Rectangle 3">
            <a:extLst>
              <a:ext uri="{FF2B5EF4-FFF2-40B4-BE49-F238E27FC236}">
                <a16:creationId xmlns:a16="http://schemas.microsoft.com/office/drawing/2014/main" id="{BC77AA38-AAFE-054F-F6A7-7E19FF4DE83D}"/>
              </a:ext>
            </a:extLst>
          </p:cNvPr>
          <p:cNvSpPr>
            <a:spLocks noGrp="1" noChangeArrowheads="1"/>
          </p:cNvSpPr>
          <p:nvPr>
            <p:ph idx="4294967295"/>
          </p:nvPr>
        </p:nvSpPr>
        <p:spPr>
          <a:xfrm>
            <a:off x="457200" y="1844675"/>
            <a:ext cx="8435975" cy="4349750"/>
          </a:xfrm>
        </p:spPr>
        <p:txBody>
          <a:bodyPr/>
          <a:lstStyle/>
          <a:p>
            <a:r>
              <a:rPr lang="zh-CN" altLang="zh-CN"/>
              <a:t>数据库设计不同阶段形成的数据库各级模式</a:t>
            </a:r>
          </a:p>
        </p:txBody>
      </p:sp>
      <p:sp>
        <p:nvSpPr>
          <p:cNvPr id="22532" name="Text Box 5">
            <a:extLst>
              <a:ext uri="{FF2B5EF4-FFF2-40B4-BE49-F238E27FC236}">
                <a16:creationId xmlns:a16="http://schemas.microsoft.com/office/drawing/2014/main" id="{70EA0DB2-A5ED-D122-EF22-37A362F9CFDF}"/>
              </a:ext>
            </a:extLst>
          </p:cNvPr>
          <p:cNvSpPr txBox="1">
            <a:spLocks noChangeArrowheads="1"/>
          </p:cNvSpPr>
          <p:nvPr/>
        </p:nvSpPr>
        <p:spPr bwMode="auto">
          <a:xfrm>
            <a:off x="3108325" y="5805488"/>
            <a:ext cx="23145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zh-CN" altLang="zh-CN" sz="2000" b="1">
                <a:latin typeface="Times New Roman" panose="02020603050405020304" pitchFamily="18" charset="0"/>
              </a:rPr>
              <a:t>数据库的各级模式</a:t>
            </a:r>
            <a:r>
              <a:rPr lang="zh-CN" altLang="zh-CN" sz="2400" b="1">
                <a:latin typeface="Times New Roman" panose="02020603050405020304" pitchFamily="18" charset="0"/>
              </a:rPr>
              <a:t> </a:t>
            </a:r>
          </a:p>
        </p:txBody>
      </p:sp>
      <p:pic>
        <p:nvPicPr>
          <p:cNvPr id="22533" name="Picture 6" descr="C:\Users\wamdm\Desktop\1.png">
            <a:extLst>
              <a:ext uri="{FF2B5EF4-FFF2-40B4-BE49-F238E27FC236}">
                <a16:creationId xmlns:a16="http://schemas.microsoft.com/office/drawing/2014/main" id="{621245A7-61A8-0F73-244C-95B9BCF2F9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6963" y="2492375"/>
            <a:ext cx="6337300" cy="335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6" descr="C:\Users\wamdm\Desktop\1.png">
            <a:extLst>
              <a:ext uri="{FF2B5EF4-FFF2-40B4-BE49-F238E27FC236}">
                <a16:creationId xmlns:a16="http://schemas.microsoft.com/office/drawing/2014/main" id="{B404E222-629A-251D-C80E-A53F92D4D9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4100" y="2362200"/>
            <a:ext cx="6337300" cy="335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5" name="Rectangle 2">
            <a:extLst>
              <a:ext uri="{FF2B5EF4-FFF2-40B4-BE49-F238E27FC236}">
                <a16:creationId xmlns:a16="http://schemas.microsoft.com/office/drawing/2014/main" id="{442F6DD3-B50E-6832-951A-31463AE1FCA3}"/>
              </a:ext>
            </a:extLst>
          </p:cNvPr>
          <p:cNvSpPr>
            <a:spLocks noGrp="1" noChangeArrowheads="1"/>
          </p:cNvSpPr>
          <p:nvPr>
            <p:ph type="title" idx="4294967295"/>
          </p:nvPr>
        </p:nvSpPr>
        <p:spPr>
          <a:xfrm>
            <a:off x="457200" y="-34925"/>
            <a:ext cx="8229600" cy="1133475"/>
          </a:xfrm>
        </p:spPr>
        <p:txBody>
          <a:bodyPr/>
          <a:lstStyle/>
          <a:p>
            <a:r>
              <a:rPr lang="zh-CN" altLang="en-US"/>
              <a:t>数据库设计过程中的各级模式（续）</a:t>
            </a:r>
          </a:p>
        </p:txBody>
      </p:sp>
      <p:sp>
        <p:nvSpPr>
          <p:cNvPr id="23556" name="Rectangle 3">
            <a:extLst>
              <a:ext uri="{FF2B5EF4-FFF2-40B4-BE49-F238E27FC236}">
                <a16:creationId xmlns:a16="http://schemas.microsoft.com/office/drawing/2014/main" id="{B8B22F7E-FEAD-2556-3E19-8A8C599AE389}"/>
              </a:ext>
            </a:extLst>
          </p:cNvPr>
          <p:cNvSpPr>
            <a:spLocks noGrp="1" noChangeArrowheads="1"/>
          </p:cNvSpPr>
          <p:nvPr>
            <p:ph idx="4294967295"/>
          </p:nvPr>
        </p:nvSpPr>
        <p:spPr>
          <a:xfrm>
            <a:off x="457200" y="1098550"/>
            <a:ext cx="8229600" cy="4854575"/>
          </a:xfrm>
        </p:spPr>
        <p:txBody>
          <a:bodyPr/>
          <a:lstStyle/>
          <a:p>
            <a:r>
              <a:rPr lang="zh-CN" altLang="zh-CN" sz="2800"/>
              <a:t>数据库设计不同阶段形成的数据库各级模式</a:t>
            </a:r>
          </a:p>
        </p:txBody>
      </p:sp>
      <p:sp>
        <p:nvSpPr>
          <p:cNvPr id="23557" name="圆角矩形标注 7">
            <a:extLst>
              <a:ext uri="{FF2B5EF4-FFF2-40B4-BE49-F238E27FC236}">
                <a16:creationId xmlns:a16="http://schemas.microsoft.com/office/drawing/2014/main" id="{D51D7777-898F-A7C7-7C81-E1018FAD6B53}"/>
              </a:ext>
            </a:extLst>
          </p:cNvPr>
          <p:cNvSpPr>
            <a:spLocks noChangeArrowheads="1"/>
          </p:cNvSpPr>
          <p:nvPr/>
        </p:nvSpPr>
        <p:spPr bwMode="auto">
          <a:xfrm>
            <a:off x="930275" y="1552575"/>
            <a:ext cx="3660775" cy="774700"/>
          </a:xfrm>
          <a:prstGeom prst="wedgeRoundRectCallout">
            <a:avLst>
              <a:gd name="adj1" fmla="val -33139"/>
              <a:gd name="adj2" fmla="val 96616"/>
              <a:gd name="adj3" fmla="val 16667"/>
            </a:avLst>
          </a:prstGeom>
          <a:gradFill rotWithShape="1">
            <a:gsLst>
              <a:gs pos="0">
                <a:srgbClr val="A8A8EA"/>
              </a:gs>
              <a:gs pos="35001">
                <a:srgbClr val="C3C3EF"/>
              </a:gs>
              <a:gs pos="100000">
                <a:srgbClr val="E8E8FA"/>
              </a:gs>
            </a:gsLst>
            <a:lin ang="5400000" scaled="1"/>
          </a:gradFill>
          <a:ln w="9525">
            <a:solidFill>
              <a:srgbClr val="2F2F98"/>
            </a:solidFill>
            <a:miter lim="800000"/>
            <a:headEnd/>
            <a:tailEnd/>
          </a:ln>
          <a:effectLst>
            <a:outerShdw dist="20000" dir="5400000" algn="ctr" rotWithShape="0">
              <a:srgbClr val="000000">
                <a:alpha val="34998"/>
              </a:srgbClr>
            </a:outerShdw>
          </a:effectLst>
        </p:spPr>
        <p:txBody>
          <a:bodyPr wrap="none" anchor="ctr"/>
          <a:lstStyle>
            <a:lvl1pPr marL="247650">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lvl="1" eaLnBrk="1" hangingPunct="1">
              <a:spcBef>
                <a:spcPct val="0"/>
              </a:spcBef>
              <a:buClrTx/>
              <a:buSzTx/>
              <a:buFontTx/>
              <a:buNone/>
            </a:pPr>
            <a:r>
              <a:rPr lang="zh-CN" altLang="en-US" sz="2400" b="1">
                <a:solidFill>
                  <a:srgbClr val="000000"/>
                </a:solidFill>
                <a:latin typeface="Times New Roman" panose="02020603050405020304" pitchFamily="18" charset="0"/>
              </a:rPr>
              <a:t>需求分析阶段：</a:t>
            </a:r>
            <a:endParaRPr lang="en-US" altLang="zh-CN" sz="2400" b="1">
              <a:solidFill>
                <a:srgbClr val="000000"/>
              </a:solidFill>
              <a:latin typeface="Times New Roman" panose="02020603050405020304" pitchFamily="18" charset="0"/>
            </a:endParaRPr>
          </a:p>
          <a:p>
            <a:pPr eaLnBrk="1" hangingPunct="1">
              <a:spcBef>
                <a:spcPct val="0"/>
              </a:spcBef>
              <a:buClrTx/>
              <a:buSzTx/>
              <a:buFontTx/>
              <a:buNone/>
            </a:pPr>
            <a:r>
              <a:rPr lang="zh-CN" altLang="en-US" sz="2000" b="1">
                <a:solidFill>
                  <a:srgbClr val="000000"/>
                </a:solidFill>
                <a:latin typeface="Times New Roman" panose="02020603050405020304" pitchFamily="18" charset="0"/>
              </a:rPr>
              <a:t>综合各个用户的应用需求</a:t>
            </a:r>
            <a:endParaRPr lang="zh-CN" altLang="en-US" sz="2400" b="1">
              <a:solidFill>
                <a:srgbClr val="000000"/>
              </a:solidFill>
              <a:latin typeface="Times New Roman" panose="02020603050405020304" pitchFamily="18" charset="0"/>
            </a:endParaRPr>
          </a:p>
        </p:txBody>
      </p:sp>
      <p:sp>
        <p:nvSpPr>
          <p:cNvPr id="23558" name="Text Box 5">
            <a:extLst>
              <a:ext uri="{FF2B5EF4-FFF2-40B4-BE49-F238E27FC236}">
                <a16:creationId xmlns:a16="http://schemas.microsoft.com/office/drawing/2014/main" id="{11ED8DA3-98DD-2D5B-1789-099A773EAFFF}"/>
              </a:ext>
            </a:extLst>
          </p:cNvPr>
          <p:cNvSpPr txBox="1">
            <a:spLocks noChangeArrowheads="1"/>
          </p:cNvSpPr>
          <p:nvPr/>
        </p:nvSpPr>
        <p:spPr bwMode="auto">
          <a:xfrm>
            <a:off x="3108325" y="5827713"/>
            <a:ext cx="23145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zh-CN" altLang="zh-CN" sz="2000" b="1">
                <a:latin typeface="Times New Roman" panose="02020603050405020304" pitchFamily="18" charset="0"/>
              </a:rPr>
              <a:t>数据库的各级模式</a:t>
            </a:r>
            <a:r>
              <a:rPr lang="zh-CN" altLang="zh-CN" sz="2400" b="1">
                <a:latin typeface="Times New Roman" panose="02020603050405020304" pitchFamily="18" charset="0"/>
              </a:rPr>
              <a:t> </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6" descr="C:\Users\wamdm\Desktop\1.png">
            <a:extLst>
              <a:ext uri="{FF2B5EF4-FFF2-40B4-BE49-F238E27FC236}">
                <a16:creationId xmlns:a16="http://schemas.microsoft.com/office/drawing/2014/main" id="{2C4D7704-A274-35AB-7269-CB2F5AF979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4100" y="2362200"/>
            <a:ext cx="6337300" cy="335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79" name="Rectangle 2">
            <a:extLst>
              <a:ext uri="{FF2B5EF4-FFF2-40B4-BE49-F238E27FC236}">
                <a16:creationId xmlns:a16="http://schemas.microsoft.com/office/drawing/2014/main" id="{59984324-0B3C-447F-F43A-3FFB174A0EFA}"/>
              </a:ext>
            </a:extLst>
          </p:cNvPr>
          <p:cNvSpPr>
            <a:spLocks noGrp="1" noChangeArrowheads="1"/>
          </p:cNvSpPr>
          <p:nvPr>
            <p:ph type="title" idx="4294967295"/>
          </p:nvPr>
        </p:nvSpPr>
        <p:spPr>
          <a:xfrm>
            <a:off x="457200" y="-34925"/>
            <a:ext cx="8229600" cy="1133475"/>
          </a:xfrm>
        </p:spPr>
        <p:txBody>
          <a:bodyPr/>
          <a:lstStyle/>
          <a:p>
            <a:r>
              <a:rPr lang="zh-CN" altLang="en-US"/>
              <a:t>数据库设计过程中的各级模式（续）</a:t>
            </a:r>
          </a:p>
        </p:txBody>
      </p:sp>
      <p:sp>
        <p:nvSpPr>
          <p:cNvPr id="24580" name="Rectangle 3">
            <a:extLst>
              <a:ext uri="{FF2B5EF4-FFF2-40B4-BE49-F238E27FC236}">
                <a16:creationId xmlns:a16="http://schemas.microsoft.com/office/drawing/2014/main" id="{CB198668-754B-838E-F143-B7EE95E292C7}"/>
              </a:ext>
            </a:extLst>
          </p:cNvPr>
          <p:cNvSpPr>
            <a:spLocks noGrp="1" noChangeArrowheads="1"/>
          </p:cNvSpPr>
          <p:nvPr>
            <p:ph idx="4294967295"/>
          </p:nvPr>
        </p:nvSpPr>
        <p:spPr>
          <a:xfrm>
            <a:off x="457200" y="1098550"/>
            <a:ext cx="8229600" cy="4854575"/>
          </a:xfrm>
        </p:spPr>
        <p:txBody>
          <a:bodyPr/>
          <a:lstStyle/>
          <a:p>
            <a:r>
              <a:rPr lang="zh-CN" altLang="zh-CN" sz="2800"/>
              <a:t>数据库设计不同阶段形成的数据库各级模式</a:t>
            </a:r>
          </a:p>
        </p:txBody>
      </p:sp>
      <p:sp>
        <p:nvSpPr>
          <p:cNvPr id="21509" name="圆角矩形标注 9">
            <a:extLst>
              <a:ext uri="{FF2B5EF4-FFF2-40B4-BE49-F238E27FC236}">
                <a16:creationId xmlns:a16="http://schemas.microsoft.com/office/drawing/2014/main" id="{5F91A5F7-1F3C-D60B-80EC-FF8D67BBABA4}"/>
              </a:ext>
            </a:extLst>
          </p:cNvPr>
          <p:cNvSpPr>
            <a:spLocks noChangeArrowheads="1"/>
          </p:cNvSpPr>
          <p:nvPr/>
        </p:nvSpPr>
        <p:spPr bwMode="auto">
          <a:xfrm>
            <a:off x="1285875" y="549275"/>
            <a:ext cx="4137025" cy="1522413"/>
          </a:xfrm>
          <a:prstGeom prst="wedgeRoundRectCallout">
            <a:avLst>
              <a:gd name="adj1" fmla="val -6542"/>
              <a:gd name="adj2" fmla="val 137944"/>
              <a:gd name="adj3" fmla="val 16667"/>
            </a:avLst>
          </a:prstGeom>
          <a:gradFill rotWithShape="0">
            <a:gsLst>
              <a:gs pos="0">
                <a:schemeClr val="hlink"/>
              </a:gs>
              <a:gs pos="100000">
                <a:schemeClr val="hlink">
                  <a:gamma/>
                  <a:tint val="15686"/>
                  <a:invGamma/>
                </a:schemeClr>
              </a:gs>
            </a:gsLst>
            <a:lin ang="5400000" scaled="1"/>
          </a:gradFill>
          <a:ln w="9525" cmpd="sng">
            <a:solidFill>
              <a:srgbClr val="000000"/>
            </a:solidFill>
            <a:miter lim="800000"/>
            <a:headEnd/>
            <a:tailEnd/>
          </a:ln>
          <a:effectLst>
            <a:outerShdw dist="20000" dir="5400000" algn="ctr" rotWithShape="0">
              <a:srgbClr val="000000">
                <a:alpha val="34999"/>
              </a:srgbClr>
            </a:outerShdw>
          </a:effectLst>
        </p:spPr>
        <p:txBody>
          <a:bodyPr wrap="none" anchor="ctr"/>
          <a:lstStyle/>
          <a:p>
            <a:pPr eaLnBrk="1" hangingPunct="1">
              <a:lnSpc>
                <a:spcPct val="90000"/>
              </a:lnSpc>
              <a:defRPr/>
            </a:pPr>
            <a:r>
              <a:rPr lang="zh-CN" altLang="en-US" b="1" dirty="0">
                <a:solidFill>
                  <a:srgbClr val="000000"/>
                </a:solidFill>
              </a:rPr>
              <a:t>概念设计阶段：</a:t>
            </a:r>
          </a:p>
          <a:p>
            <a:pPr eaLnBrk="1" hangingPunct="1">
              <a:lnSpc>
                <a:spcPct val="90000"/>
              </a:lnSpc>
              <a:defRPr/>
            </a:pPr>
            <a:r>
              <a:rPr lang="zh-CN" altLang="en-US" b="1" dirty="0">
                <a:solidFill>
                  <a:srgbClr val="000000"/>
                </a:solidFill>
              </a:rPr>
              <a:t> 形成独立于机器特点，独</a:t>
            </a:r>
            <a:endParaRPr lang="en-US" b="1" dirty="0">
              <a:solidFill>
                <a:srgbClr val="000000"/>
              </a:solidFill>
            </a:endParaRPr>
          </a:p>
          <a:p>
            <a:pPr eaLnBrk="1" hangingPunct="1">
              <a:lnSpc>
                <a:spcPct val="90000"/>
              </a:lnSpc>
              <a:defRPr/>
            </a:pPr>
            <a:r>
              <a:rPr lang="zh-CN" altLang="en-US" b="1" dirty="0">
                <a:solidFill>
                  <a:srgbClr val="000000"/>
                </a:solidFill>
              </a:rPr>
              <a:t>立于各个数据库管理系统产</a:t>
            </a:r>
            <a:endParaRPr lang="en-US" b="1" dirty="0">
              <a:solidFill>
                <a:srgbClr val="000000"/>
              </a:solidFill>
            </a:endParaRPr>
          </a:p>
          <a:p>
            <a:pPr eaLnBrk="1" hangingPunct="1">
              <a:lnSpc>
                <a:spcPct val="90000"/>
              </a:lnSpc>
              <a:defRPr/>
            </a:pPr>
            <a:r>
              <a:rPr lang="zh-CN" altLang="en-US" b="1" dirty="0">
                <a:solidFill>
                  <a:srgbClr val="000000"/>
                </a:solidFill>
              </a:rPr>
              <a:t>品的</a:t>
            </a:r>
            <a:r>
              <a:rPr lang="zh-CN" altLang="en-US" b="1" dirty="0">
                <a:solidFill>
                  <a:srgbClr val="0066FF"/>
                </a:solidFill>
              </a:rPr>
              <a:t>概念模式</a:t>
            </a:r>
            <a:r>
              <a:rPr lang="zh-CN" altLang="en-US" b="1" dirty="0">
                <a:solidFill>
                  <a:srgbClr val="000000"/>
                </a:solidFill>
              </a:rPr>
              <a:t>（</a:t>
            </a:r>
            <a:r>
              <a:rPr lang="en-US" b="1" dirty="0">
                <a:solidFill>
                  <a:srgbClr val="000000"/>
                </a:solidFill>
              </a:rPr>
              <a:t>E-R</a:t>
            </a:r>
            <a:r>
              <a:rPr lang="zh-CN" altLang="en-US" b="1" dirty="0">
                <a:solidFill>
                  <a:srgbClr val="000000"/>
                </a:solidFill>
              </a:rPr>
              <a:t>图）</a:t>
            </a:r>
          </a:p>
        </p:txBody>
      </p:sp>
      <p:sp>
        <p:nvSpPr>
          <p:cNvPr id="24582" name="Text Box 5">
            <a:extLst>
              <a:ext uri="{FF2B5EF4-FFF2-40B4-BE49-F238E27FC236}">
                <a16:creationId xmlns:a16="http://schemas.microsoft.com/office/drawing/2014/main" id="{7D47E076-7D91-2373-684F-211FC6C6C688}"/>
              </a:ext>
            </a:extLst>
          </p:cNvPr>
          <p:cNvSpPr txBox="1">
            <a:spLocks noChangeArrowheads="1"/>
          </p:cNvSpPr>
          <p:nvPr/>
        </p:nvSpPr>
        <p:spPr bwMode="auto">
          <a:xfrm>
            <a:off x="3108325" y="5827713"/>
            <a:ext cx="23145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zh-CN" altLang="zh-CN" sz="2000" b="1">
                <a:latin typeface="Times New Roman" panose="02020603050405020304" pitchFamily="18" charset="0"/>
              </a:rPr>
              <a:t>数据库的各级模式</a:t>
            </a:r>
            <a:r>
              <a:rPr lang="zh-CN" altLang="zh-CN" sz="2400" b="1">
                <a:latin typeface="Times New Roman" panose="02020603050405020304" pitchFamily="18" charset="0"/>
              </a:rPr>
              <a:t> </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6" descr="C:\Users\wamdm\Desktop\1.png">
            <a:extLst>
              <a:ext uri="{FF2B5EF4-FFF2-40B4-BE49-F238E27FC236}">
                <a16:creationId xmlns:a16="http://schemas.microsoft.com/office/drawing/2014/main" id="{DA1F0B69-5814-6F94-8CB1-A2E79482E2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4100" y="2362200"/>
            <a:ext cx="6337300" cy="335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3" name="Rectangle 2">
            <a:extLst>
              <a:ext uri="{FF2B5EF4-FFF2-40B4-BE49-F238E27FC236}">
                <a16:creationId xmlns:a16="http://schemas.microsoft.com/office/drawing/2014/main" id="{DF463106-506A-80AC-8ABC-01CBC9A67DB9}"/>
              </a:ext>
            </a:extLst>
          </p:cNvPr>
          <p:cNvSpPr>
            <a:spLocks noGrp="1" noChangeArrowheads="1"/>
          </p:cNvSpPr>
          <p:nvPr>
            <p:ph type="title" idx="4294967295"/>
          </p:nvPr>
        </p:nvSpPr>
        <p:spPr>
          <a:xfrm>
            <a:off x="457200" y="-34925"/>
            <a:ext cx="8229600" cy="1133475"/>
          </a:xfrm>
        </p:spPr>
        <p:txBody>
          <a:bodyPr/>
          <a:lstStyle/>
          <a:p>
            <a:r>
              <a:rPr lang="zh-CN" altLang="en-US"/>
              <a:t>数据库设计过程中的各级模式（续）</a:t>
            </a:r>
          </a:p>
        </p:txBody>
      </p:sp>
      <p:sp>
        <p:nvSpPr>
          <p:cNvPr id="25604" name="Rectangle 3">
            <a:extLst>
              <a:ext uri="{FF2B5EF4-FFF2-40B4-BE49-F238E27FC236}">
                <a16:creationId xmlns:a16="http://schemas.microsoft.com/office/drawing/2014/main" id="{59C72FC6-39D0-E443-6688-8A52236B019D}"/>
              </a:ext>
            </a:extLst>
          </p:cNvPr>
          <p:cNvSpPr>
            <a:spLocks noGrp="1" noChangeArrowheads="1"/>
          </p:cNvSpPr>
          <p:nvPr>
            <p:ph idx="4294967295"/>
          </p:nvPr>
        </p:nvSpPr>
        <p:spPr>
          <a:xfrm>
            <a:off x="457200" y="1098550"/>
            <a:ext cx="8229600" cy="4854575"/>
          </a:xfrm>
        </p:spPr>
        <p:txBody>
          <a:bodyPr/>
          <a:lstStyle/>
          <a:p>
            <a:r>
              <a:rPr lang="zh-CN" altLang="zh-CN" sz="2800"/>
              <a:t>数据库设计不同阶段形成的数据库各级模式</a:t>
            </a:r>
          </a:p>
        </p:txBody>
      </p:sp>
      <p:sp>
        <p:nvSpPr>
          <p:cNvPr id="22533" name="圆角矩形标注 7">
            <a:extLst>
              <a:ext uri="{FF2B5EF4-FFF2-40B4-BE49-F238E27FC236}">
                <a16:creationId xmlns:a16="http://schemas.microsoft.com/office/drawing/2014/main" id="{466DCC75-4EBA-5534-8B9E-60045A66BFE4}"/>
              </a:ext>
            </a:extLst>
          </p:cNvPr>
          <p:cNvSpPr>
            <a:spLocks noChangeArrowheads="1"/>
          </p:cNvSpPr>
          <p:nvPr/>
        </p:nvSpPr>
        <p:spPr bwMode="auto">
          <a:xfrm>
            <a:off x="457200" y="4821238"/>
            <a:ext cx="8215313" cy="1785937"/>
          </a:xfrm>
          <a:prstGeom prst="wedgeRoundRectCallout">
            <a:avLst>
              <a:gd name="adj1" fmla="val -1134"/>
              <a:gd name="adj2" fmla="val -94528"/>
              <a:gd name="adj3" fmla="val 16667"/>
            </a:avLst>
          </a:prstGeom>
          <a:gradFill rotWithShape="1">
            <a:gsLst>
              <a:gs pos="0">
                <a:schemeClr val="folHlink"/>
              </a:gs>
              <a:gs pos="100000">
                <a:schemeClr val="folHlink">
                  <a:gamma/>
                  <a:tint val="47843"/>
                  <a:invGamma/>
                </a:schemeClr>
              </a:gs>
            </a:gsLst>
            <a:lin ang="5400000" scaled="1"/>
          </a:gradFill>
          <a:ln w="9525" cmpd="sng">
            <a:solidFill>
              <a:schemeClr val="tx1"/>
            </a:solidFill>
            <a:miter lim="800000"/>
            <a:headEnd/>
            <a:tailEnd/>
          </a:ln>
          <a:effectLst>
            <a:outerShdw dist="20000" dir="5400000" algn="ctr" rotWithShape="0">
              <a:srgbClr val="000000">
                <a:alpha val="34999"/>
              </a:srgbClr>
            </a:outerShdw>
          </a:effectLst>
        </p:spPr>
        <p:txBody>
          <a:bodyPr wrap="none" anchor="ctr"/>
          <a:lstStyle/>
          <a:p>
            <a:pPr marL="0" lvl="1" eaLnBrk="1" hangingPunct="1">
              <a:lnSpc>
                <a:spcPct val="90000"/>
              </a:lnSpc>
              <a:defRPr/>
            </a:pPr>
            <a:endParaRPr lang="en-US" sz="2000" b="1" dirty="0">
              <a:solidFill>
                <a:srgbClr val="000000"/>
              </a:solidFill>
            </a:endParaRPr>
          </a:p>
          <a:p>
            <a:pPr marL="0" lvl="1" eaLnBrk="1" hangingPunct="1">
              <a:lnSpc>
                <a:spcPct val="90000"/>
              </a:lnSpc>
              <a:defRPr/>
            </a:pPr>
            <a:r>
              <a:rPr lang="zh-CN" altLang="en-US" sz="2000" b="1" dirty="0">
                <a:solidFill>
                  <a:srgbClr val="000000"/>
                </a:solidFill>
              </a:rPr>
              <a:t>逻辑设计阶段：</a:t>
            </a:r>
            <a:endParaRPr lang="en-US" sz="2000" b="1" dirty="0">
              <a:solidFill>
                <a:srgbClr val="000000"/>
              </a:solidFill>
            </a:endParaRPr>
          </a:p>
          <a:p>
            <a:pPr eaLnBrk="1" hangingPunct="1">
              <a:lnSpc>
                <a:spcPct val="90000"/>
              </a:lnSpc>
              <a:defRPr/>
            </a:pPr>
            <a:r>
              <a:rPr lang="en-US" sz="2000" b="1" dirty="0">
                <a:solidFill>
                  <a:srgbClr val="000000"/>
                </a:solidFill>
              </a:rPr>
              <a:t>1. </a:t>
            </a:r>
            <a:r>
              <a:rPr lang="zh-CN" altLang="en-US" sz="2000" b="1" dirty="0">
                <a:solidFill>
                  <a:srgbClr val="000000"/>
                </a:solidFill>
              </a:rPr>
              <a:t>首先将</a:t>
            </a:r>
            <a:r>
              <a:rPr lang="en-US" sz="2000" b="1" dirty="0">
                <a:solidFill>
                  <a:srgbClr val="000000"/>
                </a:solidFill>
              </a:rPr>
              <a:t>E-R</a:t>
            </a:r>
            <a:r>
              <a:rPr lang="zh-CN" altLang="en-US" sz="2000" b="1" dirty="0">
                <a:solidFill>
                  <a:srgbClr val="000000"/>
                </a:solidFill>
              </a:rPr>
              <a:t>图转换成具体的数据库产品支持的数据模型，如关系模型，</a:t>
            </a:r>
            <a:endParaRPr lang="en-US" sz="2000" b="1" dirty="0">
              <a:solidFill>
                <a:srgbClr val="000000"/>
              </a:solidFill>
            </a:endParaRPr>
          </a:p>
          <a:p>
            <a:pPr eaLnBrk="1" hangingPunct="1">
              <a:lnSpc>
                <a:spcPct val="90000"/>
              </a:lnSpc>
              <a:defRPr/>
            </a:pPr>
            <a:r>
              <a:rPr lang="zh-CN" altLang="en-US" sz="2000" b="1" dirty="0">
                <a:solidFill>
                  <a:srgbClr val="000000"/>
                </a:solidFill>
              </a:rPr>
              <a:t>形成数据库</a:t>
            </a:r>
            <a:r>
              <a:rPr lang="zh-CN" altLang="en-US" sz="2000" b="1" dirty="0">
                <a:solidFill>
                  <a:srgbClr val="0066FF"/>
                </a:solidFill>
              </a:rPr>
              <a:t>逻辑模式</a:t>
            </a:r>
          </a:p>
          <a:p>
            <a:pPr eaLnBrk="1" hangingPunct="1">
              <a:lnSpc>
                <a:spcPct val="120000"/>
              </a:lnSpc>
              <a:defRPr/>
            </a:pPr>
            <a:r>
              <a:rPr lang="en-US" sz="2000" b="1" dirty="0">
                <a:solidFill>
                  <a:srgbClr val="000000"/>
                </a:solidFill>
              </a:rPr>
              <a:t>2. </a:t>
            </a:r>
            <a:r>
              <a:rPr lang="zh-CN" altLang="en-US" sz="2000" b="1" dirty="0">
                <a:solidFill>
                  <a:srgbClr val="000000"/>
                </a:solidFill>
              </a:rPr>
              <a:t>然后根据用户处理的要求、安全性的考虑，在基本表的基础上再建立</a:t>
            </a:r>
            <a:endParaRPr lang="en-US" sz="2000" b="1" dirty="0">
              <a:solidFill>
                <a:srgbClr val="000000"/>
              </a:solidFill>
            </a:endParaRPr>
          </a:p>
          <a:p>
            <a:pPr eaLnBrk="1" hangingPunct="1">
              <a:lnSpc>
                <a:spcPct val="120000"/>
              </a:lnSpc>
              <a:defRPr/>
            </a:pPr>
            <a:r>
              <a:rPr lang="zh-CN" altLang="en-US" sz="2000" b="1" dirty="0">
                <a:solidFill>
                  <a:srgbClr val="000000"/>
                </a:solidFill>
              </a:rPr>
              <a:t>必要的视图（</a:t>
            </a:r>
            <a:r>
              <a:rPr lang="en-US" sz="2000" b="1" dirty="0">
                <a:solidFill>
                  <a:srgbClr val="000000"/>
                </a:solidFill>
              </a:rPr>
              <a:t>View</a:t>
            </a:r>
            <a:r>
              <a:rPr lang="zh-CN" altLang="en-US" sz="2000" b="1" dirty="0">
                <a:solidFill>
                  <a:srgbClr val="000000"/>
                </a:solidFill>
              </a:rPr>
              <a:t>），形成数据的</a:t>
            </a:r>
            <a:r>
              <a:rPr lang="zh-CN" altLang="en-US" sz="2000" b="1" dirty="0">
                <a:solidFill>
                  <a:srgbClr val="0066FF"/>
                </a:solidFill>
              </a:rPr>
              <a:t>外模式</a:t>
            </a:r>
          </a:p>
          <a:p>
            <a:pPr eaLnBrk="1" hangingPunct="1">
              <a:defRPr/>
            </a:pPr>
            <a:endParaRPr lang="zh-CN" altLang="en-US" b="1" dirty="0">
              <a:solidFill>
                <a:srgbClr val="000000"/>
              </a:solidFill>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6" descr="C:\Users\wamdm\Desktop\1.png">
            <a:extLst>
              <a:ext uri="{FF2B5EF4-FFF2-40B4-BE49-F238E27FC236}">
                <a16:creationId xmlns:a16="http://schemas.microsoft.com/office/drawing/2014/main" id="{B990F555-8135-EDD3-84C3-C91F3C1586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4100" y="2362200"/>
            <a:ext cx="6337300" cy="335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7" name="Rectangle 2">
            <a:extLst>
              <a:ext uri="{FF2B5EF4-FFF2-40B4-BE49-F238E27FC236}">
                <a16:creationId xmlns:a16="http://schemas.microsoft.com/office/drawing/2014/main" id="{6F0CFCF5-5FED-8D82-1146-DA0A4BC13D1F}"/>
              </a:ext>
            </a:extLst>
          </p:cNvPr>
          <p:cNvSpPr>
            <a:spLocks noGrp="1" noChangeArrowheads="1"/>
          </p:cNvSpPr>
          <p:nvPr>
            <p:ph type="title" idx="4294967295"/>
          </p:nvPr>
        </p:nvSpPr>
        <p:spPr>
          <a:xfrm>
            <a:off x="457200" y="-34925"/>
            <a:ext cx="8229600" cy="1133475"/>
          </a:xfrm>
        </p:spPr>
        <p:txBody>
          <a:bodyPr/>
          <a:lstStyle/>
          <a:p>
            <a:r>
              <a:rPr lang="zh-CN" altLang="en-US"/>
              <a:t>数据库设计过程中的各级模式（续）</a:t>
            </a:r>
          </a:p>
        </p:txBody>
      </p:sp>
      <p:sp>
        <p:nvSpPr>
          <p:cNvPr id="26628" name="Rectangle 3">
            <a:extLst>
              <a:ext uri="{FF2B5EF4-FFF2-40B4-BE49-F238E27FC236}">
                <a16:creationId xmlns:a16="http://schemas.microsoft.com/office/drawing/2014/main" id="{0004BBA4-A7FF-0D60-3851-AE57F951DCA4}"/>
              </a:ext>
            </a:extLst>
          </p:cNvPr>
          <p:cNvSpPr>
            <a:spLocks noGrp="1" noChangeArrowheads="1"/>
          </p:cNvSpPr>
          <p:nvPr>
            <p:ph idx="4294967295"/>
          </p:nvPr>
        </p:nvSpPr>
        <p:spPr>
          <a:xfrm>
            <a:off x="457200" y="1098550"/>
            <a:ext cx="8229600" cy="4854575"/>
          </a:xfrm>
        </p:spPr>
        <p:txBody>
          <a:bodyPr/>
          <a:lstStyle/>
          <a:p>
            <a:r>
              <a:rPr lang="zh-CN" altLang="zh-CN" sz="2800"/>
              <a:t>数据库设计不同阶段形成的数据库各级模式</a:t>
            </a:r>
          </a:p>
        </p:txBody>
      </p:sp>
      <p:sp>
        <p:nvSpPr>
          <p:cNvPr id="26629" name="圆角矩形标注 7">
            <a:extLst>
              <a:ext uri="{FF2B5EF4-FFF2-40B4-BE49-F238E27FC236}">
                <a16:creationId xmlns:a16="http://schemas.microsoft.com/office/drawing/2014/main" id="{E19223D3-3463-D575-23BC-88C4CF27AAB2}"/>
              </a:ext>
            </a:extLst>
          </p:cNvPr>
          <p:cNvSpPr>
            <a:spLocks noChangeArrowheads="1"/>
          </p:cNvSpPr>
          <p:nvPr/>
        </p:nvSpPr>
        <p:spPr bwMode="auto">
          <a:xfrm>
            <a:off x="3286125" y="620713"/>
            <a:ext cx="5857875" cy="1593850"/>
          </a:xfrm>
          <a:prstGeom prst="wedgeRoundRectCallout">
            <a:avLst>
              <a:gd name="adj1" fmla="val 15051"/>
              <a:gd name="adj2" fmla="val 121319"/>
              <a:gd name="adj3" fmla="val 16667"/>
            </a:avLst>
          </a:prstGeom>
          <a:gradFill rotWithShape="1">
            <a:gsLst>
              <a:gs pos="0">
                <a:srgbClr val="ACACE1"/>
              </a:gs>
              <a:gs pos="35001">
                <a:srgbClr val="C5C5E9"/>
              </a:gs>
              <a:gs pos="100000">
                <a:srgbClr val="E9E9F7"/>
              </a:gs>
            </a:gsLst>
            <a:lin ang="5400000" scaled="1"/>
          </a:gradFill>
          <a:ln w="9525">
            <a:solidFill>
              <a:srgbClr val="292989"/>
            </a:solidFill>
            <a:miter lim="800000"/>
            <a:headEnd/>
            <a:tailEnd/>
          </a:ln>
          <a:effectLst>
            <a:outerShdw dist="20000" dir="5400000" algn="ctr" rotWithShape="0">
              <a:srgbClr val="000000">
                <a:alpha val="34998"/>
              </a:srgbClr>
            </a:outerShdw>
          </a:effec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24765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lnSpc>
                <a:spcPct val="90000"/>
              </a:lnSpc>
              <a:spcBef>
                <a:spcPct val="0"/>
              </a:spcBef>
              <a:buClrTx/>
              <a:buSzTx/>
              <a:buFontTx/>
              <a:buNone/>
            </a:pPr>
            <a:r>
              <a:rPr lang="zh-CN" altLang="en-US" sz="2400" b="1">
                <a:solidFill>
                  <a:srgbClr val="000000"/>
                </a:solidFill>
                <a:latin typeface="Times New Roman" panose="02020603050405020304" pitchFamily="18" charset="0"/>
              </a:rPr>
              <a:t>物理设计阶段：</a:t>
            </a:r>
          </a:p>
          <a:p>
            <a:pPr lvl="2" eaLnBrk="1" hangingPunct="1">
              <a:lnSpc>
                <a:spcPct val="90000"/>
              </a:lnSpc>
              <a:spcBef>
                <a:spcPct val="0"/>
              </a:spcBef>
              <a:buClrTx/>
              <a:buSzTx/>
              <a:buFontTx/>
              <a:buNone/>
            </a:pPr>
            <a:r>
              <a:rPr lang="zh-CN" altLang="en-US" b="1">
                <a:solidFill>
                  <a:srgbClr val="000000"/>
                </a:solidFill>
                <a:latin typeface="Times New Roman" panose="02020603050405020304" pitchFamily="18" charset="0"/>
              </a:rPr>
              <a:t>根据数据库管理系统特点和处理的需要，</a:t>
            </a:r>
            <a:endParaRPr lang="en-US" altLang="zh-CN" b="1">
              <a:solidFill>
                <a:srgbClr val="000000"/>
              </a:solidFill>
              <a:latin typeface="Times New Roman" panose="02020603050405020304" pitchFamily="18" charset="0"/>
            </a:endParaRPr>
          </a:p>
          <a:p>
            <a:pPr lvl="2" eaLnBrk="1" hangingPunct="1">
              <a:lnSpc>
                <a:spcPct val="90000"/>
              </a:lnSpc>
              <a:spcBef>
                <a:spcPct val="0"/>
              </a:spcBef>
              <a:buClrTx/>
              <a:buSzTx/>
              <a:buFontTx/>
              <a:buNone/>
            </a:pPr>
            <a:r>
              <a:rPr lang="zh-CN" altLang="en-US" b="1">
                <a:solidFill>
                  <a:srgbClr val="000000"/>
                </a:solidFill>
                <a:latin typeface="Times New Roman" panose="02020603050405020304" pitchFamily="18" charset="0"/>
              </a:rPr>
              <a:t>进行物理存储安排，建立索引，形成数</a:t>
            </a:r>
            <a:endParaRPr lang="en-US" altLang="zh-CN" b="1">
              <a:solidFill>
                <a:srgbClr val="000000"/>
              </a:solidFill>
              <a:latin typeface="Times New Roman" panose="02020603050405020304" pitchFamily="18" charset="0"/>
            </a:endParaRPr>
          </a:p>
          <a:p>
            <a:pPr lvl="2" eaLnBrk="1" hangingPunct="1">
              <a:lnSpc>
                <a:spcPct val="90000"/>
              </a:lnSpc>
              <a:spcBef>
                <a:spcPct val="0"/>
              </a:spcBef>
              <a:buClrTx/>
              <a:buSzTx/>
              <a:buFontTx/>
              <a:buNone/>
            </a:pPr>
            <a:r>
              <a:rPr lang="zh-CN" altLang="en-US" b="1">
                <a:solidFill>
                  <a:srgbClr val="000000"/>
                </a:solidFill>
                <a:latin typeface="Times New Roman" panose="02020603050405020304" pitchFamily="18" charset="0"/>
              </a:rPr>
              <a:t>据库</a:t>
            </a:r>
            <a:r>
              <a:rPr lang="zh-CN" altLang="en-US" b="1">
                <a:solidFill>
                  <a:srgbClr val="0066FF"/>
                </a:solidFill>
                <a:latin typeface="Times New Roman" panose="02020603050405020304" pitchFamily="18" charset="0"/>
              </a:rPr>
              <a:t>内模式</a:t>
            </a:r>
            <a:endParaRPr lang="zh-CN" altLang="en-US" b="1">
              <a:solidFill>
                <a:srgbClr val="000000"/>
              </a:solidFill>
              <a:latin typeface="Times New Roman" panose="02020603050405020304" pitchFamily="18" charset="0"/>
            </a:endParaRPr>
          </a:p>
        </p:txBody>
      </p:sp>
      <p:sp>
        <p:nvSpPr>
          <p:cNvPr id="26630" name="Text Box 5">
            <a:extLst>
              <a:ext uri="{FF2B5EF4-FFF2-40B4-BE49-F238E27FC236}">
                <a16:creationId xmlns:a16="http://schemas.microsoft.com/office/drawing/2014/main" id="{B1CDA191-D31D-8581-5638-B5C2A0A7D9D1}"/>
              </a:ext>
            </a:extLst>
          </p:cNvPr>
          <p:cNvSpPr txBox="1">
            <a:spLocks noChangeArrowheads="1"/>
          </p:cNvSpPr>
          <p:nvPr/>
        </p:nvSpPr>
        <p:spPr bwMode="auto">
          <a:xfrm>
            <a:off x="3108325" y="5827713"/>
            <a:ext cx="23145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zh-CN" altLang="zh-CN" sz="2000" b="1">
                <a:latin typeface="Times New Roman" panose="02020603050405020304" pitchFamily="18" charset="0"/>
              </a:rPr>
              <a:t>数据库的各级模式</a:t>
            </a:r>
            <a:r>
              <a:rPr lang="zh-CN" altLang="zh-CN" sz="2400" b="1">
                <a:latin typeface="Times New Roman" panose="02020603050405020304" pitchFamily="18" charset="0"/>
              </a:rPr>
              <a:t> </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60CCACAB-2518-9DA2-BF95-E8CB3DE380D4}"/>
              </a:ext>
            </a:extLst>
          </p:cNvPr>
          <p:cNvSpPr>
            <a:spLocks noGrp="1" noChangeArrowheads="1"/>
          </p:cNvSpPr>
          <p:nvPr>
            <p:ph type="title" idx="4294967295"/>
          </p:nvPr>
        </p:nvSpPr>
        <p:spPr/>
        <p:txBody>
          <a:bodyPr/>
          <a:lstStyle/>
          <a:p>
            <a:r>
              <a:rPr lang="zh-CN" altLang="zh-CN"/>
              <a:t>第七章  数据库设计</a:t>
            </a:r>
          </a:p>
        </p:txBody>
      </p:sp>
      <p:sp>
        <p:nvSpPr>
          <p:cNvPr id="27651" name="Rectangle 3">
            <a:extLst>
              <a:ext uri="{FF2B5EF4-FFF2-40B4-BE49-F238E27FC236}">
                <a16:creationId xmlns:a16="http://schemas.microsoft.com/office/drawing/2014/main" id="{DFDC4D73-2C09-8F61-5090-018E1568C44F}"/>
              </a:ext>
            </a:extLst>
          </p:cNvPr>
          <p:cNvSpPr>
            <a:spLocks noGrp="1" noChangeArrowheads="1"/>
          </p:cNvSpPr>
          <p:nvPr>
            <p:ph idx="4294967295"/>
          </p:nvPr>
        </p:nvSpPr>
        <p:spPr>
          <a:xfrm>
            <a:off x="720725" y="1844675"/>
            <a:ext cx="8229600" cy="4089400"/>
          </a:xfrm>
        </p:spPr>
        <p:txBody>
          <a:bodyPr/>
          <a:lstStyle/>
          <a:p>
            <a:pPr marL="0" indent="0">
              <a:lnSpc>
                <a:spcPct val="150000"/>
              </a:lnSpc>
              <a:buFont typeface="Wingdings" panose="05000000000000000000" pitchFamily="2" charset="2"/>
              <a:buNone/>
            </a:pPr>
            <a:r>
              <a:rPr lang="en-US" altLang="zh-CN" sz="2800"/>
              <a:t>7.1  </a:t>
            </a:r>
            <a:r>
              <a:rPr lang="zh-CN" altLang="en-US" sz="2800"/>
              <a:t>数据库设计概述</a:t>
            </a:r>
          </a:p>
          <a:p>
            <a:pPr marL="0" indent="0">
              <a:lnSpc>
                <a:spcPct val="150000"/>
              </a:lnSpc>
              <a:buFont typeface="Wingdings" panose="05000000000000000000" pitchFamily="2" charset="2"/>
              <a:buNone/>
            </a:pPr>
            <a:r>
              <a:rPr lang="en-US" altLang="zh-CN" sz="2800">
                <a:solidFill>
                  <a:srgbClr val="FF0000"/>
                </a:solidFill>
              </a:rPr>
              <a:t>7.2  </a:t>
            </a:r>
            <a:r>
              <a:rPr lang="zh-CN" altLang="en-US" sz="2800">
                <a:solidFill>
                  <a:srgbClr val="FF0000"/>
                </a:solidFill>
              </a:rPr>
              <a:t>需求分析</a:t>
            </a:r>
          </a:p>
          <a:p>
            <a:pPr marL="0" indent="0">
              <a:lnSpc>
                <a:spcPct val="150000"/>
              </a:lnSpc>
              <a:buFont typeface="Wingdings" panose="05000000000000000000" pitchFamily="2" charset="2"/>
              <a:buNone/>
            </a:pPr>
            <a:r>
              <a:rPr lang="en-US" altLang="zh-CN" sz="2800"/>
              <a:t>7.3  </a:t>
            </a:r>
            <a:r>
              <a:rPr lang="zh-CN" altLang="en-US" sz="2800"/>
              <a:t>概念结构设计</a:t>
            </a:r>
          </a:p>
          <a:p>
            <a:pPr marL="0" indent="0">
              <a:lnSpc>
                <a:spcPct val="150000"/>
              </a:lnSpc>
              <a:buFont typeface="Wingdings" panose="05000000000000000000" pitchFamily="2" charset="2"/>
              <a:buNone/>
            </a:pPr>
            <a:r>
              <a:rPr lang="en-US" altLang="zh-CN" sz="2800"/>
              <a:t>7.4  </a:t>
            </a:r>
            <a:r>
              <a:rPr lang="zh-CN" altLang="en-US" sz="2800"/>
              <a:t>逻辑结构设计</a:t>
            </a:r>
          </a:p>
          <a:p>
            <a:pPr marL="0" indent="0">
              <a:lnSpc>
                <a:spcPct val="150000"/>
              </a:lnSpc>
              <a:buFont typeface="Wingdings" panose="05000000000000000000" pitchFamily="2" charset="2"/>
              <a:buNone/>
            </a:pPr>
            <a:r>
              <a:rPr lang="en-US" altLang="zh-CN" sz="2800"/>
              <a:t>7.5  </a:t>
            </a:r>
            <a:r>
              <a:rPr lang="zh-CN" altLang="en-US" sz="2800"/>
              <a:t>物理结构设计</a:t>
            </a:r>
          </a:p>
          <a:p>
            <a:pPr marL="0" indent="0">
              <a:lnSpc>
                <a:spcPct val="150000"/>
              </a:lnSpc>
              <a:buFont typeface="Wingdings" panose="05000000000000000000" pitchFamily="2" charset="2"/>
              <a:buNone/>
            </a:pPr>
            <a:r>
              <a:rPr lang="en-US" altLang="zh-CN" sz="2800"/>
              <a:t>7.6  </a:t>
            </a:r>
            <a:r>
              <a:rPr lang="zh-CN" altLang="en-US" sz="2800"/>
              <a:t>数据库的实施和维护</a:t>
            </a:r>
          </a:p>
          <a:p>
            <a:pPr marL="0" indent="0">
              <a:lnSpc>
                <a:spcPct val="150000"/>
              </a:lnSpc>
              <a:buFont typeface="Wingdings" panose="05000000000000000000" pitchFamily="2" charset="2"/>
              <a:buNone/>
            </a:pPr>
            <a:r>
              <a:rPr lang="en-US" altLang="zh-CN" sz="2800"/>
              <a:t>7.7  </a:t>
            </a:r>
            <a:r>
              <a:rPr lang="zh-CN" altLang="en-US" sz="2800"/>
              <a:t>小结</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D3074730-2F72-E842-36E2-526B225B3E31}"/>
              </a:ext>
            </a:extLst>
          </p:cNvPr>
          <p:cNvSpPr>
            <a:spLocks noGrp="1" noChangeArrowheads="1"/>
          </p:cNvSpPr>
          <p:nvPr>
            <p:ph type="title"/>
          </p:nvPr>
        </p:nvSpPr>
        <p:spPr/>
        <p:txBody>
          <a:bodyPr/>
          <a:lstStyle/>
          <a:p>
            <a:pPr eaLnBrk="1" hangingPunct="1"/>
            <a:r>
              <a:rPr lang="zh-CN" altLang="en-US"/>
              <a:t>需求分析</a:t>
            </a:r>
          </a:p>
        </p:txBody>
      </p:sp>
      <p:sp>
        <p:nvSpPr>
          <p:cNvPr id="21507" name="Rectangle 3">
            <a:extLst>
              <a:ext uri="{FF2B5EF4-FFF2-40B4-BE49-F238E27FC236}">
                <a16:creationId xmlns:a16="http://schemas.microsoft.com/office/drawing/2014/main" id="{B9C02F2F-E365-1E13-BD50-708C9860C0CF}"/>
              </a:ext>
            </a:extLst>
          </p:cNvPr>
          <p:cNvSpPr>
            <a:spLocks noGrp="1" noChangeArrowheads="1"/>
          </p:cNvSpPr>
          <p:nvPr>
            <p:ph type="body" idx="1"/>
          </p:nvPr>
        </p:nvSpPr>
        <p:spPr>
          <a:xfrm>
            <a:off x="179388" y="2017713"/>
            <a:ext cx="8775700" cy="4114800"/>
          </a:xfrm>
        </p:spPr>
        <p:txBody>
          <a:bodyPr/>
          <a:lstStyle/>
          <a:p>
            <a:pPr eaLnBrk="1" hangingPunct="1"/>
            <a:r>
              <a:rPr lang="zh-CN" altLang="en-US"/>
              <a:t>需求分析的任务</a:t>
            </a:r>
          </a:p>
          <a:p>
            <a:pPr lvl="1" eaLnBrk="1" hangingPunct="1">
              <a:buFont typeface="Wingdings" panose="05000000000000000000" pitchFamily="2" charset="2"/>
              <a:buNone/>
            </a:pPr>
            <a:r>
              <a:rPr lang="zh-CN" altLang="en-US"/>
              <a:t>调查、收集与分析：信息要求、处理要求、安全性与完整性要求</a:t>
            </a:r>
          </a:p>
          <a:p>
            <a:pPr eaLnBrk="1" hangingPunct="1"/>
            <a:r>
              <a:rPr lang="zh-CN" altLang="en-US"/>
              <a:t>需求分析的方法</a:t>
            </a:r>
          </a:p>
          <a:p>
            <a:pPr lvl="1" eaLnBrk="1" hangingPunct="1">
              <a:buFont typeface="Wingdings" panose="05000000000000000000" pitchFamily="2" charset="2"/>
              <a:buNone/>
            </a:pPr>
            <a:r>
              <a:rPr lang="zh-CN" altLang="en-US"/>
              <a:t>初步调查：组织机构，部门业务活动，信息要求，确定新系统边界。</a:t>
            </a:r>
          </a:p>
          <a:p>
            <a:pPr lvl="1" eaLnBrk="1" hangingPunct="1">
              <a:buFont typeface="Wingdings" panose="05000000000000000000" pitchFamily="2" charset="2"/>
              <a:buNone/>
            </a:pPr>
            <a:r>
              <a:rPr lang="zh-CN" altLang="en-US"/>
              <a:t>方法：跟班作业，开调查会，请专人介绍，询问，设计调查表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animEffect transition="in" filter="box(in)">
                                      <p:cBhvr>
                                        <p:cTn id="7" dur="500"/>
                                        <p:tgtEl>
                                          <p:spTgt spid="2150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21507">
                                            <p:txEl>
                                              <p:pRg st="1" end="1"/>
                                            </p:txEl>
                                          </p:spTgt>
                                        </p:tgtEl>
                                        <p:attrNameLst>
                                          <p:attrName>style.visibility</p:attrName>
                                        </p:attrNameLst>
                                      </p:cBhvr>
                                      <p:to>
                                        <p:strVal val="visible"/>
                                      </p:to>
                                    </p:set>
                                    <p:animEffect transition="in" filter="box(in)">
                                      <p:cBhvr>
                                        <p:cTn id="12" dur="500"/>
                                        <p:tgtEl>
                                          <p:spTgt spid="2150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21507">
                                            <p:txEl>
                                              <p:pRg st="2" end="2"/>
                                            </p:txEl>
                                          </p:spTgt>
                                        </p:tgtEl>
                                        <p:attrNameLst>
                                          <p:attrName>style.visibility</p:attrName>
                                        </p:attrNameLst>
                                      </p:cBhvr>
                                      <p:to>
                                        <p:strVal val="visible"/>
                                      </p:to>
                                    </p:set>
                                    <p:animEffect transition="in" filter="box(in)">
                                      <p:cBhvr>
                                        <p:cTn id="17" dur="500"/>
                                        <p:tgtEl>
                                          <p:spTgt spid="2150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21507">
                                            <p:txEl>
                                              <p:pRg st="3" end="3"/>
                                            </p:txEl>
                                          </p:spTgt>
                                        </p:tgtEl>
                                        <p:attrNameLst>
                                          <p:attrName>style.visibility</p:attrName>
                                        </p:attrNameLst>
                                      </p:cBhvr>
                                      <p:to>
                                        <p:strVal val="visible"/>
                                      </p:to>
                                    </p:set>
                                    <p:animEffect transition="in" filter="box(in)">
                                      <p:cBhvr>
                                        <p:cTn id="22" dur="500"/>
                                        <p:tgtEl>
                                          <p:spTgt spid="2150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21507">
                                            <p:txEl>
                                              <p:pRg st="4" end="4"/>
                                            </p:txEl>
                                          </p:spTgt>
                                        </p:tgtEl>
                                        <p:attrNameLst>
                                          <p:attrName>style.visibility</p:attrName>
                                        </p:attrNameLst>
                                      </p:cBhvr>
                                      <p:to>
                                        <p:strVal val="visible"/>
                                      </p:to>
                                    </p:set>
                                    <p:animEffect transition="in" filter="box(in)">
                                      <p:cBhvr>
                                        <p:cTn id="27" dur="500"/>
                                        <p:tgtEl>
                                          <p:spTgt spid="2150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FE2E40CC-0B34-B309-2EF8-17A5489850D5}"/>
              </a:ext>
            </a:extLst>
          </p:cNvPr>
          <p:cNvSpPr>
            <a:spLocks noGrp="1" noChangeArrowheads="1"/>
          </p:cNvSpPr>
          <p:nvPr>
            <p:ph type="title"/>
          </p:nvPr>
        </p:nvSpPr>
        <p:spPr/>
        <p:txBody>
          <a:bodyPr/>
          <a:lstStyle/>
          <a:p>
            <a:pPr eaLnBrk="1" hangingPunct="1"/>
            <a:r>
              <a:rPr lang="zh-CN" altLang="en-US" sz="3200"/>
              <a:t>进一步分析和表达用户需求</a:t>
            </a:r>
          </a:p>
        </p:txBody>
      </p:sp>
      <p:sp>
        <p:nvSpPr>
          <p:cNvPr id="22531" name="Rectangle 3">
            <a:extLst>
              <a:ext uri="{FF2B5EF4-FFF2-40B4-BE49-F238E27FC236}">
                <a16:creationId xmlns:a16="http://schemas.microsoft.com/office/drawing/2014/main" id="{3C656227-DA4C-1467-4B28-DD2056719286}"/>
              </a:ext>
            </a:extLst>
          </p:cNvPr>
          <p:cNvSpPr>
            <a:spLocks noGrp="1" noChangeArrowheads="1"/>
          </p:cNvSpPr>
          <p:nvPr>
            <p:ph type="body" idx="1"/>
          </p:nvPr>
        </p:nvSpPr>
        <p:spPr>
          <a:xfrm>
            <a:off x="179388" y="2017713"/>
            <a:ext cx="8775700" cy="4114800"/>
          </a:xfrm>
        </p:spPr>
        <p:txBody>
          <a:bodyPr/>
          <a:lstStyle/>
          <a:p>
            <a:pPr eaLnBrk="1" hangingPunct="1"/>
            <a:r>
              <a:rPr lang="zh-CN" altLang="en-US" sz="2800"/>
              <a:t>分析和表达用户需求</a:t>
            </a:r>
            <a:r>
              <a:rPr lang="zh-CN" altLang="zh-CN" sz="2800"/>
              <a:t>的常用方法</a:t>
            </a:r>
          </a:p>
          <a:p>
            <a:pPr lvl="1" eaLnBrk="1" hangingPunct="1"/>
            <a:r>
              <a:rPr lang="zh-CN" altLang="en-US"/>
              <a:t>自顶向下的结构化分析方法（</a:t>
            </a:r>
            <a:r>
              <a:rPr lang="en-US" altLang="zh-CN"/>
              <a:t>Structured Analysis</a:t>
            </a:r>
            <a:r>
              <a:rPr lang="zh-CN" altLang="en-US"/>
              <a:t>，简称</a:t>
            </a:r>
            <a:r>
              <a:rPr lang="en-US" altLang="zh-CN"/>
              <a:t>SA</a:t>
            </a:r>
            <a:r>
              <a:rPr lang="zh-CN" altLang="en-US"/>
              <a:t>方法）</a:t>
            </a:r>
          </a:p>
          <a:p>
            <a:pPr eaLnBrk="1" hangingPunct="1"/>
            <a:endParaRPr lang="zh-CN" altLang="en-US" sz="2800"/>
          </a:p>
          <a:p>
            <a:pPr eaLnBrk="1" hangingPunct="1"/>
            <a:r>
              <a:rPr lang="en-US" altLang="zh-CN" sz="2800"/>
              <a:t>SA</a:t>
            </a:r>
            <a:r>
              <a:rPr lang="zh-CN" altLang="en-US" sz="2800"/>
              <a:t>方法从最上层的系统组织机构入手，采用逐层分解的方式分析系统，并用</a:t>
            </a:r>
            <a:r>
              <a:rPr lang="zh-CN" altLang="en-US" sz="2800">
                <a:solidFill>
                  <a:srgbClr val="FF0000"/>
                </a:solidFill>
              </a:rPr>
              <a:t>数据流图</a:t>
            </a:r>
            <a:r>
              <a:rPr lang="zh-CN" altLang="en-US" sz="2800"/>
              <a:t>和</a:t>
            </a:r>
            <a:r>
              <a:rPr lang="zh-CN" altLang="en-US" sz="2800">
                <a:solidFill>
                  <a:srgbClr val="FF0000"/>
                </a:solidFill>
              </a:rPr>
              <a:t>数据字典</a:t>
            </a:r>
            <a:r>
              <a:rPr lang="zh-CN" altLang="en-US" sz="2800"/>
              <a:t>描述系统。</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animEffect transition="in" filter="box(in)">
                                      <p:cBhvr>
                                        <p:cTn id="7" dur="500"/>
                                        <p:tgtEl>
                                          <p:spTgt spid="22531">
                                            <p:txEl>
                                              <p:pRg st="0" end="0"/>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22531">
                                            <p:txEl>
                                              <p:pRg st="1" end="1"/>
                                            </p:txEl>
                                          </p:spTgt>
                                        </p:tgtEl>
                                        <p:attrNameLst>
                                          <p:attrName>style.visibility</p:attrName>
                                        </p:attrNameLst>
                                      </p:cBhvr>
                                      <p:to>
                                        <p:strVal val="visible"/>
                                      </p:to>
                                    </p:set>
                                    <p:animEffect transition="in" filter="box(in)">
                                      <p:cBhvr>
                                        <p:cTn id="10" dur="500"/>
                                        <p:tgtEl>
                                          <p:spTgt spid="22531">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 presetClass="entr" presetSubtype="16" fill="hold" nodeType="clickEffect">
                                  <p:stCondLst>
                                    <p:cond delay="0"/>
                                  </p:stCondLst>
                                  <p:childTnLst>
                                    <p:set>
                                      <p:cBhvr>
                                        <p:cTn id="14" dur="1" fill="hold">
                                          <p:stCondLst>
                                            <p:cond delay="0"/>
                                          </p:stCondLst>
                                        </p:cTn>
                                        <p:tgtEl>
                                          <p:spTgt spid="22531">
                                            <p:txEl>
                                              <p:pRg st="3" end="3"/>
                                            </p:txEl>
                                          </p:spTgt>
                                        </p:tgtEl>
                                        <p:attrNameLst>
                                          <p:attrName>style.visibility</p:attrName>
                                        </p:attrNameLst>
                                      </p:cBhvr>
                                      <p:to>
                                        <p:strVal val="visible"/>
                                      </p:to>
                                    </p:set>
                                    <p:animEffect transition="in" filter="box(in)">
                                      <p:cBhvr>
                                        <p:cTn id="15" dur="500"/>
                                        <p:tgtEl>
                                          <p:spTgt spid="2253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C8750C58-7BDC-1C26-37E8-A601CFF3F679}"/>
              </a:ext>
            </a:extLst>
          </p:cNvPr>
          <p:cNvSpPr>
            <a:spLocks noGrp="1" noChangeArrowheads="1"/>
          </p:cNvSpPr>
          <p:nvPr>
            <p:ph type="title"/>
          </p:nvPr>
        </p:nvSpPr>
        <p:spPr/>
        <p:txBody>
          <a:bodyPr/>
          <a:lstStyle/>
          <a:p>
            <a:pPr eaLnBrk="1" hangingPunct="1"/>
            <a:r>
              <a:rPr lang="zh-CN" altLang="en-US" sz="3200"/>
              <a:t>进一步分析和表达用户需求（续）</a:t>
            </a:r>
          </a:p>
        </p:txBody>
      </p:sp>
      <p:sp>
        <p:nvSpPr>
          <p:cNvPr id="30723" name="Rectangle 3">
            <a:extLst>
              <a:ext uri="{FF2B5EF4-FFF2-40B4-BE49-F238E27FC236}">
                <a16:creationId xmlns:a16="http://schemas.microsoft.com/office/drawing/2014/main" id="{63910B4C-82A5-28BA-6BB2-B4FD9521EC52}"/>
              </a:ext>
            </a:extLst>
          </p:cNvPr>
          <p:cNvSpPr>
            <a:spLocks noGrp="1" noChangeArrowheads="1"/>
          </p:cNvSpPr>
          <p:nvPr>
            <p:ph type="body" idx="1"/>
          </p:nvPr>
        </p:nvSpPr>
        <p:spPr>
          <a:xfrm>
            <a:off x="468313" y="2017713"/>
            <a:ext cx="8486775" cy="4114800"/>
          </a:xfrm>
        </p:spPr>
        <p:txBody>
          <a:bodyPr/>
          <a:lstStyle/>
          <a:p>
            <a:pPr eaLnBrk="1" hangingPunct="1">
              <a:buFont typeface="Wingdings" panose="05000000000000000000" pitchFamily="2" charset="2"/>
              <a:buNone/>
            </a:pPr>
            <a:r>
              <a:rPr lang="zh-CN" altLang="en-US"/>
              <a:t>首先把任何一个系统都抽象为：</a:t>
            </a:r>
          </a:p>
        </p:txBody>
      </p:sp>
      <p:grpSp>
        <p:nvGrpSpPr>
          <p:cNvPr id="30724" name="Group 4">
            <a:extLst>
              <a:ext uri="{FF2B5EF4-FFF2-40B4-BE49-F238E27FC236}">
                <a16:creationId xmlns:a16="http://schemas.microsoft.com/office/drawing/2014/main" id="{CFC39E6C-D60A-2E17-5ADD-F74A12DB4DFB}"/>
              </a:ext>
            </a:extLst>
          </p:cNvPr>
          <p:cNvGrpSpPr>
            <a:grpSpLocks/>
          </p:cNvGrpSpPr>
          <p:nvPr/>
        </p:nvGrpSpPr>
        <p:grpSpPr bwMode="auto">
          <a:xfrm>
            <a:off x="1295400" y="2895600"/>
            <a:ext cx="7315200" cy="2286000"/>
            <a:chOff x="768" y="1824"/>
            <a:chExt cx="4608" cy="1440"/>
          </a:xfrm>
        </p:grpSpPr>
        <p:sp>
          <p:nvSpPr>
            <p:cNvPr id="30725" name="Text Box 5">
              <a:extLst>
                <a:ext uri="{FF2B5EF4-FFF2-40B4-BE49-F238E27FC236}">
                  <a16:creationId xmlns:a16="http://schemas.microsoft.com/office/drawing/2014/main" id="{51290434-9C3A-E33C-EEEE-764CE5552202}"/>
                </a:ext>
              </a:extLst>
            </p:cNvPr>
            <p:cNvSpPr txBox="1">
              <a:spLocks noChangeArrowheads="1"/>
            </p:cNvSpPr>
            <p:nvPr/>
          </p:nvSpPr>
          <p:spPr bwMode="auto">
            <a:xfrm>
              <a:off x="2621" y="2544"/>
              <a:ext cx="642"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2000" b="1">
                  <a:latin typeface="Times New Roman" panose="02020603050405020304" pitchFamily="18" charset="0"/>
                </a:rPr>
                <a:t>数据流</a:t>
              </a:r>
              <a:endParaRPr kumimoji="0" lang="zh-CN" altLang="en-US" sz="1800" b="1">
                <a:latin typeface="Times New Roman" panose="02020603050405020304" pitchFamily="18" charset="0"/>
              </a:endParaRPr>
            </a:p>
          </p:txBody>
        </p:sp>
        <p:sp>
          <p:nvSpPr>
            <p:cNvPr id="30726" name="Text Box 6">
              <a:extLst>
                <a:ext uri="{FF2B5EF4-FFF2-40B4-BE49-F238E27FC236}">
                  <a16:creationId xmlns:a16="http://schemas.microsoft.com/office/drawing/2014/main" id="{4051E0D2-0780-FFA8-2FB0-8D84ADA34FFF}"/>
                </a:ext>
              </a:extLst>
            </p:cNvPr>
            <p:cNvSpPr txBox="1">
              <a:spLocks noChangeArrowheads="1"/>
            </p:cNvSpPr>
            <p:nvPr/>
          </p:nvSpPr>
          <p:spPr bwMode="auto">
            <a:xfrm>
              <a:off x="1481" y="2544"/>
              <a:ext cx="570"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2000" b="1">
                  <a:latin typeface="Times New Roman" panose="02020603050405020304" pitchFamily="18" charset="0"/>
                </a:rPr>
                <a:t>数据流</a:t>
              </a:r>
              <a:endParaRPr kumimoji="0" lang="zh-CN" altLang="en-US" sz="1800">
                <a:latin typeface="Times New Roman" panose="02020603050405020304" pitchFamily="18" charset="0"/>
              </a:endParaRPr>
            </a:p>
          </p:txBody>
        </p:sp>
        <p:sp>
          <p:nvSpPr>
            <p:cNvPr id="30727" name="Oval 7">
              <a:extLst>
                <a:ext uri="{FF2B5EF4-FFF2-40B4-BE49-F238E27FC236}">
                  <a16:creationId xmlns:a16="http://schemas.microsoft.com/office/drawing/2014/main" id="{B97105C0-AE29-8EC8-229F-3DB14430C3ED}"/>
                </a:ext>
              </a:extLst>
            </p:cNvPr>
            <p:cNvSpPr>
              <a:spLocks noChangeArrowheads="1"/>
            </p:cNvSpPr>
            <p:nvPr/>
          </p:nvSpPr>
          <p:spPr bwMode="auto">
            <a:xfrm>
              <a:off x="2051" y="2647"/>
              <a:ext cx="570" cy="617"/>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rIns="0"/>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latin typeface="Times New Roman" panose="02020603050405020304" pitchFamily="18" charset="0"/>
              </a:endParaRPr>
            </a:p>
          </p:txBody>
        </p:sp>
        <p:sp>
          <p:nvSpPr>
            <p:cNvPr id="30728" name="Text Box 8">
              <a:extLst>
                <a:ext uri="{FF2B5EF4-FFF2-40B4-BE49-F238E27FC236}">
                  <a16:creationId xmlns:a16="http://schemas.microsoft.com/office/drawing/2014/main" id="{810CE3E6-8D7F-CA90-D226-45DBC5C544C7}"/>
                </a:ext>
              </a:extLst>
            </p:cNvPr>
            <p:cNvSpPr txBox="1">
              <a:spLocks noChangeArrowheads="1"/>
            </p:cNvSpPr>
            <p:nvPr/>
          </p:nvSpPr>
          <p:spPr bwMode="auto">
            <a:xfrm>
              <a:off x="1980" y="1824"/>
              <a:ext cx="712" cy="4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rIns="0"/>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2000" b="1">
                  <a:latin typeface="Times New Roman" panose="02020603050405020304" pitchFamily="18" charset="0"/>
                </a:rPr>
                <a:t>数据</a:t>
              </a:r>
            </a:p>
            <a:p>
              <a:pPr algn="ctr">
                <a:spcBef>
                  <a:spcPct val="0"/>
                </a:spcBef>
                <a:buClrTx/>
                <a:buSzTx/>
                <a:buFontTx/>
                <a:buNone/>
              </a:pPr>
              <a:r>
                <a:rPr kumimoji="0" lang="zh-CN" altLang="en-US" sz="2000" b="1">
                  <a:latin typeface="Times New Roman" panose="02020603050405020304" pitchFamily="18" charset="0"/>
                </a:rPr>
                <a:t>存储</a:t>
              </a:r>
            </a:p>
          </p:txBody>
        </p:sp>
        <p:sp>
          <p:nvSpPr>
            <p:cNvPr id="30729" name="Text Box 9">
              <a:extLst>
                <a:ext uri="{FF2B5EF4-FFF2-40B4-BE49-F238E27FC236}">
                  <a16:creationId xmlns:a16="http://schemas.microsoft.com/office/drawing/2014/main" id="{563EA1D9-6A43-D8E5-6868-E084E248AC79}"/>
                </a:ext>
              </a:extLst>
            </p:cNvPr>
            <p:cNvSpPr txBox="1">
              <a:spLocks noChangeArrowheads="1"/>
            </p:cNvSpPr>
            <p:nvPr/>
          </p:nvSpPr>
          <p:spPr bwMode="auto">
            <a:xfrm>
              <a:off x="4656" y="2016"/>
              <a:ext cx="713" cy="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2000" b="1">
                  <a:latin typeface="Times New Roman" panose="02020603050405020304" pitchFamily="18" charset="0"/>
                </a:rPr>
                <a:t>信息要求</a:t>
              </a:r>
              <a:endParaRPr kumimoji="0" lang="zh-CN" altLang="en-US" sz="1800">
                <a:latin typeface="Times New Roman" panose="02020603050405020304" pitchFamily="18" charset="0"/>
              </a:endParaRPr>
            </a:p>
          </p:txBody>
        </p:sp>
        <p:sp>
          <p:nvSpPr>
            <p:cNvPr id="30730" name="Line 10">
              <a:extLst>
                <a:ext uri="{FF2B5EF4-FFF2-40B4-BE49-F238E27FC236}">
                  <a16:creationId xmlns:a16="http://schemas.microsoft.com/office/drawing/2014/main" id="{CCF2B8E0-514E-C1EB-8164-C3C7C61F25C4}"/>
                </a:ext>
              </a:extLst>
            </p:cNvPr>
            <p:cNvSpPr>
              <a:spLocks noChangeShapeType="1"/>
            </p:cNvSpPr>
            <p:nvPr/>
          </p:nvSpPr>
          <p:spPr bwMode="auto">
            <a:xfrm flipH="1">
              <a:off x="4224" y="2112"/>
              <a:ext cx="356"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lIns="0" rIns="0"/>
            <a:lstStyle/>
            <a:p>
              <a:endParaRPr lang="zh-CN" altLang="en-US"/>
            </a:p>
          </p:txBody>
        </p:sp>
        <p:sp>
          <p:nvSpPr>
            <p:cNvPr id="30731" name="Text Box 11">
              <a:extLst>
                <a:ext uri="{FF2B5EF4-FFF2-40B4-BE49-F238E27FC236}">
                  <a16:creationId xmlns:a16="http://schemas.microsoft.com/office/drawing/2014/main" id="{A89015F8-B971-0424-1471-AC436795EE5E}"/>
                </a:ext>
              </a:extLst>
            </p:cNvPr>
            <p:cNvSpPr txBox="1">
              <a:spLocks noChangeArrowheads="1"/>
            </p:cNvSpPr>
            <p:nvPr/>
          </p:nvSpPr>
          <p:spPr bwMode="auto">
            <a:xfrm>
              <a:off x="768" y="2750"/>
              <a:ext cx="713" cy="514"/>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rIns="0"/>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2000" b="1">
                  <a:latin typeface="Times New Roman" panose="02020603050405020304" pitchFamily="18" charset="0"/>
                </a:rPr>
                <a:t>数据</a:t>
              </a:r>
              <a:endParaRPr kumimoji="0" lang="zh-CN" altLang="en-US" sz="1800" b="1">
                <a:latin typeface="Times New Roman" panose="02020603050405020304" pitchFamily="18" charset="0"/>
              </a:endParaRPr>
            </a:p>
            <a:p>
              <a:pPr algn="ctr">
                <a:spcBef>
                  <a:spcPct val="0"/>
                </a:spcBef>
                <a:buClrTx/>
                <a:buSzTx/>
                <a:buFontTx/>
                <a:buNone/>
              </a:pPr>
              <a:r>
                <a:rPr kumimoji="0" lang="zh-CN" altLang="en-US" sz="2000" b="1">
                  <a:latin typeface="Times New Roman" panose="02020603050405020304" pitchFamily="18" charset="0"/>
                </a:rPr>
                <a:t>来源</a:t>
              </a:r>
              <a:endParaRPr kumimoji="0" lang="zh-CN" altLang="en-US" sz="1800" b="1">
                <a:latin typeface="Times New Roman" panose="02020603050405020304" pitchFamily="18" charset="0"/>
              </a:endParaRPr>
            </a:p>
          </p:txBody>
        </p:sp>
        <p:sp>
          <p:nvSpPr>
            <p:cNvPr id="30732" name="Line 12">
              <a:extLst>
                <a:ext uri="{FF2B5EF4-FFF2-40B4-BE49-F238E27FC236}">
                  <a16:creationId xmlns:a16="http://schemas.microsoft.com/office/drawing/2014/main" id="{4C1FE842-F8DA-BB4A-40C1-97BF5A3FB1E9}"/>
                </a:ext>
              </a:extLst>
            </p:cNvPr>
            <p:cNvSpPr>
              <a:spLocks noChangeShapeType="1"/>
            </p:cNvSpPr>
            <p:nvPr/>
          </p:nvSpPr>
          <p:spPr bwMode="auto">
            <a:xfrm>
              <a:off x="1481" y="2955"/>
              <a:ext cx="499"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lIns="0" rIns="0"/>
            <a:lstStyle/>
            <a:p>
              <a:endParaRPr lang="zh-CN" altLang="en-US"/>
            </a:p>
          </p:txBody>
        </p:sp>
        <p:sp>
          <p:nvSpPr>
            <p:cNvPr id="30733" name="Text Box 13">
              <a:extLst>
                <a:ext uri="{FF2B5EF4-FFF2-40B4-BE49-F238E27FC236}">
                  <a16:creationId xmlns:a16="http://schemas.microsoft.com/office/drawing/2014/main" id="{5AF065C8-D5A7-A8D2-6FF6-1B3CAB0D4900}"/>
                </a:ext>
              </a:extLst>
            </p:cNvPr>
            <p:cNvSpPr txBox="1">
              <a:spLocks noChangeArrowheads="1"/>
            </p:cNvSpPr>
            <p:nvPr/>
          </p:nvSpPr>
          <p:spPr bwMode="auto">
            <a:xfrm>
              <a:off x="2122" y="2750"/>
              <a:ext cx="428"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2000" b="1">
                  <a:latin typeface="Times New Roman" panose="02020603050405020304" pitchFamily="18" charset="0"/>
                </a:rPr>
                <a:t>处理</a:t>
              </a:r>
              <a:endParaRPr kumimoji="0" lang="zh-CN" altLang="en-US" sz="1800" b="1">
                <a:latin typeface="Times New Roman" panose="02020603050405020304" pitchFamily="18" charset="0"/>
              </a:endParaRPr>
            </a:p>
          </p:txBody>
        </p:sp>
        <p:sp>
          <p:nvSpPr>
            <p:cNvPr id="30734" name="Line 14">
              <a:extLst>
                <a:ext uri="{FF2B5EF4-FFF2-40B4-BE49-F238E27FC236}">
                  <a16:creationId xmlns:a16="http://schemas.microsoft.com/office/drawing/2014/main" id="{0736C4BA-0329-A94D-8570-CCE77CE9D179}"/>
                </a:ext>
              </a:extLst>
            </p:cNvPr>
            <p:cNvSpPr>
              <a:spLocks noChangeShapeType="1"/>
            </p:cNvSpPr>
            <p:nvPr/>
          </p:nvSpPr>
          <p:spPr bwMode="auto">
            <a:xfrm>
              <a:off x="2692" y="2955"/>
              <a:ext cx="571"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lIns="0" rIns="0"/>
            <a:lstStyle/>
            <a:p>
              <a:endParaRPr lang="zh-CN" altLang="en-US"/>
            </a:p>
          </p:txBody>
        </p:sp>
        <p:sp>
          <p:nvSpPr>
            <p:cNvPr id="30735" name="Text Box 15">
              <a:extLst>
                <a:ext uri="{FF2B5EF4-FFF2-40B4-BE49-F238E27FC236}">
                  <a16:creationId xmlns:a16="http://schemas.microsoft.com/office/drawing/2014/main" id="{D9C37281-8C9B-9938-0DCB-5A9B639E9E40}"/>
                </a:ext>
              </a:extLst>
            </p:cNvPr>
            <p:cNvSpPr txBox="1">
              <a:spLocks noChangeArrowheads="1"/>
            </p:cNvSpPr>
            <p:nvPr/>
          </p:nvSpPr>
          <p:spPr bwMode="auto">
            <a:xfrm>
              <a:off x="3263" y="2750"/>
              <a:ext cx="855" cy="514"/>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rIns="0"/>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2000" b="1">
                  <a:latin typeface="Times New Roman" panose="02020603050405020304" pitchFamily="18" charset="0"/>
                </a:rPr>
                <a:t>数据</a:t>
              </a:r>
              <a:endParaRPr kumimoji="0" lang="zh-CN" altLang="en-US" sz="1800" b="1">
                <a:latin typeface="Times New Roman" panose="02020603050405020304" pitchFamily="18" charset="0"/>
              </a:endParaRPr>
            </a:p>
            <a:p>
              <a:pPr algn="ctr">
                <a:spcBef>
                  <a:spcPct val="0"/>
                </a:spcBef>
                <a:buClrTx/>
                <a:buSzTx/>
                <a:buFontTx/>
                <a:buNone/>
              </a:pPr>
              <a:r>
                <a:rPr kumimoji="0" lang="zh-CN" altLang="en-US" sz="2000" b="1">
                  <a:latin typeface="Times New Roman" panose="02020603050405020304" pitchFamily="18" charset="0"/>
                </a:rPr>
                <a:t>输出</a:t>
              </a:r>
            </a:p>
          </p:txBody>
        </p:sp>
        <p:sp>
          <p:nvSpPr>
            <p:cNvPr id="30736" name="Line 16">
              <a:extLst>
                <a:ext uri="{FF2B5EF4-FFF2-40B4-BE49-F238E27FC236}">
                  <a16:creationId xmlns:a16="http://schemas.microsoft.com/office/drawing/2014/main" id="{F7284B73-FA51-9012-3F7E-87A079AC7F0F}"/>
                </a:ext>
              </a:extLst>
            </p:cNvPr>
            <p:cNvSpPr>
              <a:spLocks noChangeShapeType="1"/>
            </p:cNvSpPr>
            <p:nvPr/>
          </p:nvSpPr>
          <p:spPr bwMode="auto">
            <a:xfrm flipH="1">
              <a:off x="4320" y="2976"/>
              <a:ext cx="28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lIns="0" rIns="0"/>
            <a:lstStyle/>
            <a:p>
              <a:endParaRPr lang="zh-CN" altLang="en-US"/>
            </a:p>
          </p:txBody>
        </p:sp>
        <p:sp>
          <p:nvSpPr>
            <p:cNvPr id="30737" name="Text Box 17">
              <a:extLst>
                <a:ext uri="{FF2B5EF4-FFF2-40B4-BE49-F238E27FC236}">
                  <a16:creationId xmlns:a16="http://schemas.microsoft.com/office/drawing/2014/main" id="{243D7BED-B8CD-CCFC-B40D-E148B8881441}"/>
                </a:ext>
              </a:extLst>
            </p:cNvPr>
            <p:cNvSpPr txBox="1">
              <a:spLocks noChangeArrowheads="1"/>
            </p:cNvSpPr>
            <p:nvPr/>
          </p:nvSpPr>
          <p:spPr bwMode="auto">
            <a:xfrm>
              <a:off x="4663" y="2832"/>
              <a:ext cx="713"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2000" b="1">
                  <a:latin typeface="Times New Roman" panose="02020603050405020304" pitchFamily="18" charset="0"/>
                </a:rPr>
                <a:t>处理要求</a:t>
              </a:r>
              <a:endParaRPr kumimoji="0" lang="zh-CN" altLang="en-US" sz="1800">
                <a:latin typeface="Times New Roman" panose="02020603050405020304" pitchFamily="18" charset="0"/>
              </a:endParaRPr>
            </a:p>
          </p:txBody>
        </p:sp>
        <p:sp>
          <p:nvSpPr>
            <p:cNvPr id="30738" name="Line 18">
              <a:extLst>
                <a:ext uri="{FF2B5EF4-FFF2-40B4-BE49-F238E27FC236}">
                  <a16:creationId xmlns:a16="http://schemas.microsoft.com/office/drawing/2014/main" id="{A6D19ED6-FFBB-6F95-C309-3142D410A28C}"/>
                </a:ext>
              </a:extLst>
            </p:cNvPr>
            <p:cNvSpPr>
              <a:spLocks noChangeShapeType="1"/>
            </p:cNvSpPr>
            <p:nvPr/>
          </p:nvSpPr>
          <p:spPr bwMode="auto">
            <a:xfrm>
              <a:off x="2336" y="2235"/>
              <a:ext cx="0" cy="412"/>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lIns="0" rIns="0"/>
            <a:lstStyle/>
            <a:p>
              <a:endParaRPr lang="zh-CN" altLang="en-US"/>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FAB2E65F-818E-1983-574A-B8973778C22C}"/>
              </a:ext>
            </a:extLst>
          </p:cNvPr>
          <p:cNvSpPr>
            <a:spLocks noGrp="1" noChangeArrowheads="1"/>
          </p:cNvSpPr>
          <p:nvPr>
            <p:ph type="title"/>
          </p:nvPr>
        </p:nvSpPr>
        <p:spPr/>
        <p:txBody>
          <a:bodyPr/>
          <a:lstStyle/>
          <a:p>
            <a:pPr eaLnBrk="1" hangingPunct="1"/>
            <a:r>
              <a:rPr lang="zh-CN" altLang="en-US"/>
              <a:t>需求分析小结</a:t>
            </a:r>
          </a:p>
        </p:txBody>
      </p:sp>
      <p:pic>
        <p:nvPicPr>
          <p:cNvPr id="31747" name="Picture 9">
            <a:extLst>
              <a:ext uri="{FF2B5EF4-FFF2-40B4-BE49-F238E27FC236}">
                <a16:creationId xmlns:a16="http://schemas.microsoft.com/office/drawing/2014/main" id="{AC732FBF-287F-15CA-F8D8-A2564E4CBC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2276475"/>
            <a:ext cx="7200900" cy="386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A9B76F7F-386A-2718-B6AC-71790FA80EFE}"/>
              </a:ext>
            </a:extLst>
          </p:cNvPr>
          <p:cNvSpPr>
            <a:spLocks noGrp="1" noChangeArrowheads="1"/>
          </p:cNvSpPr>
          <p:nvPr>
            <p:ph type="title"/>
          </p:nvPr>
        </p:nvSpPr>
        <p:spPr/>
        <p:txBody>
          <a:bodyPr/>
          <a:lstStyle/>
          <a:p>
            <a:pPr eaLnBrk="1" hangingPunct="1"/>
            <a:r>
              <a:rPr lang="zh-CN" altLang="en-US"/>
              <a:t>需求分析小结（续）</a:t>
            </a:r>
          </a:p>
        </p:txBody>
      </p:sp>
      <p:sp>
        <p:nvSpPr>
          <p:cNvPr id="25603" name="Rectangle 3">
            <a:extLst>
              <a:ext uri="{FF2B5EF4-FFF2-40B4-BE49-F238E27FC236}">
                <a16:creationId xmlns:a16="http://schemas.microsoft.com/office/drawing/2014/main" id="{5EA12255-0AAD-7859-F8AC-784DA2699C80}"/>
              </a:ext>
            </a:extLst>
          </p:cNvPr>
          <p:cNvSpPr>
            <a:spLocks noGrp="1" noChangeArrowheads="1"/>
          </p:cNvSpPr>
          <p:nvPr>
            <p:ph type="body" idx="1"/>
          </p:nvPr>
        </p:nvSpPr>
        <p:spPr>
          <a:xfrm>
            <a:off x="533400" y="1905000"/>
            <a:ext cx="8305800" cy="4114800"/>
          </a:xfrm>
        </p:spPr>
        <p:txBody>
          <a:bodyPr/>
          <a:lstStyle/>
          <a:p>
            <a:pPr eaLnBrk="1" hangingPunct="1">
              <a:lnSpc>
                <a:spcPct val="110000"/>
              </a:lnSpc>
              <a:buFont typeface="Wingdings" panose="05000000000000000000" pitchFamily="2" charset="2"/>
              <a:buNone/>
            </a:pPr>
            <a:r>
              <a:rPr lang="zh-CN" altLang="en-US" sz="2400"/>
              <a:t>实例：假设我们要开发一个学校管理系统。</a:t>
            </a:r>
          </a:p>
          <a:p>
            <a:pPr eaLnBrk="1" hangingPunct="1">
              <a:lnSpc>
                <a:spcPct val="110000"/>
              </a:lnSpc>
              <a:buFont typeface="Wingdings" panose="05000000000000000000" pitchFamily="2" charset="2"/>
              <a:buNone/>
            </a:pPr>
            <a:r>
              <a:rPr lang="en-US" altLang="zh-CN" sz="2400"/>
              <a:t>1</a:t>
            </a:r>
            <a:r>
              <a:rPr lang="zh-CN" altLang="en-US" sz="2400"/>
              <a:t>．经过可行性分析和初步需求调查，抽象出该系统最高层</a:t>
            </a:r>
            <a:r>
              <a:rPr lang="zh-CN" altLang="en-US" sz="2400">
                <a:solidFill>
                  <a:srgbClr val="FF0000"/>
                </a:solidFill>
              </a:rPr>
              <a:t>数据流图</a:t>
            </a:r>
            <a:r>
              <a:rPr lang="zh-CN" altLang="en-US" sz="2400"/>
              <a:t>，该系统由教师管理子系统、学生管理子系统、后勤管理子系统组成，每个子系统分别配备一个开发小组。</a:t>
            </a:r>
          </a:p>
          <a:p>
            <a:pPr eaLnBrk="1" hangingPunct="1">
              <a:lnSpc>
                <a:spcPct val="110000"/>
              </a:lnSpc>
              <a:buFont typeface="Wingdings" panose="05000000000000000000" pitchFamily="2" charset="2"/>
              <a:buNone/>
            </a:pPr>
            <a:r>
              <a:rPr lang="en-US" altLang="zh-CN" sz="2400"/>
              <a:t>2</a:t>
            </a:r>
            <a:r>
              <a:rPr lang="zh-CN" altLang="en-US" sz="2400"/>
              <a:t>．进一步细化各个子系统。</a:t>
            </a:r>
          </a:p>
          <a:p>
            <a:pPr eaLnBrk="1" hangingPunct="1">
              <a:lnSpc>
                <a:spcPct val="110000"/>
              </a:lnSpc>
              <a:buFont typeface="Wingdings" panose="05000000000000000000" pitchFamily="2" charset="2"/>
              <a:buNone/>
            </a:pPr>
            <a:r>
              <a:rPr lang="zh-CN" altLang="en-US" sz="2400"/>
              <a:t>	其中学生管理子系统开发小组通过进行进一步的需求调查，明确了该子系统的主要功能是进行学籍管理和课程管理，包括学生报到、入学、毕业的管理，学生上课情况的管理。通过详细的信息流程分析和数据收集后，生成该子系统的数据流图。</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5603">
                                            <p:txEl>
                                              <p:pRg st="1" end="1"/>
                                            </p:txEl>
                                          </p:spTgt>
                                        </p:tgtEl>
                                        <p:attrNameLst>
                                          <p:attrName>style.visibility</p:attrName>
                                        </p:attrNameLst>
                                      </p:cBhvr>
                                      <p:to>
                                        <p:strVal val="visible"/>
                                      </p:to>
                                    </p:set>
                                    <p:animEffect transition="in" filter="box(in)">
                                      <p:cBhvr>
                                        <p:cTn id="7" dur="500"/>
                                        <p:tgtEl>
                                          <p:spTgt spid="2560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25603">
                                            <p:txEl>
                                              <p:pRg st="2" end="2"/>
                                            </p:txEl>
                                          </p:spTgt>
                                        </p:tgtEl>
                                        <p:attrNameLst>
                                          <p:attrName>style.visibility</p:attrName>
                                        </p:attrNameLst>
                                      </p:cBhvr>
                                      <p:to>
                                        <p:strVal val="visible"/>
                                      </p:to>
                                    </p:set>
                                    <p:animEffect transition="in" filter="box(in)">
                                      <p:cBhvr>
                                        <p:cTn id="12" dur="500"/>
                                        <p:tgtEl>
                                          <p:spTgt spid="25603">
                                            <p:txEl>
                                              <p:pRg st="2" end="2"/>
                                            </p:txEl>
                                          </p:spTgt>
                                        </p:tgtEl>
                                      </p:cBhvr>
                                    </p:animEffect>
                                  </p:childTnLst>
                                </p:cTn>
                              </p:par>
                              <p:par>
                                <p:cTn id="13" presetID="4" presetClass="entr" presetSubtype="16" fill="hold" nodeType="withEffect">
                                  <p:stCondLst>
                                    <p:cond delay="0"/>
                                  </p:stCondLst>
                                  <p:childTnLst>
                                    <p:set>
                                      <p:cBhvr>
                                        <p:cTn id="14" dur="1" fill="hold">
                                          <p:stCondLst>
                                            <p:cond delay="0"/>
                                          </p:stCondLst>
                                        </p:cTn>
                                        <p:tgtEl>
                                          <p:spTgt spid="25603">
                                            <p:txEl>
                                              <p:pRg st="3" end="3"/>
                                            </p:txEl>
                                          </p:spTgt>
                                        </p:tgtEl>
                                        <p:attrNameLst>
                                          <p:attrName>style.visibility</p:attrName>
                                        </p:attrNameLst>
                                      </p:cBhvr>
                                      <p:to>
                                        <p:strVal val="visible"/>
                                      </p:to>
                                    </p:set>
                                    <p:animEffect transition="in" filter="box(in)">
                                      <p:cBhvr>
                                        <p:cTn id="15" dur="500"/>
                                        <p:tgtEl>
                                          <p:spTgt spid="2560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589CA714-AE05-8140-677D-CC6C095B7913}"/>
              </a:ext>
            </a:extLst>
          </p:cNvPr>
          <p:cNvSpPr>
            <a:spLocks noGrp="1" noChangeArrowheads="1"/>
          </p:cNvSpPr>
          <p:nvPr>
            <p:ph type="title"/>
          </p:nvPr>
        </p:nvSpPr>
        <p:spPr/>
        <p:txBody>
          <a:bodyPr/>
          <a:lstStyle/>
          <a:p>
            <a:pPr eaLnBrk="1" hangingPunct="1"/>
            <a:r>
              <a:rPr lang="zh-CN" altLang="en-US" sz="4000"/>
              <a:t>实例：学校管理系统</a:t>
            </a:r>
          </a:p>
        </p:txBody>
      </p:sp>
      <p:pic>
        <p:nvPicPr>
          <p:cNvPr id="33795" name="Picture 3" descr="未标题-1">
            <a:extLst>
              <a:ext uri="{FF2B5EF4-FFF2-40B4-BE49-F238E27FC236}">
                <a16:creationId xmlns:a16="http://schemas.microsoft.com/office/drawing/2014/main" id="{15876A45-D0FE-5B33-50FB-E92FA2A806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225" y="2133600"/>
            <a:ext cx="8675688" cy="435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18" name="页脚占位符 4">
            <a:extLst>
              <a:ext uri="{FF2B5EF4-FFF2-40B4-BE49-F238E27FC236}">
                <a16:creationId xmlns:a16="http://schemas.microsoft.com/office/drawing/2014/main" id="{FD26D2D1-195F-4218-E033-7BB75DB4557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34819" name="Rectangle 2">
            <a:extLst>
              <a:ext uri="{FF2B5EF4-FFF2-40B4-BE49-F238E27FC236}">
                <a16:creationId xmlns:a16="http://schemas.microsoft.com/office/drawing/2014/main" id="{586F9282-EFE0-8436-6864-438DA840B0D8}"/>
              </a:ext>
            </a:extLst>
          </p:cNvPr>
          <p:cNvSpPr>
            <a:spLocks noGrp="1" noChangeArrowheads="1"/>
          </p:cNvSpPr>
          <p:nvPr>
            <p:ph type="title"/>
          </p:nvPr>
        </p:nvSpPr>
        <p:spPr>
          <a:xfrm>
            <a:off x="785813" y="285750"/>
            <a:ext cx="7793037" cy="1143000"/>
          </a:xfrm>
        </p:spPr>
        <p:txBody>
          <a:bodyPr/>
          <a:lstStyle/>
          <a:p>
            <a:pPr eaLnBrk="1" hangingPunct="1"/>
            <a:r>
              <a:rPr lang="zh-CN" altLang="en-US"/>
              <a:t>数据流图</a:t>
            </a:r>
          </a:p>
        </p:txBody>
      </p:sp>
      <p:pic>
        <p:nvPicPr>
          <p:cNvPr id="34820" name="Picture 7">
            <a:extLst>
              <a:ext uri="{FF2B5EF4-FFF2-40B4-BE49-F238E27FC236}">
                <a16:creationId xmlns:a16="http://schemas.microsoft.com/office/drawing/2014/main" id="{11E723FA-9950-2308-CD4A-DE8B2651C1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500188"/>
            <a:ext cx="9156700" cy="5214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5842" name="Picture 2" descr="未标题-3">
            <a:extLst>
              <a:ext uri="{FF2B5EF4-FFF2-40B4-BE49-F238E27FC236}">
                <a16:creationId xmlns:a16="http://schemas.microsoft.com/office/drawing/2014/main" id="{B9F00690-8ABE-60A1-3CE2-C2F0F1504E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188" y="1143000"/>
            <a:ext cx="8459787" cy="492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3" name="TextBox 4">
            <a:extLst>
              <a:ext uri="{FF2B5EF4-FFF2-40B4-BE49-F238E27FC236}">
                <a16:creationId xmlns:a16="http://schemas.microsoft.com/office/drawing/2014/main" id="{0C9C25D8-E5B3-520D-ED79-0D782E6CD652}"/>
              </a:ext>
            </a:extLst>
          </p:cNvPr>
          <p:cNvSpPr txBox="1">
            <a:spLocks noChangeArrowheads="1"/>
          </p:cNvSpPr>
          <p:nvPr/>
        </p:nvSpPr>
        <p:spPr bwMode="auto">
          <a:xfrm>
            <a:off x="2857500" y="6143625"/>
            <a:ext cx="23574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zh-CN" altLang="en-US" sz="2000" b="1">
                <a:latin typeface="Times New Roman" panose="02020603050405020304" pitchFamily="18" charset="0"/>
              </a:rPr>
              <a:t>（</a:t>
            </a:r>
            <a:r>
              <a:rPr lang="en-US" altLang="zh-CN" sz="2000" b="1">
                <a:latin typeface="Times New Roman" panose="02020603050405020304" pitchFamily="18" charset="0"/>
              </a:rPr>
              <a:t>b</a:t>
            </a:r>
            <a:r>
              <a:rPr lang="zh-CN" altLang="en-US" sz="2000" b="1">
                <a:latin typeface="Times New Roman" panose="02020603050405020304" pitchFamily="18" charset="0"/>
              </a:rPr>
              <a:t>）</a:t>
            </a:r>
            <a:r>
              <a:rPr lang="en-US" altLang="zh-CN" sz="2000" b="1">
                <a:latin typeface="Times New Roman" panose="02020603050405020304" pitchFamily="18" charset="0"/>
              </a:rPr>
              <a:t>  </a:t>
            </a:r>
            <a:r>
              <a:rPr lang="zh-CN" altLang="en-US" sz="2000" b="1">
                <a:latin typeface="Times New Roman" panose="02020603050405020304" pitchFamily="18" charset="0"/>
              </a:rPr>
              <a:t>报到</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866" name="标题 1">
            <a:extLst>
              <a:ext uri="{FF2B5EF4-FFF2-40B4-BE49-F238E27FC236}">
                <a16:creationId xmlns:a16="http://schemas.microsoft.com/office/drawing/2014/main" id="{8BE1E3FA-27B5-1DDC-9D26-60281635F5DB}"/>
              </a:ext>
            </a:extLst>
          </p:cNvPr>
          <p:cNvSpPr>
            <a:spLocks noGrp="1" noChangeArrowheads="1"/>
          </p:cNvSpPr>
          <p:nvPr>
            <p:ph type="title"/>
          </p:nvPr>
        </p:nvSpPr>
        <p:spPr/>
        <p:txBody>
          <a:bodyPr/>
          <a:lstStyle/>
          <a:p>
            <a:pPr eaLnBrk="1" hangingPunct="1"/>
            <a:endParaRPr lang="zh-CN" altLang="en-US"/>
          </a:p>
        </p:txBody>
      </p:sp>
      <p:sp>
        <p:nvSpPr>
          <p:cNvPr id="36867" name="内容占位符 2">
            <a:extLst>
              <a:ext uri="{FF2B5EF4-FFF2-40B4-BE49-F238E27FC236}">
                <a16:creationId xmlns:a16="http://schemas.microsoft.com/office/drawing/2014/main" id="{200F3E1F-2B65-9CA3-AAA3-B61973DDC6DD}"/>
              </a:ext>
            </a:extLst>
          </p:cNvPr>
          <p:cNvSpPr>
            <a:spLocks noGrp="1" noChangeArrowheads="1"/>
          </p:cNvSpPr>
          <p:nvPr>
            <p:ph idx="1"/>
          </p:nvPr>
        </p:nvSpPr>
        <p:spPr/>
        <p:txBody>
          <a:bodyPr/>
          <a:lstStyle/>
          <a:p>
            <a:pPr eaLnBrk="1" hangingPunct="1"/>
            <a:endParaRPr lang="zh-CN" altLang="en-US"/>
          </a:p>
        </p:txBody>
      </p:sp>
      <p:sp>
        <p:nvSpPr>
          <p:cNvPr id="36868" name="页脚占位符 3">
            <a:extLst>
              <a:ext uri="{FF2B5EF4-FFF2-40B4-BE49-F238E27FC236}">
                <a16:creationId xmlns:a16="http://schemas.microsoft.com/office/drawing/2014/main" id="{29FD3427-27AE-F6E6-EA7B-2F39C2A27C3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pic>
        <p:nvPicPr>
          <p:cNvPr id="36869" name="Picture 2">
            <a:extLst>
              <a:ext uri="{FF2B5EF4-FFF2-40B4-BE49-F238E27FC236}">
                <a16:creationId xmlns:a16="http://schemas.microsoft.com/office/drawing/2014/main" id="{D0ED924B-D80A-5D0C-193D-6C274E268C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938" y="171450"/>
            <a:ext cx="7786687" cy="654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7890" name="Picture 3">
            <a:extLst>
              <a:ext uri="{FF2B5EF4-FFF2-40B4-BE49-F238E27FC236}">
                <a16:creationId xmlns:a16="http://schemas.microsoft.com/office/drawing/2014/main" id="{B599E003-F78C-EBA8-446A-A40337D72E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063" y="142875"/>
            <a:ext cx="8143875" cy="610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1" name="TextBox 6">
            <a:extLst>
              <a:ext uri="{FF2B5EF4-FFF2-40B4-BE49-F238E27FC236}">
                <a16:creationId xmlns:a16="http://schemas.microsoft.com/office/drawing/2014/main" id="{A81B4991-67A8-4303-374B-6821895218F8}"/>
              </a:ext>
            </a:extLst>
          </p:cNvPr>
          <p:cNvSpPr txBox="1">
            <a:spLocks noChangeArrowheads="1"/>
          </p:cNvSpPr>
          <p:nvPr/>
        </p:nvSpPr>
        <p:spPr bwMode="auto">
          <a:xfrm>
            <a:off x="3214688" y="6315075"/>
            <a:ext cx="27146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zh-CN" altLang="en-US" sz="2000" b="1">
                <a:solidFill>
                  <a:schemeClr val="tx2"/>
                </a:solidFill>
                <a:latin typeface="Times New Roman" panose="02020603050405020304" pitchFamily="18" charset="0"/>
              </a:rPr>
              <a:t>课程管理的数据流图</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页脚占位符 4">
            <a:extLst>
              <a:ext uri="{FF2B5EF4-FFF2-40B4-BE49-F238E27FC236}">
                <a16:creationId xmlns:a16="http://schemas.microsoft.com/office/drawing/2014/main" id="{EF283297-B80D-368E-41A4-BA85C3616B9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38915" name="Rectangle 2">
            <a:extLst>
              <a:ext uri="{FF2B5EF4-FFF2-40B4-BE49-F238E27FC236}">
                <a16:creationId xmlns:a16="http://schemas.microsoft.com/office/drawing/2014/main" id="{7957605F-AE52-8FA6-44A0-09D9A8686276}"/>
              </a:ext>
            </a:extLst>
          </p:cNvPr>
          <p:cNvSpPr>
            <a:spLocks noGrp="1" noChangeArrowheads="1"/>
          </p:cNvSpPr>
          <p:nvPr>
            <p:ph type="title"/>
          </p:nvPr>
        </p:nvSpPr>
        <p:spPr/>
        <p:txBody>
          <a:bodyPr/>
          <a:lstStyle/>
          <a:p>
            <a:pPr eaLnBrk="1" hangingPunct="1"/>
            <a:r>
              <a:rPr lang="en-US" altLang="zh-CN"/>
              <a:t>7.2  </a:t>
            </a:r>
            <a:r>
              <a:rPr lang="zh-CN" altLang="en-US"/>
              <a:t>需求分析</a:t>
            </a:r>
          </a:p>
        </p:txBody>
      </p:sp>
      <p:sp>
        <p:nvSpPr>
          <p:cNvPr id="38916" name="Rectangle 3">
            <a:extLst>
              <a:ext uri="{FF2B5EF4-FFF2-40B4-BE49-F238E27FC236}">
                <a16:creationId xmlns:a16="http://schemas.microsoft.com/office/drawing/2014/main" id="{F83E97DB-31C1-4E57-49A7-6268777CB28C}"/>
              </a:ext>
            </a:extLst>
          </p:cNvPr>
          <p:cNvSpPr>
            <a:spLocks noGrp="1" noChangeArrowheads="1"/>
          </p:cNvSpPr>
          <p:nvPr>
            <p:ph type="body" idx="1"/>
          </p:nvPr>
        </p:nvSpPr>
        <p:spPr/>
        <p:txBody>
          <a:bodyPr/>
          <a:lstStyle/>
          <a:p>
            <a:pPr eaLnBrk="1" hangingPunct="1">
              <a:lnSpc>
                <a:spcPct val="160000"/>
              </a:lnSpc>
              <a:buFont typeface="Wingdings" panose="05000000000000000000" pitchFamily="2" charset="2"/>
              <a:buNone/>
            </a:pPr>
            <a:r>
              <a:rPr lang="en-US" altLang="zh-CN"/>
              <a:t>7.2.1  </a:t>
            </a:r>
            <a:r>
              <a:rPr lang="zh-CN" altLang="en-US"/>
              <a:t>需求分析的任务</a:t>
            </a:r>
          </a:p>
          <a:p>
            <a:pPr eaLnBrk="1" hangingPunct="1">
              <a:lnSpc>
                <a:spcPct val="160000"/>
              </a:lnSpc>
              <a:buFont typeface="Wingdings" panose="05000000000000000000" pitchFamily="2" charset="2"/>
              <a:buNone/>
            </a:pPr>
            <a:r>
              <a:rPr lang="en-US" altLang="zh-CN"/>
              <a:t>7.2.2  </a:t>
            </a:r>
            <a:r>
              <a:rPr lang="zh-CN" altLang="en-US"/>
              <a:t>需求分析的方法</a:t>
            </a:r>
          </a:p>
          <a:p>
            <a:pPr eaLnBrk="1" hangingPunct="1">
              <a:lnSpc>
                <a:spcPct val="160000"/>
              </a:lnSpc>
              <a:buFont typeface="Wingdings" panose="05000000000000000000" pitchFamily="2" charset="2"/>
              <a:buNone/>
            </a:pPr>
            <a:r>
              <a:rPr lang="en-US" altLang="zh-CN">
                <a:solidFill>
                  <a:schemeClr val="accent2"/>
                </a:solidFill>
              </a:rPr>
              <a:t>7.2.3  </a:t>
            </a:r>
            <a:r>
              <a:rPr lang="zh-CN" altLang="en-US">
                <a:solidFill>
                  <a:schemeClr val="accent2"/>
                </a:solidFill>
              </a:rPr>
              <a:t>数据字典</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页脚占位符 4">
            <a:extLst>
              <a:ext uri="{FF2B5EF4-FFF2-40B4-BE49-F238E27FC236}">
                <a16:creationId xmlns:a16="http://schemas.microsoft.com/office/drawing/2014/main" id="{73C8DD93-8D99-EE1F-E11D-A7A8669F9E6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39939" name="Rectangle 2">
            <a:extLst>
              <a:ext uri="{FF2B5EF4-FFF2-40B4-BE49-F238E27FC236}">
                <a16:creationId xmlns:a16="http://schemas.microsoft.com/office/drawing/2014/main" id="{2C4F91E5-B3A5-5D62-25D1-3FB0CC4E8E69}"/>
              </a:ext>
            </a:extLst>
          </p:cNvPr>
          <p:cNvSpPr>
            <a:spLocks noGrp="1" noChangeArrowheads="1"/>
          </p:cNvSpPr>
          <p:nvPr>
            <p:ph type="title"/>
          </p:nvPr>
        </p:nvSpPr>
        <p:spPr/>
        <p:txBody>
          <a:bodyPr/>
          <a:lstStyle/>
          <a:p>
            <a:pPr eaLnBrk="1" hangingPunct="1"/>
            <a:r>
              <a:rPr lang="en-US" altLang="zh-CN"/>
              <a:t>7.2.3  </a:t>
            </a:r>
            <a:r>
              <a:rPr lang="zh-CN" altLang="en-US"/>
              <a:t>数据字典</a:t>
            </a:r>
          </a:p>
        </p:txBody>
      </p:sp>
      <p:sp>
        <p:nvSpPr>
          <p:cNvPr id="39940" name="Rectangle 3">
            <a:extLst>
              <a:ext uri="{FF2B5EF4-FFF2-40B4-BE49-F238E27FC236}">
                <a16:creationId xmlns:a16="http://schemas.microsoft.com/office/drawing/2014/main" id="{87E96EC5-63EA-7726-AE9C-B6724AADC589}"/>
              </a:ext>
            </a:extLst>
          </p:cNvPr>
          <p:cNvSpPr>
            <a:spLocks noGrp="1" noChangeArrowheads="1"/>
          </p:cNvSpPr>
          <p:nvPr>
            <p:ph type="body" idx="1"/>
          </p:nvPr>
        </p:nvSpPr>
        <p:spPr/>
        <p:txBody>
          <a:bodyPr/>
          <a:lstStyle/>
          <a:p>
            <a:pPr eaLnBrk="1" hangingPunct="1">
              <a:lnSpc>
                <a:spcPct val="180000"/>
              </a:lnSpc>
              <a:buFont typeface="Wingdings" panose="05000000000000000000" pitchFamily="2" charset="2"/>
              <a:buNone/>
            </a:pPr>
            <a:r>
              <a:rPr lang="zh-CN" altLang="en-US"/>
              <a:t>一、数据字典的用途</a:t>
            </a:r>
          </a:p>
          <a:p>
            <a:pPr eaLnBrk="1" hangingPunct="1">
              <a:lnSpc>
                <a:spcPct val="180000"/>
              </a:lnSpc>
              <a:buFont typeface="Wingdings" panose="05000000000000000000" pitchFamily="2" charset="2"/>
              <a:buNone/>
            </a:pPr>
            <a:r>
              <a:rPr lang="zh-CN" altLang="en-US"/>
              <a:t>二、数据字典的内容</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页脚占位符 4">
            <a:extLst>
              <a:ext uri="{FF2B5EF4-FFF2-40B4-BE49-F238E27FC236}">
                <a16:creationId xmlns:a16="http://schemas.microsoft.com/office/drawing/2014/main" id="{4504FB94-69BC-F1D3-6AE1-9CC0B556A7C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40963" name="Rectangle 2">
            <a:extLst>
              <a:ext uri="{FF2B5EF4-FFF2-40B4-BE49-F238E27FC236}">
                <a16:creationId xmlns:a16="http://schemas.microsoft.com/office/drawing/2014/main" id="{BCB6A4ED-D4EB-2995-B448-FF725DAF1EEC}"/>
              </a:ext>
            </a:extLst>
          </p:cNvPr>
          <p:cNvSpPr>
            <a:spLocks noGrp="1" noChangeArrowheads="1"/>
          </p:cNvSpPr>
          <p:nvPr>
            <p:ph type="title"/>
          </p:nvPr>
        </p:nvSpPr>
        <p:spPr/>
        <p:txBody>
          <a:bodyPr/>
          <a:lstStyle/>
          <a:p>
            <a:pPr eaLnBrk="1" hangingPunct="1"/>
            <a:r>
              <a:rPr lang="zh-CN" altLang="en-US"/>
              <a:t>一、数据字典的用途</a:t>
            </a:r>
          </a:p>
        </p:txBody>
      </p:sp>
      <p:sp>
        <p:nvSpPr>
          <p:cNvPr id="40964" name="Rectangle 3">
            <a:extLst>
              <a:ext uri="{FF2B5EF4-FFF2-40B4-BE49-F238E27FC236}">
                <a16:creationId xmlns:a16="http://schemas.microsoft.com/office/drawing/2014/main" id="{7B2DD7E3-664B-0F28-9338-FDA6B3ACD9F1}"/>
              </a:ext>
            </a:extLst>
          </p:cNvPr>
          <p:cNvSpPr>
            <a:spLocks noGrp="1" noChangeArrowheads="1"/>
          </p:cNvSpPr>
          <p:nvPr>
            <p:ph type="body" idx="1"/>
          </p:nvPr>
        </p:nvSpPr>
        <p:spPr>
          <a:xfrm>
            <a:off x="323850" y="2017713"/>
            <a:ext cx="8631238" cy="4114800"/>
          </a:xfrm>
        </p:spPr>
        <p:txBody>
          <a:bodyPr/>
          <a:lstStyle/>
          <a:p>
            <a:pPr eaLnBrk="1" hangingPunct="1">
              <a:lnSpc>
                <a:spcPct val="180000"/>
              </a:lnSpc>
            </a:pPr>
            <a:r>
              <a:rPr lang="zh-CN" altLang="en-US" sz="2800"/>
              <a:t>数据字典是各类数据描述的集合</a:t>
            </a:r>
          </a:p>
          <a:p>
            <a:pPr eaLnBrk="1" hangingPunct="1">
              <a:lnSpc>
                <a:spcPct val="140000"/>
              </a:lnSpc>
            </a:pPr>
            <a:r>
              <a:rPr lang="zh-CN" altLang="en-US" sz="2800"/>
              <a:t>数据字典是进行详细的数据收集和数据分析所获得的主要结果</a:t>
            </a:r>
          </a:p>
          <a:p>
            <a:pPr eaLnBrk="1" hangingPunct="1">
              <a:lnSpc>
                <a:spcPct val="180000"/>
              </a:lnSpc>
            </a:pPr>
            <a:r>
              <a:rPr lang="zh-CN" altLang="en-US" sz="2800"/>
              <a:t>数据字典在数据库设计中占有很重要的地位</a:t>
            </a:r>
          </a:p>
          <a:p>
            <a:pPr eaLnBrk="1" hangingPunct="1"/>
            <a:endParaRPr lang="en-US" altLang="zh-CN"/>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页脚占位符 4">
            <a:extLst>
              <a:ext uri="{FF2B5EF4-FFF2-40B4-BE49-F238E27FC236}">
                <a16:creationId xmlns:a16="http://schemas.microsoft.com/office/drawing/2014/main" id="{C7321B33-807C-FE76-DAB8-ECA124E7969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41987" name="Rectangle 2">
            <a:extLst>
              <a:ext uri="{FF2B5EF4-FFF2-40B4-BE49-F238E27FC236}">
                <a16:creationId xmlns:a16="http://schemas.microsoft.com/office/drawing/2014/main" id="{9C0D2864-AFF7-F323-59D7-C87AF023C3B5}"/>
              </a:ext>
            </a:extLst>
          </p:cNvPr>
          <p:cNvSpPr>
            <a:spLocks noGrp="1" noChangeArrowheads="1"/>
          </p:cNvSpPr>
          <p:nvPr>
            <p:ph type="title"/>
          </p:nvPr>
        </p:nvSpPr>
        <p:spPr/>
        <p:txBody>
          <a:bodyPr/>
          <a:lstStyle/>
          <a:p>
            <a:pPr eaLnBrk="1" hangingPunct="1"/>
            <a:r>
              <a:rPr lang="zh-CN" altLang="en-US"/>
              <a:t>二、数据字典的内容</a:t>
            </a:r>
          </a:p>
        </p:txBody>
      </p:sp>
      <p:sp>
        <p:nvSpPr>
          <p:cNvPr id="34820" name="Rectangle 3">
            <a:extLst>
              <a:ext uri="{FF2B5EF4-FFF2-40B4-BE49-F238E27FC236}">
                <a16:creationId xmlns:a16="http://schemas.microsoft.com/office/drawing/2014/main" id="{B8ECD6DB-7D91-9B29-3BF1-F94EDD818A50}"/>
              </a:ext>
            </a:extLst>
          </p:cNvPr>
          <p:cNvSpPr>
            <a:spLocks noGrp="1" noChangeArrowheads="1"/>
          </p:cNvSpPr>
          <p:nvPr>
            <p:ph type="body" idx="1"/>
          </p:nvPr>
        </p:nvSpPr>
        <p:spPr>
          <a:xfrm>
            <a:off x="533400" y="1981200"/>
            <a:ext cx="8382000" cy="4114800"/>
          </a:xfrm>
        </p:spPr>
        <p:txBody>
          <a:bodyPr/>
          <a:lstStyle/>
          <a:p>
            <a:pPr eaLnBrk="1" hangingPunct="1">
              <a:lnSpc>
                <a:spcPct val="90000"/>
              </a:lnSpc>
            </a:pPr>
            <a:r>
              <a:rPr lang="zh-CN" altLang="en-US" sz="2800"/>
              <a:t>数据字典的内容</a:t>
            </a:r>
          </a:p>
          <a:p>
            <a:pPr lvl="1" eaLnBrk="1" hangingPunct="1">
              <a:lnSpc>
                <a:spcPct val="90000"/>
              </a:lnSpc>
            </a:pPr>
            <a:r>
              <a:rPr lang="zh-CN" altLang="en-US" sz="2400"/>
              <a:t>数据项</a:t>
            </a:r>
          </a:p>
          <a:p>
            <a:pPr lvl="1" eaLnBrk="1" hangingPunct="1">
              <a:lnSpc>
                <a:spcPct val="90000"/>
              </a:lnSpc>
            </a:pPr>
            <a:r>
              <a:rPr lang="zh-CN" altLang="en-US" sz="2400"/>
              <a:t>数据结构</a:t>
            </a:r>
          </a:p>
          <a:p>
            <a:pPr lvl="1" eaLnBrk="1" hangingPunct="1">
              <a:lnSpc>
                <a:spcPct val="90000"/>
              </a:lnSpc>
            </a:pPr>
            <a:r>
              <a:rPr lang="zh-CN" altLang="en-US" sz="2400"/>
              <a:t>数据流</a:t>
            </a:r>
          </a:p>
          <a:p>
            <a:pPr lvl="1" eaLnBrk="1" hangingPunct="1">
              <a:lnSpc>
                <a:spcPct val="90000"/>
              </a:lnSpc>
            </a:pPr>
            <a:r>
              <a:rPr lang="zh-CN" altLang="en-US" sz="2400"/>
              <a:t>数据存储</a:t>
            </a:r>
          </a:p>
          <a:p>
            <a:pPr lvl="1" eaLnBrk="1" hangingPunct="1">
              <a:lnSpc>
                <a:spcPct val="90000"/>
              </a:lnSpc>
            </a:pPr>
            <a:r>
              <a:rPr lang="zh-CN" altLang="en-US" sz="2400"/>
              <a:t>处理过程</a:t>
            </a:r>
          </a:p>
          <a:p>
            <a:pPr eaLnBrk="1" hangingPunct="1">
              <a:lnSpc>
                <a:spcPct val="90000"/>
              </a:lnSpc>
            </a:pPr>
            <a:r>
              <a:rPr lang="zh-CN" altLang="en-US" sz="2800"/>
              <a:t> 数据项是数据的最小组成单位</a:t>
            </a:r>
          </a:p>
          <a:p>
            <a:pPr eaLnBrk="1" hangingPunct="1">
              <a:lnSpc>
                <a:spcPct val="90000"/>
              </a:lnSpc>
            </a:pPr>
            <a:r>
              <a:rPr lang="zh-CN" altLang="en-US" sz="2800"/>
              <a:t> 若干个数据项可以组成一个数据结构</a:t>
            </a:r>
          </a:p>
          <a:p>
            <a:pPr eaLnBrk="1" hangingPunct="1">
              <a:lnSpc>
                <a:spcPct val="90000"/>
              </a:lnSpc>
            </a:pPr>
            <a:r>
              <a:rPr lang="zh-CN" altLang="en-US" sz="2800"/>
              <a:t> 数据字典通过对数据项和数据结构的定义来描述数据流、数据存储的逻辑内容。</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4820">
                                            <p:txEl>
                                              <p:pRg st="6" end="6"/>
                                            </p:txEl>
                                          </p:spTgt>
                                        </p:tgtEl>
                                        <p:attrNameLst>
                                          <p:attrName>style.visibility</p:attrName>
                                        </p:attrNameLst>
                                      </p:cBhvr>
                                      <p:to>
                                        <p:strVal val="visible"/>
                                      </p:to>
                                    </p:set>
                                    <p:animEffect transition="in" filter="box(in)">
                                      <p:cBhvr>
                                        <p:cTn id="7" dur="500"/>
                                        <p:tgtEl>
                                          <p:spTgt spid="34820">
                                            <p:txEl>
                                              <p:pRg st="6" end="6"/>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4820">
                                            <p:txEl>
                                              <p:pRg st="7" end="7"/>
                                            </p:txEl>
                                          </p:spTgt>
                                        </p:tgtEl>
                                        <p:attrNameLst>
                                          <p:attrName>style.visibility</p:attrName>
                                        </p:attrNameLst>
                                      </p:cBhvr>
                                      <p:to>
                                        <p:strVal val="visible"/>
                                      </p:to>
                                    </p:set>
                                    <p:animEffect transition="in" filter="box(in)">
                                      <p:cBhvr>
                                        <p:cTn id="10" dur="500"/>
                                        <p:tgtEl>
                                          <p:spTgt spid="34820">
                                            <p:txEl>
                                              <p:pRg st="7" end="7"/>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34820">
                                            <p:txEl>
                                              <p:pRg st="8" end="8"/>
                                            </p:txEl>
                                          </p:spTgt>
                                        </p:tgtEl>
                                        <p:attrNameLst>
                                          <p:attrName>style.visibility</p:attrName>
                                        </p:attrNameLst>
                                      </p:cBhvr>
                                      <p:to>
                                        <p:strVal val="visible"/>
                                      </p:to>
                                    </p:set>
                                    <p:animEffect transition="in" filter="box(in)">
                                      <p:cBhvr>
                                        <p:cTn id="13" dur="500"/>
                                        <p:tgtEl>
                                          <p:spTgt spid="34820">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页脚占位符 4">
            <a:extLst>
              <a:ext uri="{FF2B5EF4-FFF2-40B4-BE49-F238E27FC236}">
                <a16:creationId xmlns:a16="http://schemas.microsoft.com/office/drawing/2014/main" id="{DB857174-9B3B-C114-2DC8-2DBF6A6EBDE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43011" name="Rectangle 2">
            <a:extLst>
              <a:ext uri="{FF2B5EF4-FFF2-40B4-BE49-F238E27FC236}">
                <a16:creationId xmlns:a16="http://schemas.microsoft.com/office/drawing/2014/main" id="{F15D174C-40B9-7996-0657-64283047D2AE}"/>
              </a:ext>
            </a:extLst>
          </p:cNvPr>
          <p:cNvSpPr>
            <a:spLocks noGrp="1" noChangeArrowheads="1"/>
          </p:cNvSpPr>
          <p:nvPr>
            <p:ph type="title"/>
          </p:nvPr>
        </p:nvSpPr>
        <p:spPr/>
        <p:txBody>
          <a:bodyPr/>
          <a:lstStyle/>
          <a:p>
            <a:pPr eaLnBrk="1" hangingPunct="1"/>
            <a:r>
              <a:rPr lang="en-US" altLang="zh-CN"/>
              <a:t>⒈ </a:t>
            </a:r>
            <a:r>
              <a:rPr lang="zh-CN" altLang="en-US"/>
              <a:t>数据项</a:t>
            </a:r>
          </a:p>
        </p:txBody>
      </p:sp>
      <p:sp>
        <p:nvSpPr>
          <p:cNvPr id="35844" name="Rectangle 3">
            <a:extLst>
              <a:ext uri="{FF2B5EF4-FFF2-40B4-BE49-F238E27FC236}">
                <a16:creationId xmlns:a16="http://schemas.microsoft.com/office/drawing/2014/main" id="{AD609B48-80C0-9FC3-95F7-15D371407CDB}"/>
              </a:ext>
            </a:extLst>
          </p:cNvPr>
          <p:cNvSpPr>
            <a:spLocks noGrp="1" noChangeArrowheads="1"/>
          </p:cNvSpPr>
          <p:nvPr>
            <p:ph type="body" idx="1"/>
          </p:nvPr>
        </p:nvSpPr>
        <p:spPr>
          <a:xfrm>
            <a:off x="323850" y="2017713"/>
            <a:ext cx="8631238" cy="4114800"/>
          </a:xfrm>
        </p:spPr>
        <p:txBody>
          <a:bodyPr/>
          <a:lstStyle/>
          <a:p>
            <a:pPr eaLnBrk="1" hangingPunct="1">
              <a:lnSpc>
                <a:spcPct val="90000"/>
              </a:lnSpc>
            </a:pPr>
            <a:r>
              <a:rPr lang="zh-CN" altLang="en-US"/>
              <a:t>数据项是不可再分的数据单位</a:t>
            </a:r>
          </a:p>
          <a:p>
            <a:pPr eaLnBrk="1" hangingPunct="1">
              <a:lnSpc>
                <a:spcPct val="90000"/>
              </a:lnSpc>
              <a:spcBef>
                <a:spcPct val="60000"/>
              </a:spcBef>
            </a:pPr>
            <a:r>
              <a:rPr lang="zh-CN" altLang="en-US"/>
              <a:t> 对数据项的描述</a:t>
            </a:r>
            <a:endParaRPr lang="zh-CN" altLang="en-US" sz="3600"/>
          </a:p>
          <a:p>
            <a:pPr eaLnBrk="1" hangingPunct="1">
              <a:lnSpc>
                <a:spcPct val="80000"/>
              </a:lnSpc>
              <a:buFont typeface="Wingdings" panose="05000000000000000000" pitchFamily="2" charset="2"/>
              <a:buNone/>
            </a:pPr>
            <a:r>
              <a:rPr lang="zh-CN" altLang="en-US" sz="2800"/>
              <a:t>	</a:t>
            </a:r>
            <a:r>
              <a:rPr lang="zh-CN" altLang="en-US" sz="2800">
                <a:solidFill>
                  <a:srgbClr val="2355F3"/>
                </a:solidFill>
              </a:rPr>
              <a:t>数据项描述＝｛数据项名，数据项含义说明，   </a:t>
            </a:r>
          </a:p>
          <a:p>
            <a:pPr eaLnBrk="1" hangingPunct="1">
              <a:lnSpc>
                <a:spcPct val="80000"/>
              </a:lnSpc>
              <a:buFont typeface="Wingdings" panose="05000000000000000000" pitchFamily="2" charset="2"/>
              <a:buNone/>
            </a:pPr>
            <a:r>
              <a:rPr lang="zh-CN" altLang="en-US" sz="2800">
                <a:solidFill>
                  <a:srgbClr val="2355F3"/>
                </a:solidFill>
              </a:rPr>
              <a:t>                    别名，数据类型，长度，取值范围，</a:t>
            </a:r>
          </a:p>
          <a:p>
            <a:pPr eaLnBrk="1" hangingPunct="1">
              <a:lnSpc>
                <a:spcPct val="80000"/>
              </a:lnSpc>
              <a:buFont typeface="Wingdings" panose="05000000000000000000" pitchFamily="2" charset="2"/>
              <a:buNone/>
            </a:pPr>
            <a:r>
              <a:rPr lang="zh-CN" altLang="en-US" sz="2800">
                <a:solidFill>
                  <a:srgbClr val="2355F3"/>
                </a:solidFill>
              </a:rPr>
              <a:t>                    取值含义，与其他数据项的逻辑关系｝</a:t>
            </a:r>
          </a:p>
          <a:p>
            <a:pPr eaLnBrk="1" hangingPunct="1">
              <a:lnSpc>
                <a:spcPct val="90000"/>
              </a:lnSpc>
            </a:pPr>
            <a:endParaRPr lang="zh-CN" altLang="en-US" sz="2800"/>
          </a:p>
          <a:p>
            <a:pPr lvl="1" eaLnBrk="1" hangingPunct="1">
              <a:lnSpc>
                <a:spcPct val="90000"/>
              </a:lnSpc>
            </a:pPr>
            <a:r>
              <a:rPr lang="zh-CN" altLang="en-US"/>
              <a:t>取值范围、与其他数据项的逻辑关系定义了数据的完整性约束条件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5844">
                                            <p:txEl>
                                              <p:pRg st="1" end="1"/>
                                            </p:txEl>
                                          </p:spTgt>
                                        </p:tgtEl>
                                        <p:attrNameLst>
                                          <p:attrName>style.visibility</p:attrName>
                                        </p:attrNameLst>
                                      </p:cBhvr>
                                      <p:to>
                                        <p:strVal val="visible"/>
                                      </p:to>
                                    </p:set>
                                    <p:animEffect transition="in" filter="box(in)">
                                      <p:cBhvr>
                                        <p:cTn id="7" dur="500"/>
                                        <p:tgtEl>
                                          <p:spTgt spid="35844">
                                            <p:txEl>
                                              <p:pRg st="1" end="1"/>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5844">
                                            <p:txEl>
                                              <p:pRg st="2" end="2"/>
                                            </p:txEl>
                                          </p:spTgt>
                                        </p:tgtEl>
                                        <p:attrNameLst>
                                          <p:attrName>style.visibility</p:attrName>
                                        </p:attrNameLst>
                                      </p:cBhvr>
                                      <p:to>
                                        <p:strVal val="visible"/>
                                      </p:to>
                                    </p:set>
                                    <p:animEffect transition="in" filter="box(in)">
                                      <p:cBhvr>
                                        <p:cTn id="10" dur="500"/>
                                        <p:tgtEl>
                                          <p:spTgt spid="35844">
                                            <p:txEl>
                                              <p:pRg st="2" end="2"/>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35844">
                                            <p:txEl>
                                              <p:pRg st="3" end="3"/>
                                            </p:txEl>
                                          </p:spTgt>
                                        </p:tgtEl>
                                        <p:attrNameLst>
                                          <p:attrName>style.visibility</p:attrName>
                                        </p:attrNameLst>
                                      </p:cBhvr>
                                      <p:to>
                                        <p:strVal val="visible"/>
                                      </p:to>
                                    </p:set>
                                    <p:animEffect transition="in" filter="box(in)">
                                      <p:cBhvr>
                                        <p:cTn id="13" dur="500"/>
                                        <p:tgtEl>
                                          <p:spTgt spid="35844">
                                            <p:txEl>
                                              <p:pRg st="3" end="3"/>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35844">
                                            <p:txEl>
                                              <p:pRg st="4" end="4"/>
                                            </p:txEl>
                                          </p:spTgt>
                                        </p:tgtEl>
                                        <p:attrNameLst>
                                          <p:attrName>style.visibility</p:attrName>
                                        </p:attrNameLst>
                                      </p:cBhvr>
                                      <p:to>
                                        <p:strVal val="visible"/>
                                      </p:to>
                                    </p:set>
                                    <p:animEffect transition="in" filter="box(in)">
                                      <p:cBhvr>
                                        <p:cTn id="16" dur="500"/>
                                        <p:tgtEl>
                                          <p:spTgt spid="35844">
                                            <p:txEl>
                                              <p:pRg st="4" end="4"/>
                                            </p:txEl>
                                          </p:spTgt>
                                        </p:tgtEl>
                                      </p:cBhvr>
                                    </p:animEffect>
                                  </p:childTnLst>
                                </p:cTn>
                              </p:par>
                              <p:par>
                                <p:cTn id="17" presetID="4" presetClass="entr" presetSubtype="16" fill="hold" nodeType="withEffect">
                                  <p:stCondLst>
                                    <p:cond delay="0"/>
                                  </p:stCondLst>
                                  <p:childTnLst>
                                    <p:set>
                                      <p:cBhvr>
                                        <p:cTn id="18" dur="1" fill="hold">
                                          <p:stCondLst>
                                            <p:cond delay="0"/>
                                          </p:stCondLst>
                                        </p:cTn>
                                        <p:tgtEl>
                                          <p:spTgt spid="35844">
                                            <p:txEl>
                                              <p:pRg st="6" end="6"/>
                                            </p:txEl>
                                          </p:spTgt>
                                        </p:tgtEl>
                                        <p:attrNameLst>
                                          <p:attrName>style.visibility</p:attrName>
                                        </p:attrNameLst>
                                      </p:cBhvr>
                                      <p:to>
                                        <p:strVal val="visible"/>
                                      </p:to>
                                    </p:set>
                                    <p:animEffect transition="in" filter="box(in)">
                                      <p:cBhvr>
                                        <p:cTn id="19" dur="500"/>
                                        <p:tgtEl>
                                          <p:spTgt spid="3584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页脚占位符 4">
            <a:extLst>
              <a:ext uri="{FF2B5EF4-FFF2-40B4-BE49-F238E27FC236}">
                <a16:creationId xmlns:a16="http://schemas.microsoft.com/office/drawing/2014/main" id="{E9140819-15B3-0D94-A8A8-ACA2A9FECB8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44035" name="Rectangle 2">
            <a:extLst>
              <a:ext uri="{FF2B5EF4-FFF2-40B4-BE49-F238E27FC236}">
                <a16:creationId xmlns:a16="http://schemas.microsoft.com/office/drawing/2014/main" id="{436CF7A7-65C1-1E30-257D-5F978480F56C}"/>
              </a:ext>
            </a:extLst>
          </p:cNvPr>
          <p:cNvSpPr>
            <a:spLocks noGrp="1" noChangeArrowheads="1"/>
          </p:cNvSpPr>
          <p:nvPr>
            <p:ph type="title"/>
          </p:nvPr>
        </p:nvSpPr>
        <p:spPr/>
        <p:txBody>
          <a:bodyPr/>
          <a:lstStyle/>
          <a:p>
            <a:pPr eaLnBrk="1" hangingPunct="1"/>
            <a:r>
              <a:rPr lang="zh-CN" altLang="en-US"/>
              <a:t>例子</a:t>
            </a:r>
          </a:p>
        </p:txBody>
      </p:sp>
      <p:sp>
        <p:nvSpPr>
          <p:cNvPr id="44036" name="Rectangle 3">
            <a:extLst>
              <a:ext uri="{FF2B5EF4-FFF2-40B4-BE49-F238E27FC236}">
                <a16:creationId xmlns:a16="http://schemas.microsoft.com/office/drawing/2014/main" id="{29D431D2-1C27-BE42-3D8F-89BFDF149586}"/>
              </a:ext>
            </a:extLst>
          </p:cNvPr>
          <p:cNvSpPr>
            <a:spLocks noGrp="1" noChangeArrowheads="1"/>
          </p:cNvSpPr>
          <p:nvPr>
            <p:ph type="body" idx="1"/>
          </p:nvPr>
        </p:nvSpPr>
        <p:spPr>
          <a:xfrm>
            <a:off x="323850" y="1981200"/>
            <a:ext cx="8515350" cy="4114800"/>
          </a:xfrm>
        </p:spPr>
        <p:txBody>
          <a:bodyPr/>
          <a:lstStyle/>
          <a:p>
            <a:pPr eaLnBrk="1" hangingPunct="1">
              <a:lnSpc>
                <a:spcPct val="75000"/>
              </a:lnSpc>
              <a:buFont typeface="Wingdings" panose="05000000000000000000" pitchFamily="2" charset="2"/>
              <a:buNone/>
            </a:pPr>
            <a:r>
              <a:rPr lang="zh-CN" altLang="en-US" sz="2800"/>
              <a:t>例：学生学籍管理子系统的数据字典。</a:t>
            </a:r>
          </a:p>
          <a:p>
            <a:pPr eaLnBrk="1" hangingPunct="1">
              <a:lnSpc>
                <a:spcPct val="75000"/>
              </a:lnSpc>
              <a:buFont typeface="Wingdings" panose="05000000000000000000" pitchFamily="2" charset="2"/>
              <a:buNone/>
            </a:pPr>
            <a:r>
              <a:rPr lang="zh-CN" altLang="en-US" sz="2800">
                <a:solidFill>
                  <a:srgbClr val="0066FF"/>
                </a:solidFill>
              </a:rPr>
              <a:t>数据项</a:t>
            </a:r>
            <a:r>
              <a:rPr lang="zh-CN" altLang="en-US" sz="2800"/>
              <a:t>，以</a:t>
            </a:r>
            <a:r>
              <a:rPr lang="zh-CN" altLang="en-US" sz="2800">
                <a:latin typeface="Times New Roman" panose="02020603050405020304" pitchFamily="18" charset="0"/>
              </a:rPr>
              <a:t>“</a:t>
            </a:r>
            <a:r>
              <a:rPr lang="zh-CN" altLang="en-US" sz="2800"/>
              <a:t>学号</a:t>
            </a:r>
            <a:r>
              <a:rPr lang="zh-CN" altLang="en-US" sz="2800">
                <a:latin typeface="Times New Roman" panose="02020603050405020304" pitchFamily="18" charset="0"/>
              </a:rPr>
              <a:t>”</a:t>
            </a:r>
            <a:r>
              <a:rPr lang="zh-CN" altLang="en-US" sz="2800"/>
              <a:t>为例：</a:t>
            </a:r>
          </a:p>
          <a:p>
            <a:pPr eaLnBrk="1" hangingPunct="1">
              <a:lnSpc>
                <a:spcPct val="75000"/>
              </a:lnSpc>
              <a:buFont typeface="Wingdings" panose="05000000000000000000" pitchFamily="2" charset="2"/>
              <a:buNone/>
            </a:pPr>
            <a:r>
              <a:rPr lang="zh-CN" altLang="en-US" sz="2800"/>
              <a:t>    数据项：　学号</a:t>
            </a:r>
          </a:p>
          <a:p>
            <a:pPr eaLnBrk="1" hangingPunct="1">
              <a:lnSpc>
                <a:spcPct val="75000"/>
              </a:lnSpc>
              <a:buFont typeface="Wingdings" panose="05000000000000000000" pitchFamily="2" charset="2"/>
              <a:buNone/>
            </a:pPr>
            <a:r>
              <a:rPr lang="zh-CN" altLang="en-US" sz="2800"/>
              <a:t>    含义说明：唯一标识每个学生</a:t>
            </a:r>
          </a:p>
          <a:p>
            <a:pPr eaLnBrk="1" hangingPunct="1">
              <a:lnSpc>
                <a:spcPct val="75000"/>
              </a:lnSpc>
              <a:buFont typeface="Wingdings" panose="05000000000000000000" pitchFamily="2" charset="2"/>
              <a:buNone/>
            </a:pPr>
            <a:r>
              <a:rPr lang="zh-CN" altLang="en-US" sz="2800"/>
              <a:t>　别名：　　学生编号</a:t>
            </a:r>
          </a:p>
          <a:p>
            <a:pPr eaLnBrk="1" hangingPunct="1">
              <a:lnSpc>
                <a:spcPct val="75000"/>
              </a:lnSpc>
              <a:buFont typeface="Wingdings" panose="05000000000000000000" pitchFamily="2" charset="2"/>
              <a:buNone/>
            </a:pPr>
            <a:r>
              <a:rPr lang="zh-CN" altLang="en-US" sz="2800"/>
              <a:t>    类型：　　字符型</a:t>
            </a:r>
          </a:p>
          <a:p>
            <a:pPr eaLnBrk="1" hangingPunct="1">
              <a:lnSpc>
                <a:spcPct val="75000"/>
              </a:lnSpc>
              <a:buFont typeface="Wingdings" panose="05000000000000000000" pitchFamily="2" charset="2"/>
              <a:buNone/>
            </a:pPr>
            <a:r>
              <a:rPr lang="zh-CN" altLang="en-US" sz="2800"/>
              <a:t>    长度：　　 </a:t>
            </a:r>
            <a:r>
              <a:rPr lang="en-US" altLang="zh-CN" sz="2800"/>
              <a:t>8</a:t>
            </a:r>
          </a:p>
          <a:p>
            <a:pPr eaLnBrk="1" hangingPunct="1">
              <a:lnSpc>
                <a:spcPct val="75000"/>
              </a:lnSpc>
              <a:buFont typeface="Wingdings" panose="05000000000000000000" pitchFamily="2" charset="2"/>
              <a:buNone/>
            </a:pPr>
            <a:r>
              <a:rPr lang="en-US" altLang="zh-CN" sz="2800"/>
              <a:t>    </a:t>
            </a:r>
            <a:r>
              <a:rPr lang="zh-CN" altLang="en-US" sz="2800"/>
              <a:t>取值范围：</a:t>
            </a:r>
            <a:r>
              <a:rPr lang="en-US" altLang="zh-CN" sz="2800"/>
              <a:t>00000000</a:t>
            </a:r>
            <a:r>
              <a:rPr lang="zh-CN" altLang="en-US" sz="2800"/>
              <a:t>至</a:t>
            </a:r>
            <a:r>
              <a:rPr lang="en-US" altLang="zh-CN" sz="2800"/>
              <a:t>99999999</a:t>
            </a:r>
          </a:p>
          <a:p>
            <a:pPr eaLnBrk="1" hangingPunct="1">
              <a:lnSpc>
                <a:spcPct val="75000"/>
              </a:lnSpc>
              <a:buFont typeface="Wingdings" panose="05000000000000000000" pitchFamily="2" charset="2"/>
              <a:buNone/>
            </a:pPr>
            <a:r>
              <a:rPr lang="zh-CN" altLang="en-US" sz="2800"/>
              <a:t>　取值含义：前两位表示该学生所在年级，</a:t>
            </a:r>
          </a:p>
          <a:p>
            <a:pPr eaLnBrk="1" hangingPunct="1">
              <a:lnSpc>
                <a:spcPct val="75000"/>
              </a:lnSpc>
              <a:buFont typeface="Wingdings" panose="05000000000000000000" pitchFamily="2" charset="2"/>
              <a:buNone/>
            </a:pPr>
            <a:r>
              <a:rPr lang="zh-CN" altLang="en-US" sz="2800"/>
              <a:t>                        后六位按顺序编号</a:t>
            </a:r>
          </a:p>
          <a:p>
            <a:pPr eaLnBrk="1" hangingPunct="1">
              <a:lnSpc>
                <a:spcPct val="75000"/>
              </a:lnSpc>
              <a:buFont typeface="Wingdings" panose="05000000000000000000" pitchFamily="2" charset="2"/>
              <a:buNone/>
            </a:pPr>
            <a:r>
              <a:rPr lang="zh-CN" altLang="en-US" sz="2800"/>
              <a:t>　与其他数据项的逻辑关系</a:t>
            </a:r>
          </a:p>
          <a:p>
            <a:pPr eaLnBrk="1" hangingPunct="1">
              <a:lnSpc>
                <a:spcPct val="80000"/>
              </a:lnSpc>
              <a:buFont typeface="Wingdings" panose="05000000000000000000" pitchFamily="2" charset="2"/>
              <a:buNone/>
            </a:pPr>
            <a:endParaRPr lang="en-US" altLang="zh-CN" sz="28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页脚占位符 4">
            <a:extLst>
              <a:ext uri="{FF2B5EF4-FFF2-40B4-BE49-F238E27FC236}">
                <a16:creationId xmlns:a16="http://schemas.microsoft.com/office/drawing/2014/main" id="{93F71E43-8AED-2F31-5923-5E588311621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45059" name="Rectangle 2">
            <a:extLst>
              <a:ext uri="{FF2B5EF4-FFF2-40B4-BE49-F238E27FC236}">
                <a16:creationId xmlns:a16="http://schemas.microsoft.com/office/drawing/2014/main" id="{7EA17962-2187-E1F3-F393-DC8C57EA1319}"/>
              </a:ext>
            </a:extLst>
          </p:cNvPr>
          <p:cNvSpPr>
            <a:spLocks noGrp="1" noChangeArrowheads="1"/>
          </p:cNvSpPr>
          <p:nvPr>
            <p:ph type="title"/>
          </p:nvPr>
        </p:nvSpPr>
        <p:spPr/>
        <p:txBody>
          <a:bodyPr/>
          <a:lstStyle/>
          <a:p>
            <a:pPr eaLnBrk="1" hangingPunct="1"/>
            <a:r>
              <a:rPr lang="en-US" altLang="zh-CN"/>
              <a:t>⒉ </a:t>
            </a:r>
            <a:r>
              <a:rPr lang="zh-CN" altLang="en-US"/>
              <a:t>数据结构</a:t>
            </a:r>
          </a:p>
        </p:txBody>
      </p:sp>
      <p:sp>
        <p:nvSpPr>
          <p:cNvPr id="36868" name="Rectangle 3">
            <a:extLst>
              <a:ext uri="{FF2B5EF4-FFF2-40B4-BE49-F238E27FC236}">
                <a16:creationId xmlns:a16="http://schemas.microsoft.com/office/drawing/2014/main" id="{390F94EF-9048-E269-2880-ECB8C093FEB2}"/>
              </a:ext>
            </a:extLst>
          </p:cNvPr>
          <p:cNvSpPr>
            <a:spLocks noGrp="1" noChangeArrowheads="1"/>
          </p:cNvSpPr>
          <p:nvPr>
            <p:ph type="body" idx="1"/>
          </p:nvPr>
        </p:nvSpPr>
        <p:spPr>
          <a:xfrm>
            <a:off x="323850" y="2017713"/>
            <a:ext cx="8631238" cy="4114800"/>
          </a:xfrm>
        </p:spPr>
        <p:txBody>
          <a:bodyPr/>
          <a:lstStyle/>
          <a:p>
            <a:pPr eaLnBrk="1" hangingPunct="1">
              <a:spcBef>
                <a:spcPct val="60000"/>
              </a:spcBef>
            </a:pPr>
            <a:r>
              <a:rPr lang="zh-CN" altLang="en-US" sz="2800"/>
              <a:t>数据结构反映了数据之间的组合关系。</a:t>
            </a:r>
          </a:p>
          <a:p>
            <a:pPr eaLnBrk="1" hangingPunct="1">
              <a:spcBef>
                <a:spcPct val="60000"/>
              </a:spcBef>
            </a:pPr>
            <a:r>
              <a:rPr lang="zh-CN" altLang="en-US" sz="2800"/>
              <a:t> 一个数据结构可以由若干个数据项组成，也可以由若干个数据结构组成，或由若干个数据项和数据结构混合组成。</a:t>
            </a:r>
          </a:p>
          <a:p>
            <a:pPr eaLnBrk="1" hangingPunct="1">
              <a:spcBef>
                <a:spcPct val="60000"/>
              </a:spcBef>
            </a:pPr>
            <a:r>
              <a:rPr lang="zh-CN" altLang="en-US" sz="2800"/>
              <a:t> 对数据结构的描述</a:t>
            </a:r>
          </a:p>
          <a:p>
            <a:pPr eaLnBrk="1" hangingPunct="1">
              <a:lnSpc>
                <a:spcPct val="90000"/>
              </a:lnSpc>
              <a:buFont typeface="Wingdings" panose="05000000000000000000" pitchFamily="2" charset="2"/>
              <a:buNone/>
            </a:pPr>
            <a:r>
              <a:rPr lang="zh-CN" altLang="en-US" sz="2800"/>
              <a:t>	</a:t>
            </a:r>
            <a:r>
              <a:rPr lang="zh-CN" altLang="en-US" sz="2800">
                <a:solidFill>
                  <a:srgbClr val="2355F3"/>
                </a:solidFill>
              </a:rPr>
              <a:t>数据结构描述＝｛数据结构名，含义说明，</a:t>
            </a:r>
          </a:p>
          <a:p>
            <a:pPr eaLnBrk="1" hangingPunct="1">
              <a:lnSpc>
                <a:spcPct val="90000"/>
              </a:lnSpc>
              <a:buFont typeface="Wingdings" panose="05000000000000000000" pitchFamily="2" charset="2"/>
              <a:buNone/>
            </a:pPr>
            <a:r>
              <a:rPr lang="zh-CN" altLang="en-US" sz="2800">
                <a:solidFill>
                  <a:srgbClr val="2355F3"/>
                </a:solidFill>
              </a:rPr>
              <a:t>                               组成</a:t>
            </a:r>
            <a:r>
              <a:rPr lang="en-US" altLang="zh-CN" sz="2800">
                <a:solidFill>
                  <a:srgbClr val="2355F3"/>
                </a:solidFill>
              </a:rPr>
              <a:t>:</a:t>
            </a:r>
            <a:r>
              <a:rPr lang="zh-CN" altLang="en-US" sz="2800">
                <a:solidFill>
                  <a:srgbClr val="2355F3"/>
                </a:solidFill>
              </a:rPr>
              <a:t>｛数据项或数据结构｝｝</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6868">
                                            <p:txEl>
                                              <p:pRg st="2" end="2"/>
                                            </p:txEl>
                                          </p:spTgt>
                                        </p:tgtEl>
                                        <p:attrNameLst>
                                          <p:attrName>style.visibility</p:attrName>
                                        </p:attrNameLst>
                                      </p:cBhvr>
                                      <p:to>
                                        <p:strVal val="visible"/>
                                      </p:to>
                                    </p:set>
                                    <p:animEffect transition="in" filter="box(in)">
                                      <p:cBhvr>
                                        <p:cTn id="7" dur="500"/>
                                        <p:tgtEl>
                                          <p:spTgt spid="36868">
                                            <p:txEl>
                                              <p:pRg st="2" end="2"/>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6868">
                                            <p:txEl>
                                              <p:pRg st="3" end="3"/>
                                            </p:txEl>
                                          </p:spTgt>
                                        </p:tgtEl>
                                        <p:attrNameLst>
                                          <p:attrName>style.visibility</p:attrName>
                                        </p:attrNameLst>
                                      </p:cBhvr>
                                      <p:to>
                                        <p:strVal val="visible"/>
                                      </p:to>
                                    </p:set>
                                    <p:animEffect transition="in" filter="box(in)">
                                      <p:cBhvr>
                                        <p:cTn id="10" dur="500"/>
                                        <p:tgtEl>
                                          <p:spTgt spid="36868">
                                            <p:txEl>
                                              <p:pRg st="3" end="3"/>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36868">
                                            <p:txEl>
                                              <p:pRg st="4" end="4"/>
                                            </p:txEl>
                                          </p:spTgt>
                                        </p:tgtEl>
                                        <p:attrNameLst>
                                          <p:attrName>style.visibility</p:attrName>
                                        </p:attrNameLst>
                                      </p:cBhvr>
                                      <p:to>
                                        <p:strVal val="visible"/>
                                      </p:to>
                                    </p:set>
                                    <p:animEffect transition="in" filter="box(in)">
                                      <p:cBhvr>
                                        <p:cTn id="13" dur="500"/>
                                        <p:tgtEl>
                                          <p:spTgt spid="3686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页脚占位符 4">
            <a:extLst>
              <a:ext uri="{FF2B5EF4-FFF2-40B4-BE49-F238E27FC236}">
                <a16:creationId xmlns:a16="http://schemas.microsoft.com/office/drawing/2014/main" id="{B408DF3B-7FEB-C0A5-99BE-72168BB30C3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46083" name="Rectangle 2">
            <a:extLst>
              <a:ext uri="{FF2B5EF4-FFF2-40B4-BE49-F238E27FC236}">
                <a16:creationId xmlns:a16="http://schemas.microsoft.com/office/drawing/2014/main" id="{6B4F08DD-8AD7-AF32-0C27-EE69BFD063C4}"/>
              </a:ext>
            </a:extLst>
          </p:cNvPr>
          <p:cNvSpPr>
            <a:spLocks noGrp="1" noChangeArrowheads="1"/>
          </p:cNvSpPr>
          <p:nvPr>
            <p:ph type="title"/>
          </p:nvPr>
        </p:nvSpPr>
        <p:spPr/>
        <p:txBody>
          <a:bodyPr/>
          <a:lstStyle/>
          <a:p>
            <a:pPr eaLnBrk="1" hangingPunct="1"/>
            <a:r>
              <a:rPr lang="zh-CN" altLang="en-US"/>
              <a:t>例子</a:t>
            </a:r>
          </a:p>
        </p:txBody>
      </p:sp>
      <p:sp>
        <p:nvSpPr>
          <p:cNvPr id="46084" name="Rectangle 3">
            <a:extLst>
              <a:ext uri="{FF2B5EF4-FFF2-40B4-BE49-F238E27FC236}">
                <a16:creationId xmlns:a16="http://schemas.microsoft.com/office/drawing/2014/main" id="{96A85490-CB14-C5E9-58EC-2E5D0652A222}"/>
              </a:ext>
            </a:extLst>
          </p:cNvPr>
          <p:cNvSpPr>
            <a:spLocks noGrp="1" noChangeArrowheads="1"/>
          </p:cNvSpPr>
          <p:nvPr>
            <p:ph type="body" idx="1"/>
          </p:nvPr>
        </p:nvSpPr>
        <p:spPr>
          <a:xfrm>
            <a:off x="533400" y="1981200"/>
            <a:ext cx="8382000" cy="4114800"/>
          </a:xfrm>
        </p:spPr>
        <p:txBody>
          <a:bodyPr/>
          <a:lstStyle/>
          <a:p>
            <a:pPr eaLnBrk="1" hangingPunct="1">
              <a:lnSpc>
                <a:spcPct val="90000"/>
              </a:lnSpc>
              <a:buFont typeface="Wingdings" panose="05000000000000000000" pitchFamily="2" charset="2"/>
              <a:buNone/>
            </a:pPr>
            <a:r>
              <a:rPr lang="zh-CN" altLang="en-US" sz="2800">
                <a:solidFill>
                  <a:srgbClr val="0066FF"/>
                </a:solidFill>
              </a:rPr>
              <a:t>数据结构     </a:t>
            </a:r>
            <a:r>
              <a:rPr lang="zh-CN" altLang="en-US" sz="2800"/>
              <a:t>以</a:t>
            </a:r>
            <a:r>
              <a:rPr lang="zh-CN" altLang="en-US" sz="2800">
                <a:latin typeface="Times New Roman" panose="02020603050405020304" pitchFamily="18" charset="0"/>
              </a:rPr>
              <a:t>“</a:t>
            </a:r>
            <a:r>
              <a:rPr lang="zh-CN" altLang="en-US" sz="2800"/>
              <a:t>学生</a:t>
            </a:r>
            <a:r>
              <a:rPr lang="zh-CN" altLang="en-US" sz="2800">
                <a:latin typeface="Times New Roman" panose="02020603050405020304" pitchFamily="18" charset="0"/>
              </a:rPr>
              <a:t>”</a:t>
            </a:r>
            <a:r>
              <a:rPr lang="zh-CN" altLang="en-US" sz="2800"/>
              <a:t>为例</a:t>
            </a:r>
          </a:p>
          <a:p>
            <a:pPr eaLnBrk="1" hangingPunct="1">
              <a:lnSpc>
                <a:spcPct val="90000"/>
              </a:lnSpc>
              <a:buFont typeface="Wingdings" panose="05000000000000000000" pitchFamily="2" charset="2"/>
              <a:buNone/>
            </a:pPr>
            <a:r>
              <a:rPr lang="zh-CN" altLang="en-US" sz="2800"/>
              <a:t> 	</a:t>
            </a:r>
            <a:r>
              <a:rPr lang="zh-CN" altLang="en-US" sz="2800">
                <a:latin typeface="Times New Roman" panose="02020603050405020304" pitchFamily="18" charset="0"/>
              </a:rPr>
              <a:t>“</a:t>
            </a:r>
            <a:r>
              <a:rPr lang="zh-CN" altLang="en-US" sz="2800"/>
              <a:t>学生</a:t>
            </a:r>
            <a:r>
              <a:rPr lang="zh-CN" altLang="en-US" sz="2800">
                <a:latin typeface="Times New Roman" panose="02020603050405020304" pitchFamily="18" charset="0"/>
              </a:rPr>
              <a:t>”</a:t>
            </a:r>
            <a:r>
              <a:rPr lang="zh-CN" altLang="en-US" sz="2800"/>
              <a:t>是该系统中的一个核心数据结构：</a:t>
            </a:r>
          </a:p>
          <a:p>
            <a:pPr eaLnBrk="1" hangingPunct="1">
              <a:lnSpc>
                <a:spcPct val="90000"/>
              </a:lnSpc>
              <a:buFont typeface="Wingdings" panose="05000000000000000000" pitchFamily="2" charset="2"/>
              <a:buNone/>
            </a:pPr>
            <a:endParaRPr lang="zh-CN" altLang="en-US" sz="2800"/>
          </a:p>
          <a:p>
            <a:pPr eaLnBrk="1" hangingPunct="1">
              <a:lnSpc>
                <a:spcPct val="90000"/>
              </a:lnSpc>
              <a:buFont typeface="Wingdings" panose="05000000000000000000" pitchFamily="2" charset="2"/>
              <a:buNone/>
            </a:pPr>
            <a:r>
              <a:rPr lang="zh-CN" altLang="en-US" sz="2800"/>
              <a:t>    数据结构：　学生</a:t>
            </a:r>
          </a:p>
          <a:p>
            <a:pPr eaLnBrk="1" hangingPunct="1">
              <a:lnSpc>
                <a:spcPct val="80000"/>
              </a:lnSpc>
              <a:buFont typeface="Wingdings" panose="05000000000000000000" pitchFamily="2" charset="2"/>
              <a:buNone/>
            </a:pPr>
            <a:r>
              <a:rPr lang="zh-CN" altLang="en-US" sz="2800"/>
              <a:t>    含义说明：　是学籍管理子系统的主体数据结</a:t>
            </a:r>
          </a:p>
          <a:p>
            <a:pPr eaLnBrk="1" hangingPunct="1">
              <a:lnSpc>
                <a:spcPct val="80000"/>
              </a:lnSpc>
              <a:buFont typeface="Wingdings" panose="05000000000000000000" pitchFamily="2" charset="2"/>
              <a:buNone/>
            </a:pPr>
            <a:r>
              <a:rPr lang="zh-CN" altLang="en-US" sz="2800"/>
              <a:t>                            构，定义了一个学生的有关信息</a:t>
            </a:r>
          </a:p>
          <a:p>
            <a:pPr eaLnBrk="1" hangingPunct="1">
              <a:lnSpc>
                <a:spcPct val="90000"/>
              </a:lnSpc>
              <a:buFont typeface="Wingdings" panose="05000000000000000000" pitchFamily="2" charset="2"/>
              <a:buNone/>
            </a:pPr>
            <a:r>
              <a:rPr lang="zh-CN" altLang="en-US" sz="2800"/>
              <a:t>    组成：　　　学号，姓名，性别，年龄，</a:t>
            </a:r>
          </a:p>
          <a:p>
            <a:pPr eaLnBrk="1" hangingPunct="1">
              <a:lnSpc>
                <a:spcPct val="90000"/>
              </a:lnSpc>
              <a:buFont typeface="Wingdings" panose="05000000000000000000" pitchFamily="2" charset="2"/>
              <a:buNone/>
            </a:pPr>
            <a:r>
              <a:rPr lang="zh-CN" altLang="en-US" sz="2800"/>
              <a:t>                            所在系，年级</a:t>
            </a:r>
          </a:p>
          <a:p>
            <a:pPr eaLnBrk="1" hangingPunct="1">
              <a:lnSpc>
                <a:spcPct val="90000"/>
              </a:lnSpc>
              <a:buFont typeface="Wingdings" panose="05000000000000000000" pitchFamily="2" charset="2"/>
              <a:buNone/>
            </a:pPr>
            <a:r>
              <a:rPr lang="zh-CN" altLang="en-US" sz="2800"/>
              <a:t>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C470735A-E3E2-CD7C-F1C6-BDB6B9CE4259}"/>
              </a:ext>
            </a:extLst>
          </p:cNvPr>
          <p:cNvSpPr>
            <a:spLocks noGrp="1" noChangeArrowheads="1"/>
          </p:cNvSpPr>
          <p:nvPr>
            <p:ph type="title"/>
          </p:nvPr>
        </p:nvSpPr>
        <p:spPr/>
        <p:txBody>
          <a:bodyPr/>
          <a:lstStyle/>
          <a:p>
            <a:pPr eaLnBrk="1" hangingPunct="1"/>
            <a:r>
              <a:rPr lang="en-US" altLang="zh-CN"/>
              <a:t>⒊ </a:t>
            </a:r>
            <a:r>
              <a:rPr lang="zh-CN" altLang="en-US"/>
              <a:t>数据流</a:t>
            </a:r>
          </a:p>
        </p:txBody>
      </p:sp>
      <p:sp>
        <p:nvSpPr>
          <p:cNvPr id="37892" name="Rectangle 3">
            <a:extLst>
              <a:ext uri="{FF2B5EF4-FFF2-40B4-BE49-F238E27FC236}">
                <a16:creationId xmlns:a16="http://schemas.microsoft.com/office/drawing/2014/main" id="{820811C1-6501-EADD-FC4A-8D5E7F3B514B}"/>
              </a:ext>
            </a:extLst>
          </p:cNvPr>
          <p:cNvSpPr>
            <a:spLocks noGrp="1" noChangeArrowheads="1"/>
          </p:cNvSpPr>
          <p:nvPr>
            <p:ph type="body" idx="1"/>
          </p:nvPr>
        </p:nvSpPr>
        <p:spPr>
          <a:xfrm>
            <a:off x="228600" y="1981200"/>
            <a:ext cx="8686800" cy="4114800"/>
          </a:xfrm>
        </p:spPr>
        <p:txBody>
          <a:bodyPr/>
          <a:lstStyle/>
          <a:p>
            <a:pPr eaLnBrk="1" hangingPunct="1">
              <a:lnSpc>
                <a:spcPct val="90000"/>
              </a:lnSpc>
            </a:pPr>
            <a:r>
              <a:rPr lang="en-US" altLang="zh-CN" sz="2800"/>
              <a:t> </a:t>
            </a:r>
            <a:r>
              <a:rPr lang="zh-CN" altLang="en-US" sz="2800"/>
              <a:t>数据流是数据结构在系统内传输的路径。</a:t>
            </a:r>
          </a:p>
          <a:p>
            <a:pPr eaLnBrk="1" hangingPunct="1">
              <a:lnSpc>
                <a:spcPct val="90000"/>
              </a:lnSpc>
              <a:spcBef>
                <a:spcPct val="60000"/>
              </a:spcBef>
            </a:pPr>
            <a:r>
              <a:rPr lang="zh-CN" altLang="en-US" sz="2800"/>
              <a:t> 对数据流的描述</a:t>
            </a:r>
          </a:p>
          <a:p>
            <a:pPr eaLnBrk="1" hangingPunct="1">
              <a:lnSpc>
                <a:spcPct val="80000"/>
              </a:lnSpc>
              <a:buFont typeface="Wingdings" panose="05000000000000000000" pitchFamily="2" charset="2"/>
              <a:buNone/>
            </a:pPr>
            <a:r>
              <a:rPr lang="zh-CN" altLang="en-US" sz="2800"/>
              <a:t>　</a:t>
            </a:r>
            <a:r>
              <a:rPr lang="zh-CN" altLang="en-US" sz="2800">
                <a:solidFill>
                  <a:srgbClr val="2355F3"/>
                </a:solidFill>
              </a:rPr>
              <a:t>数据流描述＝｛数据流名，说明，数据流来源，</a:t>
            </a:r>
          </a:p>
          <a:p>
            <a:pPr eaLnBrk="1" hangingPunct="1">
              <a:lnSpc>
                <a:spcPct val="80000"/>
              </a:lnSpc>
              <a:buFont typeface="Wingdings" panose="05000000000000000000" pitchFamily="2" charset="2"/>
              <a:buNone/>
            </a:pPr>
            <a:r>
              <a:rPr lang="zh-CN" altLang="en-US" sz="2800">
                <a:solidFill>
                  <a:srgbClr val="2355F3"/>
                </a:solidFill>
              </a:rPr>
              <a:t>                          数据流去向，组成</a:t>
            </a:r>
            <a:r>
              <a:rPr lang="en-US" altLang="zh-CN" sz="2800">
                <a:solidFill>
                  <a:srgbClr val="2355F3"/>
                </a:solidFill>
              </a:rPr>
              <a:t>:</a:t>
            </a:r>
            <a:r>
              <a:rPr lang="zh-CN" altLang="en-US" sz="2800">
                <a:solidFill>
                  <a:srgbClr val="2355F3"/>
                </a:solidFill>
              </a:rPr>
              <a:t>｛数据结构｝，</a:t>
            </a:r>
          </a:p>
          <a:p>
            <a:pPr eaLnBrk="1" hangingPunct="1">
              <a:lnSpc>
                <a:spcPct val="80000"/>
              </a:lnSpc>
              <a:buFont typeface="Wingdings" panose="05000000000000000000" pitchFamily="2" charset="2"/>
              <a:buNone/>
            </a:pPr>
            <a:r>
              <a:rPr lang="zh-CN" altLang="en-US" sz="2800">
                <a:solidFill>
                  <a:srgbClr val="2355F3"/>
                </a:solidFill>
              </a:rPr>
              <a:t>                          平均流量，高峰期流量｝</a:t>
            </a:r>
          </a:p>
          <a:p>
            <a:pPr lvl="1" eaLnBrk="1" hangingPunct="1">
              <a:lnSpc>
                <a:spcPct val="90000"/>
              </a:lnSpc>
            </a:pPr>
            <a:r>
              <a:rPr lang="zh-CN" altLang="en-US"/>
              <a:t>数据流来源是说明该数据流来自哪个过程</a:t>
            </a:r>
          </a:p>
          <a:p>
            <a:pPr lvl="1" eaLnBrk="1" hangingPunct="1">
              <a:lnSpc>
                <a:spcPct val="90000"/>
              </a:lnSpc>
            </a:pPr>
            <a:r>
              <a:rPr lang="zh-CN" altLang="en-US"/>
              <a:t>数据流去向是说明该数据流将到哪个过程去</a:t>
            </a:r>
          </a:p>
          <a:p>
            <a:pPr lvl="1" eaLnBrk="1" hangingPunct="1">
              <a:lnSpc>
                <a:spcPct val="90000"/>
              </a:lnSpc>
            </a:pPr>
            <a:r>
              <a:rPr lang="zh-CN" altLang="en-US"/>
              <a:t>平均流量是指在单位时间（每天、每周、每月等）里的传输次数</a:t>
            </a:r>
          </a:p>
          <a:p>
            <a:pPr lvl="1" eaLnBrk="1" hangingPunct="1">
              <a:lnSpc>
                <a:spcPct val="90000"/>
              </a:lnSpc>
            </a:pPr>
            <a:r>
              <a:rPr lang="zh-CN" altLang="en-US"/>
              <a:t>高峰期流量则是指在高峰时期的数据流量</a:t>
            </a:r>
            <a:endParaRPr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7892">
                                            <p:txEl>
                                              <p:pRg st="1" end="1"/>
                                            </p:txEl>
                                          </p:spTgt>
                                        </p:tgtEl>
                                        <p:attrNameLst>
                                          <p:attrName>style.visibility</p:attrName>
                                        </p:attrNameLst>
                                      </p:cBhvr>
                                      <p:to>
                                        <p:strVal val="visible"/>
                                      </p:to>
                                    </p:set>
                                    <p:animEffect transition="in" filter="box(in)">
                                      <p:cBhvr>
                                        <p:cTn id="7" dur="500"/>
                                        <p:tgtEl>
                                          <p:spTgt spid="37892">
                                            <p:txEl>
                                              <p:pRg st="1" end="1"/>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7892">
                                            <p:txEl>
                                              <p:pRg st="2" end="2"/>
                                            </p:txEl>
                                          </p:spTgt>
                                        </p:tgtEl>
                                        <p:attrNameLst>
                                          <p:attrName>style.visibility</p:attrName>
                                        </p:attrNameLst>
                                      </p:cBhvr>
                                      <p:to>
                                        <p:strVal val="visible"/>
                                      </p:to>
                                    </p:set>
                                    <p:animEffect transition="in" filter="box(in)">
                                      <p:cBhvr>
                                        <p:cTn id="10" dur="500"/>
                                        <p:tgtEl>
                                          <p:spTgt spid="37892">
                                            <p:txEl>
                                              <p:pRg st="2" end="2"/>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37892">
                                            <p:txEl>
                                              <p:pRg st="3" end="3"/>
                                            </p:txEl>
                                          </p:spTgt>
                                        </p:tgtEl>
                                        <p:attrNameLst>
                                          <p:attrName>style.visibility</p:attrName>
                                        </p:attrNameLst>
                                      </p:cBhvr>
                                      <p:to>
                                        <p:strVal val="visible"/>
                                      </p:to>
                                    </p:set>
                                    <p:animEffect transition="in" filter="box(in)">
                                      <p:cBhvr>
                                        <p:cTn id="13" dur="500"/>
                                        <p:tgtEl>
                                          <p:spTgt spid="37892">
                                            <p:txEl>
                                              <p:pRg st="3" end="3"/>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37892">
                                            <p:txEl>
                                              <p:pRg st="4" end="4"/>
                                            </p:txEl>
                                          </p:spTgt>
                                        </p:tgtEl>
                                        <p:attrNameLst>
                                          <p:attrName>style.visibility</p:attrName>
                                        </p:attrNameLst>
                                      </p:cBhvr>
                                      <p:to>
                                        <p:strVal val="visible"/>
                                      </p:to>
                                    </p:set>
                                    <p:animEffect transition="in" filter="box(in)">
                                      <p:cBhvr>
                                        <p:cTn id="16" dur="500"/>
                                        <p:tgtEl>
                                          <p:spTgt spid="37892">
                                            <p:txEl>
                                              <p:pRg st="4" end="4"/>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4" presetClass="entr" presetSubtype="16" fill="hold" nodeType="clickEffect">
                                  <p:stCondLst>
                                    <p:cond delay="0"/>
                                  </p:stCondLst>
                                  <p:childTnLst>
                                    <p:set>
                                      <p:cBhvr>
                                        <p:cTn id="20" dur="1" fill="hold">
                                          <p:stCondLst>
                                            <p:cond delay="0"/>
                                          </p:stCondLst>
                                        </p:cTn>
                                        <p:tgtEl>
                                          <p:spTgt spid="37892">
                                            <p:txEl>
                                              <p:pRg st="5" end="5"/>
                                            </p:txEl>
                                          </p:spTgt>
                                        </p:tgtEl>
                                        <p:attrNameLst>
                                          <p:attrName>style.visibility</p:attrName>
                                        </p:attrNameLst>
                                      </p:cBhvr>
                                      <p:to>
                                        <p:strVal val="visible"/>
                                      </p:to>
                                    </p:set>
                                    <p:animEffect transition="in" filter="box(in)">
                                      <p:cBhvr>
                                        <p:cTn id="21" dur="500"/>
                                        <p:tgtEl>
                                          <p:spTgt spid="37892">
                                            <p:txEl>
                                              <p:pRg st="5" end="5"/>
                                            </p:txEl>
                                          </p:spTgt>
                                        </p:tgtEl>
                                      </p:cBhvr>
                                    </p:animEffect>
                                  </p:childTnLst>
                                </p:cTn>
                              </p:par>
                              <p:par>
                                <p:cTn id="22" presetID="4" presetClass="entr" presetSubtype="16" fill="hold" nodeType="withEffect">
                                  <p:stCondLst>
                                    <p:cond delay="0"/>
                                  </p:stCondLst>
                                  <p:childTnLst>
                                    <p:set>
                                      <p:cBhvr>
                                        <p:cTn id="23" dur="1" fill="hold">
                                          <p:stCondLst>
                                            <p:cond delay="0"/>
                                          </p:stCondLst>
                                        </p:cTn>
                                        <p:tgtEl>
                                          <p:spTgt spid="37892">
                                            <p:txEl>
                                              <p:pRg st="6" end="6"/>
                                            </p:txEl>
                                          </p:spTgt>
                                        </p:tgtEl>
                                        <p:attrNameLst>
                                          <p:attrName>style.visibility</p:attrName>
                                        </p:attrNameLst>
                                      </p:cBhvr>
                                      <p:to>
                                        <p:strVal val="visible"/>
                                      </p:to>
                                    </p:set>
                                    <p:animEffect transition="in" filter="box(in)">
                                      <p:cBhvr>
                                        <p:cTn id="24" dur="500"/>
                                        <p:tgtEl>
                                          <p:spTgt spid="37892">
                                            <p:txEl>
                                              <p:pRg st="6" end="6"/>
                                            </p:txEl>
                                          </p:spTgt>
                                        </p:tgtEl>
                                      </p:cBhvr>
                                    </p:animEffect>
                                  </p:childTnLst>
                                </p:cTn>
                              </p:par>
                              <p:par>
                                <p:cTn id="25" presetID="4" presetClass="entr" presetSubtype="16" fill="hold" nodeType="withEffect">
                                  <p:stCondLst>
                                    <p:cond delay="0"/>
                                  </p:stCondLst>
                                  <p:childTnLst>
                                    <p:set>
                                      <p:cBhvr>
                                        <p:cTn id="26" dur="1" fill="hold">
                                          <p:stCondLst>
                                            <p:cond delay="0"/>
                                          </p:stCondLst>
                                        </p:cTn>
                                        <p:tgtEl>
                                          <p:spTgt spid="37892">
                                            <p:txEl>
                                              <p:pRg st="7" end="7"/>
                                            </p:txEl>
                                          </p:spTgt>
                                        </p:tgtEl>
                                        <p:attrNameLst>
                                          <p:attrName>style.visibility</p:attrName>
                                        </p:attrNameLst>
                                      </p:cBhvr>
                                      <p:to>
                                        <p:strVal val="visible"/>
                                      </p:to>
                                    </p:set>
                                    <p:animEffect transition="in" filter="box(in)">
                                      <p:cBhvr>
                                        <p:cTn id="27" dur="500"/>
                                        <p:tgtEl>
                                          <p:spTgt spid="37892">
                                            <p:txEl>
                                              <p:pRg st="7" end="7"/>
                                            </p:txEl>
                                          </p:spTgt>
                                        </p:tgtEl>
                                      </p:cBhvr>
                                    </p:animEffect>
                                  </p:childTnLst>
                                </p:cTn>
                              </p:par>
                              <p:par>
                                <p:cTn id="28" presetID="4" presetClass="entr" presetSubtype="16" fill="hold" nodeType="withEffect">
                                  <p:stCondLst>
                                    <p:cond delay="0"/>
                                  </p:stCondLst>
                                  <p:childTnLst>
                                    <p:set>
                                      <p:cBhvr>
                                        <p:cTn id="29" dur="1" fill="hold">
                                          <p:stCondLst>
                                            <p:cond delay="0"/>
                                          </p:stCondLst>
                                        </p:cTn>
                                        <p:tgtEl>
                                          <p:spTgt spid="37892">
                                            <p:txEl>
                                              <p:pRg st="8" end="8"/>
                                            </p:txEl>
                                          </p:spTgt>
                                        </p:tgtEl>
                                        <p:attrNameLst>
                                          <p:attrName>style.visibility</p:attrName>
                                        </p:attrNameLst>
                                      </p:cBhvr>
                                      <p:to>
                                        <p:strVal val="visible"/>
                                      </p:to>
                                    </p:set>
                                    <p:animEffect transition="in" filter="box(in)">
                                      <p:cBhvr>
                                        <p:cTn id="30" dur="500"/>
                                        <p:tgtEl>
                                          <p:spTgt spid="3789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页脚占位符 4">
            <a:extLst>
              <a:ext uri="{FF2B5EF4-FFF2-40B4-BE49-F238E27FC236}">
                <a16:creationId xmlns:a16="http://schemas.microsoft.com/office/drawing/2014/main" id="{39AE056A-4BCD-A0A2-12AB-D74700CCFF9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48131" name="Rectangle 2">
            <a:extLst>
              <a:ext uri="{FF2B5EF4-FFF2-40B4-BE49-F238E27FC236}">
                <a16:creationId xmlns:a16="http://schemas.microsoft.com/office/drawing/2014/main" id="{B55A7BAB-9CFE-3835-94DE-BFE383777868}"/>
              </a:ext>
            </a:extLst>
          </p:cNvPr>
          <p:cNvSpPr>
            <a:spLocks noGrp="1" noChangeArrowheads="1"/>
          </p:cNvSpPr>
          <p:nvPr>
            <p:ph type="title"/>
          </p:nvPr>
        </p:nvSpPr>
        <p:spPr/>
        <p:txBody>
          <a:bodyPr/>
          <a:lstStyle/>
          <a:p>
            <a:pPr eaLnBrk="1" hangingPunct="1"/>
            <a:r>
              <a:rPr lang="zh-CN" altLang="en-US"/>
              <a:t>例子</a:t>
            </a:r>
          </a:p>
        </p:txBody>
      </p:sp>
      <p:sp>
        <p:nvSpPr>
          <p:cNvPr id="48132" name="Rectangle 3">
            <a:extLst>
              <a:ext uri="{FF2B5EF4-FFF2-40B4-BE49-F238E27FC236}">
                <a16:creationId xmlns:a16="http://schemas.microsoft.com/office/drawing/2014/main" id="{47605218-DE38-6A0E-5DF8-9872450F53C4}"/>
              </a:ext>
            </a:extLst>
          </p:cNvPr>
          <p:cNvSpPr>
            <a:spLocks noGrp="1" noChangeArrowheads="1"/>
          </p:cNvSpPr>
          <p:nvPr>
            <p:ph type="body" idx="1"/>
          </p:nvPr>
        </p:nvSpPr>
        <p:spPr/>
        <p:txBody>
          <a:bodyPr/>
          <a:lstStyle/>
          <a:p>
            <a:pPr eaLnBrk="1" hangingPunct="1">
              <a:buFont typeface="Wingdings" panose="05000000000000000000" pitchFamily="2" charset="2"/>
              <a:buNone/>
            </a:pPr>
            <a:r>
              <a:rPr lang="zh-CN" altLang="en-US" sz="2800">
                <a:solidFill>
                  <a:srgbClr val="0066FF"/>
                </a:solidFill>
              </a:rPr>
              <a:t>数据流</a:t>
            </a:r>
            <a:r>
              <a:rPr lang="zh-CN" altLang="en-US" sz="2800">
                <a:latin typeface="Times New Roman" panose="02020603050405020304" pitchFamily="18" charset="0"/>
              </a:rPr>
              <a:t>“</a:t>
            </a:r>
            <a:r>
              <a:rPr lang="zh-CN" altLang="en-US" sz="2800"/>
              <a:t>体检结果</a:t>
            </a:r>
            <a:r>
              <a:rPr lang="zh-CN" altLang="en-US" sz="2800">
                <a:latin typeface="Times New Roman" panose="02020603050405020304" pitchFamily="18" charset="0"/>
              </a:rPr>
              <a:t>”</a:t>
            </a:r>
            <a:r>
              <a:rPr lang="zh-CN" altLang="en-US" sz="2800"/>
              <a:t>可如下描述：</a:t>
            </a:r>
          </a:p>
          <a:p>
            <a:pPr eaLnBrk="1" hangingPunct="1">
              <a:buFont typeface="Wingdings" panose="05000000000000000000" pitchFamily="2" charset="2"/>
              <a:buNone/>
            </a:pPr>
            <a:r>
              <a:rPr lang="zh-CN" altLang="en-US" sz="2800"/>
              <a:t>    数据流：　　体检结果</a:t>
            </a:r>
          </a:p>
          <a:p>
            <a:pPr eaLnBrk="1" hangingPunct="1">
              <a:buFont typeface="Wingdings" panose="05000000000000000000" pitchFamily="2" charset="2"/>
              <a:buNone/>
            </a:pPr>
            <a:r>
              <a:rPr lang="zh-CN" altLang="en-US" sz="2800"/>
              <a:t>    说明：　　　学生参加体格检查的最终结果</a:t>
            </a:r>
          </a:p>
          <a:p>
            <a:pPr eaLnBrk="1" hangingPunct="1">
              <a:buFont typeface="Wingdings" panose="05000000000000000000" pitchFamily="2" charset="2"/>
              <a:buNone/>
            </a:pPr>
            <a:r>
              <a:rPr lang="zh-CN" altLang="en-US" sz="2800"/>
              <a:t>    数据流来源：体检</a:t>
            </a:r>
          </a:p>
          <a:p>
            <a:pPr eaLnBrk="1" hangingPunct="1">
              <a:buFont typeface="Wingdings" panose="05000000000000000000" pitchFamily="2" charset="2"/>
              <a:buNone/>
            </a:pPr>
            <a:r>
              <a:rPr lang="zh-CN" altLang="en-US" sz="2800"/>
              <a:t>    数据流去向：批准</a:t>
            </a:r>
          </a:p>
          <a:p>
            <a:pPr eaLnBrk="1" hangingPunct="1">
              <a:buFont typeface="Wingdings" panose="05000000000000000000" pitchFamily="2" charset="2"/>
              <a:buNone/>
            </a:pPr>
            <a:r>
              <a:rPr lang="zh-CN" altLang="en-US" sz="2800"/>
              <a:t>    组成：　　　</a:t>
            </a:r>
            <a:r>
              <a:rPr lang="en-US" altLang="zh-CN" sz="2800">
                <a:latin typeface="Times New Roman" panose="02020603050405020304" pitchFamily="18" charset="0"/>
              </a:rPr>
              <a:t>……</a:t>
            </a:r>
            <a:endParaRPr lang="en-US" altLang="zh-CN" sz="2800"/>
          </a:p>
          <a:p>
            <a:pPr eaLnBrk="1" hangingPunct="1">
              <a:buFont typeface="Wingdings" panose="05000000000000000000" pitchFamily="2" charset="2"/>
              <a:buNone/>
            </a:pPr>
            <a:r>
              <a:rPr lang="zh-CN" altLang="en-US" sz="2800"/>
              <a:t>　平均流量：　</a:t>
            </a:r>
            <a:r>
              <a:rPr lang="en-US" altLang="zh-CN" sz="2800">
                <a:latin typeface="Times New Roman" panose="02020603050405020304" pitchFamily="18" charset="0"/>
              </a:rPr>
              <a:t>……</a:t>
            </a:r>
            <a:endParaRPr lang="en-US" altLang="zh-CN" sz="2800"/>
          </a:p>
          <a:p>
            <a:pPr eaLnBrk="1" hangingPunct="1">
              <a:buFont typeface="Wingdings" panose="05000000000000000000" pitchFamily="2" charset="2"/>
              <a:buNone/>
            </a:pPr>
            <a:r>
              <a:rPr lang="zh-CN" altLang="en-US" sz="2800"/>
              <a:t>　高峰期流量：</a:t>
            </a:r>
            <a:r>
              <a:rPr lang="en-US" altLang="zh-CN" sz="2800">
                <a:latin typeface="Times New Roman" panose="02020603050405020304" pitchFamily="18" charset="0"/>
              </a:rPr>
              <a:t>……</a:t>
            </a:r>
            <a:endParaRPr lang="en-US" altLang="zh-CN" sz="28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页脚占位符 4">
            <a:extLst>
              <a:ext uri="{FF2B5EF4-FFF2-40B4-BE49-F238E27FC236}">
                <a16:creationId xmlns:a16="http://schemas.microsoft.com/office/drawing/2014/main" id="{3447D191-E8BD-5410-1507-8376ED027F9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49155" name="Rectangle 2">
            <a:extLst>
              <a:ext uri="{FF2B5EF4-FFF2-40B4-BE49-F238E27FC236}">
                <a16:creationId xmlns:a16="http://schemas.microsoft.com/office/drawing/2014/main" id="{F350FBBB-5F31-633E-A3EA-70AA8C47A280}"/>
              </a:ext>
            </a:extLst>
          </p:cNvPr>
          <p:cNvSpPr>
            <a:spLocks noGrp="1" noChangeArrowheads="1"/>
          </p:cNvSpPr>
          <p:nvPr>
            <p:ph type="title"/>
          </p:nvPr>
        </p:nvSpPr>
        <p:spPr/>
        <p:txBody>
          <a:bodyPr/>
          <a:lstStyle/>
          <a:p>
            <a:pPr eaLnBrk="1" hangingPunct="1"/>
            <a:r>
              <a:rPr lang="en-US" altLang="zh-CN"/>
              <a:t>⒋ </a:t>
            </a:r>
            <a:r>
              <a:rPr lang="zh-CN" altLang="en-US"/>
              <a:t>数据存储</a:t>
            </a:r>
          </a:p>
        </p:txBody>
      </p:sp>
      <p:sp>
        <p:nvSpPr>
          <p:cNvPr id="38916" name="Rectangle 3">
            <a:extLst>
              <a:ext uri="{FF2B5EF4-FFF2-40B4-BE49-F238E27FC236}">
                <a16:creationId xmlns:a16="http://schemas.microsoft.com/office/drawing/2014/main" id="{0E18066B-285E-6571-C09A-977CCB7A4C48}"/>
              </a:ext>
            </a:extLst>
          </p:cNvPr>
          <p:cNvSpPr>
            <a:spLocks noGrp="1" noChangeArrowheads="1"/>
          </p:cNvSpPr>
          <p:nvPr>
            <p:ph type="body" idx="1"/>
          </p:nvPr>
        </p:nvSpPr>
        <p:spPr>
          <a:xfrm>
            <a:off x="304800" y="2017713"/>
            <a:ext cx="8650288" cy="4114800"/>
          </a:xfrm>
        </p:spPr>
        <p:txBody>
          <a:bodyPr/>
          <a:lstStyle/>
          <a:p>
            <a:pPr eaLnBrk="1" hangingPunct="1">
              <a:lnSpc>
                <a:spcPct val="90000"/>
              </a:lnSpc>
            </a:pPr>
            <a:r>
              <a:rPr lang="zh-CN" altLang="en-US" sz="2800"/>
              <a:t>数据存储是数据结构停留或保存的地方，也是数据流的来源和去向之一。</a:t>
            </a:r>
          </a:p>
          <a:p>
            <a:pPr eaLnBrk="1" hangingPunct="1">
              <a:lnSpc>
                <a:spcPct val="90000"/>
              </a:lnSpc>
            </a:pPr>
            <a:r>
              <a:rPr lang="zh-CN" altLang="en-US" sz="2800"/>
              <a:t>对数据存储的描述</a:t>
            </a:r>
          </a:p>
          <a:p>
            <a:pPr eaLnBrk="1" hangingPunct="1">
              <a:lnSpc>
                <a:spcPct val="80000"/>
              </a:lnSpc>
              <a:buFont typeface="Wingdings" panose="05000000000000000000" pitchFamily="2" charset="2"/>
              <a:buNone/>
            </a:pPr>
            <a:r>
              <a:rPr lang="zh-CN" altLang="en-US" sz="2800"/>
              <a:t>　</a:t>
            </a:r>
            <a:r>
              <a:rPr lang="zh-CN" altLang="en-US" sz="2400">
                <a:solidFill>
                  <a:srgbClr val="2355F3"/>
                </a:solidFill>
              </a:rPr>
              <a:t>数据存储描述＝｛数据存储名，说明，编号，</a:t>
            </a:r>
          </a:p>
          <a:p>
            <a:pPr eaLnBrk="1" hangingPunct="1">
              <a:lnSpc>
                <a:spcPct val="80000"/>
              </a:lnSpc>
              <a:buFont typeface="Wingdings" panose="05000000000000000000" pitchFamily="2" charset="2"/>
              <a:buNone/>
            </a:pPr>
            <a:r>
              <a:rPr lang="zh-CN" altLang="en-US" sz="2400">
                <a:solidFill>
                  <a:srgbClr val="2355F3"/>
                </a:solidFill>
              </a:rPr>
              <a:t>                            流入的数据流 ，流出的数据流 ，</a:t>
            </a:r>
          </a:p>
          <a:p>
            <a:pPr eaLnBrk="1" hangingPunct="1">
              <a:lnSpc>
                <a:spcPct val="80000"/>
              </a:lnSpc>
              <a:buFont typeface="Wingdings" panose="05000000000000000000" pitchFamily="2" charset="2"/>
              <a:buNone/>
            </a:pPr>
            <a:r>
              <a:rPr lang="zh-CN" altLang="en-US" sz="2400">
                <a:solidFill>
                  <a:srgbClr val="2355F3"/>
                </a:solidFill>
              </a:rPr>
              <a:t>                            组成</a:t>
            </a:r>
            <a:r>
              <a:rPr lang="en-US" altLang="zh-CN" sz="2400">
                <a:solidFill>
                  <a:srgbClr val="2355F3"/>
                </a:solidFill>
              </a:rPr>
              <a:t>:</a:t>
            </a:r>
            <a:r>
              <a:rPr lang="zh-CN" altLang="en-US" sz="2400">
                <a:solidFill>
                  <a:srgbClr val="2355F3"/>
                </a:solidFill>
              </a:rPr>
              <a:t>｛数据结构｝，数据量，存取方式｝</a:t>
            </a:r>
            <a:endParaRPr lang="zh-CN" altLang="en-US" sz="2400"/>
          </a:p>
          <a:p>
            <a:pPr lvl="1" eaLnBrk="1" hangingPunct="1">
              <a:lnSpc>
                <a:spcPct val="90000"/>
              </a:lnSpc>
            </a:pPr>
            <a:r>
              <a:rPr lang="zh-CN" altLang="en-US" sz="2400"/>
              <a:t>流入的数据流：指出数据来源</a:t>
            </a:r>
          </a:p>
          <a:p>
            <a:pPr lvl="1" eaLnBrk="1" hangingPunct="1">
              <a:lnSpc>
                <a:spcPct val="90000"/>
              </a:lnSpc>
            </a:pPr>
            <a:r>
              <a:rPr lang="zh-CN" altLang="en-US" sz="2400"/>
              <a:t>流出的数据流：指出数据去向</a:t>
            </a:r>
          </a:p>
          <a:p>
            <a:pPr lvl="1" eaLnBrk="1" hangingPunct="1">
              <a:lnSpc>
                <a:spcPct val="90000"/>
              </a:lnSpc>
            </a:pPr>
            <a:r>
              <a:rPr lang="zh-CN" altLang="en-US" sz="2400"/>
              <a:t>数据量：每次存取多少数据，每天（或每小时、每周等）存取几次等信息</a:t>
            </a:r>
          </a:p>
          <a:p>
            <a:pPr lvl="1" eaLnBrk="1" hangingPunct="1">
              <a:lnSpc>
                <a:spcPct val="90000"/>
              </a:lnSpc>
            </a:pPr>
            <a:r>
              <a:rPr lang="zh-CN" altLang="en-US" sz="2400"/>
              <a:t>存取方法：批处理 </a:t>
            </a:r>
            <a:r>
              <a:rPr lang="en-US" altLang="zh-CN" sz="2400"/>
              <a:t>/ </a:t>
            </a:r>
            <a:r>
              <a:rPr lang="zh-CN" altLang="en-US" sz="2400"/>
              <a:t>联机处理；检索 </a:t>
            </a:r>
            <a:r>
              <a:rPr lang="en-US" altLang="zh-CN" sz="2400"/>
              <a:t>/ </a:t>
            </a:r>
            <a:r>
              <a:rPr lang="zh-CN" altLang="en-US" sz="2400"/>
              <a:t>更新；顺序检索 </a:t>
            </a:r>
            <a:r>
              <a:rPr lang="en-US" altLang="zh-CN" sz="2400"/>
              <a:t>/ </a:t>
            </a:r>
            <a:r>
              <a:rPr lang="zh-CN" altLang="en-US" sz="2400"/>
              <a:t>随机检索</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8916">
                                            <p:txEl>
                                              <p:pRg st="1" end="1"/>
                                            </p:txEl>
                                          </p:spTgt>
                                        </p:tgtEl>
                                        <p:attrNameLst>
                                          <p:attrName>style.visibility</p:attrName>
                                        </p:attrNameLst>
                                      </p:cBhvr>
                                      <p:to>
                                        <p:strVal val="visible"/>
                                      </p:to>
                                    </p:set>
                                    <p:animEffect transition="in" filter="box(in)">
                                      <p:cBhvr>
                                        <p:cTn id="7" dur="500"/>
                                        <p:tgtEl>
                                          <p:spTgt spid="38916">
                                            <p:txEl>
                                              <p:pRg st="1" end="1"/>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8916">
                                            <p:txEl>
                                              <p:pRg st="2" end="2"/>
                                            </p:txEl>
                                          </p:spTgt>
                                        </p:tgtEl>
                                        <p:attrNameLst>
                                          <p:attrName>style.visibility</p:attrName>
                                        </p:attrNameLst>
                                      </p:cBhvr>
                                      <p:to>
                                        <p:strVal val="visible"/>
                                      </p:to>
                                    </p:set>
                                    <p:animEffect transition="in" filter="box(in)">
                                      <p:cBhvr>
                                        <p:cTn id="10" dur="500"/>
                                        <p:tgtEl>
                                          <p:spTgt spid="38916">
                                            <p:txEl>
                                              <p:pRg st="2" end="2"/>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38916">
                                            <p:txEl>
                                              <p:pRg st="3" end="3"/>
                                            </p:txEl>
                                          </p:spTgt>
                                        </p:tgtEl>
                                        <p:attrNameLst>
                                          <p:attrName>style.visibility</p:attrName>
                                        </p:attrNameLst>
                                      </p:cBhvr>
                                      <p:to>
                                        <p:strVal val="visible"/>
                                      </p:to>
                                    </p:set>
                                    <p:animEffect transition="in" filter="box(in)">
                                      <p:cBhvr>
                                        <p:cTn id="13" dur="500"/>
                                        <p:tgtEl>
                                          <p:spTgt spid="38916">
                                            <p:txEl>
                                              <p:pRg st="3" end="3"/>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38916">
                                            <p:txEl>
                                              <p:pRg st="4" end="4"/>
                                            </p:txEl>
                                          </p:spTgt>
                                        </p:tgtEl>
                                        <p:attrNameLst>
                                          <p:attrName>style.visibility</p:attrName>
                                        </p:attrNameLst>
                                      </p:cBhvr>
                                      <p:to>
                                        <p:strVal val="visible"/>
                                      </p:to>
                                    </p:set>
                                    <p:animEffect transition="in" filter="box(in)">
                                      <p:cBhvr>
                                        <p:cTn id="16" dur="500"/>
                                        <p:tgtEl>
                                          <p:spTgt spid="38916">
                                            <p:txEl>
                                              <p:pRg st="4" end="4"/>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4" presetClass="entr" presetSubtype="16" fill="hold" nodeType="clickEffect">
                                  <p:stCondLst>
                                    <p:cond delay="0"/>
                                  </p:stCondLst>
                                  <p:childTnLst>
                                    <p:set>
                                      <p:cBhvr>
                                        <p:cTn id="20" dur="1" fill="hold">
                                          <p:stCondLst>
                                            <p:cond delay="0"/>
                                          </p:stCondLst>
                                        </p:cTn>
                                        <p:tgtEl>
                                          <p:spTgt spid="38916">
                                            <p:txEl>
                                              <p:pRg st="5" end="5"/>
                                            </p:txEl>
                                          </p:spTgt>
                                        </p:tgtEl>
                                        <p:attrNameLst>
                                          <p:attrName>style.visibility</p:attrName>
                                        </p:attrNameLst>
                                      </p:cBhvr>
                                      <p:to>
                                        <p:strVal val="visible"/>
                                      </p:to>
                                    </p:set>
                                    <p:animEffect transition="in" filter="box(in)">
                                      <p:cBhvr>
                                        <p:cTn id="21" dur="500"/>
                                        <p:tgtEl>
                                          <p:spTgt spid="38916">
                                            <p:txEl>
                                              <p:pRg st="5" end="5"/>
                                            </p:txEl>
                                          </p:spTgt>
                                        </p:tgtEl>
                                      </p:cBhvr>
                                    </p:animEffect>
                                  </p:childTnLst>
                                </p:cTn>
                              </p:par>
                              <p:par>
                                <p:cTn id="22" presetID="4" presetClass="entr" presetSubtype="16" fill="hold" nodeType="withEffect">
                                  <p:stCondLst>
                                    <p:cond delay="0"/>
                                  </p:stCondLst>
                                  <p:childTnLst>
                                    <p:set>
                                      <p:cBhvr>
                                        <p:cTn id="23" dur="1" fill="hold">
                                          <p:stCondLst>
                                            <p:cond delay="0"/>
                                          </p:stCondLst>
                                        </p:cTn>
                                        <p:tgtEl>
                                          <p:spTgt spid="38916">
                                            <p:txEl>
                                              <p:pRg st="6" end="6"/>
                                            </p:txEl>
                                          </p:spTgt>
                                        </p:tgtEl>
                                        <p:attrNameLst>
                                          <p:attrName>style.visibility</p:attrName>
                                        </p:attrNameLst>
                                      </p:cBhvr>
                                      <p:to>
                                        <p:strVal val="visible"/>
                                      </p:to>
                                    </p:set>
                                    <p:animEffect transition="in" filter="box(in)">
                                      <p:cBhvr>
                                        <p:cTn id="24" dur="500"/>
                                        <p:tgtEl>
                                          <p:spTgt spid="38916">
                                            <p:txEl>
                                              <p:pRg st="6" end="6"/>
                                            </p:txEl>
                                          </p:spTgt>
                                        </p:tgtEl>
                                      </p:cBhvr>
                                    </p:animEffect>
                                  </p:childTnLst>
                                </p:cTn>
                              </p:par>
                              <p:par>
                                <p:cTn id="25" presetID="4" presetClass="entr" presetSubtype="16" fill="hold" nodeType="withEffect">
                                  <p:stCondLst>
                                    <p:cond delay="0"/>
                                  </p:stCondLst>
                                  <p:childTnLst>
                                    <p:set>
                                      <p:cBhvr>
                                        <p:cTn id="26" dur="1" fill="hold">
                                          <p:stCondLst>
                                            <p:cond delay="0"/>
                                          </p:stCondLst>
                                        </p:cTn>
                                        <p:tgtEl>
                                          <p:spTgt spid="38916">
                                            <p:txEl>
                                              <p:pRg st="7" end="7"/>
                                            </p:txEl>
                                          </p:spTgt>
                                        </p:tgtEl>
                                        <p:attrNameLst>
                                          <p:attrName>style.visibility</p:attrName>
                                        </p:attrNameLst>
                                      </p:cBhvr>
                                      <p:to>
                                        <p:strVal val="visible"/>
                                      </p:to>
                                    </p:set>
                                    <p:animEffect transition="in" filter="box(in)">
                                      <p:cBhvr>
                                        <p:cTn id="27" dur="500"/>
                                        <p:tgtEl>
                                          <p:spTgt spid="38916">
                                            <p:txEl>
                                              <p:pRg st="7" end="7"/>
                                            </p:txEl>
                                          </p:spTgt>
                                        </p:tgtEl>
                                      </p:cBhvr>
                                    </p:animEffect>
                                  </p:childTnLst>
                                </p:cTn>
                              </p:par>
                              <p:par>
                                <p:cTn id="28" presetID="4" presetClass="entr" presetSubtype="16" fill="hold" nodeType="withEffect">
                                  <p:stCondLst>
                                    <p:cond delay="0"/>
                                  </p:stCondLst>
                                  <p:childTnLst>
                                    <p:set>
                                      <p:cBhvr>
                                        <p:cTn id="29" dur="1" fill="hold">
                                          <p:stCondLst>
                                            <p:cond delay="0"/>
                                          </p:stCondLst>
                                        </p:cTn>
                                        <p:tgtEl>
                                          <p:spTgt spid="38916">
                                            <p:txEl>
                                              <p:pRg st="8" end="8"/>
                                            </p:txEl>
                                          </p:spTgt>
                                        </p:tgtEl>
                                        <p:attrNameLst>
                                          <p:attrName>style.visibility</p:attrName>
                                        </p:attrNameLst>
                                      </p:cBhvr>
                                      <p:to>
                                        <p:strVal val="visible"/>
                                      </p:to>
                                    </p:set>
                                    <p:animEffect transition="in" filter="box(in)">
                                      <p:cBhvr>
                                        <p:cTn id="30" dur="500"/>
                                        <p:tgtEl>
                                          <p:spTgt spid="3891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页脚占位符 4">
            <a:extLst>
              <a:ext uri="{FF2B5EF4-FFF2-40B4-BE49-F238E27FC236}">
                <a16:creationId xmlns:a16="http://schemas.microsoft.com/office/drawing/2014/main" id="{D7834BA2-3D22-51B3-23B8-16D284824F1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50179" name="Rectangle 2">
            <a:extLst>
              <a:ext uri="{FF2B5EF4-FFF2-40B4-BE49-F238E27FC236}">
                <a16:creationId xmlns:a16="http://schemas.microsoft.com/office/drawing/2014/main" id="{04617FAB-CB65-BDE9-3CDD-F1A66438D5E5}"/>
              </a:ext>
            </a:extLst>
          </p:cNvPr>
          <p:cNvSpPr>
            <a:spLocks noGrp="1" noChangeArrowheads="1"/>
          </p:cNvSpPr>
          <p:nvPr>
            <p:ph type="title"/>
          </p:nvPr>
        </p:nvSpPr>
        <p:spPr/>
        <p:txBody>
          <a:bodyPr/>
          <a:lstStyle/>
          <a:p>
            <a:pPr eaLnBrk="1" hangingPunct="1"/>
            <a:r>
              <a:rPr lang="zh-CN" altLang="en-US"/>
              <a:t>例子</a:t>
            </a:r>
          </a:p>
        </p:txBody>
      </p:sp>
      <p:sp>
        <p:nvSpPr>
          <p:cNvPr id="50180" name="Rectangle 3">
            <a:extLst>
              <a:ext uri="{FF2B5EF4-FFF2-40B4-BE49-F238E27FC236}">
                <a16:creationId xmlns:a16="http://schemas.microsoft.com/office/drawing/2014/main" id="{F5BE9AEE-B651-23EB-3464-F717C25752BE}"/>
              </a:ext>
            </a:extLst>
          </p:cNvPr>
          <p:cNvSpPr>
            <a:spLocks noGrp="1" noChangeArrowheads="1"/>
          </p:cNvSpPr>
          <p:nvPr>
            <p:ph type="body" idx="1"/>
          </p:nvPr>
        </p:nvSpPr>
        <p:spPr/>
        <p:txBody>
          <a:bodyPr/>
          <a:lstStyle/>
          <a:p>
            <a:pPr eaLnBrk="1" hangingPunct="1">
              <a:lnSpc>
                <a:spcPct val="90000"/>
              </a:lnSpc>
              <a:buFont typeface="Wingdings" panose="05000000000000000000" pitchFamily="2" charset="2"/>
              <a:buNone/>
            </a:pPr>
            <a:r>
              <a:rPr lang="zh-CN" altLang="en-US" sz="2800">
                <a:solidFill>
                  <a:srgbClr val="0066FF"/>
                </a:solidFill>
              </a:rPr>
              <a:t>数据存储</a:t>
            </a:r>
            <a:r>
              <a:rPr lang="zh-CN" altLang="en-US" sz="2800">
                <a:latin typeface="Times New Roman" panose="02020603050405020304" pitchFamily="18" charset="0"/>
              </a:rPr>
              <a:t>“</a:t>
            </a:r>
            <a:r>
              <a:rPr lang="zh-CN" altLang="en-US" sz="2800"/>
              <a:t>学生登记表</a:t>
            </a:r>
            <a:r>
              <a:rPr lang="zh-CN" altLang="en-US" sz="2800">
                <a:latin typeface="Times New Roman" panose="02020603050405020304" pitchFamily="18" charset="0"/>
              </a:rPr>
              <a:t>”</a:t>
            </a:r>
            <a:r>
              <a:rPr lang="zh-CN" altLang="en-US" sz="2800"/>
              <a:t>可如下描述：</a:t>
            </a:r>
          </a:p>
          <a:p>
            <a:pPr eaLnBrk="1" hangingPunct="1">
              <a:lnSpc>
                <a:spcPct val="90000"/>
              </a:lnSpc>
              <a:buFont typeface="Wingdings" panose="05000000000000000000" pitchFamily="2" charset="2"/>
              <a:buNone/>
            </a:pPr>
            <a:r>
              <a:rPr lang="zh-CN" altLang="en-US" sz="2800"/>
              <a:t>    数据存储：　学生登记表</a:t>
            </a:r>
          </a:p>
          <a:p>
            <a:pPr eaLnBrk="1" hangingPunct="1">
              <a:lnSpc>
                <a:spcPct val="90000"/>
              </a:lnSpc>
              <a:buFont typeface="Wingdings" panose="05000000000000000000" pitchFamily="2" charset="2"/>
              <a:buNone/>
            </a:pPr>
            <a:r>
              <a:rPr lang="zh-CN" altLang="en-US" sz="2800"/>
              <a:t>    说明：　　　记录学生的基本情况</a:t>
            </a:r>
          </a:p>
          <a:p>
            <a:pPr eaLnBrk="1" hangingPunct="1">
              <a:lnSpc>
                <a:spcPct val="90000"/>
              </a:lnSpc>
              <a:buFont typeface="Wingdings" panose="05000000000000000000" pitchFamily="2" charset="2"/>
              <a:buNone/>
            </a:pPr>
            <a:r>
              <a:rPr lang="zh-CN" altLang="en-US" sz="2800"/>
              <a:t>　流入数据流：</a:t>
            </a:r>
            <a:r>
              <a:rPr lang="en-US" altLang="zh-CN" sz="2800">
                <a:latin typeface="Times New Roman" panose="02020603050405020304" pitchFamily="18" charset="0"/>
              </a:rPr>
              <a:t>……</a:t>
            </a:r>
            <a:endParaRPr lang="en-US" altLang="zh-CN" sz="2800"/>
          </a:p>
          <a:p>
            <a:pPr eaLnBrk="1" hangingPunct="1">
              <a:lnSpc>
                <a:spcPct val="90000"/>
              </a:lnSpc>
              <a:buFont typeface="Wingdings" panose="05000000000000000000" pitchFamily="2" charset="2"/>
              <a:buNone/>
            </a:pPr>
            <a:r>
              <a:rPr lang="en-US" altLang="zh-CN" sz="2800"/>
              <a:t>    </a:t>
            </a:r>
            <a:r>
              <a:rPr lang="zh-CN" altLang="en-US" sz="2800"/>
              <a:t>流出数据流：</a:t>
            </a:r>
            <a:r>
              <a:rPr lang="en-US" altLang="zh-CN" sz="2800">
                <a:latin typeface="Times New Roman" panose="02020603050405020304" pitchFamily="18" charset="0"/>
              </a:rPr>
              <a:t>……</a:t>
            </a:r>
            <a:endParaRPr lang="en-US" altLang="zh-CN" sz="2800"/>
          </a:p>
          <a:p>
            <a:pPr eaLnBrk="1" hangingPunct="1">
              <a:lnSpc>
                <a:spcPct val="90000"/>
              </a:lnSpc>
              <a:buFont typeface="Wingdings" panose="05000000000000000000" pitchFamily="2" charset="2"/>
              <a:buNone/>
            </a:pPr>
            <a:r>
              <a:rPr lang="en-US" altLang="zh-CN" sz="2800"/>
              <a:t>    </a:t>
            </a:r>
            <a:r>
              <a:rPr lang="zh-CN" altLang="en-US" sz="2800"/>
              <a:t>组成：　　　</a:t>
            </a:r>
            <a:r>
              <a:rPr lang="en-US" altLang="zh-CN" sz="2800">
                <a:latin typeface="Times New Roman" panose="02020603050405020304" pitchFamily="18" charset="0"/>
              </a:rPr>
              <a:t>……</a:t>
            </a:r>
            <a:endParaRPr lang="en-US" altLang="zh-CN" sz="2800"/>
          </a:p>
          <a:p>
            <a:pPr eaLnBrk="1" hangingPunct="1">
              <a:lnSpc>
                <a:spcPct val="90000"/>
              </a:lnSpc>
              <a:buFont typeface="Wingdings" panose="05000000000000000000" pitchFamily="2" charset="2"/>
              <a:buNone/>
            </a:pPr>
            <a:r>
              <a:rPr lang="en-US" altLang="zh-CN" sz="2800"/>
              <a:t>    </a:t>
            </a:r>
            <a:r>
              <a:rPr lang="zh-CN" altLang="en-US" sz="2800"/>
              <a:t>数据量：　　每年</a:t>
            </a:r>
            <a:r>
              <a:rPr lang="en-US" altLang="zh-CN" sz="2800"/>
              <a:t>3000</a:t>
            </a:r>
            <a:r>
              <a:rPr lang="zh-CN" altLang="en-US" sz="2800"/>
              <a:t>张</a:t>
            </a:r>
          </a:p>
          <a:p>
            <a:pPr eaLnBrk="1" hangingPunct="1">
              <a:lnSpc>
                <a:spcPct val="90000"/>
              </a:lnSpc>
              <a:buFont typeface="Wingdings" panose="05000000000000000000" pitchFamily="2" charset="2"/>
              <a:buNone/>
            </a:pPr>
            <a:r>
              <a:rPr lang="zh-CN" altLang="en-US" sz="2800"/>
              <a:t>    存取方式：　随机存取</a:t>
            </a:r>
          </a:p>
          <a:p>
            <a:pPr eaLnBrk="1" hangingPunct="1">
              <a:lnSpc>
                <a:spcPct val="90000"/>
              </a:lnSpc>
              <a:buFont typeface="Wingdings" panose="05000000000000000000" pitchFamily="2" charset="2"/>
              <a:buNone/>
            </a:pPr>
            <a:r>
              <a:rPr lang="zh-CN" altLang="en-US" sz="2800"/>
              <a:t>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页脚占位符 4">
            <a:extLst>
              <a:ext uri="{FF2B5EF4-FFF2-40B4-BE49-F238E27FC236}">
                <a16:creationId xmlns:a16="http://schemas.microsoft.com/office/drawing/2014/main" id="{08F7D91A-40AE-068A-F294-D79E09E601A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51203" name="Rectangle 2">
            <a:extLst>
              <a:ext uri="{FF2B5EF4-FFF2-40B4-BE49-F238E27FC236}">
                <a16:creationId xmlns:a16="http://schemas.microsoft.com/office/drawing/2014/main" id="{14FB207F-91E4-F0CB-D92D-C69FCED1977E}"/>
              </a:ext>
            </a:extLst>
          </p:cNvPr>
          <p:cNvSpPr>
            <a:spLocks noGrp="1" noChangeArrowheads="1"/>
          </p:cNvSpPr>
          <p:nvPr>
            <p:ph type="title"/>
          </p:nvPr>
        </p:nvSpPr>
        <p:spPr/>
        <p:txBody>
          <a:bodyPr/>
          <a:lstStyle/>
          <a:p>
            <a:pPr eaLnBrk="1" hangingPunct="1"/>
            <a:r>
              <a:rPr lang="en-US" altLang="zh-CN"/>
              <a:t>⒌ </a:t>
            </a:r>
            <a:r>
              <a:rPr lang="zh-CN" altLang="en-US"/>
              <a:t>处理过程</a:t>
            </a:r>
          </a:p>
        </p:txBody>
      </p:sp>
      <p:sp>
        <p:nvSpPr>
          <p:cNvPr id="39940" name="Rectangle 3">
            <a:extLst>
              <a:ext uri="{FF2B5EF4-FFF2-40B4-BE49-F238E27FC236}">
                <a16:creationId xmlns:a16="http://schemas.microsoft.com/office/drawing/2014/main" id="{2B0BABFC-8C7F-E893-2B66-941275B5FF7D}"/>
              </a:ext>
            </a:extLst>
          </p:cNvPr>
          <p:cNvSpPr>
            <a:spLocks noGrp="1" noChangeArrowheads="1"/>
          </p:cNvSpPr>
          <p:nvPr>
            <p:ph type="body" idx="1"/>
          </p:nvPr>
        </p:nvSpPr>
        <p:spPr>
          <a:xfrm>
            <a:off x="304800" y="1905000"/>
            <a:ext cx="8839200" cy="4114800"/>
          </a:xfrm>
        </p:spPr>
        <p:txBody>
          <a:bodyPr/>
          <a:lstStyle/>
          <a:p>
            <a:pPr eaLnBrk="1" hangingPunct="1"/>
            <a:r>
              <a:rPr lang="zh-CN" altLang="en-US" sz="2800"/>
              <a:t>处理过程的具体处理逻辑一般用</a:t>
            </a:r>
            <a:r>
              <a:rPr lang="zh-CN" altLang="en-US" sz="2800">
                <a:solidFill>
                  <a:srgbClr val="FF0000"/>
                </a:solidFill>
              </a:rPr>
              <a:t>判定表</a:t>
            </a:r>
            <a:r>
              <a:rPr lang="zh-CN" altLang="en-US" sz="2800"/>
              <a:t>或</a:t>
            </a:r>
            <a:r>
              <a:rPr lang="zh-CN" altLang="en-US" sz="2800">
                <a:solidFill>
                  <a:srgbClr val="FF0000"/>
                </a:solidFill>
              </a:rPr>
              <a:t>判定树</a:t>
            </a:r>
            <a:r>
              <a:rPr lang="zh-CN" altLang="en-US" sz="2800"/>
              <a:t>来描述。数据字典中只需要描述处理过程的说明性信息</a:t>
            </a:r>
          </a:p>
          <a:p>
            <a:pPr eaLnBrk="1" hangingPunct="1">
              <a:spcBef>
                <a:spcPct val="60000"/>
              </a:spcBef>
            </a:pPr>
            <a:r>
              <a:rPr lang="zh-CN" altLang="en-US" sz="2800"/>
              <a:t>处理过程说明性信息的描述</a:t>
            </a:r>
          </a:p>
          <a:p>
            <a:pPr eaLnBrk="1" hangingPunct="1">
              <a:lnSpc>
                <a:spcPct val="90000"/>
              </a:lnSpc>
              <a:buFont typeface="Wingdings" panose="05000000000000000000" pitchFamily="2" charset="2"/>
              <a:buNone/>
            </a:pPr>
            <a:r>
              <a:rPr lang="zh-CN" altLang="en-US" sz="2800"/>
              <a:t>　</a:t>
            </a:r>
            <a:r>
              <a:rPr lang="zh-CN" altLang="en-US" sz="2800">
                <a:solidFill>
                  <a:srgbClr val="2355F3"/>
                </a:solidFill>
              </a:rPr>
              <a:t>处理过程描述＝｛处理过程名，说明，</a:t>
            </a:r>
          </a:p>
          <a:p>
            <a:pPr eaLnBrk="1" hangingPunct="1">
              <a:lnSpc>
                <a:spcPct val="90000"/>
              </a:lnSpc>
              <a:buFont typeface="Wingdings" panose="05000000000000000000" pitchFamily="2" charset="2"/>
              <a:buNone/>
            </a:pPr>
            <a:r>
              <a:rPr lang="zh-CN" altLang="en-US" sz="2800">
                <a:solidFill>
                  <a:srgbClr val="2355F3"/>
                </a:solidFill>
              </a:rPr>
              <a:t>                      输入</a:t>
            </a:r>
            <a:r>
              <a:rPr lang="en-US" altLang="zh-CN" sz="2800">
                <a:solidFill>
                  <a:srgbClr val="2355F3"/>
                </a:solidFill>
              </a:rPr>
              <a:t>:</a:t>
            </a:r>
            <a:r>
              <a:rPr lang="zh-CN" altLang="en-US" sz="2800">
                <a:solidFill>
                  <a:srgbClr val="2355F3"/>
                </a:solidFill>
              </a:rPr>
              <a:t>｛数据流｝，输出</a:t>
            </a:r>
            <a:r>
              <a:rPr lang="en-US" altLang="zh-CN" sz="2800">
                <a:solidFill>
                  <a:srgbClr val="2355F3"/>
                </a:solidFill>
              </a:rPr>
              <a:t>:</a:t>
            </a:r>
            <a:r>
              <a:rPr lang="zh-CN" altLang="en-US" sz="2800">
                <a:solidFill>
                  <a:srgbClr val="2355F3"/>
                </a:solidFill>
              </a:rPr>
              <a:t>｛数据流｝，</a:t>
            </a:r>
          </a:p>
          <a:p>
            <a:pPr eaLnBrk="1" hangingPunct="1">
              <a:lnSpc>
                <a:spcPct val="90000"/>
              </a:lnSpc>
              <a:buFont typeface="Wingdings" panose="05000000000000000000" pitchFamily="2" charset="2"/>
              <a:buNone/>
            </a:pPr>
            <a:r>
              <a:rPr lang="zh-CN" altLang="en-US" sz="2800">
                <a:solidFill>
                  <a:srgbClr val="2355F3"/>
                </a:solidFill>
              </a:rPr>
              <a:t>                      处理</a:t>
            </a:r>
            <a:r>
              <a:rPr lang="en-US" altLang="zh-CN" sz="2800">
                <a:solidFill>
                  <a:srgbClr val="2355F3"/>
                </a:solidFill>
              </a:rPr>
              <a:t>:</a:t>
            </a:r>
            <a:r>
              <a:rPr lang="zh-CN" altLang="en-US" sz="2800">
                <a:solidFill>
                  <a:srgbClr val="2355F3"/>
                </a:solidFill>
              </a:rPr>
              <a:t>｛简要说明｝｝</a:t>
            </a:r>
          </a:p>
          <a:p>
            <a:pPr lvl="1" eaLnBrk="1" hangingPunct="1">
              <a:lnSpc>
                <a:spcPct val="90000"/>
              </a:lnSpc>
              <a:buFont typeface="Wingdings" panose="05000000000000000000" pitchFamily="2" charset="2"/>
              <a:buNone/>
            </a:pPr>
            <a:endParaRPr lang="en-US" altLang="zh-CN" sz="2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9940">
                                            <p:txEl>
                                              <p:pRg st="1" end="1"/>
                                            </p:txEl>
                                          </p:spTgt>
                                        </p:tgtEl>
                                        <p:attrNameLst>
                                          <p:attrName>style.visibility</p:attrName>
                                        </p:attrNameLst>
                                      </p:cBhvr>
                                      <p:to>
                                        <p:strVal val="visible"/>
                                      </p:to>
                                    </p:set>
                                    <p:animEffect transition="in" filter="box(in)">
                                      <p:cBhvr>
                                        <p:cTn id="7" dur="500"/>
                                        <p:tgtEl>
                                          <p:spTgt spid="39940">
                                            <p:txEl>
                                              <p:pRg st="1" end="1"/>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9940">
                                            <p:txEl>
                                              <p:pRg st="2" end="2"/>
                                            </p:txEl>
                                          </p:spTgt>
                                        </p:tgtEl>
                                        <p:attrNameLst>
                                          <p:attrName>style.visibility</p:attrName>
                                        </p:attrNameLst>
                                      </p:cBhvr>
                                      <p:to>
                                        <p:strVal val="visible"/>
                                      </p:to>
                                    </p:set>
                                    <p:animEffect transition="in" filter="box(in)">
                                      <p:cBhvr>
                                        <p:cTn id="10" dur="500"/>
                                        <p:tgtEl>
                                          <p:spTgt spid="39940">
                                            <p:txEl>
                                              <p:pRg st="2" end="2"/>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39940">
                                            <p:txEl>
                                              <p:pRg st="3" end="3"/>
                                            </p:txEl>
                                          </p:spTgt>
                                        </p:tgtEl>
                                        <p:attrNameLst>
                                          <p:attrName>style.visibility</p:attrName>
                                        </p:attrNameLst>
                                      </p:cBhvr>
                                      <p:to>
                                        <p:strVal val="visible"/>
                                      </p:to>
                                    </p:set>
                                    <p:animEffect transition="in" filter="box(in)">
                                      <p:cBhvr>
                                        <p:cTn id="13" dur="500"/>
                                        <p:tgtEl>
                                          <p:spTgt spid="39940">
                                            <p:txEl>
                                              <p:pRg st="3" end="3"/>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39940">
                                            <p:txEl>
                                              <p:pRg st="4" end="4"/>
                                            </p:txEl>
                                          </p:spTgt>
                                        </p:tgtEl>
                                        <p:attrNameLst>
                                          <p:attrName>style.visibility</p:attrName>
                                        </p:attrNameLst>
                                      </p:cBhvr>
                                      <p:to>
                                        <p:strVal val="visible"/>
                                      </p:to>
                                    </p:set>
                                    <p:animEffect transition="in" filter="box(in)">
                                      <p:cBhvr>
                                        <p:cTn id="16" dur="500"/>
                                        <p:tgtEl>
                                          <p:spTgt spid="3994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页脚占位符 4">
            <a:extLst>
              <a:ext uri="{FF2B5EF4-FFF2-40B4-BE49-F238E27FC236}">
                <a16:creationId xmlns:a16="http://schemas.microsoft.com/office/drawing/2014/main" id="{49D09302-0B4A-D336-2047-6BC744B957B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52227" name="Rectangle 2">
            <a:extLst>
              <a:ext uri="{FF2B5EF4-FFF2-40B4-BE49-F238E27FC236}">
                <a16:creationId xmlns:a16="http://schemas.microsoft.com/office/drawing/2014/main" id="{13E29E43-2A93-B20A-0316-5B532220171D}"/>
              </a:ext>
            </a:extLst>
          </p:cNvPr>
          <p:cNvSpPr>
            <a:spLocks noGrp="1" noChangeArrowheads="1"/>
          </p:cNvSpPr>
          <p:nvPr>
            <p:ph type="title"/>
          </p:nvPr>
        </p:nvSpPr>
        <p:spPr/>
        <p:txBody>
          <a:bodyPr/>
          <a:lstStyle/>
          <a:p>
            <a:pPr eaLnBrk="1" hangingPunct="1"/>
            <a:r>
              <a:rPr lang="zh-CN" altLang="en-US"/>
              <a:t>处理过程（续）</a:t>
            </a:r>
          </a:p>
        </p:txBody>
      </p:sp>
      <p:sp>
        <p:nvSpPr>
          <p:cNvPr id="52228" name="Rectangle 3">
            <a:extLst>
              <a:ext uri="{FF2B5EF4-FFF2-40B4-BE49-F238E27FC236}">
                <a16:creationId xmlns:a16="http://schemas.microsoft.com/office/drawing/2014/main" id="{EC3DA06D-9CFF-D088-9C80-0B2101264B76}"/>
              </a:ext>
            </a:extLst>
          </p:cNvPr>
          <p:cNvSpPr>
            <a:spLocks noGrp="1" noChangeArrowheads="1"/>
          </p:cNvSpPr>
          <p:nvPr>
            <p:ph type="body" idx="1"/>
          </p:nvPr>
        </p:nvSpPr>
        <p:spPr>
          <a:xfrm>
            <a:off x="0" y="1981200"/>
            <a:ext cx="8839200" cy="4114800"/>
          </a:xfrm>
        </p:spPr>
        <p:txBody>
          <a:bodyPr/>
          <a:lstStyle/>
          <a:p>
            <a:pPr lvl="1" eaLnBrk="1" hangingPunct="1">
              <a:spcBef>
                <a:spcPct val="60000"/>
              </a:spcBef>
            </a:pPr>
            <a:r>
              <a:rPr lang="zh-CN" altLang="en-US"/>
              <a:t>简要说明：主要说明该处理过程的功能及处理要求</a:t>
            </a:r>
          </a:p>
          <a:p>
            <a:pPr lvl="2" eaLnBrk="1" hangingPunct="1">
              <a:spcBef>
                <a:spcPct val="60000"/>
              </a:spcBef>
            </a:pPr>
            <a:r>
              <a:rPr lang="zh-CN" altLang="en-US" sz="2800"/>
              <a:t>功能：该处理过程用来做什么</a:t>
            </a:r>
          </a:p>
          <a:p>
            <a:pPr lvl="2" eaLnBrk="1" hangingPunct="1">
              <a:spcBef>
                <a:spcPct val="60000"/>
              </a:spcBef>
            </a:pPr>
            <a:r>
              <a:rPr lang="zh-CN" altLang="en-US" sz="2800"/>
              <a:t>处理要求：处理频度要求（如单位时间里处理多少事务，多少数据量）；响应时间要求等</a:t>
            </a:r>
          </a:p>
          <a:p>
            <a:pPr lvl="2" eaLnBrk="1" hangingPunct="1">
              <a:spcBef>
                <a:spcPct val="60000"/>
              </a:spcBef>
            </a:pPr>
            <a:r>
              <a:rPr lang="zh-CN" altLang="en-US" sz="2800"/>
              <a:t>处理要求是后面物理设计的输入及性能评价的标准</a:t>
            </a:r>
            <a:endParaRPr lang="zh-CN" altLang="en-US" sz="20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30B2A161-3752-2DE3-D7B3-97BD4C687E39}"/>
              </a:ext>
            </a:extLst>
          </p:cNvPr>
          <p:cNvSpPr>
            <a:spLocks noGrp="1" noChangeArrowheads="1"/>
          </p:cNvSpPr>
          <p:nvPr>
            <p:ph type="title"/>
          </p:nvPr>
        </p:nvSpPr>
        <p:spPr/>
        <p:txBody>
          <a:bodyPr/>
          <a:lstStyle/>
          <a:p>
            <a:pPr eaLnBrk="1" hangingPunct="1"/>
            <a:r>
              <a:rPr lang="zh-CN" altLang="en-US"/>
              <a:t>例子</a:t>
            </a:r>
          </a:p>
        </p:txBody>
      </p:sp>
      <p:sp>
        <p:nvSpPr>
          <p:cNvPr id="53251" name="Rectangle 3">
            <a:extLst>
              <a:ext uri="{FF2B5EF4-FFF2-40B4-BE49-F238E27FC236}">
                <a16:creationId xmlns:a16="http://schemas.microsoft.com/office/drawing/2014/main" id="{03C8C38C-E4AC-3F8D-FB96-8EFDCB58671E}"/>
              </a:ext>
            </a:extLst>
          </p:cNvPr>
          <p:cNvSpPr>
            <a:spLocks noGrp="1" noChangeArrowheads="1"/>
          </p:cNvSpPr>
          <p:nvPr>
            <p:ph type="body" idx="1"/>
          </p:nvPr>
        </p:nvSpPr>
        <p:spPr>
          <a:xfrm>
            <a:off x="228600" y="1981200"/>
            <a:ext cx="8534400" cy="4114800"/>
          </a:xfrm>
        </p:spPr>
        <p:txBody>
          <a:bodyPr/>
          <a:lstStyle/>
          <a:p>
            <a:pPr eaLnBrk="1" hangingPunct="1">
              <a:lnSpc>
                <a:spcPct val="90000"/>
              </a:lnSpc>
              <a:buFont typeface="Wingdings" panose="05000000000000000000" pitchFamily="2" charset="2"/>
              <a:buNone/>
            </a:pPr>
            <a:r>
              <a:rPr lang="zh-CN" altLang="en-US" sz="2800">
                <a:solidFill>
                  <a:srgbClr val="0066FF"/>
                </a:solidFill>
              </a:rPr>
              <a:t>处理过程</a:t>
            </a:r>
            <a:r>
              <a:rPr lang="zh-CN" altLang="en-US" sz="2800">
                <a:latin typeface="Times New Roman" panose="02020603050405020304" pitchFamily="18" charset="0"/>
              </a:rPr>
              <a:t>“</a:t>
            </a:r>
            <a:r>
              <a:rPr lang="zh-CN" altLang="en-US" sz="2800"/>
              <a:t>分配宿舍</a:t>
            </a:r>
            <a:r>
              <a:rPr lang="zh-CN" altLang="en-US" sz="2800">
                <a:latin typeface="Times New Roman" panose="02020603050405020304" pitchFamily="18" charset="0"/>
              </a:rPr>
              <a:t>”</a:t>
            </a:r>
            <a:r>
              <a:rPr lang="zh-CN" altLang="en-US" sz="2800"/>
              <a:t>可如下描述：</a:t>
            </a:r>
          </a:p>
          <a:p>
            <a:pPr eaLnBrk="1" hangingPunct="1">
              <a:lnSpc>
                <a:spcPct val="90000"/>
              </a:lnSpc>
              <a:buFont typeface="Wingdings" panose="05000000000000000000" pitchFamily="2" charset="2"/>
              <a:buNone/>
            </a:pPr>
            <a:r>
              <a:rPr lang="zh-CN" altLang="en-US" sz="2800"/>
              <a:t>　处理过程：分配宿舍</a:t>
            </a:r>
          </a:p>
          <a:p>
            <a:pPr eaLnBrk="1" hangingPunct="1">
              <a:lnSpc>
                <a:spcPct val="90000"/>
              </a:lnSpc>
              <a:buFont typeface="Wingdings" panose="05000000000000000000" pitchFamily="2" charset="2"/>
              <a:buNone/>
            </a:pPr>
            <a:r>
              <a:rPr lang="zh-CN" altLang="en-US" sz="2800"/>
              <a:t>　说明：　　为所有新生分配学生宿舍</a:t>
            </a:r>
          </a:p>
          <a:p>
            <a:pPr eaLnBrk="1" hangingPunct="1">
              <a:lnSpc>
                <a:spcPct val="90000"/>
              </a:lnSpc>
              <a:buFont typeface="Wingdings" panose="05000000000000000000" pitchFamily="2" charset="2"/>
              <a:buNone/>
            </a:pPr>
            <a:r>
              <a:rPr lang="zh-CN" altLang="en-US" sz="2800"/>
              <a:t>　输入：　　学生，宿舍，</a:t>
            </a:r>
          </a:p>
          <a:p>
            <a:pPr eaLnBrk="1" hangingPunct="1">
              <a:lnSpc>
                <a:spcPct val="90000"/>
              </a:lnSpc>
              <a:buFont typeface="Wingdings" panose="05000000000000000000" pitchFamily="2" charset="2"/>
              <a:buNone/>
            </a:pPr>
            <a:r>
              <a:rPr lang="zh-CN" altLang="en-US" sz="2800"/>
              <a:t>　输出：　　宿舍安排</a:t>
            </a:r>
          </a:p>
          <a:p>
            <a:pPr eaLnBrk="1" hangingPunct="1">
              <a:lnSpc>
                <a:spcPct val="70000"/>
              </a:lnSpc>
              <a:buFont typeface="Wingdings" panose="05000000000000000000" pitchFamily="2" charset="2"/>
              <a:buNone/>
            </a:pPr>
            <a:r>
              <a:rPr lang="zh-CN" altLang="en-US" sz="2800"/>
              <a:t>　处理：　　在新生报到后，为所有新生分配学</a:t>
            </a:r>
          </a:p>
          <a:p>
            <a:pPr eaLnBrk="1" hangingPunct="1">
              <a:lnSpc>
                <a:spcPct val="70000"/>
              </a:lnSpc>
              <a:buFont typeface="Wingdings" panose="05000000000000000000" pitchFamily="2" charset="2"/>
              <a:buNone/>
            </a:pPr>
            <a:r>
              <a:rPr lang="zh-CN" altLang="en-US" sz="2800"/>
              <a:t>                        生宿舍。要求同一间宿舍只能安排</a:t>
            </a:r>
          </a:p>
          <a:p>
            <a:pPr eaLnBrk="1" hangingPunct="1">
              <a:lnSpc>
                <a:spcPct val="70000"/>
              </a:lnSpc>
              <a:buFont typeface="Wingdings" panose="05000000000000000000" pitchFamily="2" charset="2"/>
              <a:buNone/>
            </a:pPr>
            <a:r>
              <a:rPr lang="zh-CN" altLang="en-US" sz="2800"/>
              <a:t>                        同一性别的学生，同一个学生只能</a:t>
            </a:r>
          </a:p>
          <a:p>
            <a:pPr eaLnBrk="1" hangingPunct="1">
              <a:lnSpc>
                <a:spcPct val="70000"/>
              </a:lnSpc>
              <a:buFont typeface="Wingdings" panose="05000000000000000000" pitchFamily="2" charset="2"/>
              <a:buNone/>
            </a:pPr>
            <a:r>
              <a:rPr lang="zh-CN" altLang="en-US" sz="2800"/>
              <a:t>                        安排在一个宿舍中。每个学生的居 </a:t>
            </a:r>
          </a:p>
          <a:p>
            <a:pPr eaLnBrk="1" hangingPunct="1">
              <a:lnSpc>
                <a:spcPct val="70000"/>
              </a:lnSpc>
              <a:buFont typeface="Wingdings" panose="05000000000000000000" pitchFamily="2" charset="2"/>
              <a:buNone/>
            </a:pPr>
            <a:r>
              <a:rPr lang="zh-CN" altLang="en-US" sz="2800"/>
              <a:t>                        住面积不小于</a:t>
            </a:r>
            <a:r>
              <a:rPr lang="en-US" altLang="zh-CN" sz="2800"/>
              <a:t>3</a:t>
            </a:r>
            <a:r>
              <a:rPr lang="zh-CN" altLang="en-US" sz="2800"/>
              <a:t>平方米。安排新生</a:t>
            </a:r>
          </a:p>
          <a:p>
            <a:pPr eaLnBrk="1" hangingPunct="1">
              <a:lnSpc>
                <a:spcPct val="70000"/>
              </a:lnSpc>
              <a:buFont typeface="Wingdings" panose="05000000000000000000" pitchFamily="2" charset="2"/>
              <a:buNone/>
            </a:pPr>
            <a:r>
              <a:rPr lang="zh-CN" altLang="en-US" sz="2800"/>
              <a:t>                        宿舍其处理时间应不超过</a:t>
            </a:r>
            <a:r>
              <a:rPr lang="en-US" altLang="zh-CN" sz="2800"/>
              <a:t>15</a:t>
            </a:r>
            <a:r>
              <a:rPr lang="zh-CN" altLang="en-US" sz="2800"/>
              <a:t>分钟。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C731C4E6-DAF0-FD41-1520-2CC620C09B45}"/>
              </a:ext>
            </a:extLst>
          </p:cNvPr>
          <p:cNvSpPr>
            <a:spLocks noGrp="1" noChangeArrowheads="1"/>
          </p:cNvSpPr>
          <p:nvPr>
            <p:ph type="title" idx="4294967295"/>
          </p:nvPr>
        </p:nvSpPr>
        <p:spPr/>
        <p:txBody>
          <a:bodyPr/>
          <a:lstStyle/>
          <a:p>
            <a:r>
              <a:rPr lang="zh-CN" altLang="zh-CN"/>
              <a:t>第七章  数据库设计</a:t>
            </a:r>
          </a:p>
        </p:txBody>
      </p:sp>
      <p:sp>
        <p:nvSpPr>
          <p:cNvPr id="54275" name="Rectangle 3">
            <a:extLst>
              <a:ext uri="{FF2B5EF4-FFF2-40B4-BE49-F238E27FC236}">
                <a16:creationId xmlns:a16="http://schemas.microsoft.com/office/drawing/2014/main" id="{7508891E-DCF5-A5A7-00D6-280948E1A248}"/>
              </a:ext>
            </a:extLst>
          </p:cNvPr>
          <p:cNvSpPr>
            <a:spLocks noGrp="1" noChangeArrowheads="1"/>
          </p:cNvSpPr>
          <p:nvPr>
            <p:ph idx="4294967295"/>
          </p:nvPr>
        </p:nvSpPr>
        <p:spPr>
          <a:xfrm>
            <a:off x="539750" y="1844675"/>
            <a:ext cx="8229600" cy="4303713"/>
          </a:xfrm>
        </p:spPr>
        <p:txBody>
          <a:bodyPr/>
          <a:lstStyle/>
          <a:p>
            <a:pPr>
              <a:lnSpc>
                <a:spcPct val="150000"/>
              </a:lnSpc>
              <a:buFont typeface="Wingdings" panose="05000000000000000000" pitchFamily="2" charset="2"/>
              <a:buNone/>
            </a:pPr>
            <a:r>
              <a:rPr lang="en-US" altLang="zh-CN" sz="2800"/>
              <a:t>7.1  </a:t>
            </a:r>
            <a:r>
              <a:rPr lang="zh-CN" altLang="en-US" sz="2800"/>
              <a:t>数据库设计概述</a:t>
            </a:r>
          </a:p>
          <a:p>
            <a:pPr>
              <a:lnSpc>
                <a:spcPct val="150000"/>
              </a:lnSpc>
              <a:buFont typeface="Wingdings" panose="05000000000000000000" pitchFamily="2" charset="2"/>
              <a:buNone/>
            </a:pPr>
            <a:r>
              <a:rPr lang="en-US" altLang="zh-CN" sz="2800"/>
              <a:t>7.2  </a:t>
            </a:r>
            <a:r>
              <a:rPr lang="zh-CN" altLang="en-US" sz="2800"/>
              <a:t>需求分析</a:t>
            </a:r>
          </a:p>
          <a:p>
            <a:pPr>
              <a:lnSpc>
                <a:spcPct val="150000"/>
              </a:lnSpc>
              <a:buFont typeface="Wingdings" panose="05000000000000000000" pitchFamily="2" charset="2"/>
              <a:buNone/>
            </a:pPr>
            <a:r>
              <a:rPr lang="en-US" altLang="zh-CN" sz="2800">
                <a:solidFill>
                  <a:srgbClr val="FF0000"/>
                </a:solidFill>
              </a:rPr>
              <a:t>7.3  </a:t>
            </a:r>
            <a:r>
              <a:rPr lang="zh-CN" altLang="en-US" sz="2800">
                <a:solidFill>
                  <a:srgbClr val="FF0000"/>
                </a:solidFill>
              </a:rPr>
              <a:t>概念结构设计</a:t>
            </a:r>
          </a:p>
          <a:p>
            <a:pPr>
              <a:lnSpc>
                <a:spcPct val="150000"/>
              </a:lnSpc>
              <a:buFont typeface="Wingdings" panose="05000000000000000000" pitchFamily="2" charset="2"/>
              <a:buNone/>
            </a:pPr>
            <a:r>
              <a:rPr lang="en-US" altLang="zh-CN" sz="2800"/>
              <a:t>7.4  </a:t>
            </a:r>
            <a:r>
              <a:rPr lang="zh-CN" altLang="en-US" sz="2800"/>
              <a:t>逻辑结构设计</a:t>
            </a:r>
            <a:endParaRPr lang="en-US" altLang="zh-CN" sz="2800"/>
          </a:p>
          <a:p>
            <a:pPr>
              <a:lnSpc>
                <a:spcPct val="150000"/>
              </a:lnSpc>
              <a:buFont typeface="Wingdings" panose="05000000000000000000" pitchFamily="2" charset="2"/>
              <a:buNone/>
            </a:pPr>
            <a:r>
              <a:rPr lang="en-US" altLang="zh-CN" sz="2800"/>
              <a:t>7.5  </a:t>
            </a:r>
            <a:r>
              <a:rPr lang="zh-CN" altLang="en-US" sz="2800"/>
              <a:t>物理结构设计</a:t>
            </a:r>
            <a:endParaRPr lang="en-US" altLang="zh-CN" sz="2800"/>
          </a:p>
          <a:p>
            <a:pPr>
              <a:lnSpc>
                <a:spcPct val="150000"/>
              </a:lnSpc>
              <a:buFont typeface="Wingdings" panose="05000000000000000000" pitchFamily="2" charset="2"/>
              <a:buNone/>
            </a:pPr>
            <a:r>
              <a:rPr lang="en-US" altLang="zh-CN" sz="2800"/>
              <a:t>7.6  </a:t>
            </a:r>
            <a:r>
              <a:rPr lang="zh-CN" altLang="en-US" sz="2800"/>
              <a:t>数据库的实施和维护</a:t>
            </a:r>
          </a:p>
          <a:p>
            <a:pPr>
              <a:lnSpc>
                <a:spcPct val="150000"/>
              </a:lnSpc>
              <a:buFont typeface="Wingdings" panose="05000000000000000000" pitchFamily="2" charset="2"/>
              <a:buNone/>
            </a:pPr>
            <a:r>
              <a:rPr lang="en-US" altLang="zh-CN" sz="2800"/>
              <a:t>7.7  </a:t>
            </a:r>
            <a:r>
              <a:rPr lang="zh-CN" altLang="en-US" sz="2800"/>
              <a:t>小结</a:t>
            </a: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4C43196B-29C8-FAF9-9BC5-E20588053406}"/>
              </a:ext>
            </a:extLst>
          </p:cNvPr>
          <p:cNvSpPr>
            <a:spLocks noGrp="1" noChangeArrowheads="1"/>
          </p:cNvSpPr>
          <p:nvPr>
            <p:ph type="title" idx="4294967295"/>
          </p:nvPr>
        </p:nvSpPr>
        <p:spPr/>
        <p:txBody>
          <a:bodyPr/>
          <a:lstStyle/>
          <a:p>
            <a:r>
              <a:rPr lang="en-US" altLang="zh-CN"/>
              <a:t>7.3.1 </a:t>
            </a:r>
            <a:r>
              <a:rPr lang="zh-CN" altLang="en-US"/>
              <a:t>概念模型</a:t>
            </a:r>
          </a:p>
        </p:txBody>
      </p:sp>
      <p:sp>
        <p:nvSpPr>
          <p:cNvPr id="52227" name="Rectangle 3">
            <a:extLst>
              <a:ext uri="{FF2B5EF4-FFF2-40B4-BE49-F238E27FC236}">
                <a16:creationId xmlns:a16="http://schemas.microsoft.com/office/drawing/2014/main" id="{B315227A-6372-71E9-CE52-1547FC1A21B8}"/>
              </a:ext>
            </a:extLst>
          </p:cNvPr>
          <p:cNvSpPr>
            <a:spLocks noGrp="1" noChangeArrowheads="1"/>
          </p:cNvSpPr>
          <p:nvPr>
            <p:ph idx="4294967295"/>
          </p:nvPr>
        </p:nvSpPr>
        <p:spPr>
          <a:xfrm>
            <a:off x="241300" y="1844675"/>
            <a:ext cx="8651875" cy="4159250"/>
          </a:xfrm>
        </p:spPr>
        <p:txBody>
          <a:bodyPr/>
          <a:lstStyle/>
          <a:p>
            <a:pPr>
              <a:lnSpc>
                <a:spcPct val="110000"/>
              </a:lnSpc>
              <a:spcBef>
                <a:spcPct val="0"/>
              </a:spcBef>
            </a:pPr>
            <a:r>
              <a:rPr lang="zh-CN" altLang="en-US" sz="2800"/>
              <a:t>将需求分析得到的用户需求抽象为信息结构（即概念模型）的过程就是概念结构设计</a:t>
            </a:r>
            <a:endParaRPr lang="en-US" altLang="zh-CN" sz="2800"/>
          </a:p>
          <a:p>
            <a:pPr>
              <a:lnSpc>
                <a:spcPct val="110000"/>
              </a:lnSpc>
              <a:spcBef>
                <a:spcPct val="0"/>
              </a:spcBef>
            </a:pPr>
            <a:endParaRPr lang="en-US" altLang="zh-CN" sz="2800"/>
          </a:p>
          <a:p>
            <a:pPr>
              <a:lnSpc>
                <a:spcPct val="110000"/>
              </a:lnSpc>
              <a:spcBef>
                <a:spcPct val="0"/>
              </a:spcBef>
            </a:pPr>
            <a:r>
              <a:rPr lang="zh-CN" altLang="en-US" sz="2800"/>
              <a:t>概念模型的特点</a:t>
            </a:r>
            <a:endParaRPr lang="en-US" altLang="zh-CN" sz="2800"/>
          </a:p>
          <a:p>
            <a:pPr lvl="1">
              <a:lnSpc>
                <a:spcPct val="110000"/>
              </a:lnSpc>
              <a:spcBef>
                <a:spcPct val="0"/>
              </a:spcBef>
              <a:buFont typeface="Wingdings" panose="05000000000000000000" pitchFamily="2" charset="2"/>
              <a:buNone/>
            </a:pPr>
            <a:r>
              <a:rPr lang="zh-CN" altLang="en-US" sz="2000"/>
              <a:t>（</a:t>
            </a:r>
            <a:r>
              <a:rPr lang="en-US" altLang="zh-CN" sz="2000"/>
              <a:t>1</a:t>
            </a:r>
            <a:r>
              <a:rPr lang="zh-CN" altLang="en-US" sz="2000"/>
              <a:t>）能真实、充分地反映现实世界，是现实世界的一个真实模型。</a:t>
            </a:r>
          </a:p>
          <a:p>
            <a:pPr lvl="1">
              <a:lnSpc>
                <a:spcPct val="110000"/>
              </a:lnSpc>
              <a:spcBef>
                <a:spcPct val="0"/>
              </a:spcBef>
              <a:buFont typeface="Wingdings" panose="05000000000000000000" pitchFamily="2" charset="2"/>
              <a:buNone/>
            </a:pPr>
            <a:r>
              <a:rPr lang="zh-CN" altLang="en-US" sz="2000"/>
              <a:t>（</a:t>
            </a:r>
            <a:r>
              <a:rPr lang="en-US" altLang="zh-CN" sz="2000"/>
              <a:t>2</a:t>
            </a:r>
            <a:r>
              <a:rPr lang="zh-CN" altLang="en-US" sz="2000"/>
              <a:t>）易于理解，从而可以用它和不熟悉计算机的用户交换意见。</a:t>
            </a:r>
          </a:p>
          <a:p>
            <a:pPr lvl="1">
              <a:lnSpc>
                <a:spcPct val="110000"/>
              </a:lnSpc>
              <a:spcBef>
                <a:spcPct val="0"/>
              </a:spcBef>
              <a:buFont typeface="Wingdings" panose="05000000000000000000" pitchFamily="2" charset="2"/>
              <a:buNone/>
            </a:pPr>
            <a:r>
              <a:rPr lang="zh-CN" altLang="en-US" sz="2000"/>
              <a:t>（</a:t>
            </a:r>
            <a:r>
              <a:rPr lang="en-US" altLang="zh-CN" sz="2000"/>
              <a:t>3</a:t>
            </a:r>
            <a:r>
              <a:rPr lang="zh-CN" altLang="en-US" sz="2000"/>
              <a:t>）易于更改，当应用环境和应用要求改变时，容易对概念模型修改和扩充。</a:t>
            </a:r>
          </a:p>
          <a:p>
            <a:pPr lvl="1">
              <a:lnSpc>
                <a:spcPct val="110000"/>
              </a:lnSpc>
              <a:spcBef>
                <a:spcPct val="0"/>
              </a:spcBef>
              <a:buFont typeface="Wingdings" panose="05000000000000000000" pitchFamily="2" charset="2"/>
              <a:buNone/>
            </a:pPr>
            <a:r>
              <a:rPr lang="zh-CN" altLang="en-US" sz="2000"/>
              <a:t>（</a:t>
            </a:r>
            <a:r>
              <a:rPr lang="en-US" altLang="zh-CN" sz="2000"/>
              <a:t>4</a:t>
            </a:r>
            <a:r>
              <a:rPr lang="zh-CN" altLang="en-US" sz="2000"/>
              <a:t>）易于向关系、网状、层次等各种数据模型转换</a:t>
            </a:r>
          </a:p>
          <a:p>
            <a:pPr>
              <a:lnSpc>
                <a:spcPct val="110000"/>
              </a:lnSpc>
              <a:spcBef>
                <a:spcPct val="0"/>
              </a:spcBef>
            </a:pPr>
            <a:r>
              <a:rPr lang="zh-CN" altLang="en-US" sz="2800"/>
              <a:t>描述概念模型的工具</a:t>
            </a:r>
          </a:p>
          <a:p>
            <a:pPr lvl="1">
              <a:lnSpc>
                <a:spcPct val="110000"/>
              </a:lnSpc>
              <a:spcBef>
                <a:spcPct val="0"/>
              </a:spcBef>
            </a:pPr>
            <a:r>
              <a:rPr lang="en-US" altLang="zh-CN" sz="2400"/>
              <a:t>E-R</a:t>
            </a:r>
            <a:r>
              <a:rPr lang="zh-CN" altLang="en-US" sz="2400"/>
              <a:t>模型</a:t>
            </a:r>
            <a:endParaRPr lang="en-US" altLang="zh-CN" sz="24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52227">
                                            <p:txEl>
                                              <p:pRg st="2" end="2"/>
                                            </p:txEl>
                                          </p:spTgt>
                                        </p:tgtEl>
                                        <p:attrNameLst>
                                          <p:attrName>style.visibility</p:attrName>
                                        </p:attrNameLst>
                                      </p:cBhvr>
                                      <p:to>
                                        <p:strVal val="visible"/>
                                      </p:to>
                                    </p:set>
                                    <p:animEffect transition="in" filter="fade">
                                      <p:cBhvr>
                                        <p:cTn id="7" dur="1000"/>
                                        <p:tgtEl>
                                          <p:spTgt spid="52227">
                                            <p:txEl>
                                              <p:pRg st="2" end="2"/>
                                            </p:txEl>
                                          </p:spTgt>
                                        </p:tgtEl>
                                      </p:cBhvr>
                                    </p:animEffect>
                                    <p:anim calcmode="lin" valueType="num">
                                      <p:cBhvr>
                                        <p:cTn id="8" dur="1000" fill="hold"/>
                                        <p:tgtEl>
                                          <p:spTgt spid="52227">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2227">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2227">
                                            <p:txEl>
                                              <p:pRg st="3" end="3"/>
                                            </p:txEl>
                                          </p:spTgt>
                                        </p:tgtEl>
                                        <p:attrNameLst>
                                          <p:attrName>style.visibility</p:attrName>
                                        </p:attrNameLst>
                                      </p:cBhvr>
                                      <p:to>
                                        <p:strVal val="visible"/>
                                      </p:to>
                                    </p:set>
                                    <p:animEffect transition="in" filter="fade">
                                      <p:cBhvr>
                                        <p:cTn id="12" dur="1000"/>
                                        <p:tgtEl>
                                          <p:spTgt spid="52227">
                                            <p:txEl>
                                              <p:pRg st="3" end="3"/>
                                            </p:txEl>
                                          </p:spTgt>
                                        </p:tgtEl>
                                      </p:cBhvr>
                                    </p:animEffect>
                                    <p:anim calcmode="lin" valueType="num">
                                      <p:cBhvr>
                                        <p:cTn id="13" dur="1000" fill="hold"/>
                                        <p:tgtEl>
                                          <p:spTgt spid="52227">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2227">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2227">
                                            <p:txEl>
                                              <p:pRg st="4" end="4"/>
                                            </p:txEl>
                                          </p:spTgt>
                                        </p:tgtEl>
                                        <p:attrNameLst>
                                          <p:attrName>style.visibility</p:attrName>
                                        </p:attrNameLst>
                                      </p:cBhvr>
                                      <p:to>
                                        <p:strVal val="visible"/>
                                      </p:to>
                                    </p:set>
                                    <p:animEffect transition="in" filter="fade">
                                      <p:cBhvr>
                                        <p:cTn id="17" dur="1000"/>
                                        <p:tgtEl>
                                          <p:spTgt spid="52227">
                                            <p:txEl>
                                              <p:pRg st="4" end="4"/>
                                            </p:txEl>
                                          </p:spTgt>
                                        </p:tgtEl>
                                      </p:cBhvr>
                                    </p:animEffect>
                                    <p:anim calcmode="lin" valueType="num">
                                      <p:cBhvr>
                                        <p:cTn id="18" dur="1000" fill="hold"/>
                                        <p:tgtEl>
                                          <p:spTgt spid="52227">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52227">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2227">
                                            <p:txEl>
                                              <p:pRg st="5" end="5"/>
                                            </p:txEl>
                                          </p:spTgt>
                                        </p:tgtEl>
                                        <p:attrNameLst>
                                          <p:attrName>style.visibility</p:attrName>
                                        </p:attrNameLst>
                                      </p:cBhvr>
                                      <p:to>
                                        <p:strVal val="visible"/>
                                      </p:to>
                                    </p:set>
                                    <p:animEffect transition="in" filter="fade">
                                      <p:cBhvr>
                                        <p:cTn id="22" dur="1000"/>
                                        <p:tgtEl>
                                          <p:spTgt spid="52227">
                                            <p:txEl>
                                              <p:pRg st="5" end="5"/>
                                            </p:txEl>
                                          </p:spTgt>
                                        </p:tgtEl>
                                      </p:cBhvr>
                                    </p:animEffect>
                                    <p:anim calcmode="lin" valueType="num">
                                      <p:cBhvr>
                                        <p:cTn id="23" dur="1000" fill="hold"/>
                                        <p:tgtEl>
                                          <p:spTgt spid="52227">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52227">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52227">
                                            <p:txEl>
                                              <p:pRg st="6" end="6"/>
                                            </p:txEl>
                                          </p:spTgt>
                                        </p:tgtEl>
                                        <p:attrNameLst>
                                          <p:attrName>style.visibility</p:attrName>
                                        </p:attrNameLst>
                                      </p:cBhvr>
                                      <p:to>
                                        <p:strVal val="visible"/>
                                      </p:to>
                                    </p:set>
                                    <p:animEffect transition="in" filter="fade">
                                      <p:cBhvr>
                                        <p:cTn id="27" dur="1000"/>
                                        <p:tgtEl>
                                          <p:spTgt spid="52227">
                                            <p:txEl>
                                              <p:pRg st="6" end="6"/>
                                            </p:txEl>
                                          </p:spTgt>
                                        </p:tgtEl>
                                      </p:cBhvr>
                                    </p:animEffect>
                                    <p:anim calcmode="lin" valueType="num">
                                      <p:cBhvr>
                                        <p:cTn id="28" dur="1000" fill="hold"/>
                                        <p:tgtEl>
                                          <p:spTgt spid="52227">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5222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42" presetClass="entr" presetSubtype="0" fill="hold" nodeType="clickEffect">
                                  <p:stCondLst>
                                    <p:cond delay="0"/>
                                  </p:stCondLst>
                                  <p:childTnLst>
                                    <p:set>
                                      <p:cBhvr>
                                        <p:cTn id="33" dur="1" fill="hold">
                                          <p:stCondLst>
                                            <p:cond delay="0"/>
                                          </p:stCondLst>
                                        </p:cTn>
                                        <p:tgtEl>
                                          <p:spTgt spid="52227">
                                            <p:txEl>
                                              <p:pRg st="7" end="7"/>
                                            </p:txEl>
                                          </p:spTgt>
                                        </p:tgtEl>
                                        <p:attrNameLst>
                                          <p:attrName>style.visibility</p:attrName>
                                        </p:attrNameLst>
                                      </p:cBhvr>
                                      <p:to>
                                        <p:strVal val="visible"/>
                                      </p:to>
                                    </p:set>
                                    <p:animEffect transition="in" filter="fade">
                                      <p:cBhvr>
                                        <p:cTn id="34" dur="1000"/>
                                        <p:tgtEl>
                                          <p:spTgt spid="52227">
                                            <p:txEl>
                                              <p:pRg st="7" end="7"/>
                                            </p:txEl>
                                          </p:spTgt>
                                        </p:tgtEl>
                                      </p:cBhvr>
                                    </p:animEffect>
                                    <p:anim calcmode="lin" valueType="num">
                                      <p:cBhvr>
                                        <p:cTn id="35" dur="1000" fill="hold"/>
                                        <p:tgtEl>
                                          <p:spTgt spid="52227">
                                            <p:txEl>
                                              <p:pRg st="7" end="7"/>
                                            </p:txEl>
                                          </p:spTgt>
                                        </p:tgtEl>
                                        <p:attrNameLst>
                                          <p:attrName>ppt_x</p:attrName>
                                        </p:attrNameLst>
                                      </p:cBhvr>
                                      <p:tavLst>
                                        <p:tav tm="0">
                                          <p:val>
                                            <p:strVal val="#ppt_x"/>
                                          </p:val>
                                        </p:tav>
                                        <p:tav tm="100000">
                                          <p:val>
                                            <p:strVal val="#ppt_x"/>
                                          </p:val>
                                        </p:tav>
                                      </p:tavLst>
                                    </p:anim>
                                    <p:anim calcmode="lin" valueType="num">
                                      <p:cBhvr>
                                        <p:cTn id="36" dur="1000" fill="hold"/>
                                        <p:tgtEl>
                                          <p:spTgt spid="52227">
                                            <p:txEl>
                                              <p:pRg st="7" end="7"/>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52227">
                                            <p:txEl>
                                              <p:pRg st="8" end="8"/>
                                            </p:txEl>
                                          </p:spTgt>
                                        </p:tgtEl>
                                        <p:attrNameLst>
                                          <p:attrName>style.visibility</p:attrName>
                                        </p:attrNameLst>
                                      </p:cBhvr>
                                      <p:to>
                                        <p:strVal val="visible"/>
                                      </p:to>
                                    </p:set>
                                    <p:animEffect transition="in" filter="fade">
                                      <p:cBhvr>
                                        <p:cTn id="39" dur="1000"/>
                                        <p:tgtEl>
                                          <p:spTgt spid="52227">
                                            <p:txEl>
                                              <p:pRg st="8" end="8"/>
                                            </p:txEl>
                                          </p:spTgt>
                                        </p:tgtEl>
                                      </p:cBhvr>
                                    </p:animEffect>
                                    <p:anim calcmode="lin" valueType="num">
                                      <p:cBhvr>
                                        <p:cTn id="40" dur="1000" fill="hold"/>
                                        <p:tgtEl>
                                          <p:spTgt spid="52227">
                                            <p:txEl>
                                              <p:pRg st="8" end="8"/>
                                            </p:txEl>
                                          </p:spTgt>
                                        </p:tgtEl>
                                        <p:attrNameLst>
                                          <p:attrName>ppt_x</p:attrName>
                                        </p:attrNameLst>
                                      </p:cBhvr>
                                      <p:tavLst>
                                        <p:tav tm="0">
                                          <p:val>
                                            <p:strVal val="#ppt_x"/>
                                          </p:val>
                                        </p:tav>
                                        <p:tav tm="100000">
                                          <p:val>
                                            <p:strVal val="#ppt_x"/>
                                          </p:val>
                                        </p:tav>
                                      </p:tavLst>
                                    </p:anim>
                                    <p:anim calcmode="lin" valueType="num">
                                      <p:cBhvr>
                                        <p:cTn id="41" dur="1000" fill="hold"/>
                                        <p:tgtEl>
                                          <p:spTgt spid="5222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a:extLst>
              <a:ext uri="{FF2B5EF4-FFF2-40B4-BE49-F238E27FC236}">
                <a16:creationId xmlns:a16="http://schemas.microsoft.com/office/drawing/2014/main" id="{2607933B-F786-5D00-5262-C012BCFA9AC5}"/>
              </a:ext>
            </a:extLst>
          </p:cNvPr>
          <p:cNvSpPr>
            <a:spLocks noGrp="1" noChangeArrowheads="1"/>
          </p:cNvSpPr>
          <p:nvPr>
            <p:ph type="body" idx="1"/>
          </p:nvPr>
        </p:nvSpPr>
        <p:spPr>
          <a:xfrm>
            <a:off x="684213" y="2017713"/>
            <a:ext cx="7772400" cy="4114800"/>
          </a:xfrm>
        </p:spPr>
        <p:txBody>
          <a:bodyPr/>
          <a:lstStyle/>
          <a:p>
            <a:pPr eaLnBrk="1" hangingPunct="1">
              <a:buFont typeface="Wingdings" panose="05000000000000000000" pitchFamily="2" charset="2"/>
              <a:buNone/>
            </a:pPr>
            <a:r>
              <a:rPr lang="zh-CN" altLang="en-US"/>
              <a:t>概念结构设计的方法与步骤</a:t>
            </a:r>
          </a:p>
          <a:p>
            <a:pPr eaLnBrk="1" hangingPunct="1">
              <a:buFont typeface="Wingdings" panose="05000000000000000000" pitchFamily="2" charset="2"/>
              <a:buNone/>
            </a:pPr>
            <a:r>
              <a:rPr lang="zh-CN" altLang="en-US"/>
              <a:t>			自顶向下</a:t>
            </a:r>
          </a:p>
          <a:p>
            <a:pPr eaLnBrk="1" hangingPunct="1">
              <a:buFont typeface="Wingdings" panose="05000000000000000000" pitchFamily="2" charset="2"/>
              <a:buNone/>
            </a:pPr>
            <a:r>
              <a:rPr lang="zh-CN" altLang="en-US"/>
              <a:t>			</a:t>
            </a:r>
            <a:r>
              <a:rPr lang="zh-CN" altLang="en-US">
                <a:solidFill>
                  <a:srgbClr val="FF0000"/>
                </a:solidFill>
              </a:rPr>
              <a:t>自底向上</a:t>
            </a:r>
          </a:p>
          <a:p>
            <a:pPr eaLnBrk="1" hangingPunct="1">
              <a:buFont typeface="Wingdings" panose="05000000000000000000" pitchFamily="2" charset="2"/>
              <a:buNone/>
            </a:pPr>
            <a:r>
              <a:rPr lang="zh-CN" altLang="en-US"/>
              <a:t>			逐步扩张</a:t>
            </a:r>
          </a:p>
          <a:p>
            <a:pPr eaLnBrk="1" hangingPunct="1">
              <a:buFont typeface="Wingdings" panose="05000000000000000000" pitchFamily="2" charset="2"/>
              <a:buNone/>
            </a:pPr>
            <a:r>
              <a:rPr lang="zh-CN" altLang="en-US"/>
              <a:t>			混合策略</a:t>
            </a:r>
          </a:p>
          <a:p>
            <a:pPr eaLnBrk="1" hangingPunct="1">
              <a:buFont typeface="Wingdings" panose="05000000000000000000" pitchFamily="2" charset="2"/>
              <a:buNone/>
            </a:pPr>
            <a:r>
              <a:rPr lang="zh-CN" altLang="en-US"/>
              <a:t>		</a:t>
            </a:r>
            <a:r>
              <a:rPr lang="zh-CN" altLang="en-US">
                <a:solidFill>
                  <a:srgbClr val="FF0000"/>
                </a:solidFill>
              </a:rPr>
              <a:t>抽象数据并设计局部视图</a:t>
            </a:r>
          </a:p>
          <a:p>
            <a:pPr eaLnBrk="1" hangingPunct="1">
              <a:buFont typeface="Wingdings" panose="05000000000000000000" pitchFamily="2" charset="2"/>
              <a:buNone/>
            </a:pPr>
            <a:r>
              <a:rPr lang="zh-CN" altLang="en-US">
                <a:solidFill>
                  <a:srgbClr val="FF0000"/>
                </a:solidFill>
              </a:rPr>
              <a:t>		集成局部视图</a:t>
            </a:r>
          </a:p>
          <a:p>
            <a:pPr eaLnBrk="1" hangingPunct="1">
              <a:buFont typeface="Wingdings" panose="05000000000000000000" pitchFamily="2" charset="2"/>
              <a:buNone/>
            </a:pPr>
            <a:r>
              <a:rPr lang="zh-CN" altLang="en-US"/>
              <a:t>数据抽象和局部视图设计</a:t>
            </a:r>
          </a:p>
        </p:txBody>
      </p:sp>
      <p:sp>
        <p:nvSpPr>
          <p:cNvPr id="56323" name="Rectangle 3">
            <a:extLst>
              <a:ext uri="{FF2B5EF4-FFF2-40B4-BE49-F238E27FC236}">
                <a16:creationId xmlns:a16="http://schemas.microsoft.com/office/drawing/2014/main" id="{762615AC-9C2C-477C-B8ED-7B7C92CF90A7}"/>
              </a:ext>
            </a:extLst>
          </p:cNvPr>
          <p:cNvSpPr>
            <a:spLocks noGrp="1" noChangeArrowheads="1"/>
          </p:cNvSpPr>
          <p:nvPr>
            <p:ph type="title"/>
          </p:nvPr>
        </p:nvSpPr>
        <p:spPr>
          <a:noFill/>
        </p:spPr>
        <p:txBody>
          <a:bodyPr/>
          <a:lstStyle/>
          <a:p>
            <a:pPr eaLnBrk="1" hangingPunct="1"/>
            <a:r>
              <a:rPr lang="en-US" altLang="zh-CN"/>
              <a:t>7.3  </a:t>
            </a:r>
            <a:r>
              <a:rPr lang="zh-CN" altLang="en-US"/>
              <a:t>概念结构设计</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animEffect transition="in" filter="box(in)">
                                      <p:cBhvr>
                                        <p:cTn id="7" dur="500"/>
                                        <p:tgtEl>
                                          <p:spTgt spid="4710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7107">
                                            <p:txEl>
                                              <p:pRg st="7" end="7"/>
                                            </p:txEl>
                                          </p:spTgt>
                                        </p:tgtEl>
                                        <p:attrNameLst>
                                          <p:attrName>style.visibility</p:attrName>
                                        </p:attrNameLst>
                                      </p:cBhvr>
                                      <p:to>
                                        <p:strVal val="visible"/>
                                      </p:to>
                                    </p:set>
                                    <p:animEffect transition="in" filter="box(in)">
                                      <p:cBhvr>
                                        <p:cTn id="12" dur="500"/>
                                        <p:tgtEl>
                                          <p:spTgt spid="47107">
                                            <p:txEl>
                                              <p:pRg st="7" end="7"/>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7107">
                                            <p:txEl>
                                              <p:pRg st="1" end="1"/>
                                            </p:txEl>
                                          </p:spTgt>
                                        </p:tgtEl>
                                        <p:attrNameLst>
                                          <p:attrName>style.visibility</p:attrName>
                                        </p:attrNameLst>
                                      </p:cBhvr>
                                      <p:to>
                                        <p:strVal val="visible"/>
                                      </p:to>
                                    </p:set>
                                    <p:animEffect transition="in" filter="box(in)">
                                      <p:cBhvr>
                                        <p:cTn id="17" dur="500"/>
                                        <p:tgtEl>
                                          <p:spTgt spid="47107">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47107">
                                            <p:txEl>
                                              <p:pRg st="2" end="2"/>
                                            </p:txEl>
                                          </p:spTgt>
                                        </p:tgtEl>
                                        <p:attrNameLst>
                                          <p:attrName>style.visibility</p:attrName>
                                        </p:attrNameLst>
                                      </p:cBhvr>
                                      <p:to>
                                        <p:strVal val="visible"/>
                                      </p:to>
                                    </p:set>
                                    <p:animEffect transition="in" filter="box(in)">
                                      <p:cBhvr>
                                        <p:cTn id="22" dur="500"/>
                                        <p:tgtEl>
                                          <p:spTgt spid="47107">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47107">
                                            <p:txEl>
                                              <p:pRg st="3" end="3"/>
                                            </p:txEl>
                                          </p:spTgt>
                                        </p:tgtEl>
                                        <p:attrNameLst>
                                          <p:attrName>style.visibility</p:attrName>
                                        </p:attrNameLst>
                                      </p:cBhvr>
                                      <p:to>
                                        <p:strVal val="visible"/>
                                      </p:to>
                                    </p:set>
                                    <p:animEffect transition="in" filter="box(in)">
                                      <p:cBhvr>
                                        <p:cTn id="27" dur="500"/>
                                        <p:tgtEl>
                                          <p:spTgt spid="47107">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47107">
                                            <p:txEl>
                                              <p:pRg st="4" end="4"/>
                                            </p:txEl>
                                          </p:spTgt>
                                        </p:tgtEl>
                                        <p:attrNameLst>
                                          <p:attrName>style.visibility</p:attrName>
                                        </p:attrNameLst>
                                      </p:cBhvr>
                                      <p:to>
                                        <p:strVal val="visible"/>
                                      </p:to>
                                    </p:set>
                                    <p:animEffect transition="in" filter="box(in)">
                                      <p:cBhvr>
                                        <p:cTn id="32" dur="500"/>
                                        <p:tgtEl>
                                          <p:spTgt spid="47107">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47107">
                                            <p:txEl>
                                              <p:pRg st="5" end="5"/>
                                            </p:txEl>
                                          </p:spTgt>
                                        </p:tgtEl>
                                        <p:attrNameLst>
                                          <p:attrName>style.visibility</p:attrName>
                                        </p:attrNameLst>
                                      </p:cBhvr>
                                      <p:to>
                                        <p:strVal val="visible"/>
                                      </p:to>
                                    </p:set>
                                    <p:animEffect transition="in" filter="box(in)">
                                      <p:cBhvr>
                                        <p:cTn id="37" dur="500"/>
                                        <p:tgtEl>
                                          <p:spTgt spid="47107">
                                            <p:txEl>
                                              <p:pRg st="5" end="5"/>
                                            </p:txEl>
                                          </p:spTgt>
                                        </p:tgtEl>
                                      </p:cBhvr>
                                    </p:animEffect>
                                  </p:childTnLst>
                                </p:cTn>
                              </p:par>
                              <p:par>
                                <p:cTn id="38" presetID="4" presetClass="entr" presetSubtype="16" fill="hold" nodeType="withEffect">
                                  <p:stCondLst>
                                    <p:cond delay="0"/>
                                  </p:stCondLst>
                                  <p:childTnLst>
                                    <p:set>
                                      <p:cBhvr>
                                        <p:cTn id="39" dur="1" fill="hold">
                                          <p:stCondLst>
                                            <p:cond delay="0"/>
                                          </p:stCondLst>
                                        </p:cTn>
                                        <p:tgtEl>
                                          <p:spTgt spid="47107">
                                            <p:txEl>
                                              <p:pRg st="6" end="6"/>
                                            </p:txEl>
                                          </p:spTgt>
                                        </p:tgtEl>
                                        <p:attrNameLst>
                                          <p:attrName>style.visibility</p:attrName>
                                        </p:attrNameLst>
                                      </p:cBhvr>
                                      <p:to>
                                        <p:strVal val="visible"/>
                                      </p:to>
                                    </p:set>
                                    <p:animEffect transition="in" filter="box(in)">
                                      <p:cBhvr>
                                        <p:cTn id="40" dur="500"/>
                                        <p:tgtEl>
                                          <p:spTgt spid="4710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页脚占位符 4">
            <a:extLst>
              <a:ext uri="{FF2B5EF4-FFF2-40B4-BE49-F238E27FC236}">
                <a16:creationId xmlns:a16="http://schemas.microsoft.com/office/drawing/2014/main" id="{66295B76-4872-855E-7B78-D92A292CFAF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57347" name="Rectangle 2">
            <a:extLst>
              <a:ext uri="{FF2B5EF4-FFF2-40B4-BE49-F238E27FC236}">
                <a16:creationId xmlns:a16="http://schemas.microsoft.com/office/drawing/2014/main" id="{E6DA4D9C-84EF-31A7-3EA6-566F62039212}"/>
              </a:ext>
            </a:extLst>
          </p:cNvPr>
          <p:cNvSpPr>
            <a:spLocks noGrp="1" noChangeArrowheads="1"/>
          </p:cNvSpPr>
          <p:nvPr>
            <p:ph type="title"/>
          </p:nvPr>
        </p:nvSpPr>
        <p:spPr/>
        <p:txBody>
          <a:bodyPr/>
          <a:lstStyle/>
          <a:p>
            <a:pPr eaLnBrk="1" hangingPunct="1"/>
            <a:r>
              <a:rPr lang="zh-CN" altLang="en-US"/>
              <a:t>局部视图设计</a:t>
            </a:r>
          </a:p>
        </p:txBody>
      </p:sp>
      <p:sp>
        <p:nvSpPr>
          <p:cNvPr id="48132" name="Rectangle 3">
            <a:extLst>
              <a:ext uri="{FF2B5EF4-FFF2-40B4-BE49-F238E27FC236}">
                <a16:creationId xmlns:a16="http://schemas.microsoft.com/office/drawing/2014/main" id="{0A58B372-8723-752C-A958-09419E1F715A}"/>
              </a:ext>
            </a:extLst>
          </p:cNvPr>
          <p:cNvSpPr>
            <a:spLocks noGrp="1" noChangeArrowheads="1"/>
          </p:cNvSpPr>
          <p:nvPr>
            <p:ph type="body" idx="1"/>
          </p:nvPr>
        </p:nvSpPr>
        <p:spPr>
          <a:xfrm>
            <a:off x="468313" y="2017713"/>
            <a:ext cx="7772400" cy="4114800"/>
          </a:xfrm>
        </p:spPr>
        <p:txBody>
          <a:bodyPr/>
          <a:lstStyle/>
          <a:p>
            <a:pPr marL="609600" indent="-609600" eaLnBrk="1" hangingPunct="1">
              <a:buFont typeface="Wingdings" panose="05000000000000000000" pitchFamily="2" charset="2"/>
              <a:buAutoNum type="arabicPeriod"/>
            </a:pPr>
            <a:r>
              <a:rPr lang="zh-CN" altLang="en-US"/>
              <a:t>选择局部应用</a:t>
            </a:r>
          </a:p>
          <a:p>
            <a:pPr marL="609600" indent="-609600" eaLnBrk="1" hangingPunct="1">
              <a:buFont typeface="Wingdings" panose="05000000000000000000" pitchFamily="2" charset="2"/>
              <a:buAutoNum type="arabicPeriod"/>
            </a:pPr>
            <a:r>
              <a:rPr lang="zh-CN" altLang="en-US"/>
              <a:t>逐一设计分</a:t>
            </a:r>
            <a:r>
              <a:rPr lang="en-US" altLang="zh-CN"/>
              <a:t>E-R</a:t>
            </a:r>
            <a:r>
              <a:rPr lang="zh-CN" altLang="en-US"/>
              <a:t>图</a:t>
            </a:r>
          </a:p>
          <a:p>
            <a:pPr marL="990600" lvl="1" indent="-533400" eaLnBrk="1" hangingPunct="1"/>
            <a:r>
              <a:rPr lang="zh-CN" altLang="en-US" sz="2400"/>
              <a:t>属性不能再具有需要描述的性质。</a:t>
            </a:r>
          </a:p>
          <a:p>
            <a:pPr marL="990600" lvl="1" indent="-533400" eaLnBrk="1" hangingPunct="1"/>
            <a:r>
              <a:rPr lang="zh-CN" altLang="en-US" sz="2400"/>
              <a:t>属性不能与其他实体具有联系。</a:t>
            </a:r>
          </a:p>
        </p:txBody>
      </p:sp>
      <p:pic>
        <p:nvPicPr>
          <p:cNvPr id="48133" name="Picture 4" descr="绘图1">
            <a:extLst>
              <a:ext uri="{FF2B5EF4-FFF2-40B4-BE49-F238E27FC236}">
                <a16:creationId xmlns:a16="http://schemas.microsoft.com/office/drawing/2014/main" id="{3BDCA28C-6769-244B-DDEB-F17C2D7EB9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413" y="4365625"/>
            <a:ext cx="4608512" cy="195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8132">
                                            <p:txEl>
                                              <p:pRg st="0" end="0"/>
                                            </p:txEl>
                                          </p:spTgt>
                                        </p:tgtEl>
                                        <p:attrNameLst>
                                          <p:attrName>style.visibility</p:attrName>
                                        </p:attrNameLst>
                                      </p:cBhvr>
                                      <p:to>
                                        <p:strVal val="visible"/>
                                      </p:to>
                                    </p:set>
                                    <p:animEffect transition="in" filter="box(in)">
                                      <p:cBhvr>
                                        <p:cTn id="7" dur="500"/>
                                        <p:tgtEl>
                                          <p:spTgt spid="4813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8132">
                                            <p:txEl>
                                              <p:pRg st="1" end="1"/>
                                            </p:txEl>
                                          </p:spTgt>
                                        </p:tgtEl>
                                        <p:attrNameLst>
                                          <p:attrName>style.visibility</p:attrName>
                                        </p:attrNameLst>
                                      </p:cBhvr>
                                      <p:to>
                                        <p:strVal val="visible"/>
                                      </p:to>
                                    </p:set>
                                    <p:animEffect transition="in" filter="box(in)">
                                      <p:cBhvr>
                                        <p:cTn id="12" dur="500"/>
                                        <p:tgtEl>
                                          <p:spTgt spid="48132">
                                            <p:txEl>
                                              <p:pRg st="1" end="1"/>
                                            </p:txEl>
                                          </p:spTgt>
                                        </p:tgtEl>
                                      </p:cBhvr>
                                    </p:animEffect>
                                  </p:childTnLst>
                                </p:cTn>
                              </p:par>
                              <p:par>
                                <p:cTn id="13" presetID="4" presetClass="entr" presetSubtype="16" fill="hold" nodeType="withEffect">
                                  <p:stCondLst>
                                    <p:cond delay="0"/>
                                  </p:stCondLst>
                                  <p:childTnLst>
                                    <p:set>
                                      <p:cBhvr>
                                        <p:cTn id="14" dur="1" fill="hold">
                                          <p:stCondLst>
                                            <p:cond delay="0"/>
                                          </p:stCondLst>
                                        </p:cTn>
                                        <p:tgtEl>
                                          <p:spTgt spid="48132">
                                            <p:txEl>
                                              <p:pRg st="2" end="2"/>
                                            </p:txEl>
                                          </p:spTgt>
                                        </p:tgtEl>
                                        <p:attrNameLst>
                                          <p:attrName>style.visibility</p:attrName>
                                        </p:attrNameLst>
                                      </p:cBhvr>
                                      <p:to>
                                        <p:strVal val="visible"/>
                                      </p:to>
                                    </p:set>
                                    <p:animEffect transition="in" filter="box(in)">
                                      <p:cBhvr>
                                        <p:cTn id="15" dur="500"/>
                                        <p:tgtEl>
                                          <p:spTgt spid="48132">
                                            <p:txEl>
                                              <p:pRg st="2" end="2"/>
                                            </p:txEl>
                                          </p:spTgt>
                                        </p:tgtEl>
                                      </p:cBhvr>
                                    </p:animEffect>
                                  </p:childTnLst>
                                </p:cTn>
                              </p:par>
                              <p:par>
                                <p:cTn id="16" presetID="4" presetClass="entr" presetSubtype="16" fill="hold" nodeType="withEffect">
                                  <p:stCondLst>
                                    <p:cond delay="0"/>
                                  </p:stCondLst>
                                  <p:childTnLst>
                                    <p:set>
                                      <p:cBhvr>
                                        <p:cTn id="17" dur="1" fill="hold">
                                          <p:stCondLst>
                                            <p:cond delay="0"/>
                                          </p:stCondLst>
                                        </p:cTn>
                                        <p:tgtEl>
                                          <p:spTgt spid="48132">
                                            <p:txEl>
                                              <p:pRg st="3" end="3"/>
                                            </p:txEl>
                                          </p:spTgt>
                                        </p:tgtEl>
                                        <p:attrNameLst>
                                          <p:attrName>style.visibility</p:attrName>
                                        </p:attrNameLst>
                                      </p:cBhvr>
                                      <p:to>
                                        <p:strVal val="visible"/>
                                      </p:to>
                                    </p:set>
                                    <p:animEffect transition="in" filter="box(in)">
                                      <p:cBhvr>
                                        <p:cTn id="18" dur="500"/>
                                        <p:tgtEl>
                                          <p:spTgt spid="48132">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4" presetClass="entr" presetSubtype="16" fill="hold" nodeType="clickEffect">
                                  <p:stCondLst>
                                    <p:cond delay="0"/>
                                  </p:stCondLst>
                                  <p:childTnLst>
                                    <p:set>
                                      <p:cBhvr>
                                        <p:cTn id="22" dur="1" fill="hold">
                                          <p:stCondLst>
                                            <p:cond delay="0"/>
                                          </p:stCondLst>
                                        </p:cTn>
                                        <p:tgtEl>
                                          <p:spTgt spid="48133"/>
                                        </p:tgtEl>
                                        <p:attrNameLst>
                                          <p:attrName>style.visibility</p:attrName>
                                        </p:attrNameLst>
                                      </p:cBhvr>
                                      <p:to>
                                        <p:strVal val="visible"/>
                                      </p:to>
                                    </p:set>
                                    <p:animEffect transition="in" filter="box(in)">
                                      <p:cBhvr>
                                        <p:cTn id="23" dur="500"/>
                                        <p:tgtEl>
                                          <p:spTgt spid="481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8370" name="页脚占位符 4">
            <a:extLst>
              <a:ext uri="{FF2B5EF4-FFF2-40B4-BE49-F238E27FC236}">
                <a16:creationId xmlns:a16="http://schemas.microsoft.com/office/drawing/2014/main" id="{4E96DB20-E240-1923-4457-614BF1FD483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pic>
        <p:nvPicPr>
          <p:cNvPr id="58371" name="Picture 2" descr="绘图3">
            <a:extLst>
              <a:ext uri="{FF2B5EF4-FFF2-40B4-BE49-F238E27FC236}">
                <a16:creationId xmlns:a16="http://schemas.microsoft.com/office/drawing/2014/main" id="{F38FF2CF-B8D6-56DD-CE90-0F4E6B7196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913" y="1557338"/>
            <a:ext cx="6119812" cy="290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页脚占位符 3">
            <a:extLst>
              <a:ext uri="{FF2B5EF4-FFF2-40B4-BE49-F238E27FC236}">
                <a16:creationId xmlns:a16="http://schemas.microsoft.com/office/drawing/2014/main" id="{0B3ABABD-FAF4-2137-3541-61F8B359571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pic>
        <p:nvPicPr>
          <p:cNvPr id="59395" name="Picture 2" descr="E-R2">
            <a:extLst>
              <a:ext uri="{FF2B5EF4-FFF2-40B4-BE49-F238E27FC236}">
                <a16:creationId xmlns:a16="http://schemas.microsoft.com/office/drawing/2014/main" id="{326B4430-236A-C9CD-B701-8658AC967F7F}"/>
              </a:ext>
            </a:extLst>
          </p:cNvPr>
          <p:cNvPicPr>
            <a:picLocks noChangeAspect="1" noChangeArrowheads="1"/>
          </p:cNvPicPr>
          <p:nvPr>
            <p:ph/>
          </p:nvPr>
        </p:nvPicPr>
        <p:blipFill>
          <a:blip r:embed="rId2">
            <a:extLst>
              <a:ext uri="{28A0092B-C50C-407E-A947-70E740481C1C}">
                <a14:useLocalDpi xmlns:a14="http://schemas.microsoft.com/office/drawing/2010/main" val="0"/>
              </a:ext>
            </a:extLst>
          </a:blip>
          <a:srcRect/>
          <a:stretch>
            <a:fillRect/>
          </a:stretch>
        </p:blipFill>
        <p:spPr>
          <a:xfrm>
            <a:off x="250825" y="2205038"/>
            <a:ext cx="8604250" cy="2424112"/>
          </a:xfrm>
          <a:noFill/>
        </p:spPr>
      </p:pic>
      <p:sp>
        <p:nvSpPr>
          <p:cNvPr id="59396" name="Rectangle 3">
            <a:extLst>
              <a:ext uri="{FF2B5EF4-FFF2-40B4-BE49-F238E27FC236}">
                <a16:creationId xmlns:a16="http://schemas.microsoft.com/office/drawing/2014/main" id="{3D5924A0-99B1-7FB6-8BB3-5E948529AC05}"/>
              </a:ext>
            </a:extLst>
          </p:cNvPr>
          <p:cNvSpPr>
            <a:spLocks noChangeArrowheads="1"/>
          </p:cNvSpPr>
          <p:nvPr/>
        </p:nvSpPr>
        <p:spPr bwMode="auto">
          <a:xfrm>
            <a:off x="971550" y="1052513"/>
            <a:ext cx="7416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lvl="1" eaLnBrk="1" hangingPunct="1">
              <a:spcBef>
                <a:spcPct val="0"/>
              </a:spcBef>
              <a:buClrTx/>
              <a:buSzTx/>
              <a:buFontTx/>
              <a:buNone/>
            </a:pPr>
            <a:r>
              <a:rPr lang="zh-CN" altLang="en-US" sz="3600" b="1">
                <a:solidFill>
                  <a:schemeClr val="tx2"/>
                </a:solidFill>
                <a:ea typeface="仿宋_GB2312" panose="02010609030101010101" pitchFamily="49" charset="-122"/>
              </a:rPr>
              <a:t>学籍管理局部应用的分</a:t>
            </a:r>
            <a:r>
              <a:rPr lang="en-US" altLang="zh-CN" sz="3600" b="1">
                <a:solidFill>
                  <a:schemeClr val="tx2"/>
                </a:solidFill>
                <a:ea typeface="仿宋_GB2312" panose="02010609030101010101" pitchFamily="49" charset="-122"/>
              </a:rPr>
              <a:t>E-R</a:t>
            </a:r>
            <a:r>
              <a:rPr lang="zh-CN" altLang="en-US" sz="3600" b="1">
                <a:solidFill>
                  <a:schemeClr val="tx2"/>
                </a:solidFill>
                <a:ea typeface="仿宋_GB2312" panose="02010609030101010101" pitchFamily="49" charset="-122"/>
              </a:rPr>
              <a:t>图草图</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页脚占位符 5">
            <a:extLst>
              <a:ext uri="{FF2B5EF4-FFF2-40B4-BE49-F238E27FC236}">
                <a16:creationId xmlns:a16="http://schemas.microsoft.com/office/drawing/2014/main" id="{D0C1B3B9-2E3B-4D8C-E887-DE9F5D10217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pic>
        <p:nvPicPr>
          <p:cNvPr id="60419" name="Picture 2" descr="E-R3">
            <a:extLst>
              <a:ext uri="{FF2B5EF4-FFF2-40B4-BE49-F238E27FC236}">
                <a16:creationId xmlns:a16="http://schemas.microsoft.com/office/drawing/2014/main" id="{90145584-0179-BD21-6030-EA418BD5850B}"/>
              </a:ext>
            </a:extLst>
          </p:cNvPr>
          <p:cNvPicPr>
            <a:picLocks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684213" y="2205038"/>
            <a:ext cx="7920037" cy="3275012"/>
          </a:xfrm>
          <a:noFill/>
        </p:spPr>
      </p:pic>
      <p:sp>
        <p:nvSpPr>
          <p:cNvPr id="60420" name="Rectangle 3">
            <a:extLst>
              <a:ext uri="{FF2B5EF4-FFF2-40B4-BE49-F238E27FC236}">
                <a16:creationId xmlns:a16="http://schemas.microsoft.com/office/drawing/2014/main" id="{AF9C8B01-8DFB-8AC5-5E7E-ACFD4C26FC3B}"/>
              </a:ext>
            </a:extLst>
          </p:cNvPr>
          <p:cNvSpPr>
            <a:spLocks noGrp="1" noChangeArrowheads="1"/>
          </p:cNvSpPr>
          <p:nvPr>
            <p:ph type="title"/>
          </p:nvPr>
        </p:nvSpPr>
        <p:spPr/>
        <p:txBody>
          <a:bodyPr/>
          <a:lstStyle/>
          <a:p>
            <a:pPr eaLnBrk="1" hangingPunct="1"/>
            <a:r>
              <a:rPr lang="zh-CN" altLang="en-US"/>
              <a:t>学籍管理局部应用的分</a:t>
            </a:r>
            <a:r>
              <a:rPr lang="en-US" altLang="zh-CN"/>
              <a:t>E-R</a:t>
            </a:r>
            <a:r>
              <a:rPr lang="zh-CN" altLang="en-US"/>
              <a:t>图草图</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a:extLst>
              <a:ext uri="{FF2B5EF4-FFF2-40B4-BE49-F238E27FC236}">
                <a16:creationId xmlns:a16="http://schemas.microsoft.com/office/drawing/2014/main" id="{0FD7AA8A-1F3C-B37C-D81D-E6D758956E5B}"/>
              </a:ext>
            </a:extLst>
          </p:cNvPr>
          <p:cNvSpPr>
            <a:spLocks noGrp="1" noChangeArrowheads="1"/>
          </p:cNvSpPr>
          <p:nvPr>
            <p:ph type="title" idx="4294967295"/>
          </p:nvPr>
        </p:nvSpPr>
        <p:spPr/>
        <p:txBody>
          <a:bodyPr/>
          <a:lstStyle/>
          <a:p>
            <a:r>
              <a:rPr lang="en-US" altLang="zh-CN"/>
              <a:t>7.3.5  </a:t>
            </a:r>
            <a:r>
              <a:rPr lang="zh-CN" altLang="en-US"/>
              <a:t>视图的集成</a:t>
            </a:r>
          </a:p>
        </p:txBody>
      </p:sp>
      <p:sp>
        <p:nvSpPr>
          <p:cNvPr id="61443" name="内容占位符 2">
            <a:extLst>
              <a:ext uri="{FF2B5EF4-FFF2-40B4-BE49-F238E27FC236}">
                <a16:creationId xmlns:a16="http://schemas.microsoft.com/office/drawing/2014/main" id="{2F49EED5-E08F-1E97-A689-ACCF185A9CF8}"/>
              </a:ext>
            </a:extLst>
          </p:cNvPr>
          <p:cNvSpPr>
            <a:spLocks noGrp="1" noChangeArrowheads="1"/>
          </p:cNvSpPr>
          <p:nvPr>
            <p:ph idx="4294967295"/>
          </p:nvPr>
        </p:nvSpPr>
        <p:spPr>
          <a:xfrm>
            <a:off x="457200" y="1916113"/>
            <a:ext cx="8229600" cy="4278312"/>
          </a:xfrm>
        </p:spPr>
        <p:txBody>
          <a:bodyPr/>
          <a:lstStyle/>
          <a:p>
            <a:pPr>
              <a:buFont typeface="Wingdings" panose="05000000000000000000" pitchFamily="2" charset="2"/>
              <a:buNone/>
            </a:pPr>
            <a:r>
              <a:rPr lang="en-US" altLang="zh-CN" sz="2800"/>
              <a:t>E-R</a:t>
            </a:r>
            <a:r>
              <a:rPr lang="zh-CN" altLang="en-US" sz="2800"/>
              <a:t>图的集成</a:t>
            </a:r>
          </a:p>
          <a:p>
            <a:pPr lvl="1"/>
            <a:r>
              <a:rPr lang="en-US" altLang="zh-CN" sz="2400"/>
              <a:t>E-R</a:t>
            </a:r>
            <a:r>
              <a:rPr lang="zh-CN" altLang="en-US" sz="2400"/>
              <a:t>图的集成一般需要分两步</a:t>
            </a:r>
          </a:p>
          <a:p>
            <a:pPr lvl="2">
              <a:buSzPct val="87000"/>
              <a:buFont typeface="Wingdings" panose="05000000000000000000" pitchFamily="2" charset="2"/>
              <a:buChar char="l"/>
            </a:pPr>
            <a:r>
              <a:rPr lang="zh-CN" altLang="en-US" sz="2000"/>
              <a:t> 合并。解决各分</a:t>
            </a:r>
            <a:r>
              <a:rPr lang="en-US" altLang="zh-CN" sz="2000"/>
              <a:t>E-R</a:t>
            </a:r>
            <a:r>
              <a:rPr lang="zh-CN" altLang="en-US" sz="2000"/>
              <a:t>图之间的冲突，将分</a:t>
            </a:r>
            <a:r>
              <a:rPr lang="en-US" altLang="zh-CN" sz="2000"/>
              <a:t>E-R</a:t>
            </a:r>
            <a:r>
              <a:rPr lang="zh-CN" altLang="en-US" sz="2000"/>
              <a:t>图合并起来生成初步</a:t>
            </a:r>
            <a:r>
              <a:rPr lang="en-US" altLang="zh-CN" sz="2000"/>
              <a:t>E-R</a:t>
            </a:r>
            <a:r>
              <a:rPr lang="zh-CN" altLang="en-US" sz="2000"/>
              <a:t>图。</a:t>
            </a:r>
          </a:p>
          <a:p>
            <a:pPr lvl="2">
              <a:buSzPct val="87000"/>
              <a:buFont typeface="Wingdings" panose="05000000000000000000" pitchFamily="2" charset="2"/>
              <a:buChar char="l"/>
            </a:pPr>
            <a:r>
              <a:rPr lang="zh-CN" altLang="en-US" sz="2000"/>
              <a:t> 修改和重构。消除不必要的冗余，生成基本</a:t>
            </a:r>
            <a:r>
              <a:rPr lang="en-US" altLang="zh-CN" sz="2000"/>
              <a:t>E-R</a:t>
            </a:r>
            <a:r>
              <a:rPr lang="zh-CN" altLang="en-US" sz="2000"/>
              <a:t>图</a:t>
            </a:r>
            <a:r>
              <a:rPr lang="zh-CN" altLang="en-US"/>
              <a:t>。</a:t>
            </a:r>
          </a:p>
          <a:p>
            <a:endParaRPr lang="zh-CN" altLang="en-US"/>
          </a:p>
        </p:txBody>
      </p:sp>
      <p:pic>
        <p:nvPicPr>
          <p:cNvPr id="61444" name="Picture 5">
            <a:extLst>
              <a:ext uri="{FF2B5EF4-FFF2-40B4-BE49-F238E27FC236}">
                <a16:creationId xmlns:a16="http://schemas.microsoft.com/office/drawing/2014/main" id="{7D09D929-F034-0F89-4DC1-DE2B758A86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3213" y="4076700"/>
            <a:ext cx="4138612" cy="2665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页脚占位符 4">
            <a:extLst>
              <a:ext uri="{FF2B5EF4-FFF2-40B4-BE49-F238E27FC236}">
                <a16:creationId xmlns:a16="http://schemas.microsoft.com/office/drawing/2014/main" id="{41950368-FEA7-D9CF-943E-6C44CD2C2E1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62467" name="Rectangle 2">
            <a:extLst>
              <a:ext uri="{FF2B5EF4-FFF2-40B4-BE49-F238E27FC236}">
                <a16:creationId xmlns:a16="http://schemas.microsoft.com/office/drawing/2014/main" id="{24E1121F-2A20-DD15-801D-AC7700F8F429}"/>
              </a:ext>
            </a:extLst>
          </p:cNvPr>
          <p:cNvSpPr>
            <a:spLocks noGrp="1" noChangeArrowheads="1"/>
          </p:cNvSpPr>
          <p:nvPr>
            <p:ph type="title"/>
          </p:nvPr>
        </p:nvSpPr>
        <p:spPr>
          <a:xfrm>
            <a:off x="1350963" y="549275"/>
            <a:ext cx="7793037" cy="1143000"/>
          </a:xfrm>
        </p:spPr>
        <p:txBody>
          <a:bodyPr/>
          <a:lstStyle/>
          <a:p>
            <a:pPr eaLnBrk="1" hangingPunct="1"/>
            <a:r>
              <a:rPr lang="en-US" altLang="zh-CN" sz="3200"/>
              <a:t>1.</a:t>
            </a:r>
            <a:r>
              <a:rPr lang="zh-CN" altLang="en-US" sz="3200"/>
              <a:t>合并分</a:t>
            </a:r>
            <a:r>
              <a:rPr lang="en-US" altLang="zh-CN" sz="3200"/>
              <a:t>E-R</a:t>
            </a:r>
            <a:r>
              <a:rPr lang="zh-CN" altLang="en-US" sz="3200"/>
              <a:t>图，生成初步</a:t>
            </a:r>
            <a:r>
              <a:rPr lang="en-US" altLang="zh-CN" sz="3200"/>
              <a:t>E-R</a:t>
            </a:r>
            <a:r>
              <a:rPr lang="zh-CN" altLang="en-US" sz="3200"/>
              <a:t>图</a:t>
            </a:r>
          </a:p>
        </p:txBody>
      </p:sp>
      <p:sp>
        <p:nvSpPr>
          <p:cNvPr id="53252" name="Rectangle 3">
            <a:extLst>
              <a:ext uri="{FF2B5EF4-FFF2-40B4-BE49-F238E27FC236}">
                <a16:creationId xmlns:a16="http://schemas.microsoft.com/office/drawing/2014/main" id="{5460C6F8-2B88-8DFB-ACA6-F87560F45EE9}"/>
              </a:ext>
            </a:extLst>
          </p:cNvPr>
          <p:cNvSpPr>
            <a:spLocks noGrp="1" noChangeArrowheads="1"/>
          </p:cNvSpPr>
          <p:nvPr>
            <p:ph type="body" idx="1"/>
          </p:nvPr>
        </p:nvSpPr>
        <p:spPr>
          <a:xfrm>
            <a:off x="539750" y="1916113"/>
            <a:ext cx="8415338" cy="2563812"/>
          </a:xfrm>
        </p:spPr>
        <p:txBody>
          <a:bodyPr/>
          <a:lstStyle/>
          <a:p>
            <a:pPr eaLnBrk="1" hangingPunct="1">
              <a:buFont typeface="Wingdings" panose="05000000000000000000" pitchFamily="2" charset="2"/>
              <a:buNone/>
            </a:pPr>
            <a:r>
              <a:rPr lang="zh-CN" altLang="en-US" sz="2400"/>
              <a:t>属性冲突（属性域冲突，取值单位冲突）</a:t>
            </a:r>
          </a:p>
          <a:p>
            <a:pPr eaLnBrk="1" hangingPunct="1">
              <a:buFont typeface="Wingdings" panose="05000000000000000000" pitchFamily="2" charset="2"/>
              <a:buNone/>
            </a:pPr>
            <a:r>
              <a:rPr lang="zh-CN" altLang="en-US" sz="2400"/>
              <a:t>命名冲突（同名异义，异名同义）</a:t>
            </a:r>
          </a:p>
          <a:p>
            <a:pPr eaLnBrk="1" hangingPunct="1">
              <a:buFont typeface="Wingdings" panose="05000000000000000000" pitchFamily="2" charset="2"/>
              <a:buNone/>
            </a:pPr>
            <a:r>
              <a:rPr lang="zh-CN" altLang="en-US" sz="2400"/>
              <a:t>结构冲突（同一对象在不同应用中具有不同的抽象；同一实体在不同局部视图中所包含的属性不完全相同；实体之间的联系在不同局部视图中呈现不同的类型。）</a:t>
            </a:r>
            <a:endParaRPr lang="zh-CN" altLang="en-US" sz="2800"/>
          </a:p>
        </p:txBody>
      </p:sp>
      <p:sp>
        <p:nvSpPr>
          <p:cNvPr id="53253" name="Rectangle 4">
            <a:extLst>
              <a:ext uri="{FF2B5EF4-FFF2-40B4-BE49-F238E27FC236}">
                <a16:creationId xmlns:a16="http://schemas.microsoft.com/office/drawing/2014/main" id="{1B965FA7-238A-357D-972C-42545C57D3E4}"/>
              </a:ext>
            </a:extLst>
          </p:cNvPr>
          <p:cNvSpPr>
            <a:spLocks noChangeArrowheads="1"/>
          </p:cNvSpPr>
          <p:nvPr/>
        </p:nvSpPr>
        <p:spPr bwMode="auto">
          <a:xfrm>
            <a:off x="4114800" y="4090988"/>
            <a:ext cx="1065213" cy="60801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2400" b="1">
                <a:latin typeface="Times New Roman" panose="02020603050405020304" pitchFamily="18" charset="0"/>
              </a:rPr>
              <a:t>学生</a:t>
            </a:r>
          </a:p>
        </p:txBody>
      </p:sp>
      <p:sp>
        <p:nvSpPr>
          <p:cNvPr id="53254" name="Oval 5">
            <a:extLst>
              <a:ext uri="{FF2B5EF4-FFF2-40B4-BE49-F238E27FC236}">
                <a16:creationId xmlns:a16="http://schemas.microsoft.com/office/drawing/2014/main" id="{2215AB49-75A1-E7A5-774C-52267B018F25}"/>
              </a:ext>
            </a:extLst>
          </p:cNvPr>
          <p:cNvSpPr>
            <a:spLocks noChangeArrowheads="1"/>
          </p:cNvSpPr>
          <p:nvPr/>
        </p:nvSpPr>
        <p:spPr bwMode="auto">
          <a:xfrm>
            <a:off x="1447800" y="5538788"/>
            <a:ext cx="914400" cy="91440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2400" b="1">
                <a:latin typeface="Times New Roman" panose="02020603050405020304" pitchFamily="18" charset="0"/>
              </a:rPr>
              <a:t>学号</a:t>
            </a:r>
          </a:p>
        </p:txBody>
      </p:sp>
      <p:sp>
        <p:nvSpPr>
          <p:cNvPr id="53255" name="Oval 6">
            <a:extLst>
              <a:ext uri="{FF2B5EF4-FFF2-40B4-BE49-F238E27FC236}">
                <a16:creationId xmlns:a16="http://schemas.microsoft.com/office/drawing/2014/main" id="{70DAAF44-79AD-6C21-1F54-F140D98BDA8A}"/>
              </a:ext>
            </a:extLst>
          </p:cNvPr>
          <p:cNvSpPr>
            <a:spLocks noChangeArrowheads="1"/>
          </p:cNvSpPr>
          <p:nvPr/>
        </p:nvSpPr>
        <p:spPr bwMode="auto">
          <a:xfrm>
            <a:off x="2971800" y="5538788"/>
            <a:ext cx="914400" cy="91440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2400" b="1">
                <a:latin typeface="Times New Roman" panose="02020603050405020304" pitchFamily="18" charset="0"/>
              </a:rPr>
              <a:t> </a:t>
            </a:r>
            <a:r>
              <a:rPr kumimoji="0" lang="zh-CN" altLang="en-US" sz="2400" b="1">
                <a:latin typeface="Times New Roman" panose="02020603050405020304" pitchFamily="18" charset="0"/>
              </a:rPr>
              <a:t>姓名</a:t>
            </a:r>
          </a:p>
        </p:txBody>
      </p:sp>
      <p:sp>
        <p:nvSpPr>
          <p:cNvPr id="53256" name="Oval 7">
            <a:extLst>
              <a:ext uri="{FF2B5EF4-FFF2-40B4-BE49-F238E27FC236}">
                <a16:creationId xmlns:a16="http://schemas.microsoft.com/office/drawing/2014/main" id="{7E469294-114F-7215-57C3-DD4868943D78}"/>
              </a:ext>
            </a:extLst>
          </p:cNvPr>
          <p:cNvSpPr>
            <a:spLocks noChangeArrowheads="1"/>
          </p:cNvSpPr>
          <p:nvPr/>
        </p:nvSpPr>
        <p:spPr bwMode="auto">
          <a:xfrm>
            <a:off x="4495800" y="5538788"/>
            <a:ext cx="914400" cy="91440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2400" b="1">
                <a:latin typeface="Times New Roman" panose="02020603050405020304" pitchFamily="18" charset="0"/>
              </a:rPr>
              <a:t>性别</a:t>
            </a:r>
          </a:p>
        </p:txBody>
      </p:sp>
      <p:sp>
        <p:nvSpPr>
          <p:cNvPr id="53257" name="Oval 8">
            <a:extLst>
              <a:ext uri="{FF2B5EF4-FFF2-40B4-BE49-F238E27FC236}">
                <a16:creationId xmlns:a16="http://schemas.microsoft.com/office/drawing/2014/main" id="{74C6C3FE-4A7E-B0B2-9D8A-FC4AE15C7A7E}"/>
              </a:ext>
            </a:extLst>
          </p:cNvPr>
          <p:cNvSpPr>
            <a:spLocks noChangeArrowheads="1"/>
          </p:cNvSpPr>
          <p:nvPr/>
        </p:nvSpPr>
        <p:spPr bwMode="auto">
          <a:xfrm>
            <a:off x="6019800" y="5691188"/>
            <a:ext cx="2209800" cy="76200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2400" b="1">
                <a:latin typeface="Times New Roman" panose="02020603050405020304" pitchFamily="18" charset="0"/>
              </a:rPr>
              <a:t>平均成绩</a:t>
            </a:r>
          </a:p>
        </p:txBody>
      </p:sp>
      <p:sp>
        <p:nvSpPr>
          <p:cNvPr id="53258" name="Line 9">
            <a:extLst>
              <a:ext uri="{FF2B5EF4-FFF2-40B4-BE49-F238E27FC236}">
                <a16:creationId xmlns:a16="http://schemas.microsoft.com/office/drawing/2014/main" id="{97B40B05-6066-B50F-A7A8-D6CA62C44F72}"/>
              </a:ext>
            </a:extLst>
          </p:cNvPr>
          <p:cNvSpPr>
            <a:spLocks noChangeShapeType="1"/>
          </p:cNvSpPr>
          <p:nvPr/>
        </p:nvSpPr>
        <p:spPr bwMode="auto">
          <a:xfrm flipH="1">
            <a:off x="2133600" y="4700588"/>
            <a:ext cx="1981200" cy="838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59" name="Line 10">
            <a:extLst>
              <a:ext uri="{FF2B5EF4-FFF2-40B4-BE49-F238E27FC236}">
                <a16:creationId xmlns:a16="http://schemas.microsoft.com/office/drawing/2014/main" id="{6E5BB45F-3911-8830-4A11-D9B9DBBF05FE}"/>
              </a:ext>
            </a:extLst>
          </p:cNvPr>
          <p:cNvSpPr>
            <a:spLocks noChangeShapeType="1"/>
          </p:cNvSpPr>
          <p:nvPr/>
        </p:nvSpPr>
        <p:spPr bwMode="auto">
          <a:xfrm flipH="1">
            <a:off x="3581400" y="4700588"/>
            <a:ext cx="762000" cy="838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60" name="Line 11">
            <a:extLst>
              <a:ext uri="{FF2B5EF4-FFF2-40B4-BE49-F238E27FC236}">
                <a16:creationId xmlns:a16="http://schemas.microsoft.com/office/drawing/2014/main" id="{874351B7-6410-1872-F44C-DEE6117B6907}"/>
              </a:ext>
            </a:extLst>
          </p:cNvPr>
          <p:cNvSpPr>
            <a:spLocks noChangeShapeType="1"/>
          </p:cNvSpPr>
          <p:nvPr/>
        </p:nvSpPr>
        <p:spPr bwMode="auto">
          <a:xfrm>
            <a:off x="4876800" y="4700588"/>
            <a:ext cx="0" cy="838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61" name="Line 12">
            <a:extLst>
              <a:ext uri="{FF2B5EF4-FFF2-40B4-BE49-F238E27FC236}">
                <a16:creationId xmlns:a16="http://schemas.microsoft.com/office/drawing/2014/main" id="{39E7EE3E-ABA1-3926-8C47-7BCA017D9218}"/>
              </a:ext>
            </a:extLst>
          </p:cNvPr>
          <p:cNvSpPr>
            <a:spLocks noChangeShapeType="1"/>
          </p:cNvSpPr>
          <p:nvPr/>
        </p:nvSpPr>
        <p:spPr bwMode="auto">
          <a:xfrm>
            <a:off x="5181600" y="4700588"/>
            <a:ext cx="1524000" cy="990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53252">
                                            <p:txEl>
                                              <p:pRg st="0" end="0"/>
                                            </p:txEl>
                                          </p:spTgt>
                                        </p:tgtEl>
                                        <p:attrNameLst>
                                          <p:attrName>style.visibility</p:attrName>
                                        </p:attrNameLst>
                                      </p:cBhvr>
                                      <p:to>
                                        <p:strVal val="visible"/>
                                      </p:to>
                                    </p:set>
                                    <p:animEffect transition="in" filter="box(in)">
                                      <p:cBhvr>
                                        <p:cTn id="7" dur="500"/>
                                        <p:tgtEl>
                                          <p:spTgt spid="5325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53252">
                                            <p:txEl>
                                              <p:pRg st="1" end="1"/>
                                            </p:txEl>
                                          </p:spTgt>
                                        </p:tgtEl>
                                        <p:attrNameLst>
                                          <p:attrName>style.visibility</p:attrName>
                                        </p:attrNameLst>
                                      </p:cBhvr>
                                      <p:to>
                                        <p:strVal val="visible"/>
                                      </p:to>
                                    </p:set>
                                    <p:animEffect transition="in" filter="box(in)">
                                      <p:cBhvr>
                                        <p:cTn id="12" dur="500"/>
                                        <p:tgtEl>
                                          <p:spTgt spid="5325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53252">
                                            <p:txEl>
                                              <p:pRg st="2" end="2"/>
                                            </p:txEl>
                                          </p:spTgt>
                                        </p:tgtEl>
                                        <p:attrNameLst>
                                          <p:attrName>style.visibility</p:attrName>
                                        </p:attrNameLst>
                                      </p:cBhvr>
                                      <p:to>
                                        <p:strVal val="visible"/>
                                      </p:to>
                                    </p:set>
                                    <p:animEffect transition="in" filter="box(in)">
                                      <p:cBhvr>
                                        <p:cTn id="17" dur="500"/>
                                        <p:tgtEl>
                                          <p:spTgt spid="53252">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53253"/>
                                        </p:tgtEl>
                                        <p:attrNameLst>
                                          <p:attrName>style.visibility</p:attrName>
                                        </p:attrNameLst>
                                      </p:cBhvr>
                                      <p:to>
                                        <p:strVal val="visible"/>
                                      </p:to>
                                    </p:set>
                                    <p:animEffect transition="in" filter="box(in)">
                                      <p:cBhvr>
                                        <p:cTn id="22" dur="500"/>
                                        <p:tgtEl>
                                          <p:spTgt spid="53253"/>
                                        </p:tgtEl>
                                      </p:cBhvr>
                                    </p:animEffect>
                                  </p:childTnLst>
                                </p:cTn>
                              </p:par>
                              <p:par>
                                <p:cTn id="23" presetID="4" presetClass="entr" presetSubtype="16" fill="hold" grpId="0" nodeType="withEffect">
                                  <p:stCondLst>
                                    <p:cond delay="0"/>
                                  </p:stCondLst>
                                  <p:childTnLst>
                                    <p:set>
                                      <p:cBhvr>
                                        <p:cTn id="24" dur="1" fill="hold">
                                          <p:stCondLst>
                                            <p:cond delay="0"/>
                                          </p:stCondLst>
                                        </p:cTn>
                                        <p:tgtEl>
                                          <p:spTgt spid="53254"/>
                                        </p:tgtEl>
                                        <p:attrNameLst>
                                          <p:attrName>style.visibility</p:attrName>
                                        </p:attrNameLst>
                                      </p:cBhvr>
                                      <p:to>
                                        <p:strVal val="visible"/>
                                      </p:to>
                                    </p:set>
                                    <p:animEffect transition="in" filter="box(in)">
                                      <p:cBhvr>
                                        <p:cTn id="25" dur="500"/>
                                        <p:tgtEl>
                                          <p:spTgt spid="53254"/>
                                        </p:tgtEl>
                                      </p:cBhvr>
                                    </p:animEffect>
                                  </p:childTnLst>
                                </p:cTn>
                              </p:par>
                              <p:par>
                                <p:cTn id="26" presetID="4" presetClass="entr" presetSubtype="16" fill="hold" grpId="0" nodeType="withEffect">
                                  <p:stCondLst>
                                    <p:cond delay="0"/>
                                  </p:stCondLst>
                                  <p:childTnLst>
                                    <p:set>
                                      <p:cBhvr>
                                        <p:cTn id="27" dur="1" fill="hold">
                                          <p:stCondLst>
                                            <p:cond delay="0"/>
                                          </p:stCondLst>
                                        </p:cTn>
                                        <p:tgtEl>
                                          <p:spTgt spid="53255"/>
                                        </p:tgtEl>
                                        <p:attrNameLst>
                                          <p:attrName>style.visibility</p:attrName>
                                        </p:attrNameLst>
                                      </p:cBhvr>
                                      <p:to>
                                        <p:strVal val="visible"/>
                                      </p:to>
                                    </p:set>
                                    <p:animEffect transition="in" filter="box(in)">
                                      <p:cBhvr>
                                        <p:cTn id="28" dur="500"/>
                                        <p:tgtEl>
                                          <p:spTgt spid="53255"/>
                                        </p:tgtEl>
                                      </p:cBhvr>
                                    </p:animEffect>
                                  </p:childTnLst>
                                </p:cTn>
                              </p:par>
                              <p:par>
                                <p:cTn id="29" presetID="4" presetClass="entr" presetSubtype="16" fill="hold" grpId="0" nodeType="withEffect">
                                  <p:stCondLst>
                                    <p:cond delay="0"/>
                                  </p:stCondLst>
                                  <p:childTnLst>
                                    <p:set>
                                      <p:cBhvr>
                                        <p:cTn id="30" dur="1" fill="hold">
                                          <p:stCondLst>
                                            <p:cond delay="0"/>
                                          </p:stCondLst>
                                        </p:cTn>
                                        <p:tgtEl>
                                          <p:spTgt spid="53256"/>
                                        </p:tgtEl>
                                        <p:attrNameLst>
                                          <p:attrName>style.visibility</p:attrName>
                                        </p:attrNameLst>
                                      </p:cBhvr>
                                      <p:to>
                                        <p:strVal val="visible"/>
                                      </p:to>
                                    </p:set>
                                    <p:animEffect transition="in" filter="box(in)">
                                      <p:cBhvr>
                                        <p:cTn id="31" dur="500"/>
                                        <p:tgtEl>
                                          <p:spTgt spid="53256"/>
                                        </p:tgtEl>
                                      </p:cBhvr>
                                    </p:animEffect>
                                  </p:childTnLst>
                                </p:cTn>
                              </p:par>
                              <p:par>
                                <p:cTn id="32" presetID="4" presetClass="entr" presetSubtype="16" fill="hold" grpId="0" nodeType="withEffect">
                                  <p:stCondLst>
                                    <p:cond delay="0"/>
                                  </p:stCondLst>
                                  <p:childTnLst>
                                    <p:set>
                                      <p:cBhvr>
                                        <p:cTn id="33" dur="1" fill="hold">
                                          <p:stCondLst>
                                            <p:cond delay="0"/>
                                          </p:stCondLst>
                                        </p:cTn>
                                        <p:tgtEl>
                                          <p:spTgt spid="53257"/>
                                        </p:tgtEl>
                                        <p:attrNameLst>
                                          <p:attrName>style.visibility</p:attrName>
                                        </p:attrNameLst>
                                      </p:cBhvr>
                                      <p:to>
                                        <p:strVal val="visible"/>
                                      </p:to>
                                    </p:set>
                                    <p:animEffect transition="in" filter="box(in)">
                                      <p:cBhvr>
                                        <p:cTn id="34" dur="500"/>
                                        <p:tgtEl>
                                          <p:spTgt spid="53257"/>
                                        </p:tgtEl>
                                      </p:cBhvr>
                                    </p:animEffect>
                                  </p:childTnLst>
                                </p:cTn>
                              </p:par>
                              <p:par>
                                <p:cTn id="35" presetID="4" presetClass="entr" presetSubtype="16" fill="hold" nodeType="withEffect">
                                  <p:stCondLst>
                                    <p:cond delay="0"/>
                                  </p:stCondLst>
                                  <p:childTnLst>
                                    <p:set>
                                      <p:cBhvr>
                                        <p:cTn id="36" dur="1" fill="hold">
                                          <p:stCondLst>
                                            <p:cond delay="0"/>
                                          </p:stCondLst>
                                        </p:cTn>
                                        <p:tgtEl>
                                          <p:spTgt spid="53258"/>
                                        </p:tgtEl>
                                        <p:attrNameLst>
                                          <p:attrName>style.visibility</p:attrName>
                                        </p:attrNameLst>
                                      </p:cBhvr>
                                      <p:to>
                                        <p:strVal val="visible"/>
                                      </p:to>
                                    </p:set>
                                    <p:animEffect transition="in" filter="box(in)">
                                      <p:cBhvr>
                                        <p:cTn id="37" dur="500"/>
                                        <p:tgtEl>
                                          <p:spTgt spid="53258"/>
                                        </p:tgtEl>
                                      </p:cBhvr>
                                    </p:animEffect>
                                  </p:childTnLst>
                                </p:cTn>
                              </p:par>
                              <p:par>
                                <p:cTn id="38" presetID="4" presetClass="entr" presetSubtype="16" fill="hold" nodeType="withEffect">
                                  <p:stCondLst>
                                    <p:cond delay="0"/>
                                  </p:stCondLst>
                                  <p:childTnLst>
                                    <p:set>
                                      <p:cBhvr>
                                        <p:cTn id="39" dur="1" fill="hold">
                                          <p:stCondLst>
                                            <p:cond delay="0"/>
                                          </p:stCondLst>
                                        </p:cTn>
                                        <p:tgtEl>
                                          <p:spTgt spid="53259"/>
                                        </p:tgtEl>
                                        <p:attrNameLst>
                                          <p:attrName>style.visibility</p:attrName>
                                        </p:attrNameLst>
                                      </p:cBhvr>
                                      <p:to>
                                        <p:strVal val="visible"/>
                                      </p:to>
                                    </p:set>
                                    <p:animEffect transition="in" filter="box(in)">
                                      <p:cBhvr>
                                        <p:cTn id="40" dur="500"/>
                                        <p:tgtEl>
                                          <p:spTgt spid="53259"/>
                                        </p:tgtEl>
                                      </p:cBhvr>
                                    </p:animEffect>
                                  </p:childTnLst>
                                </p:cTn>
                              </p:par>
                              <p:par>
                                <p:cTn id="41" presetID="4" presetClass="entr" presetSubtype="16" fill="hold" nodeType="withEffect">
                                  <p:stCondLst>
                                    <p:cond delay="0"/>
                                  </p:stCondLst>
                                  <p:childTnLst>
                                    <p:set>
                                      <p:cBhvr>
                                        <p:cTn id="42" dur="1" fill="hold">
                                          <p:stCondLst>
                                            <p:cond delay="0"/>
                                          </p:stCondLst>
                                        </p:cTn>
                                        <p:tgtEl>
                                          <p:spTgt spid="53260"/>
                                        </p:tgtEl>
                                        <p:attrNameLst>
                                          <p:attrName>style.visibility</p:attrName>
                                        </p:attrNameLst>
                                      </p:cBhvr>
                                      <p:to>
                                        <p:strVal val="visible"/>
                                      </p:to>
                                    </p:set>
                                    <p:animEffect transition="in" filter="box(in)">
                                      <p:cBhvr>
                                        <p:cTn id="43" dur="500"/>
                                        <p:tgtEl>
                                          <p:spTgt spid="53260"/>
                                        </p:tgtEl>
                                      </p:cBhvr>
                                    </p:animEffect>
                                  </p:childTnLst>
                                </p:cTn>
                              </p:par>
                              <p:par>
                                <p:cTn id="44" presetID="4" presetClass="entr" presetSubtype="16" fill="hold" nodeType="withEffect">
                                  <p:stCondLst>
                                    <p:cond delay="0"/>
                                  </p:stCondLst>
                                  <p:childTnLst>
                                    <p:set>
                                      <p:cBhvr>
                                        <p:cTn id="45" dur="1" fill="hold">
                                          <p:stCondLst>
                                            <p:cond delay="0"/>
                                          </p:stCondLst>
                                        </p:cTn>
                                        <p:tgtEl>
                                          <p:spTgt spid="53261"/>
                                        </p:tgtEl>
                                        <p:attrNameLst>
                                          <p:attrName>style.visibility</p:attrName>
                                        </p:attrNameLst>
                                      </p:cBhvr>
                                      <p:to>
                                        <p:strVal val="visible"/>
                                      </p:to>
                                    </p:set>
                                    <p:animEffect transition="in" filter="box(in)">
                                      <p:cBhvr>
                                        <p:cTn id="46" dur="500"/>
                                        <p:tgtEl>
                                          <p:spTgt spid="532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3" grpId="0" animBg="1"/>
      <p:bldP spid="53254" grpId="0" animBg="1"/>
      <p:bldP spid="53255" grpId="0" animBg="1"/>
      <p:bldP spid="53256" grpId="0" animBg="1"/>
      <p:bldP spid="53257"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页脚占位符 4">
            <a:extLst>
              <a:ext uri="{FF2B5EF4-FFF2-40B4-BE49-F238E27FC236}">
                <a16:creationId xmlns:a16="http://schemas.microsoft.com/office/drawing/2014/main" id="{7D3EA87A-3E20-58B1-4940-DA8153C8A0F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63491" name="Rectangle 2">
            <a:extLst>
              <a:ext uri="{FF2B5EF4-FFF2-40B4-BE49-F238E27FC236}">
                <a16:creationId xmlns:a16="http://schemas.microsoft.com/office/drawing/2014/main" id="{7C697793-4F66-E7B1-2A7A-7E58111CEAC7}"/>
              </a:ext>
            </a:extLst>
          </p:cNvPr>
          <p:cNvSpPr>
            <a:spLocks noGrp="1" noChangeArrowheads="1"/>
          </p:cNvSpPr>
          <p:nvPr>
            <p:ph type="title"/>
          </p:nvPr>
        </p:nvSpPr>
        <p:spPr/>
        <p:txBody>
          <a:bodyPr/>
          <a:lstStyle/>
          <a:p>
            <a:pPr eaLnBrk="1" hangingPunct="1"/>
            <a:r>
              <a:rPr lang="zh-CN" altLang="en-US"/>
              <a:t>结构冲突（续）</a:t>
            </a:r>
          </a:p>
        </p:txBody>
      </p:sp>
      <p:sp>
        <p:nvSpPr>
          <p:cNvPr id="63492" name="Rectangle 3">
            <a:extLst>
              <a:ext uri="{FF2B5EF4-FFF2-40B4-BE49-F238E27FC236}">
                <a16:creationId xmlns:a16="http://schemas.microsoft.com/office/drawing/2014/main" id="{34ADFB19-13CB-3FEA-3FC1-0E5DA8825214}"/>
              </a:ext>
            </a:extLst>
          </p:cNvPr>
          <p:cNvSpPr>
            <a:spLocks noChangeArrowheads="1"/>
          </p:cNvSpPr>
          <p:nvPr/>
        </p:nvSpPr>
        <p:spPr bwMode="auto">
          <a:xfrm>
            <a:off x="4114800" y="1981200"/>
            <a:ext cx="1065213" cy="60801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2400" b="1">
                <a:latin typeface="Times New Roman" panose="02020603050405020304" pitchFamily="18" charset="0"/>
              </a:rPr>
              <a:t>学生</a:t>
            </a:r>
          </a:p>
        </p:txBody>
      </p:sp>
      <p:sp>
        <p:nvSpPr>
          <p:cNvPr id="63493" name="Oval 4">
            <a:extLst>
              <a:ext uri="{FF2B5EF4-FFF2-40B4-BE49-F238E27FC236}">
                <a16:creationId xmlns:a16="http://schemas.microsoft.com/office/drawing/2014/main" id="{9A294717-015A-360D-B7EA-971E3E8AD8C0}"/>
              </a:ext>
            </a:extLst>
          </p:cNvPr>
          <p:cNvSpPr>
            <a:spLocks noChangeArrowheads="1"/>
          </p:cNvSpPr>
          <p:nvPr/>
        </p:nvSpPr>
        <p:spPr bwMode="auto">
          <a:xfrm>
            <a:off x="2667000" y="3352800"/>
            <a:ext cx="914400" cy="91440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2400" b="1">
                <a:latin typeface="Times New Roman" panose="02020603050405020304" pitchFamily="18" charset="0"/>
              </a:rPr>
              <a:t>学号</a:t>
            </a:r>
          </a:p>
        </p:txBody>
      </p:sp>
      <p:sp>
        <p:nvSpPr>
          <p:cNvPr id="63494" name="Oval 5">
            <a:extLst>
              <a:ext uri="{FF2B5EF4-FFF2-40B4-BE49-F238E27FC236}">
                <a16:creationId xmlns:a16="http://schemas.microsoft.com/office/drawing/2014/main" id="{C08E76F3-D8A2-0CDF-F6B2-369933ADC368}"/>
              </a:ext>
            </a:extLst>
          </p:cNvPr>
          <p:cNvSpPr>
            <a:spLocks noChangeArrowheads="1"/>
          </p:cNvSpPr>
          <p:nvPr/>
        </p:nvSpPr>
        <p:spPr bwMode="auto">
          <a:xfrm>
            <a:off x="1447800" y="3352800"/>
            <a:ext cx="914400" cy="91440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2400" b="1">
                <a:latin typeface="Times New Roman" panose="02020603050405020304" pitchFamily="18" charset="0"/>
              </a:rPr>
              <a:t> </a:t>
            </a:r>
            <a:r>
              <a:rPr kumimoji="0" lang="zh-CN" altLang="en-US" sz="2400" b="1">
                <a:latin typeface="Times New Roman" panose="02020603050405020304" pitchFamily="18" charset="0"/>
              </a:rPr>
              <a:t>姓名</a:t>
            </a:r>
          </a:p>
        </p:txBody>
      </p:sp>
      <p:sp>
        <p:nvSpPr>
          <p:cNvPr id="63495" name="Oval 6">
            <a:extLst>
              <a:ext uri="{FF2B5EF4-FFF2-40B4-BE49-F238E27FC236}">
                <a16:creationId xmlns:a16="http://schemas.microsoft.com/office/drawing/2014/main" id="{A541B510-F320-D3D1-400F-1BF77195278B}"/>
              </a:ext>
            </a:extLst>
          </p:cNvPr>
          <p:cNvSpPr>
            <a:spLocks noChangeArrowheads="1"/>
          </p:cNvSpPr>
          <p:nvPr/>
        </p:nvSpPr>
        <p:spPr bwMode="auto">
          <a:xfrm>
            <a:off x="3733800" y="3429000"/>
            <a:ext cx="1295400" cy="91440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2400" b="1">
                <a:latin typeface="Times New Roman" panose="02020603050405020304" pitchFamily="18" charset="0"/>
              </a:rPr>
              <a:t>出生日期</a:t>
            </a:r>
          </a:p>
        </p:txBody>
      </p:sp>
      <p:sp>
        <p:nvSpPr>
          <p:cNvPr id="63496" name="Oval 7">
            <a:extLst>
              <a:ext uri="{FF2B5EF4-FFF2-40B4-BE49-F238E27FC236}">
                <a16:creationId xmlns:a16="http://schemas.microsoft.com/office/drawing/2014/main" id="{A02F32DC-D47C-A51C-4644-D24B211379BF}"/>
              </a:ext>
            </a:extLst>
          </p:cNvPr>
          <p:cNvSpPr>
            <a:spLocks noChangeArrowheads="1"/>
          </p:cNvSpPr>
          <p:nvPr/>
        </p:nvSpPr>
        <p:spPr bwMode="auto">
          <a:xfrm>
            <a:off x="6477000" y="3505200"/>
            <a:ext cx="1143000" cy="91440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2400" b="1">
                <a:latin typeface="Times New Roman" panose="02020603050405020304" pitchFamily="18" charset="0"/>
              </a:rPr>
              <a:t>年级</a:t>
            </a:r>
          </a:p>
        </p:txBody>
      </p:sp>
      <p:sp>
        <p:nvSpPr>
          <p:cNvPr id="63497" name="Line 8">
            <a:extLst>
              <a:ext uri="{FF2B5EF4-FFF2-40B4-BE49-F238E27FC236}">
                <a16:creationId xmlns:a16="http://schemas.microsoft.com/office/drawing/2014/main" id="{52F3DBCB-E4B8-1CD1-4E8A-5D14C7F2E141}"/>
              </a:ext>
            </a:extLst>
          </p:cNvPr>
          <p:cNvSpPr>
            <a:spLocks noChangeShapeType="1"/>
          </p:cNvSpPr>
          <p:nvPr/>
        </p:nvSpPr>
        <p:spPr bwMode="auto">
          <a:xfrm flipH="1">
            <a:off x="2133600" y="2590800"/>
            <a:ext cx="1981200" cy="838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498" name="Line 9">
            <a:extLst>
              <a:ext uri="{FF2B5EF4-FFF2-40B4-BE49-F238E27FC236}">
                <a16:creationId xmlns:a16="http://schemas.microsoft.com/office/drawing/2014/main" id="{F058CB12-38D9-6EAD-D274-33AA779B4A54}"/>
              </a:ext>
            </a:extLst>
          </p:cNvPr>
          <p:cNvSpPr>
            <a:spLocks noChangeShapeType="1"/>
          </p:cNvSpPr>
          <p:nvPr/>
        </p:nvSpPr>
        <p:spPr bwMode="auto">
          <a:xfrm flipH="1">
            <a:off x="3429000" y="2590800"/>
            <a:ext cx="762000" cy="838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499" name="Line 10">
            <a:extLst>
              <a:ext uri="{FF2B5EF4-FFF2-40B4-BE49-F238E27FC236}">
                <a16:creationId xmlns:a16="http://schemas.microsoft.com/office/drawing/2014/main" id="{115DB6EF-E274-D724-95E7-D0BD30F59FC2}"/>
              </a:ext>
            </a:extLst>
          </p:cNvPr>
          <p:cNvSpPr>
            <a:spLocks noChangeShapeType="1"/>
          </p:cNvSpPr>
          <p:nvPr/>
        </p:nvSpPr>
        <p:spPr bwMode="auto">
          <a:xfrm>
            <a:off x="4343400" y="2590800"/>
            <a:ext cx="0" cy="838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500" name="Line 11">
            <a:extLst>
              <a:ext uri="{FF2B5EF4-FFF2-40B4-BE49-F238E27FC236}">
                <a16:creationId xmlns:a16="http://schemas.microsoft.com/office/drawing/2014/main" id="{6DE46C2C-2370-5052-84DF-3FA2D7850817}"/>
              </a:ext>
            </a:extLst>
          </p:cNvPr>
          <p:cNvSpPr>
            <a:spLocks noChangeShapeType="1"/>
          </p:cNvSpPr>
          <p:nvPr/>
        </p:nvSpPr>
        <p:spPr bwMode="auto">
          <a:xfrm>
            <a:off x="5181600" y="2590800"/>
            <a:ext cx="1524000" cy="990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501" name="Rectangle 12">
            <a:extLst>
              <a:ext uri="{FF2B5EF4-FFF2-40B4-BE49-F238E27FC236}">
                <a16:creationId xmlns:a16="http://schemas.microsoft.com/office/drawing/2014/main" id="{E18D0E6F-C443-82BC-483B-8951CC287484}"/>
              </a:ext>
            </a:extLst>
          </p:cNvPr>
          <p:cNvSpPr>
            <a:spLocks noChangeArrowheads="1"/>
          </p:cNvSpPr>
          <p:nvPr/>
        </p:nvSpPr>
        <p:spPr bwMode="auto">
          <a:xfrm>
            <a:off x="3352800" y="4953000"/>
            <a:ext cx="2971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2400" b="1">
                <a:latin typeface="Times New Roman" panose="02020603050405020304" pitchFamily="18" charset="0"/>
              </a:rPr>
              <a:t>(b)</a:t>
            </a:r>
            <a:r>
              <a:rPr kumimoji="0" lang="zh-CN" altLang="en-US" sz="2400" b="1">
                <a:latin typeface="Times New Roman" panose="02020603050405020304" pitchFamily="18" charset="0"/>
              </a:rPr>
              <a:t>在局部应用</a:t>
            </a:r>
            <a:r>
              <a:rPr kumimoji="0" lang="en-US" altLang="zh-CN" sz="2400" b="1">
                <a:latin typeface="Times New Roman" panose="02020603050405020304" pitchFamily="18" charset="0"/>
              </a:rPr>
              <a:t>B</a:t>
            </a:r>
            <a:r>
              <a:rPr kumimoji="0" lang="zh-CN" altLang="en-US" sz="2400" b="1">
                <a:latin typeface="Times New Roman" panose="02020603050405020304" pitchFamily="18" charset="0"/>
              </a:rPr>
              <a:t>中</a:t>
            </a:r>
          </a:p>
        </p:txBody>
      </p:sp>
      <p:sp>
        <p:nvSpPr>
          <p:cNvPr id="63502" name="Oval 13">
            <a:extLst>
              <a:ext uri="{FF2B5EF4-FFF2-40B4-BE49-F238E27FC236}">
                <a16:creationId xmlns:a16="http://schemas.microsoft.com/office/drawing/2014/main" id="{A096A616-6A60-37CA-61E1-EAFB0B2560A2}"/>
              </a:ext>
            </a:extLst>
          </p:cNvPr>
          <p:cNvSpPr>
            <a:spLocks noChangeArrowheads="1"/>
          </p:cNvSpPr>
          <p:nvPr/>
        </p:nvSpPr>
        <p:spPr bwMode="auto">
          <a:xfrm>
            <a:off x="5181600" y="3505200"/>
            <a:ext cx="1219200" cy="91440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2400" b="1">
                <a:latin typeface="Times New Roman" panose="02020603050405020304" pitchFamily="18" charset="0"/>
              </a:rPr>
              <a:t>所在系 </a:t>
            </a:r>
          </a:p>
        </p:txBody>
      </p:sp>
      <p:sp>
        <p:nvSpPr>
          <p:cNvPr id="63503" name="Line 14">
            <a:extLst>
              <a:ext uri="{FF2B5EF4-FFF2-40B4-BE49-F238E27FC236}">
                <a16:creationId xmlns:a16="http://schemas.microsoft.com/office/drawing/2014/main" id="{42862B68-6864-C642-9C1A-8F8320160F25}"/>
              </a:ext>
            </a:extLst>
          </p:cNvPr>
          <p:cNvSpPr>
            <a:spLocks noChangeShapeType="1"/>
          </p:cNvSpPr>
          <p:nvPr/>
        </p:nvSpPr>
        <p:spPr bwMode="auto">
          <a:xfrm>
            <a:off x="4953000" y="2590800"/>
            <a:ext cx="685800" cy="914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页脚占位符 4">
            <a:extLst>
              <a:ext uri="{FF2B5EF4-FFF2-40B4-BE49-F238E27FC236}">
                <a16:creationId xmlns:a16="http://schemas.microsoft.com/office/drawing/2014/main" id="{63246429-1066-F2C0-7AEB-93E3FAE9530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64515" name="Rectangle 2">
            <a:extLst>
              <a:ext uri="{FF2B5EF4-FFF2-40B4-BE49-F238E27FC236}">
                <a16:creationId xmlns:a16="http://schemas.microsoft.com/office/drawing/2014/main" id="{3442FEC8-7FE0-8B5D-314A-E695294760D2}"/>
              </a:ext>
            </a:extLst>
          </p:cNvPr>
          <p:cNvSpPr>
            <a:spLocks noGrp="1" noChangeArrowheads="1"/>
          </p:cNvSpPr>
          <p:nvPr>
            <p:ph type="title"/>
          </p:nvPr>
        </p:nvSpPr>
        <p:spPr/>
        <p:txBody>
          <a:bodyPr/>
          <a:lstStyle/>
          <a:p>
            <a:pPr eaLnBrk="1" hangingPunct="1"/>
            <a:r>
              <a:rPr lang="zh-CN" altLang="en-US"/>
              <a:t>结构冲突（续）</a:t>
            </a:r>
          </a:p>
        </p:txBody>
      </p:sp>
      <p:sp>
        <p:nvSpPr>
          <p:cNvPr id="64516" name="Rectangle 3">
            <a:extLst>
              <a:ext uri="{FF2B5EF4-FFF2-40B4-BE49-F238E27FC236}">
                <a16:creationId xmlns:a16="http://schemas.microsoft.com/office/drawing/2014/main" id="{6157550D-BACC-D230-93D7-BD558194ED7A}"/>
              </a:ext>
            </a:extLst>
          </p:cNvPr>
          <p:cNvSpPr>
            <a:spLocks noChangeArrowheads="1"/>
          </p:cNvSpPr>
          <p:nvPr/>
        </p:nvSpPr>
        <p:spPr bwMode="auto">
          <a:xfrm>
            <a:off x="3505200" y="1905000"/>
            <a:ext cx="1065213" cy="60801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2400" b="1">
                <a:latin typeface="Times New Roman" panose="02020603050405020304" pitchFamily="18" charset="0"/>
              </a:rPr>
              <a:t>学生</a:t>
            </a:r>
          </a:p>
        </p:txBody>
      </p:sp>
      <p:sp>
        <p:nvSpPr>
          <p:cNvPr id="64517" name="Oval 4">
            <a:extLst>
              <a:ext uri="{FF2B5EF4-FFF2-40B4-BE49-F238E27FC236}">
                <a16:creationId xmlns:a16="http://schemas.microsoft.com/office/drawing/2014/main" id="{51605A35-F4C6-64AA-AAB5-BB9802032A78}"/>
              </a:ext>
            </a:extLst>
          </p:cNvPr>
          <p:cNvSpPr>
            <a:spLocks noChangeArrowheads="1"/>
          </p:cNvSpPr>
          <p:nvPr/>
        </p:nvSpPr>
        <p:spPr bwMode="auto">
          <a:xfrm>
            <a:off x="5257800" y="3352800"/>
            <a:ext cx="914400" cy="91440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2400" b="1">
                <a:latin typeface="Times New Roman" panose="02020603050405020304" pitchFamily="18" charset="0"/>
              </a:rPr>
              <a:t>学号</a:t>
            </a:r>
          </a:p>
        </p:txBody>
      </p:sp>
      <p:sp>
        <p:nvSpPr>
          <p:cNvPr id="64518" name="Oval 5">
            <a:extLst>
              <a:ext uri="{FF2B5EF4-FFF2-40B4-BE49-F238E27FC236}">
                <a16:creationId xmlns:a16="http://schemas.microsoft.com/office/drawing/2014/main" id="{DB32564C-C9C2-DDAC-3152-EFFDCC7BCA27}"/>
              </a:ext>
            </a:extLst>
          </p:cNvPr>
          <p:cNvSpPr>
            <a:spLocks noChangeArrowheads="1"/>
          </p:cNvSpPr>
          <p:nvPr/>
        </p:nvSpPr>
        <p:spPr bwMode="auto">
          <a:xfrm>
            <a:off x="1447800" y="3352800"/>
            <a:ext cx="914400" cy="91440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2400" b="1">
                <a:latin typeface="Times New Roman" panose="02020603050405020304" pitchFamily="18" charset="0"/>
              </a:rPr>
              <a:t> </a:t>
            </a:r>
            <a:r>
              <a:rPr kumimoji="0" lang="zh-CN" altLang="en-US" sz="2400" b="1">
                <a:latin typeface="Times New Roman" panose="02020603050405020304" pitchFamily="18" charset="0"/>
              </a:rPr>
              <a:t>姓名</a:t>
            </a:r>
          </a:p>
        </p:txBody>
      </p:sp>
      <p:sp>
        <p:nvSpPr>
          <p:cNvPr id="64519" name="Oval 6">
            <a:extLst>
              <a:ext uri="{FF2B5EF4-FFF2-40B4-BE49-F238E27FC236}">
                <a16:creationId xmlns:a16="http://schemas.microsoft.com/office/drawing/2014/main" id="{CDDE0608-2D54-7BA9-1091-A1D26E6E3C8D}"/>
              </a:ext>
            </a:extLst>
          </p:cNvPr>
          <p:cNvSpPr>
            <a:spLocks noChangeArrowheads="1"/>
          </p:cNvSpPr>
          <p:nvPr/>
        </p:nvSpPr>
        <p:spPr bwMode="auto">
          <a:xfrm>
            <a:off x="3352800" y="3352800"/>
            <a:ext cx="1295400" cy="91440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2400" b="1">
                <a:latin typeface="Times New Roman" panose="02020603050405020304" pitchFamily="18" charset="0"/>
              </a:rPr>
              <a:t> </a:t>
            </a:r>
            <a:r>
              <a:rPr kumimoji="0" lang="zh-CN" altLang="en-US" sz="2400" b="1">
                <a:latin typeface="Times New Roman" panose="02020603050405020304" pitchFamily="18" charset="0"/>
              </a:rPr>
              <a:t>政治面貌 </a:t>
            </a:r>
          </a:p>
        </p:txBody>
      </p:sp>
      <p:sp>
        <p:nvSpPr>
          <p:cNvPr id="64520" name="Line 7">
            <a:extLst>
              <a:ext uri="{FF2B5EF4-FFF2-40B4-BE49-F238E27FC236}">
                <a16:creationId xmlns:a16="http://schemas.microsoft.com/office/drawing/2014/main" id="{5E33C4F9-5271-96A4-60C7-FFF4B0CF0036}"/>
              </a:ext>
            </a:extLst>
          </p:cNvPr>
          <p:cNvSpPr>
            <a:spLocks noChangeShapeType="1"/>
          </p:cNvSpPr>
          <p:nvPr/>
        </p:nvSpPr>
        <p:spPr bwMode="auto">
          <a:xfrm flipH="1">
            <a:off x="2209800" y="2514600"/>
            <a:ext cx="1371600" cy="990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21" name="Line 8">
            <a:extLst>
              <a:ext uri="{FF2B5EF4-FFF2-40B4-BE49-F238E27FC236}">
                <a16:creationId xmlns:a16="http://schemas.microsoft.com/office/drawing/2014/main" id="{95E21205-A83C-08E4-FB58-B266ED9722F8}"/>
              </a:ext>
            </a:extLst>
          </p:cNvPr>
          <p:cNvSpPr>
            <a:spLocks noChangeShapeType="1"/>
          </p:cNvSpPr>
          <p:nvPr/>
        </p:nvSpPr>
        <p:spPr bwMode="auto">
          <a:xfrm>
            <a:off x="4343400" y="2514600"/>
            <a:ext cx="1219200" cy="838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22" name="Line 9">
            <a:extLst>
              <a:ext uri="{FF2B5EF4-FFF2-40B4-BE49-F238E27FC236}">
                <a16:creationId xmlns:a16="http://schemas.microsoft.com/office/drawing/2014/main" id="{F9D1EF14-80B2-E3D9-244E-339E2CD97F6B}"/>
              </a:ext>
            </a:extLst>
          </p:cNvPr>
          <p:cNvSpPr>
            <a:spLocks noChangeShapeType="1"/>
          </p:cNvSpPr>
          <p:nvPr/>
        </p:nvSpPr>
        <p:spPr bwMode="auto">
          <a:xfrm>
            <a:off x="3962400" y="2514600"/>
            <a:ext cx="0" cy="838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23" name="Rectangle 10">
            <a:extLst>
              <a:ext uri="{FF2B5EF4-FFF2-40B4-BE49-F238E27FC236}">
                <a16:creationId xmlns:a16="http://schemas.microsoft.com/office/drawing/2014/main" id="{8DA105F3-F9FB-4A0D-9418-9AC1D3509A1A}"/>
              </a:ext>
            </a:extLst>
          </p:cNvPr>
          <p:cNvSpPr>
            <a:spLocks noChangeArrowheads="1"/>
          </p:cNvSpPr>
          <p:nvPr/>
        </p:nvSpPr>
        <p:spPr bwMode="auto">
          <a:xfrm>
            <a:off x="3352800" y="4953000"/>
            <a:ext cx="2971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2400" b="1">
                <a:latin typeface="Times New Roman" panose="02020603050405020304" pitchFamily="18" charset="0"/>
              </a:rPr>
              <a:t>(c)</a:t>
            </a:r>
            <a:r>
              <a:rPr kumimoji="0" lang="zh-CN" altLang="en-US" sz="2400" b="1">
                <a:latin typeface="Times New Roman" panose="02020603050405020304" pitchFamily="18" charset="0"/>
              </a:rPr>
              <a:t>在局部应用</a:t>
            </a:r>
            <a:r>
              <a:rPr kumimoji="0" lang="en-US" altLang="zh-CN" sz="2400" b="1">
                <a:latin typeface="Times New Roman" panose="02020603050405020304" pitchFamily="18" charset="0"/>
              </a:rPr>
              <a:t>C</a:t>
            </a:r>
            <a:r>
              <a:rPr kumimoji="0" lang="zh-CN" altLang="en-US" sz="2400" b="1">
                <a:latin typeface="Times New Roman" panose="02020603050405020304" pitchFamily="18" charset="0"/>
              </a:rPr>
              <a:t>中</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页脚占位符 4">
            <a:extLst>
              <a:ext uri="{FF2B5EF4-FFF2-40B4-BE49-F238E27FC236}">
                <a16:creationId xmlns:a16="http://schemas.microsoft.com/office/drawing/2014/main" id="{5EF85347-6123-0449-7810-FA81AAC7201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65539" name="Rectangle 2">
            <a:extLst>
              <a:ext uri="{FF2B5EF4-FFF2-40B4-BE49-F238E27FC236}">
                <a16:creationId xmlns:a16="http://schemas.microsoft.com/office/drawing/2014/main" id="{58567CE0-ABC9-CC3B-7DA5-4CF7143F0A60}"/>
              </a:ext>
            </a:extLst>
          </p:cNvPr>
          <p:cNvSpPr>
            <a:spLocks noGrp="1" noChangeArrowheads="1"/>
          </p:cNvSpPr>
          <p:nvPr>
            <p:ph type="title"/>
          </p:nvPr>
        </p:nvSpPr>
        <p:spPr/>
        <p:txBody>
          <a:bodyPr/>
          <a:lstStyle/>
          <a:p>
            <a:pPr eaLnBrk="1" hangingPunct="1"/>
            <a:r>
              <a:rPr lang="zh-CN" altLang="en-US"/>
              <a:t>结构冲突（续）</a:t>
            </a:r>
          </a:p>
        </p:txBody>
      </p:sp>
      <p:sp>
        <p:nvSpPr>
          <p:cNvPr id="65540" name="Rectangle 3">
            <a:extLst>
              <a:ext uri="{FF2B5EF4-FFF2-40B4-BE49-F238E27FC236}">
                <a16:creationId xmlns:a16="http://schemas.microsoft.com/office/drawing/2014/main" id="{FD37D86C-F2BF-1781-577D-0ACA44448D6F}"/>
              </a:ext>
            </a:extLst>
          </p:cNvPr>
          <p:cNvSpPr>
            <a:spLocks noChangeArrowheads="1"/>
          </p:cNvSpPr>
          <p:nvPr/>
        </p:nvSpPr>
        <p:spPr bwMode="auto">
          <a:xfrm>
            <a:off x="4114800" y="1981200"/>
            <a:ext cx="1065213" cy="60801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2400" b="1">
                <a:latin typeface="Times New Roman" panose="02020603050405020304" pitchFamily="18" charset="0"/>
              </a:rPr>
              <a:t>学生</a:t>
            </a:r>
          </a:p>
        </p:txBody>
      </p:sp>
      <p:sp>
        <p:nvSpPr>
          <p:cNvPr id="65541" name="Oval 4">
            <a:extLst>
              <a:ext uri="{FF2B5EF4-FFF2-40B4-BE49-F238E27FC236}">
                <a16:creationId xmlns:a16="http://schemas.microsoft.com/office/drawing/2014/main" id="{D52BC9A2-3686-6FB4-9FD5-EE4247DF4309}"/>
              </a:ext>
            </a:extLst>
          </p:cNvPr>
          <p:cNvSpPr>
            <a:spLocks noChangeArrowheads="1"/>
          </p:cNvSpPr>
          <p:nvPr/>
        </p:nvSpPr>
        <p:spPr bwMode="auto">
          <a:xfrm>
            <a:off x="3810000" y="3429000"/>
            <a:ext cx="914400" cy="76200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2400" b="1">
                <a:latin typeface="Times New Roman" panose="02020603050405020304" pitchFamily="18" charset="0"/>
              </a:rPr>
              <a:t> </a:t>
            </a:r>
            <a:r>
              <a:rPr kumimoji="0" lang="zh-CN" altLang="en-US" sz="2400" b="1">
                <a:latin typeface="Times New Roman" panose="02020603050405020304" pitchFamily="18" charset="0"/>
              </a:rPr>
              <a:t>政治</a:t>
            </a:r>
          </a:p>
          <a:p>
            <a:pPr algn="ctr">
              <a:spcBef>
                <a:spcPct val="0"/>
              </a:spcBef>
              <a:buClrTx/>
              <a:buSzTx/>
              <a:buFontTx/>
              <a:buNone/>
            </a:pPr>
            <a:r>
              <a:rPr kumimoji="0" lang="zh-CN" altLang="en-US" sz="2400" b="1">
                <a:latin typeface="Times New Roman" panose="02020603050405020304" pitchFamily="18" charset="0"/>
              </a:rPr>
              <a:t>面貌 </a:t>
            </a:r>
          </a:p>
        </p:txBody>
      </p:sp>
      <p:sp>
        <p:nvSpPr>
          <p:cNvPr id="65542" name="Oval 5">
            <a:extLst>
              <a:ext uri="{FF2B5EF4-FFF2-40B4-BE49-F238E27FC236}">
                <a16:creationId xmlns:a16="http://schemas.microsoft.com/office/drawing/2014/main" id="{F511076B-F1AF-9D88-8142-91BD7A1DB754}"/>
              </a:ext>
            </a:extLst>
          </p:cNvPr>
          <p:cNvSpPr>
            <a:spLocks noChangeArrowheads="1"/>
          </p:cNvSpPr>
          <p:nvPr/>
        </p:nvSpPr>
        <p:spPr bwMode="auto">
          <a:xfrm>
            <a:off x="990600" y="3352800"/>
            <a:ext cx="762000" cy="76200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2400" b="1">
                <a:latin typeface="Times New Roman" panose="02020603050405020304" pitchFamily="18" charset="0"/>
              </a:rPr>
              <a:t> </a:t>
            </a:r>
            <a:r>
              <a:rPr kumimoji="0" lang="zh-CN" altLang="en-US" sz="2400" b="1">
                <a:latin typeface="Times New Roman" panose="02020603050405020304" pitchFamily="18" charset="0"/>
              </a:rPr>
              <a:t>学号</a:t>
            </a:r>
          </a:p>
        </p:txBody>
      </p:sp>
      <p:sp>
        <p:nvSpPr>
          <p:cNvPr id="65543" name="Oval 6">
            <a:extLst>
              <a:ext uri="{FF2B5EF4-FFF2-40B4-BE49-F238E27FC236}">
                <a16:creationId xmlns:a16="http://schemas.microsoft.com/office/drawing/2014/main" id="{4477E43B-E6A7-F70A-3D15-2F3E00519615}"/>
              </a:ext>
            </a:extLst>
          </p:cNvPr>
          <p:cNvSpPr>
            <a:spLocks noChangeArrowheads="1"/>
          </p:cNvSpPr>
          <p:nvPr/>
        </p:nvSpPr>
        <p:spPr bwMode="auto">
          <a:xfrm>
            <a:off x="2667000" y="3352800"/>
            <a:ext cx="990600" cy="91440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2400" b="1">
                <a:latin typeface="Times New Roman" panose="02020603050405020304" pitchFamily="18" charset="0"/>
              </a:rPr>
              <a:t>出生</a:t>
            </a:r>
          </a:p>
          <a:p>
            <a:pPr algn="ctr">
              <a:spcBef>
                <a:spcPct val="0"/>
              </a:spcBef>
              <a:buClrTx/>
              <a:buSzTx/>
              <a:buFontTx/>
              <a:buNone/>
            </a:pPr>
            <a:r>
              <a:rPr kumimoji="0" lang="zh-CN" altLang="en-US" sz="2400" b="1">
                <a:latin typeface="Times New Roman" panose="02020603050405020304" pitchFamily="18" charset="0"/>
              </a:rPr>
              <a:t>日期</a:t>
            </a:r>
          </a:p>
        </p:txBody>
      </p:sp>
      <p:sp>
        <p:nvSpPr>
          <p:cNvPr id="65544" name="Oval 7">
            <a:extLst>
              <a:ext uri="{FF2B5EF4-FFF2-40B4-BE49-F238E27FC236}">
                <a16:creationId xmlns:a16="http://schemas.microsoft.com/office/drawing/2014/main" id="{FA8C7BBE-2454-AF36-5044-64F6B85B9C45}"/>
              </a:ext>
            </a:extLst>
          </p:cNvPr>
          <p:cNvSpPr>
            <a:spLocks noChangeArrowheads="1"/>
          </p:cNvSpPr>
          <p:nvPr/>
        </p:nvSpPr>
        <p:spPr bwMode="auto">
          <a:xfrm>
            <a:off x="6096000" y="3505200"/>
            <a:ext cx="762000" cy="76200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2400" b="1">
                <a:latin typeface="Times New Roman" panose="02020603050405020304" pitchFamily="18" charset="0"/>
              </a:rPr>
              <a:t>年级</a:t>
            </a:r>
          </a:p>
        </p:txBody>
      </p:sp>
      <p:sp>
        <p:nvSpPr>
          <p:cNvPr id="65545" name="Line 8">
            <a:extLst>
              <a:ext uri="{FF2B5EF4-FFF2-40B4-BE49-F238E27FC236}">
                <a16:creationId xmlns:a16="http://schemas.microsoft.com/office/drawing/2014/main" id="{789E8F0F-4D3B-FE24-358A-75FBE8CE8EA2}"/>
              </a:ext>
            </a:extLst>
          </p:cNvPr>
          <p:cNvSpPr>
            <a:spLocks noChangeShapeType="1"/>
          </p:cNvSpPr>
          <p:nvPr/>
        </p:nvSpPr>
        <p:spPr bwMode="auto">
          <a:xfrm flipH="1">
            <a:off x="1447800" y="2514600"/>
            <a:ext cx="2667000" cy="838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546" name="Line 9">
            <a:extLst>
              <a:ext uri="{FF2B5EF4-FFF2-40B4-BE49-F238E27FC236}">
                <a16:creationId xmlns:a16="http://schemas.microsoft.com/office/drawing/2014/main" id="{ADB1E83C-2ACD-63A4-3844-CAE2FE02FC4B}"/>
              </a:ext>
            </a:extLst>
          </p:cNvPr>
          <p:cNvSpPr>
            <a:spLocks noChangeShapeType="1"/>
          </p:cNvSpPr>
          <p:nvPr/>
        </p:nvSpPr>
        <p:spPr bwMode="auto">
          <a:xfrm flipH="1">
            <a:off x="3505200" y="2590800"/>
            <a:ext cx="762000" cy="838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547" name="Line 10">
            <a:extLst>
              <a:ext uri="{FF2B5EF4-FFF2-40B4-BE49-F238E27FC236}">
                <a16:creationId xmlns:a16="http://schemas.microsoft.com/office/drawing/2014/main" id="{E8EF3EF3-43BC-4641-C7DA-02B84944665B}"/>
              </a:ext>
            </a:extLst>
          </p:cNvPr>
          <p:cNvSpPr>
            <a:spLocks noChangeShapeType="1"/>
          </p:cNvSpPr>
          <p:nvPr/>
        </p:nvSpPr>
        <p:spPr bwMode="auto">
          <a:xfrm>
            <a:off x="4343400" y="2590800"/>
            <a:ext cx="0" cy="838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548" name="Line 11">
            <a:extLst>
              <a:ext uri="{FF2B5EF4-FFF2-40B4-BE49-F238E27FC236}">
                <a16:creationId xmlns:a16="http://schemas.microsoft.com/office/drawing/2014/main" id="{A821970D-D535-BBB7-5720-F349F4F137C4}"/>
              </a:ext>
            </a:extLst>
          </p:cNvPr>
          <p:cNvSpPr>
            <a:spLocks noChangeShapeType="1"/>
          </p:cNvSpPr>
          <p:nvPr/>
        </p:nvSpPr>
        <p:spPr bwMode="auto">
          <a:xfrm>
            <a:off x="5181600" y="2590800"/>
            <a:ext cx="1524000" cy="990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549" name="Rectangle 12">
            <a:extLst>
              <a:ext uri="{FF2B5EF4-FFF2-40B4-BE49-F238E27FC236}">
                <a16:creationId xmlns:a16="http://schemas.microsoft.com/office/drawing/2014/main" id="{6ACAFE0B-4548-8668-DFA6-51E238C805A7}"/>
              </a:ext>
            </a:extLst>
          </p:cNvPr>
          <p:cNvSpPr>
            <a:spLocks noChangeArrowheads="1"/>
          </p:cNvSpPr>
          <p:nvPr/>
        </p:nvSpPr>
        <p:spPr bwMode="auto">
          <a:xfrm>
            <a:off x="3352800" y="4953000"/>
            <a:ext cx="2971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en-US" altLang="zh-CN" sz="2400" b="1">
                <a:latin typeface="Times New Roman" panose="02020603050405020304" pitchFamily="18" charset="0"/>
              </a:rPr>
              <a:t>(d)</a:t>
            </a:r>
            <a:r>
              <a:rPr kumimoji="0" lang="zh-CN" altLang="en-US" sz="2400" b="1">
                <a:latin typeface="Times New Roman" panose="02020603050405020304" pitchFamily="18" charset="0"/>
              </a:rPr>
              <a:t>合并后</a:t>
            </a:r>
          </a:p>
        </p:txBody>
      </p:sp>
      <p:sp>
        <p:nvSpPr>
          <p:cNvPr id="65550" name="Oval 13">
            <a:extLst>
              <a:ext uri="{FF2B5EF4-FFF2-40B4-BE49-F238E27FC236}">
                <a16:creationId xmlns:a16="http://schemas.microsoft.com/office/drawing/2014/main" id="{6C0B8169-CF56-2ACA-D299-9682A31A3955}"/>
              </a:ext>
            </a:extLst>
          </p:cNvPr>
          <p:cNvSpPr>
            <a:spLocks noChangeArrowheads="1"/>
          </p:cNvSpPr>
          <p:nvPr/>
        </p:nvSpPr>
        <p:spPr bwMode="auto">
          <a:xfrm>
            <a:off x="4953000" y="3429000"/>
            <a:ext cx="990600" cy="91440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2400" b="1">
                <a:latin typeface="Times New Roman" panose="02020603050405020304" pitchFamily="18" charset="0"/>
              </a:rPr>
              <a:t>所在系 </a:t>
            </a:r>
          </a:p>
        </p:txBody>
      </p:sp>
      <p:sp>
        <p:nvSpPr>
          <p:cNvPr id="65551" name="Line 14">
            <a:extLst>
              <a:ext uri="{FF2B5EF4-FFF2-40B4-BE49-F238E27FC236}">
                <a16:creationId xmlns:a16="http://schemas.microsoft.com/office/drawing/2014/main" id="{0AA556F3-3B5C-1706-13C3-6819FA71C099}"/>
              </a:ext>
            </a:extLst>
          </p:cNvPr>
          <p:cNvSpPr>
            <a:spLocks noChangeShapeType="1"/>
          </p:cNvSpPr>
          <p:nvPr/>
        </p:nvSpPr>
        <p:spPr bwMode="auto">
          <a:xfrm>
            <a:off x="4953000" y="2590800"/>
            <a:ext cx="685800" cy="914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552" name="Oval 15">
            <a:extLst>
              <a:ext uri="{FF2B5EF4-FFF2-40B4-BE49-F238E27FC236}">
                <a16:creationId xmlns:a16="http://schemas.microsoft.com/office/drawing/2014/main" id="{565B0675-3A63-DA16-D990-E4193E7FA10D}"/>
              </a:ext>
            </a:extLst>
          </p:cNvPr>
          <p:cNvSpPr>
            <a:spLocks noChangeArrowheads="1"/>
          </p:cNvSpPr>
          <p:nvPr/>
        </p:nvSpPr>
        <p:spPr bwMode="auto">
          <a:xfrm>
            <a:off x="7848600" y="3429000"/>
            <a:ext cx="914400" cy="91440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2400" b="1">
                <a:latin typeface="Times New Roman" panose="02020603050405020304" pitchFamily="18" charset="0"/>
              </a:rPr>
              <a:t>平均</a:t>
            </a:r>
          </a:p>
          <a:p>
            <a:pPr algn="ctr">
              <a:spcBef>
                <a:spcPct val="0"/>
              </a:spcBef>
              <a:buClrTx/>
              <a:buSzTx/>
              <a:buFontTx/>
              <a:buNone/>
            </a:pPr>
            <a:r>
              <a:rPr kumimoji="0" lang="zh-CN" altLang="en-US" sz="2400" b="1">
                <a:latin typeface="Times New Roman" panose="02020603050405020304" pitchFamily="18" charset="0"/>
              </a:rPr>
              <a:t>成绩</a:t>
            </a:r>
          </a:p>
        </p:txBody>
      </p:sp>
      <p:sp>
        <p:nvSpPr>
          <p:cNvPr id="65553" name="Oval 16">
            <a:extLst>
              <a:ext uri="{FF2B5EF4-FFF2-40B4-BE49-F238E27FC236}">
                <a16:creationId xmlns:a16="http://schemas.microsoft.com/office/drawing/2014/main" id="{22B6A1AB-69C9-EFAA-5988-B749A4F41975}"/>
              </a:ext>
            </a:extLst>
          </p:cNvPr>
          <p:cNvSpPr>
            <a:spLocks noChangeArrowheads="1"/>
          </p:cNvSpPr>
          <p:nvPr/>
        </p:nvSpPr>
        <p:spPr bwMode="auto">
          <a:xfrm>
            <a:off x="1828800" y="3429000"/>
            <a:ext cx="762000" cy="76200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2400" b="1">
                <a:latin typeface="Times New Roman" panose="02020603050405020304" pitchFamily="18" charset="0"/>
              </a:rPr>
              <a:t>姓名</a:t>
            </a:r>
          </a:p>
        </p:txBody>
      </p:sp>
      <p:sp>
        <p:nvSpPr>
          <p:cNvPr id="65554" name="Oval 17">
            <a:extLst>
              <a:ext uri="{FF2B5EF4-FFF2-40B4-BE49-F238E27FC236}">
                <a16:creationId xmlns:a16="http://schemas.microsoft.com/office/drawing/2014/main" id="{4B451BB0-9679-A785-43DF-60ADFDE2EBB5}"/>
              </a:ext>
            </a:extLst>
          </p:cNvPr>
          <p:cNvSpPr>
            <a:spLocks noChangeArrowheads="1"/>
          </p:cNvSpPr>
          <p:nvPr/>
        </p:nvSpPr>
        <p:spPr bwMode="auto">
          <a:xfrm>
            <a:off x="6934200" y="3505200"/>
            <a:ext cx="762000" cy="76200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kumimoji="0" lang="zh-CN" altLang="en-US" sz="2400" b="1">
                <a:latin typeface="Times New Roman" panose="02020603050405020304" pitchFamily="18" charset="0"/>
              </a:rPr>
              <a:t>性别</a:t>
            </a:r>
          </a:p>
        </p:txBody>
      </p:sp>
      <p:sp>
        <p:nvSpPr>
          <p:cNvPr id="65555" name="Line 18">
            <a:extLst>
              <a:ext uri="{FF2B5EF4-FFF2-40B4-BE49-F238E27FC236}">
                <a16:creationId xmlns:a16="http://schemas.microsoft.com/office/drawing/2014/main" id="{832272DD-9A56-F7F5-B7EE-BE2001481CE6}"/>
              </a:ext>
            </a:extLst>
          </p:cNvPr>
          <p:cNvSpPr>
            <a:spLocks noChangeShapeType="1"/>
          </p:cNvSpPr>
          <p:nvPr/>
        </p:nvSpPr>
        <p:spPr bwMode="auto">
          <a:xfrm flipV="1">
            <a:off x="2286000" y="2590800"/>
            <a:ext cx="1905000" cy="838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556" name="Line 19">
            <a:extLst>
              <a:ext uri="{FF2B5EF4-FFF2-40B4-BE49-F238E27FC236}">
                <a16:creationId xmlns:a16="http://schemas.microsoft.com/office/drawing/2014/main" id="{1088707A-F89B-6B9F-A278-A7ADB0532029}"/>
              </a:ext>
            </a:extLst>
          </p:cNvPr>
          <p:cNvSpPr>
            <a:spLocks noChangeShapeType="1"/>
          </p:cNvSpPr>
          <p:nvPr/>
        </p:nvSpPr>
        <p:spPr bwMode="auto">
          <a:xfrm>
            <a:off x="5181600" y="2514600"/>
            <a:ext cx="2057400" cy="990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557" name="Line 20">
            <a:extLst>
              <a:ext uri="{FF2B5EF4-FFF2-40B4-BE49-F238E27FC236}">
                <a16:creationId xmlns:a16="http://schemas.microsoft.com/office/drawing/2014/main" id="{6ABCC8ED-F30C-2878-A562-D24EF345C869}"/>
              </a:ext>
            </a:extLst>
          </p:cNvPr>
          <p:cNvSpPr>
            <a:spLocks noChangeShapeType="1"/>
          </p:cNvSpPr>
          <p:nvPr/>
        </p:nvSpPr>
        <p:spPr bwMode="auto">
          <a:xfrm>
            <a:off x="5181600" y="2438400"/>
            <a:ext cx="3124200" cy="990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页脚占位符 3">
            <a:extLst>
              <a:ext uri="{FF2B5EF4-FFF2-40B4-BE49-F238E27FC236}">
                <a16:creationId xmlns:a16="http://schemas.microsoft.com/office/drawing/2014/main" id="{01ED9C48-50AC-7C97-F2EA-705DE9A219EF}"/>
              </a:ext>
            </a:extLst>
          </p:cNvPr>
          <p:cNvSpPr>
            <a:spLocks noGrp="1"/>
          </p:cNvSpPr>
          <p:nvPr>
            <p:ph type="ftr" sz="quarter" idx="11"/>
          </p:nvPr>
        </p:nvSpPr>
        <p:spPr>
          <a:xfrm>
            <a:off x="2714625" y="6000750"/>
            <a:ext cx="3735388"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zh-CN" altLang="en-US" sz="1800" b="1">
                <a:latin typeface="Principals of Database System"/>
              </a:rPr>
              <a:t>学生管理子系统的初步</a:t>
            </a:r>
            <a:r>
              <a:rPr kumimoji="0" lang="en-US" altLang="zh-CN" sz="1800" b="1">
                <a:latin typeface="Principals of Database System"/>
              </a:rPr>
              <a:t>E-R</a:t>
            </a:r>
            <a:r>
              <a:rPr kumimoji="0" lang="zh-CN" altLang="en-US" sz="1800" b="1">
                <a:latin typeface="Principals of Database System"/>
              </a:rPr>
              <a:t>图</a:t>
            </a:r>
            <a:endParaRPr kumimoji="0" lang="en-US" altLang="zh-CN" sz="1800" b="1">
              <a:latin typeface="Principals of Database System"/>
            </a:endParaRPr>
          </a:p>
        </p:txBody>
      </p:sp>
      <p:sp>
        <p:nvSpPr>
          <p:cNvPr id="66563" name="Rectangle 3">
            <a:extLst>
              <a:ext uri="{FF2B5EF4-FFF2-40B4-BE49-F238E27FC236}">
                <a16:creationId xmlns:a16="http://schemas.microsoft.com/office/drawing/2014/main" id="{67B75FEF-47ED-2F49-13AC-B622536D7A48}"/>
              </a:ext>
            </a:extLst>
          </p:cNvPr>
          <p:cNvSpPr>
            <a:spLocks noChangeArrowheads="1"/>
          </p:cNvSpPr>
          <p:nvPr/>
        </p:nvSpPr>
        <p:spPr bwMode="auto">
          <a:xfrm>
            <a:off x="1150938" y="617538"/>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zh-CN" altLang="en-US" sz="2400" b="1">
                <a:solidFill>
                  <a:schemeClr val="tx2"/>
                </a:solidFill>
                <a:ea typeface="仿宋_GB2312" panose="02010609030101010101" pitchFamily="49" charset="-122"/>
              </a:rPr>
              <a:t>合并分</a:t>
            </a:r>
            <a:r>
              <a:rPr lang="en-US" altLang="zh-CN" sz="2400" b="1">
                <a:solidFill>
                  <a:schemeClr val="tx2"/>
                </a:solidFill>
                <a:ea typeface="仿宋_GB2312" panose="02010609030101010101" pitchFamily="49" charset="-122"/>
              </a:rPr>
              <a:t>E-R</a:t>
            </a:r>
            <a:r>
              <a:rPr lang="zh-CN" altLang="en-US" sz="2400" b="1">
                <a:solidFill>
                  <a:schemeClr val="tx2"/>
                </a:solidFill>
                <a:ea typeface="仿宋_GB2312" panose="02010609030101010101" pitchFamily="49" charset="-122"/>
              </a:rPr>
              <a:t>图，生成初步</a:t>
            </a:r>
            <a:r>
              <a:rPr lang="en-US" altLang="zh-CN" sz="2400" b="1">
                <a:solidFill>
                  <a:schemeClr val="tx2"/>
                </a:solidFill>
                <a:ea typeface="仿宋_GB2312" panose="02010609030101010101" pitchFamily="49" charset="-122"/>
              </a:rPr>
              <a:t>E-R</a:t>
            </a:r>
            <a:r>
              <a:rPr lang="zh-CN" altLang="en-US" sz="2400" b="1">
                <a:solidFill>
                  <a:schemeClr val="tx2"/>
                </a:solidFill>
                <a:ea typeface="仿宋_GB2312" panose="02010609030101010101" pitchFamily="49" charset="-122"/>
              </a:rPr>
              <a:t>图实例（续）</a:t>
            </a:r>
          </a:p>
        </p:txBody>
      </p:sp>
      <p:pic>
        <p:nvPicPr>
          <p:cNvPr id="66564" name="Picture 5">
            <a:extLst>
              <a:ext uri="{FF2B5EF4-FFF2-40B4-BE49-F238E27FC236}">
                <a16:creationId xmlns:a16="http://schemas.microsoft.com/office/drawing/2014/main" id="{FC351D07-17DC-0F1C-A438-3D279BEBB4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188" y="1857375"/>
            <a:ext cx="8662987" cy="392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页脚占位符 4">
            <a:extLst>
              <a:ext uri="{FF2B5EF4-FFF2-40B4-BE49-F238E27FC236}">
                <a16:creationId xmlns:a16="http://schemas.microsoft.com/office/drawing/2014/main" id="{BDE2059E-546A-B995-B42F-CB9DAE0E3BF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en-US" altLang="zh-CN" sz="1400">
                <a:solidFill>
                  <a:schemeClr val="hlink"/>
                </a:solidFill>
                <a:latin typeface="Principals of Database System"/>
              </a:rPr>
              <a:t>An Introduction to Database System</a:t>
            </a:r>
          </a:p>
        </p:txBody>
      </p:sp>
      <p:sp>
        <p:nvSpPr>
          <p:cNvPr id="67587" name="Rectangle 2">
            <a:extLst>
              <a:ext uri="{FF2B5EF4-FFF2-40B4-BE49-F238E27FC236}">
                <a16:creationId xmlns:a16="http://schemas.microsoft.com/office/drawing/2014/main" id="{55A5301E-D3CB-A20C-4CAB-B839DE421B7C}"/>
              </a:ext>
            </a:extLst>
          </p:cNvPr>
          <p:cNvSpPr>
            <a:spLocks noGrp="1" noChangeArrowheads="1"/>
          </p:cNvSpPr>
          <p:nvPr>
            <p:ph type="title"/>
          </p:nvPr>
        </p:nvSpPr>
        <p:spPr/>
        <p:txBody>
          <a:bodyPr/>
          <a:lstStyle/>
          <a:p>
            <a:pPr eaLnBrk="1" hangingPunct="1"/>
            <a:r>
              <a:rPr lang="en-US" altLang="zh-CN"/>
              <a:t>2.</a:t>
            </a:r>
            <a:r>
              <a:rPr lang="zh-CN" altLang="en-US"/>
              <a:t>修改与重构，生成基本</a:t>
            </a:r>
            <a:r>
              <a:rPr lang="en-US" altLang="zh-CN"/>
              <a:t>E-R</a:t>
            </a:r>
            <a:r>
              <a:rPr lang="zh-CN" altLang="en-US"/>
              <a:t>图</a:t>
            </a:r>
          </a:p>
        </p:txBody>
      </p:sp>
      <p:sp>
        <p:nvSpPr>
          <p:cNvPr id="58372" name="Rectangle 3">
            <a:extLst>
              <a:ext uri="{FF2B5EF4-FFF2-40B4-BE49-F238E27FC236}">
                <a16:creationId xmlns:a16="http://schemas.microsoft.com/office/drawing/2014/main" id="{0F627DE7-BCF1-0B49-A5A3-99A1D765165A}"/>
              </a:ext>
            </a:extLst>
          </p:cNvPr>
          <p:cNvSpPr>
            <a:spLocks noGrp="1" noChangeArrowheads="1"/>
          </p:cNvSpPr>
          <p:nvPr>
            <p:ph type="body" idx="1"/>
          </p:nvPr>
        </p:nvSpPr>
        <p:spPr>
          <a:xfrm>
            <a:off x="323850" y="2017713"/>
            <a:ext cx="8631238" cy="4114800"/>
          </a:xfrm>
        </p:spPr>
        <p:txBody>
          <a:bodyPr/>
          <a:lstStyle/>
          <a:p>
            <a:pPr marL="609600" indent="-609600" eaLnBrk="1" hangingPunct="1">
              <a:buFont typeface="Wingdings" panose="05000000000000000000" pitchFamily="2" charset="2"/>
              <a:buAutoNum type="arabicPeriod"/>
            </a:pPr>
            <a:r>
              <a:rPr lang="zh-CN" altLang="en-US" sz="2800">
                <a:latin typeface="Times New Roman" panose="02020603050405020304" pitchFamily="18" charset="0"/>
                <a:cs typeface="Times New Roman" panose="02020603050405020304" pitchFamily="18" charset="0"/>
              </a:rPr>
              <a:t>整体概念结构内部必须具有一致性。</a:t>
            </a:r>
          </a:p>
          <a:p>
            <a:pPr marL="609600" indent="-609600" eaLnBrk="1" hangingPunct="1">
              <a:buFont typeface="Wingdings" panose="05000000000000000000" pitchFamily="2" charset="2"/>
              <a:buAutoNum type="arabicPeriod"/>
            </a:pPr>
            <a:r>
              <a:rPr lang="zh-CN" altLang="en-US" sz="2800">
                <a:latin typeface="Times New Roman" panose="02020603050405020304" pitchFamily="18" charset="0"/>
                <a:cs typeface="Times New Roman" panose="02020603050405020304" pitchFamily="18" charset="0"/>
              </a:rPr>
              <a:t>整体概念结构能准确地反映原来的每个视图结构。</a:t>
            </a:r>
          </a:p>
          <a:p>
            <a:pPr marL="609600" indent="-609600" eaLnBrk="1" hangingPunct="1">
              <a:buFont typeface="Wingdings" panose="05000000000000000000" pitchFamily="2" charset="2"/>
              <a:buAutoNum type="arabicPeriod"/>
            </a:pPr>
            <a:r>
              <a:rPr lang="zh-CN" altLang="en-US" sz="2800">
                <a:latin typeface="Times New Roman" panose="02020603050405020304" pitchFamily="18" charset="0"/>
                <a:cs typeface="Times New Roman" panose="02020603050405020304" pitchFamily="18" charset="0"/>
              </a:rPr>
              <a:t>整体概念结构能满足需求阶段所确定的所有需求。</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58372">
                                            <p:txEl>
                                              <p:pRg st="0" end="0"/>
                                            </p:txEl>
                                          </p:spTgt>
                                        </p:tgtEl>
                                        <p:attrNameLst>
                                          <p:attrName>style.visibility</p:attrName>
                                        </p:attrNameLst>
                                      </p:cBhvr>
                                      <p:to>
                                        <p:strVal val="visible"/>
                                      </p:to>
                                    </p:set>
                                    <p:animEffect transition="in" filter="box(in)">
                                      <p:cBhvr>
                                        <p:cTn id="7" dur="500"/>
                                        <p:tgtEl>
                                          <p:spTgt spid="58372">
                                            <p:txEl>
                                              <p:pRg st="0" end="0"/>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58372">
                                            <p:txEl>
                                              <p:pRg st="1" end="1"/>
                                            </p:txEl>
                                          </p:spTgt>
                                        </p:tgtEl>
                                        <p:attrNameLst>
                                          <p:attrName>style.visibility</p:attrName>
                                        </p:attrNameLst>
                                      </p:cBhvr>
                                      <p:to>
                                        <p:strVal val="visible"/>
                                      </p:to>
                                    </p:set>
                                    <p:animEffect transition="in" filter="box(in)">
                                      <p:cBhvr>
                                        <p:cTn id="10" dur="500"/>
                                        <p:tgtEl>
                                          <p:spTgt spid="58372">
                                            <p:txEl>
                                              <p:pRg st="1" end="1"/>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58372">
                                            <p:txEl>
                                              <p:pRg st="2" end="2"/>
                                            </p:txEl>
                                          </p:spTgt>
                                        </p:tgtEl>
                                        <p:attrNameLst>
                                          <p:attrName>style.visibility</p:attrName>
                                        </p:attrNameLst>
                                      </p:cBhvr>
                                      <p:to>
                                        <p:strVal val="visible"/>
                                      </p:to>
                                    </p:set>
                                    <p:animEffect transition="in" filter="box(in)">
                                      <p:cBhvr>
                                        <p:cTn id="13" dur="500"/>
                                        <p:tgtEl>
                                          <p:spTgt spid="5837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A8BAEB6F-CDAD-5632-611E-BFC15CB492C4}"/>
              </a:ext>
            </a:extLst>
          </p:cNvPr>
          <p:cNvSpPr>
            <a:spLocks noGrp="1" noChangeArrowheads="1"/>
          </p:cNvSpPr>
          <p:nvPr>
            <p:ph type="title"/>
          </p:nvPr>
        </p:nvSpPr>
        <p:spPr/>
        <p:txBody>
          <a:bodyPr/>
          <a:lstStyle/>
          <a:p>
            <a:pPr eaLnBrk="1" hangingPunct="1"/>
            <a:r>
              <a:rPr lang="zh-CN" altLang="en-US" sz="2400"/>
              <a:t>消除冗余，设计生成基本</a:t>
            </a:r>
            <a:r>
              <a:rPr lang="en-US" altLang="zh-CN" sz="2400"/>
              <a:t>E-R</a:t>
            </a:r>
            <a:r>
              <a:rPr lang="zh-CN" altLang="en-US" sz="2400"/>
              <a:t>图实例（续）</a:t>
            </a:r>
          </a:p>
        </p:txBody>
      </p:sp>
      <p:sp>
        <p:nvSpPr>
          <p:cNvPr id="68611" name="Rectangle 3">
            <a:extLst>
              <a:ext uri="{FF2B5EF4-FFF2-40B4-BE49-F238E27FC236}">
                <a16:creationId xmlns:a16="http://schemas.microsoft.com/office/drawing/2014/main" id="{2B592BE6-B5C6-EC07-18B5-BAF60FF258F4}"/>
              </a:ext>
            </a:extLst>
          </p:cNvPr>
          <p:cNvSpPr>
            <a:spLocks noGrp="1" noChangeArrowheads="1"/>
          </p:cNvSpPr>
          <p:nvPr>
            <p:ph type="body" sz="half" idx="1"/>
          </p:nvPr>
        </p:nvSpPr>
        <p:spPr>
          <a:xfrm>
            <a:off x="1182688" y="1916113"/>
            <a:ext cx="7637462" cy="720725"/>
          </a:xfrm>
        </p:spPr>
        <p:txBody>
          <a:bodyPr/>
          <a:lstStyle/>
          <a:p>
            <a:pPr eaLnBrk="1" hangingPunct="1">
              <a:buFont typeface="Wingdings" panose="05000000000000000000" pitchFamily="2" charset="2"/>
              <a:buNone/>
            </a:pPr>
            <a:r>
              <a:rPr kumimoji="0" lang="zh-CN" altLang="en-US" sz="2800"/>
              <a:t>以下是进</a:t>
            </a:r>
            <a:r>
              <a:rPr lang="zh-CN" altLang="en-US" sz="2800"/>
              <a:t>行修改和重构后生成的基本</a:t>
            </a:r>
            <a:r>
              <a:rPr lang="en-US" altLang="zh-CN" sz="2800"/>
              <a:t>E-R</a:t>
            </a:r>
            <a:r>
              <a:rPr lang="zh-CN" altLang="en-US" sz="2800"/>
              <a:t>图。</a:t>
            </a:r>
          </a:p>
        </p:txBody>
      </p:sp>
      <p:pic>
        <p:nvPicPr>
          <p:cNvPr id="68612" name="Picture 6">
            <a:extLst>
              <a:ext uri="{FF2B5EF4-FFF2-40B4-BE49-F238E27FC236}">
                <a16:creationId xmlns:a16="http://schemas.microsoft.com/office/drawing/2014/main" id="{6077D5C6-3BB1-6177-D2D5-2210A1803B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2493963"/>
            <a:ext cx="8715375" cy="374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3" name="页脚占位符 3">
            <a:extLst>
              <a:ext uri="{FF2B5EF4-FFF2-40B4-BE49-F238E27FC236}">
                <a16:creationId xmlns:a16="http://schemas.microsoft.com/office/drawing/2014/main" id="{B34A5DF2-32CC-19D6-4882-4CDF16BA1369}"/>
              </a:ext>
            </a:extLst>
          </p:cNvPr>
          <p:cNvSpPr>
            <a:spLocks noGrp="1"/>
          </p:cNvSpPr>
          <p:nvPr>
            <p:ph type="ftr" sz="quarter" idx="11"/>
          </p:nvPr>
        </p:nvSpPr>
        <p:spPr>
          <a:xfrm>
            <a:off x="2714625" y="6186488"/>
            <a:ext cx="3735388"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kumimoji="0" lang="zh-CN" altLang="en-US" sz="1800" b="1">
                <a:latin typeface="Principals of Database System"/>
              </a:rPr>
              <a:t>学生管理子系统的基本</a:t>
            </a:r>
            <a:r>
              <a:rPr kumimoji="0" lang="en-US" altLang="zh-CN" sz="1800" b="1">
                <a:latin typeface="Principals of Database System"/>
              </a:rPr>
              <a:t>E-R</a:t>
            </a:r>
            <a:r>
              <a:rPr kumimoji="0" lang="zh-CN" altLang="en-US" sz="1800" b="1">
                <a:latin typeface="Principals of Database System"/>
              </a:rPr>
              <a:t>图</a:t>
            </a:r>
            <a:endParaRPr kumimoji="0" lang="en-US" altLang="zh-CN" sz="1800" b="1">
              <a:latin typeface="Principals of Database System"/>
            </a:endParaRPr>
          </a:p>
        </p:txBody>
      </p:sp>
    </p:spTree>
  </p:cSld>
  <p:clrMapOvr>
    <a:masterClrMapping/>
  </p:clrMapOvr>
</p:sld>
</file>

<file path=ppt/theme/theme1.xml><?xml version="1.0" encoding="utf-8"?>
<a:theme xmlns:a="http://schemas.openxmlformats.org/drawingml/2006/main" name="zq">
  <a:themeElements>
    <a:clrScheme name="">
      <a:dk1>
        <a:srgbClr val="000000"/>
      </a:dk1>
      <a:lt1>
        <a:srgbClr val="FEE8F7"/>
      </a:lt1>
      <a:dk2>
        <a:srgbClr val="333399"/>
      </a:dk2>
      <a:lt2>
        <a:srgbClr val="1C1C1C"/>
      </a:lt2>
      <a:accent1>
        <a:srgbClr val="00E4A8"/>
      </a:accent1>
      <a:accent2>
        <a:srgbClr val="FA3A06"/>
      </a:accent2>
      <a:accent3>
        <a:srgbClr val="FEF2FA"/>
      </a:accent3>
      <a:accent4>
        <a:srgbClr val="000000"/>
      </a:accent4>
      <a:accent5>
        <a:srgbClr val="AAEFD1"/>
      </a:accent5>
      <a:accent6>
        <a:srgbClr val="E33405"/>
      </a:accent6>
      <a:hlink>
        <a:srgbClr val="FF0000"/>
      </a:hlink>
      <a:folHlink>
        <a:srgbClr val="3333CC"/>
      </a:folHlink>
    </a:clrScheme>
    <a:fontScheme name="zq">
      <a:majorFont>
        <a:latin typeface="Tahoma"/>
        <a:ea typeface="仿宋_GB2312"/>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zq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zq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zq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zq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zq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zq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zq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9780</TotalTime>
  <Words>2972</Words>
  <Application>Microsoft Office PowerPoint</Application>
  <PresentationFormat>全屏显示(4:3)</PresentationFormat>
  <Paragraphs>424</Paragraphs>
  <Slides>61</Slides>
  <Notes>3</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61</vt:i4>
      </vt:variant>
    </vt:vector>
  </HeadingPairs>
  <TitlesOfParts>
    <vt:vector size="72" baseType="lpstr">
      <vt:lpstr>Times New Roman</vt:lpstr>
      <vt:lpstr>宋体</vt:lpstr>
      <vt:lpstr>Arial</vt:lpstr>
      <vt:lpstr>Tahoma</vt:lpstr>
      <vt:lpstr>仿宋_GB2312</vt:lpstr>
      <vt:lpstr>Wingdings</vt:lpstr>
      <vt:lpstr>Principals of Database System</vt:lpstr>
      <vt:lpstr>Arial Black</vt:lpstr>
      <vt:lpstr>隶书</vt:lpstr>
      <vt:lpstr>楷体_GB2312</vt:lpstr>
      <vt:lpstr>zq</vt:lpstr>
      <vt:lpstr>PowerPoint 演示文稿</vt:lpstr>
      <vt:lpstr>数据库设计概述（续）</vt:lpstr>
      <vt:lpstr>数据库设计概述（续）</vt:lpstr>
      <vt:lpstr>7.1.1  数据库设计的特点</vt:lpstr>
      <vt:lpstr>数据库设计人员应该具备的技术和知识</vt:lpstr>
      <vt:lpstr>7.1.2  数据库设计方法简述</vt:lpstr>
      <vt:lpstr>数据库设计方法简述（续）</vt:lpstr>
      <vt:lpstr>数据库设计工具</vt:lpstr>
      <vt:lpstr>7.1  数据库设计概述</vt:lpstr>
      <vt:lpstr>7.1.3  数据库设计的基本步骤</vt:lpstr>
      <vt:lpstr>数据库设计的步骤</vt:lpstr>
      <vt:lpstr>PowerPoint 演示文稿</vt:lpstr>
      <vt:lpstr>设计特点</vt:lpstr>
      <vt:lpstr>PowerPoint 演示文稿</vt:lpstr>
      <vt:lpstr>7.1  数据库设计概述</vt:lpstr>
      <vt:lpstr>7.1.4 数据库设计过程中的各级模式</vt:lpstr>
      <vt:lpstr>数据库设计过程中的各级模式（续）</vt:lpstr>
      <vt:lpstr>数据库设计过程中的各级模式（续）</vt:lpstr>
      <vt:lpstr>数据库设计过程中的各级模式（续）</vt:lpstr>
      <vt:lpstr>数据库设计过程中的各级模式（续）</vt:lpstr>
      <vt:lpstr>第七章  数据库设计</vt:lpstr>
      <vt:lpstr>需求分析</vt:lpstr>
      <vt:lpstr>进一步分析和表达用户需求</vt:lpstr>
      <vt:lpstr>进一步分析和表达用户需求（续）</vt:lpstr>
      <vt:lpstr>需求分析小结</vt:lpstr>
      <vt:lpstr>需求分析小结（续）</vt:lpstr>
      <vt:lpstr>实例：学校管理系统</vt:lpstr>
      <vt:lpstr>数据流图</vt:lpstr>
      <vt:lpstr>PowerPoint 演示文稿</vt:lpstr>
      <vt:lpstr>PowerPoint 演示文稿</vt:lpstr>
      <vt:lpstr>PowerPoint 演示文稿</vt:lpstr>
      <vt:lpstr>7.2  需求分析</vt:lpstr>
      <vt:lpstr>7.2.3  数据字典</vt:lpstr>
      <vt:lpstr>一、数据字典的用途</vt:lpstr>
      <vt:lpstr>二、数据字典的内容</vt:lpstr>
      <vt:lpstr>⒈ 数据项</vt:lpstr>
      <vt:lpstr>例子</vt:lpstr>
      <vt:lpstr>⒉ 数据结构</vt:lpstr>
      <vt:lpstr>例子</vt:lpstr>
      <vt:lpstr>⒊ 数据流</vt:lpstr>
      <vt:lpstr>例子</vt:lpstr>
      <vt:lpstr>⒋ 数据存储</vt:lpstr>
      <vt:lpstr>例子</vt:lpstr>
      <vt:lpstr>⒌ 处理过程</vt:lpstr>
      <vt:lpstr>处理过程（续）</vt:lpstr>
      <vt:lpstr>例子</vt:lpstr>
      <vt:lpstr>第七章  数据库设计</vt:lpstr>
      <vt:lpstr>7.3.1 概念模型</vt:lpstr>
      <vt:lpstr>7.3  概念结构设计</vt:lpstr>
      <vt:lpstr>局部视图设计</vt:lpstr>
      <vt:lpstr>PowerPoint 演示文稿</vt:lpstr>
      <vt:lpstr>PowerPoint 演示文稿</vt:lpstr>
      <vt:lpstr>学籍管理局部应用的分E-R图草图</vt:lpstr>
      <vt:lpstr>7.3.5  视图的集成</vt:lpstr>
      <vt:lpstr>1.合并分E-R图，生成初步E-R图</vt:lpstr>
      <vt:lpstr>结构冲突（续）</vt:lpstr>
      <vt:lpstr>结构冲突（续）</vt:lpstr>
      <vt:lpstr>结构冲突（续）</vt:lpstr>
      <vt:lpstr>PowerPoint 演示文稿</vt:lpstr>
      <vt:lpstr>2.修改与重构，生成基本E-R图</vt:lpstr>
      <vt:lpstr>消除冗余，设计生成基本E-R图实例（续）</vt:lpstr>
    </vt:vector>
  </TitlesOfParts>
  <Company>idke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课程名称：数据库系统概论</dc:title>
  <dc:creator>RUC IDKE</dc:creator>
  <cp:lastModifiedBy>trAshbaG Smile</cp:lastModifiedBy>
  <cp:revision>197</cp:revision>
  <cp:lastPrinted>2021-11-12T08:38:57Z</cp:lastPrinted>
  <dcterms:created xsi:type="dcterms:W3CDTF">2000-08-09T08:19:19Z</dcterms:created>
  <dcterms:modified xsi:type="dcterms:W3CDTF">2025-12-24T11:30:13Z</dcterms:modified>
</cp:coreProperties>
</file>