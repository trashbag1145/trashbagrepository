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257" r:id="rId3"/>
    <p:sldId id="258" r:id="rId4"/>
    <p:sldId id="350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496" r:id="rId36"/>
    <p:sldId id="497" r:id="rId37"/>
    <p:sldId id="393" r:id="rId38"/>
    <p:sldId id="394" r:id="rId39"/>
    <p:sldId id="395" r:id="rId40"/>
    <p:sldId id="396" r:id="rId41"/>
    <p:sldId id="397" r:id="rId42"/>
    <p:sldId id="398" r:id="rId43"/>
    <p:sldId id="399" r:id="rId44"/>
    <p:sldId id="400" r:id="rId45"/>
    <p:sldId id="401" r:id="rId46"/>
    <p:sldId id="402" r:id="rId47"/>
    <p:sldId id="403" r:id="rId48"/>
    <p:sldId id="404" r:id="rId49"/>
    <p:sldId id="405" r:id="rId50"/>
    <p:sldId id="406" r:id="rId51"/>
    <p:sldId id="407" r:id="rId52"/>
    <p:sldId id="408" r:id="rId53"/>
    <p:sldId id="409" r:id="rId54"/>
    <p:sldId id="410" r:id="rId55"/>
    <p:sldId id="411" r:id="rId56"/>
    <p:sldId id="412" r:id="rId57"/>
    <p:sldId id="413" r:id="rId58"/>
    <p:sldId id="414" r:id="rId59"/>
    <p:sldId id="415" r:id="rId60"/>
    <p:sldId id="416" r:id="rId61"/>
    <p:sldId id="417" r:id="rId62"/>
    <p:sldId id="418" r:id="rId63"/>
    <p:sldId id="419" r:id="rId64"/>
    <p:sldId id="420" r:id="rId65"/>
    <p:sldId id="421" r:id="rId66"/>
    <p:sldId id="422" r:id="rId67"/>
    <p:sldId id="423" r:id="rId68"/>
    <p:sldId id="424" r:id="rId69"/>
    <p:sldId id="514" r:id="rId70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900"/>
    <a:srgbClr val="FFFF00"/>
    <a:srgbClr val="CC00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72" autoAdjust="0"/>
    <p:restoredTop sz="80705" autoAdjust="0"/>
  </p:normalViewPr>
  <p:slideViewPr>
    <p:cSldViewPr>
      <p:cViewPr varScale="1">
        <p:scale>
          <a:sx n="88" d="100"/>
          <a:sy n="88" d="100"/>
        </p:scale>
        <p:origin x="18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1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fld id="{466DEB35-16F3-4E58-B91F-743CE3356E7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7207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fld id="{EAD88155-0117-4039-965F-D45B5A939B3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70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41C585FC-6F19-4227-A1B9-FBA7FCDBC3D9}" type="slidenum">
              <a:rPr lang="zh-CN" altLang="en-US" sz="1200">
                <a:latin typeface="Times New Roman" panose="02020503050405090304" pitchFamily="18" charset="0"/>
              </a:rPr>
              <a:t>1</a:t>
            </a:fld>
            <a:endParaRPr lang="en-US" altLang="zh-CN" sz="1200">
              <a:latin typeface="Times New Roman" panose="02020503050405090304" pitchFamily="18" charset="0"/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284D5851-C250-411E-9C65-81E006DC63D2}" type="slidenum">
              <a:rPr lang="zh-CN" altLang="en-US" sz="1200">
                <a:latin typeface="Times New Roman" panose="02020503050405090304" pitchFamily="18" charset="0"/>
              </a:rPr>
              <a:t>21</a:t>
            </a:fld>
            <a:endParaRPr lang="en-US" altLang="zh-CN" sz="1200">
              <a:latin typeface="Times New Roman" panose="02020503050405090304" pitchFamily="18" charset="0"/>
            </a:endParaRPr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1027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1030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1032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8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49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038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039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04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3D8FAA1-BA08-4BFA-9674-ED779CE3B3A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45BE4-6838-4EFA-9782-2003DA052FA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FA833-3F3E-416B-8822-4DEE579E58C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E99AC0-312C-4F0E-BEE0-BA5A399DBCD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2C273-D9B2-4E46-A238-B31F2B1DD67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13CBD0-654B-46F2-B98A-1716F57DB51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E1A7C-2E2F-48E5-B212-E6D45C7DD18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8ACE5-E88B-4C6E-BD6E-4849254E3D2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25080-B910-431A-9470-9D1704102FF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903B5-6A8D-4E3B-A55E-E806019901D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AC3AB-2A10-496F-8F36-55143085034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F09D0D33-5703-487C-ADB5-12B16EE67D3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SimSun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team.com.cn/putong/yingxiao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ilibili.com/video/BV1ir4y1x7id?spm_id_from=333.788.videopod.sections&amp;vd_source=31b8cdf62fecff492433b8c24d65e7d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648200"/>
            <a:ext cx="8534400" cy="685800"/>
          </a:xfrm>
          <a:noFill/>
        </p:spPr>
        <p:txBody>
          <a:bodyPr/>
          <a:lstStyle/>
          <a:p>
            <a:pPr algn="ctr" eaLnBrk="1" hangingPunct="1"/>
            <a:r>
              <a:rPr lang="zh-CN" altLang="en-US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主讲：王海燕</a:t>
            </a:r>
            <a:br>
              <a:rPr lang="zh-CN" altLang="en-US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</a:br>
            <a:r>
              <a:rPr lang="en-US" altLang="zh-CN" sz="3200" b="1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E-mail：wanghaiyan@mail.hzau.edu.cn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85800" y="2716213"/>
            <a:ext cx="7924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第三章  关系数据库标准语言－</a:t>
            </a:r>
            <a:r>
              <a:rPr lang="en-US" altLang="zh-CN" sz="3600" b="1" dirty="0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SQL</a:t>
            </a:r>
            <a:endParaRPr lang="zh-CN" altLang="en-US" sz="3600" b="1" dirty="0">
              <a:solidFill>
                <a:schemeClr val="tx2"/>
              </a:solidFill>
              <a:latin typeface="SimSun" panose="02010600030101010101" pitchFamily="2" charset="-122"/>
            </a:endParaRPr>
          </a:p>
        </p:txBody>
      </p:sp>
      <p:pic>
        <p:nvPicPr>
          <p:cNvPr id="8196" name="Picture 4" descr="tuli">
            <a:hlinkClick r:id="rId3"/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10525" y="5486400"/>
            <a:ext cx="1133475" cy="1143000"/>
          </a:xfrm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3.1 SQL</a:t>
            </a:r>
            <a:r>
              <a:rPr lang="zh-CN" altLang="en-US" b="1"/>
              <a:t>语言的基本概念和特点</a:t>
            </a:r>
          </a:p>
          <a:p>
            <a:pPr eaLnBrk="1" hangingPunct="1"/>
            <a:r>
              <a:rPr lang="en-US" altLang="zh-CN" b="1"/>
              <a:t>3.4 </a:t>
            </a:r>
            <a:r>
              <a:rPr lang="zh-CN" altLang="en-US" b="1"/>
              <a:t>创建与使用数据表</a:t>
            </a:r>
          </a:p>
          <a:p>
            <a:pPr eaLnBrk="1" hangingPunct="1"/>
            <a:r>
              <a:rPr lang="en-US" altLang="zh-CN" b="1"/>
              <a:t>3.5 </a:t>
            </a:r>
            <a:r>
              <a:rPr lang="zh-CN" altLang="en-US" b="1"/>
              <a:t>创建与使用索引</a:t>
            </a:r>
          </a:p>
          <a:p>
            <a:pPr eaLnBrk="1" hangingPunct="1"/>
            <a:r>
              <a:rPr lang="en-US" altLang="zh-CN" b="1"/>
              <a:t>3.6 </a:t>
            </a:r>
            <a:r>
              <a:rPr lang="zh-CN" altLang="en-US" b="1"/>
              <a:t>数据查询</a:t>
            </a:r>
          </a:p>
          <a:p>
            <a:pPr eaLnBrk="1" hangingPunct="1"/>
            <a:r>
              <a:rPr lang="en-US" altLang="zh-CN" b="1"/>
              <a:t>3.7 </a:t>
            </a:r>
            <a:r>
              <a:rPr lang="zh-CN" altLang="en-US" b="1"/>
              <a:t>数据操纵</a:t>
            </a:r>
          </a:p>
          <a:p>
            <a:pPr eaLnBrk="1" hangingPunct="1"/>
            <a:r>
              <a:rPr lang="en-US" altLang="zh-CN" b="1"/>
              <a:t>3.8 </a:t>
            </a:r>
            <a:r>
              <a:rPr lang="zh-CN" altLang="en-US" b="1"/>
              <a:t>视图</a:t>
            </a:r>
          </a:p>
          <a:p>
            <a:pPr eaLnBrk="1" hangingPunct="1"/>
            <a:r>
              <a:rPr lang="en-US" altLang="zh-CN" b="1"/>
              <a:t>3.9 </a:t>
            </a:r>
            <a:r>
              <a:rPr lang="zh-CN" altLang="en-US" b="1"/>
              <a:t>数据控制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重点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基本表的创建、修改和删除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查询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难点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连接查询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3.6.6 </a:t>
            </a:r>
            <a:r>
              <a:rPr lang="zh-CN" altLang="en-US" b="1" dirty="0"/>
              <a:t>连接查询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广义笛卡尔积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等值连接(含自然连接)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非等值连接查询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自身连接查询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外连接查询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复合条件连接查询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连接查询概述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一般格式：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[&lt;表名1&gt;.]&lt;列名1&gt;  </a:t>
            </a:r>
            <a:r>
              <a:rPr lang="zh-CN" altLang="en-US" sz="2400" b="1">
                <a:solidFill>
                  <a:srgbClr val="D75B5B"/>
                </a:solidFill>
              </a:rPr>
              <a:t>&lt;比较运算符&gt;</a:t>
            </a:r>
            <a:r>
              <a:rPr lang="zh-CN" altLang="en-US" sz="2400" b="1"/>
              <a:t>  [&lt;表名2&gt;.]&lt;列名2&gt;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比较运算符：=、&gt;、&lt;、&gt;=、&lt;=、!=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[&lt;表名1&gt;.]&lt;列名1&gt; </a:t>
            </a:r>
            <a:r>
              <a:rPr lang="en-US" altLang="zh-CN" sz="2400" b="1">
                <a:solidFill>
                  <a:srgbClr val="D75B5B"/>
                </a:solidFill>
              </a:rPr>
              <a:t>BETWEEN</a:t>
            </a:r>
            <a:r>
              <a:rPr lang="en-US" altLang="zh-CN" sz="2400" b="1"/>
              <a:t> [&lt;</a:t>
            </a:r>
            <a:r>
              <a:rPr lang="zh-CN" altLang="en-US" sz="2400" b="1"/>
              <a:t>表名2&gt;.]&lt;列名2&gt; </a:t>
            </a:r>
            <a:r>
              <a:rPr lang="en-US" altLang="zh-CN" sz="2400" b="1">
                <a:solidFill>
                  <a:srgbClr val="D75B5B"/>
                </a:solidFill>
              </a:rPr>
              <a:t>AND</a:t>
            </a:r>
            <a:r>
              <a:rPr lang="en-US" altLang="zh-CN" sz="2400" b="1"/>
              <a:t> [&lt;</a:t>
            </a:r>
            <a:r>
              <a:rPr lang="zh-CN" altLang="en-US" sz="2400" b="1"/>
              <a:t>表名2&gt;.]&lt;列名3&gt;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连接操作的执行过程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25662"/>
            <a:ext cx="8062664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 dirty="0"/>
              <a:t>嵌套循环法(</a:t>
            </a:r>
            <a:r>
              <a:rPr lang="en-US" altLang="zh-CN" b="1" dirty="0"/>
              <a:t>NESTED-LOOP)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dirty="0"/>
              <a:t>首先在表1中找到第一个元组，然后从头开始扫描表2，逐一查找满足连接件的元组，找到后就将表1中的第一个元组与该元组拼接起来，形成结果表中一个元组。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dirty="0"/>
              <a:t>表2全部查找完后，再找表1中第二个元组，然后再从头开始扫描表2，逐一查找满足连接条件的元组，找到后就将表1中的第二个元组与该元组拼接起来，形成结果表中一个元组。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 dirty="0"/>
              <a:t>重复上述操作，直到表1中的全部元组都处理完毕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（一）、广义笛卡尔积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例：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</a:t>
            </a:r>
            <a:r>
              <a:rPr lang="en-US" altLang="zh-CN" sz="2800" b="1"/>
              <a:t>SELECT  Student.* ,  SC.*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FROM     Student, SC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/>
              <a:t>不带连接谓词的连接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/>
              <a:t> 很少使用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chemeClr val="tx2"/>
                </a:solidFill>
              </a:rPr>
              <a:t>（二）、等值与非等值连接查询 </a:t>
            </a: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838200" y="20574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zh-CN" altLang="en-US" sz="3200" b="1"/>
              <a:t>等值连接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endParaRPr lang="zh-CN" altLang="en-US" sz="3200" b="1"/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zh-CN" altLang="en-US" sz="3200" b="1"/>
              <a:t>自然连接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endParaRPr lang="zh-CN" altLang="en-US" sz="3200" b="1"/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zh-CN" altLang="en-US" sz="3200" b="1"/>
              <a:t>非等值连接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等值连接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838200" y="19050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/>
              <a:t>连接运算符为 = 的连接操作</a:t>
            </a:r>
          </a:p>
          <a:p>
            <a:pPr lvl="1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b="1"/>
              <a:t> [&lt;表名1&gt;.]&lt;列名1&gt;  =  [&lt;表名2&gt;.]&lt;列名2&gt;</a:t>
            </a:r>
          </a:p>
          <a:p>
            <a:pPr lvl="1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b="1"/>
              <a:t>任何子句中引用表1和表2中同名属性时，都必须加表名前缀。引用唯一属性名时可以加也可以省略表名前缀。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等值连接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假设</a:t>
            </a:r>
            <a:r>
              <a:rPr lang="en-US" altLang="zh-CN" sz="3200" b="1"/>
              <a:t>Student</a:t>
            </a:r>
            <a:r>
              <a:rPr lang="zh-CN" altLang="en-US" sz="3200" b="1"/>
              <a:t>表、</a:t>
            </a:r>
            <a:r>
              <a:rPr lang="en-US" altLang="zh-CN" sz="3200" b="1"/>
              <a:t>SC</a:t>
            </a:r>
            <a:r>
              <a:rPr lang="zh-CN" altLang="en-US" sz="3200" b="1"/>
              <a:t>表分别有下列数据：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  </a:t>
            </a:r>
            <a:r>
              <a:rPr lang="en-US" altLang="zh-CN" sz="3200" b="1"/>
              <a:t>Student</a:t>
            </a:r>
            <a:r>
              <a:rPr lang="zh-CN" altLang="en-US" sz="3200" b="1"/>
              <a:t>表 </a:t>
            </a:r>
          </a:p>
        </p:txBody>
      </p:sp>
      <p:grpSp>
        <p:nvGrpSpPr>
          <p:cNvPr id="94212" name="Group 4"/>
          <p:cNvGrpSpPr/>
          <p:nvPr/>
        </p:nvGrpSpPr>
        <p:grpSpPr bwMode="auto">
          <a:xfrm>
            <a:off x="2209800" y="3200400"/>
            <a:ext cx="5008563" cy="2667000"/>
            <a:chOff x="-3" y="-3"/>
            <a:chExt cx="3155" cy="2511"/>
          </a:xfrm>
        </p:grpSpPr>
        <p:grpSp>
          <p:nvGrpSpPr>
            <p:cNvPr id="94213" name="Group 5"/>
            <p:cNvGrpSpPr/>
            <p:nvPr/>
          </p:nvGrpSpPr>
          <p:grpSpPr bwMode="auto">
            <a:xfrm>
              <a:off x="0" y="0"/>
              <a:ext cx="3149" cy="2505"/>
              <a:chOff x="0" y="0"/>
              <a:chExt cx="3149" cy="2505"/>
            </a:xfrm>
          </p:grpSpPr>
          <p:grpSp>
            <p:nvGrpSpPr>
              <p:cNvPr id="94215" name="Group 6"/>
              <p:cNvGrpSpPr/>
              <p:nvPr/>
            </p:nvGrpSpPr>
            <p:grpSpPr bwMode="auto">
              <a:xfrm>
                <a:off x="0" y="0"/>
                <a:ext cx="640" cy="509"/>
                <a:chOff x="0" y="0"/>
                <a:chExt cx="640" cy="509"/>
              </a:xfrm>
            </p:grpSpPr>
            <p:sp>
              <p:nvSpPr>
                <p:cNvPr id="94288" name="Rectangle 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54" cy="5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200" b="1">
                      <a:latin typeface="Times New Roman" panose="02020503050405090304" pitchFamily="18" charset="0"/>
                    </a:rPr>
                    <a:t>Sno 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89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40" cy="50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16" name="Group 9"/>
              <p:cNvGrpSpPr/>
              <p:nvPr/>
            </p:nvGrpSpPr>
            <p:grpSpPr bwMode="auto">
              <a:xfrm>
                <a:off x="640" y="0"/>
                <a:ext cx="709" cy="509"/>
                <a:chOff x="640" y="0"/>
                <a:chExt cx="709" cy="509"/>
              </a:xfrm>
            </p:grpSpPr>
            <p:sp>
              <p:nvSpPr>
                <p:cNvPr id="94286" name="Rectangle 10"/>
                <p:cNvSpPr>
                  <a:spLocks noChangeArrowheads="1"/>
                </p:cNvSpPr>
                <p:nvPr/>
              </p:nvSpPr>
              <p:spPr bwMode="auto">
                <a:xfrm>
                  <a:off x="683" y="0"/>
                  <a:ext cx="623" cy="5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200" b="1">
                      <a:latin typeface="Times New Roman" panose="02020503050405090304" pitchFamily="18" charset="0"/>
                    </a:rPr>
                    <a:t>Sname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87" name="Rectangle 11"/>
                <p:cNvSpPr>
                  <a:spLocks noChangeArrowheads="1"/>
                </p:cNvSpPr>
                <p:nvPr/>
              </p:nvSpPr>
              <p:spPr bwMode="auto">
                <a:xfrm>
                  <a:off x="640" y="0"/>
                  <a:ext cx="709" cy="50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17" name="Group 12"/>
              <p:cNvGrpSpPr/>
              <p:nvPr/>
            </p:nvGrpSpPr>
            <p:grpSpPr bwMode="auto">
              <a:xfrm>
                <a:off x="1349" y="0"/>
                <a:ext cx="553" cy="509"/>
                <a:chOff x="1349" y="0"/>
                <a:chExt cx="553" cy="509"/>
              </a:xfrm>
            </p:grpSpPr>
            <p:sp>
              <p:nvSpPr>
                <p:cNvPr id="94284" name="Rectangle 13"/>
                <p:cNvSpPr>
                  <a:spLocks noChangeArrowheads="1"/>
                </p:cNvSpPr>
                <p:nvPr/>
              </p:nvSpPr>
              <p:spPr bwMode="auto">
                <a:xfrm>
                  <a:off x="1392" y="0"/>
                  <a:ext cx="467" cy="5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200" b="1">
                      <a:latin typeface="Times New Roman" panose="02020503050405090304" pitchFamily="18" charset="0"/>
                    </a:rPr>
                    <a:t>Ssex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85" name="Rectangle 14"/>
                <p:cNvSpPr>
                  <a:spLocks noChangeArrowheads="1"/>
                </p:cNvSpPr>
                <p:nvPr/>
              </p:nvSpPr>
              <p:spPr bwMode="auto">
                <a:xfrm>
                  <a:off x="1349" y="0"/>
                  <a:ext cx="553" cy="50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18" name="Group 15"/>
              <p:cNvGrpSpPr/>
              <p:nvPr/>
            </p:nvGrpSpPr>
            <p:grpSpPr bwMode="auto">
              <a:xfrm>
                <a:off x="1902" y="0"/>
                <a:ext cx="616" cy="509"/>
                <a:chOff x="1902" y="0"/>
                <a:chExt cx="616" cy="509"/>
              </a:xfrm>
            </p:grpSpPr>
            <p:sp>
              <p:nvSpPr>
                <p:cNvPr id="94282" name="Rectangle 16"/>
                <p:cNvSpPr>
                  <a:spLocks noChangeArrowheads="1"/>
                </p:cNvSpPr>
                <p:nvPr/>
              </p:nvSpPr>
              <p:spPr bwMode="auto">
                <a:xfrm>
                  <a:off x="1945" y="0"/>
                  <a:ext cx="530" cy="5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600" b="1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Sage</a:t>
                  </a: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83" name="Rectangle 17"/>
                <p:cNvSpPr>
                  <a:spLocks noChangeArrowheads="1"/>
                </p:cNvSpPr>
                <p:nvPr/>
              </p:nvSpPr>
              <p:spPr bwMode="auto">
                <a:xfrm>
                  <a:off x="1902" y="0"/>
                  <a:ext cx="616" cy="50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19" name="Group 18"/>
              <p:cNvGrpSpPr/>
              <p:nvPr/>
            </p:nvGrpSpPr>
            <p:grpSpPr bwMode="auto">
              <a:xfrm>
                <a:off x="2518" y="0"/>
                <a:ext cx="631" cy="509"/>
                <a:chOff x="2518" y="0"/>
                <a:chExt cx="631" cy="509"/>
              </a:xfrm>
            </p:grpSpPr>
            <p:sp>
              <p:nvSpPr>
                <p:cNvPr id="94280" name="Rectangle 19"/>
                <p:cNvSpPr>
                  <a:spLocks noChangeArrowheads="1"/>
                </p:cNvSpPr>
                <p:nvPr/>
              </p:nvSpPr>
              <p:spPr bwMode="auto">
                <a:xfrm>
                  <a:off x="2561" y="0"/>
                  <a:ext cx="545" cy="5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200" b="1">
                      <a:latin typeface="Times New Roman" panose="02020503050405090304" pitchFamily="18" charset="0"/>
                    </a:rPr>
                    <a:t>Sdept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81" name="Rectangle 20"/>
                <p:cNvSpPr>
                  <a:spLocks noChangeArrowheads="1"/>
                </p:cNvSpPr>
                <p:nvPr/>
              </p:nvSpPr>
              <p:spPr bwMode="auto">
                <a:xfrm>
                  <a:off x="2518" y="0"/>
                  <a:ext cx="631" cy="50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0" name="Group 21"/>
              <p:cNvGrpSpPr/>
              <p:nvPr/>
            </p:nvGrpSpPr>
            <p:grpSpPr bwMode="auto">
              <a:xfrm>
                <a:off x="0" y="509"/>
                <a:ext cx="640" cy="499"/>
                <a:chOff x="0" y="509"/>
                <a:chExt cx="640" cy="499"/>
              </a:xfrm>
            </p:grpSpPr>
            <p:sp>
              <p:nvSpPr>
                <p:cNvPr id="94278" name="Rectangle 22"/>
                <p:cNvSpPr>
                  <a:spLocks noChangeArrowheads="1"/>
                </p:cNvSpPr>
                <p:nvPr/>
              </p:nvSpPr>
              <p:spPr bwMode="auto">
                <a:xfrm>
                  <a:off x="43" y="509"/>
                  <a:ext cx="55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95001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79" name="Rectangle 23"/>
                <p:cNvSpPr>
                  <a:spLocks noChangeArrowheads="1"/>
                </p:cNvSpPr>
                <p:nvPr/>
              </p:nvSpPr>
              <p:spPr bwMode="auto">
                <a:xfrm>
                  <a:off x="0" y="509"/>
                  <a:ext cx="64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1" name="Group 24"/>
              <p:cNvGrpSpPr/>
              <p:nvPr/>
            </p:nvGrpSpPr>
            <p:grpSpPr bwMode="auto">
              <a:xfrm>
                <a:off x="640" y="509"/>
                <a:ext cx="709" cy="499"/>
                <a:chOff x="640" y="509"/>
                <a:chExt cx="709" cy="499"/>
              </a:xfrm>
            </p:grpSpPr>
            <p:sp>
              <p:nvSpPr>
                <p:cNvPr id="94276" name="Rectangle 25"/>
                <p:cNvSpPr>
                  <a:spLocks noChangeArrowheads="1"/>
                </p:cNvSpPr>
                <p:nvPr/>
              </p:nvSpPr>
              <p:spPr bwMode="auto">
                <a:xfrm>
                  <a:off x="683" y="509"/>
                  <a:ext cx="623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李勇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77" name="Rectangle 26"/>
                <p:cNvSpPr>
                  <a:spLocks noChangeArrowheads="1"/>
                </p:cNvSpPr>
                <p:nvPr/>
              </p:nvSpPr>
              <p:spPr bwMode="auto">
                <a:xfrm>
                  <a:off x="640" y="509"/>
                  <a:ext cx="709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2" name="Group 27"/>
              <p:cNvGrpSpPr/>
              <p:nvPr/>
            </p:nvGrpSpPr>
            <p:grpSpPr bwMode="auto">
              <a:xfrm>
                <a:off x="1349" y="509"/>
                <a:ext cx="553" cy="499"/>
                <a:chOff x="1349" y="509"/>
                <a:chExt cx="553" cy="499"/>
              </a:xfrm>
            </p:grpSpPr>
            <p:sp>
              <p:nvSpPr>
                <p:cNvPr id="94274" name="Rectangle 28"/>
                <p:cNvSpPr>
                  <a:spLocks noChangeArrowheads="1"/>
                </p:cNvSpPr>
                <p:nvPr/>
              </p:nvSpPr>
              <p:spPr bwMode="auto">
                <a:xfrm>
                  <a:off x="1392" y="509"/>
                  <a:ext cx="46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男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75" name="Rectangle 29"/>
                <p:cNvSpPr>
                  <a:spLocks noChangeArrowheads="1"/>
                </p:cNvSpPr>
                <p:nvPr/>
              </p:nvSpPr>
              <p:spPr bwMode="auto">
                <a:xfrm>
                  <a:off x="1349" y="509"/>
                  <a:ext cx="55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3" name="Group 30"/>
              <p:cNvGrpSpPr/>
              <p:nvPr/>
            </p:nvGrpSpPr>
            <p:grpSpPr bwMode="auto">
              <a:xfrm>
                <a:off x="1902" y="509"/>
                <a:ext cx="616" cy="499"/>
                <a:chOff x="1902" y="509"/>
                <a:chExt cx="616" cy="499"/>
              </a:xfrm>
            </p:grpSpPr>
            <p:sp>
              <p:nvSpPr>
                <p:cNvPr id="94272" name="Rectangle 31"/>
                <p:cNvSpPr>
                  <a:spLocks noChangeArrowheads="1"/>
                </p:cNvSpPr>
                <p:nvPr/>
              </p:nvSpPr>
              <p:spPr bwMode="auto">
                <a:xfrm>
                  <a:off x="1945" y="509"/>
                  <a:ext cx="530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20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73" name="Rectangle 32"/>
                <p:cNvSpPr>
                  <a:spLocks noChangeArrowheads="1"/>
                </p:cNvSpPr>
                <p:nvPr/>
              </p:nvSpPr>
              <p:spPr bwMode="auto">
                <a:xfrm>
                  <a:off x="1902" y="509"/>
                  <a:ext cx="616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4" name="Group 33"/>
              <p:cNvGrpSpPr/>
              <p:nvPr/>
            </p:nvGrpSpPr>
            <p:grpSpPr bwMode="auto">
              <a:xfrm>
                <a:off x="2518" y="509"/>
                <a:ext cx="631" cy="499"/>
                <a:chOff x="2518" y="509"/>
                <a:chExt cx="631" cy="499"/>
              </a:xfrm>
            </p:grpSpPr>
            <p:sp>
              <p:nvSpPr>
                <p:cNvPr id="94270" name="Rectangle 34"/>
                <p:cNvSpPr>
                  <a:spLocks noChangeArrowheads="1"/>
                </p:cNvSpPr>
                <p:nvPr/>
              </p:nvSpPr>
              <p:spPr bwMode="auto">
                <a:xfrm>
                  <a:off x="2561" y="509"/>
                  <a:ext cx="54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</a:t>
                  </a:r>
                  <a:r>
                    <a:rPr lang="en-US" altLang="zh-CN" sz="2200" b="1">
                      <a:latin typeface="Times New Roman" panose="02020503050405090304" pitchFamily="18" charset="0"/>
                    </a:rPr>
                    <a:t>CS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71" name="Rectangle 35"/>
                <p:cNvSpPr>
                  <a:spLocks noChangeArrowheads="1"/>
                </p:cNvSpPr>
                <p:nvPr/>
              </p:nvSpPr>
              <p:spPr bwMode="auto">
                <a:xfrm>
                  <a:off x="2518" y="509"/>
                  <a:ext cx="63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5" name="Group 36"/>
              <p:cNvGrpSpPr/>
              <p:nvPr/>
            </p:nvGrpSpPr>
            <p:grpSpPr bwMode="auto">
              <a:xfrm>
                <a:off x="0" y="1008"/>
                <a:ext cx="640" cy="499"/>
                <a:chOff x="0" y="1008"/>
                <a:chExt cx="640" cy="499"/>
              </a:xfrm>
            </p:grpSpPr>
            <p:sp>
              <p:nvSpPr>
                <p:cNvPr id="94268" name="Rectangle 37"/>
                <p:cNvSpPr>
                  <a:spLocks noChangeArrowheads="1"/>
                </p:cNvSpPr>
                <p:nvPr/>
              </p:nvSpPr>
              <p:spPr bwMode="auto">
                <a:xfrm>
                  <a:off x="43" y="1008"/>
                  <a:ext cx="55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95002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69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1008"/>
                  <a:ext cx="64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6" name="Group 39"/>
              <p:cNvGrpSpPr/>
              <p:nvPr/>
            </p:nvGrpSpPr>
            <p:grpSpPr bwMode="auto">
              <a:xfrm>
                <a:off x="640" y="1008"/>
                <a:ext cx="709" cy="499"/>
                <a:chOff x="640" y="1008"/>
                <a:chExt cx="709" cy="499"/>
              </a:xfrm>
            </p:grpSpPr>
            <p:sp>
              <p:nvSpPr>
                <p:cNvPr id="94266" name="Rectangle 40"/>
                <p:cNvSpPr>
                  <a:spLocks noChangeArrowheads="1"/>
                </p:cNvSpPr>
                <p:nvPr/>
              </p:nvSpPr>
              <p:spPr bwMode="auto">
                <a:xfrm>
                  <a:off x="683" y="1008"/>
                  <a:ext cx="623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刘晨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67" name="Rectangle 41"/>
                <p:cNvSpPr>
                  <a:spLocks noChangeArrowheads="1"/>
                </p:cNvSpPr>
                <p:nvPr/>
              </p:nvSpPr>
              <p:spPr bwMode="auto">
                <a:xfrm>
                  <a:off x="640" y="1008"/>
                  <a:ext cx="709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7" name="Group 42"/>
              <p:cNvGrpSpPr/>
              <p:nvPr/>
            </p:nvGrpSpPr>
            <p:grpSpPr bwMode="auto">
              <a:xfrm>
                <a:off x="1349" y="1008"/>
                <a:ext cx="553" cy="499"/>
                <a:chOff x="1349" y="1008"/>
                <a:chExt cx="553" cy="499"/>
              </a:xfrm>
            </p:grpSpPr>
            <p:sp>
              <p:nvSpPr>
                <p:cNvPr id="94264" name="Rectangle 43"/>
                <p:cNvSpPr>
                  <a:spLocks noChangeArrowheads="1"/>
                </p:cNvSpPr>
                <p:nvPr/>
              </p:nvSpPr>
              <p:spPr bwMode="auto">
                <a:xfrm>
                  <a:off x="1392" y="1008"/>
                  <a:ext cx="46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女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65" name="Rectangle 44"/>
                <p:cNvSpPr>
                  <a:spLocks noChangeArrowheads="1"/>
                </p:cNvSpPr>
                <p:nvPr/>
              </p:nvSpPr>
              <p:spPr bwMode="auto">
                <a:xfrm>
                  <a:off x="1349" y="1008"/>
                  <a:ext cx="55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8" name="Group 45"/>
              <p:cNvGrpSpPr/>
              <p:nvPr/>
            </p:nvGrpSpPr>
            <p:grpSpPr bwMode="auto">
              <a:xfrm>
                <a:off x="1902" y="1008"/>
                <a:ext cx="616" cy="499"/>
                <a:chOff x="1902" y="1008"/>
                <a:chExt cx="616" cy="499"/>
              </a:xfrm>
            </p:grpSpPr>
            <p:sp>
              <p:nvSpPr>
                <p:cNvPr id="94262" name="Rectangle 46"/>
                <p:cNvSpPr>
                  <a:spLocks noChangeArrowheads="1"/>
                </p:cNvSpPr>
                <p:nvPr/>
              </p:nvSpPr>
              <p:spPr bwMode="auto">
                <a:xfrm>
                  <a:off x="1945" y="1008"/>
                  <a:ext cx="530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19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63" name="Rectangle 47"/>
                <p:cNvSpPr>
                  <a:spLocks noChangeArrowheads="1"/>
                </p:cNvSpPr>
                <p:nvPr/>
              </p:nvSpPr>
              <p:spPr bwMode="auto">
                <a:xfrm>
                  <a:off x="1902" y="1008"/>
                  <a:ext cx="616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29" name="Group 48"/>
              <p:cNvGrpSpPr/>
              <p:nvPr/>
            </p:nvGrpSpPr>
            <p:grpSpPr bwMode="auto">
              <a:xfrm>
                <a:off x="2518" y="1008"/>
                <a:ext cx="631" cy="499"/>
                <a:chOff x="2518" y="1008"/>
                <a:chExt cx="631" cy="499"/>
              </a:xfrm>
            </p:grpSpPr>
            <p:sp>
              <p:nvSpPr>
                <p:cNvPr id="94260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1" y="1008"/>
                  <a:ext cx="54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</a:t>
                  </a:r>
                  <a:r>
                    <a:rPr lang="en-US" altLang="zh-CN" sz="2200" b="1">
                      <a:latin typeface="Times New Roman" panose="02020503050405090304" pitchFamily="18" charset="0"/>
                    </a:rPr>
                    <a:t>IS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61" name="Rectangle 50"/>
                <p:cNvSpPr>
                  <a:spLocks noChangeArrowheads="1"/>
                </p:cNvSpPr>
                <p:nvPr/>
              </p:nvSpPr>
              <p:spPr bwMode="auto">
                <a:xfrm>
                  <a:off x="2518" y="1008"/>
                  <a:ext cx="63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0" name="Group 51"/>
              <p:cNvGrpSpPr/>
              <p:nvPr/>
            </p:nvGrpSpPr>
            <p:grpSpPr bwMode="auto">
              <a:xfrm>
                <a:off x="0" y="1507"/>
                <a:ext cx="640" cy="499"/>
                <a:chOff x="0" y="1507"/>
                <a:chExt cx="640" cy="499"/>
              </a:xfrm>
            </p:grpSpPr>
            <p:sp>
              <p:nvSpPr>
                <p:cNvPr id="94258" name="Rectangle 52"/>
                <p:cNvSpPr>
                  <a:spLocks noChangeArrowheads="1"/>
                </p:cNvSpPr>
                <p:nvPr/>
              </p:nvSpPr>
              <p:spPr bwMode="auto">
                <a:xfrm>
                  <a:off x="43" y="1507"/>
                  <a:ext cx="55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95003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59" name="Rectangle 53"/>
                <p:cNvSpPr>
                  <a:spLocks noChangeArrowheads="1"/>
                </p:cNvSpPr>
                <p:nvPr/>
              </p:nvSpPr>
              <p:spPr bwMode="auto">
                <a:xfrm>
                  <a:off x="0" y="1507"/>
                  <a:ext cx="64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1" name="Group 54"/>
              <p:cNvGrpSpPr/>
              <p:nvPr/>
            </p:nvGrpSpPr>
            <p:grpSpPr bwMode="auto">
              <a:xfrm>
                <a:off x="640" y="1507"/>
                <a:ext cx="709" cy="499"/>
                <a:chOff x="640" y="1507"/>
                <a:chExt cx="709" cy="499"/>
              </a:xfrm>
            </p:grpSpPr>
            <p:sp>
              <p:nvSpPr>
                <p:cNvPr id="94256" name="Rectangle 55"/>
                <p:cNvSpPr>
                  <a:spLocks noChangeArrowheads="1"/>
                </p:cNvSpPr>
                <p:nvPr/>
              </p:nvSpPr>
              <p:spPr bwMode="auto">
                <a:xfrm>
                  <a:off x="683" y="1507"/>
                  <a:ext cx="623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王敏  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57" name="Rectangle 56"/>
                <p:cNvSpPr>
                  <a:spLocks noChangeArrowheads="1"/>
                </p:cNvSpPr>
                <p:nvPr/>
              </p:nvSpPr>
              <p:spPr bwMode="auto">
                <a:xfrm>
                  <a:off x="640" y="1507"/>
                  <a:ext cx="709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2" name="Group 57"/>
              <p:cNvGrpSpPr/>
              <p:nvPr/>
            </p:nvGrpSpPr>
            <p:grpSpPr bwMode="auto">
              <a:xfrm>
                <a:off x="1349" y="1507"/>
                <a:ext cx="553" cy="499"/>
                <a:chOff x="1349" y="1507"/>
                <a:chExt cx="553" cy="499"/>
              </a:xfrm>
            </p:grpSpPr>
            <p:sp>
              <p:nvSpPr>
                <p:cNvPr id="94254" name="Rectangle 58"/>
                <p:cNvSpPr>
                  <a:spLocks noChangeArrowheads="1"/>
                </p:cNvSpPr>
                <p:nvPr/>
              </p:nvSpPr>
              <p:spPr bwMode="auto">
                <a:xfrm>
                  <a:off x="1392" y="1507"/>
                  <a:ext cx="46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女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55" name="Rectangle 59"/>
                <p:cNvSpPr>
                  <a:spLocks noChangeArrowheads="1"/>
                </p:cNvSpPr>
                <p:nvPr/>
              </p:nvSpPr>
              <p:spPr bwMode="auto">
                <a:xfrm>
                  <a:off x="1349" y="1507"/>
                  <a:ext cx="55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3" name="Group 60"/>
              <p:cNvGrpSpPr/>
              <p:nvPr/>
            </p:nvGrpSpPr>
            <p:grpSpPr bwMode="auto">
              <a:xfrm>
                <a:off x="1902" y="1507"/>
                <a:ext cx="616" cy="499"/>
                <a:chOff x="1902" y="1507"/>
                <a:chExt cx="616" cy="499"/>
              </a:xfrm>
            </p:grpSpPr>
            <p:sp>
              <p:nvSpPr>
                <p:cNvPr id="94252" name="Rectangle 61"/>
                <p:cNvSpPr>
                  <a:spLocks noChangeArrowheads="1"/>
                </p:cNvSpPr>
                <p:nvPr/>
              </p:nvSpPr>
              <p:spPr bwMode="auto">
                <a:xfrm>
                  <a:off x="1945" y="1507"/>
                  <a:ext cx="530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18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53" name="Rectangle 62"/>
                <p:cNvSpPr>
                  <a:spLocks noChangeArrowheads="1"/>
                </p:cNvSpPr>
                <p:nvPr/>
              </p:nvSpPr>
              <p:spPr bwMode="auto">
                <a:xfrm>
                  <a:off x="1902" y="1507"/>
                  <a:ext cx="616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4" name="Group 63"/>
              <p:cNvGrpSpPr/>
              <p:nvPr/>
            </p:nvGrpSpPr>
            <p:grpSpPr bwMode="auto">
              <a:xfrm>
                <a:off x="2518" y="1507"/>
                <a:ext cx="631" cy="499"/>
                <a:chOff x="2518" y="1507"/>
                <a:chExt cx="631" cy="499"/>
              </a:xfrm>
            </p:grpSpPr>
            <p:sp>
              <p:nvSpPr>
                <p:cNvPr id="94250" name="Rectangle 64"/>
                <p:cNvSpPr>
                  <a:spLocks noChangeArrowheads="1"/>
                </p:cNvSpPr>
                <p:nvPr/>
              </p:nvSpPr>
              <p:spPr bwMode="auto">
                <a:xfrm>
                  <a:off x="2561" y="1507"/>
                  <a:ext cx="54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</a:t>
                  </a:r>
                  <a:r>
                    <a:rPr lang="en-US" altLang="zh-CN" sz="2200" b="1">
                      <a:latin typeface="Times New Roman" panose="02020503050405090304" pitchFamily="18" charset="0"/>
                    </a:rPr>
                    <a:t>MA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51" name="Rectangle 65"/>
                <p:cNvSpPr>
                  <a:spLocks noChangeArrowheads="1"/>
                </p:cNvSpPr>
                <p:nvPr/>
              </p:nvSpPr>
              <p:spPr bwMode="auto">
                <a:xfrm>
                  <a:off x="2518" y="1507"/>
                  <a:ext cx="63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5" name="Group 66"/>
              <p:cNvGrpSpPr/>
              <p:nvPr/>
            </p:nvGrpSpPr>
            <p:grpSpPr bwMode="auto">
              <a:xfrm>
                <a:off x="0" y="2006"/>
                <a:ext cx="640" cy="499"/>
                <a:chOff x="0" y="2006"/>
                <a:chExt cx="640" cy="499"/>
              </a:xfrm>
            </p:grpSpPr>
            <p:sp>
              <p:nvSpPr>
                <p:cNvPr id="94248" name="Rectangle 67"/>
                <p:cNvSpPr>
                  <a:spLocks noChangeArrowheads="1"/>
                </p:cNvSpPr>
                <p:nvPr/>
              </p:nvSpPr>
              <p:spPr bwMode="auto">
                <a:xfrm>
                  <a:off x="43" y="2006"/>
                  <a:ext cx="55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95004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49" name="Rectangle 68"/>
                <p:cNvSpPr>
                  <a:spLocks noChangeArrowheads="1"/>
                </p:cNvSpPr>
                <p:nvPr/>
              </p:nvSpPr>
              <p:spPr bwMode="auto">
                <a:xfrm>
                  <a:off x="0" y="2006"/>
                  <a:ext cx="64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6" name="Group 69"/>
              <p:cNvGrpSpPr/>
              <p:nvPr/>
            </p:nvGrpSpPr>
            <p:grpSpPr bwMode="auto">
              <a:xfrm>
                <a:off x="640" y="2006"/>
                <a:ext cx="709" cy="499"/>
                <a:chOff x="640" y="2006"/>
                <a:chExt cx="709" cy="499"/>
              </a:xfrm>
            </p:grpSpPr>
            <p:sp>
              <p:nvSpPr>
                <p:cNvPr id="94246" name="Rectangle 70"/>
                <p:cNvSpPr>
                  <a:spLocks noChangeArrowheads="1"/>
                </p:cNvSpPr>
                <p:nvPr/>
              </p:nvSpPr>
              <p:spPr bwMode="auto">
                <a:xfrm>
                  <a:off x="683" y="2006"/>
                  <a:ext cx="623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张立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47" name="Rectangle 71"/>
                <p:cNvSpPr>
                  <a:spLocks noChangeArrowheads="1"/>
                </p:cNvSpPr>
                <p:nvPr/>
              </p:nvSpPr>
              <p:spPr bwMode="auto">
                <a:xfrm>
                  <a:off x="640" y="2006"/>
                  <a:ext cx="709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7" name="Group 72"/>
              <p:cNvGrpSpPr/>
              <p:nvPr/>
            </p:nvGrpSpPr>
            <p:grpSpPr bwMode="auto">
              <a:xfrm>
                <a:off x="1349" y="2006"/>
                <a:ext cx="553" cy="499"/>
                <a:chOff x="1349" y="2006"/>
                <a:chExt cx="553" cy="499"/>
              </a:xfrm>
            </p:grpSpPr>
            <p:sp>
              <p:nvSpPr>
                <p:cNvPr id="94244" name="Rectangle 73"/>
                <p:cNvSpPr>
                  <a:spLocks noChangeArrowheads="1"/>
                </p:cNvSpPr>
                <p:nvPr/>
              </p:nvSpPr>
              <p:spPr bwMode="auto">
                <a:xfrm>
                  <a:off x="1392" y="2006"/>
                  <a:ext cx="46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男   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45" name="Rectangle 74"/>
                <p:cNvSpPr>
                  <a:spLocks noChangeArrowheads="1"/>
                </p:cNvSpPr>
                <p:nvPr/>
              </p:nvSpPr>
              <p:spPr bwMode="auto">
                <a:xfrm>
                  <a:off x="1349" y="2006"/>
                  <a:ext cx="55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8" name="Group 75"/>
              <p:cNvGrpSpPr/>
              <p:nvPr/>
            </p:nvGrpSpPr>
            <p:grpSpPr bwMode="auto">
              <a:xfrm>
                <a:off x="1902" y="2006"/>
                <a:ext cx="616" cy="499"/>
                <a:chOff x="1902" y="2006"/>
                <a:chExt cx="616" cy="499"/>
              </a:xfrm>
            </p:grpSpPr>
            <p:sp>
              <p:nvSpPr>
                <p:cNvPr id="94242" name="Rectangle 76"/>
                <p:cNvSpPr>
                  <a:spLocks noChangeArrowheads="1"/>
                </p:cNvSpPr>
                <p:nvPr/>
              </p:nvSpPr>
              <p:spPr bwMode="auto">
                <a:xfrm>
                  <a:off x="1945" y="2006"/>
                  <a:ext cx="530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19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43" name="Rectangle 77"/>
                <p:cNvSpPr>
                  <a:spLocks noChangeArrowheads="1"/>
                </p:cNvSpPr>
                <p:nvPr/>
              </p:nvSpPr>
              <p:spPr bwMode="auto">
                <a:xfrm>
                  <a:off x="1902" y="2006"/>
                  <a:ext cx="616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4239" name="Group 78"/>
              <p:cNvGrpSpPr/>
              <p:nvPr/>
            </p:nvGrpSpPr>
            <p:grpSpPr bwMode="auto">
              <a:xfrm>
                <a:off x="2518" y="2006"/>
                <a:ext cx="631" cy="499"/>
                <a:chOff x="2518" y="2006"/>
                <a:chExt cx="631" cy="499"/>
              </a:xfrm>
            </p:grpSpPr>
            <p:sp>
              <p:nvSpPr>
                <p:cNvPr id="94240" name="Rectangle 79"/>
                <p:cNvSpPr>
                  <a:spLocks noChangeArrowheads="1"/>
                </p:cNvSpPr>
                <p:nvPr/>
              </p:nvSpPr>
              <p:spPr bwMode="auto">
                <a:xfrm>
                  <a:off x="2561" y="2006"/>
                  <a:ext cx="545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200" b="1">
                      <a:latin typeface="Times New Roman" panose="02020503050405090304" pitchFamily="18" charset="0"/>
                    </a:rPr>
                    <a:t> </a:t>
                  </a:r>
                  <a:r>
                    <a:rPr lang="en-US" altLang="zh-CN" sz="2200" b="1">
                      <a:latin typeface="Times New Roman" panose="02020503050405090304" pitchFamily="18" charset="0"/>
                    </a:rPr>
                    <a:t>IS</a:t>
                  </a:r>
                  <a:endParaRPr lang="en-US" altLang="zh-CN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4241" name="Rectangle 80"/>
                <p:cNvSpPr>
                  <a:spLocks noChangeArrowheads="1"/>
                </p:cNvSpPr>
                <p:nvPr/>
              </p:nvSpPr>
              <p:spPr bwMode="auto">
                <a:xfrm>
                  <a:off x="2518" y="2006"/>
                  <a:ext cx="63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94214" name="Rectangle 81"/>
            <p:cNvSpPr>
              <a:spLocks noChangeArrowheads="1"/>
            </p:cNvSpPr>
            <p:nvPr/>
          </p:nvSpPr>
          <p:spPr bwMode="auto">
            <a:xfrm>
              <a:off x="-3" y="-3"/>
              <a:ext cx="3155" cy="2511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等值连接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1"/>
              <a:t>SC</a:t>
            </a:r>
            <a:r>
              <a:rPr lang="zh-CN" altLang="en-US" sz="3200" b="1"/>
              <a:t>表 </a:t>
            </a:r>
          </a:p>
        </p:txBody>
      </p:sp>
      <p:grpSp>
        <p:nvGrpSpPr>
          <p:cNvPr id="95236" name="Group 4"/>
          <p:cNvGrpSpPr/>
          <p:nvPr/>
        </p:nvGrpSpPr>
        <p:grpSpPr bwMode="auto">
          <a:xfrm>
            <a:off x="2209800" y="2657475"/>
            <a:ext cx="4876800" cy="3038475"/>
            <a:chOff x="-3" y="-3"/>
            <a:chExt cx="2130" cy="2513"/>
          </a:xfrm>
        </p:grpSpPr>
        <p:grpSp>
          <p:nvGrpSpPr>
            <p:cNvPr id="95237" name="Group 5"/>
            <p:cNvGrpSpPr/>
            <p:nvPr/>
          </p:nvGrpSpPr>
          <p:grpSpPr bwMode="auto">
            <a:xfrm>
              <a:off x="0" y="0"/>
              <a:ext cx="2124" cy="2510"/>
              <a:chOff x="0" y="0"/>
              <a:chExt cx="2124" cy="2510"/>
            </a:xfrm>
          </p:grpSpPr>
          <p:grpSp>
            <p:nvGrpSpPr>
              <p:cNvPr id="95239" name="Group 6"/>
              <p:cNvGrpSpPr/>
              <p:nvPr/>
            </p:nvGrpSpPr>
            <p:grpSpPr bwMode="auto">
              <a:xfrm>
                <a:off x="0" y="0"/>
                <a:ext cx="748" cy="643"/>
                <a:chOff x="0" y="0"/>
                <a:chExt cx="748" cy="643"/>
              </a:xfrm>
            </p:grpSpPr>
            <p:sp>
              <p:nvSpPr>
                <p:cNvPr id="95273" name="Rectangle 7"/>
                <p:cNvSpPr>
                  <a:spLocks noChangeArrowheads="1"/>
                </p:cNvSpPr>
                <p:nvPr/>
              </p:nvSpPr>
              <p:spPr bwMode="auto">
                <a:xfrm>
                  <a:off x="41" y="0"/>
                  <a:ext cx="664" cy="5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Sno </a:t>
                  </a: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74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48" cy="64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0" name="Group 9"/>
              <p:cNvGrpSpPr/>
              <p:nvPr/>
            </p:nvGrpSpPr>
            <p:grpSpPr bwMode="auto">
              <a:xfrm>
                <a:off x="748" y="0"/>
                <a:ext cx="748" cy="643"/>
                <a:chOff x="748" y="0"/>
                <a:chExt cx="748" cy="643"/>
              </a:xfrm>
            </p:grpSpPr>
            <p:sp>
              <p:nvSpPr>
                <p:cNvPr id="95271" name="Rectangle 10"/>
                <p:cNvSpPr>
                  <a:spLocks noChangeArrowheads="1"/>
                </p:cNvSpPr>
                <p:nvPr/>
              </p:nvSpPr>
              <p:spPr bwMode="auto">
                <a:xfrm>
                  <a:off x="791" y="0"/>
                  <a:ext cx="663" cy="5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Cno</a:t>
                  </a: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72" name="Rectangle 11"/>
                <p:cNvSpPr>
                  <a:spLocks noChangeArrowheads="1"/>
                </p:cNvSpPr>
                <p:nvPr/>
              </p:nvSpPr>
              <p:spPr bwMode="auto">
                <a:xfrm>
                  <a:off x="748" y="0"/>
                  <a:ext cx="748" cy="64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1" name="Group 12"/>
              <p:cNvGrpSpPr/>
              <p:nvPr/>
            </p:nvGrpSpPr>
            <p:grpSpPr bwMode="auto">
              <a:xfrm>
                <a:off x="1496" y="0"/>
                <a:ext cx="628" cy="643"/>
                <a:chOff x="1496" y="0"/>
                <a:chExt cx="628" cy="643"/>
              </a:xfrm>
            </p:grpSpPr>
            <p:sp>
              <p:nvSpPr>
                <p:cNvPr id="95269" name="Rectangle 13"/>
                <p:cNvSpPr>
                  <a:spLocks noChangeArrowheads="1"/>
                </p:cNvSpPr>
                <p:nvPr/>
              </p:nvSpPr>
              <p:spPr bwMode="auto">
                <a:xfrm>
                  <a:off x="1539" y="0"/>
                  <a:ext cx="544" cy="5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000" b="1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Grade</a:t>
                  </a: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70" name="Rectangle 14"/>
                <p:cNvSpPr>
                  <a:spLocks noChangeArrowheads="1"/>
                </p:cNvSpPr>
                <p:nvPr/>
              </p:nvSpPr>
              <p:spPr bwMode="auto">
                <a:xfrm>
                  <a:off x="1496" y="0"/>
                  <a:ext cx="628" cy="64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2" name="Group 15"/>
              <p:cNvGrpSpPr/>
              <p:nvPr/>
            </p:nvGrpSpPr>
            <p:grpSpPr bwMode="auto">
              <a:xfrm>
                <a:off x="0" y="643"/>
                <a:ext cx="748" cy="582"/>
                <a:chOff x="0" y="643"/>
                <a:chExt cx="748" cy="582"/>
              </a:xfrm>
            </p:grpSpPr>
            <p:sp>
              <p:nvSpPr>
                <p:cNvPr id="95267" name="Rectangle 16"/>
                <p:cNvSpPr>
                  <a:spLocks noChangeArrowheads="1"/>
                </p:cNvSpPr>
                <p:nvPr/>
              </p:nvSpPr>
              <p:spPr bwMode="auto">
                <a:xfrm>
                  <a:off x="41" y="644"/>
                  <a:ext cx="664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95001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68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643"/>
                  <a:ext cx="74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3" name="Group 18"/>
              <p:cNvGrpSpPr/>
              <p:nvPr/>
            </p:nvGrpSpPr>
            <p:grpSpPr bwMode="auto">
              <a:xfrm>
                <a:off x="748" y="643"/>
                <a:ext cx="748" cy="582"/>
                <a:chOff x="748" y="643"/>
                <a:chExt cx="748" cy="582"/>
              </a:xfrm>
            </p:grpSpPr>
            <p:sp>
              <p:nvSpPr>
                <p:cNvPr id="95265" name="Rectangle 19"/>
                <p:cNvSpPr>
                  <a:spLocks noChangeArrowheads="1"/>
                </p:cNvSpPr>
                <p:nvPr/>
              </p:nvSpPr>
              <p:spPr bwMode="auto">
                <a:xfrm>
                  <a:off x="791" y="644"/>
                  <a:ext cx="663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 1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66" name="Rectangle 20"/>
                <p:cNvSpPr>
                  <a:spLocks noChangeArrowheads="1"/>
                </p:cNvSpPr>
                <p:nvPr/>
              </p:nvSpPr>
              <p:spPr bwMode="auto">
                <a:xfrm>
                  <a:off x="748" y="643"/>
                  <a:ext cx="74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4" name="Group 21"/>
              <p:cNvGrpSpPr/>
              <p:nvPr/>
            </p:nvGrpSpPr>
            <p:grpSpPr bwMode="auto">
              <a:xfrm>
                <a:off x="1496" y="643"/>
                <a:ext cx="628" cy="582"/>
                <a:chOff x="1496" y="643"/>
                <a:chExt cx="628" cy="582"/>
              </a:xfrm>
            </p:grpSpPr>
            <p:sp>
              <p:nvSpPr>
                <p:cNvPr id="95263" name="Rectangle 22"/>
                <p:cNvSpPr>
                  <a:spLocks noChangeArrowheads="1"/>
                </p:cNvSpPr>
                <p:nvPr/>
              </p:nvSpPr>
              <p:spPr bwMode="auto">
                <a:xfrm>
                  <a:off x="1539" y="644"/>
                  <a:ext cx="544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92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64" name="Rectangle 23"/>
                <p:cNvSpPr>
                  <a:spLocks noChangeArrowheads="1"/>
                </p:cNvSpPr>
                <p:nvPr/>
              </p:nvSpPr>
              <p:spPr bwMode="auto">
                <a:xfrm>
                  <a:off x="1496" y="643"/>
                  <a:ext cx="62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5" name="Group 24"/>
              <p:cNvGrpSpPr/>
              <p:nvPr/>
            </p:nvGrpSpPr>
            <p:grpSpPr bwMode="auto">
              <a:xfrm>
                <a:off x="0" y="1085"/>
                <a:ext cx="748" cy="581"/>
                <a:chOff x="0" y="1085"/>
                <a:chExt cx="748" cy="581"/>
              </a:xfrm>
            </p:grpSpPr>
            <p:sp>
              <p:nvSpPr>
                <p:cNvPr id="95261" name="Rectangle 25"/>
                <p:cNvSpPr>
                  <a:spLocks noChangeArrowheads="1"/>
                </p:cNvSpPr>
                <p:nvPr/>
              </p:nvSpPr>
              <p:spPr bwMode="auto">
                <a:xfrm>
                  <a:off x="41" y="1085"/>
                  <a:ext cx="664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95001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62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1085"/>
                  <a:ext cx="74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6" name="Group 27"/>
              <p:cNvGrpSpPr/>
              <p:nvPr/>
            </p:nvGrpSpPr>
            <p:grpSpPr bwMode="auto">
              <a:xfrm>
                <a:off x="748" y="1085"/>
                <a:ext cx="748" cy="581"/>
                <a:chOff x="748" y="1085"/>
                <a:chExt cx="748" cy="581"/>
              </a:xfrm>
            </p:grpSpPr>
            <p:sp>
              <p:nvSpPr>
                <p:cNvPr id="95259" name="Rectangle 28"/>
                <p:cNvSpPr>
                  <a:spLocks noChangeArrowheads="1"/>
                </p:cNvSpPr>
                <p:nvPr/>
              </p:nvSpPr>
              <p:spPr bwMode="auto">
                <a:xfrm>
                  <a:off x="791" y="1085"/>
                  <a:ext cx="663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 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60" name="Rectangle 29"/>
                <p:cNvSpPr>
                  <a:spLocks noChangeArrowheads="1"/>
                </p:cNvSpPr>
                <p:nvPr/>
              </p:nvSpPr>
              <p:spPr bwMode="auto">
                <a:xfrm>
                  <a:off x="748" y="1085"/>
                  <a:ext cx="74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7" name="Group 30"/>
              <p:cNvGrpSpPr/>
              <p:nvPr/>
            </p:nvGrpSpPr>
            <p:grpSpPr bwMode="auto">
              <a:xfrm>
                <a:off x="1496" y="1085"/>
                <a:ext cx="628" cy="581"/>
                <a:chOff x="1496" y="1085"/>
                <a:chExt cx="628" cy="581"/>
              </a:xfrm>
            </p:grpSpPr>
            <p:sp>
              <p:nvSpPr>
                <p:cNvPr id="95257" name="Rectangle 31"/>
                <p:cNvSpPr>
                  <a:spLocks noChangeArrowheads="1"/>
                </p:cNvSpPr>
                <p:nvPr/>
              </p:nvSpPr>
              <p:spPr bwMode="auto">
                <a:xfrm>
                  <a:off x="1539" y="1085"/>
                  <a:ext cx="544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85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58" name="Rectangle 32"/>
                <p:cNvSpPr>
                  <a:spLocks noChangeArrowheads="1"/>
                </p:cNvSpPr>
                <p:nvPr/>
              </p:nvSpPr>
              <p:spPr bwMode="auto">
                <a:xfrm>
                  <a:off x="1496" y="1085"/>
                  <a:ext cx="62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8" name="Group 33"/>
              <p:cNvGrpSpPr/>
              <p:nvPr/>
            </p:nvGrpSpPr>
            <p:grpSpPr bwMode="auto">
              <a:xfrm>
                <a:off x="0" y="1525"/>
                <a:ext cx="748" cy="985"/>
                <a:chOff x="0" y="1525"/>
                <a:chExt cx="748" cy="985"/>
              </a:xfrm>
            </p:grpSpPr>
            <p:sp>
              <p:nvSpPr>
                <p:cNvPr id="95255" name="Rectangle 34"/>
                <p:cNvSpPr>
                  <a:spLocks noChangeArrowheads="1"/>
                </p:cNvSpPr>
                <p:nvPr/>
              </p:nvSpPr>
              <p:spPr bwMode="auto">
                <a:xfrm>
                  <a:off x="41" y="1525"/>
                  <a:ext cx="664" cy="9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95001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95002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95002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56" name="Rectangle 35"/>
                <p:cNvSpPr>
                  <a:spLocks noChangeArrowheads="1"/>
                </p:cNvSpPr>
                <p:nvPr/>
              </p:nvSpPr>
              <p:spPr bwMode="auto">
                <a:xfrm>
                  <a:off x="0" y="1527"/>
                  <a:ext cx="748" cy="7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49" name="Group 36"/>
              <p:cNvGrpSpPr/>
              <p:nvPr/>
            </p:nvGrpSpPr>
            <p:grpSpPr bwMode="auto">
              <a:xfrm>
                <a:off x="748" y="1525"/>
                <a:ext cx="748" cy="985"/>
                <a:chOff x="748" y="1525"/>
                <a:chExt cx="748" cy="985"/>
              </a:xfrm>
            </p:grpSpPr>
            <p:sp>
              <p:nvSpPr>
                <p:cNvPr id="95253" name="Rectangle 37"/>
                <p:cNvSpPr>
                  <a:spLocks noChangeArrowheads="1"/>
                </p:cNvSpPr>
                <p:nvPr/>
              </p:nvSpPr>
              <p:spPr bwMode="auto">
                <a:xfrm>
                  <a:off x="791" y="1525"/>
                  <a:ext cx="663" cy="9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 3  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  2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  3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54" name="Rectangle 38"/>
                <p:cNvSpPr>
                  <a:spLocks noChangeArrowheads="1"/>
                </p:cNvSpPr>
                <p:nvPr/>
              </p:nvSpPr>
              <p:spPr bwMode="auto">
                <a:xfrm>
                  <a:off x="748" y="1527"/>
                  <a:ext cx="748" cy="7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5250" name="Group 39"/>
              <p:cNvGrpSpPr/>
              <p:nvPr/>
            </p:nvGrpSpPr>
            <p:grpSpPr bwMode="auto">
              <a:xfrm>
                <a:off x="1496" y="1525"/>
                <a:ext cx="628" cy="985"/>
                <a:chOff x="1496" y="1525"/>
                <a:chExt cx="628" cy="985"/>
              </a:xfrm>
            </p:grpSpPr>
            <p:sp>
              <p:nvSpPr>
                <p:cNvPr id="95251" name="Rectangle 40"/>
                <p:cNvSpPr>
                  <a:spLocks noChangeArrowheads="1"/>
                </p:cNvSpPr>
                <p:nvPr/>
              </p:nvSpPr>
              <p:spPr bwMode="auto">
                <a:xfrm>
                  <a:off x="1539" y="1525"/>
                  <a:ext cx="544" cy="9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600" b="1">
                      <a:latin typeface="Times New Roman" panose="02020503050405090304" pitchFamily="18" charset="0"/>
                    </a:rPr>
                    <a:t> 88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 90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r>
                    <a:rPr lang="zh-CN" altLang="en-US" sz="1600" b="1">
                      <a:latin typeface="Times New Roman" panose="02020503050405090304" pitchFamily="18" charset="0"/>
                    </a:rPr>
                    <a:t> 80</a:t>
                  </a:r>
                  <a:endParaRPr lang="zh-CN" altLang="en-US" sz="1000">
                    <a:latin typeface="Times New Roman" panose="02020503050405090304" pitchFamily="18" charset="0"/>
                  </a:endParaRPr>
                </a:p>
                <a:p>
                  <a:pPr algn="just"/>
                  <a:endParaRPr lang="zh-CN" altLang="en-US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95252" name="Rectangle 41"/>
                <p:cNvSpPr>
                  <a:spLocks noChangeArrowheads="1"/>
                </p:cNvSpPr>
                <p:nvPr/>
              </p:nvSpPr>
              <p:spPr bwMode="auto">
                <a:xfrm>
                  <a:off x="1496" y="1527"/>
                  <a:ext cx="628" cy="7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95238" name="Rectangle 42"/>
            <p:cNvSpPr>
              <a:spLocks noChangeArrowheads="1"/>
            </p:cNvSpPr>
            <p:nvPr/>
          </p:nvSpPr>
          <p:spPr bwMode="auto">
            <a:xfrm>
              <a:off x="-3" y="-3"/>
              <a:ext cx="2130" cy="2283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153400" cy="4114800"/>
          </a:xfrm>
        </p:spPr>
        <p:txBody>
          <a:bodyPr/>
          <a:lstStyle/>
          <a:p>
            <a:pPr algn="ctr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[例32]  查询每个学生及其选修课程的情况。</a:t>
            </a:r>
          </a:p>
          <a:p>
            <a:pPr lvl="1"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SELECT  Student.*，SC.*</a:t>
            </a:r>
          </a:p>
          <a:p>
            <a:pPr lvl="1"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FROM     Student，SC</a:t>
            </a:r>
          </a:p>
          <a:p>
            <a:pPr lvl="1"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WHERE  Student.Sno = SC.Sno；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等值连接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381000" y="2209800"/>
            <a:ext cx="85344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/>
              <a:t>结果表: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800" b="1"/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Student.Sno  Sname   Ssex  Sage    Sdept     SC.Sno     Cno   Grade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</a:t>
            </a:r>
            <a:r>
              <a:rPr lang="en-US" altLang="zh-CN" sz="2000" b="1"/>
              <a:t>95001           </a:t>
            </a:r>
            <a:r>
              <a:rPr lang="zh-CN" altLang="en-US" sz="2000" b="1"/>
              <a:t>李勇       男       20 	</a:t>
            </a:r>
            <a:r>
              <a:rPr lang="en-US" altLang="zh-CN" sz="2000" b="1"/>
              <a:t>CS	95001       1        92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    95001           </a:t>
            </a:r>
            <a:r>
              <a:rPr lang="zh-CN" altLang="en-US" sz="2000" b="1"/>
              <a:t>李勇       男       20	</a:t>
            </a:r>
            <a:r>
              <a:rPr lang="en-US" altLang="zh-CN" sz="2000" b="1"/>
              <a:t>CS	95001       2        85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    95001           </a:t>
            </a:r>
            <a:r>
              <a:rPr lang="zh-CN" altLang="en-US" sz="2000" b="1"/>
              <a:t>李勇       男       20	</a:t>
            </a:r>
            <a:r>
              <a:rPr lang="en-US" altLang="zh-CN" sz="2000" b="1"/>
              <a:t>CS	95001       3        88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    95002           </a:t>
            </a:r>
            <a:r>
              <a:rPr lang="zh-CN" altLang="en-US" sz="2000" b="1"/>
              <a:t>刘晨       女       19	</a:t>
            </a:r>
            <a:r>
              <a:rPr lang="en-US" altLang="zh-CN" sz="2000" b="1"/>
              <a:t>IS 	95002       2        90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    95002           </a:t>
            </a:r>
            <a:r>
              <a:rPr lang="zh-CN" altLang="en-US" sz="2000" b="1"/>
              <a:t>刘晨       女       19	</a:t>
            </a:r>
            <a:r>
              <a:rPr lang="en-US" altLang="zh-CN" sz="2000" b="1"/>
              <a:t>IS	95002       3        80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自然连接</a:t>
            </a: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等值连接的一种特殊情况，把目标列中重复的属性列去掉。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[例33]  对[例32]用自然连接完成。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</a:t>
            </a:r>
            <a:r>
              <a:rPr lang="en-US" altLang="zh-CN" sz="2800" b="1"/>
              <a:t>SELECT  </a:t>
            </a:r>
            <a:r>
              <a:rPr lang="en-US" altLang="zh-CN" sz="2800" b="1">
                <a:solidFill>
                  <a:srgbClr val="D75B5B"/>
                </a:solidFill>
              </a:rPr>
              <a:t>Student.Sno</a:t>
            </a:r>
            <a:r>
              <a:rPr lang="en-US" altLang="zh-CN" sz="2800" b="1"/>
              <a:t>，Sname，Ssex，  Sage， Sdept，Cno，Grade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FROM     Student，SC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WHERE  Student.Sno = SC.Sno；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非等值连接查询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连接运算符 不是 = 的连接操作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[&lt;表名1&gt;.]&lt;列名1&gt;&lt;比较运算符&gt;[&lt;表名2&gt;.]&lt;列名2&gt;</a:t>
            </a:r>
          </a:p>
          <a:p>
            <a:pPr lvl="2"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1"/>
              <a:t>比较运算符：&gt;、&lt;、&gt;=、&lt;=、!=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b="1"/>
          </a:p>
          <a:p>
            <a:pPr algn="just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[&lt;表名1&gt;.]&lt;列名1&gt; </a:t>
            </a:r>
            <a:r>
              <a:rPr lang="en-US" altLang="zh-CN" b="1"/>
              <a:t>BETWEEN [&lt;</a:t>
            </a:r>
            <a:r>
              <a:rPr lang="zh-CN" altLang="en-US" b="1"/>
              <a:t>表名2&gt;.]&lt;列名2&gt; </a:t>
            </a:r>
            <a:r>
              <a:rPr lang="en-US" altLang="zh-CN" b="1"/>
              <a:t>AND [&lt;</a:t>
            </a:r>
            <a:r>
              <a:rPr lang="zh-CN" altLang="en-US" b="1"/>
              <a:t>表名2&gt;.]&lt;列名3&gt;</a:t>
            </a:r>
            <a:r>
              <a:rPr lang="zh-CN" altLang="en-US" sz="3200" b="1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（三）、自身连接 </a:t>
            </a: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一个表与其自己进行连接，称为表的</a:t>
            </a:r>
            <a:r>
              <a:rPr lang="zh-CN" altLang="en-US" sz="3200" b="1">
                <a:solidFill>
                  <a:srgbClr val="D60093"/>
                </a:solidFill>
                <a:ea typeface="黑体" panose="02010609060101010101" pitchFamily="49" charset="-122"/>
              </a:rPr>
              <a:t>自身连接</a:t>
            </a:r>
            <a:endParaRPr lang="zh-CN" altLang="en-US" sz="3200" b="1">
              <a:solidFill>
                <a:srgbClr val="D60093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需要给表起别名以示区别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由于所有属性名都是同名属性，因此必须使用别名前缀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自身连接（续）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914400" y="2017713"/>
            <a:ext cx="777240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[</a:t>
            </a:r>
            <a:r>
              <a:rPr lang="zh-CN" altLang="en-US" sz="3200" b="1">
                <a:ea typeface="黑体" panose="02010609060101010101" pitchFamily="49" charset="-122"/>
              </a:rPr>
              <a:t>例</a:t>
            </a:r>
            <a:r>
              <a:rPr lang="zh-CN" altLang="en-US" sz="3200" b="1"/>
              <a:t>34]  查询每一门课的间接先修课（即先修课的先修课）     </a:t>
            </a:r>
            <a:endParaRPr lang="en-US" altLang="zh-CN" sz="2800" b="1"/>
          </a:p>
        </p:txBody>
      </p:sp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685800" y="2819400"/>
            <a:ext cx="6019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SELECT  FIRST.Cno，SECOND.Cpno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FROM  Course  </a:t>
            </a:r>
            <a:r>
              <a:rPr lang="en-US" altLang="zh-CN" sz="2800" b="1">
                <a:solidFill>
                  <a:srgbClr val="D75B5B"/>
                </a:solidFill>
              </a:rPr>
              <a:t>FIRST</a:t>
            </a:r>
            <a:r>
              <a:rPr lang="en-US" altLang="zh-CN" sz="2800" b="1"/>
              <a:t>，Course </a:t>
            </a:r>
            <a:r>
              <a:rPr lang="en-US" altLang="zh-CN" sz="2800" b="1">
                <a:solidFill>
                  <a:srgbClr val="D75B5B"/>
                </a:solidFill>
              </a:rPr>
              <a:t>SECOND</a:t>
            </a:r>
            <a:endParaRPr lang="en-US" altLang="zh-CN" sz="2800" b="1"/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WHERE FIRST.Cpno = SECOND.Cno； 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自身连接（续）</a:t>
            </a: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232868" y="2073967"/>
            <a:ext cx="3505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dirty="0"/>
              <a:t>FIRST</a:t>
            </a:r>
            <a:r>
              <a:rPr lang="zh-CN" altLang="en-US" b="1" dirty="0"/>
              <a:t>表（</a:t>
            </a:r>
            <a:r>
              <a:rPr lang="en-US" altLang="zh-CN" b="1" dirty="0"/>
              <a:t>Course</a:t>
            </a:r>
            <a:r>
              <a:rPr lang="zh-CN" altLang="en-US" b="1" dirty="0"/>
              <a:t>表）</a:t>
            </a:r>
            <a:r>
              <a:rPr lang="zh-CN" altLang="en-US" sz="3200" b="1" dirty="0"/>
              <a:t> </a:t>
            </a:r>
          </a:p>
        </p:txBody>
      </p:sp>
      <p:grpSp>
        <p:nvGrpSpPr>
          <p:cNvPr id="102404" name="Group 4"/>
          <p:cNvGrpSpPr/>
          <p:nvPr/>
        </p:nvGrpSpPr>
        <p:grpSpPr bwMode="auto">
          <a:xfrm>
            <a:off x="288032" y="2887662"/>
            <a:ext cx="4067944" cy="2485554"/>
            <a:chOff x="0" y="0"/>
            <a:chExt cx="3163" cy="3992"/>
          </a:xfrm>
        </p:grpSpPr>
        <p:grpSp>
          <p:nvGrpSpPr>
            <p:cNvPr id="102405" name="Group 5"/>
            <p:cNvGrpSpPr/>
            <p:nvPr/>
          </p:nvGrpSpPr>
          <p:grpSpPr bwMode="auto">
            <a:xfrm>
              <a:off x="0" y="0"/>
              <a:ext cx="513" cy="499"/>
              <a:chOff x="0" y="0"/>
              <a:chExt cx="513" cy="499"/>
            </a:xfrm>
          </p:grpSpPr>
          <p:sp>
            <p:nvSpPr>
              <p:cNvPr id="102499" name="Rectangle 6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r"/>
                    <a:tab pos="2636520" algn="ctr"/>
                    <a:tab pos="5273675" algn="r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b="1" dirty="0" err="1">
                    <a:latin typeface="Times New Roman" panose="02020503050405090304" pitchFamily="18" charset="0"/>
                  </a:rPr>
                  <a:t>Cno</a:t>
                </a:r>
                <a:endParaRPr lang="en-US" altLang="zh-CN" sz="1600" dirty="0">
                  <a:latin typeface="Times New Roman" panose="02020503050405090304" pitchFamily="18" charset="0"/>
                </a:endParaRPr>
              </a:p>
              <a:p>
                <a:endParaRPr lang="zh-CN" altLang="en-US" sz="16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0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06" name="Group 8"/>
            <p:cNvGrpSpPr/>
            <p:nvPr/>
          </p:nvGrpSpPr>
          <p:grpSpPr bwMode="auto">
            <a:xfrm>
              <a:off x="513" y="0"/>
              <a:ext cx="1272" cy="499"/>
              <a:chOff x="513" y="0"/>
              <a:chExt cx="1272" cy="499"/>
            </a:xfrm>
          </p:grpSpPr>
          <p:sp>
            <p:nvSpPr>
              <p:cNvPr id="102497" name="Rectangle 9"/>
              <p:cNvSpPr>
                <a:spLocks noChangeArrowheads="1"/>
              </p:cNvSpPr>
              <p:nvPr/>
            </p:nvSpPr>
            <p:spPr bwMode="auto">
              <a:xfrm>
                <a:off x="556" y="0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</a:t>
                </a:r>
                <a:r>
                  <a:rPr lang="en-US" altLang="zh-CN" sz="1600" b="1">
                    <a:latin typeface="Times New Roman" panose="02020503050405090304" pitchFamily="18" charset="0"/>
                  </a:rPr>
                  <a:t>Cname</a:t>
                </a:r>
                <a:endParaRPr lang="en-US" altLang="zh-CN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98" name="Rectangle 10"/>
              <p:cNvSpPr>
                <a:spLocks noChangeArrowheads="1"/>
              </p:cNvSpPr>
              <p:nvPr/>
            </p:nvSpPr>
            <p:spPr bwMode="auto">
              <a:xfrm>
                <a:off x="513" y="0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07" name="Group 11"/>
            <p:cNvGrpSpPr/>
            <p:nvPr/>
          </p:nvGrpSpPr>
          <p:grpSpPr bwMode="auto">
            <a:xfrm>
              <a:off x="1785" y="0"/>
              <a:ext cx="611" cy="499"/>
              <a:chOff x="1785" y="0"/>
              <a:chExt cx="611" cy="499"/>
            </a:xfrm>
          </p:grpSpPr>
          <p:sp>
            <p:nvSpPr>
              <p:cNvPr id="102495" name="Rectangle 12"/>
              <p:cNvSpPr>
                <a:spLocks noChangeArrowheads="1"/>
              </p:cNvSpPr>
              <p:nvPr/>
            </p:nvSpPr>
            <p:spPr bwMode="auto">
              <a:xfrm>
                <a:off x="1828" y="0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b="1">
                    <a:latin typeface="Times New Roman" panose="02020503050405090304" pitchFamily="18" charset="0"/>
                  </a:rPr>
                  <a:t>Cpno</a:t>
                </a:r>
                <a:endParaRPr lang="en-US" altLang="zh-CN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96" name="Rectangle 13"/>
              <p:cNvSpPr>
                <a:spLocks noChangeArrowheads="1"/>
              </p:cNvSpPr>
              <p:nvPr/>
            </p:nvSpPr>
            <p:spPr bwMode="auto">
              <a:xfrm>
                <a:off x="1785" y="0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08" name="Group 14"/>
            <p:cNvGrpSpPr/>
            <p:nvPr/>
          </p:nvGrpSpPr>
          <p:grpSpPr bwMode="auto">
            <a:xfrm>
              <a:off x="2396" y="0"/>
              <a:ext cx="767" cy="499"/>
              <a:chOff x="2396" y="0"/>
              <a:chExt cx="767" cy="499"/>
            </a:xfrm>
          </p:grpSpPr>
          <p:sp>
            <p:nvSpPr>
              <p:cNvPr id="102493" name="Rectangle 15"/>
              <p:cNvSpPr>
                <a:spLocks noChangeArrowheads="1"/>
              </p:cNvSpPr>
              <p:nvPr/>
            </p:nvSpPr>
            <p:spPr bwMode="auto">
              <a:xfrm>
                <a:off x="2439" y="0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b="1">
                    <a:latin typeface="Times New Roman" panose="02020503050405090304" pitchFamily="18" charset="0"/>
                  </a:rPr>
                  <a:t>Ccredit</a:t>
                </a:r>
                <a:endParaRPr lang="en-US" altLang="zh-CN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94" name="Rectangle 16"/>
              <p:cNvSpPr>
                <a:spLocks noChangeArrowheads="1"/>
              </p:cNvSpPr>
              <p:nvPr/>
            </p:nvSpPr>
            <p:spPr bwMode="auto">
              <a:xfrm>
                <a:off x="2396" y="0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09" name="Group 17"/>
            <p:cNvGrpSpPr/>
            <p:nvPr/>
          </p:nvGrpSpPr>
          <p:grpSpPr bwMode="auto">
            <a:xfrm>
              <a:off x="0" y="499"/>
              <a:ext cx="513" cy="499"/>
              <a:chOff x="0" y="499"/>
              <a:chExt cx="513" cy="499"/>
            </a:xfrm>
          </p:grpSpPr>
          <p:sp>
            <p:nvSpPr>
              <p:cNvPr id="102491" name="Rectangle 18"/>
              <p:cNvSpPr>
                <a:spLocks noChangeArrowheads="1"/>
              </p:cNvSpPr>
              <p:nvPr/>
            </p:nvSpPr>
            <p:spPr bwMode="auto">
              <a:xfrm>
                <a:off x="43" y="499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1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92" name="Rectangle 19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0" name="Group 20"/>
            <p:cNvGrpSpPr/>
            <p:nvPr/>
          </p:nvGrpSpPr>
          <p:grpSpPr bwMode="auto">
            <a:xfrm>
              <a:off x="513" y="499"/>
              <a:ext cx="1272" cy="499"/>
              <a:chOff x="513" y="499"/>
              <a:chExt cx="1272" cy="499"/>
            </a:xfrm>
          </p:grpSpPr>
          <p:sp>
            <p:nvSpPr>
              <p:cNvPr id="102489" name="Rectangle 21"/>
              <p:cNvSpPr>
                <a:spLocks noChangeArrowheads="1"/>
              </p:cNvSpPr>
              <p:nvPr/>
            </p:nvSpPr>
            <p:spPr bwMode="auto">
              <a:xfrm>
                <a:off x="556" y="499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 dirty="0">
                    <a:latin typeface="Times New Roman" panose="02020503050405090304" pitchFamily="18" charset="0"/>
                  </a:rPr>
                  <a:t>数据库</a:t>
                </a:r>
                <a:endParaRPr lang="zh-CN" altLang="en-US" sz="1600" dirty="0">
                  <a:latin typeface="Times New Roman" panose="02020503050405090304" pitchFamily="18" charset="0"/>
                </a:endParaRPr>
              </a:p>
              <a:p>
                <a:endParaRPr lang="zh-CN" altLang="en-US" sz="16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90" name="Rectangle 22"/>
              <p:cNvSpPr>
                <a:spLocks noChangeArrowheads="1"/>
              </p:cNvSpPr>
              <p:nvPr/>
            </p:nvSpPr>
            <p:spPr bwMode="auto">
              <a:xfrm>
                <a:off x="513" y="499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1" name="Group 23"/>
            <p:cNvGrpSpPr/>
            <p:nvPr/>
          </p:nvGrpSpPr>
          <p:grpSpPr bwMode="auto">
            <a:xfrm>
              <a:off x="1785" y="499"/>
              <a:ext cx="611" cy="499"/>
              <a:chOff x="1785" y="499"/>
              <a:chExt cx="611" cy="499"/>
            </a:xfrm>
          </p:grpSpPr>
          <p:sp>
            <p:nvSpPr>
              <p:cNvPr id="102487" name="Rectangle 24"/>
              <p:cNvSpPr>
                <a:spLocks noChangeArrowheads="1"/>
              </p:cNvSpPr>
              <p:nvPr/>
            </p:nvSpPr>
            <p:spPr bwMode="auto">
              <a:xfrm>
                <a:off x="1828" y="499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 dirty="0">
                    <a:latin typeface="Times New Roman" panose="02020503050405090304" pitchFamily="18" charset="0"/>
                  </a:rPr>
                  <a:t>  5</a:t>
                </a:r>
                <a:endParaRPr lang="zh-CN" altLang="en-US" sz="1600" dirty="0">
                  <a:latin typeface="Times New Roman" panose="02020503050405090304" pitchFamily="18" charset="0"/>
                </a:endParaRPr>
              </a:p>
              <a:p>
                <a:endParaRPr lang="zh-CN" altLang="en-US" sz="16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88" name="Rectangle 25"/>
              <p:cNvSpPr>
                <a:spLocks noChangeArrowheads="1"/>
              </p:cNvSpPr>
              <p:nvPr/>
            </p:nvSpPr>
            <p:spPr bwMode="auto">
              <a:xfrm>
                <a:off x="1785" y="499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2" name="Group 26"/>
            <p:cNvGrpSpPr/>
            <p:nvPr/>
          </p:nvGrpSpPr>
          <p:grpSpPr bwMode="auto">
            <a:xfrm>
              <a:off x="2396" y="499"/>
              <a:ext cx="767" cy="499"/>
              <a:chOff x="2396" y="499"/>
              <a:chExt cx="767" cy="499"/>
            </a:xfrm>
          </p:grpSpPr>
          <p:sp>
            <p:nvSpPr>
              <p:cNvPr id="102485" name="Rectangle 27"/>
              <p:cNvSpPr>
                <a:spLocks noChangeArrowheads="1"/>
              </p:cNvSpPr>
              <p:nvPr/>
            </p:nvSpPr>
            <p:spPr bwMode="auto">
              <a:xfrm>
                <a:off x="2439" y="499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4  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86" name="Rectangle 28"/>
              <p:cNvSpPr>
                <a:spLocks noChangeArrowheads="1"/>
              </p:cNvSpPr>
              <p:nvPr/>
            </p:nvSpPr>
            <p:spPr bwMode="auto">
              <a:xfrm>
                <a:off x="2396" y="499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3" name="Group 29"/>
            <p:cNvGrpSpPr/>
            <p:nvPr/>
          </p:nvGrpSpPr>
          <p:grpSpPr bwMode="auto">
            <a:xfrm>
              <a:off x="0" y="998"/>
              <a:ext cx="513" cy="499"/>
              <a:chOff x="0" y="998"/>
              <a:chExt cx="513" cy="499"/>
            </a:xfrm>
          </p:grpSpPr>
          <p:sp>
            <p:nvSpPr>
              <p:cNvPr id="102483" name="Rectangle 30"/>
              <p:cNvSpPr>
                <a:spLocks noChangeArrowheads="1"/>
              </p:cNvSpPr>
              <p:nvPr/>
            </p:nvSpPr>
            <p:spPr bwMode="auto">
              <a:xfrm>
                <a:off x="43" y="998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2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84" name="Rectangle 31"/>
              <p:cNvSpPr>
                <a:spLocks noChangeArrowheads="1"/>
              </p:cNvSpPr>
              <p:nvPr/>
            </p:nvSpPr>
            <p:spPr bwMode="auto">
              <a:xfrm>
                <a:off x="0" y="998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4" name="Group 32"/>
            <p:cNvGrpSpPr/>
            <p:nvPr/>
          </p:nvGrpSpPr>
          <p:grpSpPr bwMode="auto">
            <a:xfrm>
              <a:off x="513" y="998"/>
              <a:ext cx="1272" cy="499"/>
              <a:chOff x="513" y="998"/>
              <a:chExt cx="1272" cy="499"/>
            </a:xfrm>
          </p:grpSpPr>
          <p:sp>
            <p:nvSpPr>
              <p:cNvPr id="102481" name="Rectangle 33"/>
              <p:cNvSpPr>
                <a:spLocks noChangeArrowheads="1"/>
              </p:cNvSpPr>
              <p:nvPr/>
            </p:nvSpPr>
            <p:spPr bwMode="auto">
              <a:xfrm>
                <a:off x="556" y="998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 dirty="0">
                    <a:latin typeface="Times New Roman" panose="02020503050405090304" pitchFamily="18" charset="0"/>
                  </a:rPr>
                  <a:t>数学</a:t>
                </a:r>
                <a:endParaRPr lang="zh-CN" altLang="en-US" sz="1600" dirty="0">
                  <a:latin typeface="Times New Roman" panose="02020503050405090304" pitchFamily="18" charset="0"/>
                </a:endParaRPr>
              </a:p>
              <a:p>
                <a:endParaRPr lang="zh-CN" altLang="en-US" sz="16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82" name="Rectangle 34"/>
              <p:cNvSpPr>
                <a:spLocks noChangeArrowheads="1"/>
              </p:cNvSpPr>
              <p:nvPr/>
            </p:nvSpPr>
            <p:spPr bwMode="auto">
              <a:xfrm>
                <a:off x="513" y="998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5" name="Group 35"/>
            <p:cNvGrpSpPr/>
            <p:nvPr/>
          </p:nvGrpSpPr>
          <p:grpSpPr bwMode="auto">
            <a:xfrm>
              <a:off x="1785" y="998"/>
              <a:ext cx="611" cy="499"/>
              <a:chOff x="1785" y="998"/>
              <a:chExt cx="611" cy="499"/>
            </a:xfrm>
          </p:grpSpPr>
          <p:sp>
            <p:nvSpPr>
              <p:cNvPr id="102479" name="Rectangle 36"/>
              <p:cNvSpPr>
                <a:spLocks noChangeArrowheads="1"/>
              </p:cNvSpPr>
              <p:nvPr/>
            </p:nvSpPr>
            <p:spPr bwMode="auto">
              <a:xfrm>
                <a:off x="1828" y="998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>
                    <a:latin typeface="Times New Roman" panose="02020503050405090304" pitchFamily="18" charset="0"/>
                  </a:rPr>
                  <a:t> </a:t>
                </a: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80" name="Rectangle 37"/>
              <p:cNvSpPr>
                <a:spLocks noChangeArrowheads="1"/>
              </p:cNvSpPr>
              <p:nvPr/>
            </p:nvSpPr>
            <p:spPr bwMode="auto">
              <a:xfrm>
                <a:off x="1785" y="998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6" name="Group 38"/>
            <p:cNvGrpSpPr/>
            <p:nvPr/>
          </p:nvGrpSpPr>
          <p:grpSpPr bwMode="auto">
            <a:xfrm>
              <a:off x="2396" y="998"/>
              <a:ext cx="767" cy="499"/>
              <a:chOff x="2396" y="998"/>
              <a:chExt cx="767" cy="499"/>
            </a:xfrm>
          </p:grpSpPr>
          <p:sp>
            <p:nvSpPr>
              <p:cNvPr id="102477" name="Rectangle 39"/>
              <p:cNvSpPr>
                <a:spLocks noChangeArrowheads="1"/>
              </p:cNvSpPr>
              <p:nvPr/>
            </p:nvSpPr>
            <p:spPr bwMode="auto">
              <a:xfrm>
                <a:off x="2439" y="998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2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78" name="Rectangle 40"/>
              <p:cNvSpPr>
                <a:spLocks noChangeArrowheads="1"/>
              </p:cNvSpPr>
              <p:nvPr/>
            </p:nvSpPr>
            <p:spPr bwMode="auto">
              <a:xfrm>
                <a:off x="2396" y="998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7" name="Group 41"/>
            <p:cNvGrpSpPr/>
            <p:nvPr/>
          </p:nvGrpSpPr>
          <p:grpSpPr bwMode="auto">
            <a:xfrm>
              <a:off x="0" y="1497"/>
              <a:ext cx="513" cy="499"/>
              <a:chOff x="0" y="1497"/>
              <a:chExt cx="513" cy="499"/>
            </a:xfrm>
          </p:grpSpPr>
          <p:sp>
            <p:nvSpPr>
              <p:cNvPr id="102475" name="Rectangle 42"/>
              <p:cNvSpPr>
                <a:spLocks noChangeArrowheads="1"/>
              </p:cNvSpPr>
              <p:nvPr/>
            </p:nvSpPr>
            <p:spPr bwMode="auto">
              <a:xfrm>
                <a:off x="43" y="1497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3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76" name="Rectangle 43"/>
              <p:cNvSpPr>
                <a:spLocks noChangeArrowheads="1"/>
              </p:cNvSpPr>
              <p:nvPr/>
            </p:nvSpPr>
            <p:spPr bwMode="auto">
              <a:xfrm>
                <a:off x="0" y="1497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8" name="Group 44"/>
            <p:cNvGrpSpPr/>
            <p:nvPr/>
          </p:nvGrpSpPr>
          <p:grpSpPr bwMode="auto">
            <a:xfrm>
              <a:off x="513" y="1497"/>
              <a:ext cx="1272" cy="499"/>
              <a:chOff x="513" y="1497"/>
              <a:chExt cx="1272" cy="499"/>
            </a:xfrm>
          </p:grpSpPr>
          <p:sp>
            <p:nvSpPr>
              <p:cNvPr id="102473" name="Rectangle 45"/>
              <p:cNvSpPr>
                <a:spLocks noChangeArrowheads="1"/>
              </p:cNvSpPr>
              <p:nvPr/>
            </p:nvSpPr>
            <p:spPr bwMode="auto">
              <a:xfrm>
                <a:off x="556" y="1497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信息系统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74" name="Rectangle 46"/>
              <p:cNvSpPr>
                <a:spLocks noChangeArrowheads="1"/>
              </p:cNvSpPr>
              <p:nvPr/>
            </p:nvSpPr>
            <p:spPr bwMode="auto">
              <a:xfrm>
                <a:off x="513" y="1497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19" name="Group 47"/>
            <p:cNvGrpSpPr/>
            <p:nvPr/>
          </p:nvGrpSpPr>
          <p:grpSpPr bwMode="auto">
            <a:xfrm>
              <a:off x="1785" y="1497"/>
              <a:ext cx="611" cy="499"/>
              <a:chOff x="1785" y="1497"/>
              <a:chExt cx="611" cy="499"/>
            </a:xfrm>
          </p:grpSpPr>
          <p:sp>
            <p:nvSpPr>
              <p:cNvPr id="102471" name="Rectangle 48"/>
              <p:cNvSpPr>
                <a:spLocks noChangeArrowheads="1"/>
              </p:cNvSpPr>
              <p:nvPr/>
            </p:nvSpPr>
            <p:spPr bwMode="auto">
              <a:xfrm>
                <a:off x="1828" y="1497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1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72" name="Rectangle 49"/>
              <p:cNvSpPr>
                <a:spLocks noChangeArrowheads="1"/>
              </p:cNvSpPr>
              <p:nvPr/>
            </p:nvSpPr>
            <p:spPr bwMode="auto">
              <a:xfrm>
                <a:off x="1785" y="1497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0" name="Group 50"/>
            <p:cNvGrpSpPr/>
            <p:nvPr/>
          </p:nvGrpSpPr>
          <p:grpSpPr bwMode="auto">
            <a:xfrm>
              <a:off x="2396" y="1497"/>
              <a:ext cx="767" cy="499"/>
              <a:chOff x="2396" y="1497"/>
              <a:chExt cx="767" cy="499"/>
            </a:xfrm>
          </p:grpSpPr>
          <p:sp>
            <p:nvSpPr>
              <p:cNvPr id="102469" name="Rectangle 51"/>
              <p:cNvSpPr>
                <a:spLocks noChangeArrowheads="1"/>
              </p:cNvSpPr>
              <p:nvPr/>
            </p:nvSpPr>
            <p:spPr bwMode="auto">
              <a:xfrm>
                <a:off x="2439" y="1497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 dirty="0">
                    <a:latin typeface="Times New Roman" panose="02020503050405090304" pitchFamily="18" charset="0"/>
                  </a:rPr>
                  <a:t>  4</a:t>
                </a:r>
                <a:endParaRPr lang="zh-CN" altLang="en-US" sz="1600" dirty="0">
                  <a:latin typeface="Times New Roman" panose="02020503050405090304" pitchFamily="18" charset="0"/>
                </a:endParaRPr>
              </a:p>
              <a:p>
                <a:endParaRPr lang="zh-CN" altLang="en-US" sz="16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70" name="Rectangle 52"/>
              <p:cNvSpPr>
                <a:spLocks noChangeArrowheads="1"/>
              </p:cNvSpPr>
              <p:nvPr/>
            </p:nvSpPr>
            <p:spPr bwMode="auto">
              <a:xfrm>
                <a:off x="2396" y="1497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1" name="Group 53"/>
            <p:cNvGrpSpPr/>
            <p:nvPr/>
          </p:nvGrpSpPr>
          <p:grpSpPr bwMode="auto">
            <a:xfrm>
              <a:off x="0" y="1996"/>
              <a:ext cx="513" cy="499"/>
              <a:chOff x="0" y="1996"/>
              <a:chExt cx="513" cy="499"/>
            </a:xfrm>
          </p:grpSpPr>
          <p:sp>
            <p:nvSpPr>
              <p:cNvPr id="102467" name="Rectangle 54"/>
              <p:cNvSpPr>
                <a:spLocks noChangeArrowheads="1"/>
              </p:cNvSpPr>
              <p:nvPr/>
            </p:nvSpPr>
            <p:spPr bwMode="auto">
              <a:xfrm>
                <a:off x="43" y="1996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4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68" name="Rectangle 55"/>
              <p:cNvSpPr>
                <a:spLocks noChangeArrowheads="1"/>
              </p:cNvSpPr>
              <p:nvPr/>
            </p:nvSpPr>
            <p:spPr bwMode="auto">
              <a:xfrm>
                <a:off x="0" y="1996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2" name="Group 56"/>
            <p:cNvGrpSpPr/>
            <p:nvPr/>
          </p:nvGrpSpPr>
          <p:grpSpPr bwMode="auto">
            <a:xfrm>
              <a:off x="513" y="1996"/>
              <a:ext cx="1272" cy="499"/>
              <a:chOff x="513" y="1996"/>
              <a:chExt cx="1272" cy="499"/>
            </a:xfrm>
          </p:grpSpPr>
          <p:sp>
            <p:nvSpPr>
              <p:cNvPr id="102465" name="Rectangle 57"/>
              <p:cNvSpPr>
                <a:spLocks noChangeArrowheads="1"/>
              </p:cNvSpPr>
              <p:nvPr/>
            </p:nvSpPr>
            <p:spPr bwMode="auto">
              <a:xfrm>
                <a:off x="556" y="1996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操作系统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66" name="Rectangle 58"/>
              <p:cNvSpPr>
                <a:spLocks noChangeArrowheads="1"/>
              </p:cNvSpPr>
              <p:nvPr/>
            </p:nvSpPr>
            <p:spPr bwMode="auto">
              <a:xfrm>
                <a:off x="513" y="1996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3" name="Group 59"/>
            <p:cNvGrpSpPr/>
            <p:nvPr/>
          </p:nvGrpSpPr>
          <p:grpSpPr bwMode="auto">
            <a:xfrm>
              <a:off x="1785" y="1996"/>
              <a:ext cx="611" cy="499"/>
              <a:chOff x="1785" y="1996"/>
              <a:chExt cx="611" cy="499"/>
            </a:xfrm>
          </p:grpSpPr>
          <p:sp>
            <p:nvSpPr>
              <p:cNvPr id="102463" name="Rectangle 60"/>
              <p:cNvSpPr>
                <a:spLocks noChangeArrowheads="1"/>
              </p:cNvSpPr>
              <p:nvPr/>
            </p:nvSpPr>
            <p:spPr bwMode="auto">
              <a:xfrm>
                <a:off x="1828" y="1996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6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64" name="Rectangle 61"/>
              <p:cNvSpPr>
                <a:spLocks noChangeArrowheads="1"/>
              </p:cNvSpPr>
              <p:nvPr/>
            </p:nvSpPr>
            <p:spPr bwMode="auto">
              <a:xfrm>
                <a:off x="1785" y="1996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4" name="Group 62"/>
            <p:cNvGrpSpPr/>
            <p:nvPr/>
          </p:nvGrpSpPr>
          <p:grpSpPr bwMode="auto">
            <a:xfrm>
              <a:off x="2396" y="1996"/>
              <a:ext cx="767" cy="499"/>
              <a:chOff x="2396" y="1996"/>
              <a:chExt cx="767" cy="499"/>
            </a:xfrm>
          </p:grpSpPr>
          <p:sp>
            <p:nvSpPr>
              <p:cNvPr id="102461" name="Rectangle 63"/>
              <p:cNvSpPr>
                <a:spLocks noChangeArrowheads="1"/>
              </p:cNvSpPr>
              <p:nvPr/>
            </p:nvSpPr>
            <p:spPr bwMode="auto">
              <a:xfrm>
                <a:off x="2439" y="1996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3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62" name="Rectangle 64"/>
              <p:cNvSpPr>
                <a:spLocks noChangeArrowheads="1"/>
              </p:cNvSpPr>
              <p:nvPr/>
            </p:nvSpPr>
            <p:spPr bwMode="auto">
              <a:xfrm>
                <a:off x="2396" y="1996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5" name="Group 65"/>
            <p:cNvGrpSpPr/>
            <p:nvPr/>
          </p:nvGrpSpPr>
          <p:grpSpPr bwMode="auto">
            <a:xfrm>
              <a:off x="0" y="2495"/>
              <a:ext cx="513" cy="499"/>
              <a:chOff x="0" y="2495"/>
              <a:chExt cx="513" cy="499"/>
            </a:xfrm>
          </p:grpSpPr>
          <p:sp>
            <p:nvSpPr>
              <p:cNvPr id="102459" name="Rectangle 66"/>
              <p:cNvSpPr>
                <a:spLocks noChangeArrowheads="1"/>
              </p:cNvSpPr>
              <p:nvPr/>
            </p:nvSpPr>
            <p:spPr bwMode="auto">
              <a:xfrm>
                <a:off x="43" y="2495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5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60" name="Rectangle 67"/>
              <p:cNvSpPr>
                <a:spLocks noChangeArrowheads="1"/>
              </p:cNvSpPr>
              <p:nvPr/>
            </p:nvSpPr>
            <p:spPr bwMode="auto">
              <a:xfrm>
                <a:off x="0" y="2495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6" name="Group 68"/>
            <p:cNvGrpSpPr/>
            <p:nvPr/>
          </p:nvGrpSpPr>
          <p:grpSpPr bwMode="auto">
            <a:xfrm>
              <a:off x="513" y="2495"/>
              <a:ext cx="1272" cy="499"/>
              <a:chOff x="513" y="2495"/>
              <a:chExt cx="1272" cy="499"/>
            </a:xfrm>
          </p:grpSpPr>
          <p:sp>
            <p:nvSpPr>
              <p:cNvPr id="102457" name="Rectangle 69"/>
              <p:cNvSpPr>
                <a:spLocks noChangeArrowheads="1"/>
              </p:cNvSpPr>
              <p:nvPr/>
            </p:nvSpPr>
            <p:spPr bwMode="auto">
              <a:xfrm>
                <a:off x="556" y="2495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数据结构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58" name="Rectangle 70"/>
              <p:cNvSpPr>
                <a:spLocks noChangeArrowheads="1"/>
              </p:cNvSpPr>
              <p:nvPr/>
            </p:nvSpPr>
            <p:spPr bwMode="auto">
              <a:xfrm>
                <a:off x="513" y="2495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7" name="Group 71"/>
            <p:cNvGrpSpPr/>
            <p:nvPr/>
          </p:nvGrpSpPr>
          <p:grpSpPr bwMode="auto">
            <a:xfrm>
              <a:off x="1785" y="2495"/>
              <a:ext cx="611" cy="499"/>
              <a:chOff x="1785" y="2495"/>
              <a:chExt cx="611" cy="499"/>
            </a:xfrm>
          </p:grpSpPr>
          <p:sp>
            <p:nvSpPr>
              <p:cNvPr id="102455" name="Rectangle 72"/>
              <p:cNvSpPr>
                <a:spLocks noChangeArrowheads="1"/>
              </p:cNvSpPr>
              <p:nvPr/>
            </p:nvSpPr>
            <p:spPr bwMode="auto">
              <a:xfrm>
                <a:off x="1828" y="2495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7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56" name="Rectangle 73"/>
              <p:cNvSpPr>
                <a:spLocks noChangeArrowheads="1"/>
              </p:cNvSpPr>
              <p:nvPr/>
            </p:nvSpPr>
            <p:spPr bwMode="auto">
              <a:xfrm>
                <a:off x="1785" y="2495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8" name="Group 74"/>
            <p:cNvGrpSpPr/>
            <p:nvPr/>
          </p:nvGrpSpPr>
          <p:grpSpPr bwMode="auto">
            <a:xfrm>
              <a:off x="2396" y="2495"/>
              <a:ext cx="767" cy="499"/>
              <a:chOff x="2396" y="2495"/>
              <a:chExt cx="767" cy="499"/>
            </a:xfrm>
          </p:grpSpPr>
          <p:sp>
            <p:nvSpPr>
              <p:cNvPr id="102453" name="Rectangle 75"/>
              <p:cNvSpPr>
                <a:spLocks noChangeArrowheads="1"/>
              </p:cNvSpPr>
              <p:nvPr/>
            </p:nvSpPr>
            <p:spPr bwMode="auto">
              <a:xfrm>
                <a:off x="2439" y="2495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4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54" name="Rectangle 76"/>
              <p:cNvSpPr>
                <a:spLocks noChangeArrowheads="1"/>
              </p:cNvSpPr>
              <p:nvPr/>
            </p:nvSpPr>
            <p:spPr bwMode="auto">
              <a:xfrm>
                <a:off x="2396" y="2495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29" name="Group 77"/>
            <p:cNvGrpSpPr/>
            <p:nvPr/>
          </p:nvGrpSpPr>
          <p:grpSpPr bwMode="auto">
            <a:xfrm>
              <a:off x="0" y="2994"/>
              <a:ext cx="513" cy="499"/>
              <a:chOff x="0" y="2994"/>
              <a:chExt cx="513" cy="499"/>
            </a:xfrm>
          </p:grpSpPr>
          <p:sp>
            <p:nvSpPr>
              <p:cNvPr id="102451" name="Rectangle 78"/>
              <p:cNvSpPr>
                <a:spLocks noChangeArrowheads="1"/>
              </p:cNvSpPr>
              <p:nvPr/>
            </p:nvSpPr>
            <p:spPr bwMode="auto">
              <a:xfrm>
                <a:off x="43" y="2994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6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52" name="Rectangle 79"/>
              <p:cNvSpPr>
                <a:spLocks noChangeArrowheads="1"/>
              </p:cNvSpPr>
              <p:nvPr/>
            </p:nvSpPr>
            <p:spPr bwMode="auto">
              <a:xfrm>
                <a:off x="0" y="2994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0" name="Group 80"/>
            <p:cNvGrpSpPr/>
            <p:nvPr/>
          </p:nvGrpSpPr>
          <p:grpSpPr bwMode="auto">
            <a:xfrm>
              <a:off x="513" y="2994"/>
              <a:ext cx="1272" cy="499"/>
              <a:chOff x="513" y="2994"/>
              <a:chExt cx="1272" cy="499"/>
            </a:xfrm>
          </p:grpSpPr>
          <p:sp>
            <p:nvSpPr>
              <p:cNvPr id="102449" name="Rectangle 81"/>
              <p:cNvSpPr>
                <a:spLocks noChangeArrowheads="1"/>
              </p:cNvSpPr>
              <p:nvPr/>
            </p:nvSpPr>
            <p:spPr bwMode="auto">
              <a:xfrm>
                <a:off x="556" y="2994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数据处理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50" name="Rectangle 82"/>
              <p:cNvSpPr>
                <a:spLocks noChangeArrowheads="1"/>
              </p:cNvSpPr>
              <p:nvPr/>
            </p:nvSpPr>
            <p:spPr bwMode="auto">
              <a:xfrm>
                <a:off x="513" y="2994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1" name="Group 83"/>
            <p:cNvGrpSpPr/>
            <p:nvPr/>
          </p:nvGrpSpPr>
          <p:grpSpPr bwMode="auto">
            <a:xfrm>
              <a:off x="1785" y="2994"/>
              <a:ext cx="611" cy="499"/>
              <a:chOff x="1785" y="2994"/>
              <a:chExt cx="611" cy="499"/>
            </a:xfrm>
          </p:grpSpPr>
          <p:sp>
            <p:nvSpPr>
              <p:cNvPr id="102447" name="Rectangle 84"/>
              <p:cNvSpPr>
                <a:spLocks noChangeArrowheads="1"/>
              </p:cNvSpPr>
              <p:nvPr/>
            </p:nvSpPr>
            <p:spPr bwMode="auto">
              <a:xfrm>
                <a:off x="1828" y="2994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48" name="Rectangle 85"/>
              <p:cNvSpPr>
                <a:spLocks noChangeArrowheads="1"/>
              </p:cNvSpPr>
              <p:nvPr/>
            </p:nvSpPr>
            <p:spPr bwMode="auto">
              <a:xfrm>
                <a:off x="1785" y="2994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2" name="Group 86"/>
            <p:cNvGrpSpPr/>
            <p:nvPr/>
          </p:nvGrpSpPr>
          <p:grpSpPr bwMode="auto">
            <a:xfrm>
              <a:off x="2396" y="2994"/>
              <a:ext cx="767" cy="499"/>
              <a:chOff x="2396" y="2994"/>
              <a:chExt cx="767" cy="499"/>
            </a:xfrm>
          </p:grpSpPr>
          <p:sp>
            <p:nvSpPr>
              <p:cNvPr id="102445" name="Rectangle 87"/>
              <p:cNvSpPr>
                <a:spLocks noChangeArrowheads="1"/>
              </p:cNvSpPr>
              <p:nvPr/>
            </p:nvSpPr>
            <p:spPr bwMode="auto">
              <a:xfrm>
                <a:off x="2439" y="2994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2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46" name="Rectangle 88"/>
              <p:cNvSpPr>
                <a:spLocks noChangeArrowheads="1"/>
              </p:cNvSpPr>
              <p:nvPr/>
            </p:nvSpPr>
            <p:spPr bwMode="auto">
              <a:xfrm>
                <a:off x="2396" y="2994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3" name="Group 89"/>
            <p:cNvGrpSpPr/>
            <p:nvPr/>
          </p:nvGrpSpPr>
          <p:grpSpPr bwMode="auto">
            <a:xfrm>
              <a:off x="0" y="3493"/>
              <a:ext cx="513" cy="499"/>
              <a:chOff x="0" y="3493"/>
              <a:chExt cx="513" cy="499"/>
            </a:xfrm>
          </p:grpSpPr>
          <p:sp>
            <p:nvSpPr>
              <p:cNvPr id="102443" name="Rectangle 90"/>
              <p:cNvSpPr>
                <a:spLocks noChangeArrowheads="1"/>
              </p:cNvSpPr>
              <p:nvPr/>
            </p:nvSpPr>
            <p:spPr bwMode="auto">
              <a:xfrm>
                <a:off x="43" y="3493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7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44" name="Rectangle 91"/>
              <p:cNvSpPr>
                <a:spLocks noChangeArrowheads="1"/>
              </p:cNvSpPr>
              <p:nvPr/>
            </p:nvSpPr>
            <p:spPr bwMode="auto">
              <a:xfrm>
                <a:off x="0" y="3493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4" name="Group 92"/>
            <p:cNvGrpSpPr/>
            <p:nvPr/>
          </p:nvGrpSpPr>
          <p:grpSpPr bwMode="auto">
            <a:xfrm>
              <a:off x="513" y="3493"/>
              <a:ext cx="1272" cy="499"/>
              <a:chOff x="513" y="3493"/>
              <a:chExt cx="1272" cy="499"/>
            </a:xfrm>
          </p:grpSpPr>
          <p:sp>
            <p:nvSpPr>
              <p:cNvPr id="102441" name="Rectangle 93"/>
              <p:cNvSpPr>
                <a:spLocks noChangeArrowheads="1"/>
              </p:cNvSpPr>
              <p:nvPr/>
            </p:nvSpPr>
            <p:spPr bwMode="auto">
              <a:xfrm>
                <a:off x="556" y="3493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b="1">
                    <a:latin typeface="Times New Roman" panose="02020503050405090304" pitchFamily="18" charset="0"/>
                  </a:rPr>
                  <a:t>PASCAL</a:t>
                </a:r>
                <a:r>
                  <a:rPr lang="zh-CN" altLang="en-US" sz="1600" b="1">
                    <a:latin typeface="Times New Roman" panose="02020503050405090304" pitchFamily="18" charset="0"/>
                  </a:rPr>
                  <a:t>语言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42" name="Rectangle 94"/>
              <p:cNvSpPr>
                <a:spLocks noChangeArrowheads="1"/>
              </p:cNvSpPr>
              <p:nvPr/>
            </p:nvSpPr>
            <p:spPr bwMode="auto">
              <a:xfrm>
                <a:off x="513" y="3493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5" name="Group 95"/>
            <p:cNvGrpSpPr/>
            <p:nvPr/>
          </p:nvGrpSpPr>
          <p:grpSpPr bwMode="auto">
            <a:xfrm>
              <a:off x="1785" y="3493"/>
              <a:ext cx="611" cy="499"/>
              <a:chOff x="1785" y="3493"/>
              <a:chExt cx="611" cy="499"/>
            </a:xfrm>
          </p:grpSpPr>
          <p:sp>
            <p:nvSpPr>
              <p:cNvPr id="102439" name="Rectangle 96"/>
              <p:cNvSpPr>
                <a:spLocks noChangeArrowheads="1"/>
              </p:cNvSpPr>
              <p:nvPr/>
            </p:nvSpPr>
            <p:spPr bwMode="auto">
              <a:xfrm>
                <a:off x="1828" y="3493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6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40" name="Rectangle 97"/>
              <p:cNvSpPr>
                <a:spLocks noChangeArrowheads="1"/>
              </p:cNvSpPr>
              <p:nvPr/>
            </p:nvSpPr>
            <p:spPr bwMode="auto">
              <a:xfrm>
                <a:off x="1785" y="3493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  <p:grpSp>
          <p:nvGrpSpPr>
            <p:cNvPr id="102436" name="Group 98"/>
            <p:cNvGrpSpPr/>
            <p:nvPr/>
          </p:nvGrpSpPr>
          <p:grpSpPr bwMode="auto">
            <a:xfrm>
              <a:off x="2396" y="3493"/>
              <a:ext cx="767" cy="499"/>
              <a:chOff x="2396" y="3493"/>
              <a:chExt cx="767" cy="499"/>
            </a:xfrm>
          </p:grpSpPr>
          <p:sp>
            <p:nvSpPr>
              <p:cNvPr id="102437" name="Rectangle 99"/>
              <p:cNvSpPr>
                <a:spLocks noChangeArrowheads="1"/>
              </p:cNvSpPr>
              <p:nvPr/>
            </p:nvSpPr>
            <p:spPr bwMode="auto">
              <a:xfrm>
                <a:off x="2439" y="3493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latin typeface="Times New Roman" panose="02020503050405090304" pitchFamily="18" charset="0"/>
                  </a:rPr>
                  <a:t>  4</a:t>
                </a:r>
                <a:endParaRPr lang="zh-CN" altLang="en-US" sz="1600">
                  <a:latin typeface="Times New Roman" panose="02020503050405090304" pitchFamily="18" charset="0"/>
                </a:endParaRPr>
              </a:p>
              <a:p>
                <a:endParaRPr lang="zh-CN" altLang="en-US" sz="16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438" name="Rectangle 100"/>
              <p:cNvSpPr>
                <a:spLocks noChangeArrowheads="1"/>
              </p:cNvSpPr>
              <p:nvPr/>
            </p:nvSpPr>
            <p:spPr bwMode="auto">
              <a:xfrm>
                <a:off x="2396" y="3493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/>
              </a:p>
            </p:txBody>
          </p: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50A589C-43C0-4806-BB77-095472F5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250" y="2887662"/>
            <a:ext cx="4190190" cy="2485554"/>
          </a:xfrm>
          <a:prstGeom prst="rect">
            <a:avLst/>
          </a:prstGeom>
        </p:spPr>
      </p:pic>
      <p:sp>
        <p:nvSpPr>
          <p:cNvPr id="102" name="Rectangle 3">
            <a:extLst>
              <a:ext uri="{FF2B5EF4-FFF2-40B4-BE49-F238E27FC236}">
                <a16:creationId xmlns:a16="http://schemas.microsoft.com/office/drawing/2014/main" id="{C55C2EB4-F24F-4AA7-B568-6F807201E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742" y="2035620"/>
            <a:ext cx="3965376" cy="55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dirty="0"/>
              <a:t>SECOND</a:t>
            </a:r>
            <a:r>
              <a:rPr lang="zh-CN" altLang="en-US" b="1" dirty="0"/>
              <a:t>表（</a:t>
            </a:r>
            <a:r>
              <a:rPr lang="en-US" altLang="zh-CN" b="1" dirty="0"/>
              <a:t>Course</a:t>
            </a:r>
            <a:r>
              <a:rPr lang="zh-CN" altLang="en-US" b="1" dirty="0"/>
              <a:t>表）</a:t>
            </a:r>
            <a:r>
              <a:rPr lang="zh-CN" altLang="en-US" sz="3600" b="1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自身连接（续）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查询结果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	    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 	</a:t>
            </a:r>
          </a:p>
        </p:txBody>
      </p:sp>
      <p:graphicFrame>
        <p:nvGraphicFramePr>
          <p:cNvPr id="162820" name="Group 4"/>
          <p:cNvGraphicFramePr>
            <a:graphicFrameLocks noGrp="1"/>
          </p:cNvGraphicFramePr>
          <p:nvPr/>
        </p:nvGraphicFramePr>
        <p:xfrm>
          <a:off x="3733800" y="2438400"/>
          <a:ext cx="2438400" cy="2743201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cno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cpno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chemeClr val="tx2"/>
                </a:solidFill>
              </a:rPr>
              <a:t>（四）、外连接（</a:t>
            </a:r>
            <a:r>
              <a:rPr lang="en-US" altLang="zh-CN" sz="4000" b="1">
                <a:solidFill>
                  <a:schemeClr val="tx2"/>
                </a:solidFill>
              </a:rPr>
              <a:t>Outer Join） </a:t>
            </a:r>
            <a:endParaRPr lang="zh-CN" altLang="en-US" sz="4000" b="1">
              <a:solidFill>
                <a:schemeClr val="tx2"/>
              </a:solidFill>
            </a:endParaRP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[</a:t>
            </a:r>
            <a:r>
              <a:rPr lang="zh-CN" altLang="en-US" sz="3200" b="1">
                <a:ea typeface="黑体" panose="02010609060101010101" pitchFamily="49" charset="-122"/>
              </a:rPr>
              <a:t>例 </a:t>
            </a:r>
            <a:r>
              <a:rPr lang="zh-CN" altLang="en-US" sz="3200" b="1"/>
              <a:t>33] 查询每个学生及其选修课程的情况包括没有选修课程的学生</a:t>
            </a:r>
            <a:endParaRPr lang="en-US" altLang="zh-CN" sz="2800" b="1"/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371600" y="3336925"/>
            <a:ext cx="6477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D60093"/>
                </a:solidFill>
              </a:rPr>
              <a:t>----用外连接操作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SELECT  Student.Sno，Sname，Ssex，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        Sage，Sdept，Cno，Grade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FROM    Student LEFT OUT</a:t>
            </a:r>
            <a:r>
              <a:rPr lang="en-US" altLang="zh-CN" sz="2800" b="1">
                <a:solidFill>
                  <a:schemeClr val="hlink"/>
                </a:solidFill>
              </a:rPr>
              <a:t>ER</a:t>
            </a:r>
            <a:r>
              <a:rPr lang="en-US" altLang="zh-CN" sz="2800" b="1"/>
              <a:t> JOIN SC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ON (Student.Sno=SC.Sno)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utoUpdateAnimBg="0"/>
      <p:bldP spid="16384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外连接（续） </a:t>
            </a: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533400" y="1981200"/>
            <a:ext cx="8382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结果：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Student.Sno   Sname        Ssex    Sage         Sdept      Cno    Grade</a:t>
            </a:r>
            <a:r>
              <a:rPr lang="en-US" altLang="zh-CN" b="1"/>
              <a:t>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	95001        </a:t>
            </a:r>
            <a:r>
              <a:rPr lang="zh-CN" altLang="en-US" b="1"/>
              <a:t>李勇        男        20         </a:t>
            </a:r>
            <a:r>
              <a:rPr lang="en-US" altLang="zh-CN" b="1"/>
              <a:t>CS         1        92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95001        </a:t>
            </a:r>
            <a:r>
              <a:rPr lang="zh-CN" altLang="en-US" b="1"/>
              <a:t>李勇        男        20         </a:t>
            </a:r>
            <a:r>
              <a:rPr lang="en-US" altLang="zh-CN" b="1"/>
              <a:t>CS         2        85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95001        </a:t>
            </a:r>
            <a:r>
              <a:rPr lang="zh-CN" altLang="en-US" b="1"/>
              <a:t>李勇        男        20         </a:t>
            </a:r>
            <a:r>
              <a:rPr lang="en-US" altLang="zh-CN" b="1"/>
              <a:t>CS         3        88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95002        </a:t>
            </a:r>
            <a:r>
              <a:rPr lang="zh-CN" altLang="en-US" b="1"/>
              <a:t>刘晨        女        19         </a:t>
            </a:r>
            <a:r>
              <a:rPr lang="en-US" altLang="zh-CN" b="1"/>
              <a:t>IS          2        90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95002        </a:t>
            </a:r>
            <a:r>
              <a:rPr lang="zh-CN" altLang="en-US" b="1"/>
              <a:t>刘晨        女        19         </a:t>
            </a:r>
            <a:r>
              <a:rPr lang="en-US" altLang="zh-CN" b="1"/>
              <a:t>IS          3        80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95003        </a:t>
            </a:r>
            <a:r>
              <a:rPr lang="zh-CN" altLang="en-US" b="1"/>
              <a:t>王敏        女        18         </a:t>
            </a:r>
            <a:r>
              <a:rPr lang="en-US" altLang="zh-CN" b="1"/>
              <a:t>MA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95004        </a:t>
            </a:r>
            <a:r>
              <a:rPr lang="zh-CN" altLang="en-US" b="1"/>
              <a:t>张立        男        19         </a:t>
            </a:r>
            <a:r>
              <a:rPr lang="en-US" altLang="zh-CN" b="1"/>
              <a:t>IS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en-US" altLang="zh-CN" sz="4400" b="1">
              <a:solidFill>
                <a:schemeClr val="tx2"/>
              </a:solidFill>
            </a:endParaRP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/>
              <a:t>普通连接操作只输出满足连接条件的元组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/>
              <a:t>外连接操作以指定表为连接主体，将主体表中不满足连接条件的元组一并输出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/>
              <a:t>   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/>
              <a:t>   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外连接与普通连接的区别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539750" y="2060575"/>
            <a:ext cx="8001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/>
              <a:t>非主体表有一</a:t>
            </a:r>
            <a:r>
              <a:rPr lang="zh-CN" altLang="en-US" sz="2800" b="1" dirty="0">
                <a:latin typeface="Courier New" panose="02070409020205090404" pitchFamily="49" charset="0"/>
              </a:rPr>
              <a:t>“</a:t>
            </a:r>
            <a:r>
              <a:rPr lang="zh-CN" altLang="en-US" sz="2800" b="1" dirty="0"/>
              <a:t>万能</a:t>
            </a:r>
            <a:r>
              <a:rPr lang="zh-CN" altLang="en-US" sz="2800" b="1" dirty="0">
                <a:latin typeface="Courier New" panose="02070409020205090404" pitchFamily="49" charset="0"/>
              </a:rPr>
              <a:t>”</a:t>
            </a:r>
            <a:r>
              <a:rPr lang="zh-CN" altLang="en-US" sz="2800" b="1" dirty="0"/>
              <a:t>的虚行，该行全部由空值组成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/>
              <a:t>虚行可以和主体表中所有不满足连接条件的元组进行连接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/>
              <a:t>由于虚行各列全部是空值，因此与虚行连接的结果中，来自非主体表的属性值全部是空值 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/>
              <a:t>左外连接列出左边关系的所有元组，右外连接列出右边关系中所有的元组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外连接的特点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外连接（续） </a:t>
            </a:r>
          </a:p>
        </p:txBody>
      </p:sp>
      <p:sp>
        <p:nvSpPr>
          <p:cNvPr id="109571" name="Rectangle 3"/>
          <p:cNvSpPr>
            <a:spLocks noChangeArrowheads="1"/>
          </p:cNvSpPr>
          <p:nvPr/>
        </p:nvSpPr>
        <p:spPr bwMode="auto">
          <a:xfrm>
            <a:off x="1182688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 左外连接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/>
              <a:t> </a:t>
            </a:r>
            <a:r>
              <a:rPr lang="en-US" altLang="zh-CN" sz="2800" b="1"/>
              <a:t>LEFT OUTER JOIN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/>
              <a:t> LEFT JOIN</a:t>
            </a:r>
          </a:p>
          <a:p>
            <a:pPr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/>
              <a:t> 右外连接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/>
              <a:t> </a:t>
            </a:r>
            <a:r>
              <a:rPr lang="en-US" altLang="zh-CN" sz="2800" b="1"/>
              <a:t>RIGHT OUTER JOIN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/>
              <a:t> RIGHT JOIN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8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（五）、复合条件连接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762000" y="1905000"/>
            <a:ext cx="815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WHERE</a:t>
            </a:r>
            <a:r>
              <a:rPr lang="zh-CN" altLang="en-US" b="1"/>
              <a:t>子句中含多个连接条件时，称为复合条件连接</a:t>
            </a:r>
          </a:p>
          <a:p>
            <a:pPr algn="just" eaLnBrk="1" hangingPunct="1">
              <a:lnSpc>
                <a:spcPct val="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[例35]查询选修2号课程且成绩在90分以上的所有学生的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        学号、姓名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SELECT Student.Sno, student.Sname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FROM    Student, SC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WHERE Student.Sno = SC.Sno  AND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                                           /* </a:t>
            </a:r>
            <a:r>
              <a:rPr lang="zh-CN" altLang="en-US" b="1"/>
              <a:t>连接谓词*/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         </a:t>
            </a:r>
            <a:r>
              <a:rPr lang="en-US" altLang="zh-CN" b="1"/>
              <a:t>SC.Cno= ' 2 '  AND   /* </a:t>
            </a:r>
            <a:r>
              <a:rPr lang="zh-CN" altLang="en-US" b="1"/>
              <a:t>其他限定条件 */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b="1"/>
              <a:t>      </a:t>
            </a:r>
            <a:r>
              <a:rPr lang="en-US" altLang="zh-CN" b="1"/>
              <a:t>SC.Grade &gt; 90；       /* </a:t>
            </a:r>
            <a:r>
              <a:rPr lang="zh-CN" altLang="en-US" b="1"/>
              <a:t>其他限定条件 */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多表连接</a:t>
            </a: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838200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[例36]  查询每个学生的学号、姓名、选修的课程名及成绩。</a:t>
            </a:r>
          </a:p>
          <a:p>
            <a:pPr lvl="1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/>
              <a:t>SELECT Student.Sno，Sname，Cname，Grade</a:t>
            </a:r>
          </a:p>
          <a:p>
            <a:pPr lvl="1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/>
              <a:t>FROM    Student，SC，Course</a:t>
            </a:r>
          </a:p>
          <a:p>
            <a:pPr lvl="1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/>
              <a:t>WHERE Student.Sno = SC.Sno </a:t>
            </a:r>
          </a:p>
          <a:p>
            <a:pPr lvl="1" algn="just" eaLnBrk="1" hangingPunct="1">
              <a:lnSpc>
                <a:spcPct val="7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b="1"/>
              <a:t>                   and SC.Cno = Course.Cno</a:t>
            </a:r>
            <a:r>
              <a:rPr lang="en-US" altLang="zh-CN" sz="2800" b="1"/>
              <a:t>；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409020205090404" pitchFamily="49" charset="0"/>
              </a:rPr>
              <a:t> </a:t>
            </a:r>
            <a:r>
              <a:rPr lang="zh-CN" altLang="en-US" b="1"/>
              <a:t>结果：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/>
              <a:t>	</a:t>
            </a:r>
            <a:r>
              <a:rPr lang="en-US" altLang="zh-CN" sz="2000" b="1"/>
              <a:t>Student.Sno    Sname         Cname        Grade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/>
              <a:t>	   95001             </a:t>
            </a:r>
            <a:r>
              <a:rPr lang="zh-CN" altLang="en-US" sz="2000" b="1"/>
              <a:t>李勇           数据库            92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/>
              <a:t>       95001             李勇           数学                85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/>
              <a:t>       95001             李勇           信息系统         88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/>
              <a:t>       95002             刘晨           数学                90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/>
              <a:t>       95002             刘晨           信息系统         80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一、嵌套查询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676400"/>
            <a:ext cx="7772400" cy="411480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sz="2800" b="1">
                <a:solidFill>
                  <a:srgbClr val="D60093"/>
                </a:solidFill>
                <a:latin typeface="SimSun" panose="02010600030101010101" pitchFamily="2" charset="-122"/>
              </a:rPr>
              <a:t>概述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带有</a:t>
            </a:r>
            <a:r>
              <a:rPr lang="en-US" altLang="zh-CN" sz="2800" b="1">
                <a:solidFill>
                  <a:schemeClr val="folHlink"/>
                </a:solidFill>
                <a:latin typeface="SimSun" panose="02010600030101010101" pitchFamily="2" charset="-122"/>
              </a:rPr>
              <a:t>IN</a:t>
            </a: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谓词的子查询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带有比较运算符的子查询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带有</a:t>
            </a:r>
            <a:r>
              <a:rPr lang="en-US" altLang="zh-CN" sz="2800" b="1">
                <a:solidFill>
                  <a:schemeClr val="folHlink"/>
                </a:solidFill>
                <a:latin typeface="SimSun" panose="02010600030101010101" pitchFamily="2" charset="-122"/>
              </a:rPr>
              <a:t>ANY</a:t>
            </a: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或</a:t>
            </a:r>
            <a:r>
              <a:rPr lang="en-US" altLang="zh-CN" sz="2800" b="1">
                <a:solidFill>
                  <a:schemeClr val="folHlink"/>
                </a:solidFill>
                <a:latin typeface="SimSun" panose="02010600030101010101" pitchFamily="2" charset="-122"/>
              </a:rPr>
              <a:t>ALL</a:t>
            </a:r>
            <a:r>
              <a:rPr lang="zh-CN" altLang="en-US" sz="2800" b="1">
                <a:solidFill>
                  <a:schemeClr val="folHlink"/>
                </a:solidFill>
                <a:latin typeface="SimSun" panose="02010600030101010101" pitchFamily="2" charset="-122"/>
              </a:rPr>
              <a:t>谓词的子查询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2800" b="1">
                <a:latin typeface="SimSun" panose="02010600030101010101" pitchFamily="2" charset="-122"/>
              </a:rPr>
              <a:t>带有</a:t>
            </a:r>
            <a:r>
              <a:rPr lang="en-US" altLang="zh-CN" sz="2800" b="1">
                <a:latin typeface="SimSun" panose="02010600030101010101" pitchFamily="2" charset="-122"/>
              </a:rPr>
              <a:t>EXISTS</a:t>
            </a:r>
            <a:r>
              <a:rPr lang="zh-CN" altLang="en-US" sz="2800" b="1">
                <a:latin typeface="SimSun" panose="02010600030101010101" pitchFamily="2" charset="-122"/>
              </a:rPr>
              <a:t>谓词的子查询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（一）、概述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zh-CN" altLang="en-US" b="1"/>
              <a:t>一个</a:t>
            </a:r>
            <a:r>
              <a:rPr lang="en-US" altLang="zh-CN" b="1"/>
              <a:t>SELECT-FROM-WHERE</a:t>
            </a:r>
            <a:r>
              <a:rPr lang="zh-CN" altLang="en-US" b="1"/>
              <a:t>语句称为一个查询块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/>
              <a:t>将一个查询块嵌套在另一个查询块的</a:t>
            </a:r>
            <a:r>
              <a:rPr lang="en-US" altLang="zh-CN" b="1"/>
              <a:t>WHERE</a:t>
            </a:r>
            <a:r>
              <a:rPr lang="zh-CN" altLang="en-US" b="1"/>
              <a:t>子句或</a:t>
            </a:r>
            <a:r>
              <a:rPr lang="en-US" altLang="zh-CN" b="1"/>
              <a:t>HAVING</a:t>
            </a:r>
            <a:r>
              <a:rPr lang="zh-CN" altLang="en-US" b="1"/>
              <a:t>短语的条件中的查询称为嵌套查询     </a:t>
            </a:r>
          </a:p>
          <a:p>
            <a:pPr eaLnBrk="1" hangingPunct="1"/>
            <a:endParaRPr lang="zh-CN" altLang="en-US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2098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SELECT Sname		</a:t>
            </a:r>
            <a:r>
              <a:rPr lang="zh-CN" altLang="en-US" sz="2800" b="1">
                <a:solidFill>
                  <a:schemeClr val="tx2"/>
                </a:solidFill>
              </a:rPr>
              <a:t>外层查询/父查询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FROM Student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WHERE Sno IN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/>
              <a:t>         </a:t>
            </a:r>
            <a:r>
              <a:rPr lang="en-US" altLang="zh-CN" sz="2800" b="1">
                <a:solidFill>
                  <a:schemeClr val="hlink"/>
                </a:solidFill>
              </a:rPr>
              <a:t>（SELECT Sno              </a:t>
            </a:r>
            <a:r>
              <a:rPr lang="zh-CN" altLang="en-US" sz="2800" b="1">
                <a:solidFill>
                  <a:schemeClr val="hlink"/>
                </a:solidFill>
              </a:rPr>
              <a:t>内层查询/子查询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hlink"/>
                </a:solidFill>
              </a:rPr>
              <a:t>             </a:t>
            </a:r>
            <a:r>
              <a:rPr lang="en-US" altLang="zh-CN" sz="2800" b="1">
                <a:solidFill>
                  <a:schemeClr val="hlink"/>
                </a:solidFill>
              </a:rPr>
              <a:t>FROM SC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hlink"/>
                </a:solidFill>
              </a:rPr>
              <a:t>             WHERE Cno= ' 2 '）；</a:t>
            </a:r>
            <a:endParaRPr lang="zh-CN" altLang="en-US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/>
              <a:t>子查询的限制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3200" b="1"/>
              <a:t>不能使用</a:t>
            </a:r>
            <a:r>
              <a:rPr lang="en-US" altLang="zh-CN" sz="3200" b="1"/>
              <a:t>ORDER BY</a:t>
            </a:r>
            <a:r>
              <a:rPr lang="zh-CN" altLang="en-US" sz="3200" b="1"/>
              <a:t>子句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/>
              <a:t>层层嵌套方式反映了 </a:t>
            </a:r>
            <a:r>
              <a:rPr lang="en-US" altLang="zh-CN" b="1"/>
              <a:t>SQL</a:t>
            </a:r>
            <a:r>
              <a:rPr lang="zh-CN" altLang="en-US" b="1"/>
              <a:t>语言的结构化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/>
              <a:t>有些嵌套查询可以用连接运算替代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嵌套查询分类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不相关子查询</a:t>
            </a:r>
          </a:p>
          <a:p>
            <a:pPr lvl="1" eaLnBrk="1" hangingPunct="1"/>
            <a:r>
              <a:rPr lang="zh-CN" altLang="en-US" b="1"/>
              <a:t>子查询的查询条件不依赖于父查询</a:t>
            </a:r>
          </a:p>
          <a:p>
            <a:pPr eaLnBrk="1" hangingPunct="1"/>
            <a:r>
              <a:rPr lang="zh-CN" altLang="en-US" b="1"/>
              <a:t>相关子查询</a:t>
            </a:r>
          </a:p>
          <a:p>
            <a:pPr lvl="1" eaLnBrk="1" hangingPunct="1"/>
            <a:r>
              <a:rPr lang="zh-CN" altLang="en-US" b="1"/>
              <a:t>子查询的查询条件依赖于父查询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嵌套查询求解方法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不相关子查询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是由里向外逐层处理。即每个子查询在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上一级查询处理之前求解，子查询的结果用于建立其父查询的查找条件。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嵌套查询求解方法（续）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/>
              <a:t>相关子查询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首先取外层查询中表的第一个元组，根据它与内层查询相关的属性值处理内层查询，若</a:t>
            </a:r>
            <a:r>
              <a:rPr lang="en-US" altLang="zh-CN" b="1"/>
              <a:t>WHERE</a:t>
            </a:r>
            <a:r>
              <a:rPr lang="zh-CN" altLang="en-US" b="1"/>
              <a:t>子句返回值为真，则取此元组放入结果表；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然后再取外层表的下一个元组；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重复这一过程，直至外层表全部检查完为止。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使用子查询的原则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8913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/>
              <a:t>1.</a:t>
            </a:r>
            <a:r>
              <a:rPr lang="zh-CN" altLang="en-US" sz="2800" b="1"/>
              <a:t>一个子查询必须放在圆括号中。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/>
              <a:t>2.</a:t>
            </a:r>
            <a:r>
              <a:rPr lang="zh-CN" altLang="en-US" sz="2800" b="1"/>
              <a:t>将子查询放在比较条件的右边以增加可读性。子查询不包含 </a:t>
            </a:r>
            <a:r>
              <a:rPr lang="en-US" altLang="zh-CN" sz="2800" b="1"/>
              <a:t>ORDER BY </a:t>
            </a:r>
            <a:r>
              <a:rPr lang="zh-CN" altLang="en-US" sz="2800" b="1"/>
              <a:t>子句。对一个 </a:t>
            </a:r>
            <a:r>
              <a:rPr lang="en-US" altLang="zh-CN" sz="2800" b="1"/>
              <a:t>SELECT </a:t>
            </a:r>
            <a:r>
              <a:rPr lang="zh-CN" altLang="en-US" sz="2800" b="1"/>
              <a:t>语句只能用一个 </a:t>
            </a:r>
            <a:r>
              <a:rPr lang="en-US" altLang="zh-CN" sz="2800" b="1"/>
              <a:t>ORDER BY </a:t>
            </a:r>
            <a:r>
              <a:rPr lang="zh-CN" altLang="en-US" sz="2800" b="1"/>
              <a:t>子句，并且如果指定了它就必须放在主 </a:t>
            </a:r>
            <a:r>
              <a:rPr lang="en-US" altLang="zh-CN" sz="2800" b="1"/>
              <a:t>SELECT </a:t>
            </a:r>
            <a:r>
              <a:rPr lang="zh-CN" altLang="en-US" sz="2800" b="1"/>
              <a:t>语句的最后。</a:t>
            </a:r>
            <a:r>
              <a:rPr lang="en-US" altLang="zh-CN" sz="2800" b="1"/>
              <a:t>ORDER BY </a:t>
            </a:r>
            <a:r>
              <a:rPr lang="zh-CN" altLang="en-US" sz="2800" b="1"/>
              <a:t>子句可以使用</a:t>
            </a:r>
            <a:r>
              <a:rPr lang="en-US" altLang="zh-CN" sz="2800" b="1"/>
              <a:t>,</a:t>
            </a:r>
            <a:r>
              <a:rPr lang="zh-CN" altLang="en-US" sz="2800" b="1"/>
              <a:t>并且在进行 </a:t>
            </a:r>
            <a:r>
              <a:rPr lang="en-US" altLang="zh-CN" sz="2800" b="1"/>
              <a:t>Top-N </a:t>
            </a:r>
            <a:r>
              <a:rPr lang="zh-CN" altLang="en-US" sz="2800" b="1"/>
              <a:t>分析时是必须的。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/>
              <a:t>3.</a:t>
            </a:r>
            <a:r>
              <a:rPr lang="zh-CN" altLang="en-US" sz="2800" b="1"/>
              <a:t>在子查询中可以使用两种比较条件：单行运算符和多行运算符。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993062" cy="1143000"/>
          </a:xfrm>
        </p:spPr>
        <p:txBody>
          <a:bodyPr/>
          <a:lstStyle/>
          <a:p>
            <a:pPr eaLnBrk="1" hangingPunct="1"/>
            <a:r>
              <a:rPr lang="zh-CN" altLang="en-US" sz="2400" b="1"/>
              <a:t>查询</a:t>
            </a:r>
            <a:r>
              <a:rPr lang="en-US" altLang="zh-CN" sz="2400" b="1"/>
              <a:t>job ID </a:t>
            </a:r>
            <a:r>
              <a:rPr lang="zh-CN" altLang="en-US" sz="2400" b="1"/>
              <a:t>与雇员 </a:t>
            </a:r>
            <a:r>
              <a:rPr lang="en-US" altLang="zh-CN" sz="2400" b="1"/>
              <a:t>141 </a:t>
            </a:r>
            <a:r>
              <a:rPr lang="zh-CN" altLang="en-US" sz="2400" b="1"/>
              <a:t>相同</a:t>
            </a:r>
            <a:r>
              <a:rPr lang="en-US" altLang="zh-CN" sz="2400" b="1"/>
              <a:t>,</a:t>
            </a:r>
            <a:r>
              <a:rPr lang="zh-CN" altLang="en-US" sz="2400" b="1"/>
              <a:t>并且薪水 高于雇员 </a:t>
            </a:r>
            <a:r>
              <a:rPr lang="en-US" altLang="zh-CN" sz="2400" b="1"/>
              <a:t>143 </a:t>
            </a:r>
            <a:r>
              <a:rPr lang="zh-CN" altLang="en-US" sz="2400" b="1"/>
              <a:t>的那些雇员。 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/>
              <a:t>SELECT last_name, job_id, salary </a:t>
            </a:r>
            <a:br>
              <a:rPr lang="en-US" altLang="zh-CN" sz="2800"/>
            </a:br>
            <a:r>
              <a:rPr lang="en-US" altLang="zh-CN" sz="2800"/>
              <a:t>FROM employees </a:t>
            </a:r>
            <a:br>
              <a:rPr lang="en-US" altLang="zh-CN" sz="2800"/>
            </a:br>
            <a:r>
              <a:rPr lang="en-US" altLang="zh-CN" sz="2800"/>
              <a:t>WHERE job_id = </a:t>
            </a:r>
            <a:br>
              <a:rPr lang="en-US" altLang="zh-CN" sz="2800"/>
            </a:br>
            <a:r>
              <a:rPr lang="en-US" altLang="zh-CN" sz="2800"/>
              <a:t>  ( SELECT job_id </a:t>
            </a:r>
            <a:br>
              <a:rPr lang="en-US" altLang="zh-CN" sz="2800"/>
            </a:br>
            <a:r>
              <a:rPr lang="en-US" altLang="zh-CN" sz="2800"/>
              <a:t>    FROM employees </a:t>
            </a:r>
            <a:br>
              <a:rPr lang="en-US" altLang="zh-CN" sz="2800"/>
            </a:br>
            <a:r>
              <a:rPr lang="en-US" altLang="zh-CN" sz="2800"/>
              <a:t>    WHERE employee_id = 141) </a:t>
            </a:r>
            <a:br>
              <a:rPr lang="en-US" altLang="zh-CN" sz="2800"/>
            </a:br>
            <a:r>
              <a:rPr lang="en-US" altLang="zh-CN" sz="2800"/>
              <a:t>AND salary &gt; </a:t>
            </a:r>
            <a:br>
              <a:rPr lang="en-US" altLang="zh-CN" sz="2800"/>
            </a:br>
            <a:r>
              <a:rPr lang="en-US" altLang="zh-CN" sz="2800"/>
              <a:t>  ( SELECT salary </a:t>
            </a:r>
            <a:br>
              <a:rPr lang="en-US" altLang="zh-CN" sz="2800"/>
            </a:br>
            <a:r>
              <a:rPr lang="en-US" altLang="zh-CN" sz="2800"/>
              <a:t>    FROM employees </a:t>
            </a:r>
            <a:br>
              <a:rPr lang="en-US" altLang="zh-CN" sz="2800"/>
            </a:br>
            <a:r>
              <a:rPr lang="en-US" altLang="zh-CN" sz="2800"/>
              <a:t>    WHERE employee_id = 143); </a:t>
            </a:r>
            <a:br>
              <a:rPr lang="en-US" altLang="zh-CN" sz="2800"/>
            </a:b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[例41</a:t>
            </a:r>
            <a:r>
              <a:rPr lang="en-US" altLang="zh-CN" sz="2800" b="1"/>
              <a:t>]</a:t>
            </a:r>
            <a:r>
              <a:rPr lang="zh-CN" altLang="en-US" sz="2800" b="1"/>
              <a:t>找出每个学生超过他选修课程平均成绩的课程号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Select Sno,Cno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FROM SC 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WHERE Grade&gt;=(SELECT  AVG(Grade)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                      FROM SC 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                      WHERE y.Sno=x.Sno);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（二）、带有</a:t>
            </a:r>
            <a:r>
              <a:rPr lang="en-US" altLang="zh-CN" b="1"/>
              <a:t>IN</a:t>
            </a:r>
            <a:r>
              <a:rPr lang="zh-CN" altLang="en-US" b="1"/>
              <a:t>谓词的子查询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[例37]  查询与</a:t>
            </a:r>
            <a:r>
              <a:rPr lang="zh-CN" altLang="en-US" sz="2800" b="1">
                <a:latin typeface="Times New Roman" panose="02020503050405090304" pitchFamily="18" charset="0"/>
              </a:rPr>
              <a:t>“</a:t>
            </a:r>
            <a:r>
              <a:rPr lang="zh-CN" altLang="en-US" sz="2800" b="1"/>
              <a:t>刘晨</a:t>
            </a:r>
            <a:r>
              <a:rPr lang="zh-CN" altLang="en-US" sz="2800" b="1">
                <a:latin typeface="Times New Roman" panose="02020503050405090304" pitchFamily="18" charset="0"/>
              </a:rPr>
              <a:t>”</a:t>
            </a:r>
            <a:r>
              <a:rPr lang="zh-CN" altLang="en-US" sz="2800" b="1"/>
              <a:t>在同一个系学习的学生。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① 确定</a:t>
            </a:r>
            <a:r>
              <a:rPr lang="zh-CN" altLang="en-US" sz="2800" b="1">
                <a:latin typeface="Times New Roman" panose="02020503050405090304" pitchFamily="18" charset="0"/>
              </a:rPr>
              <a:t>“</a:t>
            </a:r>
            <a:r>
              <a:rPr lang="zh-CN" altLang="en-US" sz="2800" b="1"/>
              <a:t>刘晨</a:t>
            </a:r>
            <a:r>
              <a:rPr lang="zh-CN" altLang="en-US" sz="2800" b="1">
                <a:latin typeface="Times New Roman" panose="02020503050405090304" pitchFamily="18" charset="0"/>
              </a:rPr>
              <a:t>”</a:t>
            </a:r>
            <a:r>
              <a:rPr lang="zh-CN" altLang="en-US" sz="2800" b="1"/>
              <a:t>所在系名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SELECT  Sdept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FROM     Student      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WHERE  Sname= ' </a:t>
            </a:r>
            <a:r>
              <a:rPr lang="zh-CN" altLang="en-US" sz="2800" b="1"/>
              <a:t>刘晨 '；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	结果为：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			</a:t>
            </a:r>
            <a:r>
              <a:rPr lang="en-US" altLang="zh-CN" sz="2800" b="1"/>
              <a:t>Sdept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	   IS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② 查找所有在</a:t>
            </a:r>
            <a:r>
              <a:rPr lang="en-US" altLang="zh-CN" sz="2800" b="1"/>
              <a:t>IS</a:t>
            </a:r>
            <a:r>
              <a:rPr lang="zh-CN" altLang="en-US" sz="2800" b="1"/>
              <a:t>系学习的学生。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  </a:t>
            </a:r>
            <a:r>
              <a:rPr lang="en-US" altLang="zh-CN" sz="2800" b="1"/>
              <a:t>SELECT   Sno，Sname，Sdept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FROM      Student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WHERE  Sdept= ' IS '；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结果为：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Sno          Sname    Sdept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95001         </a:t>
            </a:r>
            <a:r>
              <a:rPr lang="zh-CN" altLang="en-US" sz="2800" b="1"/>
              <a:t>刘晨        </a:t>
            </a:r>
            <a:r>
              <a:rPr lang="en-US" altLang="zh-CN" sz="2800" b="1"/>
              <a:t>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95004         </a:t>
            </a:r>
            <a:r>
              <a:rPr lang="zh-CN" altLang="en-US" sz="2800" b="1"/>
              <a:t>张立        </a:t>
            </a:r>
            <a:r>
              <a:rPr lang="en-US" altLang="zh-CN" sz="2800" b="1"/>
              <a:t>IS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构造嵌套查询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将第一步查询嵌入到第二步查询的条件中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SELECT Sno，Sname，Sdept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WHERE Sdept  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(SELECT Sdept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 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 WHERE Sname= </a:t>
            </a:r>
            <a:r>
              <a:rPr lang="en-US" altLang="zh-CN" sz="2800" b="1">
                <a:latin typeface="Times New Roman" panose="02020503050405090304" pitchFamily="18" charset="0"/>
              </a:rPr>
              <a:t>‘</a:t>
            </a:r>
            <a:r>
              <a:rPr lang="en-US" altLang="zh-CN" sz="2800" b="1"/>
              <a:t> </a:t>
            </a:r>
            <a:r>
              <a:rPr lang="zh-CN" altLang="en-US" sz="2800" b="1"/>
              <a:t>刘晨 </a:t>
            </a:r>
            <a:r>
              <a:rPr lang="zh-CN" altLang="en-US" sz="2800" b="1">
                <a:latin typeface="Times New Roman" panose="02020503050405090304" pitchFamily="18" charset="0"/>
              </a:rPr>
              <a:t>’</a:t>
            </a:r>
            <a:r>
              <a:rPr lang="zh-CN" altLang="en-US" sz="2800" b="1"/>
              <a:t>)；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762000"/>
            <a:ext cx="8229600" cy="106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[例38]查询选修了课程名为</a:t>
            </a:r>
            <a:r>
              <a:rPr lang="zh-CN" altLang="en-US" sz="2800" b="1">
                <a:latin typeface="Times New Roman" panose="02020503050405090304" pitchFamily="18" charset="0"/>
              </a:rPr>
              <a:t>“</a:t>
            </a:r>
            <a:r>
              <a:rPr lang="zh-CN" altLang="en-US" sz="2800" b="1"/>
              <a:t>信息系统</a:t>
            </a:r>
            <a:r>
              <a:rPr lang="zh-CN" altLang="en-US" sz="2800" b="1">
                <a:latin typeface="Times New Roman" panose="02020503050405090304" pitchFamily="18" charset="0"/>
              </a:rPr>
              <a:t>”</a:t>
            </a:r>
            <a:r>
              <a:rPr lang="zh-CN" altLang="en-US" sz="2800" b="1"/>
              <a:t>的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  学生学号和姓名</a:t>
            </a:r>
            <a:r>
              <a:rPr lang="zh-CN" altLang="en-US" b="1"/>
              <a:t> 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1600200" y="4724400"/>
            <a:ext cx="4648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1492" name="Rectangle 4"/>
          <p:cNvSpPr>
            <a:spLocks noChangeArrowheads="1"/>
          </p:cNvSpPr>
          <p:nvPr/>
        </p:nvSpPr>
        <p:spPr bwMode="auto">
          <a:xfrm>
            <a:off x="2057400" y="4419600"/>
            <a:ext cx="4114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(SELECT Cno        </a:t>
            </a:r>
            <a:r>
              <a:rPr lang="en-US" altLang="zh-CN" sz="2000" b="1">
                <a:solidFill>
                  <a:srgbClr val="FF3399"/>
                </a:solidFill>
              </a:rPr>
              <a:t>① </a:t>
            </a:r>
            <a:r>
              <a:rPr lang="zh-CN" altLang="en-US" sz="2000" b="1">
                <a:solidFill>
                  <a:srgbClr val="FF3399"/>
                </a:solidFill>
              </a:rPr>
              <a:t>首先在</a:t>
            </a:r>
            <a:r>
              <a:rPr lang="en-US" altLang="zh-CN" sz="2000" b="1">
                <a:solidFill>
                  <a:srgbClr val="FF3399"/>
                </a:solidFill>
              </a:rPr>
              <a:t>Course</a:t>
            </a:r>
            <a:r>
              <a:rPr lang="zh-CN" altLang="en-US" sz="2000" b="1">
                <a:solidFill>
                  <a:srgbClr val="FF3399"/>
                </a:solidFill>
              </a:rPr>
              <a:t>关系中找出</a:t>
            </a:r>
            <a:r>
              <a:rPr lang="zh-CN" altLang="en-US" sz="2000" b="1">
                <a:solidFill>
                  <a:srgbClr val="FF3399"/>
                </a:solidFill>
                <a:latin typeface="Times New Roman" panose="02020503050405090304" pitchFamily="18" charset="0"/>
              </a:rPr>
              <a:t>“</a:t>
            </a:r>
            <a:r>
              <a:rPr lang="zh-CN" altLang="en-US" sz="2000" b="1">
                <a:solidFill>
                  <a:srgbClr val="FF3399"/>
                </a:solidFill>
              </a:rPr>
              <a:t>信</a:t>
            </a:r>
            <a:endParaRPr lang="zh-CN" altLang="en-US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FROM Course          </a:t>
            </a:r>
            <a:r>
              <a:rPr lang="zh-CN" altLang="en-US" sz="2000" b="1">
                <a:solidFill>
                  <a:srgbClr val="FF3399"/>
                </a:solidFill>
              </a:rPr>
              <a:t>息系统</a:t>
            </a:r>
            <a:r>
              <a:rPr lang="zh-CN" altLang="en-US" sz="2000" b="1">
                <a:solidFill>
                  <a:srgbClr val="FF3399"/>
                </a:solidFill>
                <a:latin typeface="Times New Roman" panose="02020503050405090304" pitchFamily="18" charset="0"/>
              </a:rPr>
              <a:t>”</a:t>
            </a:r>
            <a:r>
              <a:rPr lang="zh-CN" altLang="en-US" sz="2000" b="1">
                <a:solidFill>
                  <a:srgbClr val="FF3399"/>
                </a:solidFill>
              </a:rPr>
              <a:t>的课程号，结果为3号</a:t>
            </a:r>
            <a:endParaRPr lang="zh-CN" altLang="en-US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WHERE Cname= </a:t>
            </a:r>
            <a:r>
              <a:rPr lang="en-US" altLang="zh-CN" b="1">
                <a:latin typeface="Times New Roman" panose="02020503050405090304" pitchFamily="18" charset="0"/>
              </a:rPr>
              <a:t>‘</a:t>
            </a:r>
            <a:r>
              <a:rPr lang="zh-CN" altLang="en-US" b="1"/>
              <a:t>信息系统</a:t>
            </a:r>
            <a:r>
              <a:rPr lang="zh-CN" altLang="en-US" b="1">
                <a:latin typeface="Times New Roman" panose="02020503050405090304" pitchFamily="18" charset="0"/>
              </a:rPr>
              <a:t>’</a:t>
            </a:r>
            <a:r>
              <a:rPr lang="zh-CN" altLang="en-US" b="1"/>
              <a:t>));</a:t>
            </a:r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1295400" y="3505200"/>
            <a:ext cx="4495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(SELECT Sno                 </a:t>
            </a:r>
            <a:r>
              <a:rPr lang="en-US" altLang="zh-CN" sz="2000" b="1">
                <a:solidFill>
                  <a:srgbClr val="FF3399"/>
                </a:solidFill>
              </a:rPr>
              <a:t>② </a:t>
            </a:r>
            <a:r>
              <a:rPr lang="zh-CN" altLang="en-US" sz="2000" b="1">
                <a:solidFill>
                  <a:srgbClr val="FF3399"/>
                </a:solidFill>
              </a:rPr>
              <a:t>然后在</a:t>
            </a:r>
            <a:r>
              <a:rPr lang="en-US" altLang="zh-CN" sz="2000" b="1">
                <a:solidFill>
                  <a:srgbClr val="FF3399"/>
                </a:solidFill>
              </a:rPr>
              <a:t>SC</a:t>
            </a:r>
            <a:r>
              <a:rPr lang="zh-CN" altLang="en-US" sz="2000" b="1">
                <a:solidFill>
                  <a:srgbClr val="FF3399"/>
                </a:solidFill>
              </a:rPr>
              <a:t>关系中找出选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FROM    SC                       </a:t>
            </a:r>
            <a:r>
              <a:rPr lang="zh-CN" altLang="en-US" sz="2000" b="1">
                <a:solidFill>
                  <a:srgbClr val="FF3399"/>
                </a:solidFill>
              </a:rPr>
              <a:t>修了3号课程的学生学号</a:t>
            </a:r>
            <a:endParaRPr lang="zh-CN" altLang="en-US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WHERE  Cno IN</a:t>
            </a:r>
            <a:endParaRPr lang="zh-CN" altLang="en-US"/>
          </a:p>
        </p:txBody>
      </p:sp>
      <p:sp>
        <p:nvSpPr>
          <p:cNvPr id="191494" name="Rectangle 6"/>
          <p:cNvSpPr>
            <a:spLocks noChangeArrowheads="1"/>
          </p:cNvSpPr>
          <p:nvPr/>
        </p:nvSpPr>
        <p:spPr bwMode="auto">
          <a:xfrm>
            <a:off x="685800" y="2286000"/>
            <a:ext cx="4114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SELECT Sno，Sname            </a:t>
            </a:r>
            <a:r>
              <a:rPr lang="en-US" altLang="zh-CN" sz="2000" b="1">
                <a:solidFill>
                  <a:srgbClr val="FF3399"/>
                </a:solidFill>
              </a:rPr>
              <a:t>③ </a:t>
            </a:r>
            <a:r>
              <a:rPr lang="zh-CN" altLang="en-US" sz="2000" b="1">
                <a:solidFill>
                  <a:srgbClr val="FF3399"/>
                </a:solidFill>
              </a:rPr>
              <a:t>最后在</a:t>
            </a:r>
            <a:r>
              <a:rPr lang="en-US" altLang="zh-CN" sz="2000" b="1">
                <a:solidFill>
                  <a:srgbClr val="FF3399"/>
                </a:solidFill>
              </a:rPr>
              <a:t>Student</a:t>
            </a:r>
            <a:r>
              <a:rPr lang="zh-CN" altLang="en-US" sz="2000" b="1">
                <a:solidFill>
                  <a:srgbClr val="FF3399"/>
                </a:solidFill>
              </a:rPr>
              <a:t>关系中</a:t>
            </a:r>
            <a:endParaRPr lang="zh-CN" altLang="en-US" sz="2000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</a:t>
            </a:r>
            <a:r>
              <a:rPr lang="en-US" altLang="zh-CN" b="1"/>
              <a:t>FROM    Student                        </a:t>
            </a:r>
            <a:r>
              <a:rPr lang="zh-CN" altLang="en-US" sz="2000" b="1">
                <a:solidFill>
                  <a:srgbClr val="FF3399"/>
                </a:solidFill>
              </a:rPr>
              <a:t>取出</a:t>
            </a:r>
            <a:r>
              <a:rPr lang="en-US" altLang="zh-CN" sz="2000" b="1">
                <a:solidFill>
                  <a:srgbClr val="FF3399"/>
                </a:solidFill>
              </a:rPr>
              <a:t>Sno</a:t>
            </a:r>
            <a:r>
              <a:rPr lang="zh-CN" altLang="en-US" sz="2000" b="1">
                <a:solidFill>
                  <a:srgbClr val="FF3399"/>
                </a:solidFill>
              </a:rPr>
              <a:t>和</a:t>
            </a:r>
            <a:r>
              <a:rPr lang="en-US" altLang="zh-CN" sz="2000" b="1">
                <a:solidFill>
                  <a:srgbClr val="FF3399"/>
                </a:solidFill>
              </a:rPr>
              <a:t>Sname</a:t>
            </a:r>
            <a:endParaRPr lang="en-US" altLang="zh-CN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/>
              <a:t> WHERE Sno  IN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autoUpdateAnimBg="0"/>
      <p:bldP spid="191493" grpId="0" autoUpdateAnimBg="0"/>
      <p:bldP spid="19149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>
                <a:latin typeface="SimSun" panose="02010600030101010101" pitchFamily="2" charset="-122"/>
              </a:rPr>
              <a:t>用连接查询</a:t>
            </a:r>
            <a:endParaRPr lang="zh-CN" altLang="en-US" b="1">
              <a:latin typeface="SimSun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en-US" altLang="zh-CN" sz="2800" b="1"/>
              <a:t>SELECT Sno，Sname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FROM    Student，SC，Course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WHERE Student.Sno = SC.Sno  AND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SC.Cno = Course.Cno AND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Course.Cname=</a:t>
            </a:r>
            <a:r>
              <a:rPr lang="en-US" altLang="zh-CN" sz="2800" b="1">
                <a:latin typeface="Times New Roman" panose="02020503050405090304" pitchFamily="18" charset="0"/>
              </a:rPr>
              <a:t>‘</a:t>
            </a:r>
            <a:r>
              <a:rPr lang="zh-CN" altLang="en-US" sz="2800" b="1"/>
              <a:t>信息系统</a:t>
            </a:r>
            <a:r>
              <a:rPr lang="zh-CN" altLang="en-US" sz="2800" b="1">
                <a:latin typeface="Times New Roman" panose="02020503050405090304" pitchFamily="18" charset="0"/>
              </a:rPr>
              <a:t>’</a:t>
            </a:r>
            <a:r>
              <a:rPr lang="zh-CN" altLang="en-US" sz="2800" b="1"/>
              <a:t>；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（三）、带有比较运算符的子查询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  <a:buFont typeface="SimSun" panose="02010600030101010101" pitchFamily="2" charset="-122"/>
              <a:buChar char="●"/>
            </a:pPr>
            <a:r>
              <a:rPr lang="zh-CN" altLang="en-US" b="1"/>
              <a:t> 当能确切知道内层查询返回单值时，可用比较运算符（&gt;，&lt;，=，&gt;=，&lt;=，!=或&lt; &gt;）。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b="1"/>
              <a:t>与</a:t>
            </a:r>
            <a:r>
              <a:rPr lang="en-US" altLang="zh-CN" b="1"/>
              <a:t>ANY</a:t>
            </a:r>
            <a:r>
              <a:rPr lang="zh-CN" altLang="en-US" b="1"/>
              <a:t>或</a:t>
            </a:r>
            <a:r>
              <a:rPr lang="en-US" altLang="zh-CN" b="1"/>
              <a:t>ALL</a:t>
            </a:r>
            <a:r>
              <a:rPr lang="zh-CN" altLang="en-US" b="1"/>
              <a:t>谓词配合使用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sz="2800" b="1"/>
              <a:t>例：假设一个学生只可能在一个系学习，并且必须属于一个系，则在[例37]可以</a:t>
            </a:r>
            <a:r>
              <a:rPr lang="zh-CN" altLang="en-US" sz="2800" b="1">
                <a:solidFill>
                  <a:schemeClr val="hlink"/>
                </a:solidFill>
              </a:rPr>
              <a:t>用 = 代替</a:t>
            </a:r>
            <a:r>
              <a:rPr lang="en-US" altLang="zh-CN" sz="2800" b="1">
                <a:solidFill>
                  <a:schemeClr val="hlink"/>
                </a:solidFill>
              </a:rPr>
              <a:t>IN</a:t>
            </a:r>
            <a:r>
              <a:rPr lang="en-US" altLang="zh-CN" sz="2800" b="1"/>
              <a:t> ：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SELECT Sno，Sname，Sdept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FROM    Student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WHERE Sdept  </a:t>
            </a:r>
            <a:r>
              <a:rPr lang="en-US" altLang="zh-CN" sz="2800" b="1">
                <a:solidFill>
                  <a:schemeClr val="hlink"/>
                </a:solidFill>
              </a:rPr>
              <a:t> =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       (SELECT Sdept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         FROM    Student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         WHERE Sname= </a:t>
            </a:r>
            <a:r>
              <a:rPr lang="en-US" altLang="zh-CN" sz="2800" b="1">
                <a:latin typeface="Times New Roman" panose="02020503050405090304" pitchFamily="18" charset="0"/>
              </a:rPr>
              <a:t>‘</a:t>
            </a:r>
            <a:r>
              <a:rPr lang="en-US" altLang="zh-CN" sz="2800" b="1"/>
              <a:t> </a:t>
            </a:r>
            <a:r>
              <a:rPr lang="zh-CN" altLang="en-US" sz="2800" b="1"/>
              <a:t>刘晨 </a:t>
            </a:r>
            <a:r>
              <a:rPr lang="zh-CN" altLang="en-US" sz="2800" b="1">
                <a:latin typeface="Times New Roman" panose="02020503050405090304" pitchFamily="18" charset="0"/>
              </a:rPr>
              <a:t>’</a:t>
            </a:r>
            <a:r>
              <a:rPr lang="zh-CN" altLang="en-US" sz="2800" b="1"/>
              <a:t>)；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sz="2800" b="1"/>
              <a:t> 注意：子查询一定要跟在比较符之后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sz="2800" b="1"/>
              <a:t>    </a:t>
            </a:r>
            <a:r>
              <a:rPr lang="zh-CN" altLang="en-US" sz="2800" b="1">
                <a:solidFill>
                  <a:schemeClr val="hlink"/>
                </a:solidFill>
              </a:rPr>
              <a:t>错误</a:t>
            </a:r>
            <a:r>
              <a:rPr lang="zh-CN" altLang="en-US" sz="2800" b="1"/>
              <a:t>的例子：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sz="2800" b="1"/>
              <a:t>     </a:t>
            </a:r>
            <a:r>
              <a:rPr lang="en-US" altLang="zh-CN" sz="2800" b="1"/>
              <a:t>SELECT  Sno，Sname，Sdept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FROM     Student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WHERE ( SELECT Sdept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  FROM Student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  WHERE Sname= </a:t>
            </a:r>
            <a:r>
              <a:rPr lang="en-US" altLang="zh-CN" sz="2800" b="1">
                <a:latin typeface="Times New Roman" panose="02020503050405090304" pitchFamily="18" charset="0"/>
              </a:rPr>
              <a:t>‘</a:t>
            </a:r>
            <a:r>
              <a:rPr lang="en-US" altLang="zh-CN" sz="2800" b="1"/>
              <a:t> </a:t>
            </a:r>
            <a:r>
              <a:rPr lang="zh-CN" altLang="en-US" sz="2800" b="1"/>
              <a:t>刘晨 </a:t>
            </a:r>
            <a:r>
              <a:rPr lang="zh-CN" altLang="en-US" sz="2800" b="1">
                <a:latin typeface="Times New Roman" panose="02020503050405090304" pitchFamily="18" charset="0"/>
              </a:rPr>
              <a:t>’</a:t>
            </a:r>
            <a:r>
              <a:rPr lang="zh-CN" altLang="en-US" sz="2800" b="1"/>
              <a:t> ) 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sz="2800" b="1">
                <a:solidFill>
                  <a:srgbClr val="D75B5B"/>
                </a:solidFill>
              </a:rPr>
              <a:t>                       </a:t>
            </a:r>
            <a:r>
              <a:rPr lang="zh-CN" altLang="en-US" sz="2800" b="1"/>
              <a:t>= </a:t>
            </a:r>
            <a:r>
              <a:rPr lang="en-US" altLang="zh-CN" sz="2800" b="1"/>
              <a:t>Sdept；</a:t>
            </a:r>
            <a:endParaRPr lang="zh-CN" altLang="en-US" sz="2800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3352800" y="5638800"/>
            <a:ext cx="990600" cy="533400"/>
            <a:chOff x="2928" y="2352"/>
            <a:chExt cx="624" cy="336"/>
          </a:xfrm>
        </p:grpSpPr>
        <p:sp>
          <p:nvSpPr>
            <p:cNvPr id="130053" name="Line 5"/>
            <p:cNvSpPr>
              <a:spLocks noChangeShapeType="1"/>
            </p:cNvSpPr>
            <p:nvPr/>
          </p:nvSpPr>
          <p:spPr bwMode="auto">
            <a:xfrm flipH="1">
              <a:off x="2928" y="2352"/>
              <a:ext cx="624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054" name="Line 6"/>
            <p:cNvSpPr>
              <a:spLocks noChangeShapeType="1"/>
            </p:cNvSpPr>
            <p:nvPr/>
          </p:nvSpPr>
          <p:spPr bwMode="auto">
            <a:xfrm>
              <a:off x="2928" y="2352"/>
              <a:ext cx="624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/>
              <a:t>（四）、带有</a:t>
            </a:r>
            <a:r>
              <a:rPr lang="en-US" altLang="zh-CN" sz="3200" b="1"/>
              <a:t>ANY</a:t>
            </a:r>
            <a:r>
              <a:rPr lang="zh-CN" altLang="en-US" sz="3200" b="1"/>
              <a:t>或</a:t>
            </a:r>
            <a:r>
              <a:rPr lang="en-US" altLang="zh-CN" sz="3200" b="1"/>
              <a:t>ALL</a:t>
            </a:r>
            <a:r>
              <a:rPr lang="zh-CN" altLang="en-US" sz="3200" b="1"/>
              <a:t>谓词的子查询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buSzPct val="130000"/>
              <a:buFont typeface="Wingdings" panose="05000000000000000000" pitchFamily="2" charset="2"/>
              <a:buChar char="§"/>
            </a:pPr>
            <a:r>
              <a:rPr lang="zh-CN" altLang="en-US" b="1"/>
              <a:t>谓词语义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/>
              <a:t>ANY：</a:t>
            </a:r>
            <a:r>
              <a:rPr lang="zh-CN" altLang="en-US" b="1"/>
              <a:t>任意一个值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/>
              <a:t>ALL：</a:t>
            </a:r>
            <a:r>
              <a:rPr lang="zh-CN" altLang="en-US" b="1"/>
              <a:t>所有值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需要配合使用比较运算符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4763" y="1066800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[例39]  查询其他系中比信息系任意</a:t>
            </a:r>
            <a:r>
              <a:rPr lang="zh-CN" altLang="en-US" sz="2800" b="1">
                <a:solidFill>
                  <a:schemeClr val="hlink"/>
                </a:solidFill>
              </a:rPr>
              <a:t>一</a:t>
            </a:r>
            <a:r>
              <a:rPr lang="zh-CN" altLang="en-US" sz="2800" b="1"/>
              <a:t>个(其中某</a:t>
            </a:r>
            <a:r>
              <a:rPr lang="zh-CN" altLang="en-US" sz="2800" b="1">
                <a:solidFill>
                  <a:schemeClr val="hlink"/>
                </a:solidFill>
              </a:rPr>
              <a:t>一</a:t>
            </a:r>
            <a:r>
              <a:rPr lang="zh-CN" altLang="en-US" sz="2800" b="1"/>
              <a:t>个)学生年龄小的学生姓名和年龄</a:t>
            </a:r>
            <a:br>
              <a:rPr lang="zh-CN" altLang="en-US" sz="2800" b="1"/>
            </a:br>
            <a:endParaRPr lang="zh-CN" altLang="en-US" sz="2800" b="1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SELECT Sname，Sage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FROM    Student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WHERE Sage &lt; </a:t>
            </a:r>
            <a:r>
              <a:rPr lang="en-US" altLang="zh-CN" sz="2800" b="1">
                <a:solidFill>
                  <a:srgbClr val="D75B5B"/>
                </a:solidFill>
              </a:rPr>
              <a:t>ANY</a:t>
            </a:r>
            <a:r>
              <a:rPr lang="en-US" altLang="zh-CN" sz="2800" b="1"/>
              <a:t> 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 (SELECT  Sage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    FROM    Student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    WHERE Sdept= ' IS ')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        </a:t>
            </a:r>
            <a:r>
              <a:rPr lang="en-US" altLang="zh-CN" sz="2800" b="1">
                <a:solidFill>
                  <a:srgbClr val="D75B5B"/>
                </a:solidFill>
              </a:rPr>
              <a:t>AND Sdept &lt;&gt; ' IS '</a:t>
            </a:r>
            <a:r>
              <a:rPr lang="en-US" altLang="zh-CN" sz="2800" b="1"/>
              <a:t> ;  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en-US" altLang="zh-CN" sz="2800" b="1"/>
              <a:t>                     /* </a:t>
            </a:r>
            <a:r>
              <a:rPr lang="zh-CN" altLang="en-US" sz="2800" b="1"/>
              <a:t>注意这是父查询块中的条件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结果</a:t>
            </a:r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		</a:t>
            </a:r>
            <a:r>
              <a:rPr lang="en-US" altLang="zh-CN" b="1" u="sng"/>
              <a:t>Sname	     Sage</a:t>
            </a:r>
            <a:endParaRPr lang="en-US" altLang="zh-CN" b="1"/>
          </a:p>
          <a:p>
            <a:pPr eaLnBrk="1" hangingPunct="1">
              <a:buFont typeface="SimSun" panose="02010600030101010101" pitchFamily="2" charset="-122"/>
              <a:buNone/>
            </a:pPr>
            <a:r>
              <a:rPr lang="en-US" altLang="zh-CN" b="1"/>
              <a:t>           </a:t>
            </a:r>
            <a:r>
              <a:rPr lang="zh-CN" altLang="en-US" b="1"/>
              <a:t>王敏              18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1258887"/>
          </a:xfrm>
        </p:spPr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[例40]  查询其他系中比信息系</a:t>
            </a:r>
            <a:r>
              <a:rPr lang="zh-CN" altLang="en-US" b="1">
                <a:solidFill>
                  <a:srgbClr val="FF3399"/>
                </a:solidFill>
              </a:rPr>
              <a:t>所有</a:t>
            </a:r>
            <a:r>
              <a:rPr lang="zh-CN" altLang="en-US" b="1"/>
              <a:t>学生年龄</a:t>
            </a:r>
            <a:r>
              <a:rPr lang="zh-CN" altLang="en-US" b="1">
                <a:solidFill>
                  <a:srgbClr val="FF3399"/>
                </a:solidFill>
              </a:rPr>
              <a:t>都</a:t>
            </a:r>
            <a:r>
              <a:rPr lang="zh-CN" altLang="en-US" b="1"/>
              <a:t>小的学生姓名及年龄。</a:t>
            </a:r>
          </a:p>
        </p:txBody>
      </p:sp>
      <p:sp>
        <p:nvSpPr>
          <p:cNvPr id="199684" name="Rectangle 4"/>
          <p:cNvSpPr>
            <a:spLocks noChangeArrowheads="1"/>
          </p:cNvSpPr>
          <p:nvPr/>
        </p:nvSpPr>
        <p:spPr bwMode="auto">
          <a:xfrm>
            <a:off x="685800" y="3276600"/>
            <a:ext cx="65532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zh-CN" altLang="en-US" b="1"/>
              <a:t>方法一：用</a:t>
            </a:r>
            <a:r>
              <a:rPr lang="en-US" altLang="zh-CN" b="1"/>
              <a:t>ALL</a:t>
            </a:r>
            <a:r>
              <a:rPr lang="zh-CN" altLang="en-US" b="1"/>
              <a:t>谓词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zh-CN" altLang="en-US" b="1"/>
              <a:t>    </a:t>
            </a:r>
            <a:r>
              <a:rPr lang="en-US" altLang="zh-CN" b="1"/>
              <a:t>SELECT Sname，Sage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FROM Student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WHERE Sage &lt; ALL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            (SELECT Sage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             FROM Student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             WHERE Sdept= ' IS ')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en-US" altLang="zh-CN" b="1"/>
              <a:t>           AND Sdept &lt;&gt; ' IS </a:t>
            </a:r>
            <a:r>
              <a:rPr lang="en-US" altLang="zh-CN" b="1">
                <a:latin typeface="Times New Roman" panose="02020503050405090304" pitchFamily="18" charset="0"/>
              </a:rPr>
              <a:t>’</a:t>
            </a:r>
            <a:r>
              <a:rPr lang="en-US" altLang="zh-CN" b="1"/>
              <a:t>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SimSun" panose="02010600030101010101" pitchFamily="2" charset="-122"/>
              <a:buNone/>
            </a:pPr>
            <a:r>
              <a:rPr lang="zh-CN" altLang="en-US" b="1"/>
              <a:t>查询结果为空表。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725487"/>
          </a:xfrm>
        </p:spPr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 方法二：用集函数       </a:t>
            </a:r>
            <a:endParaRPr lang="zh-CN" altLang="en-US" sz="3600" b="1"/>
          </a:p>
        </p:txBody>
      </p:sp>
      <p:sp>
        <p:nvSpPr>
          <p:cNvPr id="200708" name="Rectangle 4"/>
          <p:cNvSpPr>
            <a:spLocks noChangeArrowheads="1"/>
          </p:cNvSpPr>
          <p:nvPr/>
        </p:nvSpPr>
        <p:spPr bwMode="auto">
          <a:xfrm>
            <a:off x="533400" y="2743200"/>
            <a:ext cx="6629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SELECT Sname，Sage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WHERE Sage &lt; 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      (SELECT </a:t>
            </a:r>
            <a:r>
              <a:rPr lang="en-US" altLang="zh-CN" sz="2800" b="1">
                <a:solidFill>
                  <a:srgbClr val="FF3399"/>
                </a:solidFill>
              </a:rPr>
              <a:t>MIN(Sage)</a:t>
            </a:r>
            <a:endParaRPr lang="en-US" altLang="zh-CN" sz="2800" b="1"/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       FROM Student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       WHERE Sdept= ' IS ')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 AND Sdept &lt;&gt;' IS </a:t>
            </a:r>
            <a:r>
              <a:rPr lang="en-US" altLang="zh-CN" sz="2800" b="1">
                <a:latin typeface="Times New Roman" panose="02020503050405090304" pitchFamily="18" charset="0"/>
              </a:rPr>
              <a:t>’</a:t>
            </a:r>
            <a:r>
              <a:rPr lang="en-US" altLang="zh-CN" sz="2800" b="1"/>
              <a:t>;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二、集合查询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标准</a:t>
            </a:r>
            <a:r>
              <a:rPr lang="en-US" altLang="zh-CN" b="1"/>
              <a:t>SQL</a:t>
            </a:r>
            <a:r>
              <a:rPr lang="zh-CN" altLang="en-US" b="1"/>
              <a:t>直接支持的集合操作种类</a:t>
            </a:r>
          </a:p>
          <a:p>
            <a:pPr lvl="1" eaLnBrk="1" hangingPunct="1"/>
            <a:r>
              <a:rPr lang="zh-CN" altLang="en-US" b="1"/>
              <a:t>并操作(</a:t>
            </a:r>
            <a:r>
              <a:rPr lang="en-US" altLang="zh-CN" b="1"/>
              <a:t>UNION)</a:t>
            </a:r>
          </a:p>
          <a:p>
            <a:pPr eaLnBrk="1" hangingPunct="1"/>
            <a:endParaRPr lang="en-US" altLang="zh-CN" b="1"/>
          </a:p>
          <a:p>
            <a:pPr eaLnBrk="1" hangingPunct="1"/>
            <a:r>
              <a:rPr lang="zh-CN" altLang="en-US" b="1"/>
              <a:t>一般商用数据库支持的集合操作种类</a:t>
            </a:r>
          </a:p>
          <a:p>
            <a:pPr lvl="1" eaLnBrk="1" hangingPunct="1"/>
            <a:r>
              <a:rPr lang="zh-CN" altLang="en-US" b="1"/>
              <a:t>并操作(</a:t>
            </a:r>
            <a:r>
              <a:rPr lang="en-US" altLang="zh-CN" b="1"/>
              <a:t>UNION)</a:t>
            </a:r>
          </a:p>
          <a:p>
            <a:pPr lvl="1" eaLnBrk="1" hangingPunct="1"/>
            <a:r>
              <a:rPr lang="zh-CN" altLang="en-US" b="1"/>
              <a:t>交操作(</a:t>
            </a:r>
            <a:r>
              <a:rPr lang="en-US" altLang="zh-CN" b="1"/>
              <a:t>INTERSECT)</a:t>
            </a:r>
          </a:p>
          <a:p>
            <a:pPr lvl="1" eaLnBrk="1" hangingPunct="1"/>
            <a:r>
              <a:rPr lang="zh-CN" altLang="en-US" b="1"/>
              <a:t>差操作(</a:t>
            </a:r>
            <a:r>
              <a:rPr lang="en-US" altLang="zh-CN" b="1"/>
              <a:t>EXCEPT)</a:t>
            </a:r>
            <a:endParaRPr lang="zh-CN" altLang="en-US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（一）、并操作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形式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		&lt;查询块&gt;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	 </a:t>
            </a:r>
            <a:r>
              <a:rPr lang="en-US" altLang="zh-CN" b="1"/>
              <a:t>UNION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	 &lt;</a:t>
            </a:r>
            <a:r>
              <a:rPr lang="zh-CN" altLang="en-US" b="1"/>
              <a:t>查询块&gt;</a:t>
            </a:r>
            <a:endParaRPr lang="zh-CN" altLang="en-US" sz="3200" b="1"/>
          </a:p>
          <a:p>
            <a:pPr lvl="1" eaLnBrk="1" hangingPunct="1"/>
            <a:endParaRPr lang="zh-CN" altLang="en-US" b="1"/>
          </a:p>
          <a:p>
            <a:pPr lvl="1" eaLnBrk="1" hangingPunct="1"/>
            <a:r>
              <a:rPr lang="zh-CN" altLang="en-US" b="1"/>
              <a:t>参加</a:t>
            </a:r>
            <a:r>
              <a:rPr lang="en-US" altLang="zh-CN" b="1"/>
              <a:t>UNION</a:t>
            </a:r>
            <a:r>
              <a:rPr lang="zh-CN" altLang="en-US" b="1"/>
              <a:t>操作的各结果表的列数必须相同；对应项的数据类型也必须相同</a:t>
            </a:r>
          </a:p>
          <a:p>
            <a:pPr eaLnBrk="1" hangingPunct="1"/>
            <a:endParaRPr lang="zh-CN" altLang="en-US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[例45]  查询计算机科学系的学生及年龄不大于19岁的学生。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方法一：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</a:t>
            </a:r>
            <a:r>
              <a:rPr lang="en-US" altLang="zh-CN" sz="2800" b="1"/>
              <a:t>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Sdept= 'CS'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</a:t>
            </a:r>
            <a:r>
              <a:rPr lang="en-US" altLang="zh-CN" sz="2800" b="1">
                <a:solidFill>
                  <a:schemeClr val="hlink"/>
                </a:solidFill>
              </a:rPr>
              <a:t>UNION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Sage&lt;=19；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（二）、交操作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SimSun" panose="02010600030101010101" pitchFamily="2" charset="-122"/>
              <a:buNone/>
            </a:pPr>
            <a:r>
              <a:rPr lang="zh-CN" altLang="en-US" sz="2800" b="1"/>
              <a:t>[例48]  查询计算机科学系的学生与年龄不大于19岁的学生的交集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</a:t>
            </a:r>
            <a:r>
              <a:rPr lang="en-US" altLang="zh-CN" sz="2800" b="1"/>
              <a:t>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Sdept= 'CS'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</a:t>
            </a:r>
            <a:r>
              <a:rPr lang="en-US" altLang="zh-CN" sz="2800" b="1">
                <a:solidFill>
                  <a:schemeClr val="hlink"/>
                </a:solidFill>
              </a:rPr>
              <a:t>INTERSECT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Sage&lt;=19；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endParaRPr lang="zh-CN" altLang="en-US" b="1"/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b="1"/>
          </a:p>
        </p:txBody>
      </p:sp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762000" y="2971800"/>
            <a:ext cx="5486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/>
              <a:t>本例实际上就是查询计算机科学系中年龄不大于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/>
              <a:t>19岁的学生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000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/>
              <a:t>       </a:t>
            </a:r>
            <a:r>
              <a:rPr lang="en-US" altLang="zh-CN" sz="2800" b="1"/>
              <a:t>SELECT *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WHERE Sdept= 'CS' AND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      Sage&lt;=19；</a:t>
            </a:r>
            <a:endParaRPr lang="zh-CN" altLang="en-US" sz="2800" b="1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8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（三）、差操作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SimSun" panose="02010600030101010101" pitchFamily="2" charset="-122"/>
              <a:buNone/>
            </a:pPr>
            <a:r>
              <a:rPr lang="zh-CN" altLang="en-US" sz="2400" b="1"/>
              <a:t> </a:t>
            </a:r>
            <a:r>
              <a:rPr lang="zh-CN" altLang="en-US" sz="2800" b="1"/>
              <a:t>[例51]  查询计算机科学系的学生与年龄不大于19岁的学生的差集。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Sdept= 'CS'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</a:t>
            </a:r>
            <a:r>
              <a:rPr lang="en-US" altLang="zh-CN" sz="2800" b="1">
                <a:solidFill>
                  <a:schemeClr val="hlink"/>
                </a:solidFill>
              </a:rPr>
              <a:t>EXCEPT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WHERE Sage&lt;=19；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[例51]  查询计算机科学系的学生与年龄不大于19岁的学生的差集。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</a:p>
        </p:txBody>
      </p:sp>
      <p:sp>
        <p:nvSpPr>
          <p:cNvPr id="207876" name="Rectangle 4"/>
          <p:cNvSpPr>
            <a:spLocks noChangeArrowheads="1"/>
          </p:cNvSpPr>
          <p:nvPr/>
        </p:nvSpPr>
        <p:spPr bwMode="auto">
          <a:xfrm>
            <a:off x="990600" y="3810000"/>
            <a:ext cx="5867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/>
              <a:t>本例实际上是查询计算机科学系中年龄大于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/>
              <a:t>19岁的学生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b="1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/>
              <a:t>        </a:t>
            </a:r>
            <a:r>
              <a:rPr lang="en-US" altLang="zh-CN" sz="2800" b="1"/>
              <a:t>SELECT *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WHERE Sdept= 'CS' AND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/>
              <a:t>                Sage&gt;19；</a:t>
            </a:r>
            <a:endParaRPr lang="zh-CN" altLang="en-US" sz="2800" b="1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6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imSun" panose="02010600030101010101" pitchFamily="2" charset="-122"/>
              <a:buNone/>
            </a:pPr>
            <a:r>
              <a:rPr lang="zh-CN" altLang="en-US" b="1"/>
              <a:t>[例52]  查询学生姓名与教师姓名的差集</a:t>
            </a:r>
          </a:p>
          <a:p>
            <a:pPr eaLnBrk="1" hangingPunct="1">
              <a:lnSpc>
                <a:spcPct val="110000"/>
              </a:lnSpc>
              <a:buFont typeface="SimSun" panose="02010600030101010101" pitchFamily="2" charset="-122"/>
              <a:buNone/>
            </a:pPr>
            <a:r>
              <a:rPr lang="zh-CN" altLang="en-US" b="1"/>
              <a:t>    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762000" y="3200400"/>
            <a:ext cx="6172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zh-CN" altLang="en-US" sz="2800" b="1"/>
              <a:t>本例实际上是查询学校中未与教师同名的学生姓名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zh-CN" altLang="en-US" sz="2800" b="1"/>
              <a:t>        </a:t>
            </a:r>
            <a:r>
              <a:rPr lang="en-US" altLang="zh-CN" sz="2800" b="1"/>
              <a:t>SELECT DISTINCT Sname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FROM Student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WHERE Sname NOT  IN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 	(SELECT Tname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SimSun" panose="02010600030101010101" pitchFamily="2" charset="-122"/>
              <a:buNone/>
            </a:pPr>
            <a:r>
              <a:rPr lang="en-US" altLang="zh-CN" sz="2800" b="1"/>
              <a:t>             	 FROM Teacher);</a:t>
            </a:r>
            <a:endParaRPr lang="en-US" altLang="zh-CN" sz="3200" b="1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/>
              <a:t>（四）、对集合操作结果的排序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ORDER BY</a:t>
            </a:r>
            <a:r>
              <a:rPr lang="zh-CN" altLang="en-US" b="1"/>
              <a:t>子句只能用于对最终查询结果排序，不能对中间结果排序</a:t>
            </a:r>
          </a:p>
          <a:p>
            <a:pPr eaLnBrk="1" hangingPunct="1"/>
            <a:r>
              <a:rPr lang="zh-CN" altLang="en-US" b="1"/>
              <a:t>任何情况下，</a:t>
            </a:r>
            <a:r>
              <a:rPr lang="en-US" altLang="zh-CN" b="1"/>
              <a:t>ORDER BY</a:t>
            </a:r>
            <a:r>
              <a:rPr lang="zh-CN" altLang="en-US" b="1"/>
              <a:t>子句只能出现在最后</a:t>
            </a:r>
          </a:p>
          <a:p>
            <a:pPr eaLnBrk="1" hangingPunct="1"/>
            <a:r>
              <a:rPr lang="zh-CN" altLang="en-US" b="1"/>
              <a:t>对集合操作结果排序时，</a:t>
            </a:r>
            <a:r>
              <a:rPr lang="en-US" altLang="zh-CN" b="1"/>
              <a:t>ORDER BY</a:t>
            </a:r>
            <a:r>
              <a:rPr lang="zh-CN" altLang="en-US" b="1"/>
              <a:t>子句中用数字指定排序属性</a:t>
            </a:r>
          </a:p>
        </p:txBody>
      </p:sp>
      <p:sp>
        <p:nvSpPr>
          <p:cNvPr id="144388" name="AutoShape 4"/>
          <p:cNvSpPr>
            <a:spLocks noChangeArrowheads="1"/>
          </p:cNvSpPr>
          <p:nvPr/>
        </p:nvSpPr>
        <p:spPr bwMode="auto">
          <a:xfrm>
            <a:off x="7696200" y="457200"/>
            <a:ext cx="1219200" cy="609600"/>
          </a:xfrm>
          <a:prstGeom prst="irregularSeal1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folHlink"/>
                </a:solidFill>
                <a:latin typeface="Times New Roman" panose="02020503050405090304" pitchFamily="18" charset="0"/>
              </a:rPr>
              <a:t>new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[例53] 错误写法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000" b="1"/>
              <a:t>SELECT  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FROM  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WHERE Sdept= 'CS'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chemeClr val="hlink"/>
                </a:solidFill>
              </a:rPr>
              <a:t>ORDER BY Sno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UNION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SELECT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FROM  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WHERE Sage&lt;=19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ORDER BY  Sno；</a:t>
            </a:r>
          </a:p>
          <a:p>
            <a:pPr eaLnBrk="1" hangingPunct="1"/>
            <a:endParaRPr lang="zh-CN" altLang="en-US" sz="2400" b="1"/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2017713"/>
            <a:ext cx="4078288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正确写法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en-US" altLang="zh-CN" sz="2000" b="1"/>
              <a:t>SELECT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WHERE Sdept= 'CS'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UNION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SELECT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WHERE Sage&lt;=19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chemeClr val="hlink"/>
                </a:solidFill>
              </a:rPr>
              <a:t>ORDER BY 1；</a:t>
            </a:r>
            <a:endParaRPr lang="zh-CN" altLang="en-US" sz="2000" b="1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0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0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0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0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0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0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0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0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09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09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10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10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 autoUpdateAnimBg="0"/>
      <p:bldP spid="210948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/>
              <a:t>小结：</a:t>
            </a:r>
            <a:r>
              <a:rPr lang="en-US" altLang="zh-CN" sz="4000" b="1" dirty="0"/>
              <a:t>SELECT</a:t>
            </a:r>
            <a:r>
              <a:rPr lang="zh-CN" altLang="en-US" sz="4000" b="1" dirty="0"/>
              <a:t>语句的一般格式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chemeClr val="hlink"/>
                </a:solidFill>
              </a:rPr>
              <a:t> SELECT</a:t>
            </a:r>
            <a:r>
              <a:rPr lang="en-US" altLang="zh-CN" sz="2200" b="1" dirty="0"/>
              <a:t> [ALL|DISTINCT]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&lt;</a:t>
            </a:r>
            <a:r>
              <a:rPr lang="zh-CN" altLang="en-US" sz="2200" b="1" dirty="0"/>
              <a:t>目标列表达式&gt; [别名] [ ，&lt;目标列表达式&gt; [别名]] </a:t>
            </a:r>
            <a:r>
              <a:rPr lang="zh-CN" altLang="en-US" sz="2200" b="1" dirty="0">
                <a:latin typeface="Times New Roman" panose="02020503050405090304" pitchFamily="18" charset="0"/>
              </a:rPr>
              <a:t>…</a:t>
            </a:r>
            <a:endParaRPr lang="zh-CN" altLang="en-US" sz="22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chemeClr val="hlink"/>
                </a:solidFill>
              </a:rPr>
              <a:t> FROM</a:t>
            </a:r>
            <a:r>
              <a:rPr lang="en-US" altLang="zh-CN" sz="2200" b="1" dirty="0">
                <a:solidFill>
                  <a:srgbClr val="FF3399"/>
                </a:solidFill>
              </a:rPr>
              <a:t>    </a:t>
            </a:r>
            <a:r>
              <a:rPr lang="en-US" altLang="zh-CN" sz="2200" b="1" dirty="0"/>
              <a:t> &lt;</a:t>
            </a:r>
            <a:r>
              <a:rPr lang="zh-CN" altLang="en-US" sz="2200" b="1" dirty="0"/>
              <a:t>表名或视图名&gt; [别名]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   [ ，&lt;表名或视图名&gt; [别名]] </a:t>
            </a:r>
            <a:r>
              <a:rPr lang="zh-CN" altLang="en-US" sz="2200" b="1" dirty="0">
                <a:latin typeface="Times New Roman" panose="02020503050405090304" pitchFamily="18" charset="0"/>
              </a:rPr>
              <a:t>…</a:t>
            </a:r>
            <a:endParaRPr lang="zh-CN" altLang="en-US" sz="22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[</a:t>
            </a:r>
            <a:r>
              <a:rPr lang="en-US" altLang="zh-CN" sz="2200" b="1" dirty="0">
                <a:solidFill>
                  <a:schemeClr val="hlink"/>
                </a:solidFill>
              </a:rPr>
              <a:t>WHERE</a:t>
            </a:r>
            <a:r>
              <a:rPr lang="en-US" altLang="zh-CN" sz="2200" b="1" dirty="0"/>
              <a:t> &lt;</a:t>
            </a:r>
            <a:r>
              <a:rPr lang="zh-CN" altLang="en-US" sz="2200" b="1" dirty="0"/>
              <a:t>条件表达式&gt;]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[</a:t>
            </a:r>
            <a:r>
              <a:rPr lang="en-US" altLang="zh-CN" sz="2200" b="1" dirty="0">
                <a:solidFill>
                  <a:schemeClr val="hlink"/>
                </a:solidFill>
              </a:rPr>
              <a:t>GROUP BY</a:t>
            </a:r>
            <a:r>
              <a:rPr lang="en-US" altLang="zh-CN" sz="2200" b="1" dirty="0"/>
              <a:t> &lt;</a:t>
            </a:r>
            <a:r>
              <a:rPr lang="zh-CN" altLang="en-US" sz="2200" b="1" dirty="0"/>
              <a:t>列名1&gt;[，&lt;列名1</a:t>
            </a:r>
            <a:r>
              <a:rPr lang="zh-CN" altLang="en-US" sz="2200" b="1" dirty="0">
                <a:latin typeface="Times New Roman" panose="02020503050405090304" pitchFamily="18" charset="0"/>
              </a:rPr>
              <a:t>’</a:t>
            </a:r>
            <a:r>
              <a:rPr lang="zh-CN" altLang="en-US" sz="2200" b="1" dirty="0"/>
              <a:t>&gt;] ...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[</a:t>
            </a:r>
            <a:r>
              <a:rPr lang="en-US" altLang="zh-CN" sz="2200" b="1" dirty="0">
                <a:solidFill>
                  <a:schemeClr val="hlink"/>
                </a:solidFill>
              </a:rPr>
              <a:t>HAVING</a:t>
            </a:r>
            <a:r>
              <a:rPr lang="en-US" altLang="zh-CN" sz="2200" b="1" dirty="0">
                <a:solidFill>
                  <a:srgbClr val="FF3399"/>
                </a:solidFill>
              </a:rPr>
              <a:t>    </a:t>
            </a:r>
            <a:r>
              <a:rPr lang="en-US" altLang="zh-CN" sz="2200" b="1" dirty="0"/>
              <a:t> &lt;</a:t>
            </a:r>
            <a:r>
              <a:rPr lang="zh-CN" altLang="en-US" sz="2200" b="1" dirty="0"/>
              <a:t>条件表达式&gt;]]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[</a:t>
            </a:r>
            <a:r>
              <a:rPr lang="en-US" altLang="zh-CN" sz="2200" b="1" dirty="0">
                <a:solidFill>
                  <a:schemeClr val="hlink"/>
                </a:solidFill>
              </a:rPr>
              <a:t>ORDER BY</a:t>
            </a:r>
            <a:r>
              <a:rPr lang="en-US" altLang="zh-CN" sz="2200" b="1" dirty="0"/>
              <a:t> &lt;</a:t>
            </a:r>
            <a:r>
              <a:rPr lang="zh-CN" altLang="en-US" sz="2200" b="1" dirty="0"/>
              <a:t>列名2&gt; [</a:t>
            </a:r>
            <a:r>
              <a:rPr lang="en-US" altLang="zh-CN" sz="2200" b="1" dirty="0"/>
              <a:t>ASC|DESC]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   [，&lt;</a:t>
            </a:r>
            <a:r>
              <a:rPr lang="zh-CN" altLang="en-US" sz="2200" b="1" dirty="0"/>
              <a:t>列名2</a:t>
            </a:r>
            <a:r>
              <a:rPr lang="zh-CN" altLang="en-US" sz="2200" b="1" dirty="0">
                <a:latin typeface="Times New Roman" panose="02020503050405090304" pitchFamily="18" charset="0"/>
              </a:rPr>
              <a:t>’</a:t>
            </a:r>
            <a:r>
              <a:rPr lang="zh-CN" altLang="en-US" sz="2200" b="1" dirty="0"/>
              <a:t>&gt; [</a:t>
            </a:r>
            <a:r>
              <a:rPr lang="en-US" altLang="zh-CN" sz="2200" b="1" dirty="0"/>
              <a:t>ASC|DESC] ] </a:t>
            </a:r>
            <a:r>
              <a:rPr lang="en-US" altLang="zh-CN" sz="2200" b="1" dirty="0">
                <a:latin typeface="Times New Roman" panose="02020503050405090304" pitchFamily="18" charset="0"/>
              </a:rPr>
              <a:t>…</a:t>
            </a:r>
            <a:r>
              <a:rPr lang="en-US" altLang="zh-CN" sz="2200" b="1" dirty="0"/>
              <a:t>  ]；</a:t>
            </a:r>
            <a:endParaRPr lang="zh-CN" altLang="en-US" sz="2200" b="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目标列表达式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目标列表达式格式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(1) [ &lt;表名&gt;.] *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(2) [&lt;表名&gt;.]&lt;属性列名表达式&gt;[，[&lt;表名&gt;.]&lt;属性列名表达式&gt;] </a:t>
            </a:r>
            <a:r>
              <a:rPr lang="zh-CN" altLang="en-US" sz="2400" b="1">
                <a:latin typeface="Times New Roman" panose="02020503050405090304" pitchFamily="18" charset="0"/>
              </a:rPr>
              <a:t>…</a:t>
            </a:r>
            <a:endParaRPr lang="zh-CN" altLang="en-US" sz="2400" b="1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&lt;属性列名表达式&gt;：由</a:t>
            </a:r>
            <a:r>
              <a:rPr lang="zh-CN" altLang="en-US" sz="2400" b="1">
                <a:solidFill>
                  <a:schemeClr val="hlink"/>
                </a:solidFill>
              </a:rPr>
              <a:t>属性列</a:t>
            </a:r>
            <a:r>
              <a:rPr lang="zh-CN" altLang="en-US" sz="2400" b="1"/>
              <a:t>、作用于属性列的</a:t>
            </a:r>
            <a:r>
              <a:rPr lang="zh-CN" altLang="en-US" sz="2400" b="1">
                <a:solidFill>
                  <a:schemeClr val="hlink"/>
                </a:solidFill>
              </a:rPr>
              <a:t>集函数</a:t>
            </a:r>
            <a:r>
              <a:rPr lang="zh-CN" altLang="en-US" sz="2400" b="1"/>
              <a:t>和</a:t>
            </a:r>
            <a:r>
              <a:rPr lang="zh-CN" altLang="en-US" sz="2400" b="1">
                <a:solidFill>
                  <a:schemeClr val="hlink"/>
                </a:solidFill>
              </a:rPr>
              <a:t>常量</a:t>
            </a:r>
            <a:r>
              <a:rPr lang="zh-CN" altLang="en-US" sz="2400" b="1"/>
              <a:t>的任意算术运算（+，-，*，/）组成的运算公式。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集函数格式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 COUNT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  SUM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  AVG         ([DISTINCT|ALL] &lt;</a:t>
            </a:r>
            <a:r>
              <a:rPr lang="zh-CN" altLang="en-US" b="1"/>
              <a:t>列名&gt;)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</a:t>
            </a:r>
            <a:r>
              <a:rPr lang="en-US" altLang="zh-CN" b="1"/>
              <a:t>MAX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  MIN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   COUNT  ([DISTINCT|ALL] *)</a:t>
            </a:r>
            <a:endParaRPr lang="zh-CN" altLang="en-US" b="1"/>
          </a:p>
        </p:txBody>
      </p:sp>
      <p:sp>
        <p:nvSpPr>
          <p:cNvPr id="148484" name="AutoShape 4"/>
          <p:cNvSpPr>
            <a:spLocks noChangeArrowheads="1"/>
          </p:cNvSpPr>
          <p:nvPr/>
        </p:nvSpPr>
        <p:spPr bwMode="auto">
          <a:xfrm>
            <a:off x="2057400" y="2209800"/>
            <a:ext cx="1981200" cy="22098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条件表达式格式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sz="36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（1）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                 &lt;属性列名&gt;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&lt;属性列名&gt; </a:t>
            </a:r>
            <a:r>
              <a:rPr lang="en-US" altLang="zh-CN" b="1"/>
              <a:t>θ    &lt;</a:t>
            </a:r>
            <a:r>
              <a:rPr lang="zh-CN" altLang="en-US" b="1"/>
              <a:t>常量&gt;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				    [</a:t>
            </a:r>
            <a:r>
              <a:rPr lang="en-US" altLang="zh-CN" b="1"/>
              <a:t>ANY|ALL] (SELECT</a:t>
            </a:r>
            <a:r>
              <a:rPr lang="zh-CN" altLang="en-US" b="1"/>
              <a:t>语句)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b="1"/>
          </a:p>
        </p:txBody>
      </p:sp>
      <p:sp>
        <p:nvSpPr>
          <p:cNvPr id="149508" name="AutoShape 4"/>
          <p:cNvSpPr>
            <a:spLocks noChangeArrowheads="1"/>
          </p:cNvSpPr>
          <p:nvPr/>
        </p:nvSpPr>
        <p:spPr bwMode="auto">
          <a:xfrm>
            <a:off x="4114800" y="3429000"/>
            <a:ext cx="4648200" cy="12192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条件表达式格式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534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（2） </a:t>
            </a:r>
            <a:r>
              <a:rPr lang="zh-CN" altLang="en-US" sz="2800" b="1"/>
              <a:t>&lt;属性列名&gt; [</a:t>
            </a:r>
            <a:r>
              <a:rPr lang="en-US" altLang="zh-CN" sz="2800" b="1"/>
              <a:t>NOT] BETWEEN</a:t>
            </a:r>
            <a:r>
              <a:rPr lang="zh-CN" altLang="en-US" sz="2800" b="1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		  </a:t>
            </a:r>
            <a:r>
              <a:rPr lang="zh-CN" altLang="en-US" sz="2800" b="1"/>
              <a:t>&lt;属性列名&gt;                      &lt;属性列名&gt;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 &lt;</a:t>
            </a:r>
            <a:r>
              <a:rPr lang="zh-CN" altLang="en-US" sz="2800" b="1"/>
              <a:t>常量&gt;                </a:t>
            </a:r>
            <a:r>
              <a:rPr lang="en-US" altLang="zh-CN" sz="2800" b="1"/>
              <a:t>AND     &lt;</a:t>
            </a:r>
            <a:r>
              <a:rPr lang="zh-CN" altLang="en-US" sz="2800" b="1"/>
              <a:t>常量&gt;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     (</a:t>
            </a:r>
            <a:r>
              <a:rPr lang="en-US" altLang="zh-CN" sz="2800" b="1"/>
              <a:t>SELECT</a:t>
            </a:r>
            <a:r>
              <a:rPr lang="zh-CN" altLang="en-US" sz="2800" b="1"/>
              <a:t>语句）                 (</a:t>
            </a:r>
            <a:r>
              <a:rPr lang="en-US" altLang="zh-CN" sz="2800" b="1"/>
              <a:t>SELECT</a:t>
            </a:r>
            <a:r>
              <a:rPr lang="zh-CN" altLang="en-US" sz="2800" b="1"/>
              <a:t>语句)</a:t>
            </a:r>
            <a:r>
              <a:rPr lang="zh-CN" altLang="en-US" sz="2400" b="1"/>
              <a:t> 	</a:t>
            </a:r>
          </a:p>
          <a:p>
            <a:pPr eaLnBrk="1" hangingPunct="1"/>
            <a:endParaRPr lang="zh-CN" altLang="en-US" sz="2800" b="1"/>
          </a:p>
        </p:txBody>
      </p:sp>
      <p:sp>
        <p:nvSpPr>
          <p:cNvPr id="150532" name="AutoShape 4"/>
          <p:cNvSpPr>
            <a:spLocks noChangeArrowheads="1"/>
          </p:cNvSpPr>
          <p:nvPr/>
        </p:nvSpPr>
        <p:spPr bwMode="auto">
          <a:xfrm>
            <a:off x="1295400" y="2667000"/>
            <a:ext cx="2971800" cy="15240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0533" name="AutoShape 5"/>
          <p:cNvSpPr>
            <a:spLocks noChangeArrowheads="1"/>
          </p:cNvSpPr>
          <p:nvPr/>
        </p:nvSpPr>
        <p:spPr bwMode="auto">
          <a:xfrm>
            <a:off x="5638800" y="2590800"/>
            <a:ext cx="2971800" cy="16764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条件表达式格式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（3）                   	  </a:t>
            </a:r>
            <a:r>
              <a:rPr lang="zh-CN" altLang="en-US" sz="2400" b="1"/>
              <a:t>(&lt;值1&gt;[，&lt;值&gt; ] </a:t>
            </a:r>
            <a:r>
              <a:rPr lang="zh-CN" altLang="en-US" sz="2400" b="1">
                <a:latin typeface="Times New Roman" panose="02020503050405090304" pitchFamily="18" charset="0"/>
              </a:rPr>
              <a:t>…</a:t>
            </a:r>
            <a:r>
              <a:rPr lang="zh-CN" altLang="en-US" sz="2400" b="1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&lt;属性列名&gt; [</a:t>
            </a:r>
            <a:r>
              <a:rPr lang="en-US" altLang="zh-CN" sz="2400" b="1"/>
              <a:t>NOT] IN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				  (SELECT</a:t>
            </a:r>
            <a:r>
              <a:rPr lang="zh-CN" altLang="en-US" sz="2400" b="1"/>
              <a:t>语句)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/>
          </a:p>
        </p:txBody>
      </p:sp>
      <p:sp>
        <p:nvSpPr>
          <p:cNvPr id="151556" name="AutoShape 4"/>
          <p:cNvSpPr>
            <a:spLocks noChangeArrowheads="1"/>
          </p:cNvSpPr>
          <p:nvPr/>
        </p:nvSpPr>
        <p:spPr bwMode="auto">
          <a:xfrm>
            <a:off x="4419600" y="2057400"/>
            <a:ext cx="3886200" cy="18288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条件表达式格式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zh-CN" altLang="en-US" sz="2800" b="1"/>
              <a:t>(4)   &lt;属性列名&gt; [</a:t>
            </a:r>
            <a:r>
              <a:rPr lang="en-US" altLang="zh-CN" sz="2800" b="1"/>
              <a:t>NOT] LIKE &lt;</a:t>
            </a:r>
            <a:r>
              <a:rPr lang="zh-CN" altLang="en-US" sz="2800" b="1"/>
              <a:t>匹配串&gt;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(5)  &lt;属性列名&gt; </a:t>
            </a:r>
            <a:r>
              <a:rPr lang="en-US" altLang="zh-CN" sz="2800" b="1"/>
              <a:t>IS [NOT] NULL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(6)  [NOT] EXISTS (SELECT</a:t>
            </a:r>
            <a:r>
              <a:rPr lang="zh-CN" altLang="en-US" sz="2800" b="1"/>
              <a:t>语句)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4000" b="1"/>
              <a:t>条件表达式格式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763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（7）        </a:t>
            </a:r>
            <a:r>
              <a:rPr lang="en-US" altLang="zh-CN" sz="2800" b="1"/>
              <a:t>AND </a:t>
            </a:r>
            <a:r>
              <a:rPr lang="en-US" altLang="zh-CN" b="1"/>
              <a:t>                   </a:t>
            </a:r>
            <a:r>
              <a:rPr lang="en-US" altLang="zh-CN" sz="2800" b="1"/>
              <a:t>AND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&lt;</a:t>
            </a:r>
            <a:r>
              <a:rPr lang="zh-CN" altLang="en-US" sz="2400" b="1"/>
              <a:t>条件表达式&gt;            &lt;条件表达式&gt;           &lt;条件表达&gt;  </a:t>
            </a:r>
            <a:r>
              <a:rPr lang="zh-CN" altLang="en-US" sz="2400" b="1">
                <a:latin typeface="Times New Roman" panose="02020503050405090304" pitchFamily="18" charset="0"/>
              </a:rPr>
              <a:t>…</a:t>
            </a:r>
            <a:endParaRPr lang="zh-CN" alt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          </a:t>
            </a:r>
            <a:r>
              <a:rPr lang="en-US" altLang="zh-CN" sz="2800" b="1"/>
              <a:t>OR </a:t>
            </a:r>
            <a:r>
              <a:rPr lang="en-US" altLang="zh-CN" b="1"/>
              <a:t>                      </a:t>
            </a:r>
            <a:r>
              <a:rPr lang="en-US" altLang="zh-CN" sz="2800" b="1"/>
              <a:t>OR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</p:txBody>
      </p:sp>
      <p:sp>
        <p:nvSpPr>
          <p:cNvPr id="153604" name="AutoShape 4"/>
          <p:cNvSpPr>
            <a:spLocks noChangeArrowheads="1"/>
          </p:cNvSpPr>
          <p:nvPr/>
        </p:nvSpPr>
        <p:spPr bwMode="auto">
          <a:xfrm>
            <a:off x="2438400" y="2057400"/>
            <a:ext cx="1143000" cy="15240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05" name="AutoShape 5"/>
          <p:cNvSpPr>
            <a:spLocks noChangeArrowheads="1"/>
          </p:cNvSpPr>
          <p:nvPr/>
        </p:nvSpPr>
        <p:spPr bwMode="auto">
          <a:xfrm>
            <a:off x="5562600" y="2133600"/>
            <a:ext cx="1143000" cy="1295400"/>
          </a:xfrm>
          <a:prstGeom prst="bracePair">
            <a:avLst>
              <a:gd name="adj" fmla="val 8333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7DAD8-0FE5-DFAB-CFA3-45F60781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0A49E-CF24-EBD5-ED6F-C9FA707F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拓展学习：内连接外连接查询</a:t>
            </a:r>
            <a:endParaRPr lang="en-US" altLang="zh-CN" sz="2400" b="1" dirty="0"/>
          </a:p>
          <a:p>
            <a:r>
              <a:rPr lang="zh-CN" alt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https://www.bilibili.com/video/BV1ir4y1x7id?spm_id_from=333.788.videopod.sections&amp;vd_source=31b8cdf62fecff492433b8c24d65e7d2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pPr marL="0" indent="0">
              <a:buNone/>
            </a:pPr>
            <a:r>
              <a:rPr lang="zh-CN" altLang="en-US" sz="2400" b="1" dirty="0"/>
              <a:t>预习：视图</a:t>
            </a: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B5845B-BB32-BB3B-1E31-CF89E495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938" y="3138893"/>
            <a:ext cx="4006374" cy="223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3917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2548</TotalTime>
  <Words>3583</Words>
  <Application>Microsoft Office PowerPoint</Application>
  <PresentationFormat>全屏显示(4:3)</PresentationFormat>
  <Paragraphs>534</Paragraphs>
  <Slides>69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7" baseType="lpstr">
      <vt:lpstr>Times-Roman</vt:lpstr>
      <vt:lpstr>宋体</vt:lpstr>
      <vt:lpstr>Arial Black</vt:lpstr>
      <vt:lpstr>Courier New</vt:lpstr>
      <vt:lpstr>Tahoma</vt:lpstr>
      <vt:lpstr>Times New Roman</vt:lpstr>
      <vt:lpstr>Wingdings</vt:lpstr>
      <vt:lpstr>Blends</vt:lpstr>
      <vt:lpstr>主讲：王海燕 E-mail：wanghaiyan@mail.hzau.edu.cn</vt:lpstr>
      <vt:lpstr>主要内容</vt:lpstr>
      <vt:lpstr>重点</vt:lpstr>
      <vt:lpstr>难点</vt:lpstr>
      <vt:lpstr>3.6.6 连接查询</vt:lpstr>
      <vt:lpstr>连接查询概述</vt:lpstr>
      <vt:lpstr>连接操作的执行过程</vt:lpstr>
      <vt:lpstr>（一）、广义笛卡尔积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外连接与普通连接的区别</vt:lpstr>
      <vt:lpstr>外连接的特点</vt:lpstr>
      <vt:lpstr>PowerPoint 演示文稿</vt:lpstr>
      <vt:lpstr>PowerPoint 演示文稿</vt:lpstr>
      <vt:lpstr>PowerPoint 演示文稿</vt:lpstr>
      <vt:lpstr>一、嵌套查询</vt:lpstr>
      <vt:lpstr>（一）、概述</vt:lpstr>
      <vt:lpstr>PowerPoint 演示文稿</vt:lpstr>
      <vt:lpstr>PowerPoint 演示文稿</vt:lpstr>
      <vt:lpstr>嵌套查询分类</vt:lpstr>
      <vt:lpstr>嵌套查询求解方法</vt:lpstr>
      <vt:lpstr>嵌套查询求解方法（续）</vt:lpstr>
      <vt:lpstr>使用子查询的原则</vt:lpstr>
      <vt:lpstr>查询job ID 与雇员 141 相同,并且薪水 高于雇员 143 的那些雇员。 </vt:lpstr>
      <vt:lpstr>[例41]找出每个学生超过他选修课程平均成绩的课程号</vt:lpstr>
      <vt:lpstr>（二）、带有IN谓词的子查询</vt:lpstr>
      <vt:lpstr>PowerPoint 演示文稿</vt:lpstr>
      <vt:lpstr>构造嵌套查询</vt:lpstr>
      <vt:lpstr>PowerPoint 演示文稿</vt:lpstr>
      <vt:lpstr>PowerPoint 演示文稿</vt:lpstr>
      <vt:lpstr>（三）、带有比较运算符的子查询</vt:lpstr>
      <vt:lpstr>PowerPoint 演示文稿</vt:lpstr>
      <vt:lpstr>PowerPoint 演示文稿</vt:lpstr>
      <vt:lpstr>（四）、带有ANY或ALL谓词的子查询</vt:lpstr>
      <vt:lpstr>[例39]  查询其他系中比信息系任意一个(其中某一个)学生年龄小的学生姓名和年龄 </vt:lpstr>
      <vt:lpstr>PowerPoint 演示文稿</vt:lpstr>
      <vt:lpstr>PowerPoint 演示文稿</vt:lpstr>
      <vt:lpstr>PowerPoint 演示文稿</vt:lpstr>
      <vt:lpstr>二、集合查询</vt:lpstr>
      <vt:lpstr>（一）、并操作</vt:lpstr>
      <vt:lpstr>PowerPoint 演示文稿</vt:lpstr>
      <vt:lpstr>（二）、交操作</vt:lpstr>
      <vt:lpstr>PowerPoint 演示文稿</vt:lpstr>
      <vt:lpstr>（三）、差操作</vt:lpstr>
      <vt:lpstr>PowerPoint 演示文稿</vt:lpstr>
      <vt:lpstr>PowerPoint 演示文稿</vt:lpstr>
      <vt:lpstr>（四）、对集合操作结果的排序</vt:lpstr>
      <vt:lpstr>PowerPoint 演示文稿</vt:lpstr>
      <vt:lpstr>小结：SELECT语句的一般格式</vt:lpstr>
      <vt:lpstr>目标列表达式</vt:lpstr>
      <vt:lpstr>集函数格式</vt:lpstr>
      <vt:lpstr>条件表达式格式</vt:lpstr>
      <vt:lpstr>条件表达式格式</vt:lpstr>
      <vt:lpstr>条件表达式格式</vt:lpstr>
      <vt:lpstr>条件表达式格式</vt:lpstr>
      <vt:lpstr>条件表达式格式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why</dc:creator>
  <cp:lastModifiedBy>a9400</cp:lastModifiedBy>
  <cp:revision>212</cp:revision>
  <dcterms:created xsi:type="dcterms:W3CDTF">2020-10-30T07:31:42Z</dcterms:created>
  <dcterms:modified xsi:type="dcterms:W3CDTF">2025-10-09T09:47:53Z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1033-2.6.1.4274</vt:lpwstr>
  </property>
</Properties>
</file>