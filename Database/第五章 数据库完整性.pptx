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0"/>
  </p:notesMasterIdLst>
  <p:handoutMasterIdLst>
    <p:handoutMasterId r:id="rId61"/>
  </p:handoutMasterIdLst>
  <p:sldIdLst>
    <p:sldId id="541" r:id="rId2"/>
    <p:sldId id="627" r:id="rId3"/>
    <p:sldId id="628" r:id="rId4"/>
    <p:sldId id="543" r:id="rId5"/>
    <p:sldId id="620" r:id="rId6"/>
    <p:sldId id="648" r:id="rId7"/>
    <p:sldId id="666" r:id="rId8"/>
    <p:sldId id="629" r:id="rId9"/>
    <p:sldId id="630" r:id="rId10"/>
    <p:sldId id="631" r:id="rId11"/>
    <p:sldId id="632" r:id="rId12"/>
    <p:sldId id="600" r:id="rId13"/>
    <p:sldId id="633" r:id="rId14"/>
    <p:sldId id="652" r:id="rId15"/>
    <p:sldId id="653" r:id="rId16"/>
    <p:sldId id="649" r:id="rId17"/>
    <p:sldId id="667" r:id="rId18"/>
    <p:sldId id="601" r:id="rId19"/>
    <p:sldId id="602" r:id="rId20"/>
    <p:sldId id="604" r:id="rId21"/>
    <p:sldId id="605" r:id="rId22"/>
    <p:sldId id="651" r:id="rId23"/>
    <p:sldId id="623" r:id="rId24"/>
    <p:sldId id="650" r:id="rId25"/>
    <p:sldId id="606" r:id="rId26"/>
    <p:sldId id="654" r:id="rId27"/>
    <p:sldId id="607" r:id="rId28"/>
    <p:sldId id="609" r:id="rId29"/>
    <p:sldId id="655" r:id="rId30"/>
    <p:sldId id="624" r:id="rId31"/>
    <p:sldId id="608" r:id="rId32"/>
    <p:sldId id="636" r:id="rId33"/>
    <p:sldId id="637" r:id="rId34"/>
    <p:sldId id="638" r:id="rId35"/>
    <p:sldId id="665" r:id="rId36"/>
    <p:sldId id="639" r:id="rId37"/>
    <p:sldId id="625" r:id="rId38"/>
    <p:sldId id="656" r:id="rId39"/>
    <p:sldId id="657" r:id="rId40"/>
    <p:sldId id="658" r:id="rId41"/>
    <p:sldId id="662" r:id="rId42"/>
    <p:sldId id="659" r:id="rId43"/>
    <p:sldId id="661" r:id="rId44"/>
    <p:sldId id="663" r:id="rId45"/>
    <p:sldId id="611" r:id="rId46"/>
    <p:sldId id="626" r:id="rId47"/>
    <p:sldId id="640" r:id="rId48"/>
    <p:sldId id="641" r:id="rId49"/>
    <p:sldId id="664" r:id="rId50"/>
    <p:sldId id="612" r:id="rId51"/>
    <p:sldId id="613" r:id="rId52"/>
    <p:sldId id="643" r:id="rId53"/>
    <p:sldId id="644" r:id="rId54"/>
    <p:sldId id="645" r:id="rId55"/>
    <p:sldId id="647" r:id="rId56"/>
    <p:sldId id="616" r:id="rId57"/>
    <p:sldId id="614" r:id="rId58"/>
    <p:sldId id="617" r:id="rId59"/>
  </p:sldIdLst>
  <p:sldSz cx="9144000" cy="6858000" type="screen4x3"/>
  <p:notesSz cx="6858000" cy="9144000"/>
  <p:defaultTex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183CAE"/>
    <a:srgbClr val="3333FF"/>
    <a:srgbClr val="130A36"/>
    <a:srgbClr val="79710F"/>
    <a:srgbClr val="EEE67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26" autoAdjust="0"/>
    <p:restoredTop sz="81926" autoAdjust="0"/>
  </p:normalViewPr>
  <p:slideViewPr>
    <p:cSldViewPr showGuides="1">
      <p:cViewPr varScale="1">
        <p:scale>
          <a:sx n="92" d="100"/>
          <a:sy n="92" d="100"/>
        </p:scale>
        <p:origin x="2148"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3264"/>
    </p:cViewPr>
  </p:sorterViewPr>
  <p:notesViewPr>
    <p:cSldViewPr>
      <p:cViewPr varScale="1">
        <p:scale>
          <a:sx n="84" d="100"/>
          <a:sy n="84" d="100"/>
        </p:scale>
        <p:origin x="3912"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BE655533-93ED-475B-8E07-C738885B72E0}" type="datetimeFigureOut">
              <a:rPr lang="zh-CN" altLang="en-US"/>
              <a:t>2025/10/30</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0425611C-F726-4065-921D-5DF39A1208F9}" type="slidenum">
              <a:rPr lang="zh-CN" altLang="en-US"/>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fontAlgn="auto" hangingPunct="1">
              <a:spcBef>
                <a:spcPts val="0"/>
              </a:spcBef>
              <a:spcAft>
                <a:spcPts val="0"/>
              </a:spcAft>
              <a:defRPr sz="1200">
                <a:latin typeface="+mn-lt"/>
              </a:defRPr>
            </a:lvl1pPr>
          </a:lstStyle>
          <a:p>
            <a:pPr>
              <a:defRPr/>
            </a:pPr>
            <a:endParaRPr lang="en-US" altLang="zh-CN"/>
          </a:p>
        </p:txBody>
      </p:sp>
      <p:sp>
        <p:nvSpPr>
          <p:cNvPr id="46083"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fontAlgn="auto" hangingPunct="1">
              <a:spcBef>
                <a:spcPts val="0"/>
              </a:spcBef>
              <a:spcAft>
                <a:spcPts val="0"/>
              </a:spcAft>
              <a:defRPr sz="1200">
                <a:latin typeface="+mn-lt"/>
              </a:defRPr>
            </a:lvl1pPr>
          </a:lstStyle>
          <a:p>
            <a:pPr>
              <a:defRPr/>
            </a:pPr>
            <a:endParaRPr lang="en-US" altLang="zh-CN"/>
          </a:p>
        </p:txBody>
      </p:sp>
      <p:sp>
        <p:nvSpPr>
          <p:cNvPr id="512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46085"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46086"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eaLnBrk="1" fontAlgn="auto" hangingPunct="1">
              <a:spcBef>
                <a:spcPts val="0"/>
              </a:spcBef>
              <a:spcAft>
                <a:spcPts val="0"/>
              </a:spcAft>
              <a:defRPr sz="1200">
                <a:latin typeface="+mn-lt"/>
              </a:defRPr>
            </a:lvl1pPr>
          </a:lstStyle>
          <a:p>
            <a:pPr>
              <a:defRPr/>
            </a:pPr>
            <a:endParaRPr lang="en-US" altLang="zh-CN"/>
          </a:p>
        </p:txBody>
      </p:sp>
      <p:sp>
        <p:nvSpPr>
          <p:cNvPr id="46087"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fontAlgn="auto" hangingPunct="1">
              <a:spcBef>
                <a:spcPts val="0"/>
              </a:spcBef>
              <a:spcAft>
                <a:spcPts val="0"/>
              </a:spcAft>
              <a:defRPr sz="1200">
                <a:latin typeface="+mn-lt"/>
              </a:defRPr>
            </a:lvl1pPr>
          </a:lstStyle>
          <a:p>
            <a:pPr>
              <a:defRPr/>
            </a:pPr>
            <a:fld id="{186D5451-68D5-497D-A7F7-D91EC3C6E858}" type="slidenum">
              <a:rPr lang="en-US" altLang="zh-CN"/>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2972850A-09FD-42F4-8B7F-1587FD8F84BF}" type="slidenum">
              <a:rPr lang="en-US" altLang="zh-CN" smtClean="0"/>
              <a:t>1</a:t>
            </a:fld>
            <a:endParaRPr lang="en-US" altLang="zh-CN"/>
          </a:p>
        </p:txBody>
      </p:sp>
      <p:sp>
        <p:nvSpPr>
          <p:cNvPr id="8195" name="Rectangle 2"/>
          <p:cNvSpPr>
            <a:spLocks noGrp="1" noRot="1" noChangeAspect="1" noChangeArrowheads="1" noTextEdit="1"/>
          </p:cNvSpPr>
          <p:nvPr>
            <p:ph type="sldImg"/>
          </p:nvPr>
        </p:nvSpPr>
        <p:spPr/>
      </p:sp>
      <p:sp>
        <p:nvSpPr>
          <p:cNvPr id="81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effectLst/>
                <a:latin typeface="Inter"/>
              </a:rPr>
              <a:t>每个实体（表所代表的现实对象，如 “学生”“订单”）在数据库中都能被唯一识别。</a:t>
            </a:r>
            <a:endParaRPr lang="zh-CN" altLang="en-US" dirty="0"/>
          </a:p>
        </p:txBody>
      </p:sp>
      <p:sp>
        <p:nvSpPr>
          <p:cNvPr id="4" name="灯片编号占位符 3"/>
          <p:cNvSpPr>
            <a:spLocks noGrp="1"/>
          </p:cNvSpPr>
          <p:nvPr>
            <p:ph type="sldNum" sz="quarter" idx="5"/>
          </p:nvPr>
        </p:nvSpPr>
        <p:spPr/>
        <p:txBody>
          <a:bodyPr/>
          <a:lstStyle/>
          <a:p>
            <a:pPr>
              <a:defRPr/>
            </a:pPr>
            <a:fld id="{186D5451-68D5-497D-A7F7-D91EC3C6E858}" type="slidenum">
              <a:rPr lang="en-US" altLang="zh-CN" smtClean="0"/>
              <a:t>7</a:t>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effectLst/>
                <a:latin typeface="Inter"/>
              </a:rPr>
              <a:t>每个实体（表所代表的现实对象，如 “学生”“订单”）在数据库中都能被唯一识别。</a:t>
            </a:r>
            <a:endParaRPr lang="zh-CN" altLang="en-US" dirty="0"/>
          </a:p>
        </p:txBody>
      </p:sp>
      <p:sp>
        <p:nvSpPr>
          <p:cNvPr id="4" name="灯片编号占位符 3"/>
          <p:cNvSpPr>
            <a:spLocks noGrp="1"/>
          </p:cNvSpPr>
          <p:nvPr>
            <p:ph type="sldNum" sz="quarter" idx="5"/>
          </p:nvPr>
        </p:nvSpPr>
        <p:spPr/>
        <p:txBody>
          <a:bodyPr/>
          <a:lstStyle/>
          <a:p>
            <a:pPr>
              <a:defRPr/>
            </a:pPr>
            <a:fld id="{186D5451-68D5-497D-A7F7-D91EC3C6E858}" type="slidenum">
              <a:rPr lang="en-US" altLang="zh-CN" smtClean="0"/>
              <a:t>8</a:t>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effectLst/>
                <a:latin typeface="Inter"/>
              </a:rPr>
              <a:t>其核心逻辑是：当一个表（子表）的字段引用另一个表（主表）的主键时，子表中该字段的值必须要么是主表中已存在的主键值，要么为空（若允许），不能引用主表中不存在的值。</a:t>
            </a:r>
            <a:endParaRPr lang="zh-CN" altLang="en-US" dirty="0"/>
          </a:p>
        </p:txBody>
      </p:sp>
      <p:sp>
        <p:nvSpPr>
          <p:cNvPr id="4" name="灯片编号占位符 3"/>
          <p:cNvSpPr>
            <a:spLocks noGrp="1"/>
          </p:cNvSpPr>
          <p:nvPr>
            <p:ph type="sldNum" sz="quarter" idx="5"/>
          </p:nvPr>
        </p:nvSpPr>
        <p:spPr/>
        <p:txBody>
          <a:bodyPr/>
          <a:lstStyle/>
          <a:p>
            <a:pPr>
              <a:defRPr/>
            </a:pPr>
            <a:fld id="{186D5451-68D5-497D-A7F7-D91EC3C6E858}" type="slidenum">
              <a:rPr lang="en-US" altLang="zh-CN" smtClean="0"/>
              <a:t>17</a:t>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86D5451-68D5-497D-A7F7-D91EC3C6E858}" type="slidenum">
              <a:rPr lang="en-US" altLang="zh-CN" smtClean="0"/>
              <a:t>18</a:t>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9059A853-1330-4C53-A773-11582DD52954}" type="slidenum">
              <a:rPr lang="en-US" altLang="zh-CN" smtClean="0"/>
              <a:t>33</a:t>
            </a:fld>
            <a:endParaRPr lang="en-US" altLang="zh-CN"/>
          </a:p>
        </p:txBody>
      </p:sp>
      <p:sp>
        <p:nvSpPr>
          <p:cNvPr id="39939" name="Rectangle 2"/>
          <p:cNvSpPr>
            <a:spLocks noGrp="1" noRot="1" noChangeAspect="1" noChangeArrowheads="1" noTextEdit="1"/>
          </p:cNvSpPr>
          <p:nvPr>
            <p:ph type="sldImg"/>
          </p:nvPr>
        </p:nvSpPr>
        <p:spPr/>
      </p:sp>
      <p:sp>
        <p:nvSpPr>
          <p:cNvPr id="3994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eaLnBrk="1" hangingPunct="1">
              <a:buFont typeface="Wingdings" panose="05000000000000000000" pitchFamily="2" charset="2"/>
              <a:buNone/>
            </a:pPr>
            <a:r>
              <a:rPr lang="zh-CN" altLang="en-US"/>
              <a:t>在</a:t>
            </a:r>
            <a:r>
              <a:rPr lang="en-US" altLang="zh-CN"/>
              <a:t>Student</a:t>
            </a:r>
            <a:r>
              <a:rPr lang="zh-CN" altLang="en-US"/>
              <a:t>表上建立了</a:t>
            </a:r>
            <a:r>
              <a:rPr lang="en-US" altLang="zh-CN"/>
              <a:t>5</a:t>
            </a:r>
            <a:r>
              <a:rPr lang="zh-CN" altLang="en-US"/>
              <a:t>个约束条件，包括主码约束（命名为</a:t>
            </a:r>
            <a:r>
              <a:rPr lang="en-US" altLang="zh-CN"/>
              <a:t>StudentKey</a:t>
            </a:r>
            <a:r>
              <a:rPr lang="zh-CN" altLang="en-US"/>
              <a:t>）以及</a:t>
            </a:r>
            <a:r>
              <a:rPr lang="en-US" altLang="zh-CN"/>
              <a:t>C1</a:t>
            </a:r>
            <a:r>
              <a:rPr lang="zh-CN" altLang="en-US"/>
              <a:t>、</a:t>
            </a:r>
            <a:r>
              <a:rPr lang="en-US" altLang="zh-CN"/>
              <a:t>C2</a:t>
            </a:r>
            <a:r>
              <a:rPr lang="zh-CN" altLang="en-US"/>
              <a:t>、</a:t>
            </a:r>
            <a:r>
              <a:rPr lang="en-US" altLang="zh-CN"/>
              <a:t>C3</a:t>
            </a:r>
            <a:r>
              <a:rPr lang="zh-CN" altLang="en-US"/>
              <a:t>、</a:t>
            </a:r>
            <a:r>
              <a:rPr lang="en-US" altLang="zh-CN"/>
              <a:t>C4</a:t>
            </a:r>
            <a:r>
              <a:rPr lang="zh-CN" altLang="en-US"/>
              <a:t>四个列级约束。</a:t>
            </a:r>
          </a:p>
          <a:p>
            <a:pPr eaLnBrk="1" hangingPunct="1"/>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dirty="0"/>
              <a:t>金融行业用的多：</a:t>
            </a:r>
            <a:r>
              <a:rPr lang="zh-CN" altLang="en-US" b="1" i="0" dirty="0">
                <a:solidFill>
                  <a:srgbClr val="000000"/>
                </a:solidFill>
                <a:effectLst/>
                <a:latin typeface="Inter"/>
              </a:rPr>
              <a:t>强制平仓（风险触发）</a:t>
            </a:r>
            <a:endParaRPr lang="zh-CN" altLang="en-US" b="0" i="0" dirty="0">
              <a:effectLst/>
              <a:latin typeface="Inter"/>
            </a:endParaRPr>
          </a:p>
          <a:p>
            <a:r>
              <a:rPr lang="zh-CN" altLang="en-US" b="0" i="0" dirty="0">
                <a:effectLst/>
                <a:latin typeface="Inter"/>
              </a:rPr>
              <a:t>若投资者使用杠杆（如融资炒股），当持仓亏损导致账户资金低于券商规定的 “维持担保比例” 时，券商会强制卖出投资者的持仓以收回资金，避免自身风险。</a:t>
            </a:r>
            <a:endParaRPr lang="zh-CN" altLang="en-US" dirty="0"/>
          </a:p>
        </p:txBody>
      </p:sp>
      <p:sp>
        <p:nvSpPr>
          <p:cNvPr id="4" name="灯片编号占位符 3"/>
          <p:cNvSpPr>
            <a:spLocks noGrp="1"/>
          </p:cNvSpPr>
          <p:nvPr>
            <p:ph type="sldNum" sz="quarter" idx="5"/>
          </p:nvPr>
        </p:nvSpPr>
        <p:spPr/>
        <p:txBody>
          <a:bodyPr/>
          <a:lstStyle/>
          <a:p>
            <a:pPr>
              <a:defRPr/>
            </a:pPr>
            <a:fld id="{186D5451-68D5-497D-A7F7-D91EC3C6E858}" type="slidenum">
              <a:rPr lang="en-US" altLang="zh-CN" smtClean="0"/>
              <a:t>45</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altLang="zh-CN"/>
          </a:p>
        </p:txBody>
      </p:sp>
      <p:sp>
        <p:nvSpPr>
          <p:cNvPr id="5" name="Footer Placeholder 4"/>
          <p:cNvSpPr>
            <a:spLocks noGrp="1"/>
          </p:cNvSpPr>
          <p:nvPr>
            <p:ph type="ftr" sz="quarter" idx="11"/>
          </p:nvPr>
        </p:nvSpPr>
        <p:spPr/>
        <p:txBody>
          <a:bodyPr/>
          <a:lstStyle>
            <a:lvl1pPr>
              <a:defRPr/>
            </a:lvl1pPr>
          </a:lstStyle>
          <a:p>
            <a:pPr>
              <a:defRPr/>
            </a:pPr>
            <a:endParaRPr lang="en-US" altLang="zh-CN"/>
          </a:p>
        </p:txBody>
      </p:sp>
      <p:sp>
        <p:nvSpPr>
          <p:cNvPr id="6" name="Slide Number Placeholder 5"/>
          <p:cNvSpPr>
            <a:spLocks noGrp="1"/>
          </p:cNvSpPr>
          <p:nvPr>
            <p:ph type="sldNum" sz="quarter" idx="12"/>
          </p:nvPr>
        </p:nvSpPr>
        <p:spPr/>
        <p:txBody>
          <a:bodyPr rtlCol="0"/>
          <a:lstStyle>
            <a:lvl1pPr fontAlgn="auto">
              <a:spcBef>
                <a:spcPts val="0"/>
              </a:spcBef>
              <a:spcAft>
                <a:spcPts val="0"/>
              </a:spcAft>
              <a:defRPr>
                <a:solidFill>
                  <a:schemeClr val="tx1">
                    <a:tint val="75000"/>
                  </a:schemeClr>
                </a:solidFill>
                <a:latin typeface="+mn-lt"/>
                <a:ea typeface="+mn-ea"/>
              </a:defRPr>
            </a:lvl1pPr>
          </a:lstStyle>
          <a:p>
            <a:pPr>
              <a:defRPr/>
            </a:pPr>
            <a:fld id="{4FEBD9C8-5CA1-445C-8DBB-10163CCE8531}" type="slidenum">
              <a:rPr lang="en-US" altLang="zh-CN"/>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4" name="图片 6"/>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169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5" name="Date Placeholder 3"/>
          <p:cNvSpPr>
            <a:spLocks noGrp="1"/>
          </p:cNvSpPr>
          <p:nvPr>
            <p:ph type="dt" sz="half" idx="10"/>
          </p:nvPr>
        </p:nvSpPr>
        <p:spPr/>
        <p:txBody>
          <a:bodyPr/>
          <a:lstStyle>
            <a:lvl1pPr>
              <a:defRPr/>
            </a:lvl1pPr>
          </a:lstStyle>
          <a:p>
            <a:pPr>
              <a:defRPr/>
            </a:pPr>
            <a:endParaRPr lang="en-US" altLang="zh-CN"/>
          </a:p>
        </p:txBody>
      </p:sp>
      <p:sp>
        <p:nvSpPr>
          <p:cNvPr id="6" name="Slide Number Placeholder 5"/>
          <p:cNvSpPr>
            <a:spLocks noGrp="1"/>
          </p:cNvSpPr>
          <p:nvPr>
            <p:ph type="sldNum" sz="quarter" idx="11"/>
          </p:nvPr>
        </p:nvSpPr>
        <p:spPr/>
        <p:txBody>
          <a:bodyPr/>
          <a:lstStyle>
            <a:lvl1pPr>
              <a:defRPr/>
            </a:lvl1pPr>
          </a:lstStyle>
          <a:p>
            <a:pPr>
              <a:defRPr/>
            </a:pPr>
            <a:fld id="{746D49DA-7B95-4F55-817D-C8A8D2499F94}" type="slidenum">
              <a:rPr lang="en-US" altLang="zh-CN"/>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a:defRPr/>
            </a:lvl1pPr>
          </a:lstStyle>
          <a:p>
            <a:pPr>
              <a:defRPr/>
            </a:pPr>
            <a:endParaRPr lang="en-US" altLang="zh-CN"/>
          </a:p>
        </p:txBody>
      </p:sp>
      <p:sp>
        <p:nvSpPr>
          <p:cNvPr id="5" name="Footer Placeholder 4"/>
          <p:cNvSpPr>
            <a:spLocks noGrp="1"/>
          </p:cNvSpPr>
          <p:nvPr>
            <p:ph type="ftr" sz="quarter" idx="11"/>
          </p:nvPr>
        </p:nvSpPr>
        <p:spPr/>
        <p:txBody>
          <a:bodyPr/>
          <a:lstStyle>
            <a:lvl1pPr>
              <a:defRPr/>
            </a:lvl1pPr>
          </a:lstStyle>
          <a:p>
            <a:pPr>
              <a:defRPr/>
            </a:pPr>
            <a:endParaRPr lang="en-US" altLang="zh-CN"/>
          </a:p>
        </p:txBody>
      </p:sp>
      <p:sp>
        <p:nvSpPr>
          <p:cNvPr id="6" name="Slide Number Placeholder 5"/>
          <p:cNvSpPr>
            <a:spLocks noGrp="1"/>
          </p:cNvSpPr>
          <p:nvPr>
            <p:ph type="sldNum" sz="quarter" idx="12"/>
          </p:nvPr>
        </p:nvSpPr>
        <p:spPr/>
        <p:txBody>
          <a:bodyPr/>
          <a:lstStyle>
            <a:lvl1pPr>
              <a:defRPr/>
            </a:lvl1pPr>
          </a:lstStyle>
          <a:p>
            <a:pPr>
              <a:defRPr/>
            </a:pPr>
            <a:fld id="{DD194B4B-7ECB-4610-8D37-DFE57AF18479}" type="slidenum">
              <a:rPr lang="en-US" altLang="zh-CN"/>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3"/>
          <p:cNvSpPr>
            <a:spLocks noGrp="1"/>
          </p:cNvSpPr>
          <p:nvPr>
            <p:ph type="dt" sz="half" idx="10"/>
          </p:nvPr>
        </p:nvSpPr>
        <p:spPr/>
        <p:txBody>
          <a:bodyPr/>
          <a:lstStyle>
            <a:lvl1pPr>
              <a:defRPr/>
            </a:lvl1pPr>
          </a:lstStyle>
          <a:p>
            <a:pPr>
              <a:defRPr/>
            </a:pPr>
            <a:endParaRPr lang="en-US" altLang="zh-CN"/>
          </a:p>
        </p:txBody>
      </p:sp>
      <p:sp>
        <p:nvSpPr>
          <p:cNvPr id="6" name="Footer Placeholder 4"/>
          <p:cNvSpPr>
            <a:spLocks noGrp="1"/>
          </p:cNvSpPr>
          <p:nvPr>
            <p:ph type="ftr" sz="quarter" idx="11"/>
          </p:nvPr>
        </p:nvSpPr>
        <p:spPr/>
        <p:txBody>
          <a:bodyPr/>
          <a:lstStyle>
            <a:lvl1pPr>
              <a:defRPr/>
            </a:lvl1pPr>
          </a:lstStyle>
          <a:p>
            <a:pPr>
              <a:defRPr/>
            </a:pPr>
            <a:endParaRPr lang="en-US" altLang="zh-CN"/>
          </a:p>
        </p:txBody>
      </p:sp>
      <p:sp>
        <p:nvSpPr>
          <p:cNvPr id="7" name="Slide Number Placeholder 5"/>
          <p:cNvSpPr>
            <a:spLocks noGrp="1"/>
          </p:cNvSpPr>
          <p:nvPr>
            <p:ph type="sldNum" sz="quarter" idx="12"/>
          </p:nvPr>
        </p:nvSpPr>
        <p:spPr/>
        <p:txBody>
          <a:bodyPr/>
          <a:lstStyle>
            <a:lvl1pPr>
              <a:defRPr/>
            </a:lvl1pPr>
          </a:lstStyle>
          <a:p>
            <a:pPr>
              <a:defRPr/>
            </a:pPr>
            <a:fld id="{07E1362F-93C9-4B4A-834E-D92522DFD107}" type="slidenum">
              <a:rPr lang="en-US" altLang="zh-CN"/>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3"/>
          <p:cNvSpPr>
            <a:spLocks noGrp="1"/>
          </p:cNvSpPr>
          <p:nvPr>
            <p:ph type="dt" sz="half" idx="10"/>
          </p:nvPr>
        </p:nvSpPr>
        <p:spPr/>
        <p:txBody>
          <a:bodyPr/>
          <a:lstStyle>
            <a:lvl1pPr>
              <a:defRPr/>
            </a:lvl1pPr>
          </a:lstStyle>
          <a:p>
            <a:pPr>
              <a:defRPr/>
            </a:pPr>
            <a:endParaRPr lang="en-US" altLang="zh-CN"/>
          </a:p>
        </p:txBody>
      </p:sp>
      <p:sp>
        <p:nvSpPr>
          <p:cNvPr id="8" name="Footer Placeholder 4"/>
          <p:cNvSpPr>
            <a:spLocks noGrp="1"/>
          </p:cNvSpPr>
          <p:nvPr>
            <p:ph type="ftr" sz="quarter" idx="11"/>
          </p:nvPr>
        </p:nvSpPr>
        <p:spPr/>
        <p:txBody>
          <a:bodyPr/>
          <a:lstStyle>
            <a:lvl1pPr>
              <a:defRPr/>
            </a:lvl1pPr>
          </a:lstStyle>
          <a:p>
            <a:pPr>
              <a:defRPr/>
            </a:pPr>
            <a:endParaRPr lang="en-US" altLang="zh-CN"/>
          </a:p>
        </p:txBody>
      </p:sp>
      <p:sp>
        <p:nvSpPr>
          <p:cNvPr id="9" name="Slide Number Placeholder 5"/>
          <p:cNvSpPr>
            <a:spLocks noGrp="1"/>
          </p:cNvSpPr>
          <p:nvPr>
            <p:ph type="sldNum" sz="quarter" idx="12"/>
          </p:nvPr>
        </p:nvSpPr>
        <p:spPr/>
        <p:txBody>
          <a:bodyPr/>
          <a:lstStyle>
            <a:lvl1pPr>
              <a:defRPr/>
            </a:lvl1pPr>
          </a:lstStyle>
          <a:p>
            <a:pPr>
              <a:defRPr/>
            </a:pPr>
            <a:fld id="{4F114BD9-1508-4470-8123-4A959AE6D616}" type="slidenum">
              <a:rPr lang="en-US" altLang="zh-CN"/>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3"/>
          <p:cNvSpPr>
            <a:spLocks noGrp="1"/>
          </p:cNvSpPr>
          <p:nvPr>
            <p:ph type="dt" sz="half" idx="10"/>
          </p:nvPr>
        </p:nvSpPr>
        <p:spPr/>
        <p:txBody>
          <a:bodyPr/>
          <a:lstStyle>
            <a:lvl1pPr>
              <a:defRPr/>
            </a:lvl1pPr>
          </a:lstStyle>
          <a:p>
            <a:pPr>
              <a:defRPr/>
            </a:pPr>
            <a:endParaRPr lang="en-US" altLang="zh-CN"/>
          </a:p>
        </p:txBody>
      </p:sp>
      <p:sp>
        <p:nvSpPr>
          <p:cNvPr id="4" name="Footer Placeholder 4"/>
          <p:cNvSpPr>
            <a:spLocks noGrp="1"/>
          </p:cNvSpPr>
          <p:nvPr>
            <p:ph type="ftr" sz="quarter" idx="11"/>
          </p:nvPr>
        </p:nvSpPr>
        <p:spPr/>
        <p:txBody>
          <a:bodyPr/>
          <a:lstStyle>
            <a:lvl1pPr>
              <a:defRPr/>
            </a:lvl1pPr>
          </a:lstStyle>
          <a:p>
            <a:pPr>
              <a:defRPr/>
            </a:pPr>
            <a:endParaRPr lang="en-US" altLang="zh-CN"/>
          </a:p>
        </p:txBody>
      </p:sp>
      <p:sp>
        <p:nvSpPr>
          <p:cNvPr id="5" name="Slide Number Placeholder 5"/>
          <p:cNvSpPr>
            <a:spLocks noGrp="1"/>
          </p:cNvSpPr>
          <p:nvPr>
            <p:ph type="sldNum" sz="quarter" idx="12"/>
          </p:nvPr>
        </p:nvSpPr>
        <p:spPr/>
        <p:txBody>
          <a:bodyPr/>
          <a:lstStyle>
            <a:lvl1pPr>
              <a:defRPr/>
            </a:lvl1pPr>
          </a:lstStyle>
          <a:p>
            <a:pPr>
              <a:defRPr/>
            </a:pPr>
            <a:fld id="{5DC496A6-CF77-4F91-8BEB-5774A526D952}" type="slidenum">
              <a:rPr lang="en-US" altLang="zh-CN"/>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ltLang="zh-CN"/>
          </a:p>
        </p:txBody>
      </p:sp>
      <p:sp>
        <p:nvSpPr>
          <p:cNvPr id="3" name="Footer Placeholder 4"/>
          <p:cNvSpPr>
            <a:spLocks noGrp="1"/>
          </p:cNvSpPr>
          <p:nvPr>
            <p:ph type="ftr" sz="quarter" idx="11"/>
          </p:nvPr>
        </p:nvSpPr>
        <p:spPr/>
        <p:txBody>
          <a:bodyPr/>
          <a:lstStyle>
            <a:lvl1pPr>
              <a:defRPr/>
            </a:lvl1pPr>
          </a:lstStyle>
          <a:p>
            <a:pPr>
              <a:defRPr/>
            </a:pPr>
            <a:endParaRPr lang="en-US" altLang="zh-CN"/>
          </a:p>
        </p:txBody>
      </p:sp>
      <p:sp>
        <p:nvSpPr>
          <p:cNvPr id="4" name="Slide Number Placeholder 5"/>
          <p:cNvSpPr>
            <a:spLocks noGrp="1"/>
          </p:cNvSpPr>
          <p:nvPr>
            <p:ph type="sldNum" sz="quarter" idx="12"/>
          </p:nvPr>
        </p:nvSpPr>
        <p:spPr/>
        <p:txBody>
          <a:bodyPr/>
          <a:lstStyle>
            <a:lvl1pPr>
              <a:defRPr/>
            </a:lvl1pPr>
          </a:lstStyle>
          <a:p>
            <a:pPr>
              <a:defRPr/>
            </a:pPr>
            <a:fld id="{96BB99FD-C1EA-4128-B629-E02E042DF945}" type="slidenum">
              <a:rPr lang="en-US" altLang="zh-CN"/>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3"/>
          <p:cNvSpPr>
            <a:spLocks noGrp="1"/>
          </p:cNvSpPr>
          <p:nvPr>
            <p:ph type="dt" sz="half" idx="10"/>
          </p:nvPr>
        </p:nvSpPr>
        <p:spPr/>
        <p:txBody>
          <a:bodyPr/>
          <a:lstStyle>
            <a:lvl1pPr>
              <a:defRPr/>
            </a:lvl1pPr>
          </a:lstStyle>
          <a:p>
            <a:pPr>
              <a:defRPr/>
            </a:pPr>
            <a:endParaRPr lang="en-US" altLang="zh-CN"/>
          </a:p>
        </p:txBody>
      </p:sp>
      <p:sp>
        <p:nvSpPr>
          <p:cNvPr id="6" name="Footer Placeholder 4"/>
          <p:cNvSpPr>
            <a:spLocks noGrp="1"/>
          </p:cNvSpPr>
          <p:nvPr>
            <p:ph type="ftr" sz="quarter" idx="11"/>
          </p:nvPr>
        </p:nvSpPr>
        <p:spPr/>
        <p:txBody>
          <a:bodyPr/>
          <a:lstStyle>
            <a:lvl1pPr>
              <a:defRPr/>
            </a:lvl1pPr>
          </a:lstStyle>
          <a:p>
            <a:pPr>
              <a:defRPr/>
            </a:pPr>
            <a:endParaRPr lang="en-US" altLang="zh-CN"/>
          </a:p>
        </p:txBody>
      </p:sp>
      <p:sp>
        <p:nvSpPr>
          <p:cNvPr id="7" name="Slide Number Placeholder 5"/>
          <p:cNvSpPr>
            <a:spLocks noGrp="1"/>
          </p:cNvSpPr>
          <p:nvPr>
            <p:ph type="sldNum" sz="quarter" idx="12"/>
          </p:nvPr>
        </p:nvSpPr>
        <p:spPr/>
        <p:txBody>
          <a:bodyPr/>
          <a:lstStyle>
            <a:lvl1pPr>
              <a:defRPr/>
            </a:lvl1pPr>
          </a:lstStyle>
          <a:p>
            <a:pPr>
              <a:defRPr/>
            </a:pPr>
            <a:fld id="{2A5C4D84-2CDA-4644-9B6C-F415231068DB}" type="slidenum">
              <a:rPr lang="en-US" altLang="zh-CN"/>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3"/>
          <p:cNvSpPr>
            <a:spLocks noGrp="1"/>
          </p:cNvSpPr>
          <p:nvPr>
            <p:ph type="dt" sz="half" idx="10"/>
          </p:nvPr>
        </p:nvSpPr>
        <p:spPr/>
        <p:txBody>
          <a:bodyPr/>
          <a:lstStyle>
            <a:lvl1pPr>
              <a:defRPr/>
            </a:lvl1pPr>
          </a:lstStyle>
          <a:p>
            <a:pPr>
              <a:defRPr/>
            </a:pPr>
            <a:endParaRPr lang="en-US" altLang="zh-CN"/>
          </a:p>
        </p:txBody>
      </p:sp>
      <p:sp>
        <p:nvSpPr>
          <p:cNvPr id="6" name="Footer Placeholder 4"/>
          <p:cNvSpPr>
            <a:spLocks noGrp="1"/>
          </p:cNvSpPr>
          <p:nvPr>
            <p:ph type="ftr" sz="quarter" idx="11"/>
          </p:nvPr>
        </p:nvSpPr>
        <p:spPr/>
        <p:txBody>
          <a:bodyPr/>
          <a:lstStyle>
            <a:lvl1pPr>
              <a:defRPr/>
            </a:lvl1pPr>
          </a:lstStyle>
          <a:p>
            <a:pPr>
              <a:defRPr/>
            </a:pPr>
            <a:endParaRPr lang="en-US" altLang="zh-CN"/>
          </a:p>
        </p:txBody>
      </p:sp>
      <p:sp>
        <p:nvSpPr>
          <p:cNvPr id="7" name="Slide Number Placeholder 5"/>
          <p:cNvSpPr>
            <a:spLocks noGrp="1"/>
          </p:cNvSpPr>
          <p:nvPr>
            <p:ph type="sldNum" sz="quarter" idx="12"/>
          </p:nvPr>
        </p:nvSpPr>
        <p:spPr/>
        <p:txBody>
          <a:bodyPr/>
          <a:lstStyle>
            <a:lvl1pPr>
              <a:defRPr/>
            </a:lvl1pPr>
          </a:lstStyle>
          <a:p>
            <a:pPr>
              <a:defRPr/>
            </a:pPr>
            <a:fld id="{58C15203-6FF5-4D39-AE2F-83158C164A4D}" type="slidenum">
              <a:rPr lang="en-US" altLang="zh-CN"/>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altLang="zh-CN"/>
          </a:p>
        </p:txBody>
      </p:sp>
      <p:sp>
        <p:nvSpPr>
          <p:cNvPr id="5" name="Footer Placeholder 4"/>
          <p:cNvSpPr>
            <a:spLocks noGrp="1"/>
          </p:cNvSpPr>
          <p:nvPr>
            <p:ph type="ftr" sz="quarter" idx="11"/>
          </p:nvPr>
        </p:nvSpPr>
        <p:spPr/>
        <p:txBody>
          <a:bodyPr/>
          <a:lstStyle>
            <a:lvl1pPr>
              <a:defRPr/>
            </a:lvl1pPr>
          </a:lstStyle>
          <a:p>
            <a:pPr>
              <a:defRPr/>
            </a:pPr>
            <a:endParaRPr lang="en-US" altLang="zh-CN"/>
          </a:p>
        </p:txBody>
      </p:sp>
      <p:sp>
        <p:nvSpPr>
          <p:cNvPr id="6" name="Slide Number Placeholder 5"/>
          <p:cNvSpPr>
            <a:spLocks noGrp="1"/>
          </p:cNvSpPr>
          <p:nvPr>
            <p:ph type="sldNum" sz="quarter" idx="12"/>
          </p:nvPr>
        </p:nvSpPr>
        <p:spPr/>
        <p:txBody>
          <a:bodyPr/>
          <a:lstStyle>
            <a:lvl1pPr>
              <a:defRPr/>
            </a:lvl1pPr>
          </a:lstStyle>
          <a:p>
            <a:pPr>
              <a:defRPr/>
            </a:pPr>
            <a:fld id="{F88A04A4-11DC-43B1-A7FD-7D4EF848BD68}" type="slidenum">
              <a:rPr lang="en-US" altLang="zh-CN"/>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altLang="zh-CN"/>
          </a:p>
        </p:txBody>
      </p:sp>
      <p:sp>
        <p:nvSpPr>
          <p:cNvPr id="5" name="Footer Placeholder 4"/>
          <p:cNvSpPr>
            <a:spLocks noGrp="1"/>
          </p:cNvSpPr>
          <p:nvPr>
            <p:ph type="ftr" sz="quarter" idx="11"/>
          </p:nvPr>
        </p:nvSpPr>
        <p:spPr/>
        <p:txBody>
          <a:bodyPr/>
          <a:lstStyle>
            <a:lvl1pPr>
              <a:defRPr/>
            </a:lvl1pPr>
          </a:lstStyle>
          <a:p>
            <a:pPr>
              <a:defRPr/>
            </a:pPr>
            <a:endParaRPr lang="en-US" altLang="zh-CN"/>
          </a:p>
        </p:txBody>
      </p:sp>
      <p:sp>
        <p:nvSpPr>
          <p:cNvPr id="6" name="Slide Number Placeholder 5"/>
          <p:cNvSpPr>
            <a:spLocks noGrp="1"/>
          </p:cNvSpPr>
          <p:nvPr>
            <p:ph type="sldNum" sz="quarter" idx="12"/>
          </p:nvPr>
        </p:nvSpPr>
        <p:spPr/>
        <p:txBody>
          <a:bodyPr/>
          <a:lstStyle>
            <a:lvl1pPr>
              <a:defRPr/>
            </a:lvl1pPr>
          </a:lstStyle>
          <a:p>
            <a:pPr>
              <a:defRPr/>
            </a:pPr>
            <a:fld id="{95782C47-0C89-456D-A819-9BE522D9EE1A}" type="slidenum">
              <a:rPr lang="en-US" altLang="zh-CN"/>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8" y="617538"/>
            <a:ext cx="7793037"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1182688" y="2017713"/>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145088" y="2017713"/>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1"/>
          <p:cNvSpPr>
            <a:spLocks noGrp="1" noChangeArrowheads="1"/>
          </p:cNvSpPr>
          <p:nvPr>
            <p:ph type="dt" sz="half" idx="10"/>
          </p:nvPr>
        </p:nvSpPr>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noChangeArrowheads="1"/>
          </p:cNvSpPr>
          <p:nvPr>
            <p:ph type="title"/>
          </p:nvPr>
        </p:nvSpPr>
        <p:spPr bwMode="auto">
          <a:xfrm>
            <a:off x="628650"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1027" name="Text Placeholder 2"/>
          <p:cNvSpPr>
            <a:spLocks noGrp="1" noChangeArrowheads="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endParaRPr lang="en-US" altLang="zh-CN"/>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en-US" altLang="zh-CN"/>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lstStyle>
            <a:lvl1pPr algn="r" eaLnBrk="1" hangingPunct="1">
              <a:defRPr sz="1200">
                <a:solidFill>
                  <a:srgbClr val="898989"/>
                </a:solidFill>
                <a:ea typeface="宋体" panose="02010600030101010101" pitchFamily="2" charset="-122"/>
              </a:defRPr>
            </a:lvl1pPr>
          </a:lstStyle>
          <a:p>
            <a:pPr>
              <a:defRPr/>
            </a:pPr>
            <a:fld id="{1EE33A38-6B18-455C-B584-D32F5630E610}" type="slidenum">
              <a:rPr lang="en-US" altLang="zh-CN"/>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image" Target="../media/image3.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notesSlide" Target="../notesSlides/notesSlide2.xml"/><Relationship Id="rId5" Type="http://schemas.openxmlformats.org/officeDocument/2006/relationships/tags" Target="../tags/tag5.xml"/><Relationship Id="rId10" Type="http://schemas.openxmlformats.org/officeDocument/2006/relationships/slideLayout" Target="../slideLayouts/slideLayout7.xml"/><Relationship Id="rId4" Type="http://schemas.openxmlformats.org/officeDocument/2006/relationships/tags" Target="../tags/tag4.xml"/><Relationship Id="rId9" Type="http://schemas.openxmlformats.org/officeDocument/2006/relationships/tags" Target="../tags/tag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tags" Target="../tags/tag17.xml"/><Relationship Id="rId3" Type="http://schemas.openxmlformats.org/officeDocument/2006/relationships/tags" Target="../tags/tag12.xml"/><Relationship Id="rId7" Type="http://schemas.openxmlformats.org/officeDocument/2006/relationships/tags" Target="../tags/tag16.xml"/><Relationship Id="rId12" Type="http://schemas.openxmlformats.org/officeDocument/2006/relationships/image" Target="../media/image3.pn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tags" Target="../tags/tag15.xml"/><Relationship Id="rId11" Type="http://schemas.openxmlformats.org/officeDocument/2006/relationships/notesSlide" Target="../notesSlides/notesSlide4.xml"/><Relationship Id="rId5" Type="http://schemas.openxmlformats.org/officeDocument/2006/relationships/tags" Target="../tags/tag14.xml"/><Relationship Id="rId10" Type="http://schemas.openxmlformats.org/officeDocument/2006/relationships/slideLayout" Target="../slideLayouts/slideLayout7.xml"/><Relationship Id="rId4" Type="http://schemas.openxmlformats.org/officeDocument/2006/relationships/tags" Target="../tags/tag13.xml"/><Relationship Id="rId9" Type="http://schemas.openxmlformats.org/officeDocument/2006/relationships/tags" Target="../tags/tag1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bg>
      <p:bgPr>
        <a:solidFill>
          <a:srgbClr val="FFFFFF"/>
        </a:solidFill>
        <a:effectLst/>
      </p:bgPr>
    </p:bg>
    <p:spTree>
      <p:nvGrpSpPr>
        <p:cNvPr id="1" name=""/>
        <p:cNvGrpSpPr/>
        <p:nvPr/>
      </p:nvGrpSpPr>
      <p:grpSpPr>
        <a:xfrm>
          <a:off x="0" y="0"/>
          <a:ext cx="0" cy="0"/>
          <a:chOff x="0" y="0"/>
          <a:chExt cx="0" cy="0"/>
        </a:xfrm>
      </p:grpSpPr>
      <p:pic>
        <p:nvPicPr>
          <p:cNvPr id="7170" name="图片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169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1" name="Rectangle 3"/>
          <p:cNvSpPr>
            <a:spLocks noChangeArrowheads="1"/>
          </p:cNvSpPr>
          <p:nvPr/>
        </p:nvSpPr>
        <p:spPr bwMode="auto">
          <a:xfrm>
            <a:off x="755650" y="341313"/>
            <a:ext cx="7924800" cy="271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kumimoji="1" lang="zh-CN" altLang="en-US" sz="4800" b="1">
                <a:latin typeface="Arial Black" panose="020B0A04020102020204" pitchFamily="34" charset="0"/>
                <a:ea typeface="隶书" panose="02010509060101010101" pitchFamily="49" charset="-122"/>
              </a:rPr>
              <a:t>数据库系统概论</a:t>
            </a:r>
            <a:endParaRPr kumimoji="1" lang="zh-CN" altLang="en-US" sz="4800" b="1">
              <a:latin typeface="宋体" panose="02010600030101010101" pitchFamily="2" charset="-122"/>
              <a:ea typeface="宋体" panose="02010600030101010101" pitchFamily="2" charset="-122"/>
            </a:endParaRPr>
          </a:p>
          <a:p>
            <a:pPr algn="ctr" eaLnBrk="1" hangingPunct="1">
              <a:lnSpc>
                <a:spcPct val="100000"/>
              </a:lnSpc>
              <a:spcBef>
                <a:spcPct val="0"/>
              </a:spcBef>
              <a:buFontTx/>
              <a:buNone/>
            </a:pPr>
            <a:r>
              <a:rPr kumimoji="1" lang="en-US" altLang="zh-CN" sz="3600" b="1">
                <a:latin typeface="Times New Roman" panose="02020603050405020304" pitchFamily="18" charset="0"/>
                <a:ea typeface="宋体" panose="02010600030101010101" pitchFamily="2" charset="-122"/>
              </a:rPr>
              <a:t>An Introduction to Database System</a:t>
            </a:r>
          </a:p>
          <a:p>
            <a:pPr algn="ctr" eaLnBrk="1" hangingPunct="1">
              <a:lnSpc>
                <a:spcPct val="100000"/>
              </a:lnSpc>
              <a:spcBef>
                <a:spcPct val="0"/>
              </a:spcBef>
              <a:buFontTx/>
              <a:buNone/>
            </a:pPr>
            <a:endParaRPr kumimoji="1" lang="en-US" altLang="zh-CN" sz="4400" b="1">
              <a:latin typeface="楷体_GB2312" pitchFamily="49" charset="-122"/>
              <a:ea typeface="楷体_GB2312" pitchFamily="49" charset="-122"/>
            </a:endParaRPr>
          </a:p>
          <a:p>
            <a:pPr algn="ctr" eaLnBrk="1" hangingPunct="1">
              <a:lnSpc>
                <a:spcPct val="100000"/>
              </a:lnSpc>
              <a:spcBef>
                <a:spcPct val="0"/>
              </a:spcBef>
              <a:buFontTx/>
              <a:buNone/>
            </a:pPr>
            <a:r>
              <a:rPr kumimoji="1" lang="zh-CN" altLang="en-US" sz="4400" b="1">
                <a:solidFill>
                  <a:srgbClr val="183CAE"/>
                </a:solidFill>
                <a:latin typeface="楷体_GB2312" pitchFamily="49" charset="-122"/>
                <a:ea typeface="楷体_GB2312" pitchFamily="49" charset="-122"/>
              </a:rPr>
              <a:t>第五章  数据库完整性</a:t>
            </a:r>
          </a:p>
        </p:txBody>
      </p:sp>
      <p:pic>
        <p:nvPicPr>
          <p:cNvPr id="7172" name="图片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1475" y="3917950"/>
            <a:ext cx="8401050" cy="174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wipe dir="r"/>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9218" name="图片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560" y="-36195"/>
            <a:ext cx="9144000" cy="169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9" name="Rectangle 2"/>
          <p:cNvSpPr>
            <a:spLocks noGrp="1" noChangeArrowheads="1"/>
          </p:cNvSpPr>
          <p:nvPr>
            <p:ph type="title"/>
          </p:nvPr>
        </p:nvSpPr>
        <p:spPr>
          <a:xfrm>
            <a:off x="1187450" y="260648"/>
            <a:ext cx="7793038" cy="1143000"/>
          </a:xfrm>
        </p:spPr>
        <p:txBody>
          <a:bodyPr/>
          <a:lstStyle/>
          <a:p>
            <a:pPr eaLnBrk="1" hangingPunct="1"/>
            <a:r>
              <a:rPr lang="zh-CN" altLang="en-US" sz="3600" dirty="0">
                <a:ea typeface="宋体" panose="02010600030101010101" pitchFamily="2" charset="-122"/>
              </a:rPr>
              <a:t>数据库完整性</a:t>
            </a:r>
          </a:p>
        </p:txBody>
      </p:sp>
      <p:sp>
        <p:nvSpPr>
          <p:cNvPr id="4100" name="Rectangle 3"/>
          <p:cNvSpPr>
            <a:spLocks noGrp="1" noChangeArrowheads="1"/>
          </p:cNvSpPr>
          <p:nvPr>
            <p:ph idx="1"/>
          </p:nvPr>
        </p:nvSpPr>
        <p:spPr>
          <a:xfrm>
            <a:off x="611188" y="1336675"/>
            <a:ext cx="8075612" cy="5013325"/>
          </a:xfrm>
        </p:spPr>
        <p:txBody>
          <a:bodyPr/>
          <a:lstStyle/>
          <a:p>
            <a:pPr eaLnBrk="1" hangingPunct="1">
              <a:lnSpc>
                <a:spcPct val="105000"/>
              </a:lnSpc>
            </a:pPr>
            <a:r>
              <a:rPr lang="zh-CN" altLang="en-US" sz="2400" b="1"/>
              <a:t>数据库的完整性</a:t>
            </a:r>
          </a:p>
          <a:p>
            <a:pPr lvl="1" eaLnBrk="1" hangingPunct="1">
              <a:lnSpc>
                <a:spcPct val="105000"/>
              </a:lnSpc>
            </a:pPr>
            <a:r>
              <a:rPr lang="zh-CN" altLang="en-US" b="1"/>
              <a:t>数据的</a:t>
            </a:r>
            <a:r>
              <a:rPr lang="zh-CN" altLang="en-US" b="1">
                <a:solidFill>
                  <a:srgbClr val="FF66FF"/>
                </a:solidFill>
              </a:rPr>
              <a:t>正确性</a:t>
            </a:r>
            <a:r>
              <a:rPr lang="zh-CN" altLang="en-US" b="1"/>
              <a:t>和</a:t>
            </a:r>
            <a:r>
              <a:rPr lang="zh-CN" altLang="en-US" b="1">
                <a:solidFill>
                  <a:srgbClr val="FF66FF"/>
                </a:solidFill>
              </a:rPr>
              <a:t>相容性</a:t>
            </a:r>
          </a:p>
          <a:p>
            <a:pPr lvl="1" eaLnBrk="1" hangingPunct="1">
              <a:lnSpc>
                <a:spcPct val="105000"/>
              </a:lnSpc>
            </a:pPr>
            <a:endParaRPr lang="zh-CN" altLang="en-US" b="1">
              <a:solidFill>
                <a:srgbClr val="FF66FF"/>
              </a:solidFill>
            </a:endParaRPr>
          </a:p>
          <a:p>
            <a:pPr eaLnBrk="1" hangingPunct="1">
              <a:lnSpc>
                <a:spcPct val="105000"/>
              </a:lnSpc>
            </a:pPr>
            <a:r>
              <a:rPr lang="zh-CN" altLang="en-US" sz="2400" b="1"/>
              <a:t>数据的完整性和安全性是两个不同概念</a:t>
            </a:r>
          </a:p>
          <a:p>
            <a:pPr lvl="1" eaLnBrk="1" hangingPunct="1">
              <a:lnSpc>
                <a:spcPct val="105000"/>
              </a:lnSpc>
            </a:pPr>
            <a:r>
              <a:rPr lang="zh-CN" altLang="en-US"/>
              <a:t>数据的完整性                                                                                                        </a:t>
            </a:r>
          </a:p>
          <a:p>
            <a:pPr lvl="2" eaLnBrk="1" hangingPunct="1">
              <a:lnSpc>
                <a:spcPct val="105000"/>
              </a:lnSpc>
              <a:buFont typeface="Wingdings" panose="05000000000000000000" pitchFamily="2" charset="2"/>
              <a:buChar char="Ø"/>
            </a:pPr>
            <a:r>
              <a:rPr lang="zh-CN" altLang="en-US"/>
              <a:t>防止数据库中存在不符合语义的数据，也就是防止数据库中存在不正确的数据</a:t>
            </a:r>
          </a:p>
          <a:p>
            <a:pPr lvl="2" eaLnBrk="1" hangingPunct="1">
              <a:lnSpc>
                <a:spcPct val="105000"/>
              </a:lnSpc>
              <a:buFont typeface="Wingdings" panose="05000000000000000000" pitchFamily="2" charset="2"/>
              <a:buChar char="Ø"/>
            </a:pPr>
            <a:r>
              <a:rPr lang="zh-CN" altLang="en-US"/>
              <a:t>防范对象：不合语义的、不正确的数据</a:t>
            </a:r>
          </a:p>
          <a:p>
            <a:pPr lvl="1" eaLnBrk="1" hangingPunct="1">
              <a:lnSpc>
                <a:spcPct val="105000"/>
              </a:lnSpc>
            </a:pPr>
            <a:r>
              <a:rPr lang="zh-CN" altLang="en-US"/>
              <a:t>数据的安全性</a:t>
            </a:r>
          </a:p>
          <a:p>
            <a:pPr lvl="2" eaLnBrk="1" hangingPunct="1">
              <a:lnSpc>
                <a:spcPct val="105000"/>
              </a:lnSpc>
              <a:buFont typeface="Wingdings" panose="05000000000000000000" pitchFamily="2" charset="2"/>
              <a:buChar char="Ø"/>
            </a:pPr>
            <a:r>
              <a:rPr lang="zh-CN" altLang="en-US"/>
              <a:t>保护数据库防止恶意的破坏和非法的存取</a:t>
            </a:r>
          </a:p>
          <a:p>
            <a:pPr lvl="2" eaLnBrk="1" hangingPunct="1">
              <a:lnSpc>
                <a:spcPct val="105000"/>
              </a:lnSpc>
              <a:buFont typeface="Wingdings" panose="05000000000000000000" pitchFamily="2" charset="2"/>
              <a:buChar char="Ø"/>
            </a:pPr>
            <a:r>
              <a:rPr lang="zh-CN" altLang="en-US"/>
              <a:t>防范对象：非法用户和非法操作</a:t>
            </a:r>
            <a:r>
              <a:rPr lang="zh-CN" altLang="en-US" b="1"/>
              <a:t>                                                   </a:t>
            </a:r>
            <a:endParaRPr lang="zh-CN" altLang="en-US" b="1">
              <a:solidFill>
                <a:srgbClr val="FF66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100">
                                            <p:txEl>
                                              <p:pRg st="3" end="3"/>
                                            </p:txEl>
                                          </p:spTgt>
                                        </p:tgtEl>
                                        <p:attrNameLst>
                                          <p:attrName>style.visibility</p:attrName>
                                        </p:attrNameLst>
                                      </p:cBhvr>
                                      <p:to>
                                        <p:strVal val="visible"/>
                                      </p:to>
                                    </p:set>
                                    <p:animEffect transition="in" filter="box(in)">
                                      <p:cBhvr>
                                        <p:cTn id="7" dur="500"/>
                                        <p:tgtEl>
                                          <p:spTgt spid="4100">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4100">
                                            <p:txEl>
                                              <p:pRg st="4" end="4"/>
                                            </p:txEl>
                                          </p:spTgt>
                                        </p:tgtEl>
                                        <p:attrNameLst>
                                          <p:attrName>style.visibility</p:attrName>
                                        </p:attrNameLst>
                                      </p:cBhvr>
                                      <p:to>
                                        <p:strVal val="visible"/>
                                      </p:to>
                                    </p:set>
                                    <p:animEffect transition="in" filter="box(in)">
                                      <p:cBhvr>
                                        <p:cTn id="12" dur="500"/>
                                        <p:tgtEl>
                                          <p:spTgt spid="4100">
                                            <p:txEl>
                                              <p:pRg st="4" end="4"/>
                                            </p:txEl>
                                          </p:spTgt>
                                        </p:tgtEl>
                                      </p:cBhvr>
                                    </p:animEffect>
                                  </p:childTnLst>
                                </p:cTn>
                              </p:par>
                              <p:par>
                                <p:cTn id="13" presetID="4" presetClass="entr" presetSubtype="16" fill="hold" nodeType="withEffect">
                                  <p:stCondLst>
                                    <p:cond delay="0"/>
                                  </p:stCondLst>
                                  <p:childTnLst>
                                    <p:set>
                                      <p:cBhvr>
                                        <p:cTn id="14" dur="1" fill="hold">
                                          <p:stCondLst>
                                            <p:cond delay="0"/>
                                          </p:stCondLst>
                                        </p:cTn>
                                        <p:tgtEl>
                                          <p:spTgt spid="4100">
                                            <p:txEl>
                                              <p:pRg st="5" end="5"/>
                                            </p:txEl>
                                          </p:spTgt>
                                        </p:tgtEl>
                                        <p:attrNameLst>
                                          <p:attrName>style.visibility</p:attrName>
                                        </p:attrNameLst>
                                      </p:cBhvr>
                                      <p:to>
                                        <p:strVal val="visible"/>
                                      </p:to>
                                    </p:set>
                                    <p:animEffect transition="in" filter="box(in)">
                                      <p:cBhvr>
                                        <p:cTn id="15" dur="500"/>
                                        <p:tgtEl>
                                          <p:spTgt spid="4100">
                                            <p:txEl>
                                              <p:pRg st="5" end="5"/>
                                            </p:txEl>
                                          </p:spTgt>
                                        </p:tgtEl>
                                      </p:cBhvr>
                                    </p:animEffect>
                                  </p:childTnLst>
                                </p:cTn>
                              </p:par>
                              <p:par>
                                <p:cTn id="16" presetID="4" presetClass="entr" presetSubtype="16" fill="hold" nodeType="withEffect">
                                  <p:stCondLst>
                                    <p:cond delay="0"/>
                                  </p:stCondLst>
                                  <p:childTnLst>
                                    <p:set>
                                      <p:cBhvr>
                                        <p:cTn id="17" dur="1" fill="hold">
                                          <p:stCondLst>
                                            <p:cond delay="0"/>
                                          </p:stCondLst>
                                        </p:cTn>
                                        <p:tgtEl>
                                          <p:spTgt spid="4100">
                                            <p:txEl>
                                              <p:pRg st="6" end="6"/>
                                            </p:txEl>
                                          </p:spTgt>
                                        </p:tgtEl>
                                        <p:attrNameLst>
                                          <p:attrName>style.visibility</p:attrName>
                                        </p:attrNameLst>
                                      </p:cBhvr>
                                      <p:to>
                                        <p:strVal val="visible"/>
                                      </p:to>
                                    </p:set>
                                    <p:animEffect transition="in" filter="box(in)">
                                      <p:cBhvr>
                                        <p:cTn id="18" dur="500"/>
                                        <p:tgtEl>
                                          <p:spTgt spid="4100">
                                            <p:txEl>
                                              <p:pRg st="6" end="6"/>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nodeType="clickEffect">
                                  <p:stCondLst>
                                    <p:cond delay="0"/>
                                  </p:stCondLst>
                                  <p:childTnLst>
                                    <p:set>
                                      <p:cBhvr>
                                        <p:cTn id="22" dur="1" fill="hold">
                                          <p:stCondLst>
                                            <p:cond delay="0"/>
                                          </p:stCondLst>
                                        </p:cTn>
                                        <p:tgtEl>
                                          <p:spTgt spid="4100">
                                            <p:txEl>
                                              <p:pRg st="7" end="7"/>
                                            </p:txEl>
                                          </p:spTgt>
                                        </p:tgtEl>
                                        <p:attrNameLst>
                                          <p:attrName>style.visibility</p:attrName>
                                        </p:attrNameLst>
                                      </p:cBhvr>
                                      <p:to>
                                        <p:strVal val="visible"/>
                                      </p:to>
                                    </p:set>
                                    <p:animEffect transition="in" filter="box(in)">
                                      <p:cBhvr>
                                        <p:cTn id="23" dur="500"/>
                                        <p:tgtEl>
                                          <p:spTgt spid="4100">
                                            <p:txEl>
                                              <p:pRg st="7" end="7"/>
                                            </p:txEl>
                                          </p:spTgt>
                                        </p:tgtEl>
                                      </p:cBhvr>
                                    </p:animEffect>
                                  </p:childTnLst>
                                </p:cTn>
                              </p:par>
                              <p:par>
                                <p:cTn id="24" presetID="4" presetClass="entr" presetSubtype="16" fill="hold" nodeType="withEffect">
                                  <p:stCondLst>
                                    <p:cond delay="0"/>
                                  </p:stCondLst>
                                  <p:childTnLst>
                                    <p:set>
                                      <p:cBhvr>
                                        <p:cTn id="25" dur="1" fill="hold">
                                          <p:stCondLst>
                                            <p:cond delay="0"/>
                                          </p:stCondLst>
                                        </p:cTn>
                                        <p:tgtEl>
                                          <p:spTgt spid="4100">
                                            <p:txEl>
                                              <p:pRg st="8" end="8"/>
                                            </p:txEl>
                                          </p:spTgt>
                                        </p:tgtEl>
                                        <p:attrNameLst>
                                          <p:attrName>style.visibility</p:attrName>
                                        </p:attrNameLst>
                                      </p:cBhvr>
                                      <p:to>
                                        <p:strVal val="visible"/>
                                      </p:to>
                                    </p:set>
                                    <p:animEffect transition="in" filter="box(in)">
                                      <p:cBhvr>
                                        <p:cTn id="26" dur="500"/>
                                        <p:tgtEl>
                                          <p:spTgt spid="4100">
                                            <p:txEl>
                                              <p:pRg st="8" end="8"/>
                                            </p:txEl>
                                          </p:spTgt>
                                        </p:tgtEl>
                                      </p:cBhvr>
                                    </p:animEffect>
                                  </p:childTnLst>
                                </p:cTn>
                              </p:par>
                              <p:par>
                                <p:cTn id="27" presetID="4" presetClass="entr" presetSubtype="16" fill="hold" nodeType="withEffect">
                                  <p:stCondLst>
                                    <p:cond delay="0"/>
                                  </p:stCondLst>
                                  <p:childTnLst>
                                    <p:set>
                                      <p:cBhvr>
                                        <p:cTn id="28" dur="1" fill="hold">
                                          <p:stCondLst>
                                            <p:cond delay="0"/>
                                          </p:stCondLst>
                                        </p:cTn>
                                        <p:tgtEl>
                                          <p:spTgt spid="4100">
                                            <p:txEl>
                                              <p:pRg st="9" end="9"/>
                                            </p:txEl>
                                          </p:spTgt>
                                        </p:tgtEl>
                                        <p:attrNameLst>
                                          <p:attrName>style.visibility</p:attrName>
                                        </p:attrNameLst>
                                      </p:cBhvr>
                                      <p:to>
                                        <p:strVal val="visible"/>
                                      </p:to>
                                    </p:set>
                                    <p:animEffect transition="in" filter="box(in)">
                                      <p:cBhvr>
                                        <p:cTn id="29" dur="500"/>
                                        <p:tgtEl>
                                          <p:spTgt spid="4100">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242"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96" y="-159"/>
            <a:ext cx="9144000" cy="169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3" name="Rectangle 2"/>
          <p:cNvSpPr>
            <a:spLocks noGrp="1" noChangeArrowheads="1"/>
          </p:cNvSpPr>
          <p:nvPr>
            <p:ph type="title"/>
          </p:nvPr>
        </p:nvSpPr>
        <p:spPr>
          <a:xfrm>
            <a:off x="1220386" y="188640"/>
            <a:ext cx="7886700" cy="1325562"/>
          </a:xfrm>
        </p:spPr>
        <p:txBody>
          <a:bodyPr/>
          <a:lstStyle/>
          <a:p>
            <a:pPr eaLnBrk="1" hangingPunct="1"/>
            <a:r>
              <a:rPr lang="zh-CN" altLang="en-US" sz="3600" dirty="0">
                <a:latin typeface="宋体" panose="02010600030101010101" pitchFamily="2" charset="-122"/>
                <a:ea typeface="宋体" panose="02010600030101010101" pitchFamily="2" charset="-122"/>
                <a:cs typeface="宋体" panose="02010600030101010101" pitchFamily="2" charset="-122"/>
              </a:rPr>
              <a:t>数据库完整性</a:t>
            </a:r>
            <a:r>
              <a:rPr lang="en-US" altLang="zh-CN" sz="3600" dirty="0">
                <a:latin typeface="宋体" panose="02010600030101010101" pitchFamily="2" charset="-122"/>
                <a:ea typeface="宋体" panose="02010600030101010101" pitchFamily="2" charset="-122"/>
                <a:cs typeface="宋体" panose="02010600030101010101" pitchFamily="2" charset="-122"/>
              </a:rPr>
              <a:t>(</a:t>
            </a:r>
            <a:r>
              <a:rPr lang="zh-CN" altLang="en-US" sz="3600" dirty="0">
                <a:latin typeface="宋体" panose="02010600030101010101" pitchFamily="2" charset="-122"/>
                <a:ea typeface="宋体" panose="02010600030101010101" pitchFamily="2" charset="-122"/>
                <a:cs typeface="宋体" panose="02010600030101010101" pitchFamily="2" charset="-122"/>
              </a:rPr>
              <a:t>续</a:t>
            </a:r>
            <a:r>
              <a:rPr lang="en-US" altLang="zh-CN" sz="3600" dirty="0">
                <a:latin typeface="宋体" panose="02010600030101010101" pitchFamily="2" charset="-122"/>
                <a:ea typeface="宋体" panose="02010600030101010101" pitchFamily="2" charset="-122"/>
                <a:cs typeface="宋体" panose="02010600030101010101" pitchFamily="2" charset="-122"/>
              </a:rPr>
              <a:t>)</a:t>
            </a:r>
          </a:p>
        </p:txBody>
      </p:sp>
      <p:sp>
        <p:nvSpPr>
          <p:cNvPr id="10244" name="Rectangle 3"/>
          <p:cNvSpPr>
            <a:spLocks noGrp="1" noChangeArrowheads="1"/>
          </p:cNvSpPr>
          <p:nvPr>
            <p:ph idx="1"/>
          </p:nvPr>
        </p:nvSpPr>
        <p:spPr>
          <a:xfrm>
            <a:off x="827088" y="1989138"/>
            <a:ext cx="7772400" cy="4114800"/>
          </a:xfrm>
        </p:spPr>
        <p:txBody>
          <a:bodyPr/>
          <a:lstStyle/>
          <a:p>
            <a:pPr eaLnBrk="1" hangingPunct="1">
              <a:buFont typeface="Wingdings" panose="05000000000000000000" pitchFamily="2" charset="2"/>
              <a:buNone/>
            </a:pPr>
            <a:r>
              <a:rPr lang="zh-CN" altLang="en-US"/>
              <a:t>为维护数据库的完整性，</a:t>
            </a:r>
            <a:r>
              <a:rPr lang="en-US" altLang="zh-CN"/>
              <a:t>DBMS</a:t>
            </a:r>
            <a:r>
              <a:rPr lang="zh-CN" altLang="en-US"/>
              <a:t>必须：</a:t>
            </a:r>
          </a:p>
          <a:p>
            <a:pPr lvl="1" eaLnBrk="1" hangingPunct="1">
              <a:lnSpc>
                <a:spcPct val="250000"/>
              </a:lnSpc>
            </a:pPr>
            <a:r>
              <a:rPr lang="en-US" altLang="zh-CN"/>
              <a:t>1.</a:t>
            </a:r>
            <a:r>
              <a:rPr lang="zh-CN" altLang="en-US"/>
              <a:t>提供定义完整性约束条件的机制</a:t>
            </a:r>
          </a:p>
          <a:p>
            <a:pPr lvl="1" eaLnBrk="1" hangingPunct="1">
              <a:lnSpc>
                <a:spcPct val="250000"/>
              </a:lnSpc>
            </a:pPr>
            <a:r>
              <a:rPr lang="en-US" altLang="zh-CN"/>
              <a:t>2.</a:t>
            </a:r>
            <a:r>
              <a:rPr lang="zh-CN" altLang="en-US"/>
              <a:t>提供完整性检查的方法</a:t>
            </a:r>
          </a:p>
          <a:p>
            <a:pPr lvl="1" eaLnBrk="1" hangingPunct="1">
              <a:lnSpc>
                <a:spcPct val="250000"/>
              </a:lnSpc>
            </a:pPr>
            <a:r>
              <a:rPr lang="en-US" altLang="zh-CN"/>
              <a:t>3.</a:t>
            </a:r>
            <a:r>
              <a:rPr lang="zh-CN" altLang="en-US"/>
              <a:t>违约处理</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1266"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169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7" name="Rectangle 2"/>
          <p:cNvSpPr>
            <a:spLocks noGrp="1" noChangeArrowheads="1"/>
          </p:cNvSpPr>
          <p:nvPr>
            <p:ph type="title"/>
          </p:nvPr>
        </p:nvSpPr>
        <p:spPr>
          <a:xfrm>
            <a:off x="1164908" y="188640"/>
            <a:ext cx="7886700" cy="1325563"/>
          </a:xfrm>
        </p:spPr>
        <p:txBody>
          <a:bodyPr/>
          <a:lstStyle/>
          <a:p>
            <a:pPr eaLnBrk="1" hangingPunct="1"/>
            <a:r>
              <a:rPr lang="zh-CN" altLang="en-US" sz="3600" dirty="0">
                <a:latin typeface="宋体" panose="02010600030101010101" pitchFamily="2" charset="-122"/>
                <a:ea typeface="宋体" panose="02010600030101010101" pitchFamily="2" charset="-122"/>
              </a:rPr>
              <a:t>完整性控制机制</a:t>
            </a:r>
          </a:p>
        </p:txBody>
      </p:sp>
      <p:sp>
        <p:nvSpPr>
          <p:cNvPr id="6148" name="Rectangle 3"/>
          <p:cNvSpPr>
            <a:spLocks noGrp="1" noChangeArrowheads="1"/>
          </p:cNvSpPr>
          <p:nvPr>
            <p:ph idx="1"/>
          </p:nvPr>
        </p:nvSpPr>
        <p:spPr>
          <a:xfrm>
            <a:off x="611188" y="1555750"/>
            <a:ext cx="7983537" cy="4941888"/>
          </a:xfrm>
        </p:spPr>
        <p:txBody>
          <a:bodyPr/>
          <a:lstStyle/>
          <a:p>
            <a:pPr marL="179705" lvl="1" indent="0" eaLnBrk="1" hangingPunct="1">
              <a:lnSpc>
                <a:spcPct val="150000"/>
              </a:lnSpc>
              <a:buFont typeface="Wingdings" panose="05000000000000000000" pitchFamily="2" charset="2"/>
              <a:buNone/>
            </a:pPr>
            <a:r>
              <a:rPr lang="en-US" altLang="zh-CN" dirty="0"/>
              <a:t>1.</a:t>
            </a:r>
            <a:r>
              <a:rPr lang="zh-CN" altLang="en-US" b="1" dirty="0"/>
              <a:t>完整性约束条件定义机制</a:t>
            </a:r>
          </a:p>
          <a:p>
            <a:pPr marL="179705" lvl="1" indent="0" eaLnBrk="1" hangingPunct="1">
              <a:lnSpc>
                <a:spcPct val="150000"/>
              </a:lnSpc>
              <a:buFont typeface="Wingdings" panose="05000000000000000000" pitchFamily="2" charset="2"/>
              <a:buNone/>
            </a:pPr>
            <a:r>
              <a:rPr lang="zh-CN" altLang="en-US" dirty="0"/>
              <a:t>	数据库完整性一般由</a:t>
            </a:r>
            <a:r>
              <a:rPr lang="en-US" altLang="zh-CN" dirty="0"/>
              <a:t>DDL</a:t>
            </a:r>
            <a:r>
              <a:rPr lang="zh-CN" altLang="en-US" dirty="0"/>
              <a:t>语句来实现，并把它们作为模式的一部分存入数据库中。</a:t>
            </a:r>
          </a:p>
          <a:p>
            <a:pPr marL="179705" lvl="1" indent="0" eaLnBrk="1" hangingPunct="1">
              <a:lnSpc>
                <a:spcPct val="150000"/>
              </a:lnSpc>
              <a:buFont typeface="Wingdings" panose="05000000000000000000" pitchFamily="2" charset="2"/>
              <a:buNone/>
            </a:pPr>
            <a:r>
              <a:rPr lang="en-US" altLang="zh-CN" dirty="0"/>
              <a:t>2.</a:t>
            </a:r>
            <a:r>
              <a:rPr lang="zh-CN" altLang="en-US" b="1" dirty="0"/>
              <a:t>完整性检查机制</a:t>
            </a:r>
          </a:p>
          <a:p>
            <a:pPr marL="179705" lvl="1" indent="0" eaLnBrk="1" hangingPunct="1">
              <a:lnSpc>
                <a:spcPct val="150000"/>
              </a:lnSpc>
              <a:buFont typeface="Wingdings" panose="05000000000000000000" pitchFamily="2" charset="2"/>
              <a:buNone/>
            </a:pPr>
            <a:r>
              <a:rPr lang="zh-CN" altLang="en-US" dirty="0"/>
              <a:t>	一般在</a:t>
            </a:r>
            <a:r>
              <a:rPr lang="en-US" altLang="zh-CN" dirty="0"/>
              <a:t>INSERT</a:t>
            </a:r>
            <a:r>
              <a:rPr lang="zh-CN" altLang="en-US" dirty="0"/>
              <a:t>、</a:t>
            </a:r>
            <a:r>
              <a:rPr lang="en-US" altLang="zh-CN" dirty="0"/>
              <a:t>UPDATE</a:t>
            </a:r>
            <a:r>
              <a:rPr lang="zh-CN" altLang="en-US" dirty="0"/>
              <a:t>、</a:t>
            </a:r>
            <a:r>
              <a:rPr lang="en-US" altLang="zh-CN" dirty="0"/>
              <a:t>DELETE</a:t>
            </a:r>
            <a:r>
              <a:rPr lang="zh-CN" altLang="en-US" dirty="0"/>
              <a:t>语句执行后开始检查，也可以在事务提交时检查。</a:t>
            </a:r>
          </a:p>
          <a:p>
            <a:pPr marL="179705" lvl="1" indent="0" eaLnBrk="1" hangingPunct="1">
              <a:buFont typeface="Wingdings" panose="05000000000000000000" pitchFamily="2" charset="2"/>
              <a:buNone/>
            </a:pPr>
            <a:r>
              <a:rPr lang="zh-CN" altLang="en-US" sz="1800" dirty="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6148">
                                            <p:txEl>
                                              <p:pRg st="2" end="2"/>
                                            </p:txEl>
                                          </p:spTgt>
                                        </p:tgtEl>
                                        <p:attrNameLst>
                                          <p:attrName>style.visibility</p:attrName>
                                        </p:attrNameLst>
                                      </p:cBhvr>
                                      <p:to>
                                        <p:strVal val="visible"/>
                                      </p:to>
                                    </p:set>
                                    <p:animEffect transition="in" filter="box(in)">
                                      <p:cBhvr>
                                        <p:cTn id="7" dur="500"/>
                                        <p:tgtEl>
                                          <p:spTgt spid="6148">
                                            <p:txEl>
                                              <p:pRg st="2" end="2"/>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6148">
                                            <p:txEl>
                                              <p:pRg st="3" end="3"/>
                                            </p:txEl>
                                          </p:spTgt>
                                        </p:tgtEl>
                                        <p:attrNameLst>
                                          <p:attrName>style.visibility</p:attrName>
                                        </p:attrNameLst>
                                      </p:cBhvr>
                                      <p:to>
                                        <p:strVal val="visible"/>
                                      </p:to>
                                    </p:set>
                                    <p:animEffect transition="in" filter="box(in)">
                                      <p:cBhvr>
                                        <p:cTn id="10" dur="500"/>
                                        <p:tgtEl>
                                          <p:spTgt spid="614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2290"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169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1" name="Rectangle 2"/>
          <p:cNvSpPr>
            <a:spLocks noGrp="1" noChangeArrowheads="1"/>
          </p:cNvSpPr>
          <p:nvPr>
            <p:ph type="title"/>
          </p:nvPr>
        </p:nvSpPr>
        <p:spPr>
          <a:xfrm>
            <a:off x="1185545" y="188640"/>
            <a:ext cx="7886700" cy="1325562"/>
          </a:xfrm>
        </p:spPr>
        <p:txBody>
          <a:bodyPr/>
          <a:lstStyle/>
          <a:p>
            <a:pPr eaLnBrk="1" hangingPunct="1"/>
            <a:r>
              <a:rPr lang="zh-CN" altLang="en-US" sz="3600" dirty="0">
                <a:latin typeface="宋体" panose="02010600030101010101" pitchFamily="2" charset="-122"/>
                <a:ea typeface="宋体" panose="02010600030101010101" pitchFamily="2" charset="-122"/>
              </a:rPr>
              <a:t>完整性控制机制</a:t>
            </a:r>
          </a:p>
        </p:txBody>
      </p:sp>
      <p:sp>
        <p:nvSpPr>
          <p:cNvPr id="12292" name="Rectangle 3"/>
          <p:cNvSpPr>
            <a:spLocks noGrp="1" noChangeArrowheads="1"/>
          </p:cNvSpPr>
          <p:nvPr>
            <p:ph idx="1"/>
          </p:nvPr>
        </p:nvSpPr>
        <p:spPr>
          <a:xfrm>
            <a:off x="755650" y="1541463"/>
            <a:ext cx="8064500" cy="4105275"/>
          </a:xfrm>
        </p:spPr>
        <p:txBody>
          <a:bodyPr/>
          <a:lstStyle/>
          <a:p>
            <a:pPr marL="179705" lvl="1" indent="0" eaLnBrk="1" hangingPunct="1">
              <a:lnSpc>
                <a:spcPct val="150000"/>
              </a:lnSpc>
              <a:buFont typeface="Wingdings" panose="05000000000000000000" pitchFamily="2" charset="2"/>
              <a:buNone/>
            </a:pPr>
            <a:r>
              <a:rPr lang="en-US" altLang="zh-CN" dirty="0"/>
              <a:t>3.</a:t>
            </a:r>
            <a:r>
              <a:rPr lang="zh-CN" altLang="en-US" b="1" dirty="0"/>
              <a:t>违约反应</a:t>
            </a:r>
          </a:p>
          <a:p>
            <a:pPr marL="179705" lvl="1" indent="0" eaLnBrk="1" hangingPunct="1">
              <a:lnSpc>
                <a:spcPct val="150000"/>
              </a:lnSpc>
              <a:buFont typeface="Wingdings" panose="05000000000000000000" pitchFamily="2" charset="2"/>
              <a:buNone/>
            </a:pPr>
            <a:r>
              <a:rPr lang="zh-CN" altLang="en-US" dirty="0"/>
              <a:t>如果发现用户的操作请求使数据违背了完整性约束条件，则采取一定的动作</a:t>
            </a:r>
            <a:r>
              <a:rPr lang="en-US" altLang="zh-CN" dirty="0"/>
              <a:t>:</a:t>
            </a:r>
          </a:p>
          <a:p>
            <a:pPr marL="579755" lvl="2" indent="0" eaLnBrk="1" hangingPunct="1">
              <a:lnSpc>
                <a:spcPct val="150000"/>
              </a:lnSpc>
              <a:buFont typeface="Wingdings" panose="05000000000000000000" pitchFamily="2" charset="2"/>
              <a:buNone/>
            </a:pPr>
            <a:r>
              <a:rPr lang="zh-CN" altLang="en-US" dirty="0"/>
              <a:t>拒绝</a:t>
            </a:r>
            <a:r>
              <a:rPr lang="en-US" altLang="zh-CN" dirty="0"/>
              <a:t>（NO ACTION）</a:t>
            </a:r>
            <a:r>
              <a:rPr lang="zh-CN" altLang="en-US" dirty="0"/>
              <a:t>执行该操作</a:t>
            </a:r>
            <a:endParaRPr lang="en-US" altLang="zh-CN" dirty="0"/>
          </a:p>
          <a:p>
            <a:pPr marL="579755" lvl="2" indent="0" eaLnBrk="1" hangingPunct="1">
              <a:lnSpc>
                <a:spcPct val="150000"/>
              </a:lnSpc>
              <a:buFont typeface="Wingdings" panose="05000000000000000000" pitchFamily="2" charset="2"/>
              <a:buNone/>
            </a:pPr>
            <a:r>
              <a:rPr lang="zh-CN" altLang="en-US" dirty="0"/>
              <a:t>级联</a:t>
            </a:r>
            <a:r>
              <a:rPr lang="en-US" altLang="zh-CN" dirty="0"/>
              <a:t>（CASCADE）</a:t>
            </a:r>
            <a:r>
              <a:rPr lang="zh-CN" altLang="en-US" dirty="0"/>
              <a:t>执行其他操作</a:t>
            </a:r>
            <a:endParaRPr lang="en-US" altLang="zh-CN" dirty="0"/>
          </a:p>
          <a:p>
            <a:pPr marL="179705" lvl="1" indent="0" eaLnBrk="1" hangingPunct="1">
              <a:buFont typeface="Wingdings" panose="05000000000000000000" pitchFamily="2" charset="2"/>
              <a:buNone/>
            </a:pPr>
            <a:r>
              <a:rPr lang="zh-CN" altLang="en-US" sz="1800" dirty="0"/>
              <a: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3314"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183"/>
            <a:ext cx="9144000" cy="169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5" name="标题 1"/>
          <p:cNvSpPr>
            <a:spLocks noGrp="1" noChangeArrowheads="1"/>
          </p:cNvSpPr>
          <p:nvPr>
            <p:ph type="title"/>
          </p:nvPr>
        </p:nvSpPr>
        <p:spPr>
          <a:xfrm>
            <a:off x="1214120" y="188640"/>
            <a:ext cx="7886700" cy="1325562"/>
          </a:xfrm>
        </p:spPr>
        <p:txBody>
          <a:bodyPr/>
          <a:lstStyle/>
          <a:p>
            <a:pPr eaLnBrk="1" hangingPunct="1"/>
            <a:r>
              <a:rPr lang="zh-CN" altLang="en-US" sz="3600" dirty="0">
                <a:latin typeface="宋体" panose="02010600030101010101" pitchFamily="2" charset="-122"/>
                <a:ea typeface="宋体" panose="02010600030101010101" pitchFamily="2" charset="-122"/>
              </a:rPr>
              <a:t>三类完整性约束</a:t>
            </a:r>
          </a:p>
        </p:txBody>
      </p:sp>
      <p:sp>
        <p:nvSpPr>
          <p:cNvPr id="13316" name="内容占位符 2"/>
          <p:cNvSpPr>
            <a:spLocks noGrp="1" noChangeArrowheads="1"/>
          </p:cNvSpPr>
          <p:nvPr>
            <p:ph idx="1"/>
          </p:nvPr>
        </p:nvSpPr>
        <p:spPr>
          <a:xfrm>
            <a:off x="827088" y="1730375"/>
            <a:ext cx="7772400" cy="4114800"/>
          </a:xfrm>
        </p:spPr>
        <p:txBody>
          <a:bodyPr/>
          <a:lstStyle/>
          <a:p>
            <a:pPr eaLnBrk="1" hangingPunct="1"/>
            <a:r>
              <a:rPr lang="zh-CN" altLang="en-US" b="1">
                <a:solidFill>
                  <a:srgbClr val="FF0000"/>
                </a:solidFill>
              </a:rPr>
              <a:t>实体完整性</a:t>
            </a:r>
            <a:endParaRPr lang="en-US" altLang="zh-CN" b="1">
              <a:solidFill>
                <a:srgbClr val="FF0000"/>
              </a:solidFill>
            </a:endParaRPr>
          </a:p>
          <a:p>
            <a:pPr eaLnBrk="1" hangingPunct="1"/>
            <a:r>
              <a:rPr lang="zh-CN" altLang="en-US" b="1"/>
              <a:t>参照完整性</a:t>
            </a:r>
            <a:endParaRPr lang="en-US" altLang="zh-CN" b="1"/>
          </a:p>
          <a:p>
            <a:pPr eaLnBrk="1" hangingPunct="1"/>
            <a:r>
              <a:rPr lang="zh-CN" altLang="en-US" b="1"/>
              <a:t>用户定义完整性</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2"/>
            </p:custDataLst>
          </p:nvPr>
        </p:nvSpPr>
        <p:spPr>
          <a:xfrm>
            <a:off x="1219200" y="363220"/>
            <a:ext cx="73152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什么叫实体完整性？</a:t>
            </a:r>
          </a:p>
        </p:txBody>
      </p:sp>
      <p:sp>
        <p:nvSpPr>
          <p:cNvPr id="7" name="矩形: 圆角 6"/>
          <p:cNvSpPr/>
          <p:nvPr>
            <p:custDataLst>
              <p:tags r:id="rId3"/>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sym typeface="微软雅黑" panose="020B0503020204020204" charset="-122"/>
              </a:rPr>
              <a:t>作答</a:t>
            </a:r>
          </a:p>
        </p:txBody>
      </p:sp>
      <p:grpSp>
        <p:nvGrpSpPr>
          <p:cNvPr id="12" name="组合 11"/>
          <p:cNvGrpSpPr/>
          <p:nvPr>
            <p:custDataLst>
              <p:tags r:id="rId4"/>
            </p:custDataLst>
          </p:nvPr>
        </p:nvGrpSpPr>
        <p:grpSpPr>
          <a:xfrm>
            <a:off x="0" y="0"/>
            <a:ext cx="9144000" cy="635000"/>
            <a:chOff x="-233512" y="-4952981"/>
            <a:chExt cx="9144000" cy="635000"/>
          </a:xfrm>
        </p:grpSpPr>
        <p:sp>
          <p:nvSpPr>
            <p:cNvPr id="8" name="TitleBackground"/>
            <p:cNvSpPr/>
            <p:nvPr>
              <p:custDataLst>
                <p:tags r:id="rId6"/>
              </p:custDataLst>
            </p:nvPr>
          </p:nvSpPr>
          <p:spPr>
            <a:xfrm>
              <a:off x="-233512" y="-4952981"/>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ColorBlock"/>
            <p:cNvSpPr/>
            <p:nvPr>
              <p:custDataLst>
                <p:tags r:id="rId7"/>
              </p:custDataLst>
            </p:nvPr>
          </p:nvSpPr>
          <p:spPr>
            <a:xfrm>
              <a:off x="-233512" y="-4952981"/>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ypeText"/>
            <p:cNvSpPr txBox="1"/>
            <p:nvPr>
              <p:custDataLst>
                <p:tags r:id="rId8"/>
              </p:custDataLst>
            </p:nvPr>
          </p:nvSpPr>
          <p:spPr>
            <a:xfrm>
              <a:off x="20488" y="-4952981"/>
              <a:ext cx="1905000" cy="635000"/>
            </a:xfrm>
            <a:prstGeom prst="rect">
              <a:avLst/>
            </a:prstGeom>
            <a:noFill/>
          </p:spPr>
          <p:txBody>
            <a:bodyPr vert="horz" wrap="none"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主观题</a:t>
              </a:r>
            </a:p>
          </p:txBody>
        </p:sp>
        <p:sp>
          <p:nvSpPr>
            <p:cNvPr id="11" name="TipText"/>
            <p:cNvSpPr txBox="1"/>
            <p:nvPr>
              <p:custDataLst>
                <p:tags r:id="rId9"/>
              </p:custDataLst>
            </p:nvPr>
          </p:nvSpPr>
          <p:spPr>
            <a:xfrm>
              <a:off x="1292393" y="-4843761"/>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charset="-122"/>
                  <a:ea typeface="微软雅黑" panose="020B0503020204020204" charset="-122"/>
                  <a:sym typeface="微软雅黑" panose="020B0503020204020204" charset="-122"/>
                </a:rPr>
                <a:t>10</a:t>
              </a:r>
              <a:r>
                <a:rPr lang="zh-CN" altLang="en-US" sz="2000">
                  <a:solidFill>
                    <a:srgbClr val="808080"/>
                  </a:solidFill>
                  <a:latin typeface="微软雅黑" panose="020B0503020204020204" charset="-122"/>
                  <a:ea typeface="微软雅黑" panose="020B0503020204020204" charset="-122"/>
                  <a:sym typeface="微软雅黑" panose="020B0503020204020204" charset="-122"/>
                </a:rPr>
                <a:t>分</a:t>
              </a:r>
            </a:p>
          </p:txBody>
        </p:sp>
      </p:grpSp>
      <p:pic>
        <p:nvPicPr>
          <p:cNvPr id="5" name="图片 4"/>
          <p:cNvPicPr/>
          <p:nvPr>
            <p:custDataLst>
              <p:tags r:id="rId5"/>
            </p:custDataLst>
          </p:nvPr>
        </p:nvPicPr>
        <p:blipFill>
          <a:blip r:embed="rId12">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1187450" y="188640"/>
            <a:ext cx="7886700" cy="1325562"/>
          </a:xfrm>
        </p:spPr>
        <p:txBody>
          <a:bodyPr/>
          <a:lstStyle/>
          <a:p>
            <a:pPr eaLnBrk="1" hangingPunct="1"/>
            <a:r>
              <a:rPr lang="en-US" altLang="zh-CN" sz="3600" dirty="0">
                <a:latin typeface="宋体" panose="02010600030101010101" pitchFamily="2" charset="-122"/>
                <a:ea typeface="宋体" panose="02010600030101010101" pitchFamily="2" charset="-122"/>
                <a:cs typeface="宋体" panose="02010600030101010101" pitchFamily="2" charset="-122"/>
              </a:rPr>
              <a:t>5.1.1 </a:t>
            </a:r>
            <a:r>
              <a:rPr lang="zh-CN" altLang="en-US" sz="3600" dirty="0">
                <a:latin typeface="宋体" panose="02010600030101010101" pitchFamily="2" charset="-122"/>
                <a:ea typeface="宋体" panose="02010600030101010101" pitchFamily="2" charset="-122"/>
                <a:cs typeface="宋体" panose="02010600030101010101" pitchFamily="2" charset="-122"/>
              </a:rPr>
              <a:t>实体完整性定义</a:t>
            </a:r>
          </a:p>
        </p:txBody>
      </p:sp>
      <p:sp>
        <p:nvSpPr>
          <p:cNvPr id="8196" name="Rectangle 3"/>
          <p:cNvSpPr>
            <a:spLocks noGrp="1" noChangeArrowheads="1"/>
          </p:cNvSpPr>
          <p:nvPr>
            <p:ph idx="1"/>
          </p:nvPr>
        </p:nvSpPr>
        <p:spPr>
          <a:xfrm>
            <a:off x="539750" y="1568450"/>
            <a:ext cx="8204200" cy="4114800"/>
          </a:xfrm>
        </p:spPr>
        <p:txBody>
          <a:bodyPr rtlCol="0">
            <a:normAutofit fontScale="92500" lnSpcReduction="10000"/>
          </a:bodyPr>
          <a:lstStyle/>
          <a:p>
            <a:pPr eaLnBrk="1" fontAlgn="auto" hangingPunct="1">
              <a:lnSpc>
                <a:spcPct val="140000"/>
              </a:lnSpc>
              <a:spcAft>
                <a:spcPts val="0"/>
              </a:spcAft>
              <a:defRPr/>
            </a:pPr>
            <a:r>
              <a:rPr lang="zh-CN" altLang="en-US" dirty="0"/>
              <a:t>关系模型的实体完整性</a:t>
            </a:r>
          </a:p>
          <a:p>
            <a:pPr lvl="1" eaLnBrk="1" fontAlgn="auto" hangingPunct="1">
              <a:lnSpc>
                <a:spcPct val="140000"/>
              </a:lnSpc>
              <a:spcAft>
                <a:spcPts val="0"/>
              </a:spcAft>
              <a:defRPr/>
            </a:pPr>
            <a:r>
              <a:rPr lang="en-US" altLang="zh-CN" sz="2600" dirty="0"/>
              <a:t>CREATE  TABLE</a:t>
            </a:r>
            <a:r>
              <a:rPr lang="zh-CN" altLang="en-US" sz="2600" dirty="0"/>
              <a:t>中用</a:t>
            </a:r>
            <a:r>
              <a:rPr lang="en-US" altLang="zh-CN" sz="2600" dirty="0"/>
              <a:t>PRIMARY KEY</a:t>
            </a:r>
            <a:r>
              <a:rPr lang="zh-CN" altLang="en-US" sz="2600" dirty="0"/>
              <a:t>定义</a:t>
            </a:r>
          </a:p>
          <a:p>
            <a:pPr eaLnBrk="1" fontAlgn="auto" hangingPunct="1">
              <a:lnSpc>
                <a:spcPct val="140000"/>
              </a:lnSpc>
              <a:spcAft>
                <a:spcPts val="0"/>
              </a:spcAft>
              <a:defRPr/>
            </a:pPr>
            <a:r>
              <a:rPr lang="zh-CN" altLang="en-US" dirty="0"/>
              <a:t>单属性构成的码有两种说明方法 </a:t>
            </a:r>
          </a:p>
          <a:p>
            <a:pPr lvl="1" eaLnBrk="1" fontAlgn="auto" hangingPunct="1">
              <a:lnSpc>
                <a:spcPct val="140000"/>
              </a:lnSpc>
              <a:spcAft>
                <a:spcPts val="0"/>
              </a:spcAft>
              <a:defRPr/>
            </a:pPr>
            <a:r>
              <a:rPr lang="zh-CN" altLang="en-US" sz="2600" dirty="0"/>
              <a:t>定义为列级约束条件</a:t>
            </a:r>
          </a:p>
          <a:p>
            <a:pPr lvl="1" eaLnBrk="1" fontAlgn="auto" hangingPunct="1">
              <a:lnSpc>
                <a:spcPct val="140000"/>
              </a:lnSpc>
              <a:spcAft>
                <a:spcPts val="0"/>
              </a:spcAft>
              <a:defRPr/>
            </a:pPr>
            <a:r>
              <a:rPr lang="zh-CN" altLang="en-US" sz="2600" dirty="0"/>
              <a:t>定义为表级约束条件</a:t>
            </a:r>
          </a:p>
          <a:p>
            <a:pPr eaLnBrk="1" fontAlgn="auto" hangingPunct="1">
              <a:lnSpc>
                <a:spcPct val="140000"/>
              </a:lnSpc>
              <a:spcAft>
                <a:spcPts val="0"/>
              </a:spcAft>
              <a:defRPr/>
            </a:pPr>
            <a:r>
              <a:rPr lang="zh-CN" altLang="en-US" dirty="0"/>
              <a:t>对多个属性构成的码只有一种说明方法</a:t>
            </a:r>
          </a:p>
          <a:p>
            <a:pPr lvl="1" eaLnBrk="1" fontAlgn="auto" hangingPunct="1">
              <a:lnSpc>
                <a:spcPct val="140000"/>
              </a:lnSpc>
              <a:spcAft>
                <a:spcPts val="0"/>
              </a:spcAft>
              <a:defRPr/>
            </a:pPr>
            <a:r>
              <a:rPr lang="zh-CN" altLang="en-US" sz="2600" dirty="0"/>
              <a:t>定义为表级约束条件</a:t>
            </a:r>
            <a:r>
              <a:rPr lang="zh-CN" altLang="en-US" dirty="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8196">
                                            <p:txEl>
                                              <p:pRg st="2" end="2"/>
                                            </p:txEl>
                                          </p:spTgt>
                                        </p:tgtEl>
                                        <p:attrNameLst>
                                          <p:attrName>style.visibility</p:attrName>
                                        </p:attrNameLst>
                                      </p:cBhvr>
                                      <p:to>
                                        <p:strVal val="visible"/>
                                      </p:to>
                                    </p:set>
                                    <p:animEffect transition="in" filter="box(in)">
                                      <p:cBhvr>
                                        <p:cTn id="7" dur="500"/>
                                        <p:tgtEl>
                                          <p:spTgt spid="8196">
                                            <p:txEl>
                                              <p:pRg st="2" end="2"/>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8196">
                                            <p:txEl>
                                              <p:pRg st="3" end="3"/>
                                            </p:txEl>
                                          </p:spTgt>
                                        </p:tgtEl>
                                        <p:attrNameLst>
                                          <p:attrName>style.visibility</p:attrName>
                                        </p:attrNameLst>
                                      </p:cBhvr>
                                      <p:to>
                                        <p:strVal val="visible"/>
                                      </p:to>
                                    </p:set>
                                    <p:animEffect transition="in" filter="box(in)">
                                      <p:cBhvr>
                                        <p:cTn id="10" dur="500"/>
                                        <p:tgtEl>
                                          <p:spTgt spid="8196">
                                            <p:txEl>
                                              <p:pRg st="3" end="3"/>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8196">
                                            <p:txEl>
                                              <p:pRg st="4" end="4"/>
                                            </p:txEl>
                                          </p:spTgt>
                                        </p:tgtEl>
                                        <p:attrNameLst>
                                          <p:attrName>style.visibility</p:attrName>
                                        </p:attrNameLst>
                                      </p:cBhvr>
                                      <p:to>
                                        <p:strVal val="visible"/>
                                      </p:to>
                                    </p:set>
                                    <p:animEffect transition="in" filter="box(in)">
                                      <p:cBhvr>
                                        <p:cTn id="13" dur="500"/>
                                        <p:tgtEl>
                                          <p:spTgt spid="8196">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nodeType="clickEffect">
                                  <p:stCondLst>
                                    <p:cond delay="0"/>
                                  </p:stCondLst>
                                  <p:childTnLst>
                                    <p:set>
                                      <p:cBhvr>
                                        <p:cTn id="17" dur="1" fill="hold">
                                          <p:stCondLst>
                                            <p:cond delay="0"/>
                                          </p:stCondLst>
                                        </p:cTn>
                                        <p:tgtEl>
                                          <p:spTgt spid="8196">
                                            <p:txEl>
                                              <p:pRg st="5" end="5"/>
                                            </p:txEl>
                                          </p:spTgt>
                                        </p:tgtEl>
                                        <p:attrNameLst>
                                          <p:attrName>style.visibility</p:attrName>
                                        </p:attrNameLst>
                                      </p:cBhvr>
                                      <p:to>
                                        <p:strVal val="visible"/>
                                      </p:to>
                                    </p:set>
                                    <p:animEffect transition="in" filter="box(in)">
                                      <p:cBhvr>
                                        <p:cTn id="18" dur="500"/>
                                        <p:tgtEl>
                                          <p:spTgt spid="8196">
                                            <p:txEl>
                                              <p:pRg st="5" end="5"/>
                                            </p:txEl>
                                          </p:spTgt>
                                        </p:tgtEl>
                                      </p:cBhvr>
                                    </p:animEffect>
                                  </p:childTnLst>
                                </p:cTn>
                              </p:par>
                              <p:par>
                                <p:cTn id="19" presetID="4" presetClass="entr" presetSubtype="16" fill="hold" nodeType="withEffect">
                                  <p:stCondLst>
                                    <p:cond delay="0"/>
                                  </p:stCondLst>
                                  <p:childTnLst>
                                    <p:set>
                                      <p:cBhvr>
                                        <p:cTn id="20" dur="1" fill="hold">
                                          <p:stCondLst>
                                            <p:cond delay="0"/>
                                          </p:stCondLst>
                                        </p:cTn>
                                        <p:tgtEl>
                                          <p:spTgt spid="8196">
                                            <p:txEl>
                                              <p:pRg st="6" end="6"/>
                                            </p:txEl>
                                          </p:spTgt>
                                        </p:tgtEl>
                                        <p:attrNameLst>
                                          <p:attrName>style.visibility</p:attrName>
                                        </p:attrNameLst>
                                      </p:cBhvr>
                                      <p:to>
                                        <p:strVal val="visible"/>
                                      </p:to>
                                    </p:set>
                                    <p:animEffect transition="in" filter="box(in)">
                                      <p:cBhvr>
                                        <p:cTn id="21" dur="500"/>
                                        <p:tgtEl>
                                          <p:spTgt spid="819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1215390" y="188640"/>
            <a:ext cx="7886700" cy="1325562"/>
          </a:xfrm>
        </p:spPr>
        <p:txBody>
          <a:bodyPr/>
          <a:lstStyle/>
          <a:p>
            <a:pPr eaLnBrk="1" hangingPunct="1"/>
            <a:r>
              <a:rPr lang="zh-CN" altLang="en-US" sz="3600" dirty="0">
                <a:latin typeface="宋体" panose="02010600030101010101" pitchFamily="2" charset="-122"/>
                <a:ea typeface="宋体" panose="02010600030101010101" pitchFamily="2" charset="-122"/>
                <a:cs typeface="宋体" panose="02010600030101010101" pitchFamily="2" charset="-122"/>
              </a:rPr>
              <a:t>实体完整性定义</a:t>
            </a:r>
            <a:r>
              <a:rPr lang="en-US" altLang="zh-CN" sz="3600" dirty="0">
                <a:latin typeface="宋体" panose="02010600030101010101" pitchFamily="2" charset="-122"/>
                <a:ea typeface="宋体" panose="02010600030101010101" pitchFamily="2" charset="-122"/>
                <a:cs typeface="宋体" panose="02010600030101010101" pitchFamily="2" charset="-122"/>
              </a:rPr>
              <a:t>(</a:t>
            </a:r>
            <a:r>
              <a:rPr lang="zh-CN" altLang="en-US" sz="3600" dirty="0">
                <a:latin typeface="宋体" panose="02010600030101010101" pitchFamily="2" charset="-122"/>
                <a:ea typeface="宋体" panose="02010600030101010101" pitchFamily="2" charset="-122"/>
                <a:cs typeface="宋体" panose="02010600030101010101" pitchFamily="2" charset="-122"/>
              </a:rPr>
              <a:t>续</a:t>
            </a:r>
            <a:r>
              <a:rPr lang="en-US" altLang="zh-CN" sz="3600" dirty="0">
                <a:latin typeface="宋体" panose="02010600030101010101" pitchFamily="2" charset="-122"/>
                <a:ea typeface="宋体" panose="02010600030101010101" pitchFamily="2" charset="-122"/>
                <a:cs typeface="宋体" panose="02010600030101010101" pitchFamily="2" charset="-122"/>
              </a:rPr>
              <a:t>)</a:t>
            </a:r>
          </a:p>
        </p:txBody>
      </p:sp>
      <p:sp>
        <p:nvSpPr>
          <p:cNvPr id="9220" name="Rectangle 3"/>
          <p:cNvSpPr>
            <a:spLocks noGrp="1" noChangeArrowheads="1"/>
          </p:cNvSpPr>
          <p:nvPr>
            <p:ph idx="1"/>
          </p:nvPr>
        </p:nvSpPr>
        <p:spPr>
          <a:xfrm>
            <a:off x="611188" y="1628775"/>
            <a:ext cx="8199437" cy="4114800"/>
          </a:xfrm>
        </p:spPr>
        <p:txBody>
          <a:bodyPr rtlCol="0">
            <a:normAutofit fontScale="85000" lnSpcReduction="20000"/>
          </a:bodyPr>
          <a:lstStyle/>
          <a:p>
            <a:pPr eaLnBrk="1" fontAlgn="auto" hangingPunct="1">
              <a:spcAft>
                <a:spcPts val="0"/>
              </a:spcAft>
              <a:buFont typeface="Wingdings" panose="05000000000000000000" pitchFamily="2" charset="2"/>
              <a:buNone/>
              <a:defRPr/>
            </a:pPr>
            <a:r>
              <a:rPr lang="zh-CN" altLang="en-US" sz="2400" dirty="0"/>
              <a:t>［</a:t>
            </a:r>
            <a:r>
              <a:rPr lang="zh-CN" altLang="en-US" dirty="0"/>
              <a:t>例</a:t>
            </a:r>
            <a:r>
              <a:rPr lang="en-US" altLang="zh-CN" dirty="0"/>
              <a:t>1</a:t>
            </a:r>
            <a:r>
              <a:rPr lang="zh-CN" altLang="en-US" dirty="0"/>
              <a:t>］  将</a:t>
            </a:r>
            <a:r>
              <a:rPr lang="en-US" altLang="zh-CN" dirty="0"/>
              <a:t>Student</a:t>
            </a:r>
            <a:r>
              <a:rPr lang="zh-CN" altLang="en-US" dirty="0"/>
              <a:t>表中的</a:t>
            </a:r>
            <a:r>
              <a:rPr lang="en-US" altLang="zh-CN" dirty="0"/>
              <a:t>Sno</a:t>
            </a:r>
            <a:r>
              <a:rPr lang="zh-CN" altLang="en-US" dirty="0"/>
              <a:t>属性定义为码</a:t>
            </a:r>
          </a:p>
          <a:p>
            <a:pPr eaLnBrk="1" fontAlgn="auto" hangingPunct="1">
              <a:spcAft>
                <a:spcPts val="0"/>
              </a:spcAft>
              <a:buFont typeface="Wingdings" panose="05000000000000000000" pitchFamily="2" charset="2"/>
              <a:buNone/>
              <a:defRPr/>
            </a:pPr>
            <a:endParaRPr lang="zh-CN" altLang="en-US" sz="1000" dirty="0"/>
          </a:p>
          <a:p>
            <a:pPr eaLnBrk="1" fontAlgn="auto" hangingPunct="1">
              <a:spcAft>
                <a:spcPts val="0"/>
              </a:spcAft>
              <a:buFont typeface="Wingdings" panose="05000000000000000000" pitchFamily="2" charset="2"/>
              <a:buNone/>
              <a:defRPr/>
            </a:pPr>
            <a:r>
              <a:rPr lang="zh-CN" altLang="en-US" dirty="0"/>
              <a:t>         </a:t>
            </a:r>
            <a:r>
              <a:rPr lang="en-US" altLang="zh-CN" b="1" dirty="0"/>
              <a:t>(1)</a:t>
            </a:r>
            <a:r>
              <a:rPr lang="zh-CN" altLang="en-US" b="1" dirty="0"/>
              <a:t>在列级定义主码</a:t>
            </a:r>
          </a:p>
          <a:p>
            <a:pPr eaLnBrk="1" fontAlgn="auto" hangingPunct="1">
              <a:spcAft>
                <a:spcPts val="0"/>
              </a:spcAft>
              <a:buFont typeface="Wingdings" panose="05000000000000000000" pitchFamily="2" charset="2"/>
              <a:buNone/>
              <a:defRPr/>
            </a:pPr>
            <a:endParaRPr lang="zh-CN" altLang="en-US" sz="1000" dirty="0"/>
          </a:p>
          <a:p>
            <a:pPr eaLnBrk="1" fontAlgn="auto" hangingPunct="1">
              <a:lnSpc>
                <a:spcPct val="120000"/>
              </a:lnSpc>
              <a:spcAft>
                <a:spcPts val="0"/>
              </a:spcAft>
              <a:buFont typeface="Wingdings" panose="05000000000000000000" pitchFamily="2" charset="2"/>
              <a:buNone/>
              <a:defRPr/>
            </a:pPr>
            <a:r>
              <a:rPr lang="zh-CN" altLang="en-US" sz="2600" dirty="0"/>
              <a:t>              </a:t>
            </a:r>
            <a:r>
              <a:rPr lang="en-US" altLang="zh-CN" sz="2600" dirty="0"/>
              <a:t>CREATE TABLE Student</a:t>
            </a:r>
          </a:p>
          <a:p>
            <a:pPr eaLnBrk="1" fontAlgn="auto" hangingPunct="1">
              <a:lnSpc>
                <a:spcPct val="120000"/>
              </a:lnSpc>
              <a:spcAft>
                <a:spcPts val="0"/>
              </a:spcAft>
              <a:buFont typeface="Wingdings" panose="05000000000000000000" pitchFamily="2" charset="2"/>
              <a:buNone/>
              <a:defRPr/>
            </a:pPr>
            <a:r>
              <a:rPr lang="en-US" altLang="zh-CN" sz="2600" dirty="0"/>
              <a:t>                (</a:t>
            </a:r>
            <a:r>
              <a:rPr lang="en-US" altLang="zh-CN" sz="2600" dirty="0">
                <a:solidFill>
                  <a:srgbClr val="FF00FF"/>
                </a:solidFill>
              </a:rPr>
              <a:t>Sno  CHAR(9)  PRIMARY KEY</a:t>
            </a:r>
            <a:r>
              <a:rPr lang="zh-CN" altLang="en-US" sz="2600" dirty="0">
                <a:solidFill>
                  <a:srgbClr val="FF00FF"/>
                </a:solidFill>
              </a:rPr>
              <a:t>，</a:t>
            </a:r>
          </a:p>
          <a:p>
            <a:pPr eaLnBrk="1" fontAlgn="auto" hangingPunct="1">
              <a:lnSpc>
                <a:spcPct val="120000"/>
              </a:lnSpc>
              <a:spcAft>
                <a:spcPts val="0"/>
              </a:spcAft>
              <a:buFont typeface="Wingdings" panose="05000000000000000000" pitchFamily="2" charset="2"/>
              <a:buNone/>
              <a:defRPr/>
            </a:pPr>
            <a:r>
              <a:rPr lang="zh-CN" altLang="en-US" sz="2600" dirty="0"/>
              <a:t>                 </a:t>
            </a:r>
            <a:r>
              <a:rPr lang="en-US" altLang="zh-CN" sz="2600" dirty="0" err="1"/>
              <a:t>Sname</a:t>
            </a:r>
            <a:r>
              <a:rPr lang="en-US" altLang="zh-CN" sz="2600" dirty="0"/>
              <a:t>  CHAR(20) NOT NULL</a:t>
            </a:r>
            <a:r>
              <a:rPr lang="zh-CN" altLang="en-US" sz="2600" dirty="0"/>
              <a:t>，     </a:t>
            </a:r>
          </a:p>
          <a:p>
            <a:pPr eaLnBrk="1" fontAlgn="auto" hangingPunct="1">
              <a:lnSpc>
                <a:spcPct val="120000"/>
              </a:lnSpc>
              <a:spcAft>
                <a:spcPts val="0"/>
              </a:spcAft>
              <a:buFont typeface="Wingdings" panose="05000000000000000000" pitchFamily="2" charset="2"/>
              <a:buNone/>
              <a:defRPr/>
            </a:pPr>
            <a:r>
              <a:rPr lang="zh-CN" altLang="en-US" sz="2600" dirty="0"/>
              <a:t>                 </a:t>
            </a:r>
            <a:r>
              <a:rPr lang="en-US" altLang="zh-CN" sz="2600" dirty="0" err="1"/>
              <a:t>Ssex</a:t>
            </a:r>
            <a:r>
              <a:rPr lang="en-US" altLang="zh-CN" sz="2600" dirty="0"/>
              <a:t>  CHAR(2) </a:t>
            </a:r>
            <a:r>
              <a:rPr lang="zh-CN" altLang="en-US" sz="2600" dirty="0"/>
              <a:t>，</a:t>
            </a:r>
          </a:p>
          <a:p>
            <a:pPr eaLnBrk="1" fontAlgn="auto" hangingPunct="1">
              <a:lnSpc>
                <a:spcPct val="120000"/>
              </a:lnSpc>
              <a:spcAft>
                <a:spcPts val="0"/>
              </a:spcAft>
              <a:buFont typeface="Wingdings" panose="05000000000000000000" pitchFamily="2" charset="2"/>
              <a:buNone/>
              <a:defRPr/>
            </a:pPr>
            <a:r>
              <a:rPr lang="zh-CN" altLang="en-US" sz="2600" dirty="0"/>
              <a:t>                 </a:t>
            </a:r>
            <a:r>
              <a:rPr lang="en-US" altLang="zh-CN" sz="2600" dirty="0"/>
              <a:t>Sage  SMALLINT</a:t>
            </a:r>
            <a:r>
              <a:rPr lang="zh-CN" altLang="en-US" sz="2600" dirty="0"/>
              <a:t>，</a:t>
            </a:r>
          </a:p>
          <a:p>
            <a:pPr eaLnBrk="1" fontAlgn="auto" hangingPunct="1">
              <a:lnSpc>
                <a:spcPct val="120000"/>
              </a:lnSpc>
              <a:spcAft>
                <a:spcPts val="0"/>
              </a:spcAft>
              <a:buFont typeface="Wingdings" panose="05000000000000000000" pitchFamily="2" charset="2"/>
              <a:buNone/>
              <a:defRPr/>
            </a:pPr>
            <a:r>
              <a:rPr lang="zh-CN" altLang="en-US" sz="2600" dirty="0"/>
              <a:t>                 </a:t>
            </a:r>
            <a:r>
              <a:rPr lang="en-US" altLang="zh-CN" sz="2600" dirty="0" err="1"/>
              <a:t>Sdept</a:t>
            </a:r>
            <a:r>
              <a:rPr lang="en-US" altLang="zh-CN" sz="2600" dirty="0"/>
              <a:t>  CHAR(20));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9220">
                                            <p:txEl>
                                              <p:pRg st="2" end="2"/>
                                            </p:txEl>
                                          </p:spTgt>
                                        </p:tgtEl>
                                        <p:attrNameLst>
                                          <p:attrName>style.visibility</p:attrName>
                                        </p:attrNameLst>
                                      </p:cBhvr>
                                      <p:to>
                                        <p:strVal val="visible"/>
                                      </p:to>
                                    </p:set>
                                    <p:animEffect transition="in" filter="box(in)">
                                      <p:cBhvr>
                                        <p:cTn id="7" dur="500"/>
                                        <p:tgtEl>
                                          <p:spTgt spid="9220">
                                            <p:txEl>
                                              <p:pRg st="2" end="2"/>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9220">
                                            <p:txEl>
                                              <p:pRg st="4" end="4"/>
                                            </p:txEl>
                                          </p:spTgt>
                                        </p:tgtEl>
                                        <p:attrNameLst>
                                          <p:attrName>style.visibility</p:attrName>
                                        </p:attrNameLst>
                                      </p:cBhvr>
                                      <p:to>
                                        <p:strVal val="visible"/>
                                      </p:to>
                                    </p:set>
                                    <p:animEffect transition="in" filter="box(in)">
                                      <p:cBhvr>
                                        <p:cTn id="10" dur="500"/>
                                        <p:tgtEl>
                                          <p:spTgt spid="9220">
                                            <p:txEl>
                                              <p:pRg st="4" end="4"/>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9220">
                                            <p:txEl>
                                              <p:pRg st="5" end="5"/>
                                            </p:txEl>
                                          </p:spTgt>
                                        </p:tgtEl>
                                        <p:attrNameLst>
                                          <p:attrName>style.visibility</p:attrName>
                                        </p:attrNameLst>
                                      </p:cBhvr>
                                      <p:to>
                                        <p:strVal val="visible"/>
                                      </p:to>
                                    </p:set>
                                    <p:animEffect transition="in" filter="box(in)">
                                      <p:cBhvr>
                                        <p:cTn id="13" dur="500"/>
                                        <p:tgtEl>
                                          <p:spTgt spid="9220">
                                            <p:txEl>
                                              <p:pRg st="5" end="5"/>
                                            </p:txEl>
                                          </p:spTgt>
                                        </p:tgtEl>
                                      </p:cBhvr>
                                    </p:animEffect>
                                  </p:childTnLst>
                                </p:cTn>
                              </p:par>
                              <p:par>
                                <p:cTn id="14" presetID="4" presetClass="entr" presetSubtype="16" fill="hold" nodeType="withEffect">
                                  <p:stCondLst>
                                    <p:cond delay="0"/>
                                  </p:stCondLst>
                                  <p:childTnLst>
                                    <p:set>
                                      <p:cBhvr>
                                        <p:cTn id="15" dur="1" fill="hold">
                                          <p:stCondLst>
                                            <p:cond delay="0"/>
                                          </p:stCondLst>
                                        </p:cTn>
                                        <p:tgtEl>
                                          <p:spTgt spid="9220">
                                            <p:txEl>
                                              <p:pRg st="6" end="6"/>
                                            </p:txEl>
                                          </p:spTgt>
                                        </p:tgtEl>
                                        <p:attrNameLst>
                                          <p:attrName>style.visibility</p:attrName>
                                        </p:attrNameLst>
                                      </p:cBhvr>
                                      <p:to>
                                        <p:strVal val="visible"/>
                                      </p:to>
                                    </p:set>
                                    <p:animEffect transition="in" filter="box(in)">
                                      <p:cBhvr>
                                        <p:cTn id="16" dur="500"/>
                                        <p:tgtEl>
                                          <p:spTgt spid="9220">
                                            <p:txEl>
                                              <p:pRg st="6" end="6"/>
                                            </p:txEl>
                                          </p:spTgt>
                                        </p:tgtEl>
                                      </p:cBhvr>
                                    </p:animEffect>
                                  </p:childTnLst>
                                </p:cTn>
                              </p:par>
                              <p:par>
                                <p:cTn id="17" presetID="4" presetClass="entr" presetSubtype="16" fill="hold" nodeType="withEffect">
                                  <p:stCondLst>
                                    <p:cond delay="0"/>
                                  </p:stCondLst>
                                  <p:childTnLst>
                                    <p:set>
                                      <p:cBhvr>
                                        <p:cTn id="18" dur="1" fill="hold">
                                          <p:stCondLst>
                                            <p:cond delay="0"/>
                                          </p:stCondLst>
                                        </p:cTn>
                                        <p:tgtEl>
                                          <p:spTgt spid="9220">
                                            <p:txEl>
                                              <p:pRg st="7" end="7"/>
                                            </p:txEl>
                                          </p:spTgt>
                                        </p:tgtEl>
                                        <p:attrNameLst>
                                          <p:attrName>style.visibility</p:attrName>
                                        </p:attrNameLst>
                                      </p:cBhvr>
                                      <p:to>
                                        <p:strVal val="visible"/>
                                      </p:to>
                                    </p:set>
                                    <p:animEffect transition="in" filter="box(in)">
                                      <p:cBhvr>
                                        <p:cTn id="19" dur="500"/>
                                        <p:tgtEl>
                                          <p:spTgt spid="9220">
                                            <p:txEl>
                                              <p:pRg st="7" end="7"/>
                                            </p:txEl>
                                          </p:spTgt>
                                        </p:tgtEl>
                                      </p:cBhvr>
                                    </p:animEffect>
                                  </p:childTnLst>
                                </p:cTn>
                              </p:par>
                              <p:par>
                                <p:cTn id="20" presetID="4" presetClass="entr" presetSubtype="16" fill="hold" nodeType="withEffect">
                                  <p:stCondLst>
                                    <p:cond delay="0"/>
                                  </p:stCondLst>
                                  <p:childTnLst>
                                    <p:set>
                                      <p:cBhvr>
                                        <p:cTn id="21" dur="1" fill="hold">
                                          <p:stCondLst>
                                            <p:cond delay="0"/>
                                          </p:stCondLst>
                                        </p:cTn>
                                        <p:tgtEl>
                                          <p:spTgt spid="9220">
                                            <p:txEl>
                                              <p:pRg st="8" end="8"/>
                                            </p:txEl>
                                          </p:spTgt>
                                        </p:tgtEl>
                                        <p:attrNameLst>
                                          <p:attrName>style.visibility</p:attrName>
                                        </p:attrNameLst>
                                      </p:cBhvr>
                                      <p:to>
                                        <p:strVal val="visible"/>
                                      </p:to>
                                    </p:set>
                                    <p:animEffect transition="in" filter="box(in)">
                                      <p:cBhvr>
                                        <p:cTn id="22" dur="500"/>
                                        <p:tgtEl>
                                          <p:spTgt spid="9220">
                                            <p:txEl>
                                              <p:pRg st="8" end="8"/>
                                            </p:txEl>
                                          </p:spTgt>
                                        </p:tgtEl>
                                      </p:cBhvr>
                                    </p:animEffect>
                                  </p:childTnLst>
                                </p:cTn>
                              </p:par>
                              <p:par>
                                <p:cTn id="23" presetID="4" presetClass="entr" presetSubtype="16" fill="hold" nodeType="withEffect">
                                  <p:stCondLst>
                                    <p:cond delay="0"/>
                                  </p:stCondLst>
                                  <p:childTnLst>
                                    <p:set>
                                      <p:cBhvr>
                                        <p:cTn id="24" dur="1" fill="hold">
                                          <p:stCondLst>
                                            <p:cond delay="0"/>
                                          </p:stCondLst>
                                        </p:cTn>
                                        <p:tgtEl>
                                          <p:spTgt spid="9220">
                                            <p:txEl>
                                              <p:pRg st="9" end="9"/>
                                            </p:txEl>
                                          </p:spTgt>
                                        </p:tgtEl>
                                        <p:attrNameLst>
                                          <p:attrName>style.visibility</p:attrName>
                                        </p:attrNameLst>
                                      </p:cBhvr>
                                      <p:to>
                                        <p:strVal val="visible"/>
                                      </p:to>
                                    </p:set>
                                    <p:animEffect transition="in" filter="box(in)">
                                      <p:cBhvr>
                                        <p:cTn id="25" dur="500"/>
                                        <p:tgtEl>
                                          <p:spTgt spid="9220">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1182370" y="188640"/>
            <a:ext cx="7886700" cy="1325563"/>
          </a:xfrm>
        </p:spPr>
        <p:txBody>
          <a:bodyPr/>
          <a:lstStyle/>
          <a:p>
            <a:pPr eaLnBrk="1" hangingPunct="1"/>
            <a:r>
              <a:rPr lang="zh-CN" altLang="en-US" sz="3600" dirty="0">
                <a:latin typeface="宋体" panose="02010600030101010101" pitchFamily="2" charset="-122"/>
                <a:ea typeface="宋体" panose="02010600030101010101" pitchFamily="2" charset="-122"/>
                <a:cs typeface="宋体" panose="02010600030101010101" pitchFamily="2" charset="-122"/>
              </a:rPr>
              <a:t>实体完整性定义</a:t>
            </a:r>
            <a:r>
              <a:rPr lang="en-US" altLang="zh-CN" sz="3600" dirty="0">
                <a:latin typeface="宋体" panose="02010600030101010101" pitchFamily="2" charset="-122"/>
                <a:ea typeface="宋体" panose="02010600030101010101" pitchFamily="2" charset="-122"/>
                <a:cs typeface="宋体" panose="02010600030101010101" pitchFamily="2" charset="-122"/>
              </a:rPr>
              <a:t>(</a:t>
            </a:r>
            <a:r>
              <a:rPr lang="zh-CN" altLang="en-US" sz="3600" dirty="0">
                <a:latin typeface="宋体" panose="02010600030101010101" pitchFamily="2" charset="-122"/>
                <a:ea typeface="宋体" panose="02010600030101010101" pitchFamily="2" charset="-122"/>
                <a:cs typeface="宋体" panose="02010600030101010101" pitchFamily="2" charset="-122"/>
              </a:rPr>
              <a:t>续</a:t>
            </a:r>
            <a:r>
              <a:rPr lang="en-US" altLang="zh-CN" sz="3600" dirty="0">
                <a:latin typeface="宋体" panose="02010600030101010101" pitchFamily="2" charset="-122"/>
                <a:ea typeface="宋体" panose="02010600030101010101" pitchFamily="2" charset="-122"/>
                <a:cs typeface="宋体" panose="02010600030101010101" pitchFamily="2" charset="-122"/>
              </a:rPr>
              <a:t>)</a:t>
            </a:r>
          </a:p>
        </p:txBody>
      </p:sp>
      <p:sp>
        <p:nvSpPr>
          <p:cNvPr id="10244" name="Rectangle 3"/>
          <p:cNvSpPr>
            <a:spLocks noGrp="1" noChangeArrowheads="1"/>
          </p:cNvSpPr>
          <p:nvPr>
            <p:ph idx="1"/>
          </p:nvPr>
        </p:nvSpPr>
        <p:spPr>
          <a:xfrm>
            <a:off x="628650" y="1557338"/>
            <a:ext cx="7886700" cy="4351337"/>
          </a:xfrm>
        </p:spPr>
        <p:txBody>
          <a:bodyPr rtlCol="0">
            <a:normAutofit lnSpcReduction="10000"/>
          </a:bodyPr>
          <a:lstStyle/>
          <a:p>
            <a:pPr eaLnBrk="1" fontAlgn="auto" hangingPunct="1">
              <a:spcAft>
                <a:spcPts val="0"/>
              </a:spcAft>
              <a:buFont typeface="Wingdings" panose="05000000000000000000" pitchFamily="2" charset="2"/>
              <a:buNone/>
              <a:defRPr/>
            </a:pPr>
            <a:r>
              <a:rPr lang="en-US" altLang="zh-CN" b="1" dirty="0"/>
              <a:t>(2)</a:t>
            </a:r>
            <a:r>
              <a:rPr lang="zh-CN" altLang="en-US" b="1" dirty="0"/>
              <a:t>在表级定义主码</a:t>
            </a:r>
          </a:p>
          <a:p>
            <a:pPr eaLnBrk="1" fontAlgn="auto" hangingPunct="1">
              <a:spcAft>
                <a:spcPts val="0"/>
              </a:spcAft>
              <a:buFont typeface="Wingdings" panose="05000000000000000000" pitchFamily="2" charset="2"/>
              <a:buNone/>
              <a:defRPr/>
            </a:pPr>
            <a:r>
              <a:rPr lang="zh-CN" altLang="en-US" sz="4000" dirty="0"/>
              <a:t>    </a:t>
            </a:r>
            <a:r>
              <a:rPr lang="en-US" altLang="zh-CN" sz="2600" dirty="0"/>
              <a:t>CREATE TABLE Student</a:t>
            </a:r>
          </a:p>
          <a:p>
            <a:pPr eaLnBrk="1" fontAlgn="auto" hangingPunct="1">
              <a:spcAft>
                <a:spcPts val="0"/>
              </a:spcAft>
              <a:buFont typeface="Wingdings" panose="05000000000000000000" pitchFamily="2" charset="2"/>
              <a:buNone/>
              <a:defRPr/>
            </a:pPr>
            <a:r>
              <a:rPr lang="en-US" altLang="zh-CN" sz="2600" dirty="0"/>
              <a:t>        (Sno  CHAR(9)</a:t>
            </a:r>
            <a:r>
              <a:rPr lang="zh-CN" altLang="en-US" sz="2600" dirty="0"/>
              <a:t>，  </a:t>
            </a:r>
          </a:p>
          <a:p>
            <a:pPr eaLnBrk="1" fontAlgn="auto" hangingPunct="1">
              <a:spcAft>
                <a:spcPts val="0"/>
              </a:spcAft>
              <a:buFont typeface="Wingdings" panose="05000000000000000000" pitchFamily="2" charset="2"/>
              <a:buNone/>
              <a:defRPr/>
            </a:pPr>
            <a:r>
              <a:rPr lang="zh-CN" altLang="en-US" sz="2600" dirty="0"/>
              <a:t>         </a:t>
            </a:r>
            <a:r>
              <a:rPr lang="en-US" altLang="zh-CN" sz="2600" dirty="0" err="1"/>
              <a:t>Sname</a:t>
            </a:r>
            <a:r>
              <a:rPr lang="en-US" altLang="zh-CN" sz="2600" dirty="0"/>
              <a:t>  CHAR(20) NOT NULL</a:t>
            </a:r>
            <a:r>
              <a:rPr lang="zh-CN" altLang="en-US" sz="2600" dirty="0"/>
              <a:t>，</a:t>
            </a:r>
          </a:p>
          <a:p>
            <a:pPr eaLnBrk="1" fontAlgn="auto" hangingPunct="1">
              <a:spcAft>
                <a:spcPts val="0"/>
              </a:spcAft>
              <a:buFont typeface="Wingdings" panose="05000000000000000000" pitchFamily="2" charset="2"/>
              <a:buNone/>
              <a:defRPr/>
            </a:pPr>
            <a:r>
              <a:rPr lang="zh-CN" altLang="en-US" sz="2600" dirty="0"/>
              <a:t>         </a:t>
            </a:r>
            <a:r>
              <a:rPr lang="en-US" altLang="zh-CN" sz="2600" dirty="0" err="1"/>
              <a:t>Ssex</a:t>
            </a:r>
            <a:r>
              <a:rPr lang="en-US" altLang="zh-CN" sz="2600" dirty="0"/>
              <a:t>  CHAR(2) </a:t>
            </a:r>
            <a:r>
              <a:rPr lang="zh-CN" altLang="en-US" sz="2600" dirty="0"/>
              <a:t>，</a:t>
            </a:r>
          </a:p>
          <a:p>
            <a:pPr eaLnBrk="1" fontAlgn="auto" hangingPunct="1">
              <a:spcAft>
                <a:spcPts val="0"/>
              </a:spcAft>
              <a:buFont typeface="Wingdings" panose="05000000000000000000" pitchFamily="2" charset="2"/>
              <a:buNone/>
              <a:defRPr/>
            </a:pPr>
            <a:r>
              <a:rPr lang="zh-CN" altLang="en-US" sz="2600" dirty="0"/>
              <a:t>         </a:t>
            </a:r>
            <a:r>
              <a:rPr lang="en-US" altLang="zh-CN" sz="2600" dirty="0"/>
              <a:t>Sage  SMALLINT</a:t>
            </a:r>
            <a:r>
              <a:rPr lang="zh-CN" altLang="en-US" sz="2600" dirty="0"/>
              <a:t>，</a:t>
            </a:r>
          </a:p>
          <a:p>
            <a:pPr eaLnBrk="1" fontAlgn="auto" hangingPunct="1">
              <a:spcAft>
                <a:spcPts val="0"/>
              </a:spcAft>
              <a:buFont typeface="Wingdings" panose="05000000000000000000" pitchFamily="2" charset="2"/>
              <a:buNone/>
              <a:defRPr/>
            </a:pPr>
            <a:r>
              <a:rPr lang="zh-CN" altLang="en-US" sz="2600" dirty="0"/>
              <a:t>         </a:t>
            </a:r>
            <a:r>
              <a:rPr lang="en-US" altLang="zh-CN" sz="2600" dirty="0" err="1"/>
              <a:t>Sdept</a:t>
            </a:r>
            <a:r>
              <a:rPr lang="en-US" altLang="zh-CN" sz="2600" dirty="0"/>
              <a:t>  CHAR(20)</a:t>
            </a:r>
            <a:r>
              <a:rPr lang="zh-CN" altLang="en-US" sz="2600" dirty="0"/>
              <a:t>，</a:t>
            </a:r>
          </a:p>
          <a:p>
            <a:pPr eaLnBrk="1" fontAlgn="auto" hangingPunct="1">
              <a:spcAft>
                <a:spcPts val="0"/>
              </a:spcAft>
              <a:buFont typeface="Wingdings" panose="05000000000000000000" pitchFamily="2" charset="2"/>
              <a:buNone/>
              <a:defRPr/>
            </a:pPr>
            <a:r>
              <a:rPr lang="zh-CN" altLang="en-US" sz="2600" dirty="0"/>
              <a:t>         </a:t>
            </a:r>
            <a:r>
              <a:rPr lang="en-US" altLang="zh-CN" sz="2600" dirty="0">
                <a:solidFill>
                  <a:srgbClr val="FF00FF"/>
                </a:solidFill>
              </a:rPr>
              <a:t>PRIMARY KEY (Sno)</a:t>
            </a:r>
          </a:p>
          <a:p>
            <a:pPr eaLnBrk="1" fontAlgn="auto" hangingPunct="1">
              <a:spcAft>
                <a:spcPts val="0"/>
              </a:spcAft>
              <a:buFont typeface="Wingdings" panose="05000000000000000000" pitchFamily="2" charset="2"/>
              <a:buNone/>
              <a:defRPr/>
            </a:pPr>
            <a:r>
              <a:rPr lang="en-US" altLang="zh-CN" sz="2600" dirty="0"/>
              <a:t>      );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0244">
                                            <p:txEl>
                                              <p:pRg st="1" end="1"/>
                                            </p:txEl>
                                          </p:spTgt>
                                        </p:tgtEl>
                                        <p:attrNameLst>
                                          <p:attrName>style.visibility</p:attrName>
                                        </p:attrNameLst>
                                      </p:cBhvr>
                                      <p:to>
                                        <p:strVal val="visible"/>
                                      </p:to>
                                    </p:set>
                                    <p:animEffect transition="in" filter="box(in)">
                                      <p:cBhvr>
                                        <p:cTn id="7" dur="500"/>
                                        <p:tgtEl>
                                          <p:spTgt spid="10244">
                                            <p:txEl>
                                              <p:pRg st="1" end="1"/>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10244">
                                            <p:txEl>
                                              <p:pRg st="2" end="2"/>
                                            </p:txEl>
                                          </p:spTgt>
                                        </p:tgtEl>
                                        <p:attrNameLst>
                                          <p:attrName>style.visibility</p:attrName>
                                        </p:attrNameLst>
                                      </p:cBhvr>
                                      <p:to>
                                        <p:strVal val="visible"/>
                                      </p:to>
                                    </p:set>
                                    <p:animEffect transition="in" filter="box(in)">
                                      <p:cBhvr>
                                        <p:cTn id="10" dur="500"/>
                                        <p:tgtEl>
                                          <p:spTgt spid="10244">
                                            <p:txEl>
                                              <p:pRg st="2" end="2"/>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10244">
                                            <p:txEl>
                                              <p:pRg st="3" end="3"/>
                                            </p:txEl>
                                          </p:spTgt>
                                        </p:tgtEl>
                                        <p:attrNameLst>
                                          <p:attrName>style.visibility</p:attrName>
                                        </p:attrNameLst>
                                      </p:cBhvr>
                                      <p:to>
                                        <p:strVal val="visible"/>
                                      </p:to>
                                    </p:set>
                                    <p:animEffect transition="in" filter="box(in)">
                                      <p:cBhvr>
                                        <p:cTn id="13" dur="500"/>
                                        <p:tgtEl>
                                          <p:spTgt spid="10244">
                                            <p:txEl>
                                              <p:pRg st="3" end="3"/>
                                            </p:txEl>
                                          </p:spTgt>
                                        </p:tgtEl>
                                      </p:cBhvr>
                                    </p:animEffect>
                                  </p:childTnLst>
                                </p:cTn>
                              </p:par>
                              <p:par>
                                <p:cTn id="14" presetID="4" presetClass="entr" presetSubtype="16" fill="hold" nodeType="withEffect">
                                  <p:stCondLst>
                                    <p:cond delay="0"/>
                                  </p:stCondLst>
                                  <p:childTnLst>
                                    <p:set>
                                      <p:cBhvr>
                                        <p:cTn id="15" dur="1" fill="hold">
                                          <p:stCondLst>
                                            <p:cond delay="0"/>
                                          </p:stCondLst>
                                        </p:cTn>
                                        <p:tgtEl>
                                          <p:spTgt spid="10244">
                                            <p:txEl>
                                              <p:pRg st="4" end="4"/>
                                            </p:txEl>
                                          </p:spTgt>
                                        </p:tgtEl>
                                        <p:attrNameLst>
                                          <p:attrName>style.visibility</p:attrName>
                                        </p:attrNameLst>
                                      </p:cBhvr>
                                      <p:to>
                                        <p:strVal val="visible"/>
                                      </p:to>
                                    </p:set>
                                    <p:animEffect transition="in" filter="box(in)">
                                      <p:cBhvr>
                                        <p:cTn id="16" dur="500"/>
                                        <p:tgtEl>
                                          <p:spTgt spid="10244">
                                            <p:txEl>
                                              <p:pRg st="4" end="4"/>
                                            </p:txEl>
                                          </p:spTgt>
                                        </p:tgtEl>
                                      </p:cBhvr>
                                    </p:animEffect>
                                  </p:childTnLst>
                                </p:cTn>
                              </p:par>
                              <p:par>
                                <p:cTn id="17" presetID="4" presetClass="entr" presetSubtype="16" fill="hold" nodeType="withEffect">
                                  <p:stCondLst>
                                    <p:cond delay="0"/>
                                  </p:stCondLst>
                                  <p:childTnLst>
                                    <p:set>
                                      <p:cBhvr>
                                        <p:cTn id="18" dur="1" fill="hold">
                                          <p:stCondLst>
                                            <p:cond delay="0"/>
                                          </p:stCondLst>
                                        </p:cTn>
                                        <p:tgtEl>
                                          <p:spTgt spid="10244">
                                            <p:txEl>
                                              <p:pRg st="5" end="5"/>
                                            </p:txEl>
                                          </p:spTgt>
                                        </p:tgtEl>
                                        <p:attrNameLst>
                                          <p:attrName>style.visibility</p:attrName>
                                        </p:attrNameLst>
                                      </p:cBhvr>
                                      <p:to>
                                        <p:strVal val="visible"/>
                                      </p:to>
                                    </p:set>
                                    <p:animEffect transition="in" filter="box(in)">
                                      <p:cBhvr>
                                        <p:cTn id="19" dur="500"/>
                                        <p:tgtEl>
                                          <p:spTgt spid="10244">
                                            <p:txEl>
                                              <p:pRg st="5" end="5"/>
                                            </p:txEl>
                                          </p:spTgt>
                                        </p:tgtEl>
                                      </p:cBhvr>
                                    </p:animEffect>
                                  </p:childTnLst>
                                </p:cTn>
                              </p:par>
                              <p:par>
                                <p:cTn id="20" presetID="4" presetClass="entr" presetSubtype="16" fill="hold" nodeType="withEffect">
                                  <p:stCondLst>
                                    <p:cond delay="0"/>
                                  </p:stCondLst>
                                  <p:childTnLst>
                                    <p:set>
                                      <p:cBhvr>
                                        <p:cTn id="21" dur="1" fill="hold">
                                          <p:stCondLst>
                                            <p:cond delay="0"/>
                                          </p:stCondLst>
                                        </p:cTn>
                                        <p:tgtEl>
                                          <p:spTgt spid="10244">
                                            <p:txEl>
                                              <p:pRg st="6" end="6"/>
                                            </p:txEl>
                                          </p:spTgt>
                                        </p:tgtEl>
                                        <p:attrNameLst>
                                          <p:attrName>style.visibility</p:attrName>
                                        </p:attrNameLst>
                                      </p:cBhvr>
                                      <p:to>
                                        <p:strVal val="visible"/>
                                      </p:to>
                                    </p:set>
                                    <p:animEffect transition="in" filter="box(in)">
                                      <p:cBhvr>
                                        <p:cTn id="22" dur="500"/>
                                        <p:tgtEl>
                                          <p:spTgt spid="10244">
                                            <p:txEl>
                                              <p:pRg st="6" end="6"/>
                                            </p:txEl>
                                          </p:spTgt>
                                        </p:tgtEl>
                                      </p:cBhvr>
                                    </p:animEffect>
                                  </p:childTnLst>
                                </p:cTn>
                              </p:par>
                              <p:par>
                                <p:cTn id="23" presetID="4" presetClass="entr" presetSubtype="16" fill="hold" nodeType="withEffect">
                                  <p:stCondLst>
                                    <p:cond delay="0"/>
                                  </p:stCondLst>
                                  <p:childTnLst>
                                    <p:set>
                                      <p:cBhvr>
                                        <p:cTn id="24" dur="1" fill="hold">
                                          <p:stCondLst>
                                            <p:cond delay="0"/>
                                          </p:stCondLst>
                                        </p:cTn>
                                        <p:tgtEl>
                                          <p:spTgt spid="10244">
                                            <p:txEl>
                                              <p:pRg st="7" end="7"/>
                                            </p:txEl>
                                          </p:spTgt>
                                        </p:tgtEl>
                                        <p:attrNameLst>
                                          <p:attrName>style.visibility</p:attrName>
                                        </p:attrNameLst>
                                      </p:cBhvr>
                                      <p:to>
                                        <p:strVal val="visible"/>
                                      </p:to>
                                    </p:set>
                                    <p:animEffect transition="in" filter="box(in)">
                                      <p:cBhvr>
                                        <p:cTn id="25" dur="500"/>
                                        <p:tgtEl>
                                          <p:spTgt spid="10244">
                                            <p:txEl>
                                              <p:pRg st="7" end="7"/>
                                            </p:txEl>
                                          </p:spTgt>
                                        </p:tgtEl>
                                      </p:cBhvr>
                                    </p:animEffect>
                                  </p:childTnLst>
                                </p:cTn>
                              </p:par>
                              <p:par>
                                <p:cTn id="26" presetID="4" presetClass="entr" presetSubtype="16" fill="hold" nodeType="withEffect">
                                  <p:stCondLst>
                                    <p:cond delay="0"/>
                                  </p:stCondLst>
                                  <p:childTnLst>
                                    <p:set>
                                      <p:cBhvr>
                                        <p:cTn id="27" dur="1" fill="hold">
                                          <p:stCondLst>
                                            <p:cond delay="0"/>
                                          </p:stCondLst>
                                        </p:cTn>
                                        <p:tgtEl>
                                          <p:spTgt spid="10244">
                                            <p:txEl>
                                              <p:pRg st="8" end="8"/>
                                            </p:txEl>
                                          </p:spTgt>
                                        </p:tgtEl>
                                        <p:attrNameLst>
                                          <p:attrName>style.visibility</p:attrName>
                                        </p:attrNameLst>
                                      </p:cBhvr>
                                      <p:to>
                                        <p:strVal val="visible"/>
                                      </p:to>
                                    </p:set>
                                    <p:animEffect transition="in" filter="box(in)">
                                      <p:cBhvr>
                                        <p:cTn id="28" dur="500"/>
                                        <p:tgtEl>
                                          <p:spTgt spid="1024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1190308" y="188640"/>
            <a:ext cx="7886700" cy="1325563"/>
          </a:xfrm>
        </p:spPr>
        <p:txBody>
          <a:bodyPr/>
          <a:lstStyle/>
          <a:p>
            <a:pPr eaLnBrk="1" hangingPunct="1"/>
            <a:r>
              <a:rPr lang="zh-CN" altLang="en-US" sz="3600" dirty="0">
                <a:latin typeface="宋体" panose="02010600030101010101" pitchFamily="2" charset="-122"/>
                <a:ea typeface="宋体" panose="02010600030101010101" pitchFamily="2" charset="-122"/>
                <a:cs typeface="宋体" panose="02010600030101010101" pitchFamily="2" charset="-122"/>
              </a:rPr>
              <a:t>实体完整性定义</a:t>
            </a:r>
            <a:r>
              <a:rPr lang="en-US" altLang="zh-CN" sz="3600" dirty="0">
                <a:latin typeface="宋体" panose="02010600030101010101" pitchFamily="2" charset="-122"/>
                <a:ea typeface="宋体" panose="02010600030101010101" pitchFamily="2" charset="-122"/>
                <a:cs typeface="宋体" panose="02010600030101010101" pitchFamily="2" charset="-122"/>
              </a:rPr>
              <a:t>(</a:t>
            </a:r>
            <a:r>
              <a:rPr lang="zh-CN" altLang="en-US" sz="3600" dirty="0">
                <a:latin typeface="宋体" panose="02010600030101010101" pitchFamily="2" charset="-122"/>
                <a:ea typeface="宋体" panose="02010600030101010101" pitchFamily="2" charset="-122"/>
                <a:cs typeface="宋体" panose="02010600030101010101" pitchFamily="2" charset="-122"/>
              </a:rPr>
              <a:t>续</a:t>
            </a:r>
            <a:r>
              <a:rPr lang="en-US" altLang="zh-CN" sz="3600" dirty="0">
                <a:latin typeface="宋体" panose="02010600030101010101" pitchFamily="2" charset="-122"/>
                <a:ea typeface="宋体" panose="02010600030101010101" pitchFamily="2" charset="-122"/>
                <a:cs typeface="宋体" panose="02010600030101010101" pitchFamily="2" charset="-122"/>
              </a:rPr>
              <a:t>)</a:t>
            </a:r>
          </a:p>
        </p:txBody>
      </p:sp>
      <p:sp>
        <p:nvSpPr>
          <p:cNvPr id="14340" name="Rectangle 3"/>
          <p:cNvSpPr>
            <a:spLocks noGrp="1" noChangeArrowheads="1"/>
          </p:cNvSpPr>
          <p:nvPr>
            <p:ph idx="1"/>
          </p:nvPr>
        </p:nvSpPr>
        <p:spPr>
          <a:xfrm>
            <a:off x="107950" y="1628775"/>
            <a:ext cx="9144000" cy="4114800"/>
          </a:xfrm>
        </p:spPr>
        <p:txBody>
          <a:bodyPr rtlCol="0">
            <a:normAutofit fontScale="92500" lnSpcReduction="10000"/>
          </a:bodyPr>
          <a:lstStyle/>
          <a:p>
            <a:pPr eaLnBrk="1" fontAlgn="auto" hangingPunct="1">
              <a:spcAft>
                <a:spcPts val="0"/>
              </a:spcAft>
              <a:buFont typeface="Wingdings" panose="05000000000000000000" pitchFamily="2" charset="2"/>
              <a:buNone/>
              <a:defRPr/>
            </a:pPr>
            <a:r>
              <a:rPr lang="zh-CN" altLang="en-US" dirty="0"/>
              <a:t>［例</a:t>
            </a:r>
            <a:r>
              <a:rPr lang="en-US" altLang="zh-CN" dirty="0"/>
              <a:t>2</a:t>
            </a:r>
            <a:r>
              <a:rPr lang="zh-CN" altLang="en-US" dirty="0"/>
              <a:t>］将</a:t>
            </a:r>
            <a:r>
              <a:rPr lang="en-US" altLang="zh-CN" dirty="0"/>
              <a:t>SC</a:t>
            </a:r>
            <a:r>
              <a:rPr lang="zh-CN" altLang="en-US" dirty="0"/>
              <a:t>表中的</a:t>
            </a:r>
            <a:r>
              <a:rPr lang="en-US" altLang="zh-CN" dirty="0"/>
              <a:t>Sno</a:t>
            </a:r>
            <a:r>
              <a:rPr lang="zh-CN" altLang="en-US" dirty="0"/>
              <a:t>，</a:t>
            </a:r>
            <a:r>
              <a:rPr lang="en-US" altLang="zh-CN" dirty="0" err="1"/>
              <a:t>Cno</a:t>
            </a:r>
            <a:r>
              <a:rPr lang="zh-CN" altLang="en-US" dirty="0"/>
              <a:t>属性组定义为码</a:t>
            </a:r>
          </a:p>
          <a:p>
            <a:pPr eaLnBrk="1" fontAlgn="auto" hangingPunct="1">
              <a:lnSpc>
                <a:spcPct val="140000"/>
              </a:lnSpc>
              <a:spcAft>
                <a:spcPts val="0"/>
              </a:spcAft>
              <a:buFont typeface="Wingdings" panose="05000000000000000000" pitchFamily="2" charset="2"/>
              <a:buNone/>
              <a:defRPr/>
            </a:pPr>
            <a:r>
              <a:rPr lang="zh-CN" altLang="en-US" dirty="0"/>
              <a:t>      </a:t>
            </a:r>
            <a:r>
              <a:rPr lang="en-US" altLang="zh-CN" sz="2600" dirty="0"/>
              <a:t>CREATE TABLE SC</a:t>
            </a:r>
          </a:p>
          <a:p>
            <a:pPr eaLnBrk="1" fontAlgn="auto" hangingPunct="1">
              <a:lnSpc>
                <a:spcPct val="140000"/>
              </a:lnSpc>
              <a:spcAft>
                <a:spcPts val="0"/>
              </a:spcAft>
              <a:buFont typeface="Wingdings" panose="05000000000000000000" pitchFamily="2" charset="2"/>
              <a:buNone/>
              <a:defRPr/>
            </a:pPr>
            <a:r>
              <a:rPr lang="en-US" altLang="zh-CN" sz="2600" dirty="0"/>
              <a:t>           (Sno   CHAR(9)  NOT NULL</a:t>
            </a:r>
            <a:r>
              <a:rPr lang="zh-CN" altLang="en-US" sz="2600" dirty="0"/>
              <a:t>， </a:t>
            </a:r>
          </a:p>
          <a:p>
            <a:pPr eaLnBrk="1" fontAlgn="auto" hangingPunct="1">
              <a:lnSpc>
                <a:spcPct val="140000"/>
              </a:lnSpc>
              <a:spcAft>
                <a:spcPts val="0"/>
              </a:spcAft>
              <a:buFont typeface="Wingdings" panose="05000000000000000000" pitchFamily="2" charset="2"/>
              <a:buNone/>
              <a:defRPr/>
            </a:pPr>
            <a:r>
              <a:rPr lang="zh-CN" altLang="en-US" sz="2600" dirty="0"/>
              <a:t>            </a:t>
            </a:r>
            <a:r>
              <a:rPr lang="en-US" altLang="zh-CN" sz="2600" dirty="0" err="1"/>
              <a:t>Cno</a:t>
            </a:r>
            <a:r>
              <a:rPr lang="en-US" altLang="zh-CN" sz="2600" dirty="0"/>
              <a:t>  CHAR(4)  NOT NULL</a:t>
            </a:r>
            <a:r>
              <a:rPr lang="zh-CN" altLang="en-US" sz="2600" dirty="0"/>
              <a:t>，  </a:t>
            </a:r>
          </a:p>
          <a:p>
            <a:pPr eaLnBrk="1" fontAlgn="auto" hangingPunct="1">
              <a:lnSpc>
                <a:spcPct val="140000"/>
              </a:lnSpc>
              <a:spcAft>
                <a:spcPts val="0"/>
              </a:spcAft>
              <a:buFont typeface="Wingdings" panose="05000000000000000000" pitchFamily="2" charset="2"/>
              <a:buNone/>
              <a:defRPr/>
            </a:pPr>
            <a:r>
              <a:rPr lang="zh-CN" altLang="en-US" sz="2600" dirty="0"/>
              <a:t>            </a:t>
            </a:r>
            <a:r>
              <a:rPr lang="en-US" altLang="zh-CN" sz="2600" dirty="0"/>
              <a:t>Grade    SMALLINT</a:t>
            </a:r>
            <a:r>
              <a:rPr lang="zh-CN" altLang="en-US" sz="2600" dirty="0"/>
              <a:t>，</a:t>
            </a:r>
          </a:p>
          <a:p>
            <a:pPr eaLnBrk="1" fontAlgn="auto" hangingPunct="1">
              <a:lnSpc>
                <a:spcPct val="140000"/>
              </a:lnSpc>
              <a:spcAft>
                <a:spcPts val="0"/>
              </a:spcAft>
              <a:buFont typeface="Wingdings" panose="05000000000000000000" pitchFamily="2" charset="2"/>
              <a:buNone/>
              <a:defRPr/>
            </a:pPr>
            <a:r>
              <a:rPr lang="zh-CN" altLang="en-US" sz="2600" dirty="0"/>
              <a:t>            </a:t>
            </a:r>
            <a:r>
              <a:rPr lang="en-US" altLang="zh-CN" sz="2600" dirty="0">
                <a:solidFill>
                  <a:srgbClr val="FF00FF"/>
                </a:solidFill>
              </a:rPr>
              <a:t>PRIMARY KEY (Sno</a:t>
            </a:r>
            <a:r>
              <a:rPr lang="zh-CN" altLang="en-US" sz="2600" dirty="0">
                <a:solidFill>
                  <a:srgbClr val="FF00FF"/>
                </a:solidFill>
              </a:rPr>
              <a:t>，</a:t>
            </a:r>
            <a:r>
              <a:rPr lang="en-US" altLang="zh-CN" sz="2600" dirty="0" err="1">
                <a:solidFill>
                  <a:srgbClr val="FF00FF"/>
                </a:solidFill>
              </a:rPr>
              <a:t>Cno</a:t>
            </a:r>
            <a:r>
              <a:rPr lang="en-US" altLang="zh-CN" sz="2600" dirty="0">
                <a:solidFill>
                  <a:srgbClr val="FF00FF"/>
                </a:solidFill>
              </a:rPr>
              <a:t>) /*</a:t>
            </a:r>
            <a:r>
              <a:rPr lang="zh-CN" altLang="en-US" sz="2600" dirty="0">
                <a:solidFill>
                  <a:srgbClr val="FF00FF"/>
                </a:solidFill>
              </a:rPr>
              <a:t>只能在表级定义主码*</a:t>
            </a:r>
            <a:r>
              <a:rPr lang="en-US" altLang="zh-CN" sz="2600" dirty="0">
                <a:solidFill>
                  <a:srgbClr val="FF00FF"/>
                </a:solidFill>
              </a:rPr>
              <a:t>/</a:t>
            </a:r>
          </a:p>
          <a:p>
            <a:pPr eaLnBrk="1" fontAlgn="auto" hangingPunct="1">
              <a:lnSpc>
                <a:spcPct val="140000"/>
              </a:lnSpc>
              <a:spcAft>
                <a:spcPts val="0"/>
              </a:spcAft>
              <a:buFont typeface="Wingdings" panose="05000000000000000000" pitchFamily="2" charset="2"/>
              <a:buNone/>
              <a:defRPr/>
            </a:pPr>
            <a:r>
              <a:rPr lang="en-US" altLang="zh-CN" sz="2600" dirty="0"/>
              <a:t>          );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185545" y="188640"/>
            <a:ext cx="7886700" cy="1325562"/>
          </a:xfrm>
        </p:spPr>
        <p:txBody>
          <a:bodyPr/>
          <a:lstStyle/>
          <a:p>
            <a:pPr eaLnBrk="1" hangingPunct="1"/>
            <a:r>
              <a:rPr lang="zh-CN" altLang="en-US" sz="3600" dirty="0">
                <a:latin typeface="宋体" panose="02010600030101010101" pitchFamily="2" charset="-122"/>
                <a:ea typeface="宋体" panose="02010600030101010101" pitchFamily="2" charset="-122"/>
              </a:rPr>
              <a:t>实体完整性检查和违约处理</a:t>
            </a:r>
          </a:p>
        </p:txBody>
      </p:sp>
      <p:sp>
        <p:nvSpPr>
          <p:cNvPr id="12292" name="Rectangle 3"/>
          <p:cNvSpPr>
            <a:spLocks noGrp="1" noChangeArrowheads="1"/>
          </p:cNvSpPr>
          <p:nvPr>
            <p:ph idx="1"/>
          </p:nvPr>
        </p:nvSpPr>
        <p:spPr>
          <a:xfrm>
            <a:off x="466725" y="1557338"/>
            <a:ext cx="8208963" cy="4114800"/>
          </a:xfrm>
        </p:spPr>
        <p:txBody>
          <a:bodyPr/>
          <a:lstStyle/>
          <a:p>
            <a:pPr marL="609600" indent="-609600" eaLnBrk="1" hangingPunct="1"/>
            <a:r>
              <a:rPr lang="zh-CN" altLang="en-US"/>
              <a:t>用户程序对基本表</a:t>
            </a:r>
            <a:r>
              <a:rPr lang="zh-CN" altLang="en-US">
                <a:solidFill>
                  <a:srgbClr val="FF0000"/>
                </a:solidFill>
              </a:rPr>
              <a:t>插入</a:t>
            </a:r>
            <a:r>
              <a:rPr lang="zh-CN" altLang="en-US"/>
              <a:t>一条记录或对主码列进行</a:t>
            </a:r>
            <a:r>
              <a:rPr lang="zh-CN" altLang="en-US">
                <a:solidFill>
                  <a:srgbClr val="FF0000"/>
                </a:solidFill>
              </a:rPr>
              <a:t>更新</a:t>
            </a:r>
            <a:r>
              <a:rPr lang="zh-CN" altLang="en-US"/>
              <a:t>操作时，系统自动进行</a:t>
            </a:r>
            <a:r>
              <a:rPr lang="zh-CN" altLang="en-US">
                <a:solidFill>
                  <a:srgbClr val="FF0000"/>
                </a:solidFill>
              </a:rPr>
              <a:t>完整性检查</a:t>
            </a:r>
            <a:r>
              <a:rPr lang="zh-CN" altLang="en-US"/>
              <a:t>。包括：</a:t>
            </a:r>
          </a:p>
          <a:p>
            <a:pPr marL="990600" lvl="1" indent="-533400" eaLnBrk="1" hangingPunct="1">
              <a:buFont typeface="Wingdings" panose="05000000000000000000" pitchFamily="2" charset="2"/>
              <a:buAutoNum type="arabicPeriod"/>
            </a:pPr>
            <a:r>
              <a:rPr lang="zh-CN" altLang="en-US"/>
              <a:t>检查主码值是否唯一，如果不唯一则拒绝插入或修改。</a:t>
            </a:r>
          </a:p>
          <a:p>
            <a:pPr marL="990600" lvl="1" indent="-533400" eaLnBrk="1" hangingPunct="1">
              <a:buFont typeface="Wingdings" panose="05000000000000000000" pitchFamily="2" charset="2"/>
              <a:buAutoNum type="arabicPeriod"/>
            </a:pPr>
            <a:r>
              <a:rPr lang="zh-CN" altLang="en-US"/>
              <a:t>检查主码的各个属性是否为空，只要有一个为空就拒绝插入或修改。</a:t>
            </a:r>
          </a:p>
          <a:p>
            <a:pPr marL="990600" lvl="1" indent="-533400" eaLnBrk="1" hangingPunct="1"/>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2292">
                                            <p:txEl>
                                              <p:pRg st="0" end="0"/>
                                            </p:txEl>
                                          </p:spTgt>
                                        </p:tgtEl>
                                        <p:attrNameLst>
                                          <p:attrName>style.visibility</p:attrName>
                                        </p:attrNameLst>
                                      </p:cBhvr>
                                      <p:to>
                                        <p:strVal val="visible"/>
                                      </p:to>
                                    </p:set>
                                    <p:animEffect transition="in" filter="box(in)">
                                      <p:cBhvr>
                                        <p:cTn id="7" dur="500"/>
                                        <p:tgtEl>
                                          <p:spTgt spid="1229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2292">
                                            <p:txEl>
                                              <p:pRg st="1" end="1"/>
                                            </p:txEl>
                                          </p:spTgt>
                                        </p:tgtEl>
                                        <p:attrNameLst>
                                          <p:attrName>style.visibility</p:attrName>
                                        </p:attrNameLst>
                                      </p:cBhvr>
                                      <p:to>
                                        <p:strVal val="visible"/>
                                      </p:to>
                                    </p:set>
                                    <p:animEffect transition="in" filter="fade">
                                      <p:cBhvr>
                                        <p:cTn id="12" dur="1000"/>
                                        <p:tgtEl>
                                          <p:spTgt spid="12292">
                                            <p:txEl>
                                              <p:pRg st="1" end="1"/>
                                            </p:txEl>
                                          </p:spTgt>
                                        </p:tgtEl>
                                      </p:cBhvr>
                                    </p:animEffect>
                                    <p:anim calcmode="lin" valueType="num">
                                      <p:cBhvr>
                                        <p:cTn id="13" dur="1000" fill="hold"/>
                                        <p:tgtEl>
                                          <p:spTgt spid="12292">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1229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2292">
                                            <p:txEl>
                                              <p:pRg st="2" end="2"/>
                                            </p:txEl>
                                          </p:spTgt>
                                        </p:tgtEl>
                                        <p:attrNameLst>
                                          <p:attrName>style.visibility</p:attrName>
                                        </p:attrNameLst>
                                      </p:cBhvr>
                                      <p:to>
                                        <p:strVal val="visible"/>
                                      </p:to>
                                    </p:set>
                                    <p:animEffect transition="in" filter="fade">
                                      <p:cBhvr>
                                        <p:cTn id="19" dur="1000"/>
                                        <p:tgtEl>
                                          <p:spTgt spid="12292">
                                            <p:txEl>
                                              <p:pRg st="2" end="2"/>
                                            </p:txEl>
                                          </p:spTgt>
                                        </p:tgtEl>
                                      </p:cBhvr>
                                    </p:animEffect>
                                    <p:anim calcmode="lin" valueType="num">
                                      <p:cBhvr>
                                        <p:cTn id="20" dur="1000" fill="hold"/>
                                        <p:tgtEl>
                                          <p:spTgt spid="12292">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1229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1185545" y="188640"/>
            <a:ext cx="7886700" cy="1327150"/>
          </a:xfrm>
        </p:spPr>
        <p:txBody>
          <a:bodyPr/>
          <a:lstStyle/>
          <a:p>
            <a:pPr eaLnBrk="1" hangingPunct="1"/>
            <a:r>
              <a:rPr lang="zh-CN" altLang="en-US" sz="3600" dirty="0">
                <a:latin typeface="宋体" panose="02010600030101010101" pitchFamily="2" charset="-122"/>
                <a:ea typeface="宋体" panose="02010600030101010101" pitchFamily="2" charset="-122"/>
                <a:cs typeface="宋体" panose="02010600030101010101" pitchFamily="2" charset="-122"/>
              </a:rPr>
              <a:t>实体完整性检查和违约处理</a:t>
            </a:r>
            <a:r>
              <a:rPr lang="en-US" altLang="zh-CN" sz="3600" dirty="0">
                <a:latin typeface="宋体" panose="02010600030101010101" pitchFamily="2" charset="-122"/>
                <a:ea typeface="宋体" panose="02010600030101010101" pitchFamily="2" charset="-122"/>
                <a:cs typeface="宋体" panose="02010600030101010101" pitchFamily="2" charset="-122"/>
              </a:rPr>
              <a:t>(</a:t>
            </a:r>
            <a:r>
              <a:rPr lang="zh-CN" altLang="en-US" sz="3600" dirty="0">
                <a:latin typeface="宋体" panose="02010600030101010101" pitchFamily="2" charset="-122"/>
                <a:ea typeface="宋体" panose="02010600030101010101" pitchFamily="2" charset="-122"/>
                <a:cs typeface="宋体" panose="02010600030101010101" pitchFamily="2" charset="-122"/>
              </a:rPr>
              <a:t>续</a:t>
            </a:r>
            <a:r>
              <a:rPr lang="en-US" altLang="zh-CN" sz="3600" dirty="0">
                <a:latin typeface="宋体" panose="02010600030101010101" pitchFamily="2" charset="-122"/>
                <a:ea typeface="宋体" panose="02010600030101010101" pitchFamily="2" charset="-122"/>
                <a:cs typeface="宋体" panose="02010600030101010101" pitchFamily="2" charset="-122"/>
              </a:rPr>
              <a:t>)</a:t>
            </a:r>
          </a:p>
        </p:txBody>
      </p:sp>
      <p:sp>
        <p:nvSpPr>
          <p:cNvPr id="19459" name="Rectangle 3"/>
          <p:cNvSpPr>
            <a:spLocks noGrp="1" noChangeArrowheads="1"/>
          </p:cNvSpPr>
          <p:nvPr>
            <p:ph idx="1"/>
          </p:nvPr>
        </p:nvSpPr>
        <p:spPr>
          <a:xfrm>
            <a:off x="107950" y="1422400"/>
            <a:ext cx="9434513" cy="1600200"/>
          </a:xfrm>
        </p:spPr>
        <p:txBody>
          <a:bodyPr/>
          <a:lstStyle/>
          <a:p>
            <a:pPr eaLnBrk="1" hangingPunct="1">
              <a:lnSpc>
                <a:spcPct val="180000"/>
              </a:lnSpc>
            </a:pPr>
            <a:r>
              <a:rPr lang="zh-CN" altLang="en-US"/>
              <a:t>检查记录中主码值是否唯一的一种方法是进行</a:t>
            </a:r>
            <a:r>
              <a:rPr lang="zh-CN" altLang="en-US">
                <a:solidFill>
                  <a:srgbClr val="FF0000"/>
                </a:solidFill>
              </a:rPr>
              <a:t>全表扫描</a:t>
            </a:r>
          </a:p>
        </p:txBody>
      </p:sp>
      <p:pic>
        <p:nvPicPr>
          <p:cNvPr id="13317" name="Picture 4" descr="5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16013" y="2349500"/>
            <a:ext cx="6480175" cy="316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3317"/>
                                        </p:tgtEl>
                                        <p:attrNameLst>
                                          <p:attrName>style.visibility</p:attrName>
                                        </p:attrNameLst>
                                      </p:cBhvr>
                                      <p:to>
                                        <p:strVal val="visible"/>
                                      </p:to>
                                    </p:set>
                                    <p:animEffect transition="in" filter="box(in)">
                                      <p:cBhvr>
                                        <p:cTn id="7" dur="500"/>
                                        <p:tgtEl>
                                          <p:spTgt spid="133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0482"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169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3" name="页脚占位符 4"/>
          <p:cNvSpPr txBox="1">
            <a:spLocks noGrp="1" noChangeArrowheads="1"/>
          </p:cNvSpPr>
          <p:nvPr/>
        </p:nvSpPr>
        <p:spPr bwMode="auto">
          <a:xfrm>
            <a:off x="5219700" y="6381750"/>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kumimoji="1" lang="en-US" altLang="zh-CN" sz="1400" b="1">
              <a:solidFill>
                <a:srgbClr val="F03628"/>
              </a:solidFill>
              <a:latin typeface="Arial" panose="020B0604020202020204" pitchFamily="34" charset="0"/>
              <a:ea typeface="宋体" panose="02010600030101010101" pitchFamily="2" charset="-122"/>
            </a:endParaRPr>
          </a:p>
        </p:txBody>
      </p:sp>
      <p:sp>
        <p:nvSpPr>
          <p:cNvPr id="20484" name="Rectangle 2"/>
          <p:cNvSpPr txBox="1">
            <a:spLocks noChangeArrowheads="1"/>
          </p:cNvSpPr>
          <p:nvPr/>
        </p:nvSpPr>
        <p:spPr bwMode="auto">
          <a:xfrm>
            <a:off x="1763713" y="849313"/>
            <a:ext cx="8229600" cy="112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kumimoji="1" lang="zh-CN" altLang="en-US" sz="3600" b="1">
                <a:solidFill>
                  <a:schemeClr val="bg1"/>
                </a:solidFill>
                <a:latin typeface="Arial" panose="020B0604020202020204" pitchFamily="34" charset="0"/>
                <a:ea typeface="宋体" panose="02010600030101010101" pitchFamily="2" charset="-122"/>
              </a:rPr>
              <a:t>实体完整性检查和违约处理</a:t>
            </a:r>
            <a:r>
              <a:rPr kumimoji="1" lang="en-US" altLang="zh-CN" sz="3600" b="1">
                <a:solidFill>
                  <a:schemeClr val="bg1"/>
                </a:solidFill>
                <a:latin typeface="Arial" panose="020B0604020202020204" pitchFamily="34" charset="0"/>
                <a:ea typeface="宋体" panose="02010600030101010101" pitchFamily="2" charset="-122"/>
              </a:rPr>
              <a:t>（</a:t>
            </a:r>
            <a:r>
              <a:rPr kumimoji="1" lang="zh-CN" altLang="en-US" sz="3600" b="1">
                <a:solidFill>
                  <a:schemeClr val="bg1"/>
                </a:solidFill>
                <a:latin typeface="Arial" panose="020B0604020202020204" pitchFamily="34" charset="0"/>
                <a:ea typeface="宋体" panose="02010600030101010101" pitchFamily="2" charset="-122"/>
              </a:rPr>
              <a:t>续</a:t>
            </a:r>
            <a:r>
              <a:rPr kumimoji="1" lang="en-US" altLang="zh-CN" sz="3600" b="1">
                <a:solidFill>
                  <a:schemeClr val="bg1"/>
                </a:solidFill>
                <a:latin typeface="Arial" panose="020B0604020202020204" pitchFamily="34" charset="0"/>
                <a:ea typeface="宋体" panose="02010600030101010101" pitchFamily="2" charset="-122"/>
              </a:rPr>
              <a:t>）</a:t>
            </a:r>
          </a:p>
        </p:txBody>
      </p:sp>
      <p:sp>
        <p:nvSpPr>
          <p:cNvPr id="20485" name="Rectangle 3"/>
          <p:cNvSpPr txBox="1">
            <a:spLocks noChangeArrowheads="1"/>
          </p:cNvSpPr>
          <p:nvPr/>
        </p:nvSpPr>
        <p:spPr bwMode="auto">
          <a:xfrm>
            <a:off x="520700" y="1524000"/>
            <a:ext cx="8229600" cy="4033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800100" indent="-3429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742950" indent="-3429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50000"/>
              </a:lnSpc>
              <a:spcBef>
                <a:spcPct val="20000"/>
              </a:spcBef>
              <a:buFont typeface="Wingdings" panose="05000000000000000000" pitchFamily="2" charset="2"/>
              <a:buChar char="v"/>
            </a:pPr>
            <a:r>
              <a:rPr kumimoji="1" lang="zh-CN" altLang="en-US">
                <a:latin typeface="Arial" panose="020B0604020202020204" pitchFamily="34" charset="0"/>
                <a:ea typeface="宋体" panose="02010600030101010101" pitchFamily="2" charset="-122"/>
              </a:rPr>
              <a:t>表扫描缺点</a:t>
            </a:r>
            <a:endParaRPr kumimoji="1" lang="en-US" altLang="zh-CN">
              <a:latin typeface="Arial" panose="020B0604020202020204" pitchFamily="34" charset="0"/>
              <a:ea typeface="宋体" panose="02010600030101010101" pitchFamily="2" charset="-122"/>
            </a:endParaRPr>
          </a:p>
          <a:p>
            <a:pPr lvl="1" eaLnBrk="1" hangingPunct="1">
              <a:lnSpc>
                <a:spcPct val="150000"/>
              </a:lnSpc>
              <a:spcBef>
                <a:spcPct val="20000"/>
              </a:spcBef>
              <a:buFont typeface="Wingdings" panose="05000000000000000000" pitchFamily="2" charset="2"/>
              <a:buChar char="n"/>
            </a:pPr>
            <a:r>
              <a:rPr kumimoji="1" lang="zh-CN" altLang="en-US">
                <a:latin typeface="Arial" panose="020B0604020202020204" pitchFamily="34" charset="0"/>
                <a:ea typeface="宋体" panose="02010600030101010101" pitchFamily="2" charset="-122"/>
              </a:rPr>
              <a:t>十分耗时</a:t>
            </a:r>
            <a:endParaRPr kumimoji="1" lang="en-US" altLang="zh-CN">
              <a:latin typeface="Arial" panose="020B0604020202020204" pitchFamily="34" charset="0"/>
              <a:ea typeface="宋体" panose="02010600030101010101" pitchFamily="2" charset="-122"/>
            </a:endParaRPr>
          </a:p>
          <a:p>
            <a:pPr eaLnBrk="1" hangingPunct="1">
              <a:lnSpc>
                <a:spcPct val="150000"/>
              </a:lnSpc>
              <a:spcBef>
                <a:spcPct val="20000"/>
              </a:spcBef>
              <a:buFont typeface="Wingdings" panose="05000000000000000000" pitchFamily="2" charset="2"/>
              <a:buChar char="v"/>
            </a:pPr>
            <a:endParaRPr kumimoji="1" lang="en-US" altLang="zh-CN">
              <a:latin typeface="Arial" panose="020B0604020202020204" pitchFamily="34" charset="0"/>
              <a:ea typeface="宋体" panose="02010600030101010101" pitchFamily="2" charset="-122"/>
            </a:endParaRPr>
          </a:p>
          <a:p>
            <a:pPr eaLnBrk="1" hangingPunct="1">
              <a:lnSpc>
                <a:spcPct val="150000"/>
              </a:lnSpc>
              <a:spcBef>
                <a:spcPct val="20000"/>
              </a:spcBef>
              <a:buFont typeface="Wingdings" panose="05000000000000000000" pitchFamily="2" charset="2"/>
              <a:buChar char="v"/>
            </a:pPr>
            <a:r>
              <a:rPr kumimoji="1" lang="zh-CN" altLang="en-US">
                <a:latin typeface="Arial" panose="020B0604020202020204" pitchFamily="34" charset="0"/>
                <a:ea typeface="宋体" panose="02010600030101010101" pitchFamily="2" charset="-122"/>
              </a:rPr>
              <a:t>为避免对基本表进行全表扫描，</a:t>
            </a:r>
            <a:r>
              <a:rPr kumimoji="1" lang="en-US" altLang="zh-CN">
                <a:latin typeface="Arial" panose="020B0604020202020204" pitchFamily="34" charset="0"/>
                <a:ea typeface="宋体" panose="02010600030101010101" pitchFamily="2" charset="-122"/>
              </a:rPr>
              <a:t>RDBMS</a:t>
            </a:r>
            <a:r>
              <a:rPr kumimoji="1" lang="zh-CN" altLang="en-US">
                <a:latin typeface="Arial" panose="020B0604020202020204" pitchFamily="34" charset="0"/>
                <a:ea typeface="宋体" panose="02010600030101010101" pitchFamily="2" charset="-122"/>
              </a:rPr>
              <a:t>核心一般都在主码上自动建立一个</a:t>
            </a:r>
            <a:r>
              <a:rPr kumimoji="1" lang="zh-CN" altLang="en-US">
                <a:solidFill>
                  <a:srgbClr val="FF00FF"/>
                </a:solidFill>
                <a:latin typeface="Arial" panose="020B0604020202020204" pitchFamily="34" charset="0"/>
                <a:ea typeface="宋体" panose="02010600030101010101" pitchFamily="2" charset="-122"/>
              </a:rPr>
              <a:t>索引 </a:t>
            </a:r>
          </a:p>
          <a:p>
            <a:pPr eaLnBrk="1" hangingPunct="1">
              <a:lnSpc>
                <a:spcPct val="150000"/>
              </a:lnSpc>
              <a:spcBef>
                <a:spcPct val="20000"/>
              </a:spcBef>
              <a:buFont typeface="Wingdings" panose="05000000000000000000" pitchFamily="2" charset="2"/>
              <a:buChar char="v"/>
            </a:pPr>
            <a:endParaRPr kumimoji="1" lang="en-US" altLang="zh-CN" sz="2400" b="1">
              <a:solidFill>
                <a:srgbClr val="FF00FF"/>
              </a:solidFill>
              <a:latin typeface="Arial" panose="020B0604020202020204" pitchFamily="34" charset="0"/>
              <a:ea typeface="宋体" panose="02010600030101010101" pitchFamily="2" charset="-122"/>
            </a:endParaRPr>
          </a:p>
          <a:p>
            <a:pPr lvl="2" eaLnBrk="1" hangingPunct="1">
              <a:lnSpc>
                <a:spcPct val="150000"/>
              </a:lnSpc>
              <a:spcBef>
                <a:spcPct val="20000"/>
              </a:spcBef>
              <a:buSzPct val="85000"/>
              <a:buFont typeface="Wingdings" panose="05000000000000000000" pitchFamily="2" charset="2"/>
              <a:buChar char="n"/>
            </a:pPr>
            <a:endParaRPr kumimoji="1" lang="zh-CN" altLang="en-US">
              <a:latin typeface="Arial" panose="020B0604020202020204" pitchFamily="34" charset="0"/>
              <a:ea typeface="宋体" panose="02010600030101010101" pitchFamily="2" charset="-122"/>
            </a:endParaRPr>
          </a:p>
        </p:txBody>
      </p:sp>
      <p:sp>
        <p:nvSpPr>
          <p:cNvPr id="5" name="Rectangle 2"/>
          <p:cNvSpPr txBox="1">
            <a:spLocks noChangeArrowheads="1"/>
          </p:cNvSpPr>
          <p:nvPr/>
        </p:nvSpPr>
        <p:spPr>
          <a:xfrm>
            <a:off x="1187450" y="476672"/>
            <a:ext cx="7793038" cy="723900"/>
          </a:xfrm>
          <a:prstGeom prst="rect">
            <a:avLst/>
          </a:prstGeom>
        </p:spPr>
        <p:txBody>
          <a:bodyPr/>
          <a:lstStyle>
            <a:lvl1pPr algn="l" rtl="0" eaLnBrk="0" fontAlgn="base" hangingPunct="0">
              <a:spcBef>
                <a:spcPct val="0"/>
              </a:spcBef>
              <a:spcAft>
                <a:spcPct val="0"/>
              </a:spcAft>
              <a:defRPr kumimoji="1" sz="3600" b="1">
                <a:solidFill>
                  <a:schemeClr val="tx2"/>
                </a:solidFill>
                <a:latin typeface="+mj-lt"/>
                <a:ea typeface="+mj-ea"/>
                <a:cs typeface="+mj-cs"/>
              </a:defRPr>
            </a:lvl1pPr>
            <a:lvl2pPr algn="l" rtl="0" eaLnBrk="0" fontAlgn="base" hangingPunct="0">
              <a:spcBef>
                <a:spcPct val="0"/>
              </a:spcBef>
              <a:spcAft>
                <a:spcPct val="0"/>
              </a:spcAft>
              <a:defRPr kumimoji="1" sz="3600" b="1">
                <a:solidFill>
                  <a:schemeClr val="tx2"/>
                </a:solidFill>
                <a:latin typeface="Tahoma" panose="020B0604030504040204" pitchFamily="34" charset="0"/>
                <a:ea typeface="仿宋_GB2312" pitchFamily="49" charset="-122"/>
              </a:defRPr>
            </a:lvl2pPr>
            <a:lvl3pPr algn="l" rtl="0" eaLnBrk="0" fontAlgn="base" hangingPunct="0">
              <a:spcBef>
                <a:spcPct val="0"/>
              </a:spcBef>
              <a:spcAft>
                <a:spcPct val="0"/>
              </a:spcAft>
              <a:defRPr kumimoji="1" sz="3600" b="1">
                <a:solidFill>
                  <a:schemeClr val="tx2"/>
                </a:solidFill>
                <a:latin typeface="Tahoma" panose="020B0604030504040204" pitchFamily="34" charset="0"/>
                <a:ea typeface="仿宋_GB2312" pitchFamily="49" charset="-122"/>
              </a:defRPr>
            </a:lvl3pPr>
            <a:lvl4pPr algn="l" rtl="0" eaLnBrk="0" fontAlgn="base" hangingPunct="0">
              <a:spcBef>
                <a:spcPct val="0"/>
              </a:spcBef>
              <a:spcAft>
                <a:spcPct val="0"/>
              </a:spcAft>
              <a:defRPr kumimoji="1" sz="3600" b="1">
                <a:solidFill>
                  <a:schemeClr val="tx2"/>
                </a:solidFill>
                <a:latin typeface="Tahoma" panose="020B0604030504040204" pitchFamily="34" charset="0"/>
                <a:ea typeface="仿宋_GB2312" pitchFamily="49" charset="-122"/>
              </a:defRPr>
            </a:lvl4pPr>
            <a:lvl5pPr algn="l" rtl="0" eaLnBrk="0" fontAlgn="base" hangingPunct="0">
              <a:spcBef>
                <a:spcPct val="0"/>
              </a:spcBef>
              <a:spcAft>
                <a:spcPct val="0"/>
              </a:spcAft>
              <a:defRPr kumimoji="1" sz="3600" b="1">
                <a:solidFill>
                  <a:schemeClr val="tx2"/>
                </a:solidFill>
                <a:latin typeface="Tahoma" panose="020B0604030504040204" pitchFamily="34" charset="0"/>
                <a:ea typeface="仿宋_GB2312" pitchFamily="49" charset="-122"/>
              </a:defRPr>
            </a:lvl5pPr>
            <a:lvl6pPr marL="457200" algn="l" rtl="0" fontAlgn="base">
              <a:spcBef>
                <a:spcPct val="0"/>
              </a:spcBef>
              <a:spcAft>
                <a:spcPct val="0"/>
              </a:spcAft>
              <a:defRPr kumimoji="1" sz="3600" b="1">
                <a:solidFill>
                  <a:schemeClr val="tx2"/>
                </a:solidFill>
                <a:latin typeface="Tahoma" panose="020B0604030504040204" pitchFamily="34" charset="0"/>
                <a:ea typeface="仿宋_GB2312" pitchFamily="49" charset="-122"/>
              </a:defRPr>
            </a:lvl6pPr>
            <a:lvl7pPr marL="914400" algn="l" rtl="0" fontAlgn="base">
              <a:spcBef>
                <a:spcPct val="0"/>
              </a:spcBef>
              <a:spcAft>
                <a:spcPct val="0"/>
              </a:spcAft>
              <a:defRPr kumimoji="1" sz="3600" b="1">
                <a:solidFill>
                  <a:schemeClr val="tx2"/>
                </a:solidFill>
                <a:latin typeface="Tahoma" panose="020B0604030504040204" pitchFamily="34" charset="0"/>
                <a:ea typeface="仿宋_GB2312" pitchFamily="49" charset="-122"/>
              </a:defRPr>
            </a:lvl7pPr>
            <a:lvl8pPr marL="1371600" algn="l" rtl="0" fontAlgn="base">
              <a:spcBef>
                <a:spcPct val="0"/>
              </a:spcBef>
              <a:spcAft>
                <a:spcPct val="0"/>
              </a:spcAft>
              <a:defRPr kumimoji="1" sz="3600" b="1">
                <a:solidFill>
                  <a:schemeClr val="tx2"/>
                </a:solidFill>
                <a:latin typeface="Tahoma" panose="020B0604030504040204" pitchFamily="34" charset="0"/>
                <a:ea typeface="仿宋_GB2312" pitchFamily="49" charset="-122"/>
              </a:defRPr>
            </a:lvl8pPr>
            <a:lvl9pPr marL="1828800" algn="l" rtl="0" fontAlgn="base">
              <a:spcBef>
                <a:spcPct val="0"/>
              </a:spcBef>
              <a:spcAft>
                <a:spcPct val="0"/>
              </a:spcAft>
              <a:defRPr kumimoji="1" sz="3600" b="1">
                <a:solidFill>
                  <a:schemeClr val="tx2"/>
                </a:solidFill>
                <a:latin typeface="Tahoma" panose="020B0604030504040204" pitchFamily="34" charset="0"/>
                <a:ea typeface="仿宋_GB2312" pitchFamily="49" charset="-122"/>
              </a:defRPr>
            </a:lvl9pPr>
          </a:lstStyle>
          <a:p>
            <a:pPr eaLnBrk="1" hangingPunct="1">
              <a:defRPr/>
            </a:pPr>
            <a:r>
              <a:rPr lang="zh-CN" altLang="en-US" b="0" kern="0" dirty="0">
                <a:solidFill>
                  <a:schemeClr val="tx1"/>
                </a:solidFill>
                <a:latin typeface="宋体" panose="02010600030101010101" pitchFamily="2" charset="-122"/>
                <a:ea typeface="宋体" panose="02010600030101010101" pitchFamily="2" charset="-122"/>
                <a:cs typeface="宋体" panose="02010600030101010101" pitchFamily="2" charset="-122"/>
              </a:rPr>
              <a:t>实体完整性检查和违约处理</a:t>
            </a:r>
            <a:r>
              <a:rPr lang="en-US" altLang="zh-CN" b="0" kern="0" dirty="0">
                <a:solidFill>
                  <a:schemeClr val="tx1"/>
                </a:solidFill>
                <a:latin typeface="宋体" panose="02010600030101010101" pitchFamily="2" charset="-122"/>
                <a:ea typeface="宋体" panose="02010600030101010101" pitchFamily="2" charset="-122"/>
                <a:cs typeface="宋体" panose="02010600030101010101" pitchFamily="2" charset="-122"/>
              </a:rPr>
              <a:t>(</a:t>
            </a:r>
            <a:r>
              <a:rPr lang="zh-CN" altLang="en-US" b="0" kern="0" dirty="0">
                <a:solidFill>
                  <a:schemeClr val="tx1"/>
                </a:solidFill>
                <a:latin typeface="宋体" panose="02010600030101010101" pitchFamily="2" charset="-122"/>
                <a:ea typeface="宋体" panose="02010600030101010101" pitchFamily="2" charset="-122"/>
                <a:cs typeface="宋体" panose="02010600030101010101" pitchFamily="2" charset="-122"/>
              </a:rPr>
              <a:t>续</a:t>
            </a:r>
            <a:r>
              <a:rPr lang="en-US" altLang="zh-CN" b="0" kern="0" dirty="0">
                <a:solidFill>
                  <a:schemeClr val="tx1"/>
                </a:solidFill>
                <a:latin typeface="宋体" panose="02010600030101010101" pitchFamily="2" charset="-122"/>
                <a:ea typeface="宋体" panose="02010600030101010101" pitchFamily="2" charset="-122"/>
                <a:cs typeface="宋体" panose="02010600030101010101" pitchFamily="2" charset="-122"/>
              </a:rPr>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1506"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169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7" name="页脚占位符 4"/>
          <p:cNvSpPr txBox="1">
            <a:spLocks noGrp="1" noChangeArrowheads="1"/>
          </p:cNvSpPr>
          <p:nvPr/>
        </p:nvSpPr>
        <p:spPr bwMode="auto">
          <a:xfrm>
            <a:off x="5219700" y="6381750"/>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kumimoji="1" lang="en-US" altLang="zh-CN" sz="1400" b="1">
              <a:solidFill>
                <a:srgbClr val="F03628"/>
              </a:solidFill>
              <a:latin typeface="Arial" panose="020B0604020202020204" pitchFamily="34" charset="0"/>
              <a:ea typeface="宋体" panose="02010600030101010101" pitchFamily="2" charset="-122"/>
            </a:endParaRPr>
          </a:p>
        </p:txBody>
      </p:sp>
      <p:sp>
        <p:nvSpPr>
          <p:cNvPr id="18435" name="Rectangle 2"/>
          <p:cNvSpPr>
            <a:spLocks noGrp="1" noChangeArrowheads="1"/>
          </p:cNvSpPr>
          <p:nvPr>
            <p:ph type="title" idx="4294967295"/>
          </p:nvPr>
        </p:nvSpPr>
        <p:spPr>
          <a:xfrm>
            <a:off x="1178878" y="260648"/>
            <a:ext cx="7793037" cy="1143000"/>
          </a:xfrm>
        </p:spPr>
        <p:txBody>
          <a:bodyPr rtlCol="0">
            <a:normAutofit/>
          </a:bodyPr>
          <a:lstStyle/>
          <a:p>
            <a:pPr eaLnBrk="1" fontAlgn="auto" hangingPunct="1">
              <a:spcAft>
                <a:spcPts val="0"/>
              </a:spcAft>
              <a:defRPr/>
            </a:pPr>
            <a:r>
              <a:rPr lang="zh-CN" altLang="en-US" sz="3600" dirty="0">
                <a:latin typeface="宋体" panose="02010600030101010101" pitchFamily="2" charset="-122"/>
                <a:ea typeface="宋体" panose="02010600030101010101" pitchFamily="2" charset="-122"/>
              </a:rPr>
              <a:t>实体完整性检查和违约处理</a:t>
            </a:r>
            <a:r>
              <a:rPr lang="en-US" altLang="zh-CN" sz="3600" dirty="0">
                <a:latin typeface="宋体" panose="02010600030101010101" pitchFamily="2" charset="-122"/>
                <a:ea typeface="宋体" panose="02010600030101010101" pitchFamily="2" charset="-122"/>
              </a:rPr>
              <a:t>（</a:t>
            </a:r>
            <a:r>
              <a:rPr lang="zh-CN" altLang="en-US" sz="3600" dirty="0">
                <a:latin typeface="宋体" panose="02010600030101010101" pitchFamily="2" charset="-122"/>
                <a:ea typeface="宋体" panose="02010600030101010101" pitchFamily="2" charset="-122"/>
              </a:rPr>
              <a:t>续</a:t>
            </a:r>
            <a:r>
              <a:rPr lang="en-US" altLang="zh-CN" sz="3600" dirty="0">
                <a:latin typeface="宋体" panose="02010600030101010101" pitchFamily="2" charset="-122"/>
                <a:ea typeface="宋体" panose="02010600030101010101" pitchFamily="2" charset="-122"/>
              </a:rPr>
              <a:t>）</a:t>
            </a:r>
          </a:p>
        </p:txBody>
      </p:sp>
      <p:sp>
        <p:nvSpPr>
          <p:cNvPr id="18436" name="Rectangle 3"/>
          <p:cNvSpPr>
            <a:spLocks noGrp="1" noChangeArrowheads="1"/>
          </p:cNvSpPr>
          <p:nvPr>
            <p:ph type="body" idx="4294967295"/>
          </p:nvPr>
        </p:nvSpPr>
        <p:spPr>
          <a:xfrm>
            <a:off x="349249" y="1437217"/>
            <a:ext cx="8766175" cy="4755604"/>
          </a:xfrm>
        </p:spPr>
        <p:txBody>
          <a:bodyPr rtlCol="0">
            <a:normAutofit/>
          </a:bodyPr>
          <a:lstStyle/>
          <a:p>
            <a:pPr eaLnBrk="1" fontAlgn="auto" hangingPunct="1">
              <a:lnSpc>
                <a:spcPct val="140000"/>
              </a:lnSpc>
              <a:spcAft>
                <a:spcPts val="0"/>
              </a:spcAft>
              <a:defRPr/>
            </a:pPr>
            <a:r>
              <a:rPr lang="en-US" altLang="zh-CN" sz="2400" dirty="0">
                <a:solidFill>
                  <a:srgbClr val="FF00FF"/>
                </a:solidFill>
              </a:rPr>
              <a:t>B+</a:t>
            </a:r>
            <a:r>
              <a:rPr lang="zh-CN" altLang="en-US" sz="2400" dirty="0">
                <a:solidFill>
                  <a:srgbClr val="FF00FF"/>
                </a:solidFill>
              </a:rPr>
              <a:t>树索引</a:t>
            </a:r>
            <a:endParaRPr lang="en-US" altLang="zh-CN" sz="2400" dirty="0">
              <a:solidFill>
                <a:srgbClr val="FF00FF"/>
              </a:solidFill>
            </a:endParaRPr>
          </a:p>
          <a:p>
            <a:pPr eaLnBrk="1" fontAlgn="auto" hangingPunct="1">
              <a:lnSpc>
                <a:spcPct val="140000"/>
              </a:lnSpc>
              <a:spcAft>
                <a:spcPts val="0"/>
              </a:spcAft>
              <a:defRPr/>
            </a:pPr>
            <a:endParaRPr lang="en-US" altLang="zh-CN" dirty="0">
              <a:solidFill>
                <a:srgbClr val="FF00FF"/>
              </a:solidFill>
            </a:endParaRPr>
          </a:p>
          <a:p>
            <a:pPr eaLnBrk="1" fontAlgn="auto" hangingPunct="1">
              <a:lnSpc>
                <a:spcPct val="140000"/>
              </a:lnSpc>
              <a:spcAft>
                <a:spcPts val="0"/>
              </a:spcAft>
              <a:defRPr/>
            </a:pPr>
            <a:endParaRPr lang="en-US" altLang="zh-CN" dirty="0">
              <a:solidFill>
                <a:srgbClr val="FF00FF"/>
              </a:solidFill>
            </a:endParaRPr>
          </a:p>
          <a:p>
            <a:pPr marL="457200" lvl="1" indent="0" eaLnBrk="1" fontAlgn="auto" hangingPunct="1">
              <a:spcBef>
                <a:spcPct val="0"/>
              </a:spcBef>
              <a:spcAft>
                <a:spcPts val="0"/>
              </a:spcAft>
              <a:buNone/>
              <a:defRPr/>
            </a:pPr>
            <a:endParaRPr lang="en-US" altLang="zh-CN" dirty="0">
              <a:solidFill>
                <a:srgbClr val="FF00FF"/>
              </a:solidFill>
            </a:endParaRPr>
          </a:p>
          <a:p>
            <a:pPr marL="457200" lvl="1" indent="0" eaLnBrk="1" fontAlgn="auto" hangingPunct="1">
              <a:spcBef>
                <a:spcPct val="0"/>
              </a:spcBef>
              <a:spcAft>
                <a:spcPts val="0"/>
              </a:spcAft>
              <a:buNone/>
              <a:defRPr/>
            </a:pPr>
            <a:endParaRPr lang="en-US" altLang="zh-CN" sz="2000" dirty="0">
              <a:solidFill>
                <a:srgbClr val="FF00FF"/>
              </a:solidFill>
            </a:endParaRPr>
          </a:p>
          <a:p>
            <a:pPr marL="457200" lvl="1" indent="0" eaLnBrk="1" fontAlgn="auto" hangingPunct="1">
              <a:spcBef>
                <a:spcPct val="0"/>
              </a:spcBef>
              <a:spcAft>
                <a:spcPts val="0"/>
              </a:spcAft>
              <a:buNone/>
              <a:defRPr/>
            </a:pPr>
            <a:endParaRPr lang="en-US" altLang="zh-CN" sz="2000" dirty="0">
              <a:solidFill>
                <a:srgbClr val="FF00FF"/>
              </a:solidFill>
            </a:endParaRPr>
          </a:p>
          <a:p>
            <a:pPr marL="0" indent="0" eaLnBrk="1" fontAlgn="auto" hangingPunct="1">
              <a:spcBef>
                <a:spcPct val="0"/>
              </a:spcBef>
              <a:spcAft>
                <a:spcPts val="0"/>
              </a:spcAft>
              <a:buNone/>
              <a:defRPr/>
            </a:pPr>
            <a:r>
              <a:rPr lang="zh-CN" altLang="en-US" sz="2000" dirty="0"/>
              <a:t>如：新插入记录的主码值是</a:t>
            </a:r>
            <a:r>
              <a:rPr lang="en-US" altLang="zh-CN" sz="2000" dirty="0"/>
              <a:t>25</a:t>
            </a:r>
          </a:p>
          <a:p>
            <a:pPr lvl="1" eaLnBrk="1" fontAlgn="auto" hangingPunct="1">
              <a:spcBef>
                <a:spcPct val="0"/>
              </a:spcBef>
              <a:spcAft>
                <a:spcPts val="0"/>
              </a:spcAft>
              <a:buSzPct val="87000"/>
              <a:buFont typeface="Wingdings" panose="05000000000000000000" pitchFamily="2" charset="2"/>
              <a:buChar char="l"/>
              <a:defRPr/>
            </a:pPr>
            <a:r>
              <a:rPr lang="zh-CN" altLang="en-US" sz="2000" dirty="0"/>
              <a:t>通过主码索引，从</a:t>
            </a:r>
            <a:r>
              <a:rPr lang="en-US" altLang="zh-CN" sz="2000" dirty="0"/>
              <a:t>B+</a:t>
            </a:r>
            <a:r>
              <a:rPr lang="zh-CN" altLang="en-US" sz="2000" dirty="0"/>
              <a:t>树的根结点开始查找</a:t>
            </a:r>
          </a:p>
          <a:p>
            <a:pPr lvl="1" eaLnBrk="1" fontAlgn="auto" hangingPunct="1">
              <a:spcBef>
                <a:spcPct val="0"/>
              </a:spcBef>
              <a:spcAft>
                <a:spcPts val="0"/>
              </a:spcAft>
              <a:buSzPct val="87000"/>
              <a:buFont typeface="Wingdings" panose="05000000000000000000" pitchFamily="2" charset="2"/>
              <a:buChar char="l"/>
              <a:defRPr/>
            </a:pPr>
            <a:r>
              <a:rPr lang="zh-CN" altLang="en-US" sz="2000" dirty="0"/>
              <a:t>读取</a:t>
            </a:r>
            <a:r>
              <a:rPr lang="en-US" altLang="zh-CN" sz="2000" dirty="0"/>
              <a:t>3</a:t>
            </a:r>
            <a:r>
              <a:rPr lang="zh-CN" altLang="en-US" sz="2000" dirty="0"/>
              <a:t>个结点：根结点（</a:t>
            </a:r>
            <a:r>
              <a:rPr lang="en-US" altLang="zh-CN" sz="2000" dirty="0"/>
              <a:t>51</a:t>
            </a:r>
            <a:r>
              <a:rPr lang="zh-CN" altLang="en-US" sz="2000" dirty="0"/>
              <a:t>）、中间结点（</a:t>
            </a:r>
            <a:r>
              <a:rPr lang="en-US" altLang="zh-CN" sz="2000" dirty="0"/>
              <a:t>12 30</a:t>
            </a:r>
            <a:r>
              <a:rPr lang="zh-CN" altLang="en-US" sz="2000" dirty="0"/>
              <a:t>）、叶结点（</a:t>
            </a:r>
            <a:r>
              <a:rPr lang="en-US" altLang="zh-CN" sz="2000" dirty="0"/>
              <a:t>15 20 25</a:t>
            </a:r>
            <a:r>
              <a:rPr lang="zh-CN" altLang="en-US" sz="2000" dirty="0"/>
              <a:t>）</a:t>
            </a:r>
          </a:p>
          <a:p>
            <a:pPr lvl="1" eaLnBrk="1" fontAlgn="auto" hangingPunct="1">
              <a:spcBef>
                <a:spcPct val="0"/>
              </a:spcBef>
              <a:spcAft>
                <a:spcPts val="0"/>
              </a:spcAft>
              <a:buSzPct val="87000"/>
              <a:buFont typeface="Wingdings" panose="05000000000000000000" pitchFamily="2" charset="2"/>
              <a:buChar char="l"/>
              <a:defRPr/>
            </a:pPr>
            <a:r>
              <a:rPr lang="zh-CN" altLang="en-US" sz="2000" dirty="0"/>
              <a:t>该主码值已经存在，不能插入这条记录</a:t>
            </a:r>
          </a:p>
          <a:p>
            <a:pPr eaLnBrk="1" fontAlgn="auto" hangingPunct="1">
              <a:lnSpc>
                <a:spcPct val="140000"/>
              </a:lnSpc>
              <a:spcAft>
                <a:spcPts val="0"/>
              </a:spcAft>
              <a:buFont typeface="Wingdings" panose="05000000000000000000" pitchFamily="2" charset="2"/>
              <a:buNone/>
              <a:defRPr/>
            </a:pPr>
            <a:endParaRPr lang="zh-CN" altLang="en-US" dirty="0">
              <a:solidFill>
                <a:srgbClr val="FF00FF"/>
              </a:solidFill>
            </a:endParaRPr>
          </a:p>
        </p:txBody>
      </p:sp>
      <p:pic>
        <p:nvPicPr>
          <p:cNvPr id="18437"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5816" y="1584326"/>
            <a:ext cx="4737100" cy="2478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8437"/>
                                        </p:tgtEl>
                                        <p:attrNameLst>
                                          <p:attrName>style.visibility</p:attrName>
                                        </p:attrNameLst>
                                      </p:cBhvr>
                                      <p:to>
                                        <p:strVal val="visible"/>
                                      </p:to>
                                    </p:set>
                                    <p:animEffect transition="in" filter="fade">
                                      <p:cBhvr>
                                        <p:cTn id="7" dur="1000"/>
                                        <p:tgtEl>
                                          <p:spTgt spid="18437"/>
                                        </p:tgtEl>
                                      </p:cBhvr>
                                    </p:animEffect>
                                    <p:anim calcmode="lin" valueType="num">
                                      <p:cBhvr>
                                        <p:cTn id="8" dur="1000" fill="hold"/>
                                        <p:tgtEl>
                                          <p:spTgt spid="18437"/>
                                        </p:tgtEl>
                                        <p:attrNameLst>
                                          <p:attrName>ppt_x</p:attrName>
                                        </p:attrNameLst>
                                      </p:cBhvr>
                                      <p:tavLst>
                                        <p:tav tm="0">
                                          <p:val>
                                            <p:strVal val="#ppt_x"/>
                                          </p:val>
                                        </p:tav>
                                        <p:tav tm="100000">
                                          <p:val>
                                            <p:strVal val="#ppt_x"/>
                                          </p:val>
                                        </p:tav>
                                      </p:tavLst>
                                    </p:anim>
                                    <p:anim calcmode="lin" valueType="num">
                                      <p:cBhvr>
                                        <p:cTn id="9" dur="1000" fill="hold"/>
                                        <p:tgtEl>
                                          <p:spTgt spid="1843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8436">
                                            <p:txEl>
                                              <p:pRg st="6" end="6"/>
                                            </p:txEl>
                                          </p:spTgt>
                                        </p:tgtEl>
                                        <p:attrNameLst>
                                          <p:attrName>style.visibility</p:attrName>
                                        </p:attrNameLst>
                                      </p:cBhvr>
                                      <p:to>
                                        <p:strVal val="visible"/>
                                      </p:to>
                                    </p:set>
                                    <p:animEffect transition="in" filter="fade">
                                      <p:cBhvr>
                                        <p:cTn id="14" dur="1000"/>
                                        <p:tgtEl>
                                          <p:spTgt spid="18436">
                                            <p:txEl>
                                              <p:pRg st="6" end="6"/>
                                            </p:txEl>
                                          </p:spTgt>
                                        </p:tgtEl>
                                      </p:cBhvr>
                                    </p:animEffect>
                                    <p:anim calcmode="lin" valueType="num">
                                      <p:cBhvr>
                                        <p:cTn id="15" dur="1000" fill="hold"/>
                                        <p:tgtEl>
                                          <p:spTgt spid="18436">
                                            <p:txEl>
                                              <p:pRg st="6" end="6"/>
                                            </p:txEl>
                                          </p:spTgt>
                                        </p:tgtEl>
                                        <p:attrNameLst>
                                          <p:attrName>ppt_x</p:attrName>
                                        </p:attrNameLst>
                                      </p:cBhvr>
                                      <p:tavLst>
                                        <p:tav tm="0">
                                          <p:val>
                                            <p:strVal val="#ppt_x"/>
                                          </p:val>
                                        </p:tav>
                                        <p:tav tm="100000">
                                          <p:val>
                                            <p:strVal val="#ppt_x"/>
                                          </p:val>
                                        </p:tav>
                                      </p:tavLst>
                                    </p:anim>
                                    <p:anim calcmode="lin" valueType="num">
                                      <p:cBhvr>
                                        <p:cTn id="16" dur="1000" fill="hold"/>
                                        <p:tgtEl>
                                          <p:spTgt spid="18436">
                                            <p:txEl>
                                              <p:pRg st="6" end="6"/>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18436">
                                            <p:txEl>
                                              <p:pRg st="7" end="7"/>
                                            </p:txEl>
                                          </p:spTgt>
                                        </p:tgtEl>
                                        <p:attrNameLst>
                                          <p:attrName>style.visibility</p:attrName>
                                        </p:attrNameLst>
                                      </p:cBhvr>
                                      <p:to>
                                        <p:strVal val="visible"/>
                                      </p:to>
                                    </p:set>
                                    <p:animEffect transition="in" filter="fade">
                                      <p:cBhvr>
                                        <p:cTn id="19" dur="1000"/>
                                        <p:tgtEl>
                                          <p:spTgt spid="18436">
                                            <p:txEl>
                                              <p:pRg st="7" end="7"/>
                                            </p:txEl>
                                          </p:spTgt>
                                        </p:tgtEl>
                                      </p:cBhvr>
                                    </p:animEffect>
                                    <p:anim calcmode="lin" valueType="num">
                                      <p:cBhvr>
                                        <p:cTn id="20" dur="1000" fill="hold"/>
                                        <p:tgtEl>
                                          <p:spTgt spid="18436">
                                            <p:txEl>
                                              <p:pRg st="7" end="7"/>
                                            </p:txEl>
                                          </p:spTgt>
                                        </p:tgtEl>
                                        <p:attrNameLst>
                                          <p:attrName>ppt_x</p:attrName>
                                        </p:attrNameLst>
                                      </p:cBhvr>
                                      <p:tavLst>
                                        <p:tav tm="0">
                                          <p:val>
                                            <p:strVal val="#ppt_x"/>
                                          </p:val>
                                        </p:tav>
                                        <p:tav tm="100000">
                                          <p:val>
                                            <p:strVal val="#ppt_x"/>
                                          </p:val>
                                        </p:tav>
                                      </p:tavLst>
                                    </p:anim>
                                    <p:anim calcmode="lin" valueType="num">
                                      <p:cBhvr>
                                        <p:cTn id="21" dur="1000" fill="hold"/>
                                        <p:tgtEl>
                                          <p:spTgt spid="18436">
                                            <p:txEl>
                                              <p:pRg st="7" end="7"/>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18436">
                                            <p:txEl>
                                              <p:pRg st="8" end="8"/>
                                            </p:txEl>
                                          </p:spTgt>
                                        </p:tgtEl>
                                        <p:attrNameLst>
                                          <p:attrName>style.visibility</p:attrName>
                                        </p:attrNameLst>
                                      </p:cBhvr>
                                      <p:to>
                                        <p:strVal val="visible"/>
                                      </p:to>
                                    </p:set>
                                    <p:animEffect transition="in" filter="fade">
                                      <p:cBhvr>
                                        <p:cTn id="24" dur="1000"/>
                                        <p:tgtEl>
                                          <p:spTgt spid="18436">
                                            <p:txEl>
                                              <p:pRg st="8" end="8"/>
                                            </p:txEl>
                                          </p:spTgt>
                                        </p:tgtEl>
                                      </p:cBhvr>
                                    </p:animEffect>
                                    <p:anim calcmode="lin" valueType="num">
                                      <p:cBhvr>
                                        <p:cTn id="25" dur="1000" fill="hold"/>
                                        <p:tgtEl>
                                          <p:spTgt spid="18436">
                                            <p:txEl>
                                              <p:pRg st="8" end="8"/>
                                            </p:txEl>
                                          </p:spTgt>
                                        </p:tgtEl>
                                        <p:attrNameLst>
                                          <p:attrName>ppt_x</p:attrName>
                                        </p:attrNameLst>
                                      </p:cBhvr>
                                      <p:tavLst>
                                        <p:tav tm="0">
                                          <p:val>
                                            <p:strVal val="#ppt_x"/>
                                          </p:val>
                                        </p:tav>
                                        <p:tav tm="100000">
                                          <p:val>
                                            <p:strVal val="#ppt_x"/>
                                          </p:val>
                                        </p:tav>
                                      </p:tavLst>
                                    </p:anim>
                                    <p:anim calcmode="lin" valueType="num">
                                      <p:cBhvr>
                                        <p:cTn id="26" dur="1000" fill="hold"/>
                                        <p:tgtEl>
                                          <p:spTgt spid="18436">
                                            <p:txEl>
                                              <p:pRg st="8" end="8"/>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18436">
                                            <p:txEl>
                                              <p:pRg st="9" end="9"/>
                                            </p:txEl>
                                          </p:spTgt>
                                        </p:tgtEl>
                                        <p:attrNameLst>
                                          <p:attrName>style.visibility</p:attrName>
                                        </p:attrNameLst>
                                      </p:cBhvr>
                                      <p:to>
                                        <p:strVal val="visible"/>
                                      </p:to>
                                    </p:set>
                                    <p:animEffect transition="in" filter="fade">
                                      <p:cBhvr>
                                        <p:cTn id="29" dur="1000"/>
                                        <p:tgtEl>
                                          <p:spTgt spid="18436">
                                            <p:txEl>
                                              <p:pRg st="9" end="9"/>
                                            </p:txEl>
                                          </p:spTgt>
                                        </p:tgtEl>
                                      </p:cBhvr>
                                    </p:animEffect>
                                    <p:anim calcmode="lin" valueType="num">
                                      <p:cBhvr>
                                        <p:cTn id="30" dur="1000" fill="hold"/>
                                        <p:tgtEl>
                                          <p:spTgt spid="18436">
                                            <p:txEl>
                                              <p:pRg st="9" end="9"/>
                                            </p:txEl>
                                          </p:spTgt>
                                        </p:tgtEl>
                                        <p:attrNameLst>
                                          <p:attrName>ppt_x</p:attrName>
                                        </p:attrNameLst>
                                      </p:cBhvr>
                                      <p:tavLst>
                                        <p:tav tm="0">
                                          <p:val>
                                            <p:strVal val="#ppt_x"/>
                                          </p:val>
                                        </p:tav>
                                        <p:tav tm="100000">
                                          <p:val>
                                            <p:strVal val="#ppt_x"/>
                                          </p:val>
                                        </p:tav>
                                      </p:tavLst>
                                    </p:anim>
                                    <p:anim calcmode="lin" valueType="num">
                                      <p:cBhvr>
                                        <p:cTn id="31" dur="1000" fill="hold"/>
                                        <p:tgtEl>
                                          <p:spTgt spid="18436">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530" name="标题 1"/>
          <p:cNvSpPr>
            <a:spLocks noGrp="1" noChangeArrowheads="1"/>
          </p:cNvSpPr>
          <p:nvPr>
            <p:ph type="title"/>
          </p:nvPr>
        </p:nvSpPr>
        <p:spPr>
          <a:xfrm>
            <a:off x="1331913" y="188640"/>
            <a:ext cx="7886700" cy="1325563"/>
          </a:xfrm>
        </p:spPr>
        <p:txBody>
          <a:bodyPr/>
          <a:lstStyle/>
          <a:p>
            <a:pPr eaLnBrk="1" hangingPunct="1"/>
            <a:r>
              <a:rPr lang="zh-CN" altLang="en-US" sz="3600" dirty="0">
                <a:latin typeface="宋体" panose="02010600030101010101" pitchFamily="2" charset="-122"/>
                <a:ea typeface="宋体" panose="02010600030101010101" pitchFamily="2" charset="-122"/>
              </a:rPr>
              <a:t>三类完整性约束</a:t>
            </a:r>
          </a:p>
        </p:txBody>
      </p:sp>
      <p:sp>
        <p:nvSpPr>
          <p:cNvPr id="22531" name="内容占位符 2"/>
          <p:cNvSpPr>
            <a:spLocks noGrp="1" noChangeArrowheads="1"/>
          </p:cNvSpPr>
          <p:nvPr>
            <p:ph idx="1"/>
          </p:nvPr>
        </p:nvSpPr>
        <p:spPr>
          <a:xfrm>
            <a:off x="827088" y="2017713"/>
            <a:ext cx="7772400" cy="4114800"/>
          </a:xfrm>
        </p:spPr>
        <p:txBody>
          <a:bodyPr/>
          <a:lstStyle/>
          <a:p>
            <a:pPr eaLnBrk="1" hangingPunct="1"/>
            <a:r>
              <a:rPr lang="zh-CN" altLang="en-US" b="1"/>
              <a:t>实体完整性</a:t>
            </a:r>
            <a:endParaRPr lang="en-US" altLang="zh-CN" b="1"/>
          </a:p>
          <a:p>
            <a:pPr eaLnBrk="1" hangingPunct="1"/>
            <a:r>
              <a:rPr lang="zh-CN" altLang="en-US" b="1">
                <a:solidFill>
                  <a:srgbClr val="FF0000"/>
                </a:solidFill>
              </a:rPr>
              <a:t>参照完整性</a:t>
            </a:r>
            <a:endParaRPr lang="en-US" altLang="zh-CN" b="1">
              <a:solidFill>
                <a:srgbClr val="FF0000"/>
              </a:solidFill>
            </a:endParaRPr>
          </a:p>
          <a:p>
            <a:pPr eaLnBrk="1" hangingPunct="1"/>
            <a:r>
              <a:rPr lang="zh-CN" altLang="en-US" b="1"/>
              <a:t>用户定义完整性</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什么叫参照完整性？</a:t>
            </a:r>
          </a:p>
        </p:txBody>
      </p:sp>
      <p:sp>
        <p:nvSpPr>
          <p:cNvPr id="7" name="矩形: 圆角 6"/>
          <p:cNvSpPr/>
          <p:nvPr>
            <p:custDataLst>
              <p:tags r:id="rId3"/>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sym typeface="微软雅黑" panose="020B0503020204020204" charset="-122"/>
              </a:rPr>
              <a:t>作答</a:t>
            </a:r>
          </a:p>
        </p:txBody>
      </p:sp>
      <p:grpSp>
        <p:nvGrpSpPr>
          <p:cNvPr id="12" name="组合 11"/>
          <p:cNvGrpSpPr/>
          <p:nvPr>
            <p:custDataLst>
              <p:tags r:id="rId4"/>
            </p:custDataLst>
          </p:nvPr>
        </p:nvGrpSpPr>
        <p:grpSpPr>
          <a:xfrm>
            <a:off x="0" y="0"/>
            <a:ext cx="9144000" cy="635000"/>
            <a:chOff x="0" y="0"/>
            <a:chExt cx="9144000" cy="635000"/>
          </a:xfrm>
        </p:grpSpPr>
        <p:sp>
          <p:nvSpPr>
            <p:cNvPr id="8" name="TitleBackground"/>
            <p:cNvSpPr/>
            <p:nvPr>
              <p:custDataLst>
                <p:tags r:id="rId6"/>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ColorBlock"/>
            <p:cNvSpPr/>
            <p:nvPr>
              <p:custDataLst>
                <p:tags r:id="rId7"/>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charset="-122"/>
                  <a:ea typeface="微软雅黑" panose="020B0503020204020204" charset="-122"/>
                  <a:sym typeface="微软雅黑" panose="020B0503020204020204" charset="-122"/>
                </a:rPr>
                <a:t>主观题</a:t>
              </a:r>
            </a:p>
          </p:txBody>
        </p:sp>
        <p:sp>
          <p:nvSpPr>
            <p:cNvPr id="11" name="TipText"/>
            <p:cNvSpPr txBox="1"/>
            <p:nvPr>
              <p:custDataLst>
                <p:tags r:id="rId9"/>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charset="-122"/>
                  <a:ea typeface="微软雅黑" panose="020B0503020204020204" charset="-122"/>
                  <a:sym typeface="微软雅黑" panose="020B0503020204020204" charset="-122"/>
                </a:rPr>
                <a:t>10</a:t>
              </a:r>
              <a:r>
                <a:rPr lang="zh-CN" altLang="en-US" sz="2000">
                  <a:solidFill>
                    <a:srgbClr val="808080"/>
                  </a:solidFill>
                  <a:latin typeface="微软雅黑" panose="020B0503020204020204" charset="-122"/>
                  <a:ea typeface="微软雅黑" panose="020B0503020204020204" charset="-122"/>
                  <a:sym typeface="微软雅黑" panose="020B0503020204020204" charset="-122"/>
                </a:rPr>
                <a:t>分</a:t>
              </a:r>
            </a:p>
          </p:txBody>
        </p:sp>
      </p:grpSp>
      <p:pic>
        <p:nvPicPr>
          <p:cNvPr id="5" name="图片 4"/>
          <p:cNvPicPr/>
          <p:nvPr>
            <p:custDataLst>
              <p:tags r:id="rId5"/>
            </p:custDataLst>
          </p:nvPr>
        </p:nvPicPr>
        <p:blipFill>
          <a:blip r:embed="rId12">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1185545" y="188640"/>
            <a:ext cx="7886700" cy="1325563"/>
          </a:xfrm>
        </p:spPr>
        <p:txBody>
          <a:bodyPr/>
          <a:lstStyle/>
          <a:p>
            <a:pPr eaLnBrk="1" hangingPunct="1"/>
            <a:r>
              <a:rPr lang="zh-CN" altLang="en-US" sz="3600" dirty="0">
                <a:latin typeface="宋体" panose="02010600030101010101" pitchFamily="2" charset="-122"/>
                <a:ea typeface="宋体" panose="02010600030101010101" pitchFamily="2" charset="-122"/>
              </a:rPr>
              <a:t>参照完整性</a:t>
            </a:r>
          </a:p>
        </p:txBody>
      </p:sp>
      <p:sp>
        <p:nvSpPr>
          <p:cNvPr id="23555" name="Rectangle 3"/>
          <p:cNvSpPr>
            <a:spLocks noGrp="1" noChangeArrowheads="1"/>
          </p:cNvSpPr>
          <p:nvPr>
            <p:ph idx="1"/>
          </p:nvPr>
        </p:nvSpPr>
        <p:spPr>
          <a:xfrm>
            <a:off x="611188" y="1905000"/>
            <a:ext cx="8075612" cy="4114800"/>
          </a:xfrm>
        </p:spPr>
        <p:txBody>
          <a:bodyPr/>
          <a:lstStyle/>
          <a:p>
            <a:pPr eaLnBrk="1" hangingPunct="1">
              <a:lnSpc>
                <a:spcPct val="120000"/>
              </a:lnSpc>
              <a:buFont typeface="Wingdings" panose="05000000000000000000" pitchFamily="2" charset="2"/>
              <a:buNone/>
            </a:pPr>
            <a:r>
              <a:rPr lang="zh-CN" altLang="en-US"/>
              <a:t>关系模型的参照完整性在</a:t>
            </a:r>
            <a:r>
              <a:rPr lang="en-US" altLang="zh-CN"/>
              <a:t>CREATE TABLE</a:t>
            </a:r>
            <a:r>
              <a:rPr lang="zh-CN" altLang="en-US"/>
              <a:t>中定义</a:t>
            </a:r>
          </a:p>
          <a:p>
            <a:pPr eaLnBrk="1" hangingPunct="1">
              <a:lnSpc>
                <a:spcPct val="120000"/>
              </a:lnSpc>
            </a:pPr>
            <a:r>
              <a:rPr lang="en-US" altLang="zh-CN" sz="2400"/>
              <a:t>FOREIGN KEY</a:t>
            </a:r>
            <a:r>
              <a:rPr lang="zh-CN" altLang="en-US" sz="2400"/>
              <a:t>子句：定义外码列</a:t>
            </a:r>
          </a:p>
          <a:p>
            <a:pPr eaLnBrk="1" hangingPunct="1">
              <a:lnSpc>
                <a:spcPct val="120000"/>
              </a:lnSpc>
              <a:spcBef>
                <a:spcPct val="60000"/>
              </a:spcBef>
            </a:pPr>
            <a:r>
              <a:rPr lang="en-US" altLang="zh-CN" sz="2400"/>
              <a:t>REFERENCES</a:t>
            </a:r>
            <a:r>
              <a:rPr lang="zh-CN" altLang="en-US" sz="2400"/>
              <a:t>子句：外码相应于哪个表的主码</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1188403" y="188640"/>
            <a:ext cx="7886700" cy="1325562"/>
          </a:xfrm>
        </p:spPr>
        <p:txBody>
          <a:bodyPr/>
          <a:lstStyle/>
          <a:p>
            <a:pPr eaLnBrk="1" hangingPunct="1"/>
            <a:r>
              <a:rPr lang="zh-CN" altLang="en-US" sz="3600" dirty="0">
                <a:latin typeface="宋体" panose="02010600030101010101" pitchFamily="2" charset="-122"/>
                <a:ea typeface="宋体" panose="02010600030101010101" pitchFamily="2" charset="-122"/>
              </a:rPr>
              <a:t>参照完整性定义</a:t>
            </a:r>
          </a:p>
        </p:txBody>
      </p:sp>
      <p:sp>
        <p:nvSpPr>
          <p:cNvPr id="21508" name="Rectangle 3"/>
          <p:cNvSpPr>
            <a:spLocks noGrp="1" noChangeArrowheads="1"/>
          </p:cNvSpPr>
          <p:nvPr>
            <p:ph idx="1"/>
          </p:nvPr>
        </p:nvSpPr>
        <p:spPr>
          <a:xfrm>
            <a:off x="395288" y="1628775"/>
            <a:ext cx="8286750" cy="4114800"/>
          </a:xfrm>
        </p:spPr>
        <p:txBody>
          <a:bodyPr rtlCol="0">
            <a:normAutofit lnSpcReduction="10000"/>
          </a:bodyPr>
          <a:lstStyle/>
          <a:p>
            <a:pPr eaLnBrk="1" fontAlgn="auto" hangingPunct="1">
              <a:lnSpc>
                <a:spcPct val="80000"/>
              </a:lnSpc>
              <a:spcAft>
                <a:spcPts val="0"/>
              </a:spcAft>
              <a:buFont typeface="Wingdings" panose="05000000000000000000" pitchFamily="2" charset="2"/>
              <a:buNone/>
              <a:defRPr/>
            </a:pPr>
            <a:r>
              <a:rPr lang="zh-CN" altLang="en-US" dirty="0"/>
              <a:t>例：定义</a:t>
            </a:r>
            <a:r>
              <a:rPr lang="en-US" altLang="zh-CN" dirty="0"/>
              <a:t>SC</a:t>
            </a:r>
            <a:r>
              <a:rPr lang="zh-CN" altLang="en-US" dirty="0"/>
              <a:t>表的参照完整性</a:t>
            </a:r>
          </a:p>
          <a:p>
            <a:pPr eaLnBrk="1" fontAlgn="auto" hangingPunct="1">
              <a:lnSpc>
                <a:spcPct val="80000"/>
              </a:lnSpc>
              <a:spcAft>
                <a:spcPts val="0"/>
              </a:spcAft>
              <a:buFont typeface="Wingdings" panose="05000000000000000000" pitchFamily="2" charset="2"/>
              <a:buNone/>
              <a:defRPr/>
            </a:pPr>
            <a:endParaRPr lang="zh-CN" altLang="en-US" dirty="0"/>
          </a:p>
          <a:p>
            <a:pPr eaLnBrk="1" fontAlgn="auto" hangingPunct="1">
              <a:lnSpc>
                <a:spcPct val="80000"/>
              </a:lnSpc>
              <a:spcAft>
                <a:spcPts val="0"/>
              </a:spcAft>
              <a:buFont typeface="Wingdings" panose="05000000000000000000" pitchFamily="2" charset="2"/>
              <a:buNone/>
              <a:defRPr/>
            </a:pPr>
            <a:r>
              <a:rPr lang="zh-CN" altLang="en-US" dirty="0"/>
              <a:t>    </a:t>
            </a:r>
            <a:r>
              <a:rPr lang="en-US" altLang="zh-CN" sz="2400" dirty="0"/>
              <a:t>CREATE TABLE SC</a:t>
            </a:r>
          </a:p>
          <a:p>
            <a:pPr eaLnBrk="1" fontAlgn="auto" hangingPunct="1">
              <a:lnSpc>
                <a:spcPct val="80000"/>
              </a:lnSpc>
              <a:spcAft>
                <a:spcPts val="0"/>
              </a:spcAft>
              <a:buFont typeface="Wingdings" panose="05000000000000000000" pitchFamily="2" charset="2"/>
              <a:buNone/>
              <a:defRPr/>
            </a:pPr>
            <a:r>
              <a:rPr lang="en-US" altLang="zh-CN" sz="2400" dirty="0"/>
              <a:t>           ( </a:t>
            </a:r>
            <a:r>
              <a:rPr lang="en-US" altLang="zh-CN" sz="2400" dirty="0" err="1"/>
              <a:t>Sno</a:t>
            </a:r>
            <a:r>
              <a:rPr lang="en-US" altLang="zh-CN" sz="2400" dirty="0"/>
              <a:t>   CHAR(9) NOT NULL,</a:t>
            </a:r>
          </a:p>
          <a:p>
            <a:pPr eaLnBrk="1" fontAlgn="auto" hangingPunct="1">
              <a:lnSpc>
                <a:spcPct val="80000"/>
              </a:lnSpc>
              <a:spcAft>
                <a:spcPts val="0"/>
              </a:spcAft>
              <a:buFont typeface="Wingdings" panose="05000000000000000000" pitchFamily="2" charset="2"/>
              <a:buNone/>
              <a:defRPr/>
            </a:pPr>
            <a:r>
              <a:rPr lang="en-US" altLang="zh-CN" sz="2400" dirty="0"/>
              <a:t>             </a:t>
            </a:r>
            <a:r>
              <a:rPr lang="en-US" altLang="zh-CN" sz="2400" dirty="0" err="1"/>
              <a:t>Cno</a:t>
            </a:r>
            <a:r>
              <a:rPr lang="en-US" altLang="zh-CN" sz="2400" dirty="0"/>
              <a:t>   CHAR(4)  NOT NULL,</a:t>
            </a:r>
          </a:p>
          <a:p>
            <a:pPr eaLnBrk="1" fontAlgn="auto" hangingPunct="1">
              <a:lnSpc>
                <a:spcPct val="80000"/>
              </a:lnSpc>
              <a:spcAft>
                <a:spcPts val="0"/>
              </a:spcAft>
              <a:buFont typeface="Wingdings" panose="05000000000000000000" pitchFamily="2" charset="2"/>
              <a:buNone/>
              <a:defRPr/>
            </a:pPr>
            <a:r>
              <a:rPr lang="en-US" altLang="zh-CN" sz="2400" dirty="0"/>
              <a:t>             Grade  SMALLINT,</a:t>
            </a:r>
          </a:p>
          <a:p>
            <a:pPr eaLnBrk="1" fontAlgn="auto" hangingPunct="1">
              <a:lnSpc>
                <a:spcPct val="80000"/>
              </a:lnSpc>
              <a:spcAft>
                <a:spcPts val="0"/>
              </a:spcAft>
              <a:buFont typeface="Wingdings" panose="05000000000000000000" pitchFamily="2" charset="2"/>
              <a:buNone/>
              <a:defRPr/>
            </a:pPr>
            <a:r>
              <a:rPr lang="en-US" altLang="zh-CN" sz="2400" dirty="0"/>
              <a:t>             PRIMARY KEY (</a:t>
            </a:r>
            <a:r>
              <a:rPr lang="en-US" altLang="zh-CN" sz="2400" dirty="0" err="1"/>
              <a:t>Sno,Cno</a:t>
            </a:r>
            <a:r>
              <a:rPr lang="en-US" altLang="zh-CN" sz="2400" dirty="0"/>
              <a:t>),</a:t>
            </a:r>
          </a:p>
          <a:p>
            <a:pPr eaLnBrk="1" fontAlgn="auto" hangingPunct="1">
              <a:lnSpc>
                <a:spcPct val="80000"/>
              </a:lnSpc>
              <a:spcAft>
                <a:spcPts val="0"/>
              </a:spcAft>
              <a:buFont typeface="Wingdings" panose="05000000000000000000" pitchFamily="2" charset="2"/>
              <a:buNone/>
              <a:defRPr/>
            </a:pPr>
            <a:r>
              <a:rPr lang="en-US" altLang="zh-CN" sz="2400" dirty="0">
                <a:solidFill>
                  <a:srgbClr val="FF0000"/>
                </a:solidFill>
              </a:rPr>
              <a:t>            </a:t>
            </a:r>
            <a:r>
              <a:rPr lang="en-US" altLang="zh-CN" sz="2000" dirty="0">
                <a:solidFill>
                  <a:srgbClr val="FF0000"/>
                </a:solidFill>
              </a:rPr>
              <a:t> </a:t>
            </a:r>
            <a:r>
              <a:rPr lang="en-US" altLang="zh-CN" sz="2400" dirty="0">
                <a:solidFill>
                  <a:srgbClr val="FF0000"/>
                </a:solidFill>
                <a:highlight>
                  <a:srgbClr val="FFFFFF"/>
                </a:highlight>
              </a:rPr>
              <a:t>FOREIGN KEY (Sno)  REFERENCES Student(</a:t>
            </a:r>
            <a:r>
              <a:rPr lang="en-US" altLang="zh-CN" sz="2400" dirty="0" err="1">
                <a:solidFill>
                  <a:srgbClr val="FF0000"/>
                </a:solidFill>
                <a:highlight>
                  <a:srgbClr val="FFFFFF"/>
                </a:highlight>
              </a:rPr>
              <a:t>Sno</a:t>
            </a:r>
            <a:r>
              <a:rPr lang="en-US" altLang="zh-CN" sz="2400" dirty="0">
                <a:solidFill>
                  <a:srgbClr val="FF0000"/>
                </a:solidFill>
                <a:highlight>
                  <a:srgbClr val="FFFFFF"/>
                </a:highlight>
              </a:rPr>
              <a:t>)</a:t>
            </a:r>
            <a:r>
              <a:rPr lang="zh-CN" altLang="en-US" sz="2400" dirty="0">
                <a:solidFill>
                  <a:srgbClr val="FF0000"/>
                </a:solidFill>
                <a:highlight>
                  <a:srgbClr val="FFFFFF"/>
                </a:highlight>
              </a:rPr>
              <a:t>，</a:t>
            </a:r>
            <a:endParaRPr lang="en-US" altLang="zh-CN" sz="2400" dirty="0">
              <a:solidFill>
                <a:srgbClr val="FF0000"/>
              </a:solidFill>
              <a:highlight>
                <a:srgbClr val="FFFFFF"/>
              </a:highlight>
            </a:endParaRPr>
          </a:p>
          <a:p>
            <a:pPr eaLnBrk="1" fontAlgn="auto" hangingPunct="1">
              <a:lnSpc>
                <a:spcPct val="80000"/>
              </a:lnSpc>
              <a:spcAft>
                <a:spcPts val="0"/>
              </a:spcAft>
              <a:buFont typeface="Wingdings" panose="05000000000000000000" pitchFamily="2" charset="2"/>
              <a:buNone/>
              <a:defRPr/>
            </a:pPr>
            <a:r>
              <a:rPr lang="en-US" altLang="zh-CN" sz="2400" dirty="0">
                <a:solidFill>
                  <a:srgbClr val="FF0000"/>
                </a:solidFill>
                <a:highlight>
                  <a:srgbClr val="FFFFFF"/>
                </a:highlight>
              </a:rPr>
              <a:t>		FOREIGN KEY (</a:t>
            </a:r>
            <a:r>
              <a:rPr lang="en-US" altLang="zh-CN" sz="2400" dirty="0" err="1">
                <a:solidFill>
                  <a:srgbClr val="FF0000"/>
                </a:solidFill>
                <a:highlight>
                  <a:srgbClr val="FFFFFF"/>
                </a:highlight>
              </a:rPr>
              <a:t>Cno</a:t>
            </a:r>
            <a:r>
              <a:rPr lang="en-US" altLang="zh-CN" sz="2400" dirty="0">
                <a:solidFill>
                  <a:srgbClr val="FF0000"/>
                </a:solidFill>
                <a:highlight>
                  <a:srgbClr val="FFFFFF"/>
                </a:highlight>
              </a:rPr>
              <a:t>)  REFERENCES Course(</a:t>
            </a:r>
            <a:r>
              <a:rPr lang="en-US" altLang="zh-CN" sz="2400" dirty="0" err="1">
                <a:solidFill>
                  <a:srgbClr val="FF0000"/>
                </a:solidFill>
                <a:highlight>
                  <a:srgbClr val="FFFFFF"/>
                </a:highlight>
              </a:rPr>
              <a:t>Cno</a:t>
            </a:r>
            <a:r>
              <a:rPr lang="en-US" altLang="zh-CN" sz="2400" dirty="0">
                <a:solidFill>
                  <a:srgbClr val="FF0000"/>
                </a:solidFill>
                <a:highlight>
                  <a:srgbClr val="FFFFFF"/>
                </a:highlight>
              </a:rPr>
              <a:t>)</a:t>
            </a:r>
          </a:p>
          <a:p>
            <a:pPr eaLnBrk="1" fontAlgn="auto" hangingPunct="1">
              <a:lnSpc>
                <a:spcPct val="80000"/>
              </a:lnSpc>
              <a:spcAft>
                <a:spcPts val="0"/>
              </a:spcAft>
              <a:buFont typeface="Wingdings" panose="05000000000000000000" pitchFamily="2" charset="2"/>
              <a:buNone/>
              <a:defRPr/>
            </a:pPr>
            <a:r>
              <a:rPr lang="en-US" altLang="zh-CN" sz="2000" dirty="0">
                <a:solidFill>
                  <a:schemeClr val="hlink"/>
                </a:solidFill>
              </a:rPr>
              <a:t>		  </a:t>
            </a:r>
            <a:r>
              <a:rPr lang="en-US" altLang="zh-CN" sz="2400" dirty="0"/>
              <a: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5602"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169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3" name="Rectangle 2"/>
          <p:cNvSpPr>
            <a:spLocks noGrp="1" noChangeArrowheads="1"/>
          </p:cNvSpPr>
          <p:nvPr>
            <p:ph type="title"/>
          </p:nvPr>
        </p:nvSpPr>
        <p:spPr>
          <a:xfrm>
            <a:off x="1187450" y="260648"/>
            <a:ext cx="7793038" cy="1143000"/>
          </a:xfrm>
        </p:spPr>
        <p:txBody>
          <a:bodyPr/>
          <a:lstStyle/>
          <a:p>
            <a:pPr eaLnBrk="1" hangingPunct="1"/>
            <a:r>
              <a:rPr lang="zh-CN" altLang="en-US" sz="3600" dirty="0">
                <a:latin typeface="宋体" panose="02010600030101010101" pitchFamily="2" charset="-122"/>
                <a:ea typeface="宋体" panose="02010600030101010101" pitchFamily="2" charset="-122"/>
              </a:rPr>
              <a:t>参照完整性检查和违约处理</a:t>
            </a:r>
          </a:p>
        </p:txBody>
      </p:sp>
      <p:sp>
        <p:nvSpPr>
          <p:cNvPr id="25604" name="Rectangle 3"/>
          <p:cNvSpPr>
            <a:spLocks noGrp="1" noChangeArrowheads="1"/>
          </p:cNvSpPr>
          <p:nvPr>
            <p:ph type="body" sz="half" idx="1"/>
          </p:nvPr>
        </p:nvSpPr>
        <p:spPr>
          <a:xfrm>
            <a:off x="506413" y="1519238"/>
            <a:ext cx="8280400" cy="1050925"/>
          </a:xfrm>
        </p:spPr>
        <p:txBody>
          <a:bodyPr/>
          <a:lstStyle/>
          <a:p>
            <a:pPr eaLnBrk="1" hangingPunct="1">
              <a:lnSpc>
                <a:spcPct val="110000"/>
              </a:lnSpc>
              <a:spcBef>
                <a:spcPct val="60000"/>
              </a:spcBef>
            </a:pPr>
            <a:r>
              <a:rPr lang="zh-CN" altLang="en-US" sz="2400"/>
              <a:t>一个参照完整性将两个表的相应元组联系起来，因此对参照表和被参照表进行增删改操作时可能破坏参照完整性。</a:t>
            </a:r>
            <a:r>
              <a:rPr lang="zh-CN" altLang="en-US"/>
              <a:t>   </a:t>
            </a:r>
          </a:p>
        </p:txBody>
      </p:sp>
      <p:graphicFrame>
        <p:nvGraphicFramePr>
          <p:cNvPr id="399409" name="Group 49"/>
          <p:cNvGraphicFramePr>
            <a:graphicFrameLocks noGrp="1"/>
          </p:cNvGraphicFramePr>
          <p:nvPr>
            <p:ph sz="half" idx="2"/>
          </p:nvPr>
        </p:nvGraphicFramePr>
        <p:xfrm>
          <a:off x="266700" y="2630488"/>
          <a:ext cx="8713787" cy="3373437"/>
        </p:xfrm>
        <a:graphic>
          <a:graphicData uri="http://schemas.openxmlformats.org/drawingml/2006/table">
            <a:tbl>
              <a:tblPr/>
              <a:tblGrid>
                <a:gridCol w="3455987">
                  <a:extLst>
                    <a:ext uri="{9D8B030D-6E8A-4147-A177-3AD203B41FA5}">
                      <a16:colId xmlns:a16="http://schemas.microsoft.com/office/drawing/2014/main" val="20000"/>
                    </a:ext>
                  </a:extLst>
                </a:gridCol>
                <a:gridCol w="2952750">
                  <a:extLst>
                    <a:ext uri="{9D8B030D-6E8A-4147-A177-3AD203B41FA5}">
                      <a16:colId xmlns:a16="http://schemas.microsoft.com/office/drawing/2014/main" val="20001"/>
                    </a:ext>
                  </a:extLst>
                </a:gridCol>
                <a:gridCol w="2305050">
                  <a:extLst>
                    <a:ext uri="{9D8B030D-6E8A-4147-A177-3AD203B41FA5}">
                      <a16:colId xmlns:a16="http://schemas.microsoft.com/office/drawing/2014/main" val="20002"/>
                    </a:ext>
                  </a:extLst>
                </a:gridCol>
              </a:tblGrid>
              <a:tr h="576317">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4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被参照表（如</a:t>
                      </a:r>
                      <a:r>
                        <a:rPr kumimoji="1" lang="en-US" altLang="zh-CN" sz="24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Student</a:t>
                      </a:r>
                      <a:r>
                        <a:rPr kumimoji="1" lang="zh-CN" altLang="en-US" sz="24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a:t>
                      </a:r>
                    </a:p>
                  </a:txBody>
                  <a:tcPr marT="45724" marB="4572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参照表（如</a:t>
                      </a:r>
                      <a:r>
                        <a:rPr kumimoji="1"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SC)</a:t>
                      </a: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4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违约处理</a:t>
                      </a:r>
                    </a:p>
                  </a:txBody>
                  <a:tcPr marT="45724" marB="4572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76317">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可能破坏参照完整性</a:t>
                      </a:r>
                    </a:p>
                  </a:txBody>
                  <a:tcPr marT="45724" marB="4572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插入元组</a:t>
                      </a: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拒绝</a:t>
                      </a:r>
                    </a:p>
                  </a:txBody>
                  <a:tcPr marT="45724" marB="4572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74729">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可能破坏参照完整性</a:t>
                      </a:r>
                    </a:p>
                  </a:txBody>
                  <a:tcPr marT="45724" marB="4572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4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修改外码值</a:t>
                      </a: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拒绝</a:t>
                      </a:r>
                    </a:p>
                  </a:txBody>
                  <a:tcPr marT="45724" marB="4572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23037">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4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删除元组</a:t>
                      </a:r>
                    </a:p>
                  </a:txBody>
                  <a:tcPr marT="45724" marB="4572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4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可能破坏参照完整性</a:t>
                      </a: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拒绝</a:t>
                      </a:r>
                      <a:r>
                        <a:rPr kumimoji="1"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a:t>
                      </a:r>
                      <a:r>
                        <a:rPr kumimoji="1"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级联删除</a:t>
                      </a:r>
                      <a:r>
                        <a:rPr kumimoji="1"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a:t>
                      </a:r>
                      <a:r>
                        <a:rPr kumimoji="1"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设置为空值</a:t>
                      </a:r>
                    </a:p>
                  </a:txBody>
                  <a:tcPr marT="45724" marB="4572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823037">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修改主码值</a:t>
                      </a:r>
                    </a:p>
                  </a:txBody>
                  <a:tcPr marT="45724" marB="4572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4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可能破坏参照完整性</a:t>
                      </a: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4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拒绝</a:t>
                      </a:r>
                      <a:r>
                        <a:rPr kumimoji="1" lang="en-US" altLang="zh-CN" sz="24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a:t>
                      </a:r>
                      <a:r>
                        <a:rPr kumimoji="1" lang="zh-CN" altLang="en-US" sz="24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级联修改</a:t>
                      </a:r>
                      <a:r>
                        <a:rPr kumimoji="1" lang="en-US" altLang="zh-CN" sz="24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a:t>
                      </a:r>
                      <a:r>
                        <a:rPr kumimoji="1" lang="zh-CN" altLang="en-US" sz="24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设置为空值</a:t>
                      </a:r>
                    </a:p>
                  </a:txBody>
                  <a:tcPr marT="45724" marB="4572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25632" name="Line 42"/>
          <p:cNvSpPr>
            <a:spLocks noChangeShapeType="1"/>
          </p:cNvSpPr>
          <p:nvPr/>
        </p:nvSpPr>
        <p:spPr bwMode="auto">
          <a:xfrm flipH="1">
            <a:off x="3382963" y="3446463"/>
            <a:ext cx="79375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33" name="Line 43"/>
          <p:cNvSpPr>
            <a:spLocks noChangeShapeType="1"/>
          </p:cNvSpPr>
          <p:nvPr/>
        </p:nvSpPr>
        <p:spPr bwMode="auto">
          <a:xfrm flipH="1">
            <a:off x="3382963" y="4005263"/>
            <a:ext cx="79375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34" name="Line 44"/>
          <p:cNvSpPr>
            <a:spLocks noChangeShapeType="1"/>
          </p:cNvSpPr>
          <p:nvPr/>
        </p:nvSpPr>
        <p:spPr bwMode="auto">
          <a:xfrm>
            <a:off x="2914650" y="4581525"/>
            <a:ext cx="936625"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35" name="Line 45"/>
          <p:cNvSpPr>
            <a:spLocks noChangeShapeType="1"/>
          </p:cNvSpPr>
          <p:nvPr/>
        </p:nvSpPr>
        <p:spPr bwMode="auto">
          <a:xfrm>
            <a:off x="2916238" y="5445125"/>
            <a:ext cx="935037"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99409"/>
                                        </p:tgtEl>
                                        <p:attrNameLst>
                                          <p:attrName>style.visibility</p:attrName>
                                        </p:attrNameLst>
                                      </p:cBhvr>
                                      <p:to>
                                        <p:strVal val="visible"/>
                                      </p:to>
                                    </p:set>
                                    <p:animEffect transition="in" filter="box(in)">
                                      <p:cBhvr>
                                        <p:cTn id="7" dur="500"/>
                                        <p:tgtEl>
                                          <p:spTgt spid="3994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626" name="Rectangle 5"/>
          <p:cNvSpPr>
            <a:spLocks noGrp="1" noChangeArrowheads="1"/>
          </p:cNvSpPr>
          <p:nvPr>
            <p:ph type="title"/>
          </p:nvPr>
        </p:nvSpPr>
        <p:spPr>
          <a:xfrm>
            <a:off x="1186815" y="188640"/>
            <a:ext cx="8515350" cy="1325563"/>
          </a:xfrm>
          <a:noFill/>
        </p:spPr>
        <p:txBody>
          <a:bodyPr/>
          <a:lstStyle/>
          <a:p>
            <a:pPr eaLnBrk="1" hangingPunct="1"/>
            <a:r>
              <a:rPr lang="zh-CN" altLang="en-US" sz="3600" dirty="0">
                <a:latin typeface="宋体" panose="02010600030101010101" pitchFamily="2" charset="-122"/>
                <a:ea typeface="宋体" panose="02010600030101010101" pitchFamily="2" charset="-122"/>
              </a:rPr>
              <a:t>参照完整性检查和违约处理（续）</a:t>
            </a:r>
          </a:p>
        </p:txBody>
      </p:sp>
      <p:sp>
        <p:nvSpPr>
          <p:cNvPr id="26627" name="Rectangle 3"/>
          <p:cNvSpPr>
            <a:spLocks noGrp="1" noChangeArrowheads="1"/>
          </p:cNvSpPr>
          <p:nvPr>
            <p:ph idx="1"/>
          </p:nvPr>
        </p:nvSpPr>
        <p:spPr>
          <a:xfrm>
            <a:off x="292100" y="1557338"/>
            <a:ext cx="8559800" cy="4114800"/>
          </a:xfrm>
        </p:spPr>
        <p:txBody>
          <a:bodyPr/>
          <a:lstStyle/>
          <a:p>
            <a:pPr marL="609600" indent="-609600" eaLnBrk="1" hangingPunct="1">
              <a:lnSpc>
                <a:spcPct val="110000"/>
              </a:lnSpc>
            </a:pPr>
            <a:r>
              <a:rPr lang="zh-CN" altLang="en-US">
                <a:latin typeface="Times New Roman" panose="02020603050405020304" pitchFamily="18" charset="0"/>
                <a:cs typeface="Times New Roman" panose="02020603050405020304" pitchFamily="18" charset="0"/>
              </a:rPr>
              <a:t>当上述的不一致发生时，系统可采用以下的策略加以处理：</a:t>
            </a:r>
          </a:p>
          <a:p>
            <a:pPr marL="990600" lvl="1" indent="-533400" eaLnBrk="1" hangingPunct="1">
              <a:lnSpc>
                <a:spcPct val="110000"/>
              </a:lnSpc>
              <a:spcBef>
                <a:spcPct val="60000"/>
              </a:spcBef>
              <a:buFont typeface="Wingdings" panose="05000000000000000000" pitchFamily="2" charset="2"/>
              <a:buAutoNum type="arabicPeriod"/>
            </a:pPr>
            <a:r>
              <a:rPr lang="zh-CN" altLang="en-US">
                <a:latin typeface="Times New Roman" panose="02020603050405020304" pitchFamily="18" charset="0"/>
                <a:cs typeface="Times New Roman" panose="02020603050405020304" pitchFamily="18" charset="0"/>
              </a:rPr>
              <a:t>拒绝（</a:t>
            </a:r>
            <a:r>
              <a:rPr lang="en-US" altLang="zh-CN">
                <a:latin typeface="Times New Roman" panose="02020603050405020304" pitchFamily="18" charset="0"/>
                <a:cs typeface="Times New Roman" panose="02020603050405020304" pitchFamily="18" charset="0"/>
              </a:rPr>
              <a:t>NO ACTION</a:t>
            </a:r>
            <a:r>
              <a:rPr lang="zh-CN" altLang="en-US">
                <a:latin typeface="Times New Roman" panose="02020603050405020304" pitchFamily="18" charset="0"/>
                <a:cs typeface="Times New Roman" panose="02020603050405020304" pitchFamily="18" charset="0"/>
              </a:rPr>
              <a:t>）操作</a:t>
            </a:r>
          </a:p>
          <a:p>
            <a:pPr marL="1371600" lvl="2" indent="-457200" eaLnBrk="1" hangingPunct="1">
              <a:lnSpc>
                <a:spcPct val="110000"/>
              </a:lnSpc>
              <a:spcBef>
                <a:spcPct val="60000"/>
              </a:spcBef>
              <a:buFont typeface="Wingdings" panose="05000000000000000000" pitchFamily="2" charset="2"/>
              <a:buNone/>
            </a:pPr>
            <a:r>
              <a:rPr lang="zh-CN" altLang="en-US">
                <a:latin typeface="Times New Roman" panose="02020603050405020304" pitchFamily="18" charset="0"/>
                <a:cs typeface="Times New Roman" panose="02020603050405020304" pitchFamily="18" charset="0"/>
              </a:rPr>
              <a:t>不允许该操作执行。一般设置为默认策略。</a:t>
            </a:r>
          </a:p>
          <a:p>
            <a:pPr marL="990600" lvl="1" indent="-533400" eaLnBrk="1" hangingPunct="1">
              <a:lnSpc>
                <a:spcPct val="110000"/>
              </a:lnSpc>
              <a:spcBef>
                <a:spcPct val="60000"/>
              </a:spcBef>
              <a:buFont typeface="Wingdings" panose="05000000000000000000" pitchFamily="2" charset="2"/>
              <a:buAutoNum type="arabicPeriod"/>
            </a:pPr>
            <a:r>
              <a:rPr lang="zh-CN" altLang="en-US">
                <a:latin typeface="Times New Roman" panose="02020603050405020304" pitchFamily="18" charset="0"/>
                <a:cs typeface="Times New Roman" panose="02020603050405020304" pitchFamily="18" charset="0"/>
              </a:rPr>
              <a:t>级联</a:t>
            </a:r>
            <a:r>
              <a:rPr lang="en-US" altLang="zh-CN">
                <a:latin typeface="Times New Roman" panose="02020603050405020304" pitchFamily="18" charset="0"/>
                <a:cs typeface="Times New Roman" panose="02020603050405020304" pitchFamily="18" charset="0"/>
              </a:rPr>
              <a:t>(CASCADE)</a:t>
            </a:r>
            <a:r>
              <a:rPr lang="zh-CN" altLang="en-US">
                <a:latin typeface="Times New Roman" panose="02020603050405020304" pitchFamily="18" charset="0"/>
                <a:cs typeface="Times New Roman" panose="02020603050405020304" pitchFamily="18" charset="0"/>
              </a:rPr>
              <a:t>操作</a:t>
            </a:r>
          </a:p>
          <a:p>
            <a:pPr marL="990600" lvl="1" indent="-533400" eaLnBrk="1" hangingPunct="1">
              <a:lnSpc>
                <a:spcPct val="110000"/>
              </a:lnSpc>
              <a:spcBef>
                <a:spcPct val="60000"/>
              </a:spcBef>
              <a:buFont typeface="Wingdings" panose="05000000000000000000" pitchFamily="2" charset="2"/>
              <a:buAutoNum type="arabicPeriod"/>
            </a:pPr>
            <a:r>
              <a:rPr lang="zh-CN" altLang="en-US">
                <a:latin typeface="Times New Roman" panose="02020603050405020304" pitchFamily="18" charset="0"/>
                <a:cs typeface="Times New Roman" panose="02020603050405020304" pitchFamily="18" charset="0"/>
              </a:rPr>
              <a:t>设置为空值（</a:t>
            </a:r>
            <a:r>
              <a:rPr lang="en-US" altLang="zh-CN">
                <a:latin typeface="Times New Roman" panose="02020603050405020304" pitchFamily="18" charset="0"/>
                <a:cs typeface="Times New Roman" panose="02020603050405020304" pitchFamily="18" charset="0"/>
              </a:rPr>
              <a:t>SET-NULL</a:t>
            </a:r>
            <a:r>
              <a:rPr lang="zh-CN" altLang="en-US">
                <a:latin typeface="Times New Roman" panose="02020603050405020304" pitchFamily="18" charset="0"/>
                <a:cs typeface="Times New Roman" panose="02020603050405020304" pitchFamily="18" charset="0"/>
              </a:rPr>
              <a: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1181418" y="188640"/>
            <a:ext cx="7886700" cy="1325563"/>
          </a:xfrm>
        </p:spPr>
        <p:txBody>
          <a:bodyPr/>
          <a:lstStyle/>
          <a:p>
            <a:pPr eaLnBrk="1" hangingPunct="1"/>
            <a:r>
              <a:rPr lang="zh-CN" altLang="en-US" sz="3600" dirty="0">
                <a:latin typeface="宋体" panose="02010600030101010101" pitchFamily="2" charset="-122"/>
                <a:ea typeface="宋体" panose="02010600030101010101" pitchFamily="2" charset="-122"/>
              </a:rPr>
              <a:t>参照完整性</a:t>
            </a:r>
          </a:p>
        </p:txBody>
      </p:sp>
      <p:sp>
        <p:nvSpPr>
          <p:cNvPr id="15364" name="Rectangle 3"/>
          <p:cNvSpPr>
            <a:spLocks noGrp="1" noChangeArrowheads="1"/>
          </p:cNvSpPr>
          <p:nvPr>
            <p:ph idx="1"/>
          </p:nvPr>
        </p:nvSpPr>
        <p:spPr>
          <a:xfrm>
            <a:off x="273050" y="1628775"/>
            <a:ext cx="8713788" cy="4114800"/>
          </a:xfrm>
        </p:spPr>
        <p:txBody>
          <a:bodyPr/>
          <a:lstStyle/>
          <a:p>
            <a:pPr eaLnBrk="1" hangingPunct="1">
              <a:lnSpc>
                <a:spcPct val="120000"/>
              </a:lnSpc>
              <a:buFont typeface="Wingdings" panose="05000000000000000000" pitchFamily="2" charset="2"/>
              <a:buNone/>
            </a:pPr>
            <a:r>
              <a:rPr lang="zh-CN" altLang="en-US"/>
              <a:t>关系模型的参照完整性在</a:t>
            </a:r>
            <a:r>
              <a:rPr lang="en-US" altLang="zh-CN"/>
              <a:t>CREATE TABLE</a:t>
            </a:r>
            <a:r>
              <a:rPr lang="zh-CN" altLang="en-US"/>
              <a:t>中定义</a:t>
            </a:r>
          </a:p>
          <a:p>
            <a:pPr eaLnBrk="1" hangingPunct="1">
              <a:lnSpc>
                <a:spcPct val="120000"/>
              </a:lnSpc>
            </a:pPr>
            <a:r>
              <a:rPr lang="en-US" altLang="zh-CN" sz="2400"/>
              <a:t>FOREIGN KEY</a:t>
            </a:r>
            <a:r>
              <a:rPr lang="zh-CN" altLang="en-US" sz="2400"/>
              <a:t>子句：定义外码列</a:t>
            </a:r>
          </a:p>
          <a:p>
            <a:pPr eaLnBrk="1" hangingPunct="1">
              <a:lnSpc>
                <a:spcPct val="120000"/>
              </a:lnSpc>
              <a:spcBef>
                <a:spcPct val="60000"/>
              </a:spcBef>
            </a:pPr>
            <a:r>
              <a:rPr lang="en-US" altLang="zh-CN" sz="2400"/>
              <a:t>REFERENCES</a:t>
            </a:r>
            <a:r>
              <a:rPr lang="zh-CN" altLang="en-US" sz="2400"/>
              <a:t>子句：外码相应于哪个表的主码</a:t>
            </a:r>
          </a:p>
          <a:p>
            <a:pPr eaLnBrk="1" hangingPunct="1">
              <a:lnSpc>
                <a:spcPct val="120000"/>
              </a:lnSpc>
              <a:spcBef>
                <a:spcPct val="60000"/>
              </a:spcBef>
            </a:pPr>
            <a:r>
              <a:rPr lang="en-US" altLang="zh-CN" sz="2400"/>
              <a:t>ON DELETE CASCADE</a:t>
            </a:r>
            <a:r>
              <a:rPr lang="zh-CN" altLang="en-US" sz="2400"/>
              <a:t>子语：</a:t>
            </a:r>
          </a:p>
          <a:p>
            <a:pPr eaLnBrk="1" hangingPunct="1">
              <a:lnSpc>
                <a:spcPct val="120000"/>
              </a:lnSpc>
              <a:spcBef>
                <a:spcPct val="60000"/>
              </a:spcBef>
              <a:buFont typeface="Wingdings" panose="05000000000000000000" pitchFamily="2" charset="2"/>
              <a:buNone/>
            </a:pPr>
            <a:r>
              <a:rPr lang="zh-CN" altLang="en-US" sz="2400"/>
              <a:t>    在删除被参照关系的元组时，同时删除参照关系中</a:t>
            </a:r>
            <a:r>
              <a:rPr lang="zh-CN" altLang="en-US" sz="2400">
                <a:solidFill>
                  <a:srgbClr val="FF0000"/>
                </a:solidFill>
              </a:rPr>
              <a:t>外码值</a:t>
            </a:r>
            <a:r>
              <a:rPr lang="zh-CN" altLang="en-US" sz="2400"/>
              <a:t>等于被参照关系的元组中</a:t>
            </a:r>
            <a:r>
              <a:rPr lang="zh-CN" altLang="en-US" sz="2400">
                <a:solidFill>
                  <a:srgbClr val="FF0000"/>
                </a:solidFill>
              </a:rPr>
              <a:t>主码值</a:t>
            </a:r>
            <a:r>
              <a:rPr lang="zh-CN" altLang="en-US" sz="2400"/>
              <a:t>的元组</a:t>
            </a:r>
            <a:endParaRPr lang="zh-CN" alt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5364">
                                            <p:txEl>
                                              <p:pRg st="3" end="3"/>
                                            </p:txEl>
                                          </p:spTgt>
                                        </p:tgtEl>
                                        <p:attrNameLst>
                                          <p:attrName>style.visibility</p:attrName>
                                        </p:attrNameLst>
                                      </p:cBhvr>
                                      <p:to>
                                        <p:strVal val="visible"/>
                                      </p:to>
                                    </p:set>
                                    <p:animEffect transition="in" filter="box(in)">
                                      <p:cBhvr>
                                        <p:cTn id="7" dur="500"/>
                                        <p:tgtEl>
                                          <p:spTgt spid="15364">
                                            <p:txEl>
                                              <p:pRg st="3" end="3"/>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15364">
                                            <p:txEl>
                                              <p:pRg st="4" end="4"/>
                                            </p:txEl>
                                          </p:spTgt>
                                        </p:tgtEl>
                                        <p:attrNameLst>
                                          <p:attrName>style.visibility</p:attrName>
                                        </p:attrNameLst>
                                      </p:cBhvr>
                                      <p:to>
                                        <p:strVal val="visible"/>
                                      </p:to>
                                    </p:set>
                                    <p:animEffect transition="in" filter="box(in)">
                                      <p:cBhvr>
                                        <p:cTn id="10" dur="500"/>
                                        <p:tgtEl>
                                          <p:spTgt spid="1536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a:xfrm>
            <a:off x="1181100" y="332656"/>
            <a:ext cx="7993063" cy="992188"/>
          </a:xfrm>
        </p:spPr>
        <p:txBody>
          <a:bodyPr rtlCol="0">
            <a:normAutofit/>
          </a:bodyPr>
          <a:lstStyle/>
          <a:p>
            <a:pPr eaLnBrk="1" fontAlgn="auto" hangingPunct="1">
              <a:spcAft>
                <a:spcPts val="0"/>
              </a:spcAft>
              <a:defRPr/>
            </a:pPr>
            <a:r>
              <a:rPr lang="zh-CN" altLang="en-US" sz="3600" dirty="0">
                <a:latin typeface="宋体" panose="02010600030101010101" pitchFamily="2" charset="-122"/>
                <a:ea typeface="宋体" panose="02010600030101010101" pitchFamily="2" charset="-122"/>
              </a:rPr>
              <a:t>显式说明参照完整性的违约处理示例</a:t>
            </a:r>
          </a:p>
        </p:txBody>
      </p:sp>
      <p:sp>
        <p:nvSpPr>
          <p:cNvPr id="19460" name="Rectangle 3"/>
          <p:cNvSpPr>
            <a:spLocks noGrp="1" noChangeArrowheads="1"/>
          </p:cNvSpPr>
          <p:nvPr>
            <p:ph idx="1"/>
          </p:nvPr>
        </p:nvSpPr>
        <p:spPr>
          <a:xfrm>
            <a:off x="107950" y="1628775"/>
            <a:ext cx="8610600" cy="4546600"/>
          </a:xfrm>
        </p:spPr>
        <p:txBody>
          <a:bodyPr rtlCol="0">
            <a:normAutofit fontScale="92500" lnSpcReduction="10000"/>
          </a:bodyPr>
          <a:lstStyle/>
          <a:p>
            <a:pPr defTabSz="609600" eaLnBrk="1" fontAlgn="auto" hangingPunct="1">
              <a:lnSpc>
                <a:spcPct val="80000"/>
              </a:lnSpc>
              <a:spcAft>
                <a:spcPts val="0"/>
              </a:spcAft>
              <a:buFont typeface="Wingdings" panose="05000000000000000000" pitchFamily="2" charset="2"/>
              <a:buNone/>
              <a:defRPr/>
            </a:pPr>
            <a:r>
              <a:rPr lang="en-US" altLang="zh-CN" sz="2400" dirty="0"/>
              <a:t>    CREATE TABLE SC</a:t>
            </a:r>
          </a:p>
          <a:p>
            <a:pPr defTabSz="609600" eaLnBrk="1" fontAlgn="auto" hangingPunct="1">
              <a:lnSpc>
                <a:spcPct val="80000"/>
              </a:lnSpc>
              <a:spcAft>
                <a:spcPts val="0"/>
              </a:spcAft>
              <a:buFont typeface="Wingdings" panose="05000000000000000000" pitchFamily="2" charset="2"/>
              <a:buNone/>
              <a:defRPr/>
            </a:pPr>
            <a:r>
              <a:rPr lang="en-US" altLang="zh-CN" sz="2400" dirty="0"/>
              <a:t>           (</a:t>
            </a:r>
            <a:r>
              <a:rPr lang="en-US" altLang="zh-CN" sz="2400" dirty="0" err="1"/>
              <a:t>Sno</a:t>
            </a:r>
            <a:r>
              <a:rPr lang="en-US" altLang="zh-CN" sz="2400" dirty="0"/>
              <a:t>   CHAR(9) NOT NULL,</a:t>
            </a:r>
          </a:p>
          <a:p>
            <a:pPr defTabSz="609600" eaLnBrk="1" fontAlgn="auto" hangingPunct="1">
              <a:lnSpc>
                <a:spcPct val="80000"/>
              </a:lnSpc>
              <a:spcAft>
                <a:spcPts val="0"/>
              </a:spcAft>
              <a:buFont typeface="Wingdings" panose="05000000000000000000" pitchFamily="2" charset="2"/>
              <a:buNone/>
              <a:defRPr/>
            </a:pPr>
            <a:r>
              <a:rPr lang="en-US" altLang="zh-CN" sz="2400" dirty="0"/>
              <a:t>       	</a:t>
            </a:r>
            <a:r>
              <a:rPr lang="en-US" altLang="zh-CN" sz="2400" dirty="0" err="1"/>
              <a:t>Cno</a:t>
            </a:r>
            <a:r>
              <a:rPr lang="en-US" altLang="zh-CN" sz="2400" dirty="0"/>
              <a:t>   CHAR(4)  NOT NULL,</a:t>
            </a:r>
          </a:p>
          <a:p>
            <a:pPr defTabSz="609600" eaLnBrk="1" fontAlgn="auto" hangingPunct="1">
              <a:lnSpc>
                <a:spcPct val="80000"/>
              </a:lnSpc>
              <a:spcAft>
                <a:spcPts val="0"/>
              </a:spcAft>
              <a:buFont typeface="Wingdings" panose="05000000000000000000" pitchFamily="2" charset="2"/>
              <a:buNone/>
              <a:defRPr/>
            </a:pPr>
            <a:r>
              <a:rPr lang="en-US" altLang="zh-CN" sz="2400" dirty="0"/>
              <a:t>             Grade  SMALLINT,</a:t>
            </a:r>
          </a:p>
          <a:p>
            <a:pPr defTabSz="609600" eaLnBrk="1" fontAlgn="auto" hangingPunct="1">
              <a:lnSpc>
                <a:spcPct val="80000"/>
              </a:lnSpc>
              <a:spcAft>
                <a:spcPts val="0"/>
              </a:spcAft>
              <a:buFont typeface="Wingdings" panose="05000000000000000000" pitchFamily="2" charset="2"/>
              <a:buNone/>
              <a:defRPr/>
            </a:pPr>
            <a:r>
              <a:rPr lang="en-US" altLang="zh-CN" sz="2400" dirty="0"/>
              <a:t>             PRIMARY KEY (</a:t>
            </a:r>
            <a:r>
              <a:rPr lang="en-US" altLang="zh-CN" sz="2400" dirty="0" err="1"/>
              <a:t>Sno,Cno</a:t>
            </a:r>
            <a:r>
              <a:rPr lang="en-US" altLang="zh-CN" sz="2400" dirty="0"/>
              <a:t>),</a:t>
            </a:r>
          </a:p>
          <a:p>
            <a:pPr defTabSz="609600" eaLnBrk="1" fontAlgn="auto" hangingPunct="1">
              <a:lnSpc>
                <a:spcPct val="80000"/>
              </a:lnSpc>
              <a:spcAft>
                <a:spcPts val="0"/>
              </a:spcAft>
              <a:buFont typeface="Wingdings" panose="05000000000000000000" pitchFamily="2" charset="2"/>
              <a:buNone/>
              <a:defRPr/>
            </a:pPr>
            <a:r>
              <a:rPr lang="en-US" altLang="zh-CN" sz="2400" dirty="0"/>
              <a:t>            </a:t>
            </a:r>
            <a:r>
              <a:rPr lang="en-US" altLang="zh-CN" sz="2400" dirty="0">
                <a:solidFill>
                  <a:schemeClr val="hlink"/>
                </a:solidFill>
              </a:rPr>
              <a:t> </a:t>
            </a:r>
            <a:r>
              <a:rPr lang="en-US" altLang="zh-CN" sz="2400" dirty="0"/>
              <a:t>FOREIGN KEY (</a:t>
            </a:r>
            <a:r>
              <a:rPr lang="en-US" altLang="zh-CN" sz="2400" dirty="0" err="1"/>
              <a:t>Sno</a:t>
            </a:r>
            <a:r>
              <a:rPr lang="en-US" altLang="zh-CN" sz="2400" dirty="0"/>
              <a:t>)  REFERENCES Student(</a:t>
            </a:r>
            <a:r>
              <a:rPr lang="en-US" altLang="zh-CN" sz="2400" dirty="0" err="1"/>
              <a:t>Sno</a:t>
            </a:r>
            <a:r>
              <a:rPr lang="en-US" altLang="zh-CN" sz="2400" dirty="0"/>
              <a:t>)</a:t>
            </a:r>
          </a:p>
          <a:p>
            <a:pPr defTabSz="609600" eaLnBrk="1" fontAlgn="auto" hangingPunct="1">
              <a:lnSpc>
                <a:spcPct val="80000"/>
              </a:lnSpc>
              <a:spcAft>
                <a:spcPts val="0"/>
              </a:spcAft>
              <a:buFont typeface="Wingdings" panose="05000000000000000000" pitchFamily="2" charset="2"/>
              <a:buNone/>
              <a:defRPr/>
            </a:pPr>
            <a:r>
              <a:rPr lang="en-US" altLang="zh-CN" sz="2400" dirty="0">
                <a:solidFill>
                  <a:schemeClr val="accent2"/>
                </a:solidFill>
              </a:rPr>
              <a:t>				</a:t>
            </a:r>
            <a:r>
              <a:rPr lang="en-US" altLang="zh-CN" sz="2400" dirty="0">
                <a:solidFill>
                  <a:srgbClr val="FF0000"/>
                </a:solidFill>
              </a:rPr>
              <a:t>ON DELETE CASCADE</a:t>
            </a:r>
          </a:p>
          <a:p>
            <a:pPr defTabSz="609600" eaLnBrk="1" fontAlgn="auto" hangingPunct="1">
              <a:lnSpc>
                <a:spcPct val="80000"/>
              </a:lnSpc>
              <a:spcAft>
                <a:spcPts val="0"/>
              </a:spcAft>
              <a:buFont typeface="Wingdings" panose="05000000000000000000" pitchFamily="2" charset="2"/>
              <a:buNone/>
              <a:defRPr/>
            </a:pPr>
            <a:r>
              <a:rPr lang="en-US" altLang="zh-CN" sz="2400" dirty="0">
                <a:solidFill>
                  <a:srgbClr val="FF0000"/>
                </a:solidFill>
              </a:rPr>
              <a:t>				ON UPDATE CASCADE,</a:t>
            </a:r>
          </a:p>
          <a:p>
            <a:pPr defTabSz="609600" eaLnBrk="1" fontAlgn="auto" hangingPunct="1">
              <a:lnSpc>
                <a:spcPct val="80000"/>
              </a:lnSpc>
              <a:spcAft>
                <a:spcPts val="0"/>
              </a:spcAft>
              <a:buFont typeface="Wingdings" panose="05000000000000000000" pitchFamily="2" charset="2"/>
              <a:buNone/>
              <a:defRPr/>
            </a:pPr>
            <a:r>
              <a:rPr lang="en-US" altLang="zh-CN" sz="2400" dirty="0">
                <a:solidFill>
                  <a:schemeClr val="accent2"/>
                </a:solidFill>
              </a:rPr>
              <a:t>		       </a:t>
            </a:r>
            <a:r>
              <a:rPr lang="en-US" altLang="zh-CN" sz="2400" dirty="0"/>
              <a:t>FOREIGN KEY (</a:t>
            </a:r>
            <a:r>
              <a:rPr lang="en-US" altLang="zh-CN" sz="2400" dirty="0" err="1"/>
              <a:t>Cno</a:t>
            </a:r>
            <a:r>
              <a:rPr lang="en-US" altLang="zh-CN" sz="2400" dirty="0"/>
              <a:t>)  REFERENCES Course(</a:t>
            </a:r>
            <a:r>
              <a:rPr lang="en-US" altLang="zh-CN" sz="2400" dirty="0" err="1"/>
              <a:t>Cno</a:t>
            </a:r>
            <a:r>
              <a:rPr lang="en-US" altLang="zh-CN" sz="2400" dirty="0"/>
              <a:t>)</a:t>
            </a:r>
          </a:p>
          <a:p>
            <a:pPr defTabSz="609600" eaLnBrk="1" fontAlgn="auto" hangingPunct="1">
              <a:lnSpc>
                <a:spcPct val="80000"/>
              </a:lnSpc>
              <a:spcAft>
                <a:spcPts val="0"/>
              </a:spcAft>
              <a:buFont typeface="Wingdings" panose="05000000000000000000" pitchFamily="2" charset="2"/>
              <a:buNone/>
              <a:defRPr/>
            </a:pPr>
            <a:r>
              <a:rPr lang="en-US" altLang="zh-CN" sz="2400" dirty="0">
                <a:solidFill>
                  <a:schemeClr val="accent2"/>
                </a:solidFill>
              </a:rPr>
              <a:t>				</a:t>
            </a:r>
            <a:r>
              <a:rPr lang="en-US" altLang="zh-CN" sz="2400" dirty="0">
                <a:solidFill>
                  <a:srgbClr val="FF0000"/>
                </a:solidFill>
              </a:rPr>
              <a:t>ON DELETE NO ACTION</a:t>
            </a:r>
          </a:p>
          <a:p>
            <a:pPr defTabSz="609600" eaLnBrk="1" fontAlgn="auto" hangingPunct="1">
              <a:lnSpc>
                <a:spcPct val="80000"/>
              </a:lnSpc>
              <a:spcAft>
                <a:spcPts val="0"/>
              </a:spcAft>
              <a:buFont typeface="Wingdings" panose="05000000000000000000" pitchFamily="2" charset="2"/>
              <a:buNone/>
              <a:defRPr/>
            </a:pPr>
            <a:r>
              <a:rPr lang="en-US" altLang="zh-CN" sz="2400" dirty="0">
                <a:solidFill>
                  <a:srgbClr val="FF0000"/>
                </a:solidFill>
              </a:rPr>
              <a:t>				ON UPDATE CASCADE</a:t>
            </a:r>
          </a:p>
          <a:p>
            <a:pPr defTabSz="609600" eaLnBrk="1" fontAlgn="auto" hangingPunct="1">
              <a:lnSpc>
                <a:spcPct val="80000"/>
              </a:lnSpc>
              <a:spcAft>
                <a:spcPts val="0"/>
              </a:spcAft>
              <a:buFont typeface="Wingdings" panose="05000000000000000000" pitchFamily="2" charset="2"/>
              <a:buNone/>
              <a:defRPr/>
            </a:pPr>
            <a:r>
              <a:rPr lang="en-US" altLang="zh-CN" sz="2400" dirty="0">
                <a:solidFill>
                  <a:schemeClr val="hlink"/>
                </a:solidFill>
              </a:rPr>
              <a:t>		  </a:t>
            </a:r>
            <a:r>
              <a:rPr lang="en-US" altLang="zh-CN" sz="2400" dirty="0"/>
              <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698" name="标题 1"/>
          <p:cNvSpPr>
            <a:spLocks noGrp="1" noChangeArrowheads="1"/>
          </p:cNvSpPr>
          <p:nvPr>
            <p:ph type="title"/>
          </p:nvPr>
        </p:nvSpPr>
        <p:spPr>
          <a:xfrm>
            <a:off x="1257300" y="208280"/>
            <a:ext cx="7886700" cy="1325563"/>
          </a:xfrm>
        </p:spPr>
        <p:txBody>
          <a:bodyPr/>
          <a:lstStyle/>
          <a:p>
            <a:pPr eaLnBrk="1" hangingPunct="1"/>
            <a:r>
              <a:rPr lang="zh-CN" altLang="en-US" sz="3600">
                <a:latin typeface="宋体" panose="02010600030101010101" pitchFamily="2" charset="-122"/>
                <a:ea typeface="宋体" panose="02010600030101010101" pitchFamily="2" charset="-122"/>
              </a:rPr>
              <a:t>三类完整性约束</a:t>
            </a:r>
          </a:p>
        </p:txBody>
      </p:sp>
      <p:sp>
        <p:nvSpPr>
          <p:cNvPr id="29699" name="内容占位符 2"/>
          <p:cNvSpPr>
            <a:spLocks noGrp="1" noChangeArrowheads="1"/>
          </p:cNvSpPr>
          <p:nvPr>
            <p:ph idx="1"/>
          </p:nvPr>
        </p:nvSpPr>
        <p:spPr>
          <a:xfrm>
            <a:off x="685800" y="1628775"/>
            <a:ext cx="7772400" cy="4114800"/>
          </a:xfrm>
        </p:spPr>
        <p:txBody>
          <a:bodyPr/>
          <a:lstStyle/>
          <a:p>
            <a:pPr eaLnBrk="1" hangingPunct="1"/>
            <a:r>
              <a:rPr lang="zh-CN" altLang="en-US" b="1"/>
              <a:t>实体完整性</a:t>
            </a:r>
            <a:endParaRPr lang="en-US" altLang="zh-CN" b="1"/>
          </a:p>
          <a:p>
            <a:pPr eaLnBrk="1" hangingPunct="1"/>
            <a:r>
              <a:rPr lang="zh-CN" altLang="en-US" b="1"/>
              <a:t>参照完整性</a:t>
            </a:r>
            <a:endParaRPr lang="en-US" altLang="zh-CN" b="1"/>
          </a:p>
          <a:p>
            <a:pPr eaLnBrk="1" hangingPunct="1"/>
            <a:r>
              <a:rPr lang="zh-CN" altLang="en-US" b="1">
                <a:solidFill>
                  <a:srgbClr val="FF0000"/>
                </a:solidFill>
              </a:rPr>
              <a:t>用户定义完整性</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1187768" y="184468"/>
            <a:ext cx="7886700" cy="1325562"/>
          </a:xfrm>
        </p:spPr>
        <p:txBody>
          <a:bodyPr/>
          <a:lstStyle/>
          <a:p>
            <a:pPr eaLnBrk="1" hangingPunct="1"/>
            <a:r>
              <a:rPr lang="zh-CN" altLang="en-US" sz="3600">
                <a:latin typeface="宋体" panose="02010600030101010101" pitchFamily="2" charset="-122"/>
                <a:ea typeface="宋体" panose="02010600030101010101" pitchFamily="2" charset="-122"/>
              </a:rPr>
              <a:t>用户定义的完整性</a:t>
            </a:r>
          </a:p>
        </p:txBody>
      </p:sp>
      <p:sp>
        <p:nvSpPr>
          <p:cNvPr id="30723" name="Rectangle 3"/>
          <p:cNvSpPr>
            <a:spLocks noGrp="1" noChangeArrowheads="1"/>
          </p:cNvSpPr>
          <p:nvPr>
            <p:ph idx="1"/>
          </p:nvPr>
        </p:nvSpPr>
        <p:spPr>
          <a:xfrm>
            <a:off x="611188" y="1557338"/>
            <a:ext cx="7772400" cy="4114800"/>
          </a:xfrm>
        </p:spPr>
        <p:txBody>
          <a:bodyPr/>
          <a:lstStyle/>
          <a:p>
            <a:pPr eaLnBrk="1" hangingPunct="1">
              <a:lnSpc>
                <a:spcPct val="140000"/>
              </a:lnSpc>
            </a:pPr>
            <a:r>
              <a:rPr lang="zh-CN" altLang="en-US"/>
              <a:t>定义用户完整性的两类方法：</a:t>
            </a:r>
          </a:p>
          <a:p>
            <a:pPr lvl="1" eaLnBrk="1" hangingPunct="1">
              <a:lnSpc>
                <a:spcPct val="140000"/>
              </a:lnSpc>
              <a:spcBef>
                <a:spcPct val="60000"/>
              </a:spcBef>
            </a:pPr>
            <a:r>
              <a:rPr lang="zh-CN" altLang="en-US"/>
              <a:t>用</a:t>
            </a:r>
            <a:r>
              <a:rPr lang="en-US" altLang="zh-CN"/>
              <a:t>CREATE TABLE</a:t>
            </a:r>
            <a:r>
              <a:rPr lang="zh-CN" altLang="en-US"/>
              <a:t>语句在建表时定义用户完整性约束</a:t>
            </a:r>
          </a:p>
          <a:p>
            <a:pPr lvl="1" eaLnBrk="1" hangingPunct="1">
              <a:lnSpc>
                <a:spcPct val="140000"/>
              </a:lnSpc>
              <a:spcBef>
                <a:spcPct val="60000"/>
              </a:spcBef>
            </a:pPr>
            <a:r>
              <a:rPr lang="zh-CN" altLang="en-US"/>
              <a:t>通过</a:t>
            </a:r>
            <a:r>
              <a:rPr lang="zh-CN" altLang="en-US">
                <a:solidFill>
                  <a:srgbClr val="FF0000"/>
                </a:solidFill>
              </a:rPr>
              <a:t>触发器</a:t>
            </a:r>
            <a:r>
              <a:rPr lang="zh-CN" altLang="en-US"/>
              <a:t>来定义用户的完整性规则</a:t>
            </a:r>
            <a:endParaRPr lang="zh-CN" altLang="en-US" sz="32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1746"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169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7" name="页脚占位符 4"/>
          <p:cNvSpPr txBox="1">
            <a:spLocks noGrp="1" noChangeArrowheads="1"/>
          </p:cNvSpPr>
          <p:nvPr/>
        </p:nvSpPr>
        <p:spPr bwMode="auto">
          <a:xfrm>
            <a:off x="5219700" y="6381750"/>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kumimoji="1" lang="en-US" altLang="zh-CN" sz="1400" b="1">
              <a:solidFill>
                <a:srgbClr val="F03628"/>
              </a:solidFill>
              <a:latin typeface="Arial" panose="020B0604020202020204" pitchFamily="34" charset="0"/>
              <a:ea typeface="宋体" panose="02010600030101010101" pitchFamily="2" charset="-122"/>
            </a:endParaRPr>
          </a:p>
        </p:txBody>
      </p:sp>
      <p:sp>
        <p:nvSpPr>
          <p:cNvPr id="31748" name="Rectangle 2"/>
          <p:cNvSpPr>
            <a:spLocks noGrp="1" noChangeArrowheads="1"/>
          </p:cNvSpPr>
          <p:nvPr>
            <p:ph type="title" idx="4294967295"/>
          </p:nvPr>
        </p:nvSpPr>
        <p:spPr>
          <a:xfrm>
            <a:off x="1178878" y="299085"/>
            <a:ext cx="7793037" cy="1143000"/>
          </a:xfrm>
        </p:spPr>
        <p:txBody>
          <a:bodyPr/>
          <a:lstStyle/>
          <a:p>
            <a:pPr eaLnBrk="1" hangingPunct="1"/>
            <a:r>
              <a:rPr lang="en-US" altLang="zh-CN" sz="3600">
                <a:latin typeface="宋体" panose="02010600030101010101" pitchFamily="2" charset="-122"/>
                <a:ea typeface="宋体" panose="02010600030101010101" pitchFamily="2" charset="-122"/>
                <a:cs typeface="宋体" panose="02010600030101010101" pitchFamily="2" charset="-122"/>
              </a:rPr>
              <a:t>5.3  </a:t>
            </a:r>
            <a:r>
              <a:rPr lang="zh-CN" altLang="en-US" sz="3600">
                <a:latin typeface="宋体" panose="02010600030101010101" pitchFamily="2" charset="-122"/>
                <a:ea typeface="宋体" panose="02010600030101010101" pitchFamily="2" charset="-122"/>
                <a:cs typeface="宋体" panose="02010600030101010101" pitchFamily="2" charset="-122"/>
              </a:rPr>
              <a:t>用户定义的完整性</a:t>
            </a:r>
          </a:p>
        </p:txBody>
      </p:sp>
      <p:sp>
        <p:nvSpPr>
          <p:cNvPr id="31749" name="Rectangle 3"/>
          <p:cNvSpPr>
            <a:spLocks noGrp="1" noChangeArrowheads="1"/>
          </p:cNvSpPr>
          <p:nvPr>
            <p:ph type="body" idx="4294967295"/>
          </p:nvPr>
        </p:nvSpPr>
        <p:spPr>
          <a:xfrm>
            <a:off x="1322388" y="1371600"/>
            <a:ext cx="7772400" cy="4114800"/>
          </a:xfrm>
        </p:spPr>
        <p:txBody>
          <a:bodyPr/>
          <a:lstStyle/>
          <a:p>
            <a:pPr marL="0" indent="0" eaLnBrk="1" hangingPunct="1">
              <a:lnSpc>
                <a:spcPct val="190000"/>
              </a:lnSpc>
              <a:buFont typeface="Wingdings" panose="05000000000000000000" pitchFamily="2" charset="2"/>
              <a:buNone/>
            </a:pPr>
            <a:r>
              <a:rPr lang="en-US" altLang="zh-CN">
                <a:solidFill>
                  <a:srgbClr val="FF0000"/>
                </a:solidFill>
                <a:ea typeface="宋体" panose="02010600030101010101" pitchFamily="2" charset="-122"/>
              </a:rPr>
              <a:t>5.3.1 </a:t>
            </a:r>
            <a:r>
              <a:rPr lang="zh-CN" altLang="en-US">
                <a:solidFill>
                  <a:srgbClr val="FF0000"/>
                </a:solidFill>
              </a:rPr>
              <a:t>属性上的约束条件</a:t>
            </a:r>
          </a:p>
          <a:p>
            <a:pPr marL="0" indent="0" eaLnBrk="1" hangingPunct="1">
              <a:lnSpc>
                <a:spcPct val="190000"/>
              </a:lnSpc>
              <a:buFont typeface="Wingdings" panose="05000000000000000000" pitchFamily="2" charset="2"/>
              <a:buNone/>
            </a:pPr>
            <a:r>
              <a:rPr lang="en-US" altLang="zh-CN">
                <a:ea typeface="宋体" panose="02010600030101010101" pitchFamily="2" charset="-122"/>
              </a:rPr>
              <a:t>5.3.2 </a:t>
            </a:r>
            <a:r>
              <a:rPr lang="zh-CN" altLang="en-US"/>
              <a:t>元组上的约束条件 </a:t>
            </a:r>
            <a:endParaRPr lang="zh-CN" altLang="en-US">
              <a:solidFill>
                <a:srgbClr val="3333FF"/>
              </a:solidFill>
            </a:endParaRPr>
          </a:p>
          <a:p>
            <a:pPr marL="0" indent="0" eaLnBrk="1" hangingPunct="1"/>
            <a:endParaRPr lang="en-US" altLang="zh-CN">
              <a:ea typeface="宋体" panose="02010600030101010101" pitchFamily="2"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1169670" y="188640"/>
            <a:ext cx="7886700" cy="1325562"/>
          </a:xfrm>
        </p:spPr>
        <p:txBody>
          <a:bodyPr/>
          <a:lstStyle/>
          <a:p>
            <a:pPr eaLnBrk="1" hangingPunct="1"/>
            <a:r>
              <a:rPr lang="zh-CN" altLang="en-US" sz="3600" dirty="0">
                <a:latin typeface="宋体" panose="02010600030101010101" pitchFamily="2" charset="-122"/>
                <a:ea typeface="宋体" panose="02010600030101010101" pitchFamily="2" charset="-122"/>
              </a:rPr>
              <a:t>用户定义的完整性（续）</a:t>
            </a:r>
          </a:p>
        </p:txBody>
      </p:sp>
      <p:sp>
        <p:nvSpPr>
          <p:cNvPr id="22532" name="Rectangle 3"/>
          <p:cNvSpPr>
            <a:spLocks noGrp="1" noChangeArrowheads="1"/>
          </p:cNvSpPr>
          <p:nvPr>
            <p:ph idx="1"/>
          </p:nvPr>
        </p:nvSpPr>
        <p:spPr>
          <a:xfrm>
            <a:off x="323850" y="1557338"/>
            <a:ext cx="8713788" cy="4114800"/>
          </a:xfrm>
        </p:spPr>
        <p:txBody>
          <a:bodyPr/>
          <a:lstStyle/>
          <a:p>
            <a:pPr eaLnBrk="1" hangingPunct="1">
              <a:buFont typeface="Wingdings" panose="05000000000000000000" pitchFamily="2" charset="2"/>
              <a:buNone/>
            </a:pPr>
            <a:r>
              <a:rPr lang="en-US" altLang="zh-CN" dirty="0"/>
              <a:t>1. </a:t>
            </a:r>
            <a:r>
              <a:rPr lang="zh-CN" altLang="en-US" dirty="0"/>
              <a:t>用</a:t>
            </a:r>
            <a:r>
              <a:rPr lang="en-US" altLang="zh-CN" dirty="0"/>
              <a:t>CREATE TABLE</a:t>
            </a:r>
            <a:r>
              <a:rPr lang="zh-CN" altLang="en-US" dirty="0"/>
              <a:t>语句在建表时，定义属性上的完整性约束</a:t>
            </a:r>
          </a:p>
          <a:p>
            <a:pPr lvl="1" eaLnBrk="1" hangingPunct="1">
              <a:spcBef>
                <a:spcPct val="60000"/>
              </a:spcBef>
              <a:buFont typeface="Wingdings" panose="05000000000000000000" pitchFamily="2" charset="2"/>
              <a:buNone/>
            </a:pPr>
            <a:endParaRPr lang="en-US" altLang="zh-CN" dirty="0"/>
          </a:p>
          <a:p>
            <a:pPr lvl="1" eaLnBrk="1" hangingPunct="1">
              <a:spcBef>
                <a:spcPct val="60000"/>
              </a:spcBef>
              <a:buFont typeface="Wingdings" panose="05000000000000000000" pitchFamily="2" charset="2"/>
              <a:buNone/>
            </a:pPr>
            <a:r>
              <a:rPr lang="zh-CN" altLang="en-US" dirty="0"/>
              <a:t>可定义三类完整性约束</a:t>
            </a:r>
          </a:p>
          <a:p>
            <a:pPr lvl="2" eaLnBrk="1" hangingPunct="1">
              <a:spcBef>
                <a:spcPct val="40000"/>
              </a:spcBef>
            </a:pPr>
            <a:r>
              <a:rPr lang="zh-CN" altLang="en-US" dirty="0"/>
              <a:t>列值非空（</a:t>
            </a:r>
            <a:r>
              <a:rPr lang="en-US" altLang="zh-CN" dirty="0"/>
              <a:t>NOT NULL</a:t>
            </a:r>
            <a:r>
              <a:rPr lang="zh-CN" altLang="en-US" dirty="0"/>
              <a:t>短语）</a:t>
            </a:r>
          </a:p>
          <a:p>
            <a:pPr lvl="2" eaLnBrk="1" hangingPunct="1">
              <a:spcBef>
                <a:spcPct val="40000"/>
              </a:spcBef>
            </a:pPr>
            <a:r>
              <a:rPr lang="zh-CN" altLang="en-US" dirty="0"/>
              <a:t>列值唯一（</a:t>
            </a:r>
            <a:r>
              <a:rPr lang="en-US" altLang="zh-CN" dirty="0"/>
              <a:t>UNIQUE</a:t>
            </a:r>
            <a:r>
              <a:rPr lang="zh-CN" altLang="en-US" dirty="0"/>
              <a:t>短语）</a:t>
            </a:r>
          </a:p>
          <a:p>
            <a:pPr lvl="2" eaLnBrk="1" hangingPunct="1">
              <a:spcBef>
                <a:spcPct val="40000"/>
              </a:spcBef>
            </a:pPr>
            <a:r>
              <a:rPr lang="zh-CN" altLang="en-US" dirty="0"/>
              <a:t>检查列值是否满足一个布尔表达式（</a:t>
            </a:r>
            <a:r>
              <a:rPr lang="en-US" altLang="zh-CN" dirty="0">
                <a:solidFill>
                  <a:srgbClr val="FF0000"/>
                </a:solidFill>
              </a:rPr>
              <a:t>CHECK</a:t>
            </a:r>
            <a:r>
              <a:rPr lang="zh-CN" altLang="en-US" dirty="0">
                <a:solidFill>
                  <a:srgbClr val="FF0000"/>
                </a:solidFill>
              </a:rPr>
              <a:t>短语</a:t>
            </a:r>
            <a:r>
              <a:rPr lang="zh-CN" altLang="en-US"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2532">
                                            <p:txEl>
                                              <p:pRg st="2" end="2"/>
                                            </p:txEl>
                                          </p:spTgt>
                                        </p:tgtEl>
                                        <p:attrNameLst>
                                          <p:attrName>style.visibility</p:attrName>
                                        </p:attrNameLst>
                                      </p:cBhvr>
                                      <p:to>
                                        <p:strVal val="visible"/>
                                      </p:to>
                                    </p:set>
                                    <p:animEffect transition="in" filter="box(in)">
                                      <p:cBhvr>
                                        <p:cTn id="7" dur="500"/>
                                        <p:tgtEl>
                                          <p:spTgt spid="22532">
                                            <p:txEl>
                                              <p:pRg st="2" end="2"/>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22532">
                                            <p:txEl>
                                              <p:pRg st="3" end="3"/>
                                            </p:txEl>
                                          </p:spTgt>
                                        </p:tgtEl>
                                        <p:attrNameLst>
                                          <p:attrName>style.visibility</p:attrName>
                                        </p:attrNameLst>
                                      </p:cBhvr>
                                      <p:to>
                                        <p:strVal val="visible"/>
                                      </p:to>
                                    </p:set>
                                    <p:animEffect transition="in" filter="box(in)">
                                      <p:cBhvr>
                                        <p:cTn id="10" dur="500"/>
                                        <p:tgtEl>
                                          <p:spTgt spid="22532">
                                            <p:txEl>
                                              <p:pRg st="3" end="3"/>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22532">
                                            <p:txEl>
                                              <p:pRg st="4" end="4"/>
                                            </p:txEl>
                                          </p:spTgt>
                                        </p:tgtEl>
                                        <p:attrNameLst>
                                          <p:attrName>style.visibility</p:attrName>
                                        </p:attrNameLst>
                                      </p:cBhvr>
                                      <p:to>
                                        <p:strVal val="visible"/>
                                      </p:to>
                                    </p:set>
                                    <p:animEffect transition="in" filter="box(in)">
                                      <p:cBhvr>
                                        <p:cTn id="13" dur="500"/>
                                        <p:tgtEl>
                                          <p:spTgt spid="22532">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nodeType="clickEffect">
                                  <p:stCondLst>
                                    <p:cond delay="0"/>
                                  </p:stCondLst>
                                  <p:childTnLst>
                                    <p:set>
                                      <p:cBhvr>
                                        <p:cTn id="17" dur="1" fill="hold">
                                          <p:stCondLst>
                                            <p:cond delay="0"/>
                                          </p:stCondLst>
                                        </p:cTn>
                                        <p:tgtEl>
                                          <p:spTgt spid="22532">
                                            <p:txEl>
                                              <p:pRg st="5" end="5"/>
                                            </p:txEl>
                                          </p:spTgt>
                                        </p:tgtEl>
                                        <p:attrNameLst>
                                          <p:attrName>style.visibility</p:attrName>
                                        </p:attrNameLst>
                                      </p:cBhvr>
                                      <p:to>
                                        <p:strVal val="visible"/>
                                      </p:to>
                                    </p:set>
                                    <p:animEffect transition="in" filter="box(in)">
                                      <p:cBhvr>
                                        <p:cTn id="18" dur="500"/>
                                        <p:tgtEl>
                                          <p:spTgt spid="2253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1185863" y="260648"/>
            <a:ext cx="6772275" cy="1057275"/>
          </a:xfrm>
        </p:spPr>
        <p:txBody>
          <a:bodyPr/>
          <a:lstStyle/>
          <a:p>
            <a:pPr eaLnBrk="1" hangingPunct="1"/>
            <a:r>
              <a:rPr lang="zh-CN" altLang="en-US" sz="3600" dirty="0">
                <a:latin typeface="宋体" panose="02010600030101010101" pitchFamily="2" charset="-122"/>
                <a:ea typeface="宋体" panose="02010600030101010101" pitchFamily="2" charset="-122"/>
              </a:rPr>
              <a:t>用户定义的完整性（续）</a:t>
            </a:r>
          </a:p>
        </p:txBody>
      </p:sp>
      <p:sp>
        <p:nvSpPr>
          <p:cNvPr id="24580" name="Rectangle 3"/>
          <p:cNvSpPr>
            <a:spLocks noGrp="1" noChangeArrowheads="1"/>
          </p:cNvSpPr>
          <p:nvPr>
            <p:ph idx="1"/>
          </p:nvPr>
        </p:nvSpPr>
        <p:spPr>
          <a:xfrm>
            <a:off x="252413" y="1571625"/>
            <a:ext cx="8639175" cy="4392613"/>
          </a:xfrm>
        </p:spPr>
        <p:txBody>
          <a:bodyPr/>
          <a:lstStyle/>
          <a:p>
            <a:pPr marL="171450" indent="-171450" eaLnBrk="1" hangingPunct="1">
              <a:lnSpc>
                <a:spcPct val="80000"/>
              </a:lnSpc>
              <a:buFont typeface="Wingdings" panose="05000000000000000000" pitchFamily="2" charset="2"/>
              <a:buNone/>
            </a:pPr>
            <a:r>
              <a:rPr lang="zh-CN" altLang="en-US"/>
              <a:t>例</a:t>
            </a:r>
            <a:r>
              <a:rPr lang="en-US" altLang="zh-CN"/>
              <a:t>1</a:t>
            </a:r>
            <a:r>
              <a:rPr lang="zh-CN" altLang="en-US"/>
              <a:t>： 建立学生登记表</a:t>
            </a:r>
            <a:r>
              <a:rPr lang="en-US" altLang="zh-CN"/>
              <a:t>Student</a:t>
            </a:r>
            <a:r>
              <a:rPr lang="zh-CN" altLang="en-US"/>
              <a:t>，年龄</a:t>
            </a:r>
            <a:r>
              <a:rPr lang="en-US" altLang="zh-CN"/>
              <a:t>&lt;29</a:t>
            </a:r>
            <a:r>
              <a:rPr lang="zh-CN" altLang="en-US"/>
              <a:t>，性别</a:t>
            </a:r>
          </a:p>
          <a:p>
            <a:pPr marL="171450" indent="-171450" eaLnBrk="1" hangingPunct="1">
              <a:lnSpc>
                <a:spcPct val="80000"/>
              </a:lnSpc>
              <a:buFont typeface="Wingdings" panose="05000000000000000000" pitchFamily="2" charset="2"/>
              <a:buNone/>
            </a:pPr>
            <a:r>
              <a:rPr lang="zh-CN" altLang="en-US"/>
              <a:t>           只能是</a:t>
            </a:r>
            <a:r>
              <a:rPr lang="zh-CN" altLang="en-US">
                <a:latin typeface="Times New Roman" panose="02020603050405020304" pitchFamily="18" charset="0"/>
              </a:rPr>
              <a:t>‘</a:t>
            </a:r>
            <a:r>
              <a:rPr lang="zh-CN" altLang="en-US"/>
              <a:t>男</a:t>
            </a:r>
            <a:r>
              <a:rPr lang="zh-CN" altLang="en-US">
                <a:latin typeface="Times New Roman" panose="02020603050405020304" pitchFamily="18" charset="0"/>
              </a:rPr>
              <a:t>’</a:t>
            </a:r>
            <a:r>
              <a:rPr lang="zh-CN" altLang="en-US"/>
              <a:t>或</a:t>
            </a:r>
            <a:r>
              <a:rPr lang="zh-CN" altLang="en-US">
                <a:latin typeface="Times New Roman" panose="02020603050405020304" pitchFamily="18" charset="0"/>
              </a:rPr>
              <a:t>‘</a:t>
            </a:r>
            <a:r>
              <a:rPr lang="zh-CN" altLang="en-US"/>
              <a:t>女</a:t>
            </a:r>
            <a:r>
              <a:rPr lang="zh-CN" altLang="en-US">
                <a:latin typeface="Times New Roman" panose="02020603050405020304" pitchFamily="18" charset="0"/>
              </a:rPr>
              <a:t>’</a:t>
            </a:r>
            <a:r>
              <a:rPr lang="zh-CN" altLang="en-US"/>
              <a:t>，姓名非空</a:t>
            </a:r>
          </a:p>
          <a:p>
            <a:pPr marL="171450" indent="-171450" eaLnBrk="1" hangingPunct="1">
              <a:buFont typeface="Wingdings" panose="05000000000000000000" pitchFamily="2" charset="2"/>
              <a:buNone/>
            </a:pPr>
            <a:endParaRPr lang="zh-CN" altLang="en-US" sz="2400"/>
          </a:p>
          <a:p>
            <a:pPr lvl="1" eaLnBrk="1" hangingPunct="1">
              <a:buFont typeface="Wingdings" panose="05000000000000000000" pitchFamily="2" charset="2"/>
              <a:buNone/>
            </a:pPr>
            <a:r>
              <a:rPr lang="en-US" altLang="zh-CN" b="1"/>
              <a:t>CREATE TABLE Student</a:t>
            </a:r>
          </a:p>
          <a:p>
            <a:pPr lvl="1" eaLnBrk="1" hangingPunct="1">
              <a:buFont typeface="Wingdings" panose="05000000000000000000" pitchFamily="2" charset="2"/>
              <a:buNone/>
            </a:pPr>
            <a:r>
              <a:rPr lang="en-US" altLang="zh-CN" b="1"/>
              <a:t>      (Sno    CHAR(9) PRIMARY KEY,</a:t>
            </a:r>
          </a:p>
          <a:p>
            <a:pPr lvl="1" eaLnBrk="1" hangingPunct="1">
              <a:buFont typeface="Wingdings" panose="05000000000000000000" pitchFamily="2" charset="2"/>
              <a:buNone/>
            </a:pPr>
            <a:r>
              <a:rPr lang="en-US" altLang="zh-CN" b="1"/>
              <a:t>       Sname  VARCHAR(20)  </a:t>
            </a:r>
            <a:r>
              <a:rPr lang="en-US" altLang="zh-CN" b="1">
                <a:solidFill>
                  <a:schemeClr val="accent2"/>
                </a:solidFill>
              </a:rPr>
              <a:t>NOT NULL</a:t>
            </a:r>
            <a:r>
              <a:rPr lang="en-US" altLang="zh-CN" b="1"/>
              <a:t>,</a:t>
            </a:r>
          </a:p>
          <a:p>
            <a:pPr lvl="1" eaLnBrk="1" hangingPunct="1">
              <a:buFont typeface="Wingdings" panose="05000000000000000000" pitchFamily="2" charset="2"/>
              <a:buNone/>
            </a:pPr>
            <a:r>
              <a:rPr lang="en-US" altLang="zh-CN" b="1"/>
              <a:t>       Sage   SMALLINT   </a:t>
            </a:r>
            <a:r>
              <a:rPr lang="en-US" altLang="zh-CN" b="1">
                <a:solidFill>
                  <a:schemeClr val="hlink"/>
                </a:solidFill>
              </a:rPr>
              <a:t>CHECK (Sage &lt; 29)</a:t>
            </a:r>
            <a:r>
              <a:rPr lang="en-US" altLang="zh-CN" b="1"/>
              <a:t>,</a:t>
            </a:r>
          </a:p>
          <a:p>
            <a:pPr lvl="1" eaLnBrk="1" hangingPunct="1">
              <a:buFont typeface="Wingdings" panose="05000000000000000000" pitchFamily="2" charset="2"/>
              <a:buNone/>
            </a:pPr>
            <a:r>
              <a:rPr lang="en-US" altLang="zh-CN" b="1"/>
              <a:t>       Ssex   VARCHAR(2)  </a:t>
            </a:r>
            <a:r>
              <a:rPr lang="en-US" altLang="zh-CN" b="1">
                <a:solidFill>
                  <a:schemeClr val="hlink"/>
                </a:solidFill>
              </a:rPr>
              <a:t>CHECK (Ssex IN ('</a:t>
            </a:r>
            <a:r>
              <a:rPr lang="zh-CN" altLang="en-US" b="1">
                <a:solidFill>
                  <a:schemeClr val="hlink"/>
                </a:solidFill>
              </a:rPr>
              <a:t>男</a:t>
            </a:r>
            <a:r>
              <a:rPr lang="en-US" altLang="zh-CN" b="1">
                <a:solidFill>
                  <a:schemeClr val="hlink"/>
                </a:solidFill>
              </a:rPr>
              <a:t>', '</a:t>
            </a:r>
            <a:r>
              <a:rPr lang="zh-CN" altLang="en-US" b="1">
                <a:solidFill>
                  <a:schemeClr val="hlink"/>
                </a:solidFill>
              </a:rPr>
              <a:t>女</a:t>
            </a:r>
            <a:r>
              <a:rPr lang="en-US" altLang="zh-CN" b="1">
                <a:solidFill>
                  <a:schemeClr val="hlink"/>
                </a:solidFill>
              </a:rPr>
              <a:t>‘)),</a:t>
            </a:r>
          </a:p>
          <a:p>
            <a:pPr lvl="1" eaLnBrk="1" hangingPunct="1">
              <a:buFont typeface="Wingdings" panose="05000000000000000000" pitchFamily="2" charset="2"/>
              <a:buNone/>
            </a:pPr>
            <a:r>
              <a:rPr lang="en-US" altLang="zh-CN" b="1">
                <a:solidFill>
                  <a:schemeClr val="hlink"/>
                </a:solidFill>
              </a:rPr>
              <a:t>		  </a:t>
            </a:r>
            <a:r>
              <a:rPr lang="en-US" altLang="zh-CN" b="1"/>
              <a:t>Sdept  VARCHAR(20)</a:t>
            </a:r>
          </a:p>
          <a:p>
            <a:pPr lvl="1" eaLnBrk="1" hangingPunct="1">
              <a:buFont typeface="Wingdings" panose="05000000000000000000" pitchFamily="2" charset="2"/>
              <a:buNone/>
            </a:pPr>
            <a:r>
              <a:rPr lang="en-US" altLang="zh-CN" b="1">
                <a:solidFill>
                  <a:schemeClr val="hlink"/>
                </a:solidFill>
              </a:rPr>
              <a:t>		</a:t>
            </a:r>
            <a:r>
              <a:rPr lang="en-US" altLang="zh-CN" b="1"/>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4580">
                                            <p:txEl>
                                              <p:pRg st="3" end="3"/>
                                            </p:txEl>
                                          </p:spTgt>
                                        </p:tgtEl>
                                        <p:attrNameLst>
                                          <p:attrName>style.visibility</p:attrName>
                                        </p:attrNameLst>
                                      </p:cBhvr>
                                      <p:to>
                                        <p:strVal val="visible"/>
                                      </p:to>
                                    </p:set>
                                    <p:animEffect transition="in" filter="fade">
                                      <p:cBhvr>
                                        <p:cTn id="7" dur="1000"/>
                                        <p:tgtEl>
                                          <p:spTgt spid="24580">
                                            <p:txEl>
                                              <p:pRg st="3" end="3"/>
                                            </p:txEl>
                                          </p:spTgt>
                                        </p:tgtEl>
                                      </p:cBhvr>
                                    </p:animEffect>
                                    <p:anim calcmode="lin" valueType="num">
                                      <p:cBhvr>
                                        <p:cTn id="8" dur="1000" fill="hold"/>
                                        <p:tgtEl>
                                          <p:spTgt spid="24580">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24580">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4580">
                                            <p:txEl>
                                              <p:pRg st="4" end="4"/>
                                            </p:txEl>
                                          </p:spTgt>
                                        </p:tgtEl>
                                        <p:attrNameLst>
                                          <p:attrName>style.visibility</p:attrName>
                                        </p:attrNameLst>
                                      </p:cBhvr>
                                      <p:to>
                                        <p:strVal val="visible"/>
                                      </p:to>
                                    </p:set>
                                    <p:animEffect transition="in" filter="fade">
                                      <p:cBhvr>
                                        <p:cTn id="12" dur="1000"/>
                                        <p:tgtEl>
                                          <p:spTgt spid="24580">
                                            <p:txEl>
                                              <p:pRg st="4" end="4"/>
                                            </p:txEl>
                                          </p:spTgt>
                                        </p:tgtEl>
                                      </p:cBhvr>
                                    </p:animEffect>
                                    <p:anim calcmode="lin" valueType="num">
                                      <p:cBhvr>
                                        <p:cTn id="13" dur="1000" fill="hold"/>
                                        <p:tgtEl>
                                          <p:spTgt spid="24580">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24580">
                                            <p:txEl>
                                              <p:pRg st="4" end="4"/>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4580">
                                            <p:txEl>
                                              <p:pRg st="5" end="5"/>
                                            </p:txEl>
                                          </p:spTgt>
                                        </p:tgtEl>
                                        <p:attrNameLst>
                                          <p:attrName>style.visibility</p:attrName>
                                        </p:attrNameLst>
                                      </p:cBhvr>
                                      <p:to>
                                        <p:strVal val="visible"/>
                                      </p:to>
                                    </p:set>
                                    <p:animEffect transition="in" filter="fade">
                                      <p:cBhvr>
                                        <p:cTn id="17" dur="1000"/>
                                        <p:tgtEl>
                                          <p:spTgt spid="24580">
                                            <p:txEl>
                                              <p:pRg st="5" end="5"/>
                                            </p:txEl>
                                          </p:spTgt>
                                        </p:tgtEl>
                                      </p:cBhvr>
                                    </p:animEffect>
                                    <p:anim calcmode="lin" valueType="num">
                                      <p:cBhvr>
                                        <p:cTn id="18" dur="1000" fill="hold"/>
                                        <p:tgtEl>
                                          <p:spTgt spid="24580">
                                            <p:txEl>
                                              <p:pRg st="5" end="5"/>
                                            </p:txEl>
                                          </p:spTgt>
                                        </p:tgtEl>
                                        <p:attrNameLst>
                                          <p:attrName>ppt_x</p:attrName>
                                        </p:attrNameLst>
                                      </p:cBhvr>
                                      <p:tavLst>
                                        <p:tav tm="0">
                                          <p:val>
                                            <p:strVal val="#ppt_x"/>
                                          </p:val>
                                        </p:tav>
                                        <p:tav tm="100000">
                                          <p:val>
                                            <p:strVal val="#ppt_x"/>
                                          </p:val>
                                        </p:tav>
                                      </p:tavLst>
                                    </p:anim>
                                    <p:anim calcmode="lin" valueType="num">
                                      <p:cBhvr>
                                        <p:cTn id="19" dur="1000" fill="hold"/>
                                        <p:tgtEl>
                                          <p:spTgt spid="24580">
                                            <p:txEl>
                                              <p:pRg st="5" end="5"/>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24580">
                                            <p:txEl>
                                              <p:pRg st="6" end="6"/>
                                            </p:txEl>
                                          </p:spTgt>
                                        </p:tgtEl>
                                        <p:attrNameLst>
                                          <p:attrName>style.visibility</p:attrName>
                                        </p:attrNameLst>
                                      </p:cBhvr>
                                      <p:to>
                                        <p:strVal val="visible"/>
                                      </p:to>
                                    </p:set>
                                    <p:animEffect transition="in" filter="fade">
                                      <p:cBhvr>
                                        <p:cTn id="22" dur="1000"/>
                                        <p:tgtEl>
                                          <p:spTgt spid="24580">
                                            <p:txEl>
                                              <p:pRg st="6" end="6"/>
                                            </p:txEl>
                                          </p:spTgt>
                                        </p:tgtEl>
                                      </p:cBhvr>
                                    </p:animEffect>
                                    <p:anim calcmode="lin" valueType="num">
                                      <p:cBhvr>
                                        <p:cTn id="23" dur="1000" fill="hold"/>
                                        <p:tgtEl>
                                          <p:spTgt spid="24580">
                                            <p:txEl>
                                              <p:pRg st="6" end="6"/>
                                            </p:txEl>
                                          </p:spTgt>
                                        </p:tgtEl>
                                        <p:attrNameLst>
                                          <p:attrName>ppt_x</p:attrName>
                                        </p:attrNameLst>
                                      </p:cBhvr>
                                      <p:tavLst>
                                        <p:tav tm="0">
                                          <p:val>
                                            <p:strVal val="#ppt_x"/>
                                          </p:val>
                                        </p:tav>
                                        <p:tav tm="100000">
                                          <p:val>
                                            <p:strVal val="#ppt_x"/>
                                          </p:val>
                                        </p:tav>
                                      </p:tavLst>
                                    </p:anim>
                                    <p:anim calcmode="lin" valueType="num">
                                      <p:cBhvr>
                                        <p:cTn id="24" dur="1000" fill="hold"/>
                                        <p:tgtEl>
                                          <p:spTgt spid="24580">
                                            <p:txEl>
                                              <p:pRg st="6" end="6"/>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24580">
                                            <p:txEl>
                                              <p:pRg st="7" end="7"/>
                                            </p:txEl>
                                          </p:spTgt>
                                        </p:tgtEl>
                                        <p:attrNameLst>
                                          <p:attrName>style.visibility</p:attrName>
                                        </p:attrNameLst>
                                      </p:cBhvr>
                                      <p:to>
                                        <p:strVal val="visible"/>
                                      </p:to>
                                    </p:set>
                                    <p:animEffect transition="in" filter="fade">
                                      <p:cBhvr>
                                        <p:cTn id="27" dur="1000"/>
                                        <p:tgtEl>
                                          <p:spTgt spid="24580">
                                            <p:txEl>
                                              <p:pRg st="7" end="7"/>
                                            </p:txEl>
                                          </p:spTgt>
                                        </p:tgtEl>
                                      </p:cBhvr>
                                    </p:animEffect>
                                    <p:anim calcmode="lin" valueType="num">
                                      <p:cBhvr>
                                        <p:cTn id="28" dur="1000" fill="hold"/>
                                        <p:tgtEl>
                                          <p:spTgt spid="24580">
                                            <p:txEl>
                                              <p:pRg st="7" end="7"/>
                                            </p:txEl>
                                          </p:spTgt>
                                        </p:tgtEl>
                                        <p:attrNameLst>
                                          <p:attrName>ppt_x</p:attrName>
                                        </p:attrNameLst>
                                      </p:cBhvr>
                                      <p:tavLst>
                                        <p:tav tm="0">
                                          <p:val>
                                            <p:strVal val="#ppt_x"/>
                                          </p:val>
                                        </p:tav>
                                        <p:tav tm="100000">
                                          <p:val>
                                            <p:strVal val="#ppt_x"/>
                                          </p:val>
                                        </p:tav>
                                      </p:tavLst>
                                    </p:anim>
                                    <p:anim calcmode="lin" valueType="num">
                                      <p:cBhvr>
                                        <p:cTn id="29" dur="1000" fill="hold"/>
                                        <p:tgtEl>
                                          <p:spTgt spid="24580">
                                            <p:txEl>
                                              <p:pRg st="7" end="7"/>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24580">
                                            <p:txEl>
                                              <p:pRg st="8" end="8"/>
                                            </p:txEl>
                                          </p:spTgt>
                                        </p:tgtEl>
                                        <p:attrNameLst>
                                          <p:attrName>style.visibility</p:attrName>
                                        </p:attrNameLst>
                                      </p:cBhvr>
                                      <p:to>
                                        <p:strVal val="visible"/>
                                      </p:to>
                                    </p:set>
                                    <p:animEffect transition="in" filter="fade">
                                      <p:cBhvr>
                                        <p:cTn id="32" dur="1000"/>
                                        <p:tgtEl>
                                          <p:spTgt spid="24580">
                                            <p:txEl>
                                              <p:pRg st="8" end="8"/>
                                            </p:txEl>
                                          </p:spTgt>
                                        </p:tgtEl>
                                      </p:cBhvr>
                                    </p:animEffect>
                                    <p:anim calcmode="lin" valueType="num">
                                      <p:cBhvr>
                                        <p:cTn id="33" dur="1000" fill="hold"/>
                                        <p:tgtEl>
                                          <p:spTgt spid="24580">
                                            <p:txEl>
                                              <p:pRg st="8" end="8"/>
                                            </p:txEl>
                                          </p:spTgt>
                                        </p:tgtEl>
                                        <p:attrNameLst>
                                          <p:attrName>ppt_x</p:attrName>
                                        </p:attrNameLst>
                                      </p:cBhvr>
                                      <p:tavLst>
                                        <p:tav tm="0">
                                          <p:val>
                                            <p:strVal val="#ppt_x"/>
                                          </p:val>
                                        </p:tav>
                                        <p:tav tm="100000">
                                          <p:val>
                                            <p:strVal val="#ppt_x"/>
                                          </p:val>
                                        </p:tav>
                                      </p:tavLst>
                                    </p:anim>
                                    <p:anim calcmode="lin" valueType="num">
                                      <p:cBhvr>
                                        <p:cTn id="34" dur="1000" fill="hold"/>
                                        <p:tgtEl>
                                          <p:spTgt spid="24580">
                                            <p:txEl>
                                              <p:pRg st="8" end="8"/>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24580">
                                            <p:txEl>
                                              <p:pRg st="9" end="9"/>
                                            </p:txEl>
                                          </p:spTgt>
                                        </p:tgtEl>
                                        <p:attrNameLst>
                                          <p:attrName>style.visibility</p:attrName>
                                        </p:attrNameLst>
                                      </p:cBhvr>
                                      <p:to>
                                        <p:strVal val="visible"/>
                                      </p:to>
                                    </p:set>
                                    <p:animEffect transition="in" filter="fade">
                                      <p:cBhvr>
                                        <p:cTn id="37" dur="1000"/>
                                        <p:tgtEl>
                                          <p:spTgt spid="24580">
                                            <p:txEl>
                                              <p:pRg st="9" end="9"/>
                                            </p:txEl>
                                          </p:spTgt>
                                        </p:tgtEl>
                                      </p:cBhvr>
                                    </p:animEffect>
                                    <p:anim calcmode="lin" valueType="num">
                                      <p:cBhvr>
                                        <p:cTn id="38" dur="1000" fill="hold"/>
                                        <p:tgtEl>
                                          <p:spTgt spid="24580">
                                            <p:txEl>
                                              <p:pRg st="9" end="9"/>
                                            </p:txEl>
                                          </p:spTgt>
                                        </p:tgtEl>
                                        <p:attrNameLst>
                                          <p:attrName>ppt_x</p:attrName>
                                        </p:attrNameLst>
                                      </p:cBhvr>
                                      <p:tavLst>
                                        <p:tav tm="0">
                                          <p:val>
                                            <p:strVal val="#ppt_x"/>
                                          </p:val>
                                        </p:tav>
                                        <p:tav tm="100000">
                                          <p:val>
                                            <p:strVal val="#ppt_x"/>
                                          </p:val>
                                        </p:tav>
                                      </p:tavLst>
                                    </p:anim>
                                    <p:anim calcmode="lin" valueType="num">
                                      <p:cBhvr>
                                        <p:cTn id="39" dur="1000" fill="hold"/>
                                        <p:tgtEl>
                                          <p:spTgt spid="24580">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4818"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8575"/>
            <a:ext cx="9036050" cy="167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19" name="页脚占位符 4"/>
          <p:cNvSpPr txBox="1">
            <a:spLocks noGrp="1" noChangeArrowheads="1"/>
          </p:cNvSpPr>
          <p:nvPr/>
        </p:nvSpPr>
        <p:spPr bwMode="auto">
          <a:xfrm>
            <a:off x="5219700" y="6381750"/>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kumimoji="1" lang="en-US" altLang="zh-CN" sz="1400" b="1">
              <a:solidFill>
                <a:srgbClr val="F03628"/>
              </a:solidFill>
              <a:latin typeface="Arial" panose="020B0604020202020204" pitchFamily="34" charset="0"/>
              <a:ea typeface="宋体" panose="02010600030101010101" pitchFamily="2" charset="-122"/>
            </a:endParaRPr>
          </a:p>
        </p:txBody>
      </p:sp>
      <p:sp>
        <p:nvSpPr>
          <p:cNvPr id="34820" name="Rectangle 2"/>
          <p:cNvSpPr txBox="1">
            <a:spLocks noChangeArrowheads="1"/>
          </p:cNvSpPr>
          <p:nvPr/>
        </p:nvSpPr>
        <p:spPr bwMode="auto">
          <a:xfrm>
            <a:off x="457200" y="-28575"/>
            <a:ext cx="8229600" cy="112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kumimoji="1" lang="zh-CN" altLang="en-US" sz="3600" b="1">
                <a:solidFill>
                  <a:schemeClr val="bg1"/>
                </a:solidFill>
                <a:latin typeface="Arial" panose="020B0604020202020204" pitchFamily="34" charset="0"/>
                <a:ea typeface="宋体" panose="02010600030101010101" pitchFamily="2" charset="-122"/>
              </a:rPr>
              <a:t>属性上约束条件的定义</a:t>
            </a:r>
            <a:r>
              <a:rPr kumimoji="1" lang="en-US" altLang="zh-CN" sz="3600" b="1">
                <a:solidFill>
                  <a:schemeClr val="bg1"/>
                </a:solidFill>
                <a:latin typeface="Arial" panose="020B0604020202020204" pitchFamily="34" charset="0"/>
                <a:ea typeface="宋体" panose="02010600030101010101" pitchFamily="2" charset="-122"/>
              </a:rPr>
              <a:t>（</a:t>
            </a:r>
            <a:r>
              <a:rPr kumimoji="1" lang="zh-CN" altLang="en-US" sz="3600" b="1">
                <a:solidFill>
                  <a:schemeClr val="bg1"/>
                </a:solidFill>
                <a:latin typeface="Arial" panose="020B0604020202020204" pitchFamily="34" charset="0"/>
                <a:ea typeface="宋体" panose="02010600030101010101" pitchFamily="2" charset="-122"/>
              </a:rPr>
              <a:t>续</a:t>
            </a:r>
            <a:r>
              <a:rPr kumimoji="1" lang="en-US" altLang="zh-CN" sz="3600" b="1">
                <a:solidFill>
                  <a:schemeClr val="bg1"/>
                </a:solidFill>
                <a:latin typeface="Arial" panose="020B0604020202020204" pitchFamily="34" charset="0"/>
                <a:ea typeface="宋体" panose="02010600030101010101" pitchFamily="2" charset="-122"/>
              </a:rPr>
              <a:t>）</a:t>
            </a:r>
          </a:p>
        </p:txBody>
      </p:sp>
      <p:sp>
        <p:nvSpPr>
          <p:cNvPr id="39940" name="Rectangle 3"/>
          <p:cNvSpPr txBox="1">
            <a:spLocks noChangeArrowheads="1"/>
          </p:cNvSpPr>
          <p:nvPr/>
        </p:nvSpPr>
        <p:spPr bwMode="auto">
          <a:xfrm>
            <a:off x="323850" y="1552575"/>
            <a:ext cx="8496300" cy="42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kumimoji="1" lang="zh-CN" altLang="en-US">
                <a:latin typeface="Arial" panose="020B0604020202020204" pitchFamily="34" charset="0"/>
                <a:ea typeface="宋体" panose="02010600030101010101" pitchFamily="2" charset="-122"/>
              </a:rPr>
              <a:t>例</a:t>
            </a:r>
            <a:r>
              <a:rPr kumimoji="1" lang="en-US" altLang="zh-CN">
                <a:latin typeface="Arial" panose="020B0604020202020204" pitchFamily="34" charset="0"/>
                <a:ea typeface="宋体" panose="02010600030101010101" pitchFamily="2" charset="-122"/>
              </a:rPr>
              <a:t>2</a:t>
            </a:r>
            <a:r>
              <a:rPr kumimoji="1" lang="zh-CN" altLang="en-US">
                <a:latin typeface="Arial" panose="020B0604020202020204" pitchFamily="34" charset="0"/>
                <a:ea typeface="宋体" panose="02010600030101010101" pitchFamily="2" charset="-122"/>
              </a:rPr>
              <a:t>： </a:t>
            </a:r>
            <a:r>
              <a:rPr kumimoji="1" lang="en-US" altLang="zh-CN">
                <a:latin typeface="Arial" panose="020B0604020202020204" pitchFamily="34" charset="0"/>
                <a:ea typeface="宋体" panose="02010600030101010101" pitchFamily="2" charset="-122"/>
              </a:rPr>
              <a:t>SC</a:t>
            </a:r>
            <a:r>
              <a:rPr kumimoji="1" lang="zh-CN" altLang="en-US">
                <a:latin typeface="Arial" panose="020B0604020202020204" pitchFamily="34" charset="0"/>
                <a:ea typeface="宋体" panose="02010600030101010101" pitchFamily="2" charset="-122"/>
              </a:rPr>
              <a:t>表的</a:t>
            </a:r>
            <a:r>
              <a:rPr kumimoji="1" lang="en-US" altLang="zh-CN">
                <a:latin typeface="Arial" panose="020B0604020202020204" pitchFamily="34" charset="0"/>
                <a:ea typeface="宋体" panose="02010600030101010101" pitchFamily="2" charset="-122"/>
              </a:rPr>
              <a:t>Grade</a:t>
            </a:r>
            <a:r>
              <a:rPr kumimoji="1" lang="zh-CN" altLang="en-US">
                <a:latin typeface="Arial" panose="020B0604020202020204" pitchFamily="34" charset="0"/>
                <a:ea typeface="宋体" panose="02010600030101010101" pitchFamily="2" charset="-122"/>
              </a:rPr>
              <a:t>的值应该在</a:t>
            </a:r>
            <a:r>
              <a:rPr kumimoji="1" lang="en-US" altLang="zh-CN">
                <a:latin typeface="Arial" panose="020B0604020202020204" pitchFamily="34" charset="0"/>
                <a:ea typeface="宋体" panose="02010600030101010101" pitchFamily="2" charset="-122"/>
              </a:rPr>
              <a:t>0</a:t>
            </a:r>
            <a:r>
              <a:rPr kumimoji="1" lang="zh-CN" altLang="en-US">
                <a:latin typeface="Arial" panose="020B0604020202020204" pitchFamily="34" charset="0"/>
                <a:ea typeface="宋体" panose="02010600030101010101" pitchFamily="2" charset="-122"/>
              </a:rPr>
              <a:t>和</a:t>
            </a:r>
            <a:r>
              <a:rPr kumimoji="1" lang="en-US" altLang="zh-CN">
                <a:latin typeface="Arial" panose="020B0604020202020204" pitchFamily="34" charset="0"/>
                <a:ea typeface="宋体" panose="02010600030101010101" pitchFamily="2" charset="-122"/>
              </a:rPr>
              <a:t>100</a:t>
            </a:r>
            <a:r>
              <a:rPr kumimoji="1" lang="zh-CN" altLang="en-US">
                <a:latin typeface="Arial" panose="020B0604020202020204" pitchFamily="34" charset="0"/>
                <a:ea typeface="宋体" panose="02010600030101010101" pitchFamily="2" charset="-122"/>
              </a:rPr>
              <a:t>之间。</a:t>
            </a:r>
          </a:p>
          <a:p>
            <a:pPr eaLnBrk="1" hangingPunct="1">
              <a:lnSpc>
                <a:spcPct val="120000"/>
              </a:lnSpc>
              <a:spcBef>
                <a:spcPct val="0"/>
              </a:spcBef>
              <a:buFontTx/>
              <a:buNone/>
            </a:pPr>
            <a:r>
              <a:rPr kumimoji="1" lang="en-US" altLang="zh-CN" sz="2400" b="1">
                <a:latin typeface="Arial" panose="020B0604020202020204" pitchFamily="34" charset="0"/>
                <a:ea typeface="宋体" panose="02010600030101010101" pitchFamily="2" charset="-122"/>
              </a:rPr>
              <a:t>   </a:t>
            </a:r>
          </a:p>
          <a:p>
            <a:pPr eaLnBrk="1" hangingPunct="1">
              <a:lnSpc>
                <a:spcPct val="120000"/>
              </a:lnSpc>
              <a:spcBef>
                <a:spcPct val="0"/>
              </a:spcBef>
              <a:buFontTx/>
              <a:buNone/>
            </a:pPr>
            <a:r>
              <a:rPr kumimoji="1" lang="en-US" altLang="zh-CN" sz="2200" b="1">
                <a:latin typeface="Arial" panose="020B0604020202020204" pitchFamily="34" charset="0"/>
                <a:ea typeface="宋体" panose="02010600030101010101" pitchFamily="2" charset="-122"/>
              </a:rPr>
              <a:t>CREATE TABLE  SC</a:t>
            </a:r>
            <a:endParaRPr kumimoji="1" lang="zh-CN" altLang="en-US" sz="2200" b="1">
              <a:latin typeface="Arial" panose="020B0604020202020204" pitchFamily="34" charset="0"/>
              <a:ea typeface="宋体" panose="02010600030101010101" pitchFamily="2" charset="-122"/>
            </a:endParaRPr>
          </a:p>
          <a:p>
            <a:pPr eaLnBrk="1" hangingPunct="1">
              <a:lnSpc>
                <a:spcPct val="120000"/>
              </a:lnSpc>
              <a:spcBef>
                <a:spcPct val="0"/>
              </a:spcBef>
              <a:buFontTx/>
              <a:buNone/>
            </a:pPr>
            <a:r>
              <a:rPr kumimoji="1" lang="en-US" altLang="zh-CN" sz="2200" b="1">
                <a:latin typeface="Arial" panose="020B0604020202020204" pitchFamily="34" charset="0"/>
                <a:ea typeface="宋体" panose="02010600030101010101" pitchFamily="2" charset="-122"/>
              </a:rPr>
              <a:t>         </a:t>
            </a:r>
            <a:r>
              <a:rPr kumimoji="1" lang="zh-CN" altLang="en-US" sz="2200" b="1">
                <a:latin typeface="Arial" panose="020B0604020202020204" pitchFamily="34" charset="0"/>
                <a:ea typeface="宋体" panose="02010600030101010101" pitchFamily="2" charset="-122"/>
              </a:rPr>
              <a:t>(  </a:t>
            </a:r>
            <a:r>
              <a:rPr kumimoji="1" lang="en-US" altLang="zh-CN" sz="2200" b="1">
                <a:latin typeface="Arial" panose="020B0604020202020204" pitchFamily="34" charset="0"/>
                <a:ea typeface="宋体" panose="02010600030101010101" pitchFamily="2" charset="-122"/>
              </a:rPr>
              <a:t>Sno     CHAR</a:t>
            </a:r>
            <a:r>
              <a:rPr kumimoji="1" lang="zh-CN" altLang="en-US" sz="2200" b="1">
                <a:latin typeface="Arial" panose="020B0604020202020204" pitchFamily="34" charset="0"/>
                <a:ea typeface="宋体" panose="02010600030101010101" pitchFamily="2" charset="-122"/>
              </a:rPr>
              <a:t>(</a:t>
            </a:r>
            <a:r>
              <a:rPr kumimoji="1" lang="en-US" altLang="zh-CN" sz="2200" b="1">
                <a:latin typeface="Arial" panose="020B0604020202020204" pitchFamily="34" charset="0"/>
                <a:ea typeface="宋体" panose="02010600030101010101" pitchFamily="2" charset="-122"/>
              </a:rPr>
              <a:t>9</a:t>
            </a:r>
            <a:r>
              <a:rPr kumimoji="1" lang="zh-CN" altLang="en-US" sz="2200" b="1">
                <a:latin typeface="Arial" panose="020B0604020202020204" pitchFamily="34" charset="0"/>
                <a:ea typeface="宋体" panose="02010600030101010101" pitchFamily="2" charset="-122"/>
              </a:rPr>
              <a:t>)</a:t>
            </a:r>
            <a:r>
              <a:rPr kumimoji="1" lang="en-US" altLang="zh-CN" sz="2200" b="1">
                <a:latin typeface="Arial" panose="020B0604020202020204" pitchFamily="34" charset="0"/>
                <a:ea typeface="宋体" panose="02010600030101010101" pitchFamily="2" charset="-122"/>
              </a:rPr>
              <a:t> </a:t>
            </a:r>
            <a:r>
              <a:rPr kumimoji="1" lang="zh-CN" altLang="en-US" sz="2200" b="1">
                <a:latin typeface="Arial" panose="020B0604020202020204" pitchFamily="34" charset="0"/>
                <a:ea typeface="宋体" panose="02010600030101010101" pitchFamily="2" charset="-122"/>
              </a:rPr>
              <a:t>,</a:t>
            </a:r>
          </a:p>
          <a:p>
            <a:pPr eaLnBrk="1" hangingPunct="1">
              <a:lnSpc>
                <a:spcPct val="120000"/>
              </a:lnSpc>
              <a:spcBef>
                <a:spcPct val="0"/>
              </a:spcBef>
              <a:buFontTx/>
              <a:buNone/>
            </a:pPr>
            <a:r>
              <a:rPr kumimoji="1" lang="en-US" altLang="zh-CN" sz="2200" b="1">
                <a:latin typeface="Arial" panose="020B0604020202020204" pitchFamily="34" charset="0"/>
                <a:ea typeface="宋体" panose="02010600030101010101" pitchFamily="2" charset="-122"/>
              </a:rPr>
              <a:t>         </a:t>
            </a:r>
            <a:r>
              <a:rPr kumimoji="1" lang="zh-CN" altLang="en-US" sz="2200" b="1">
                <a:latin typeface="Arial" panose="020B0604020202020204" pitchFamily="34" charset="0"/>
                <a:ea typeface="宋体" panose="02010600030101010101" pitchFamily="2" charset="-122"/>
              </a:rPr>
              <a:t>   </a:t>
            </a:r>
            <a:r>
              <a:rPr kumimoji="1" lang="en-US" altLang="zh-CN" sz="2200" b="1">
                <a:latin typeface="Arial" panose="020B0604020202020204" pitchFamily="34" charset="0"/>
                <a:ea typeface="宋体" panose="02010600030101010101" pitchFamily="2" charset="-122"/>
              </a:rPr>
              <a:t>Cno    CHAR</a:t>
            </a:r>
            <a:r>
              <a:rPr kumimoji="1" lang="zh-CN" altLang="en-US" sz="2200" b="1">
                <a:latin typeface="Arial" panose="020B0604020202020204" pitchFamily="34" charset="0"/>
                <a:ea typeface="宋体" panose="02010600030101010101" pitchFamily="2" charset="-122"/>
              </a:rPr>
              <a:t>(</a:t>
            </a:r>
            <a:r>
              <a:rPr kumimoji="1" lang="en-US" altLang="zh-CN" sz="2200" b="1">
                <a:latin typeface="Arial" panose="020B0604020202020204" pitchFamily="34" charset="0"/>
                <a:ea typeface="宋体" panose="02010600030101010101" pitchFamily="2" charset="-122"/>
              </a:rPr>
              <a:t>4</a:t>
            </a:r>
            <a:r>
              <a:rPr kumimoji="1" lang="zh-CN" altLang="en-US" sz="2200" b="1">
                <a:latin typeface="Arial" panose="020B0604020202020204" pitchFamily="34" charset="0"/>
                <a:ea typeface="宋体" panose="02010600030101010101" pitchFamily="2" charset="-122"/>
              </a:rPr>
              <a:t>),</a:t>
            </a:r>
          </a:p>
          <a:p>
            <a:pPr eaLnBrk="1" hangingPunct="1">
              <a:lnSpc>
                <a:spcPct val="120000"/>
              </a:lnSpc>
              <a:spcBef>
                <a:spcPct val="0"/>
              </a:spcBef>
              <a:buFontTx/>
              <a:buNone/>
            </a:pPr>
            <a:r>
              <a:rPr kumimoji="1" lang="en-US" altLang="zh-CN" sz="2200" b="1">
                <a:latin typeface="Arial" panose="020B0604020202020204" pitchFamily="34" charset="0"/>
                <a:ea typeface="宋体" panose="02010600030101010101" pitchFamily="2" charset="-122"/>
              </a:rPr>
              <a:t>	Grade   SMALLINT </a:t>
            </a:r>
            <a:r>
              <a:rPr kumimoji="1" lang="en-US" altLang="zh-CN" sz="2200" b="1">
                <a:solidFill>
                  <a:srgbClr val="FF0000"/>
                </a:solidFill>
                <a:latin typeface="Arial" panose="020B0604020202020204" pitchFamily="34" charset="0"/>
                <a:ea typeface="宋体" panose="02010600030101010101" pitchFamily="2" charset="-122"/>
              </a:rPr>
              <a:t>CHECK </a:t>
            </a:r>
            <a:r>
              <a:rPr kumimoji="1" lang="zh-CN" altLang="en-US" sz="2200" b="1">
                <a:solidFill>
                  <a:srgbClr val="FF0000"/>
                </a:solidFill>
                <a:latin typeface="Arial" panose="020B0604020202020204" pitchFamily="34" charset="0"/>
                <a:ea typeface="宋体" panose="02010600030101010101" pitchFamily="2" charset="-122"/>
              </a:rPr>
              <a:t>(</a:t>
            </a:r>
            <a:r>
              <a:rPr kumimoji="1" lang="en-US" altLang="zh-CN" sz="2200" b="1">
                <a:solidFill>
                  <a:srgbClr val="FF0000"/>
                </a:solidFill>
                <a:latin typeface="Arial" panose="020B0604020202020204" pitchFamily="34" charset="0"/>
                <a:ea typeface="宋体" panose="02010600030101010101" pitchFamily="2" charset="-122"/>
              </a:rPr>
              <a:t>Grade&gt;=0 AND Grade &lt;=100</a:t>
            </a:r>
            <a:r>
              <a:rPr kumimoji="1" lang="zh-CN" altLang="en-US" sz="2200" b="1">
                <a:solidFill>
                  <a:srgbClr val="FF0000"/>
                </a:solidFill>
                <a:latin typeface="Arial" panose="020B0604020202020204" pitchFamily="34" charset="0"/>
                <a:ea typeface="宋体" panose="02010600030101010101" pitchFamily="2" charset="-122"/>
              </a:rPr>
              <a:t>)</a:t>
            </a:r>
            <a:r>
              <a:rPr kumimoji="1" lang="zh-CN" altLang="en-US" sz="2200" b="1">
                <a:latin typeface="Arial" panose="020B0604020202020204" pitchFamily="34" charset="0"/>
                <a:ea typeface="宋体" panose="02010600030101010101" pitchFamily="2" charset="-122"/>
              </a:rPr>
              <a:t>，</a:t>
            </a:r>
            <a:r>
              <a:rPr kumimoji="1" lang="en-US" altLang="zh-CN" sz="2200" b="1">
                <a:latin typeface="Arial" panose="020B0604020202020204" pitchFamily="34" charset="0"/>
                <a:ea typeface="宋体" panose="02010600030101010101" pitchFamily="2" charset="-122"/>
              </a:rPr>
              <a:t>			      </a:t>
            </a:r>
            <a:r>
              <a:rPr kumimoji="1" lang="en-US" altLang="zh-CN" sz="2000" b="1">
                <a:latin typeface="Arial" panose="020B0604020202020204" pitchFamily="34" charset="0"/>
                <a:ea typeface="宋体" panose="02010600030101010101" pitchFamily="2" charset="-122"/>
              </a:rPr>
              <a:t>/*Grade</a:t>
            </a:r>
            <a:r>
              <a:rPr kumimoji="1" lang="zh-CN" altLang="en-US" sz="2000" b="1">
                <a:latin typeface="Arial" panose="020B0604020202020204" pitchFamily="34" charset="0"/>
                <a:ea typeface="宋体" panose="02010600030101010101" pitchFamily="2" charset="-122"/>
              </a:rPr>
              <a:t>取值范围是</a:t>
            </a:r>
            <a:r>
              <a:rPr kumimoji="1" lang="en-US" altLang="zh-CN" sz="2000" b="1">
                <a:latin typeface="Arial" panose="020B0604020202020204" pitchFamily="34" charset="0"/>
                <a:ea typeface="宋体" panose="02010600030101010101" pitchFamily="2" charset="-122"/>
              </a:rPr>
              <a:t>0</a:t>
            </a:r>
            <a:r>
              <a:rPr kumimoji="1" lang="zh-CN" altLang="en-US" sz="2000" b="1">
                <a:latin typeface="Arial" panose="020B0604020202020204" pitchFamily="34" charset="0"/>
                <a:ea typeface="宋体" panose="02010600030101010101" pitchFamily="2" charset="-122"/>
              </a:rPr>
              <a:t>到</a:t>
            </a:r>
            <a:r>
              <a:rPr kumimoji="1" lang="en-US" altLang="zh-CN" sz="2000" b="1">
                <a:latin typeface="Arial" panose="020B0604020202020204" pitchFamily="34" charset="0"/>
                <a:ea typeface="宋体" panose="02010600030101010101" pitchFamily="2" charset="-122"/>
              </a:rPr>
              <a:t>100*/</a:t>
            </a:r>
            <a:endParaRPr kumimoji="1" lang="zh-CN" altLang="en-US" sz="2000" b="1">
              <a:latin typeface="Arial" panose="020B0604020202020204" pitchFamily="34" charset="0"/>
              <a:ea typeface="宋体" panose="02010600030101010101" pitchFamily="2" charset="-122"/>
            </a:endParaRPr>
          </a:p>
          <a:p>
            <a:pPr eaLnBrk="1" hangingPunct="1">
              <a:lnSpc>
                <a:spcPct val="120000"/>
              </a:lnSpc>
              <a:spcBef>
                <a:spcPct val="0"/>
              </a:spcBef>
              <a:buFontTx/>
              <a:buNone/>
            </a:pPr>
            <a:r>
              <a:rPr kumimoji="1" lang="en-US" altLang="zh-CN" sz="2200" b="1">
                <a:latin typeface="Arial" panose="020B0604020202020204" pitchFamily="34" charset="0"/>
                <a:ea typeface="宋体" panose="02010600030101010101" pitchFamily="2" charset="-122"/>
              </a:rPr>
              <a:t>         </a:t>
            </a:r>
            <a:r>
              <a:rPr kumimoji="1" lang="zh-CN" altLang="en-US" sz="2200" b="1">
                <a:latin typeface="Arial" panose="020B0604020202020204" pitchFamily="34" charset="0"/>
                <a:ea typeface="宋体" panose="02010600030101010101" pitchFamily="2" charset="-122"/>
              </a:rPr>
              <a:t>   </a:t>
            </a:r>
            <a:r>
              <a:rPr kumimoji="1" lang="en-US" altLang="zh-CN" sz="2200" b="1">
                <a:latin typeface="Arial" panose="020B0604020202020204" pitchFamily="34" charset="0"/>
                <a:ea typeface="宋体" panose="02010600030101010101" pitchFamily="2" charset="-122"/>
              </a:rPr>
              <a:t>PRIMARY KEY </a:t>
            </a:r>
            <a:r>
              <a:rPr kumimoji="1" lang="zh-CN" altLang="en-US" sz="2200" b="1">
                <a:latin typeface="Arial" panose="020B0604020202020204" pitchFamily="34" charset="0"/>
                <a:ea typeface="宋体" panose="02010600030101010101" pitchFamily="2" charset="-122"/>
              </a:rPr>
              <a:t>(</a:t>
            </a:r>
            <a:r>
              <a:rPr kumimoji="1" lang="en-US" altLang="zh-CN" sz="2200" b="1">
                <a:latin typeface="Arial" panose="020B0604020202020204" pitchFamily="34" charset="0"/>
                <a:ea typeface="宋体" panose="02010600030101010101" pitchFamily="2" charset="-122"/>
              </a:rPr>
              <a:t>Sno</a:t>
            </a:r>
            <a:r>
              <a:rPr kumimoji="1" lang="zh-CN" altLang="en-US" sz="2200" b="1">
                <a:latin typeface="Arial" panose="020B0604020202020204" pitchFamily="34" charset="0"/>
                <a:ea typeface="宋体" panose="02010600030101010101" pitchFamily="2" charset="-122"/>
              </a:rPr>
              <a:t>,</a:t>
            </a:r>
            <a:r>
              <a:rPr kumimoji="1" lang="en-US" altLang="zh-CN" sz="2200" b="1">
                <a:latin typeface="Arial" panose="020B0604020202020204" pitchFamily="34" charset="0"/>
                <a:ea typeface="宋体" panose="02010600030101010101" pitchFamily="2" charset="-122"/>
              </a:rPr>
              <a:t>Cno</a:t>
            </a:r>
            <a:r>
              <a:rPr kumimoji="1" lang="zh-CN" altLang="en-US" sz="2200" b="1">
                <a:latin typeface="Arial" panose="020B0604020202020204" pitchFamily="34" charset="0"/>
                <a:ea typeface="宋体" panose="02010600030101010101" pitchFamily="2" charset="-122"/>
              </a:rPr>
              <a:t>),</a:t>
            </a:r>
          </a:p>
          <a:p>
            <a:pPr eaLnBrk="1" hangingPunct="1">
              <a:lnSpc>
                <a:spcPct val="120000"/>
              </a:lnSpc>
              <a:spcBef>
                <a:spcPct val="0"/>
              </a:spcBef>
              <a:buFontTx/>
              <a:buNone/>
            </a:pPr>
            <a:r>
              <a:rPr kumimoji="1" lang="en-US" altLang="zh-CN" sz="2200" b="1">
                <a:latin typeface="Arial" panose="020B0604020202020204" pitchFamily="34" charset="0"/>
                <a:ea typeface="宋体" panose="02010600030101010101" pitchFamily="2" charset="-122"/>
              </a:rPr>
              <a:t>         </a:t>
            </a:r>
            <a:r>
              <a:rPr kumimoji="1" lang="zh-CN" altLang="en-US" sz="2200" b="1">
                <a:latin typeface="Arial" panose="020B0604020202020204" pitchFamily="34" charset="0"/>
                <a:ea typeface="宋体" panose="02010600030101010101" pitchFamily="2" charset="-122"/>
              </a:rPr>
              <a:t>   </a:t>
            </a:r>
            <a:r>
              <a:rPr kumimoji="1" lang="en-US" altLang="zh-CN" sz="2200" b="1">
                <a:latin typeface="Arial" panose="020B0604020202020204" pitchFamily="34" charset="0"/>
                <a:ea typeface="宋体" panose="02010600030101010101" pitchFamily="2" charset="-122"/>
              </a:rPr>
              <a:t>FOREIGN KEY </a:t>
            </a:r>
            <a:r>
              <a:rPr kumimoji="1" lang="zh-CN" altLang="en-US" sz="2200" b="1">
                <a:latin typeface="Arial" panose="020B0604020202020204" pitchFamily="34" charset="0"/>
                <a:ea typeface="宋体" panose="02010600030101010101" pitchFamily="2" charset="-122"/>
              </a:rPr>
              <a:t>(</a:t>
            </a:r>
            <a:r>
              <a:rPr kumimoji="1" lang="en-US" altLang="zh-CN" sz="2200" b="1">
                <a:latin typeface="Arial" panose="020B0604020202020204" pitchFamily="34" charset="0"/>
                <a:ea typeface="宋体" panose="02010600030101010101" pitchFamily="2" charset="-122"/>
              </a:rPr>
              <a:t>Sno</a:t>
            </a:r>
            <a:r>
              <a:rPr kumimoji="1" lang="zh-CN" altLang="en-US" sz="2200" b="1">
                <a:latin typeface="Arial" panose="020B0604020202020204" pitchFamily="34" charset="0"/>
                <a:ea typeface="宋体" panose="02010600030101010101" pitchFamily="2" charset="-122"/>
              </a:rPr>
              <a:t>)</a:t>
            </a:r>
            <a:r>
              <a:rPr kumimoji="1" lang="en-US" altLang="zh-CN" sz="2200" b="1">
                <a:latin typeface="Arial" panose="020B0604020202020204" pitchFamily="34" charset="0"/>
                <a:ea typeface="宋体" panose="02010600030101010101" pitchFamily="2" charset="-122"/>
              </a:rPr>
              <a:t> REFERENCES Student</a:t>
            </a:r>
            <a:r>
              <a:rPr kumimoji="1" lang="zh-CN" altLang="en-US" sz="2200" b="1">
                <a:latin typeface="Arial" panose="020B0604020202020204" pitchFamily="34" charset="0"/>
                <a:ea typeface="宋体" panose="02010600030101010101" pitchFamily="2" charset="-122"/>
              </a:rPr>
              <a:t>(</a:t>
            </a:r>
            <a:r>
              <a:rPr kumimoji="1" lang="en-US" altLang="zh-CN" sz="2200" b="1">
                <a:latin typeface="Arial" panose="020B0604020202020204" pitchFamily="34" charset="0"/>
                <a:ea typeface="宋体" panose="02010600030101010101" pitchFamily="2" charset="-122"/>
              </a:rPr>
              <a:t>Sno</a:t>
            </a:r>
            <a:r>
              <a:rPr kumimoji="1" lang="zh-CN" altLang="en-US" sz="2200" b="1">
                <a:latin typeface="Arial" panose="020B0604020202020204" pitchFamily="34" charset="0"/>
                <a:ea typeface="宋体" panose="02010600030101010101" pitchFamily="2" charset="-122"/>
              </a:rPr>
              <a:t>),</a:t>
            </a:r>
          </a:p>
          <a:p>
            <a:pPr eaLnBrk="1" hangingPunct="1">
              <a:lnSpc>
                <a:spcPct val="120000"/>
              </a:lnSpc>
              <a:spcBef>
                <a:spcPct val="0"/>
              </a:spcBef>
              <a:buFontTx/>
              <a:buNone/>
            </a:pPr>
            <a:r>
              <a:rPr kumimoji="1" lang="en-US" altLang="zh-CN" sz="2200" b="1">
                <a:latin typeface="Arial" panose="020B0604020202020204" pitchFamily="34" charset="0"/>
                <a:ea typeface="宋体" panose="02010600030101010101" pitchFamily="2" charset="-122"/>
              </a:rPr>
              <a:t>         </a:t>
            </a:r>
            <a:r>
              <a:rPr kumimoji="1" lang="zh-CN" altLang="en-US" sz="2200" b="1">
                <a:latin typeface="Arial" panose="020B0604020202020204" pitchFamily="34" charset="0"/>
                <a:ea typeface="宋体" panose="02010600030101010101" pitchFamily="2" charset="-122"/>
              </a:rPr>
              <a:t>   </a:t>
            </a:r>
            <a:r>
              <a:rPr kumimoji="1" lang="en-US" altLang="zh-CN" sz="2200" b="1">
                <a:latin typeface="Arial" panose="020B0604020202020204" pitchFamily="34" charset="0"/>
                <a:ea typeface="宋体" panose="02010600030101010101" pitchFamily="2" charset="-122"/>
              </a:rPr>
              <a:t>FOREIGN KEY </a:t>
            </a:r>
            <a:r>
              <a:rPr kumimoji="1" lang="zh-CN" altLang="en-US" sz="2200" b="1">
                <a:latin typeface="Arial" panose="020B0604020202020204" pitchFamily="34" charset="0"/>
                <a:ea typeface="宋体" panose="02010600030101010101" pitchFamily="2" charset="-122"/>
              </a:rPr>
              <a:t>(</a:t>
            </a:r>
            <a:r>
              <a:rPr kumimoji="1" lang="en-US" altLang="zh-CN" sz="2200" b="1">
                <a:latin typeface="Arial" panose="020B0604020202020204" pitchFamily="34" charset="0"/>
                <a:ea typeface="宋体" panose="02010600030101010101" pitchFamily="2" charset="-122"/>
              </a:rPr>
              <a:t>Cno</a:t>
            </a:r>
            <a:r>
              <a:rPr kumimoji="1" lang="zh-CN" altLang="en-US" sz="2200" b="1">
                <a:latin typeface="Arial" panose="020B0604020202020204" pitchFamily="34" charset="0"/>
                <a:ea typeface="宋体" panose="02010600030101010101" pitchFamily="2" charset="-122"/>
              </a:rPr>
              <a:t>)</a:t>
            </a:r>
            <a:r>
              <a:rPr kumimoji="1" lang="en-US" altLang="zh-CN" sz="2200" b="1">
                <a:latin typeface="Arial" panose="020B0604020202020204" pitchFamily="34" charset="0"/>
                <a:ea typeface="宋体" panose="02010600030101010101" pitchFamily="2" charset="-122"/>
              </a:rPr>
              <a:t> REFERENCES Course</a:t>
            </a:r>
            <a:r>
              <a:rPr kumimoji="1" lang="zh-CN" altLang="en-US" sz="2200" b="1">
                <a:latin typeface="Arial" panose="020B0604020202020204" pitchFamily="34" charset="0"/>
                <a:ea typeface="宋体" panose="02010600030101010101" pitchFamily="2" charset="-122"/>
              </a:rPr>
              <a:t>(</a:t>
            </a:r>
            <a:r>
              <a:rPr kumimoji="1" lang="en-US" altLang="zh-CN" sz="2200" b="1">
                <a:latin typeface="Arial" panose="020B0604020202020204" pitchFamily="34" charset="0"/>
                <a:ea typeface="宋体" panose="02010600030101010101" pitchFamily="2" charset="-122"/>
              </a:rPr>
              <a:t>Cno</a:t>
            </a:r>
            <a:r>
              <a:rPr kumimoji="1" lang="zh-CN" altLang="en-US" sz="2200" b="1">
                <a:latin typeface="Arial" panose="020B0604020202020204" pitchFamily="34" charset="0"/>
                <a:ea typeface="宋体" panose="02010600030101010101" pitchFamily="2" charset="-122"/>
              </a:rPr>
              <a:t>)</a:t>
            </a:r>
          </a:p>
          <a:p>
            <a:pPr eaLnBrk="1" hangingPunct="1">
              <a:lnSpc>
                <a:spcPct val="120000"/>
              </a:lnSpc>
              <a:spcBef>
                <a:spcPct val="0"/>
              </a:spcBef>
              <a:buFontTx/>
              <a:buNone/>
            </a:pPr>
            <a:r>
              <a:rPr kumimoji="1" lang="en-US" altLang="zh-CN" sz="2200" b="1">
                <a:latin typeface="Arial" panose="020B0604020202020204" pitchFamily="34" charset="0"/>
                <a:ea typeface="宋体" panose="02010600030101010101" pitchFamily="2" charset="-122"/>
              </a:rPr>
              <a:t>         </a:t>
            </a:r>
            <a:r>
              <a:rPr kumimoji="1" lang="zh-CN" altLang="en-US" sz="2200" b="1">
                <a:latin typeface="Arial" panose="020B0604020202020204" pitchFamily="34" charset="0"/>
                <a:ea typeface="宋体" panose="02010600030101010101" pitchFamily="2" charset="-122"/>
              </a:rPr>
              <a:t>  )</a:t>
            </a:r>
            <a:r>
              <a:rPr kumimoji="1" lang="en-US" altLang="zh-CN" sz="2200" b="1">
                <a:latin typeface="Arial" panose="020B0604020202020204" pitchFamily="34" charset="0"/>
                <a:ea typeface="宋体" panose="02010600030101010101" pitchFamily="2" charset="-122"/>
              </a:rPr>
              <a:t>;</a:t>
            </a:r>
            <a:endParaRPr kumimoji="1" lang="zh-CN" altLang="en-US" sz="2200" b="1">
              <a:latin typeface="Arial" panose="020B0604020202020204" pitchFamily="34" charset="0"/>
              <a:ea typeface="宋体" panose="02010600030101010101" pitchFamily="2" charset="-122"/>
            </a:endParaRPr>
          </a:p>
          <a:p>
            <a:pPr eaLnBrk="1" hangingPunct="1">
              <a:lnSpc>
                <a:spcPct val="120000"/>
              </a:lnSpc>
              <a:spcBef>
                <a:spcPct val="20000"/>
              </a:spcBef>
              <a:buFont typeface="Wingdings" panose="05000000000000000000" pitchFamily="2" charset="2"/>
              <a:buNone/>
            </a:pPr>
            <a:endParaRPr kumimoji="1" lang="en-US" altLang="zh-CN" sz="2200" b="1">
              <a:latin typeface="Arial" panose="020B0604020202020204" pitchFamily="34" charset="0"/>
              <a:ea typeface="宋体" panose="02010600030101010101" pitchFamily="2" charset="-122"/>
            </a:endParaRPr>
          </a:p>
        </p:txBody>
      </p:sp>
      <p:sp>
        <p:nvSpPr>
          <p:cNvPr id="5" name="Rectangle 2"/>
          <p:cNvSpPr txBox="1">
            <a:spLocks noChangeArrowheads="1"/>
          </p:cNvSpPr>
          <p:nvPr/>
        </p:nvSpPr>
        <p:spPr>
          <a:xfrm>
            <a:off x="1250633" y="476672"/>
            <a:ext cx="7793037" cy="661987"/>
          </a:xfrm>
          <a:prstGeom prst="rect">
            <a:avLst/>
          </a:prstGeom>
        </p:spPr>
        <p:txBody>
          <a:bodyPr/>
          <a:lstStyle>
            <a:lvl1pPr algn="l" rtl="0" eaLnBrk="0" fontAlgn="base" hangingPunct="0">
              <a:spcBef>
                <a:spcPct val="0"/>
              </a:spcBef>
              <a:spcAft>
                <a:spcPct val="0"/>
              </a:spcAft>
              <a:defRPr kumimoji="1" sz="3600" b="1">
                <a:solidFill>
                  <a:schemeClr val="tx2"/>
                </a:solidFill>
                <a:latin typeface="+mj-lt"/>
                <a:ea typeface="+mj-ea"/>
                <a:cs typeface="+mj-cs"/>
              </a:defRPr>
            </a:lvl1pPr>
            <a:lvl2pPr algn="l" rtl="0" eaLnBrk="0" fontAlgn="base" hangingPunct="0">
              <a:spcBef>
                <a:spcPct val="0"/>
              </a:spcBef>
              <a:spcAft>
                <a:spcPct val="0"/>
              </a:spcAft>
              <a:defRPr kumimoji="1" sz="3600" b="1">
                <a:solidFill>
                  <a:schemeClr val="tx2"/>
                </a:solidFill>
                <a:latin typeface="Tahoma" panose="020B0604030504040204" pitchFamily="34" charset="0"/>
                <a:ea typeface="仿宋_GB2312" pitchFamily="49" charset="-122"/>
              </a:defRPr>
            </a:lvl2pPr>
            <a:lvl3pPr algn="l" rtl="0" eaLnBrk="0" fontAlgn="base" hangingPunct="0">
              <a:spcBef>
                <a:spcPct val="0"/>
              </a:spcBef>
              <a:spcAft>
                <a:spcPct val="0"/>
              </a:spcAft>
              <a:defRPr kumimoji="1" sz="3600" b="1">
                <a:solidFill>
                  <a:schemeClr val="tx2"/>
                </a:solidFill>
                <a:latin typeface="Tahoma" panose="020B0604030504040204" pitchFamily="34" charset="0"/>
                <a:ea typeface="仿宋_GB2312" pitchFamily="49" charset="-122"/>
              </a:defRPr>
            </a:lvl3pPr>
            <a:lvl4pPr algn="l" rtl="0" eaLnBrk="0" fontAlgn="base" hangingPunct="0">
              <a:spcBef>
                <a:spcPct val="0"/>
              </a:spcBef>
              <a:spcAft>
                <a:spcPct val="0"/>
              </a:spcAft>
              <a:defRPr kumimoji="1" sz="3600" b="1">
                <a:solidFill>
                  <a:schemeClr val="tx2"/>
                </a:solidFill>
                <a:latin typeface="Tahoma" panose="020B0604030504040204" pitchFamily="34" charset="0"/>
                <a:ea typeface="仿宋_GB2312" pitchFamily="49" charset="-122"/>
              </a:defRPr>
            </a:lvl4pPr>
            <a:lvl5pPr algn="l" rtl="0" eaLnBrk="0" fontAlgn="base" hangingPunct="0">
              <a:spcBef>
                <a:spcPct val="0"/>
              </a:spcBef>
              <a:spcAft>
                <a:spcPct val="0"/>
              </a:spcAft>
              <a:defRPr kumimoji="1" sz="3600" b="1">
                <a:solidFill>
                  <a:schemeClr val="tx2"/>
                </a:solidFill>
                <a:latin typeface="Tahoma" panose="020B0604030504040204" pitchFamily="34" charset="0"/>
                <a:ea typeface="仿宋_GB2312" pitchFamily="49" charset="-122"/>
              </a:defRPr>
            </a:lvl5pPr>
            <a:lvl6pPr marL="457200" algn="l" rtl="0" fontAlgn="base">
              <a:spcBef>
                <a:spcPct val="0"/>
              </a:spcBef>
              <a:spcAft>
                <a:spcPct val="0"/>
              </a:spcAft>
              <a:defRPr kumimoji="1" sz="3600" b="1">
                <a:solidFill>
                  <a:schemeClr val="tx2"/>
                </a:solidFill>
                <a:latin typeface="Tahoma" panose="020B0604030504040204" pitchFamily="34" charset="0"/>
                <a:ea typeface="仿宋_GB2312" pitchFamily="49" charset="-122"/>
              </a:defRPr>
            </a:lvl6pPr>
            <a:lvl7pPr marL="914400" algn="l" rtl="0" fontAlgn="base">
              <a:spcBef>
                <a:spcPct val="0"/>
              </a:spcBef>
              <a:spcAft>
                <a:spcPct val="0"/>
              </a:spcAft>
              <a:defRPr kumimoji="1" sz="3600" b="1">
                <a:solidFill>
                  <a:schemeClr val="tx2"/>
                </a:solidFill>
                <a:latin typeface="Tahoma" panose="020B0604030504040204" pitchFamily="34" charset="0"/>
                <a:ea typeface="仿宋_GB2312" pitchFamily="49" charset="-122"/>
              </a:defRPr>
            </a:lvl7pPr>
            <a:lvl8pPr marL="1371600" algn="l" rtl="0" fontAlgn="base">
              <a:spcBef>
                <a:spcPct val="0"/>
              </a:spcBef>
              <a:spcAft>
                <a:spcPct val="0"/>
              </a:spcAft>
              <a:defRPr kumimoji="1" sz="3600" b="1">
                <a:solidFill>
                  <a:schemeClr val="tx2"/>
                </a:solidFill>
                <a:latin typeface="Tahoma" panose="020B0604030504040204" pitchFamily="34" charset="0"/>
                <a:ea typeface="仿宋_GB2312" pitchFamily="49" charset="-122"/>
              </a:defRPr>
            </a:lvl8pPr>
            <a:lvl9pPr marL="1828800" algn="l" rtl="0" fontAlgn="base">
              <a:spcBef>
                <a:spcPct val="0"/>
              </a:spcBef>
              <a:spcAft>
                <a:spcPct val="0"/>
              </a:spcAft>
              <a:defRPr kumimoji="1" sz="3600" b="1">
                <a:solidFill>
                  <a:schemeClr val="tx2"/>
                </a:solidFill>
                <a:latin typeface="Tahoma" panose="020B0604030504040204" pitchFamily="34" charset="0"/>
                <a:ea typeface="仿宋_GB2312" pitchFamily="49" charset="-122"/>
              </a:defRPr>
            </a:lvl9pPr>
          </a:lstStyle>
          <a:p>
            <a:pPr eaLnBrk="1" hangingPunct="1">
              <a:defRPr/>
            </a:pPr>
            <a:r>
              <a:rPr lang="zh-CN" altLang="en-US" b="0" kern="0" dirty="0">
                <a:solidFill>
                  <a:schemeClr val="tx1"/>
                </a:solidFill>
                <a:latin typeface="宋体" panose="02010600030101010101" pitchFamily="2" charset="-122"/>
                <a:ea typeface="宋体" panose="02010600030101010101" pitchFamily="2" charset="-122"/>
              </a:rPr>
              <a:t>用户定义的完整性（续）</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9940">
                                            <p:txEl>
                                              <p:pRg st="2" end="2"/>
                                            </p:txEl>
                                          </p:spTgt>
                                        </p:tgtEl>
                                        <p:attrNameLst>
                                          <p:attrName>style.visibility</p:attrName>
                                        </p:attrNameLst>
                                      </p:cBhvr>
                                      <p:to>
                                        <p:strVal val="visible"/>
                                      </p:to>
                                    </p:set>
                                    <p:animEffect transition="in" filter="fade">
                                      <p:cBhvr>
                                        <p:cTn id="7" dur="1000"/>
                                        <p:tgtEl>
                                          <p:spTgt spid="39940">
                                            <p:txEl>
                                              <p:pRg st="2" end="2"/>
                                            </p:txEl>
                                          </p:spTgt>
                                        </p:tgtEl>
                                      </p:cBhvr>
                                    </p:animEffect>
                                    <p:anim calcmode="lin" valueType="num">
                                      <p:cBhvr>
                                        <p:cTn id="8" dur="1000" fill="hold"/>
                                        <p:tgtEl>
                                          <p:spTgt spid="39940">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9940">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9940">
                                            <p:txEl>
                                              <p:pRg st="3" end="3"/>
                                            </p:txEl>
                                          </p:spTgt>
                                        </p:tgtEl>
                                        <p:attrNameLst>
                                          <p:attrName>style.visibility</p:attrName>
                                        </p:attrNameLst>
                                      </p:cBhvr>
                                      <p:to>
                                        <p:strVal val="visible"/>
                                      </p:to>
                                    </p:set>
                                    <p:animEffect transition="in" filter="fade">
                                      <p:cBhvr>
                                        <p:cTn id="12" dur="1000"/>
                                        <p:tgtEl>
                                          <p:spTgt spid="39940">
                                            <p:txEl>
                                              <p:pRg st="3" end="3"/>
                                            </p:txEl>
                                          </p:spTgt>
                                        </p:tgtEl>
                                      </p:cBhvr>
                                    </p:animEffect>
                                    <p:anim calcmode="lin" valueType="num">
                                      <p:cBhvr>
                                        <p:cTn id="13" dur="1000" fill="hold"/>
                                        <p:tgtEl>
                                          <p:spTgt spid="39940">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39940">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9940">
                                            <p:txEl>
                                              <p:pRg st="4" end="4"/>
                                            </p:txEl>
                                          </p:spTgt>
                                        </p:tgtEl>
                                        <p:attrNameLst>
                                          <p:attrName>style.visibility</p:attrName>
                                        </p:attrNameLst>
                                      </p:cBhvr>
                                      <p:to>
                                        <p:strVal val="visible"/>
                                      </p:to>
                                    </p:set>
                                    <p:animEffect transition="in" filter="fade">
                                      <p:cBhvr>
                                        <p:cTn id="17" dur="1000"/>
                                        <p:tgtEl>
                                          <p:spTgt spid="39940">
                                            <p:txEl>
                                              <p:pRg st="4" end="4"/>
                                            </p:txEl>
                                          </p:spTgt>
                                        </p:tgtEl>
                                      </p:cBhvr>
                                    </p:animEffect>
                                    <p:anim calcmode="lin" valueType="num">
                                      <p:cBhvr>
                                        <p:cTn id="18" dur="1000" fill="hold"/>
                                        <p:tgtEl>
                                          <p:spTgt spid="39940">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39940">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9940">
                                            <p:txEl>
                                              <p:pRg st="5" end="5"/>
                                            </p:txEl>
                                          </p:spTgt>
                                        </p:tgtEl>
                                        <p:attrNameLst>
                                          <p:attrName>style.visibility</p:attrName>
                                        </p:attrNameLst>
                                      </p:cBhvr>
                                      <p:to>
                                        <p:strVal val="visible"/>
                                      </p:to>
                                    </p:set>
                                    <p:animEffect transition="in" filter="fade">
                                      <p:cBhvr>
                                        <p:cTn id="22" dur="1000"/>
                                        <p:tgtEl>
                                          <p:spTgt spid="39940">
                                            <p:txEl>
                                              <p:pRg st="5" end="5"/>
                                            </p:txEl>
                                          </p:spTgt>
                                        </p:tgtEl>
                                      </p:cBhvr>
                                    </p:animEffect>
                                    <p:anim calcmode="lin" valueType="num">
                                      <p:cBhvr>
                                        <p:cTn id="23" dur="1000" fill="hold"/>
                                        <p:tgtEl>
                                          <p:spTgt spid="39940">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39940">
                                            <p:txEl>
                                              <p:pRg st="5" end="5"/>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9940">
                                            <p:txEl>
                                              <p:pRg st="6" end="6"/>
                                            </p:txEl>
                                          </p:spTgt>
                                        </p:tgtEl>
                                        <p:attrNameLst>
                                          <p:attrName>style.visibility</p:attrName>
                                        </p:attrNameLst>
                                      </p:cBhvr>
                                      <p:to>
                                        <p:strVal val="visible"/>
                                      </p:to>
                                    </p:set>
                                    <p:animEffect transition="in" filter="fade">
                                      <p:cBhvr>
                                        <p:cTn id="27" dur="1000"/>
                                        <p:tgtEl>
                                          <p:spTgt spid="39940">
                                            <p:txEl>
                                              <p:pRg st="6" end="6"/>
                                            </p:txEl>
                                          </p:spTgt>
                                        </p:tgtEl>
                                      </p:cBhvr>
                                    </p:animEffect>
                                    <p:anim calcmode="lin" valueType="num">
                                      <p:cBhvr>
                                        <p:cTn id="28" dur="1000" fill="hold"/>
                                        <p:tgtEl>
                                          <p:spTgt spid="39940">
                                            <p:txEl>
                                              <p:pRg st="6" end="6"/>
                                            </p:txEl>
                                          </p:spTgt>
                                        </p:tgtEl>
                                        <p:attrNameLst>
                                          <p:attrName>ppt_x</p:attrName>
                                        </p:attrNameLst>
                                      </p:cBhvr>
                                      <p:tavLst>
                                        <p:tav tm="0">
                                          <p:val>
                                            <p:strVal val="#ppt_x"/>
                                          </p:val>
                                        </p:tav>
                                        <p:tav tm="100000">
                                          <p:val>
                                            <p:strVal val="#ppt_x"/>
                                          </p:val>
                                        </p:tav>
                                      </p:tavLst>
                                    </p:anim>
                                    <p:anim calcmode="lin" valueType="num">
                                      <p:cBhvr>
                                        <p:cTn id="29" dur="1000" fill="hold"/>
                                        <p:tgtEl>
                                          <p:spTgt spid="39940">
                                            <p:txEl>
                                              <p:pRg st="6" end="6"/>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9940">
                                            <p:txEl>
                                              <p:pRg st="7" end="7"/>
                                            </p:txEl>
                                          </p:spTgt>
                                        </p:tgtEl>
                                        <p:attrNameLst>
                                          <p:attrName>style.visibility</p:attrName>
                                        </p:attrNameLst>
                                      </p:cBhvr>
                                      <p:to>
                                        <p:strVal val="visible"/>
                                      </p:to>
                                    </p:set>
                                    <p:animEffect transition="in" filter="fade">
                                      <p:cBhvr>
                                        <p:cTn id="32" dur="1000"/>
                                        <p:tgtEl>
                                          <p:spTgt spid="39940">
                                            <p:txEl>
                                              <p:pRg st="7" end="7"/>
                                            </p:txEl>
                                          </p:spTgt>
                                        </p:tgtEl>
                                      </p:cBhvr>
                                    </p:animEffect>
                                    <p:anim calcmode="lin" valueType="num">
                                      <p:cBhvr>
                                        <p:cTn id="33" dur="1000" fill="hold"/>
                                        <p:tgtEl>
                                          <p:spTgt spid="39940">
                                            <p:txEl>
                                              <p:pRg st="7" end="7"/>
                                            </p:txEl>
                                          </p:spTgt>
                                        </p:tgtEl>
                                        <p:attrNameLst>
                                          <p:attrName>ppt_x</p:attrName>
                                        </p:attrNameLst>
                                      </p:cBhvr>
                                      <p:tavLst>
                                        <p:tav tm="0">
                                          <p:val>
                                            <p:strVal val="#ppt_x"/>
                                          </p:val>
                                        </p:tav>
                                        <p:tav tm="100000">
                                          <p:val>
                                            <p:strVal val="#ppt_x"/>
                                          </p:val>
                                        </p:tav>
                                      </p:tavLst>
                                    </p:anim>
                                    <p:anim calcmode="lin" valueType="num">
                                      <p:cBhvr>
                                        <p:cTn id="34" dur="1000" fill="hold"/>
                                        <p:tgtEl>
                                          <p:spTgt spid="39940">
                                            <p:txEl>
                                              <p:pRg st="7" end="7"/>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39940">
                                            <p:txEl>
                                              <p:pRg st="8" end="8"/>
                                            </p:txEl>
                                          </p:spTgt>
                                        </p:tgtEl>
                                        <p:attrNameLst>
                                          <p:attrName>style.visibility</p:attrName>
                                        </p:attrNameLst>
                                      </p:cBhvr>
                                      <p:to>
                                        <p:strVal val="visible"/>
                                      </p:to>
                                    </p:set>
                                    <p:animEffect transition="in" filter="fade">
                                      <p:cBhvr>
                                        <p:cTn id="37" dur="1000"/>
                                        <p:tgtEl>
                                          <p:spTgt spid="39940">
                                            <p:txEl>
                                              <p:pRg st="8" end="8"/>
                                            </p:txEl>
                                          </p:spTgt>
                                        </p:tgtEl>
                                      </p:cBhvr>
                                    </p:animEffect>
                                    <p:anim calcmode="lin" valueType="num">
                                      <p:cBhvr>
                                        <p:cTn id="38" dur="1000" fill="hold"/>
                                        <p:tgtEl>
                                          <p:spTgt spid="39940">
                                            <p:txEl>
                                              <p:pRg st="8" end="8"/>
                                            </p:txEl>
                                          </p:spTgt>
                                        </p:tgtEl>
                                        <p:attrNameLst>
                                          <p:attrName>ppt_x</p:attrName>
                                        </p:attrNameLst>
                                      </p:cBhvr>
                                      <p:tavLst>
                                        <p:tav tm="0">
                                          <p:val>
                                            <p:strVal val="#ppt_x"/>
                                          </p:val>
                                        </p:tav>
                                        <p:tav tm="100000">
                                          <p:val>
                                            <p:strVal val="#ppt_x"/>
                                          </p:val>
                                        </p:tav>
                                      </p:tavLst>
                                    </p:anim>
                                    <p:anim calcmode="lin" valueType="num">
                                      <p:cBhvr>
                                        <p:cTn id="39" dur="1000" fill="hold"/>
                                        <p:tgtEl>
                                          <p:spTgt spid="39940">
                                            <p:txEl>
                                              <p:pRg st="8" end="8"/>
                                            </p:txEl>
                                          </p:spTgt>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39940">
                                            <p:txEl>
                                              <p:pRg st="9" end="9"/>
                                            </p:txEl>
                                          </p:spTgt>
                                        </p:tgtEl>
                                        <p:attrNameLst>
                                          <p:attrName>style.visibility</p:attrName>
                                        </p:attrNameLst>
                                      </p:cBhvr>
                                      <p:to>
                                        <p:strVal val="visible"/>
                                      </p:to>
                                    </p:set>
                                    <p:animEffect transition="in" filter="fade">
                                      <p:cBhvr>
                                        <p:cTn id="42" dur="1000"/>
                                        <p:tgtEl>
                                          <p:spTgt spid="39940">
                                            <p:txEl>
                                              <p:pRg st="9" end="9"/>
                                            </p:txEl>
                                          </p:spTgt>
                                        </p:tgtEl>
                                      </p:cBhvr>
                                    </p:animEffect>
                                    <p:anim calcmode="lin" valueType="num">
                                      <p:cBhvr>
                                        <p:cTn id="43" dur="1000" fill="hold"/>
                                        <p:tgtEl>
                                          <p:spTgt spid="39940">
                                            <p:txEl>
                                              <p:pRg st="9" end="9"/>
                                            </p:txEl>
                                          </p:spTgt>
                                        </p:tgtEl>
                                        <p:attrNameLst>
                                          <p:attrName>ppt_x</p:attrName>
                                        </p:attrNameLst>
                                      </p:cBhvr>
                                      <p:tavLst>
                                        <p:tav tm="0">
                                          <p:val>
                                            <p:strVal val="#ppt_x"/>
                                          </p:val>
                                        </p:tav>
                                        <p:tav tm="100000">
                                          <p:val>
                                            <p:strVal val="#ppt_x"/>
                                          </p:val>
                                        </p:tav>
                                      </p:tavLst>
                                    </p:anim>
                                    <p:anim calcmode="lin" valueType="num">
                                      <p:cBhvr>
                                        <p:cTn id="44" dur="1000" fill="hold"/>
                                        <p:tgtEl>
                                          <p:spTgt spid="39940">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1187768" y="188640"/>
            <a:ext cx="7886700" cy="1325563"/>
          </a:xfrm>
        </p:spPr>
        <p:txBody>
          <a:bodyPr/>
          <a:lstStyle/>
          <a:p>
            <a:pPr eaLnBrk="1" hangingPunct="1"/>
            <a:r>
              <a:rPr lang="zh-CN" altLang="en-US" sz="3600" dirty="0">
                <a:latin typeface="宋体" panose="02010600030101010101" pitchFamily="2" charset="-122"/>
                <a:ea typeface="宋体" panose="02010600030101010101" pitchFamily="2" charset="-122"/>
              </a:rPr>
              <a:t>用户定义的完整性（续）</a:t>
            </a:r>
          </a:p>
        </p:txBody>
      </p:sp>
      <p:sp>
        <p:nvSpPr>
          <p:cNvPr id="30724" name="Rectangle 3"/>
          <p:cNvSpPr>
            <a:spLocks noGrp="1" noChangeArrowheads="1"/>
          </p:cNvSpPr>
          <p:nvPr>
            <p:ph idx="1"/>
          </p:nvPr>
        </p:nvSpPr>
        <p:spPr>
          <a:xfrm>
            <a:off x="292100" y="1557338"/>
            <a:ext cx="8559800" cy="4114800"/>
          </a:xfrm>
        </p:spPr>
        <p:txBody>
          <a:bodyPr rtlCol="0">
            <a:normAutofit lnSpcReduction="10000"/>
          </a:bodyPr>
          <a:lstStyle/>
          <a:p>
            <a:pPr eaLnBrk="1" fontAlgn="auto" hangingPunct="1">
              <a:spcAft>
                <a:spcPts val="0"/>
              </a:spcAft>
              <a:defRPr/>
            </a:pPr>
            <a:r>
              <a:rPr lang="zh-CN" altLang="en-US" dirty="0"/>
              <a:t>例</a:t>
            </a:r>
            <a:r>
              <a:rPr lang="en-US" altLang="zh-CN" dirty="0"/>
              <a:t>3</a:t>
            </a:r>
            <a:r>
              <a:rPr lang="zh-CN" altLang="en-US" dirty="0"/>
              <a:t>：当学生的性别是男时，其名字不能以</a:t>
            </a:r>
            <a:r>
              <a:rPr lang="en-US" altLang="zh-CN" dirty="0"/>
              <a:t>Ms.</a:t>
            </a:r>
            <a:r>
              <a:rPr lang="zh-CN" altLang="en-US" dirty="0"/>
              <a:t>打头。</a:t>
            </a:r>
          </a:p>
          <a:p>
            <a:pPr eaLnBrk="1" fontAlgn="auto" hangingPunct="1">
              <a:spcAft>
                <a:spcPts val="0"/>
              </a:spcAft>
              <a:buFont typeface="Wingdings" panose="05000000000000000000" pitchFamily="2" charset="2"/>
              <a:buNone/>
              <a:defRPr/>
            </a:pPr>
            <a:endParaRPr lang="zh-CN" altLang="en-US" sz="2400" dirty="0"/>
          </a:p>
          <a:p>
            <a:pPr eaLnBrk="1" fontAlgn="auto" hangingPunct="1">
              <a:spcAft>
                <a:spcPts val="0"/>
              </a:spcAft>
              <a:buFont typeface="Wingdings" panose="05000000000000000000" pitchFamily="2" charset="2"/>
              <a:buNone/>
              <a:defRPr/>
            </a:pPr>
            <a:r>
              <a:rPr lang="zh-CN" altLang="en-US" sz="2400" b="1" dirty="0"/>
              <a:t>	</a:t>
            </a:r>
            <a:r>
              <a:rPr lang="en-US" altLang="zh-CN" sz="2400" b="1" dirty="0"/>
              <a:t>CREATE TABLE Student</a:t>
            </a:r>
          </a:p>
          <a:p>
            <a:pPr lvl="1" eaLnBrk="1" fontAlgn="auto" hangingPunct="1">
              <a:spcAft>
                <a:spcPts val="0"/>
              </a:spcAft>
              <a:buFont typeface="Wingdings" panose="05000000000000000000" pitchFamily="2" charset="2"/>
              <a:buNone/>
              <a:defRPr/>
            </a:pPr>
            <a:r>
              <a:rPr lang="en-US" altLang="zh-CN" b="1" dirty="0"/>
              <a:t>      (Sno    CHAR(9) PRIMARY KEY,</a:t>
            </a:r>
          </a:p>
          <a:p>
            <a:pPr lvl="1" eaLnBrk="1" fontAlgn="auto" hangingPunct="1">
              <a:spcAft>
                <a:spcPts val="0"/>
              </a:spcAft>
              <a:buFont typeface="Wingdings" panose="05000000000000000000" pitchFamily="2" charset="2"/>
              <a:buNone/>
              <a:defRPr/>
            </a:pPr>
            <a:r>
              <a:rPr lang="en-US" altLang="zh-CN" b="1" dirty="0"/>
              <a:t>       </a:t>
            </a:r>
            <a:r>
              <a:rPr lang="en-US" altLang="zh-CN" b="1" dirty="0" err="1"/>
              <a:t>Sname</a:t>
            </a:r>
            <a:r>
              <a:rPr lang="en-US" altLang="zh-CN" b="1" dirty="0"/>
              <a:t>  VARCHAR(20)  NOT NULL,</a:t>
            </a:r>
          </a:p>
          <a:p>
            <a:pPr lvl="1" eaLnBrk="1" fontAlgn="auto" hangingPunct="1">
              <a:spcAft>
                <a:spcPts val="0"/>
              </a:spcAft>
              <a:buFont typeface="Wingdings" panose="05000000000000000000" pitchFamily="2" charset="2"/>
              <a:buNone/>
              <a:defRPr/>
            </a:pPr>
            <a:r>
              <a:rPr lang="en-US" altLang="zh-CN" b="1" dirty="0"/>
              <a:t>       Sage   SMALLINT,</a:t>
            </a:r>
          </a:p>
          <a:p>
            <a:pPr lvl="1" eaLnBrk="1" fontAlgn="auto" hangingPunct="1">
              <a:spcAft>
                <a:spcPts val="0"/>
              </a:spcAft>
              <a:buFont typeface="Wingdings" panose="05000000000000000000" pitchFamily="2" charset="2"/>
              <a:buNone/>
              <a:defRPr/>
            </a:pPr>
            <a:r>
              <a:rPr lang="en-US" altLang="zh-CN" b="1" dirty="0"/>
              <a:t>       </a:t>
            </a:r>
            <a:r>
              <a:rPr lang="en-US" altLang="zh-CN" b="1" dirty="0" err="1"/>
              <a:t>Ssex</a:t>
            </a:r>
            <a:r>
              <a:rPr lang="en-US" altLang="zh-CN" b="1" dirty="0"/>
              <a:t>   VARCHAR(2) ,</a:t>
            </a:r>
          </a:p>
          <a:p>
            <a:pPr lvl="1" eaLnBrk="1" fontAlgn="auto" hangingPunct="1">
              <a:spcAft>
                <a:spcPts val="0"/>
              </a:spcAft>
              <a:buFont typeface="Wingdings" panose="05000000000000000000" pitchFamily="2" charset="2"/>
              <a:buNone/>
              <a:defRPr/>
            </a:pPr>
            <a:r>
              <a:rPr lang="en-US" altLang="zh-CN" b="1" dirty="0">
                <a:solidFill>
                  <a:schemeClr val="hlink"/>
                </a:solidFill>
              </a:rPr>
              <a:t>		  </a:t>
            </a:r>
            <a:r>
              <a:rPr lang="en-US" altLang="zh-CN" b="1" dirty="0" err="1"/>
              <a:t>Sdept</a:t>
            </a:r>
            <a:r>
              <a:rPr lang="en-US" altLang="zh-CN" b="1" dirty="0"/>
              <a:t>  VARCHAR(20),</a:t>
            </a:r>
          </a:p>
          <a:p>
            <a:pPr lvl="1" eaLnBrk="1" fontAlgn="auto" hangingPunct="1">
              <a:spcAft>
                <a:spcPts val="0"/>
              </a:spcAft>
              <a:buFont typeface="Wingdings" panose="05000000000000000000" pitchFamily="2" charset="2"/>
              <a:buNone/>
              <a:defRPr/>
            </a:pPr>
            <a:r>
              <a:rPr lang="en-US" altLang="zh-CN" b="1" dirty="0"/>
              <a:t>		  </a:t>
            </a:r>
            <a:r>
              <a:rPr lang="en-US" altLang="zh-CN" b="1" dirty="0">
                <a:solidFill>
                  <a:schemeClr val="accent2"/>
                </a:solidFill>
              </a:rPr>
              <a:t>CHECK (</a:t>
            </a:r>
            <a:r>
              <a:rPr lang="en-US" altLang="zh-CN" b="1" dirty="0" err="1">
                <a:solidFill>
                  <a:schemeClr val="accent2"/>
                </a:solidFill>
              </a:rPr>
              <a:t>Ssex</a:t>
            </a:r>
            <a:r>
              <a:rPr lang="en-US" altLang="zh-CN" b="1" dirty="0">
                <a:solidFill>
                  <a:schemeClr val="accent2"/>
                </a:solidFill>
              </a:rPr>
              <a:t>= '</a:t>
            </a:r>
            <a:r>
              <a:rPr lang="zh-CN" altLang="en-US" b="1" dirty="0">
                <a:solidFill>
                  <a:schemeClr val="accent2"/>
                </a:solidFill>
              </a:rPr>
              <a:t>女</a:t>
            </a:r>
            <a:r>
              <a:rPr lang="en-US" altLang="zh-CN" b="1" dirty="0">
                <a:solidFill>
                  <a:schemeClr val="accent2"/>
                </a:solidFill>
              </a:rPr>
              <a:t>’ </a:t>
            </a:r>
            <a:r>
              <a:rPr lang="zh-CN" altLang="en-US" b="1" dirty="0">
                <a:solidFill>
                  <a:schemeClr val="accent2"/>
                </a:solidFill>
              </a:rPr>
              <a:t> </a:t>
            </a:r>
            <a:r>
              <a:rPr lang="en-US" altLang="zh-CN" b="1" dirty="0">
                <a:solidFill>
                  <a:schemeClr val="accent2"/>
                </a:solidFill>
              </a:rPr>
              <a:t>OR </a:t>
            </a:r>
            <a:r>
              <a:rPr lang="en-US" altLang="zh-CN" b="1" dirty="0" err="1">
                <a:solidFill>
                  <a:schemeClr val="accent2"/>
                </a:solidFill>
              </a:rPr>
              <a:t>Sname</a:t>
            </a:r>
            <a:r>
              <a:rPr lang="en-US" altLang="zh-CN" b="1" dirty="0">
                <a:solidFill>
                  <a:schemeClr val="accent2"/>
                </a:solidFill>
              </a:rPr>
              <a:t> NOT LIKE ‘Ms.%')</a:t>
            </a:r>
          </a:p>
          <a:p>
            <a:pPr lvl="1" eaLnBrk="1" fontAlgn="auto" hangingPunct="1">
              <a:spcAft>
                <a:spcPts val="0"/>
              </a:spcAft>
              <a:buFont typeface="Wingdings" panose="05000000000000000000" pitchFamily="2" charset="2"/>
              <a:buNone/>
              <a:defRPr/>
            </a:pPr>
            <a:r>
              <a:rPr lang="en-US" altLang="zh-CN" b="1" dirty="0">
                <a:solidFill>
                  <a:schemeClr val="hlink"/>
                </a:solidFill>
              </a:rPr>
              <a:t>		</a:t>
            </a:r>
            <a:r>
              <a:rPr lang="en-US" altLang="zh-CN" b="1"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0724">
                                            <p:txEl>
                                              <p:pRg st="2" end="2"/>
                                            </p:txEl>
                                          </p:spTgt>
                                        </p:tgtEl>
                                        <p:attrNameLst>
                                          <p:attrName>style.visibility</p:attrName>
                                        </p:attrNameLst>
                                      </p:cBhvr>
                                      <p:to>
                                        <p:strVal val="visible"/>
                                      </p:to>
                                    </p:set>
                                    <p:animEffect transition="in" filter="fade">
                                      <p:cBhvr>
                                        <p:cTn id="7" dur="1000"/>
                                        <p:tgtEl>
                                          <p:spTgt spid="30724">
                                            <p:txEl>
                                              <p:pRg st="2" end="2"/>
                                            </p:txEl>
                                          </p:spTgt>
                                        </p:tgtEl>
                                      </p:cBhvr>
                                    </p:animEffect>
                                    <p:anim calcmode="lin" valueType="num">
                                      <p:cBhvr>
                                        <p:cTn id="8" dur="1000" fill="hold"/>
                                        <p:tgtEl>
                                          <p:spTgt spid="30724">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0724">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0724">
                                            <p:txEl>
                                              <p:pRg st="3" end="3"/>
                                            </p:txEl>
                                          </p:spTgt>
                                        </p:tgtEl>
                                        <p:attrNameLst>
                                          <p:attrName>style.visibility</p:attrName>
                                        </p:attrNameLst>
                                      </p:cBhvr>
                                      <p:to>
                                        <p:strVal val="visible"/>
                                      </p:to>
                                    </p:set>
                                    <p:animEffect transition="in" filter="fade">
                                      <p:cBhvr>
                                        <p:cTn id="12" dur="1000"/>
                                        <p:tgtEl>
                                          <p:spTgt spid="30724">
                                            <p:txEl>
                                              <p:pRg st="3" end="3"/>
                                            </p:txEl>
                                          </p:spTgt>
                                        </p:tgtEl>
                                      </p:cBhvr>
                                    </p:animEffect>
                                    <p:anim calcmode="lin" valueType="num">
                                      <p:cBhvr>
                                        <p:cTn id="13" dur="1000" fill="hold"/>
                                        <p:tgtEl>
                                          <p:spTgt spid="30724">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30724">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0724">
                                            <p:txEl>
                                              <p:pRg st="4" end="4"/>
                                            </p:txEl>
                                          </p:spTgt>
                                        </p:tgtEl>
                                        <p:attrNameLst>
                                          <p:attrName>style.visibility</p:attrName>
                                        </p:attrNameLst>
                                      </p:cBhvr>
                                      <p:to>
                                        <p:strVal val="visible"/>
                                      </p:to>
                                    </p:set>
                                    <p:animEffect transition="in" filter="fade">
                                      <p:cBhvr>
                                        <p:cTn id="17" dur="1000"/>
                                        <p:tgtEl>
                                          <p:spTgt spid="30724">
                                            <p:txEl>
                                              <p:pRg st="4" end="4"/>
                                            </p:txEl>
                                          </p:spTgt>
                                        </p:tgtEl>
                                      </p:cBhvr>
                                    </p:animEffect>
                                    <p:anim calcmode="lin" valueType="num">
                                      <p:cBhvr>
                                        <p:cTn id="18" dur="1000" fill="hold"/>
                                        <p:tgtEl>
                                          <p:spTgt spid="30724">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30724">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0724">
                                            <p:txEl>
                                              <p:pRg st="5" end="5"/>
                                            </p:txEl>
                                          </p:spTgt>
                                        </p:tgtEl>
                                        <p:attrNameLst>
                                          <p:attrName>style.visibility</p:attrName>
                                        </p:attrNameLst>
                                      </p:cBhvr>
                                      <p:to>
                                        <p:strVal val="visible"/>
                                      </p:to>
                                    </p:set>
                                    <p:animEffect transition="in" filter="fade">
                                      <p:cBhvr>
                                        <p:cTn id="22" dur="1000"/>
                                        <p:tgtEl>
                                          <p:spTgt spid="30724">
                                            <p:txEl>
                                              <p:pRg st="5" end="5"/>
                                            </p:txEl>
                                          </p:spTgt>
                                        </p:tgtEl>
                                      </p:cBhvr>
                                    </p:animEffect>
                                    <p:anim calcmode="lin" valueType="num">
                                      <p:cBhvr>
                                        <p:cTn id="23" dur="1000" fill="hold"/>
                                        <p:tgtEl>
                                          <p:spTgt spid="30724">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30724">
                                            <p:txEl>
                                              <p:pRg st="5" end="5"/>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0724">
                                            <p:txEl>
                                              <p:pRg st="6" end="6"/>
                                            </p:txEl>
                                          </p:spTgt>
                                        </p:tgtEl>
                                        <p:attrNameLst>
                                          <p:attrName>style.visibility</p:attrName>
                                        </p:attrNameLst>
                                      </p:cBhvr>
                                      <p:to>
                                        <p:strVal val="visible"/>
                                      </p:to>
                                    </p:set>
                                    <p:animEffect transition="in" filter="fade">
                                      <p:cBhvr>
                                        <p:cTn id="27" dur="1000"/>
                                        <p:tgtEl>
                                          <p:spTgt spid="30724">
                                            <p:txEl>
                                              <p:pRg st="6" end="6"/>
                                            </p:txEl>
                                          </p:spTgt>
                                        </p:tgtEl>
                                      </p:cBhvr>
                                    </p:animEffect>
                                    <p:anim calcmode="lin" valueType="num">
                                      <p:cBhvr>
                                        <p:cTn id="28" dur="1000" fill="hold"/>
                                        <p:tgtEl>
                                          <p:spTgt spid="30724">
                                            <p:txEl>
                                              <p:pRg st="6" end="6"/>
                                            </p:txEl>
                                          </p:spTgt>
                                        </p:tgtEl>
                                        <p:attrNameLst>
                                          <p:attrName>ppt_x</p:attrName>
                                        </p:attrNameLst>
                                      </p:cBhvr>
                                      <p:tavLst>
                                        <p:tav tm="0">
                                          <p:val>
                                            <p:strVal val="#ppt_x"/>
                                          </p:val>
                                        </p:tav>
                                        <p:tav tm="100000">
                                          <p:val>
                                            <p:strVal val="#ppt_x"/>
                                          </p:val>
                                        </p:tav>
                                      </p:tavLst>
                                    </p:anim>
                                    <p:anim calcmode="lin" valueType="num">
                                      <p:cBhvr>
                                        <p:cTn id="29" dur="1000" fill="hold"/>
                                        <p:tgtEl>
                                          <p:spTgt spid="30724">
                                            <p:txEl>
                                              <p:pRg st="6" end="6"/>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0724">
                                            <p:txEl>
                                              <p:pRg st="7" end="7"/>
                                            </p:txEl>
                                          </p:spTgt>
                                        </p:tgtEl>
                                        <p:attrNameLst>
                                          <p:attrName>style.visibility</p:attrName>
                                        </p:attrNameLst>
                                      </p:cBhvr>
                                      <p:to>
                                        <p:strVal val="visible"/>
                                      </p:to>
                                    </p:set>
                                    <p:animEffect transition="in" filter="fade">
                                      <p:cBhvr>
                                        <p:cTn id="32" dur="1000"/>
                                        <p:tgtEl>
                                          <p:spTgt spid="30724">
                                            <p:txEl>
                                              <p:pRg st="7" end="7"/>
                                            </p:txEl>
                                          </p:spTgt>
                                        </p:tgtEl>
                                      </p:cBhvr>
                                    </p:animEffect>
                                    <p:anim calcmode="lin" valueType="num">
                                      <p:cBhvr>
                                        <p:cTn id="33" dur="1000" fill="hold"/>
                                        <p:tgtEl>
                                          <p:spTgt spid="30724">
                                            <p:txEl>
                                              <p:pRg st="7" end="7"/>
                                            </p:txEl>
                                          </p:spTgt>
                                        </p:tgtEl>
                                        <p:attrNameLst>
                                          <p:attrName>ppt_x</p:attrName>
                                        </p:attrNameLst>
                                      </p:cBhvr>
                                      <p:tavLst>
                                        <p:tav tm="0">
                                          <p:val>
                                            <p:strVal val="#ppt_x"/>
                                          </p:val>
                                        </p:tav>
                                        <p:tav tm="100000">
                                          <p:val>
                                            <p:strVal val="#ppt_x"/>
                                          </p:val>
                                        </p:tav>
                                      </p:tavLst>
                                    </p:anim>
                                    <p:anim calcmode="lin" valueType="num">
                                      <p:cBhvr>
                                        <p:cTn id="34" dur="1000" fill="hold"/>
                                        <p:tgtEl>
                                          <p:spTgt spid="30724">
                                            <p:txEl>
                                              <p:pRg st="7" end="7"/>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30724">
                                            <p:txEl>
                                              <p:pRg st="8" end="8"/>
                                            </p:txEl>
                                          </p:spTgt>
                                        </p:tgtEl>
                                        <p:attrNameLst>
                                          <p:attrName>style.visibility</p:attrName>
                                        </p:attrNameLst>
                                      </p:cBhvr>
                                      <p:to>
                                        <p:strVal val="visible"/>
                                      </p:to>
                                    </p:set>
                                    <p:animEffect transition="in" filter="fade">
                                      <p:cBhvr>
                                        <p:cTn id="37" dur="1000"/>
                                        <p:tgtEl>
                                          <p:spTgt spid="30724">
                                            <p:txEl>
                                              <p:pRg st="8" end="8"/>
                                            </p:txEl>
                                          </p:spTgt>
                                        </p:tgtEl>
                                      </p:cBhvr>
                                    </p:animEffect>
                                    <p:anim calcmode="lin" valueType="num">
                                      <p:cBhvr>
                                        <p:cTn id="38" dur="1000" fill="hold"/>
                                        <p:tgtEl>
                                          <p:spTgt spid="30724">
                                            <p:txEl>
                                              <p:pRg st="8" end="8"/>
                                            </p:txEl>
                                          </p:spTgt>
                                        </p:tgtEl>
                                        <p:attrNameLst>
                                          <p:attrName>ppt_x</p:attrName>
                                        </p:attrNameLst>
                                      </p:cBhvr>
                                      <p:tavLst>
                                        <p:tav tm="0">
                                          <p:val>
                                            <p:strVal val="#ppt_x"/>
                                          </p:val>
                                        </p:tav>
                                        <p:tav tm="100000">
                                          <p:val>
                                            <p:strVal val="#ppt_x"/>
                                          </p:val>
                                        </p:tav>
                                      </p:tavLst>
                                    </p:anim>
                                    <p:anim calcmode="lin" valueType="num">
                                      <p:cBhvr>
                                        <p:cTn id="39" dur="1000" fill="hold"/>
                                        <p:tgtEl>
                                          <p:spTgt spid="30724">
                                            <p:txEl>
                                              <p:pRg st="8" end="8"/>
                                            </p:txEl>
                                          </p:spTgt>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30724">
                                            <p:txEl>
                                              <p:pRg st="9" end="9"/>
                                            </p:txEl>
                                          </p:spTgt>
                                        </p:tgtEl>
                                        <p:attrNameLst>
                                          <p:attrName>style.visibility</p:attrName>
                                        </p:attrNameLst>
                                      </p:cBhvr>
                                      <p:to>
                                        <p:strVal val="visible"/>
                                      </p:to>
                                    </p:set>
                                    <p:animEffect transition="in" filter="fade">
                                      <p:cBhvr>
                                        <p:cTn id="42" dur="1000"/>
                                        <p:tgtEl>
                                          <p:spTgt spid="30724">
                                            <p:txEl>
                                              <p:pRg st="9" end="9"/>
                                            </p:txEl>
                                          </p:spTgt>
                                        </p:tgtEl>
                                      </p:cBhvr>
                                    </p:animEffect>
                                    <p:anim calcmode="lin" valueType="num">
                                      <p:cBhvr>
                                        <p:cTn id="43" dur="1000" fill="hold"/>
                                        <p:tgtEl>
                                          <p:spTgt spid="30724">
                                            <p:txEl>
                                              <p:pRg st="9" end="9"/>
                                            </p:txEl>
                                          </p:spTgt>
                                        </p:tgtEl>
                                        <p:attrNameLst>
                                          <p:attrName>ppt_x</p:attrName>
                                        </p:attrNameLst>
                                      </p:cBhvr>
                                      <p:tavLst>
                                        <p:tav tm="0">
                                          <p:val>
                                            <p:strVal val="#ppt_x"/>
                                          </p:val>
                                        </p:tav>
                                        <p:tav tm="100000">
                                          <p:val>
                                            <p:strVal val="#ppt_x"/>
                                          </p:val>
                                        </p:tav>
                                      </p:tavLst>
                                    </p:anim>
                                    <p:anim calcmode="lin" valueType="num">
                                      <p:cBhvr>
                                        <p:cTn id="44" dur="1000" fill="hold"/>
                                        <p:tgtEl>
                                          <p:spTgt spid="30724">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1222375" y="159222"/>
            <a:ext cx="7886700" cy="1325562"/>
          </a:xfrm>
        </p:spPr>
        <p:txBody>
          <a:bodyPr/>
          <a:lstStyle/>
          <a:p>
            <a:pPr eaLnBrk="1" hangingPunct="1"/>
            <a:r>
              <a:rPr lang="zh-CN" altLang="en-US" sz="3600" dirty="0">
                <a:solidFill>
                  <a:schemeClr val="tx1"/>
                </a:solidFill>
                <a:latin typeface="宋体" panose="02010600030101010101" pitchFamily="2" charset="-122"/>
                <a:ea typeface="宋体" panose="02010600030101010101" pitchFamily="2" charset="-122"/>
              </a:rPr>
              <a:t>用户定义的完整性（续）</a:t>
            </a:r>
          </a:p>
        </p:txBody>
      </p:sp>
      <p:sp>
        <p:nvSpPr>
          <p:cNvPr id="23556" name="Rectangle 3"/>
          <p:cNvSpPr>
            <a:spLocks noGrp="1" noChangeArrowheads="1"/>
          </p:cNvSpPr>
          <p:nvPr>
            <p:ph idx="1"/>
          </p:nvPr>
        </p:nvSpPr>
        <p:spPr>
          <a:xfrm>
            <a:off x="468313" y="1628775"/>
            <a:ext cx="8153400" cy="4114800"/>
          </a:xfrm>
        </p:spPr>
        <p:txBody>
          <a:bodyPr rtlCol="0">
            <a:normAutofit lnSpcReduction="10000"/>
          </a:bodyPr>
          <a:lstStyle/>
          <a:p>
            <a:pPr eaLnBrk="1" fontAlgn="auto" hangingPunct="1">
              <a:spcAft>
                <a:spcPts val="0"/>
              </a:spcAft>
              <a:buFont typeface="Wingdings" panose="05000000000000000000" pitchFamily="2" charset="2"/>
              <a:buNone/>
              <a:defRPr/>
            </a:pPr>
            <a:r>
              <a:rPr lang="zh-CN" altLang="en-US" dirty="0"/>
              <a:t>例</a:t>
            </a:r>
            <a:r>
              <a:rPr lang="en-US" altLang="zh-CN" dirty="0"/>
              <a:t>4</a:t>
            </a:r>
            <a:r>
              <a:rPr lang="zh-CN" altLang="en-US" dirty="0"/>
              <a:t>：建立部门表</a:t>
            </a:r>
            <a:r>
              <a:rPr lang="en-US" altLang="zh-CN" dirty="0"/>
              <a:t>DEPT</a:t>
            </a:r>
            <a:r>
              <a:rPr lang="zh-CN" altLang="en-US" dirty="0"/>
              <a:t>，要求部门名称</a:t>
            </a:r>
            <a:r>
              <a:rPr lang="en-US" altLang="zh-CN" dirty="0" err="1"/>
              <a:t>Dname</a:t>
            </a:r>
            <a:r>
              <a:rPr lang="zh-CN" altLang="en-US" dirty="0"/>
              <a:t>列</a:t>
            </a:r>
          </a:p>
          <a:p>
            <a:pPr eaLnBrk="1" fontAlgn="auto" hangingPunct="1">
              <a:spcAft>
                <a:spcPts val="0"/>
              </a:spcAft>
              <a:buFont typeface="Wingdings" panose="05000000000000000000" pitchFamily="2" charset="2"/>
              <a:buNone/>
              <a:defRPr/>
            </a:pPr>
            <a:r>
              <a:rPr lang="zh-CN" altLang="en-US" dirty="0"/>
              <a:t>          取值唯一，部门编号</a:t>
            </a:r>
            <a:r>
              <a:rPr lang="en-US" altLang="zh-CN" dirty="0" err="1"/>
              <a:t>Deptno</a:t>
            </a:r>
            <a:r>
              <a:rPr lang="zh-CN" altLang="en-US" dirty="0"/>
              <a:t>列为主码</a:t>
            </a:r>
          </a:p>
          <a:p>
            <a:pPr lvl="1" indent="-209550" eaLnBrk="1" fontAlgn="auto" hangingPunct="1">
              <a:spcAft>
                <a:spcPts val="0"/>
              </a:spcAft>
              <a:buFont typeface="Wingdings" panose="05000000000000000000" pitchFamily="2" charset="2"/>
              <a:buNone/>
              <a:defRPr/>
            </a:pPr>
            <a:endParaRPr lang="en-US" altLang="zh-CN" dirty="0"/>
          </a:p>
          <a:p>
            <a:pPr lvl="1" indent="-209550" eaLnBrk="1" fontAlgn="auto" hangingPunct="1">
              <a:spcAft>
                <a:spcPts val="0"/>
              </a:spcAft>
              <a:buFont typeface="Wingdings" panose="05000000000000000000" pitchFamily="2" charset="2"/>
              <a:buNone/>
              <a:defRPr/>
            </a:pPr>
            <a:r>
              <a:rPr lang="en-US" altLang="zh-CN" dirty="0"/>
              <a:t>CREATE TABLE DEPT</a:t>
            </a:r>
          </a:p>
          <a:p>
            <a:pPr lvl="1" indent="-209550" eaLnBrk="1" fontAlgn="auto" hangingPunct="1">
              <a:spcAft>
                <a:spcPts val="0"/>
              </a:spcAft>
              <a:buFont typeface="Wingdings" panose="05000000000000000000" pitchFamily="2" charset="2"/>
              <a:buNone/>
              <a:defRPr/>
            </a:pPr>
            <a:r>
              <a:rPr lang="en-US" altLang="zh-CN" dirty="0"/>
              <a:t>(</a:t>
            </a:r>
            <a:r>
              <a:rPr lang="en-US" altLang="zh-CN" dirty="0" err="1"/>
              <a:t>Deptno</a:t>
            </a:r>
            <a:r>
              <a:rPr lang="en-US" altLang="zh-CN" dirty="0"/>
              <a:t> NUMERIC(2),</a:t>
            </a:r>
          </a:p>
          <a:p>
            <a:pPr lvl="1" indent="-209550" eaLnBrk="1" fontAlgn="auto" hangingPunct="1">
              <a:spcAft>
                <a:spcPts val="0"/>
              </a:spcAft>
              <a:buFont typeface="Wingdings" panose="05000000000000000000" pitchFamily="2" charset="2"/>
              <a:buNone/>
              <a:defRPr/>
            </a:pPr>
            <a:r>
              <a:rPr lang="en-US" altLang="zh-CN" dirty="0" err="1"/>
              <a:t>Dname</a:t>
            </a:r>
            <a:r>
              <a:rPr lang="en-US" altLang="zh-CN" dirty="0"/>
              <a:t> VARCHAR(9) </a:t>
            </a:r>
            <a:r>
              <a:rPr lang="en-US" altLang="zh-CN" dirty="0">
                <a:solidFill>
                  <a:srgbClr val="FF0000"/>
                </a:solidFill>
              </a:rPr>
              <a:t>CONSTRAINT U1 </a:t>
            </a:r>
            <a:r>
              <a:rPr lang="en-US" altLang="zh-CN" dirty="0">
                <a:solidFill>
                  <a:schemeClr val="hlink"/>
                </a:solidFill>
              </a:rPr>
              <a:t>UNIQUE</a:t>
            </a:r>
            <a:r>
              <a:rPr lang="en-US" altLang="zh-CN" dirty="0"/>
              <a:t>,</a:t>
            </a:r>
          </a:p>
          <a:p>
            <a:pPr lvl="1" indent="-209550" eaLnBrk="1" fontAlgn="auto" hangingPunct="1">
              <a:spcAft>
                <a:spcPts val="0"/>
              </a:spcAft>
              <a:buFont typeface="Wingdings" panose="05000000000000000000" pitchFamily="2" charset="2"/>
              <a:buNone/>
              <a:defRPr/>
            </a:pPr>
            <a:r>
              <a:rPr lang="en-US" altLang="zh-CN" dirty="0"/>
              <a:t>Loc      VARCHAR(10),</a:t>
            </a:r>
          </a:p>
          <a:p>
            <a:pPr lvl="1" indent="-209550" eaLnBrk="1" fontAlgn="auto" hangingPunct="1">
              <a:spcAft>
                <a:spcPts val="0"/>
              </a:spcAft>
              <a:buFont typeface="Wingdings" panose="05000000000000000000" pitchFamily="2" charset="2"/>
              <a:buNone/>
              <a:defRPr/>
            </a:pPr>
            <a:r>
              <a:rPr lang="en-US" altLang="zh-CN" dirty="0">
                <a:solidFill>
                  <a:srgbClr val="FF0000"/>
                </a:solidFill>
              </a:rPr>
              <a:t>CONSTRAINT PK_DEPT </a:t>
            </a:r>
            <a:r>
              <a:rPr lang="en-US" altLang="zh-CN" dirty="0">
                <a:solidFill>
                  <a:schemeClr val="hlink"/>
                </a:solidFill>
              </a:rPr>
              <a:t>PRIMARY KEY (</a:t>
            </a:r>
            <a:r>
              <a:rPr lang="en-US" altLang="zh-CN" dirty="0" err="1">
                <a:solidFill>
                  <a:schemeClr val="hlink"/>
                </a:solidFill>
              </a:rPr>
              <a:t>Deptno</a:t>
            </a:r>
            <a:r>
              <a:rPr lang="en-US" altLang="zh-CN" dirty="0">
                <a:solidFill>
                  <a:schemeClr val="hlink"/>
                </a:solidFill>
              </a:rPr>
              <a:t>));</a:t>
            </a:r>
          </a:p>
          <a:p>
            <a:pPr lvl="1" indent="-209550" eaLnBrk="1" fontAlgn="auto" hangingPunct="1">
              <a:spcAft>
                <a:spcPts val="0"/>
              </a:spcAft>
              <a:buFont typeface="Wingdings" panose="05000000000000000000" pitchFamily="2" charset="2"/>
              <a:buNone/>
              <a:defRPr/>
            </a:pPr>
            <a:endParaRPr lang="en-US" altLang="zh-CN" dirty="0">
              <a:solidFill>
                <a:schemeClr val="accent2"/>
              </a:solidFill>
            </a:endParaRPr>
          </a:p>
          <a:p>
            <a:pPr lvl="1" indent="-209550" eaLnBrk="1" fontAlgn="auto" hangingPunct="1">
              <a:spcAft>
                <a:spcPts val="0"/>
              </a:spcAft>
              <a:buFont typeface="Wingdings" panose="05000000000000000000" pitchFamily="2" charset="2"/>
              <a:buNone/>
              <a:defRPr/>
            </a:pPr>
            <a:r>
              <a:rPr lang="zh-CN" altLang="en-US" dirty="0"/>
              <a:t>其中 </a:t>
            </a:r>
            <a:r>
              <a:rPr lang="en-US" altLang="zh-CN" dirty="0"/>
              <a:t>CONSTRAINT U1 UNIQUE </a:t>
            </a:r>
            <a:r>
              <a:rPr lang="zh-CN" altLang="en-US" dirty="0"/>
              <a:t>表示约束名为</a:t>
            </a:r>
            <a:r>
              <a:rPr lang="en-US" altLang="zh-CN" dirty="0"/>
              <a:t>U1</a:t>
            </a:r>
            <a:r>
              <a:rPr lang="zh-CN" altLang="en-US" dirty="0"/>
              <a:t>，</a:t>
            </a:r>
          </a:p>
          <a:p>
            <a:pPr lvl="1" indent="-209550" eaLnBrk="1" fontAlgn="auto" hangingPunct="1">
              <a:spcAft>
                <a:spcPts val="0"/>
              </a:spcAft>
              <a:buFont typeface="Wingdings" panose="05000000000000000000" pitchFamily="2" charset="2"/>
              <a:buNone/>
              <a:defRPr/>
            </a:pPr>
            <a:r>
              <a:rPr lang="zh-CN" altLang="en-US" dirty="0"/>
              <a:t>该约束要求</a:t>
            </a:r>
            <a:r>
              <a:rPr lang="en-US" altLang="zh-CN" dirty="0" err="1"/>
              <a:t>Dname</a:t>
            </a:r>
            <a:r>
              <a:rPr lang="zh-CN" altLang="en-US" dirty="0"/>
              <a:t>列值唯一。</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23556">
                                            <p:txEl>
                                              <p:pRg st="3" end="3"/>
                                            </p:txEl>
                                          </p:spTgt>
                                        </p:tgtEl>
                                        <p:attrNameLst>
                                          <p:attrName>style.visibility</p:attrName>
                                        </p:attrNameLst>
                                      </p:cBhvr>
                                      <p:to>
                                        <p:strVal val="visible"/>
                                      </p:to>
                                    </p:set>
                                    <p:animEffect transition="in" filter="diamond(in)">
                                      <p:cBhvr>
                                        <p:cTn id="7" dur="2000"/>
                                        <p:tgtEl>
                                          <p:spTgt spid="23556">
                                            <p:txEl>
                                              <p:pRg st="3" end="3"/>
                                            </p:txEl>
                                          </p:spTgt>
                                        </p:tgtEl>
                                      </p:cBhvr>
                                    </p:animEffect>
                                  </p:childTnLst>
                                </p:cTn>
                              </p:par>
                              <p:par>
                                <p:cTn id="8" presetID="8" presetClass="entr" presetSubtype="16" fill="hold" nodeType="withEffect">
                                  <p:stCondLst>
                                    <p:cond delay="0"/>
                                  </p:stCondLst>
                                  <p:childTnLst>
                                    <p:set>
                                      <p:cBhvr>
                                        <p:cTn id="9" dur="1" fill="hold">
                                          <p:stCondLst>
                                            <p:cond delay="0"/>
                                          </p:stCondLst>
                                        </p:cTn>
                                        <p:tgtEl>
                                          <p:spTgt spid="23556">
                                            <p:txEl>
                                              <p:pRg st="4" end="4"/>
                                            </p:txEl>
                                          </p:spTgt>
                                        </p:tgtEl>
                                        <p:attrNameLst>
                                          <p:attrName>style.visibility</p:attrName>
                                        </p:attrNameLst>
                                      </p:cBhvr>
                                      <p:to>
                                        <p:strVal val="visible"/>
                                      </p:to>
                                    </p:set>
                                    <p:animEffect transition="in" filter="diamond(in)">
                                      <p:cBhvr>
                                        <p:cTn id="10" dur="2000"/>
                                        <p:tgtEl>
                                          <p:spTgt spid="23556">
                                            <p:txEl>
                                              <p:pRg st="4" end="4"/>
                                            </p:txEl>
                                          </p:spTgt>
                                        </p:tgtEl>
                                      </p:cBhvr>
                                    </p:animEffect>
                                  </p:childTnLst>
                                </p:cTn>
                              </p:par>
                              <p:par>
                                <p:cTn id="11" presetID="8" presetClass="entr" presetSubtype="16" fill="hold" nodeType="withEffect">
                                  <p:stCondLst>
                                    <p:cond delay="0"/>
                                  </p:stCondLst>
                                  <p:childTnLst>
                                    <p:set>
                                      <p:cBhvr>
                                        <p:cTn id="12" dur="1" fill="hold">
                                          <p:stCondLst>
                                            <p:cond delay="0"/>
                                          </p:stCondLst>
                                        </p:cTn>
                                        <p:tgtEl>
                                          <p:spTgt spid="23556">
                                            <p:txEl>
                                              <p:pRg st="5" end="5"/>
                                            </p:txEl>
                                          </p:spTgt>
                                        </p:tgtEl>
                                        <p:attrNameLst>
                                          <p:attrName>style.visibility</p:attrName>
                                        </p:attrNameLst>
                                      </p:cBhvr>
                                      <p:to>
                                        <p:strVal val="visible"/>
                                      </p:to>
                                    </p:set>
                                    <p:animEffect transition="in" filter="diamond(in)">
                                      <p:cBhvr>
                                        <p:cTn id="13" dur="2000"/>
                                        <p:tgtEl>
                                          <p:spTgt spid="23556">
                                            <p:txEl>
                                              <p:pRg st="5" end="5"/>
                                            </p:txEl>
                                          </p:spTgt>
                                        </p:tgtEl>
                                      </p:cBhvr>
                                    </p:animEffect>
                                  </p:childTnLst>
                                </p:cTn>
                              </p:par>
                              <p:par>
                                <p:cTn id="14" presetID="8" presetClass="entr" presetSubtype="16" fill="hold" nodeType="withEffect">
                                  <p:stCondLst>
                                    <p:cond delay="0"/>
                                  </p:stCondLst>
                                  <p:childTnLst>
                                    <p:set>
                                      <p:cBhvr>
                                        <p:cTn id="15" dur="1" fill="hold">
                                          <p:stCondLst>
                                            <p:cond delay="0"/>
                                          </p:stCondLst>
                                        </p:cTn>
                                        <p:tgtEl>
                                          <p:spTgt spid="23556">
                                            <p:txEl>
                                              <p:pRg st="6" end="6"/>
                                            </p:txEl>
                                          </p:spTgt>
                                        </p:tgtEl>
                                        <p:attrNameLst>
                                          <p:attrName>style.visibility</p:attrName>
                                        </p:attrNameLst>
                                      </p:cBhvr>
                                      <p:to>
                                        <p:strVal val="visible"/>
                                      </p:to>
                                    </p:set>
                                    <p:animEffect transition="in" filter="diamond(in)">
                                      <p:cBhvr>
                                        <p:cTn id="16" dur="2000"/>
                                        <p:tgtEl>
                                          <p:spTgt spid="23556">
                                            <p:txEl>
                                              <p:pRg st="6" end="6"/>
                                            </p:txEl>
                                          </p:spTgt>
                                        </p:tgtEl>
                                      </p:cBhvr>
                                    </p:animEffect>
                                  </p:childTnLst>
                                </p:cTn>
                              </p:par>
                              <p:par>
                                <p:cTn id="17" presetID="8" presetClass="entr" presetSubtype="16" fill="hold" nodeType="withEffect">
                                  <p:stCondLst>
                                    <p:cond delay="0"/>
                                  </p:stCondLst>
                                  <p:childTnLst>
                                    <p:set>
                                      <p:cBhvr>
                                        <p:cTn id="18" dur="1" fill="hold">
                                          <p:stCondLst>
                                            <p:cond delay="0"/>
                                          </p:stCondLst>
                                        </p:cTn>
                                        <p:tgtEl>
                                          <p:spTgt spid="23556">
                                            <p:txEl>
                                              <p:pRg st="7" end="7"/>
                                            </p:txEl>
                                          </p:spTgt>
                                        </p:tgtEl>
                                        <p:attrNameLst>
                                          <p:attrName>style.visibility</p:attrName>
                                        </p:attrNameLst>
                                      </p:cBhvr>
                                      <p:to>
                                        <p:strVal val="visible"/>
                                      </p:to>
                                    </p:set>
                                    <p:animEffect transition="in" filter="diamond(in)">
                                      <p:cBhvr>
                                        <p:cTn id="19" dur="2000"/>
                                        <p:tgtEl>
                                          <p:spTgt spid="23556">
                                            <p:txEl>
                                              <p:pRg st="7" end="7"/>
                                            </p:txEl>
                                          </p:spTgt>
                                        </p:tgtEl>
                                      </p:cBhvr>
                                    </p:animEffect>
                                  </p:childTnLst>
                                </p:cTn>
                              </p:par>
                              <p:par>
                                <p:cTn id="20" presetID="8" presetClass="entr" presetSubtype="16" fill="hold" nodeType="withEffect">
                                  <p:stCondLst>
                                    <p:cond delay="0"/>
                                  </p:stCondLst>
                                  <p:childTnLst>
                                    <p:set>
                                      <p:cBhvr>
                                        <p:cTn id="21" dur="1" fill="hold">
                                          <p:stCondLst>
                                            <p:cond delay="0"/>
                                          </p:stCondLst>
                                        </p:cTn>
                                        <p:tgtEl>
                                          <p:spTgt spid="23556">
                                            <p:txEl>
                                              <p:pRg st="9" end="9"/>
                                            </p:txEl>
                                          </p:spTgt>
                                        </p:tgtEl>
                                        <p:attrNameLst>
                                          <p:attrName>style.visibility</p:attrName>
                                        </p:attrNameLst>
                                      </p:cBhvr>
                                      <p:to>
                                        <p:strVal val="visible"/>
                                      </p:to>
                                    </p:set>
                                    <p:animEffect transition="in" filter="diamond(in)">
                                      <p:cBhvr>
                                        <p:cTn id="22" dur="2000"/>
                                        <p:tgtEl>
                                          <p:spTgt spid="23556">
                                            <p:txEl>
                                              <p:pRg st="9" end="9"/>
                                            </p:txEl>
                                          </p:spTgt>
                                        </p:tgtEl>
                                      </p:cBhvr>
                                    </p:animEffect>
                                  </p:childTnLst>
                                </p:cTn>
                              </p:par>
                              <p:par>
                                <p:cTn id="23" presetID="8" presetClass="entr" presetSubtype="16" fill="hold" nodeType="withEffect">
                                  <p:stCondLst>
                                    <p:cond delay="0"/>
                                  </p:stCondLst>
                                  <p:childTnLst>
                                    <p:set>
                                      <p:cBhvr>
                                        <p:cTn id="24" dur="1" fill="hold">
                                          <p:stCondLst>
                                            <p:cond delay="0"/>
                                          </p:stCondLst>
                                        </p:cTn>
                                        <p:tgtEl>
                                          <p:spTgt spid="23556">
                                            <p:txEl>
                                              <p:pRg st="10" end="10"/>
                                            </p:txEl>
                                          </p:spTgt>
                                        </p:tgtEl>
                                        <p:attrNameLst>
                                          <p:attrName>style.visibility</p:attrName>
                                        </p:attrNameLst>
                                      </p:cBhvr>
                                      <p:to>
                                        <p:strVal val="visible"/>
                                      </p:to>
                                    </p:set>
                                    <p:animEffect transition="in" filter="diamond(in)">
                                      <p:cBhvr>
                                        <p:cTn id="25" dur="2000"/>
                                        <p:tgtEl>
                                          <p:spTgt spid="23556">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1187450" y="188640"/>
            <a:ext cx="7886700" cy="1325563"/>
          </a:xfrm>
        </p:spPr>
        <p:txBody>
          <a:bodyPr/>
          <a:lstStyle/>
          <a:p>
            <a:pPr eaLnBrk="1" hangingPunct="1"/>
            <a:r>
              <a:rPr lang="en-US" altLang="zh-CN" sz="3600" dirty="0">
                <a:latin typeface="宋体" panose="02010600030101010101" pitchFamily="2" charset="-122"/>
                <a:ea typeface="宋体" panose="02010600030101010101" pitchFamily="2" charset="-122"/>
                <a:cs typeface="宋体" panose="02010600030101010101" pitchFamily="2" charset="-122"/>
              </a:rPr>
              <a:t>5.4  </a:t>
            </a:r>
            <a:r>
              <a:rPr lang="zh-CN" altLang="en-US" sz="3600" dirty="0">
                <a:latin typeface="宋体" panose="02010600030101010101" pitchFamily="2" charset="-122"/>
                <a:ea typeface="宋体" panose="02010600030101010101" pitchFamily="2" charset="-122"/>
                <a:cs typeface="宋体" panose="02010600030101010101" pitchFamily="2" charset="-122"/>
              </a:rPr>
              <a:t>完整性约束命名子句</a:t>
            </a:r>
          </a:p>
        </p:txBody>
      </p:sp>
      <p:sp>
        <p:nvSpPr>
          <p:cNvPr id="37891" name="Rectangle 3"/>
          <p:cNvSpPr>
            <a:spLocks noGrp="1" noChangeArrowheads="1"/>
          </p:cNvSpPr>
          <p:nvPr>
            <p:ph idx="1"/>
          </p:nvPr>
        </p:nvSpPr>
        <p:spPr>
          <a:xfrm>
            <a:off x="611188" y="1628775"/>
            <a:ext cx="7772400" cy="4114800"/>
          </a:xfrm>
        </p:spPr>
        <p:txBody>
          <a:bodyPr/>
          <a:lstStyle/>
          <a:p>
            <a:pPr eaLnBrk="1" hangingPunct="1">
              <a:lnSpc>
                <a:spcPct val="150000"/>
              </a:lnSpc>
            </a:pPr>
            <a:r>
              <a:rPr lang="en-US" altLang="zh-CN"/>
              <a:t>CONSTRAINT </a:t>
            </a:r>
            <a:r>
              <a:rPr lang="zh-CN" altLang="en-US"/>
              <a:t>约束</a:t>
            </a:r>
          </a:p>
          <a:p>
            <a:pPr lvl="1" eaLnBrk="1" hangingPunct="1">
              <a:lnSpc>
                <a:spcPct val="150000"/>
              </a:lnSpc>
              <a:buFont typeface="Wingdings" panose="05000000000000000000" pitchFamily="2" charset="2"/>
              <a:buNone/>
            </a:pPr>
            <a:endParaRPr lang="zh-CN" altLang="en-US" sz="1600"/>
          </a:p>
          <a:p>
            <a:pPr lvl="1" eaLnBrk="1" hangingPunct="1">
              <a:lnSpc>
                <a:spcPct val="150000"/>
              </a:lnSpc>
              <a:buFont typeface="Wingdings" panose="05000000000000000000" pitchFamily="2" charset="2"/>
              <a:buNone/>
            </a:pPr>
            <a:r>
              <a:rPr lang="en-US" altLang="zh-CN"/>
              <a:t>CONSTRAINT &lt;</a:t>
            </a:r>
            <a:r>
              <a:rPr lang="zh-CN" altLang="en-US"/>
              <a:t>完整性约束条件名</a:t>
            </a:r>
            <a:r>
              <a:rPr lang="en-US" altLang="zh-CN"/>
              <a:t>&gt;</a:t>
            </a:r>
          </a:p>
          <a:p>
            <a:pPr lvl="1" eaLnBrk="1" hangingPunct="1">
              <a:lnSpc>
                <a:spcPct val="150000"/>
              </a:lnSpc>
              <a:buFont typeface="Wingdings" panose="05000000000000000000" pitchFamily="2" charset="2"/>
              <a:buNone/>
            </a:pPr>
            <a:r>
              <a:rPr lang="zh-CN" altLang="en-US"/>
              <a:t>［</a:t>
            </a:r>
            <a:r>
              <a:rPr lang="en-US" altLang="zh-CN"/>
              <a:t>NOT NULL, UNIQUE, PRIMARY KEY</a:t>
            </a:r>
            <a:r>
              <a:rPr lang="zh-CN" altLang="en-US"/>
              <a:t>短语</a:t>
            </a:r>
          </a:p>
          <a:p>
            <a:pPr lvl="1" eaLnBrk="1" hangingPunct="1">
              <a:lnSpc>
                <a:spcPct val="150000"/>
              </a:lnSpc>
              <a:buFont typeface="Wingdings" panose="05000000000000000000" pitchFamily="2" charset="2"/>
              <a:buNone/>
            </a:pPr>
            <a:r>
              <a:rPr lang="zh-CN" altLang="en-US"/>
              <a:t>   </a:t>
            </a:r>
            <a:r>
              <a:rPr lang="en-US" altLang="zh-CN"/>
              <a:t>,FOREIGN KEY</a:t>
            </a:r>
            <a:r>
              <a:rPr lang="zh-CN" altLang="en-US"/>
              <a:t>短语</a:t>
            </a:r>
          </a:p>
          <a:p>
            <a:pPr lvl="1" eaLnBrk="1" hangingPunct="1">
              <a:lnSpc>
                <a:spcPct val="150000"/>
              </a:lnSpc>
              <a:buFont typeface="Wingdings" panose="05000000000000000000" pitchFamily="2" charset="2"/>
              <a:buNone/>
            </a:pPr>
            <a:r>
              <a:rPr lang="zh-CN" altLang="en-US"/>
              <a:t>   </a:t>
            </a:r>
            <a:r>
              <a:rPr lang="en-US" altLang="zh-CN"/>
              <a:t>,CHECK</a:t>
            </a:r>
            <a:r>
              <a:rPr lang="zh-CN" altLang="en-US"/>
              <a:t>短语］</a:t>
            </a:r>
          </a:p>
          <a:p>
            <a:pPr eaLnBrk="1" hangingPunct="1">
              <a:lnSpc>
                <a:spcPct val="150000"/>
              </a:lnSpc>
            </a:pPr>
            <a:endParaRPr lang="en-US" altLang="zh-CN"/>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1187133" y="280035"/>
            <a:ext cx="7793037" cy="1143000"/>
          </a:xfrm>
        </p:spPr>
        <p:txBody>
          <a:bodyPr/>
          <a:lstStyle/>
          <a:p>
            <a:pPr eaLnBrk="1" hangingPunct="1"/>
            <a:r>
              <a:rPr lang="zh-CN" altLang="en-US" sz="3600" dirty="0">
                <a:latin typeface="宋体" panose="02010600030101010101" pitchFamily="2" charset="-122"/>
                <a:ea typeface="宋体" panose="02010600030101010101" pitchFamily="2" charset="-122"/>
                <a:cs typeface="宋体" panose="02010600030101010101" pitchFamily="2" charset="-122"/>
              </a:rPr>
              <a:t>完整性约束命名子句</a:t>
            </a:r>
            <a:r>
              <a:rPr lang="en-US" altLang="zh-CN" sz="3600" dirty="0">
                <a:latin typeface="宋体" panose="02010600030101010101" pitchFamily="2" charset="-122"/>
                <a:ea typeface="宋体" panose="02010600030101010101" pitchFamily="2" charset="-122"/>
                <a:cs typeface="宋体" panose="02010600030101010101" pitchFamily="2" charset="-122"/>
              </a:rPr>
              <a:t>(</a:t>
            </a:r>
            <a:r>
              <a:rPr lang="zh-CN" altLang="en-US" sz="3600" dirty="0">
                <a:latin typeface="宋体" panose="02010600030101010101" pitchFamily="2" charset="-122"/>
                <a:ea typeface="宋体" panose="02010600030101010101" pitchFamily="2" charset="-122"/>
                <a:cs typeface="宋体" panose="02010600030101010101" pitchFamily="2" charset="-122"/>
              </a:rPr>
              <a:t>续</a:t>
            </a:r>
            <a:r>
              <a:rPr lang="en-US" altLang="zh-CN" sz="3600" dirty="0">
                <a:latin typeface="宋体" panose="02010600030101010101" pitchFamily="2" charset="-122"/>
                <a:ea typeface="宋体" panose="02010600030101010101" pitchFamily="2" charset="-122"/>
                <a:cs typeface="宋体" panose="02010600030101010101" pitchFamily="2" charset="-122"/>
              </a:rPr>
              <a:t>)</a:t>
            </a:r>
          </a:p>
        </p:txBody>
      </p:sp>
      <p:sp>
        <p:nvSpPr>
          <p:cNvPr id="27652" name="Rectangle 3"/>
          <p:cNvSpPr>
            <a:spLocks noGrp="1" noChangeArrowheads="1"/>
          </p:cNvSpPr>
          <p:nvPr>
            <p:ph idx="1"/>
          </p:nvPr>
        </p:nvSpPr>
        <p:spPr>
          <a:xfrm>
            <a:off x="255588" y="1557338"/>
            <a:ext cx="8893175" cy="5040312"/>
          </a:xfrm>
        </p:spPr>
        <p:txBody>
          <a:bodyPr/>
          <a:lstStyle/>
          <a:p>
            <a:pPr eaLnBrk="1" hangingPunct="1">
              <a:lnSpc>
                <a:spcPct val="80000"/>
              </a:lnSpc>
              <a:buFont typeface="Wingdings" panose="05000000000000000000" pitchFamily="2" charset="2"/>
              <a:buNone/>
            </a:pPr>
            <a:r>
              <a:rPr lang="zh-CN" altLang="en-US" sz="2000" dirty="0"/>
              <a:t>［例</a:t>
            </a:r>
            <a:r>
              <a:rPr lang="en-US" altLang="zh-CN" sz="2000" dirty="0"/>
              <a:t>5</a:t>
            </a:r>
            <a:r>
              <a:rPr lang="zh-CN" altLang="en-US" sz="2000" dirty="0"/>
              <a:t>］  建立学生登记表</a:t>
            </a:r>
            <a:r>
              <a:rPr lang="en-US" altLang="zh-CN" sz="2000" dirty="0"/>
              <a:t>Student</a:t>
            </a:r>
            <a:r>
              <a:rPr lang="zh-CN" altLang="en-US" sz="2000" dirty="0"/>
              <a:t>，要求学号在</a:t>
            </a:r>
            <a:r>
              <a:rPr lang="en-US" altLang="zh-CN" sz="2000" dirty="0"/>
              <a:t>90000~99999</a:t>
            </a:r>
            <a:r>
              <a:rPr lang="zh-CN" altLang="en-US" sz="2000" dirty="0"/>
              <a:t>之间，姓名不能取空值，年龄小于</a:t>
            </a:r>
            <a:r>
              <a:rPr lang="en-US" altLang="zh-CN" sz="2000" dirty="0"/>
              <a:t>30</a:t>
            </a:r>
            <a:r>
              <a:rPr lang="zh-CN" altLang="en-US" sz="2000" dirty="0"/>
              <a:t>，性别只能是</a:t>
            </a:r>
            <a:r>
              <a:rPr lang="zh-CN" altLang="en-US" sz="2000" dirty="0">
                <a:latin typeface="Arial" panose="020B0604020202020204" pitchFamily="34" charset="0"/>
              </a:rPr>
              <a:t>“</a:t>
            </a:r>
            <a:r>
              <a:rPr lang="zh-CN" altLang="en-US" sz="2000" dirty="0"/>
              <a:t>男</a:t>
            </a:r>
            <a:r>
              <a:rPr lang="zh-CN" altLang="en-US" sz="2000" dirty="0">
                <a:latin typeface="Arial" panose="020B0604020202020204" pitchFamily="34" charset="0"/>
              </a:rPr>
              <a:t>”</a:t>
            </a:r>
            <a:r>
              <a:rPr lang="zh-CN" altLang="en-US" sz="2000" dirty="0"/>
              <a:t>或</a:t>
            </a:r>
            <a:r>
              <a:rPr lang="zh-CN" altLang="en-US" sz="2000" dirty="0">
                <a:latin typeface="Arial" panose="020B0604020202020204" pitchFamily="34" charset="0"/>
              </a:rPr>
              <a:t>“</a:t>
            </a:r>
            <a:r>
              <a:rPr lang="zh-CN" altLang="en-US" sz="2000" dirty="0"/>
              <a:t>女</a:t>
            </a:r>
            <a:r>
              <a:rPr lang="zh-CN" altLang="en-US" sz="2000" dirty="0">
                <a:latin typeface="Arial" panose="020B0604020202020204" pitchFamily="34" charset="0"/>
              </a:rPr>
              <a:t>”</a:t>
            </a:r>
            <a:r>
              <a:rPr lang="zh-CN" altLang="en-US" sz="2000" dirty="0"/>
              <a:t>。</a:t>
            </a:r>
          </a:p>
          <a:p>
            <a:pPr eaLnBrk="1" hangingPunct="1">
              <a:lnSpc>
                <a:spcPct val="80000"/>
              </a:lnSpc>
              <a:buFont typeface="Wingdings" panose="05000000000000000000" pitchFamily="2" charset="2"/>
              <a:buNone/>
            </a:pPr>
            <a:r>
              <a:rPr lang="zh-CN" altLang="en-US" sz="2000" dirty="0"/>
              <a:t>    </a:t>
            </a:r>
            <a:r>
              <a:rPr lang="en-US" altLang="zh-CN" sz="2000" dirty="0"/>
              <a:t>CREATE TABLE Student</a:t>
            </a:r>
          </a:p>
          <a:p>
            <a:pPr eaLnBrk="1" hangingPunct="1">
              <a:lnSpc>
                <a:spcPct val="80000"/>
              </a:lnSpc>
              <a:buFont typeface="Wingdings" panose="05000000000000000000" pitchFamily="2" charset="2"/>
              <a:buNone/>
            </a:pPr>
            <a:r>
              <a:rPr lang="en-US" altLang="zh-CN" sz="2000" dirty="0"/>
              <a:t>      (</a:t>
            </a:r>
            <a:r>
              <a:rPr lang="en-US" altLang="zh-CN" sz="2000" dirty="0" err="1"/>
              <a:t>Sno</a:t>
            </a:r>
            <a:r>
              <a:rPr lang="en-US" altLang="zh-CN" sz="2000" dirty="0"/>
              <a:t>  NUMERIC(6)</a:t>
            </a:r>
          </a:p>
          <a:p>
            <a:pPr eaLnBrk="1" hangingPunct="1">
              <a:lnSpc>
                <a:spcPct val="80000"/>
              </a:lnSpc>
              <a:buFont typeface="Wingdings" panose="05000000000000000000" pitchFamily="2" charset="2"/>
              <a:buNone/>
            </a:pPr>
            <a:r>
              <a:rPr lang="en-US" altLang="zh-CN" sz="2000" dirty="0"/>
              <a:t>        </a:t>
            </a:r>
            <a:r>
              <a:rPr lang="en-US" altLang="zh-CN" sz="2000" dirty="0">
                <a:solidFill>
                  <a:srgbClr val="FF66FF"/>
                </a:solidFill>
              </a:rPr>
              <a:t>CONSTRAINT C1 </a:t>
            </a:r>
            <a:r>
              <a:rPr lang="en-US" altLang="zh-CN" sz="2000" dirty="0">
                <a:solidFill>
                  <a:schemeClr val="accent2"/>
                </a:solidFill>
              </a:rPr>
              <a:t>CHECK (</a:t>
            </a:r>
            <a:r>
              <a:rPr lang="en-US" altLang="zh-CN" sz="2000" dirty="0" err="1">
                <a:solidFill>
                  <a:schemeClr val="accent2"/>
                </a:solidFill>
              </a:rPr>
              <a:t>Sno</a:t>
            </a:r>
            <a:r>
              <a:rPr lang="en-US" altLang="zh-CN" sz="2000" dirty="0">
                <a:solidFill>
                  <a:schemeClr val="accent2"/>
                </a:solidFill>
              </a:rPr>
              <a:t> BETWEEN 90000 AND 99999)</a:t>
            </a:r>
            <a:r>
              <a:rPr lang="zh-CN" altLang="en-US" sz="2000" dirty="0">
                <a:solidFill>
                  <a:schemeClr val="accent2"/>
                </a:solidFill>
              </a:rPr>
              <a:t>，</a:t>
            </a:r>
          </a:p>
          <a:p>
            <a:pPr eaLnBrk="1" hangingPunct="1">
              <a:lnSpc>
                <a:spcPct val="80000"/>
              </a:lnSpc>
              <a:buFont typeface="Wingdings" panose="05000000000000000000" pitchFamily="2" charset="2"/>
              <a:buNone/>
            </a:pPr>
            <a:r>
              <a:rPr lang="zh-CN" altLang="en-US" sz="2000" dirty="0"/>
              <a:t>        </a:t>
            </a:r>
            <a:r>
              <a:rPr lang="en-US" altLang="zh-CN" sz="2000" dirty="0" err="1"/>
              <a:t>Sname</a:t>
            </a:r>
            <a:r>
              <a:rPr lang="en-US" altLang="zh-CN" sz="2000" dirty="0"/>
              <a:t>  CHAR(20)  </a:t>
            </a:r>
          </a:p>
          <a:p>
            <a:pPr eaLnBrk="1" hangingPunct="1">
              <a:lnSpc>
                <a:spcPct val="80000"/>
              </a:lnSpc>
              <a:buFont typeface="Wingdings" panose="05000000000000000000" pitchFamily="2" charset="2"/>
              <a:buNone/>
            </a:pPr>
            <a:r>
              <a:rPr lang="en-US" altLang="zh-CN" sz="2000" dirty="0"/>
              <a:t>        </a:t>
            </a:r>
            <a:r>
              <a:rPr lang="en-US" altLang="zh-CN" sz="2000" dirty="0">
                <a:solidFill>
                  <a:srgbClr val="FF66FF"/>
                </a:solidFill>
              </a:rPr>
              <a:t>CONSTRAINT C2 </a:t>
            </a:r>
            <a:r>
              <a:rPr lang="en-US" altLang="zh-CN" sz="2000" dirty="0">
                <a:solidFill>
                  <a:schemeClr val="accent2"/>
                </a:solidFill>
              </a:rPr>
              <a:t>NOT NULL</a:t>
            </a:r>
            <a:r>
              <a:rPr lang="zh-CN" altLang="en-US" sz="2000" dirty="0"/>
              <a:t>，</a:t>
            </a:r>
          </a:p>
          <a:p>
            <a:pPr eaLnBrk="1" hangingPunct="1">
              <a:lnSpc>
                <a:spcPct val="80000"/>
              </a:lnSpc>
              <a:buFont typeface="Wingdings" panose="05000000000000000000" pitchFamily="2" charset="2"/>
              <a:buNone/>
            </a:pPr>
            <a:r>
              <a:rPr lang="zh-CN" altLang="en-US" sz="2000" dirty="0"/>
              <a:t>        </a:t>
            </a:r>
            <a:r>
              <a:rPr lang="en-US" altLang="zh-CN" sz="2000" dirty="0"/>
              <a:t>Sage  NUMERIC(3)</a:t>
            </a:r>
          </a:p>
          <a:p>
            <a:pPr eaLnBrk="1" hangingPunct="1">
              <a:lnSpc>
                <a:spcPct val="80000"/>
              </a:lnSpc>
              <a:buFont typeface="Wingdings" panose="05000000000000000000" pitchFamily="2" charset="2"/>
              <a:buNone/>
            </a:pPr>
            <a:r>
              <a:rPr lang="en-US" altLang="zh-CN" sz="2000" dirty="0"/>
              <a:t>        </a:t>
            </a:r>
            <a:r>
              <a:rPr lang="en-US" altLang="zh-CN" sz="2000" dirty="0">
                <a:solidFill>
                  <a:srgbClr val="FF66FF"/>
                </a:solidFill>
              </a:rPr>
              <a:t>CONSTRAINT C3 </a:t>
            </a:r>
            <a:r>
              <a:rPr lang="en-US" altLang="zh-CN" sz="2000" dirty="0">
                <a:solidFill>
                  <a:schemeClr val="accent2"/>
                </a:solidFill>
              </a:rPr>
              <a:t>CHECK (Sage &lt; 30)</a:t>
            </a:r>
            <a:r>
              <a:rPr lang="zh-CN" altLang="en-US" sz="2000" dirty="0"/>
              <a:t>，</a:t>
            </a:r>
          </a:p>
          <a:p>
            <a:pPr eaLnBrk="1" hangingPunct="1">
              <a:lnSpc>
                <a:spcPct val="80000"/>
              </a:lnSpc>
              <a:buFont typeface="Wingdings" panose="05000000000000000000" pitchFamily="2" charset="2"/>
              <a:buNone/>
            </a:pPr>
            <a:r>
              <a:rPr lang="zh-CN" altLang="en-US" sz="2000" dirty="0"/>
              <a:t>        </a:t>
            </a:r>
            <a:r>
              <a:rPr lang="en-US" altLang="zh-CN" sz="2000" dirty="0" err="1"/>
              <a:t>Ssex</a:t>
            </a:r>
            <a:r>
              <a:rPr lang="en-US" altLang="zh-CN" sz="2000" dirty="0"/>
              <a:t>  CHAR(2)</a:t>
            </a:r>
          </a:p>
          <a:p>
            <a:pPr eaLnBrk="1" hangingPunct="1">
              <a:lnSpc>
                <a:spcPct val="80000"/>
              </a:lnSpc>
              <a:buFont typeface="Wingdings" panose="05000000000000000000" pitchFamily="2" charset="2"/>
              <a:buNone/>
            </a:pPr>
            <a:r>
              <a:rPr lang="en-US" altLang="zh-CN" sz="2000" dirty="0"/>
              <a:t>        </a:t>
            </a:r>
            <a:r>
              <a:rPr lang="en-US" altLang="zh-CN" sz="2000" dirty="0">
                <a:solidFill>
                  <a:srgbClr val="FF66FF"/>
                </a:solidFill>
              </a:rPr>
              <a:t>CONSTRAINT C4 </a:t>
            </a:r>
            <a:r>
              <a:rPr lang="en-US" altLang="zh-CN" sz="2000" dirty="0">
                <a:solidFill>
                  <a:schemeClr val="accent2"/>
                </a:solidFill>
              </a:rPr>
              <a:t>CHECK (</a:t>
            </a:r>
            <a:r>
              <a:rPr lang="en-US" altLang="zh-CN" sz="2000" dirty="0" err="1">
                <a:solidFill>
                  <a:schemeClr val="accent2"/>
                </a:solidFill>
              </a:rPr>
              <a:t>Ssex</a:t>
            </a:r>
            <a:r>
              <a:rPr lang="en-US" altLang="zh-CN" sz="2000" dirty="0">
                <a:solidFill>
                  <a:schemeClr val="accent2"/>
                </a:solidFill>
              </a:rPr>
              <a:t> IN ( '</a:t>
            </a:r>
            <a:r>
              <a:rPr lang="zh-CN" altLang="en-US" sz="2000" dirty="0">
                <a:solidFill>
                  <a:schemeClr val="accent2"/>
                </a:solidFill>
              </a:rPr>
              <a:t>男</a:t>
            </a:r>
            <a:r>
              <a:rPr lang="en-US" altLang="zh-CN" sz="2000" dirty="0">
                <a:solidFill>
                  <a:schemeClr val="accent2"/>
                </a:solidFill>
              </a:rPr>
              <a:t>'</a:t>
            </a:r>
            <a:r>
              <a:rPr lang="zh-CN" altLang="en-US" sz="2000" dirty="0">
                <a:solidFill>
                  <a:schemeClr val="accent2"/>
                </a:solidFill>
              </a:rPr>
              <a:t>，</a:t>
            </a:r>
            <a:r>
              <a:rPr lang="en-US" altLang="zh-CN" sz="2000" dirty="0">
                <a:solidFill>
                  <a:schemeClr val="accent2"/>
                </a:solidFill>
              </a:rPr>
              <a:t>'</a:t>
            </a:r>
            <a:r>
              <a:rPr lang="zh-CN" altLang="en-US" sz="2000" dirty="0">
                <a:solidFill>
                  <a:schemeClr val="accent2"/>
                </a:solidFill>
              </a:rPr>
              <a:t>女</a:t>
            </a:r>
            <a:r>
              <a:rPr lang="en-US" altLang="zh-CN" sz="2000" dirty="0">
                <a:solidFill>
                  <a:schemeClr val="accent2"/>
                </a:solidFill>
              </a:rPr>
              <a:t>'))</a:t>
            </a:r>
            <a:r>
              <a:rPr lang="zh-CN" altLang="en-US" sz="2000" dirty="0">
                <a:solidFill>
                  <a:srgbClr val="FF66FF"/>
                </a:solidFill>
              </a:rPr>
              <a:t>，</a:t>
            </a:r>
          </a:p>
          <a:p>
            <a:pPr eaLnBrk="1" hangingPunct="1">
              <a:lnSpc>
                <a:spcPct val="80000"/>
              </a:lnSpc>
              <a:buFont typeface="Wingdings" panose="05000000000000000000" pitchFamily="2" charset="2"/>
              <a:buNone/>
            </a:pPr>
            <a:r>
              <a:rPr lang="zh-CN" altLang="en-US" sz="2000" dirty="0">
                <a:solidFill>
                  <a:srgbClr val="FF66FF"/>
                </a:solidFill>
              </a:rPr>
              <a:t>        </a:t>
            </a:r>
            <a:r>
              <a:rPr lang="en-US" altLang="zh-CN" sz="2000" dirty="0">
                <a:solidFill>
                  <a:srgbClr val="FF66FF"/>
                </a:solidFill>
              </a:rPr>
              <a:t>CONSTRAINT </a:t>
            </a:r>
            <a:r>
              <a:rPr lang="en-US" altLang="zh-CN" sz="2000" dirty="0" err="1">
                <a:solidFill>
                  <a:srgbClr val="FF66FF"/>
                </a:solidFill>
              </a:rPr>
              <a:t>StudentKey</a:t>
            </a:r>
            <a:r>
              <a:rPr lang="en-US" altLang="zh-CN" sz="2000" dirty="0">
                <a:solidFill>
                  <a:srgbClr val="FF66FF"/>
                </a:solidFill>
              </a:rPr>
              <a:t>  </a:t>
            </a:r>
            <a:r>
              <a:rPr lang="en-US" altLang="zh-CN" sz="2000" dirty="0">
                <a:solidFill>
                  <a:schemeClr val="accent2"/>
                </a:solidFill>
              </a:rPr>
              <a:t>PRIMARY KEY(</a:t>
            </a:r>
            <a:r>
              <a:rPr lang="en-US" altLang="zh-CN" sz="2000" dirty="0" err="1">
                <a:solidFill>
                  <a:schemeClr val="accent2"/>
                </a:solidFill>
              </a:rPr>
              <a:t>Sno</a:t>
            </a:r>
            <a:r>
              <a:rPr lang="en-US" altLang="zh-CN" sz="2000" dirty="0">
                <a:solidFill>
                  <a:schemeClr val="accent2"/>
                </a:solidFill>
              </a:rPr>
              <a:t>)</a:t>
            </a:r>
          </a:p>
          <a:p>
            <a:pPr eaLnBrk="1" hangingPunct="1">
              <a:lnSpc>
                <a:spcPct val="80000"/>
              </a:lnSpc>
              <a:buFont typeface="Wingdings" panose="05000000000000000000" pitchFamily="2" charset="2"/>
              <a:buNone/>
            </a:pPr>
            <a:r>
              <a:rPr lang="en-US" altLang="zh-CN" sz="2000" dirty="0"/>
              <a:t>      )</a:t>
            </a:r>
            <a:r>
              <a:rPr lang="zh-CN" altLang="en-US" sz="2000"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7652">
                                            <p:txEl>
                                              <p:pRg st="1" end="1"/>
                                            </p:txEl>
                                          </p:spTgt>
                                        </p:tgtEl>
                                        <p:attrNameLst>
                                          <p:attrName>style.visibility</p:attrName>
                                        </p:attrNameLst>
                                      </p:cBhvr>
                                      <p:to>
                                        <p:strVal val="visible"/>
                                      </p:to>
                                    </p:set>
                                    <p:animEffect transition="in" filter="box(in)">
                                      <p:cBhvr>
                                        <p:cTn id="7" dur="500"/>
                                        <p:tgtEl>
                                          <p:spTgt spid="27652">
                                            <p:txEl>
                                              <p:pRg st="1" end="1"/>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27652">
                                            <p:txEl>
                                              <p:pRg st="2" end="2"/>
                                            </p:txEl>
                                          </p:spTgt>
                                        </p:tgtEl>
                                        <p:attrNameLst>
                                          <p:attrName>style.visibility</p:attrName>
                                        </p:attrNameLst>
                                      </p:cBhvr>
                                      <p:to>
                                        <p:strVal val="visible"/>
                                      </p:to>
                                    </p:set>
                                    <p:animEffect transition="in" filter="box(in)">
                                      <p:cBhvr>
                                        <p:cTn id="10" dur="500"/>
                                        <p:tgtEl>
                                          <p:spTgt spid="27652">
                                            <p:txEl>
                                              <p:pRg st="2" end="2"/>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27652">
                                            <p:txEl>
                                              <p:pRg st="3" end="3"/>
                                            </p:txEl>
                                          </p:spTgt>
                                        </p:tgtEl>
                                        <p:attrNameLst>
                                          <p:attrName>style.visibility</p:attrName>
                                        </p:attrNameLst>
                                      </p:cBhvr>
                                      <p:to>
                                        <p:strVal val="visible"/>
                                      </p:to>
                                    </p:set>
                                    <p:animEffect transition="in" filter="box(in)">
                                      <p:cBhvr>
                                        <p:cTn id="13" dur="500"/>
                                        <p:tgtEl>
                                          <p:spTgt spid="27652">
                                            <p:txEl>
                                              <p:pRg st="3" end="3"/>
                                            </p:txEl>
                                          </p:spTgt>
                                        </p:tgtEl>
                                      </p:cBhvr>
                                    </p:animEffect>
                                  </p:childTnLst>
                                </p:cTn>
                              </p:par>
                              <p:par>
                                <p:cTn id="14" presetID="4" presetClass="entr" presetSubtype="16" fill="hold" nodeType="withEffect">
                                  <p:stCondLst>
                                    <p:cond delay="0"/>
                                  </p:stCondLst>
                                  <p:childTnLst>
                                    <p:set>
                                      <p:cBhvr>
                                        <p:cTn id="15" dur="1" fill="hold">
                                          <p:stCondLst>
                                            <p:cond delay="0"/>
                                          </p:stCondLst>
                                        </p:cTn>
                                        <p:tgtEl>
                                          <p:spTgt spid="27652">
                                            <p:txEl>
                                              <p:pRg st="4" end="4"/>
                                            </p:txEl>
                                          </p:spTgt>
                                        </p:tgtEl>
                                        <p:attrNameLst>
                                          <p:attrName>style.visibility</p:attrName>
                                        </p:attrNameLst>
                                      </p:cBhvr>
                                      <p:to>
                                        <p:strVal val="visible"/>
                                      </p:to>
                                    </p:set>
                                    <p:animEffect transition="in" filter="box(in)">
                                      <p:cBhvr>
                                        <p:cTn id="16" dur="500"/>
                                        <p:tgtEl>
                                          <p:spTgt spid="27652">
                                            <p:txEl>
                                              <p:pRg st="4" end="4"/>
                                            </p:txEl>
                                          </p:spTgt>
                                        </p:tgtEl>
                                      </p:cBhvr>
                                    </p:animEffect>
                                  </p:childTnLst>
                                </p:cTn>
                              </p:par>
                              <p:par>
                                <p:cTn id="17" presetID="4" presetClass="entr" presetSubtype="16" fill="hold" nodeType="withEffect">
                                  <p:stCondLst>
                                    <p:cond delay="0"/>
                                  </p:stCondLst>
                                  <p:childTnLst>
                                    <p:set>
                                      <p:cBhvr>
                                        <p:cTn id="18" dur="1" fill="hold">
                                          <p:stCondLst>
                                            <p:cond delay="0"/>
                                          </p:stCondLst>
                                        </p:cTn>
                                        <p:tgtEl>
                                          <p:spTgt spid="27652">
                                            <p:txEl>
                                              <p:pRg st="5" end="5"/>
                                            </p:txEl>
                                          </p:spTgt>
                                        </p:tgtEl>
                                        <p:attrNameLst>
                                          <p:attrName>style.visibility</p:attrName>
                                        </p:attrNameLst>
                                      </p:cBhvr>
                                      <p:to>
                                        <p:strVal val="visible"/>
                                      </p:to>
                                    </p:set>
                                    <p:animEffect transition="in" filter="box(in)">
                                      <p:cBhvr>
                                        <p:cTn id="19" dur="500"/>
                                        <p:tgtEl>
                                          <p:spTgt spid="27652">
                                            <p:txEl>
                                              <p:pRg st="5" end="5"/>
                                            </p:txEl>
                                          </p:spTgt>
                                        </p:tgtEl>
                                      </p:cBhvr>
                                    </p:animEffect>
                                  </p:childTnLst>
                                </p:cTn>
                              </p:par>
                              <p:par>
                                <p:cTn id="20" presetID="4" presetClass="entr" presetSubtype="16" fill="hold" nodeType="withEffect">
                                  <p:stCondLst>
                                    <p:cond delay="0"/>
                                  </p:stCondLst>
                                  <p:childTnLst>
                                    <p:set>
                                      <p:cBhvr>
                                        <p:cTn id="21" dur="1" fill="hold">
                                          <p:stCondLst>
                                            <p:cond delay="0"/>
                                          </p:stCondLst>
                                        </p:cTn>
                                        <p:tgtEl>
                                          <p:spTgt spid="27652">
                                            <p:txEl>
                                              <p:pRg st="6" end="6"/>
                                            </p:txEl>
                                          </p:spTgt>
                                        </p:tgtEl>
                                        <p:attrNameLst>
                                          <p:attrName>style.visibility</p:attrName>
                                        </p:attrNameLst>
                                      </p:cBhvr>
                                      <p:to>
                                        <p:strVal val="visible"/>
                                      </p:to>
                                    </p:set>
                                    <p:animEffect transition="in" filter="box(in)">
                                      <p:cBhvr>
                                        <p:cTn id="22" dur="500"/>
                                        <p:tgtEl>
                                          <p:spTgt spid="27652">
                                            <p:txEl>
                                              <p:pRg st="6" end="6"/>
                                            </p:txEl>
                                          </p:spTgt>
                                        </p:tgtEl>
                                      </p:cBhvr>
                                    </p:animEffect>
                                  </p:childTnLst>
                                </p:cTn>
                              </p:par>
                              <p:par>
                                <p:cTn id="23" presetID="4" presetClass="entr" presetSubtype="16" fill="hold" nodeType="withEffect">
                                  <p:stCondLst>
                                    <p:cond delay="0"/>
                                  </p:stCondLst>
                                  <p:childTnLst>
                                    <p:set>
                                      <p:cBhvr>
                                        <p:cTn id="24" dur="1" fill="hold">
                                          <p:stCondLst>
                                            <p:cond delay="0"/>
                                          </p:stCondLst>
                                        </p:cTn>
                                        <p:tgtEl>
                                          <p:spTgt spid="27652">
                                            <p:txEl>
                                              <p:pRg st="7" end="7"/>
                                            </p:txEl>
                                          </p:spTgt>
                                        </p:tgtEl>
                                        <p:attrNameLst>
                                          <p:attrName>style.visibility</p:attrName>
                                        </p:attrNameLst>
                                      </p:cBhvr>
                                      <p:to>
                                        <p:strVal val="visible"/>
                                      </p:to>
                                    </p:set>
                                    <p:animEffect transition="in" filter="box(in)">
                                      <p:cBhvr>
                                        <p:cTn id="25" dur="500"/>
                                        <p:tgtEl>
                                          <p:spTgt spid="27652">
                                            <p:txEl>
                                              <p:pRg st="7" end="7"/>
                                            </p:txEl>
                                          </p:spTgt>
                                        </p:tgtEl>
                                      </p:cBhvr>
                                    </p:animEffect>
                                  </p:childTnLst>
                                </p:cTn>
                              </p:par>
                              <p:par>
                                <p:cTn id="26" presetID="4" presetClass="entr" presetSubtype="16" fill="hold" nodeType="withEffect">
                                  <p:stCondLst>
                                    <p:cond delay="0"/>
                                  </p:stCondLst>
                                  <p:childTnLst>
                                    <p:set>
                                      <p:cBhvr>
                                        <p:cTn id="27" dur="1" fill="hold">
                                          <p:stCondLst>
                                            <p:cond delay="0"/>
                                          </p:stCondLst>
                                        </p:cTn>
                                        <p:tgtEl>
                                          <p:spTgt spid="27652">
                                            <p:txEl>
                                              <p:pRg st="8" end="8"/>
                                            </p:txEl>
                                          </p:spTgt>
                                        </p:tgtEl>
                                        <p:attrNameLst>
                                          <p:attrName>style.visibility</p:attrName>
                                        </p:attrNameLst>
                                      </p:cBhvr>
                                      <p:to>
                                        <p:strVal val="visible"/>
                                      </p:to>
                                    </p:set>
                                    <p:animEffect transition="in" filter="box(in)">
                                      <p:cBhvr>
                                        <p:cTn id="28" dur="500"/>
                                        <p:tgtEl>
                                          <p:spTgt spid="27652">
                                            <p:txEl>
                                              <p:pRg st="8" end="8"/>
                                            </p:txEl>
                                          </p:spTgt>
                                        </p:tgtEl>
                                      </p:cBhvr>
                                    </p:animEffect>
                                  </p:childTnLst>
                                </p:cTn>
                              </p:par>
                              <p:par>
                                <p:cTn id="29" presetID="4" presetClass="entr" presetSubtype="16" fill="hold" nodeType="withEffect">
                                  <p:stCondLst>
                                    <p:cond delay="0"/>
                                  </p:stCondLst>
                                  <p:childTnLst>
                                    <p:set>
                                      <p:cBhvr>
                                        <p:cTn id="30" dur="1" fill="hold">
                                          <p:stCondLst>
                                            <p:cond delay="0"/>
                                          </p:stCondLst>
                                        </p:cTn>
                                        <p:tgtEl>
                                          <p:spTgt spid="27652">
                                            <p:txEl>
                                              <p:pRg st="9" end="9"/>
                                            </p:txEl>
                                          </p:spTgt>
                                        </p:tgtEl>
                                        <p:attrNameLst>
                                          <p:attrName>style.visibility</p:attrName>
                                        </p:attrNameLst>
                                      </p:cBhvr>
                                      <p:to>
                                        <p:strVal val="visible"/>
                                      </p:to>
                                    </p:set>
                                    <p:animEffect transition="in" filter="box(in)">
                                      <p:cBhvr>
                                        <p:cTn id="31" dur="500"/>
                                        <p:tgtEl>
                                          <p:spTgt spid="27652">
                                            <p:txEl>
                                              <p:pRg st="9" end="9"/>
                                            </p:txEl>
                                          </p:spTgt>
                                        </p:tgtEl>
                                      </p:cBhvr>
                                    </p:animEffect>
                                  </p:childTnLst>
                                </p:cTn>
                              </p:par>
                              <p:par>
                                <p:cTn id="32" presetID="4" presetClass="entr" presetSubtype="16" fill="hold" nodeType="withEffect">
                                  <p:stCondLst>
                                    <p:cond delay="0"/>
                                  </p:stCondLst>
                                  <p:childTnLst>
                                    <p:set>
                                      <p:cBhvr>
                                        <p:cTn id="33" dur="1" fill="hold">
                                          <p:stCondLst>
                                            <p:cond delay="0"/>
                                          </p:stCondLst>
                                        </p:cTn>
                                        <p:tgtEl>
                                          <p:spTgt spid="27652">
                                            <p:txEl>
                                              <p:pRg st="10" end="10"/>
                                            </p:txEl>
                                          </p:spTgt>
                                        </p:tgtEl>
                                        <p:attrNameLst>
                                          <p:attrName>style.visibility</p:attrName>
                                        </p:attrNameLst>
                                      </p:cBhvr>
                                      <p:to>
                                        <p:strVal val="visible"/>
                                      </p:to>
                                    </p:set>
                                    <p:animEffect transition="in" filter="box(in)">
                                      <p:cBhvr>
                                        <p:cTn id="34" dur="500"/>
                                        <p:tgtEl>
                                          <p:spTgt spid="27652">
                                            <p:txEl>
                                              <p:pRg st="10" end="10"/>
                                            </p:txEl>
                                          </p:spTgt>
                                        </p:tgtEl>
                                      </p:cBhvr>
                                    </p:animEffect>
                                  </p:childTnLst>
                                </p:cTn>
                              </p:par>
                              <p:par>
                                <p:cTn id="35" presetID="4" presetClass="entr" presetSubtype="16" fill="hold" nodeType="withEffect">
                                  <p:stCondLst>
                                    <p:cond delay="0"/>
                                  </p:stCondLst>
                                  <p:childTnLst>
                                    <p:set>
                                      <p:cBhvr>
                                        <p:cTn id="36" dur="1" fill="hold">
                                          <p:stCondLst>
                                            <p:cond delay="0"/>
                                          </p:stCondLst>
                                        </p:cTn>
                                        <p:tgtEl>
                                          <p:spTgt spid="27652">
                                            <p:txEl>
                                              <p:pRg st="11" end="11"/>
                                            </p:txEl>
                                          </p:spTgt>
                                        </p:tgtEl>
                                        <p:attrNameLst>
                                          <p:attrName>style.visibility</p:attrName>
                                        </p:attrNameLst>
                                      </p:cBhvr>
                                      <p:to>
                                        <p:strVal val="visible"/>
                                      </p:to>
                                    </p:set>
                                    <p:animEffect transition="in" filter="box(in)">
                                      <p:cBhvr>
                                        <p:cTn id="37" dur="500"/>
                                        <p:tgtEl>
                                          <p:spTgt spid="27652">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1185545" y="188640"/>
            <a:ext cx="7886700" cy="1325562"/>
          </a:xfrm>
        </p:spPr>
        <p:txBody>
          <a:bodyPr/>
          <a:lstStyle/>
          <a:p>
            <a:pPr eaLnBrk="1" hangingPunct="1"/>
            <a:r>
              <a:rPr lang="zh-CN" altLang="en-US" sz="3600" dirty="0">
                <a:latin typeface="宋体" panose="02010600030101010101" pitchFamily="2" charset="-122"/>
                <a:ea typeface="宋体" panose="02010600030101010101" pitchFamily="2" charset="-122"/>
                <a:cs typeface="宋体" panose="02010600030101010101" pitchFamily="2" charset="-122"/>
              </a:rPr>
              <a:t>完整性约束命名子句</a:t>
            </a:r>
            <a:r>
              <a:rPr lang="en-US" altLang="zh-CN" sz="3600" dirty="0">
                <a:latin typeface="宋体" panose="02010600030101010101" pitchFamily="2" charset="-122"/>
                <a:ea typeface="宋体" panose="02010600030101010101" pitchFamily="2" charset="-122"/>
                <a:cs typeface="宋体" panose="02010600030101010101" pitchFamily="2" charset="-122"/>
              </a:rPr>
              <a:t>(</a:t>
            </a:r>
            <a:r>
              <a:rPr lang="zh-CN" altLang="en-US" sz="3600" dirty="0">
                <a:latin typeface="宋体" panose="02010600030101010101" pitchFamily="2" charset="-122"/>
                <a:ea typeface="宋体" panose="02010600030101010101" pitchFamily="2" charset="-122"/>
                <a:cs typeface="宋体" panose="02010600030101010101" pitchFamily="2" charset="-122"/>
              </a:rPr>
              <a:t>续</a:t>
            </a:r>
            <a:r>
              <a:rPr lang="en-US" altLang="zh-CN" sz="3600" dirty="0">
                <a:latin typeface="宋体" panose="02010600030101010101" pitchFamily="2" charset="-122"/>
                <a:ea typeface="宋体" panose="02010600030101010101" pitchFamily="2" charset="-122"/>
                <a:cs typeface="宋体" panose="02010600030101010101" pitchFamily="2" charset="-122"/>
              </a:rPr>
              <a:t>)</a:t>
            </a:r>
          </a:p>
        </p:txBody>
      </p:sp>
      <p:sp>
        <p:nvSpPr>
          <p:cNvPr id="40963" name="Rectangle 3"/>
          <p:cNvSpPr>
            <a:spLocks noGrp="1" noChangeArrowheads="1"/>
          </p:cNvSpPr>
          <p:nvPr>
            <p:ph idx="1"/>
          </p:nvPr>
        </p:nvSpPr>
        <p:spPr>
          <a:xfrm>
            <a:off x="88900" y="1628775"/>
            <a:ext cx="8964613" cy="4114800"/>
          </a:xfrm>
        </p:spPr>
        <p:txBody>
          <a:bodyPr/>
          <a:lstStyle/>
          <a:p>
            <a:pPr eaLnBrk="1" hangingPunct="1">
              <a:lnSpc>
                <a:spcPct val="160000"/>
              </a:lnSpc>
            </a:pPr>
            <a:r>
              <a:rPr lang="en-US" altLang="zh-CN" sz="3600" b="1"/>
              <a:t>2. </a:t>
            </a:r>
            <a:r>
              <a:rPr lang="zh-CN" altLang="en-US" sz="3600" b="1"/>
              <a:t>修改表中的完整性限制</a:t>
            </a:r>
          </a:p>
          <a:p>
            <a:pPr lvl="1" eaLnBrk="1" hangingPunct="1">
              <a:lnSpc>
                <a:spcPct val="160000"/>
              </a:lnSpc>
            </a:pPr>
            <a:r>
              <a:rPr lang="zh-CN" altLang="en-US" sz="3200"/>
              <a:t>使用</a:t>
            </a:r>
            <a:r>
              <a:rPr lang="en-US" altLang="zh-CN" sz="3200"/>
              <a:t>ALTER TABLE</a:t>
            </a:r>
            <a:r>
              <a:rPr lang="zh-CN" altLang="en-US" sz="3200"/>
              <a:t>语句修改表中的完整性限制</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41986" name="图片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169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7" name="Rectangle 2"/>
          <p:cNvSpPr>
            <a:spLocks noGrp="1" noChangeArrowheads="1"/>
          </p:cNvSpPr>
          <p:nvPr>
            <p:ph type="title" idx="4294967295"/>
          </p:nvPr>
        </p:nvSpPr>
        <p:spPr>
          <a:xfrm>
            <a:off x="1207453" y="260648"/>
            <a:ext cx="7793037" cy="1143000"/>
          </a:xfrm>
        </p:spPr>
        <p:txBody>
          <a:bodyPr/>
          <a:lstStyle/>
          <a:p>
            <a:pPr eaLnBrk="1" hangingPunct="1"/>
            <a:r>
              <a:rPr lang="zh-CN" altLang="en-US" sz="3600" dirty="0">
                <a:latin typeface="宋体" panose="02010600030101010101" pitchFamily="2" charset="-122"/>
                <a:ea typeface="宋体" panose="02010600030101010101" pitchFamily="2" charset="-122"/>
              </a:rPr>
              <a:t>二、修改基本表</a:t>
            </a:r>
          </a:p>
        </p:txBody>
      </p:sp>
      <p:sp>
        <p:nvSpPr>
          <p:cNvPr id="41988" name="Rectangle 3"/>
          <p:cNvSpPr>
            <a:spLocks noGrp="1" noChangeArrowheads="1"/>
          </p:cNvSpPr>
          <p:nvPr>
            <p:ph type="body" idx="4294967295"/>
          </p:nvPr>
        </p:nvSpPr>
        <p:spPr>
          <a:xfrm>
            <a:off x="250825" y="1628775"/>
            <a:ext cx="8785225" cy="3959225"/>
          </a:xfrm>
        </p:spPr>
        <p:txBody>
          <a:bodyPr/>
          <a:lstStyle/>
          <a:p>
            <a:pPr eaLnBrk="1" hangingPunct="1">
              <a:lnSpc>
                <a:spcPct val="150000"/>
              </a:lnSpc>
              <a:buFont typeface="Wingdings" panose="05000000000000000000" pitchFamily="2" charset="2"/>
              <a:buNone/>
            </a:pPr>
            <a:r>
              <a:rPr lang="en-US" altLang="zh-CN" sz="2400" b="1"/>
              <a:t>ALTER TABLE </a:t>
            </a:r>
            <a:r>
              <a:rPr lang="en-US" altLang="zh-CN" sz="2400"/>
              <a:t>&lt;</a:t>
            </a:r>
            <a:r>
              <a:rPr lang="zh-CN" altLang="en-US" sz="2400"/>
              <a:t>表名</a:t>
            </a:r>
            <a:r>
              <a:rPr lang="en-US" altLang="zh-CN" sz="2400"/>
              <a:t>&gt;</a:t>
            </a:r>
          </a:p>
          <a:p>
            <a:pPr marL="0" lvl="2" indent="0" eaLnBrk="1" hangingPunct="1">
              <a:lnSpc>
                <a:spcPct val="150000"/>
              </a:lnSpc>
              <a:buClr>
                <a:schemeClr val="hlink"/>
              </a:buClr>
              <a:buFont typeface="Arial" panose="020B0604020202020204" pitchFamily="34" charset="0"/>
              <a:buNone/>
            </a:pPr>
            <a:r>
              <a:rPr lang="en-US" altLang="zh-CN" sz="2200"/>
              <a:t>[ </a:t>
            </a:r>
            <a:r>
              <a:rPr lang="en-US" altLang="zh-CN" sz="2200" b="1"/>
              <a:t>ADD</a:t>
            </a:r>
            <a:r>
              <a:rPr lang="en-US" altLang="zh-CN" sz="2200"/>
              <a:t> [COLUMN] &lt;</a:t>
            </a:r>
            <a:r>
              <a:rPr lang="zh-CN" altLang="en-US" sz="2200"/>
              <a:t>新列名</a:t>
            </a:r>
            <a:r>
              <a:rPr lang="en-US" altLang="zh-CN" sz="2200"/>
              <a:t>&gt; &lt;</a:t>
            </a:r>
            <a:r>
              <a:rPr lang="zh-CN" altLang="en-US" sz="2200"/>
              <a:t>数据类型</a:t>
            </a:r>
            <a:r>
              <a:rPr lang="en-US" altLang="zh-CN" sz="2200"/>
              <a:t>&gt; [ </a:t>
            </a:r>
            <a:r>
              <a:rPr lang="zh-CN" altLang="en-US" sz="2200"/>
              <a:t>完整性约束 </a:t>
            </a:r>
            <a:r>
              <a:rPr lang="en-US" altLang="zh-CN" sz="2200"/>
              <a:t>] ]</a:t>
            </a:r>
          </a:p>
          <a:p>
            <a:pPr eaLnBrk="1" hangingPunct="1">
              <a:lnSpc>
                <a:spcPct val="150000"/>
              </a:lnSpc>
              <a:buFont typeface="Wingdings" panose="05000000000000000000" pitchFamily="2" charset="2"/>
              <a:buNone/>
            </a:pPr>
            <a:r>
              <a:rPr lang="en-US" altLang="zh-CN" sz="2200"/>
              <a:t>[</a:t>
            </a:r>
            <a:r>
              <a:rPr lang="en-US" altLang="zh-CN" sz="2200" b="1"/>
              <a:t> ADD </a:t>
            </a:r>
            <a:r>
              <a:rPr lang="en-US" altLang="zh-CN" sz="2200"/>
              <a:t>&lt;</a:t>
            </a:r>
            <a:r>
              <a:rPr lang="zh-CN" altLang="en-US" sz="2200"/>
              <a:t>表级完整性约束</a:t>
            </a:r>
            <a:r>
              <a:rPr lang="en-US" altLang="zh-CN" sz="2200"/>
              <a:t>&gt;]</a:t>
            </a:r>
            <a:endParaRPr lang="en-US" altLang="zh-CN" sz="1800"/>
          </a:p>
          <a:p>
            <a:pPr eaLnBrk="1" hangingPunct="1">
              <a:lnSpc>
                <a:spcPct val="150000"/>
              </a:lnSpc>
              <a:buFont typeface="Wingdings" panose="05000000000000000000" pitchFamily="2" charset="2"/>
              <a:buNone/>
            </a:pPr>
            <a:r>
              <a:rPr lang="en-US" altLang="zh-CN" sz="2200"/>
              <a:t>[ </a:t>
            </a:r>
            <a:r>
              <a:rPr lang="en-US" altLang="zh-CN" sz="2200" b="1"/>
              <a:t>DROP</a:t>
            </a:r>
            <a:r>
              <a:rPr lang="en-US" altLang="zh-CN" sz="2200"/>
              <a:t> [COLUMN ] &lt;</a:t>
            </a:r>
            <a:r>
              <a:rPr lang="zh-CN" altLang="en-US" sz="2200"/>
              <a:t>列名</a:t>
            </a:r>
            <a:r>
              <a:rPr lang="en-US" altLang="zh-CN" sz="2200"/>
              <a:t>&gt; [CASCADE | RESTRICT] ]</a:t>
            </a:r>
            <a:endParaRPr lang="en-US" altLang="zh-CN" sz="1800"/>
          </a:p>
          <a:p>
            <a:pPr eaLnBrk="1" hangingPunct="1">
              <a:lnSpc>
                <a:spcPct val="150000"/>
              </a:lnSpc>
              <a:buFont typeface="Wingdings" panose="05000000000000000000" pitchFamily="2" charset="2"/>
              <a:buNone/>
            </a:pPr>
            <a:r>
              <a:rPr lang="en-US" altLang="zh-CN" sz="2200"/>
              <a:t>[ </a:t>
            </a:r>
            <a:r>
              <a:rPr lang="en-US" altLang="zh-CN" sz="2200" b="1"/>
              <a:t>DROP</a:t>
            </a:r>
            <a:r>
              <a:rPr lang="en-US" altLang="zh-CN" sz="2200"/>
              <a:t> CONSTRAINT&lt;</a:t>
            </a:r>
            <a:r>
              <a:rPr lang="zh-CN" altLang="en-US" sz="2200"/>
              <a:t>完整性约束名</a:t>
            </a:r>
            <a:r>
              <a:rPr lang="en-US" altLang="zh-CN" sz="2200"/>
              <a:t>&gt; [RESTRICT | CASCADE ]</a:t>
            </a:r>
            <a:r>
              <a:rPr lang="en-US" altLang="zh-CN" sz="2400"/>
              <a:t> ]</a:t>
            </a:r>
            <a:endParaRPr lang="en-US" altLang="zh-CN" sz="2000"/>
          </a:p>
          <a:p>
            <a:pPr eaLnBrk="1" hangingPunct="1">
              <a:lnSpc>
                <a:spcPct val="150000"/>
              </a:lnSpc>
              <a:buFont typeface="Wingdings" panose="05000000000000000000" pitchFamily="2" charset="2"/>
              <a:buNone/>
            </a:pPr>
            <a:r>
              <a:rPr lang="en-US" altLang="zh-CN" sz="2200"/>
              <a:t>[</a:t>
            </a:r>
            <a:r>
              <a:rPr lang="en-US" altLang="zh-CN" sz="2200" b="1"/>
              <a:t>ALTER</a:t>
            </a:r>
            <a:r>
              <a:rPr lang="en-US" altLang="zh-CN" sz="2200"/>
              <a:t> COLUMN &lt;</a:t>
            </a:r>
            <a:r>
              <a:rPr lang="zh-CN" altLang="en-US" sz="2200"/>
              <a:t>列名</a:t>
            </a:r>
            <a:r>
              <a:rPr lang="en-US" altLang="zh-CN" sz="2200"/>
              <a:t>&gt;&lt;</a:t>
            </a:r>
            <a:r>
              <a:rPr lang="zh-CN" altLang="en-US" sz="2200"/>
              <a:t>数据类型</a:t>
            </a:r>
            <a:r>
              <a:rPr lang="en-US" altLang="zh-CN" sz="2200"/>
              <a:t>&gt;</a:t>
            </a:r>
            <a:r>
              <a:rPr lang="en-US" altLang="zh-CN" sz="2400"/>
              <a:t> ] </a:t>
            </a:r>
            <a:r>
              <a:rPr lang="zh-CN" altLang="en-US" sz="2200"/>
              <a: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1187450" y="260648"/>
            <a:ext cx="7793038" cy="1143000"/>
          </a:xfrm>
        </p:spPr>
        <p:txBody>
          <a:bodyPr/>
          <a:lstStyle/>
          <a:p>
            <a:pPr eaLnBrk="1" hangingPunct="1"/>
            <a:r>
              <a:rPr lang="zh-CN" altLang="en-US" sz="3600" dirty="0">
                <a:latin typeface="宋体" panose="02010600030101010101" pitchFamily="2" charset="-122"/>
                <a:ea typeface="宋体" panose="02010600030101010101" pitchFamily="2" charset="-122"/>
                <a:cs typeface="宋体" panose="02010600030101010101" pitchFamily="2" charset="-122"/>
              </a:rPr>
              <a:t>完整性约束命名子句</a:t>
            </a:r>
            <a:r>
              <a:rPr lang="en-US" altLang="zh-CN" sz="3600" dirty="0">
                <a:latin typeface="宋体" panose="02010600030101010101" pitchFamily="2" charset="-122"/>
                <a:ea typeface="宋体" panose="02010600030101010101" pitchFamily="2" charset="-122"/>
                <a:cs typeface="宋体" panose="02010600030101010101" pitchFamily="2" charset="-122"/>
              </a:rPr>
              <a:t>(</a:t>
            </a:r>
            <a:r>
              <a:rPr lang="zh-CN" altLang="en-US" sz="3600" dirty="0">
                <a:latin typeface="宋体" panose="02010600030101010101" pitchFamily="2" charset="-122"/>
                <a:ea typeface="宋体" panose="02010600030101010101" pitchFamily="2" charset="-122"/>
                <a:cs typeface="宋体" panose="02010600030101010101" pitchFamily="2" charset="-122"/>
              </a:rPr>
              <a:t>续</a:t>
            </a:r>
            <a:r>
              <a:rPr lang="en-US" altLang="zh-CN" sz="3600" dirty="0">
                <a:latin typeface="宋体" panose="02010600030101010101" pitchFamily="2" charset="-122"/>
                <a:ea typeface="宋体" panose="02010600030101010101" pitchFamily="2" charset="-122"/>
                <a:cs typeface="宋体" panose="02010600030101010101" pitchFamily="2" charset="-122"/>
              </a:rPr>
              <a:t>)</a:t>
            </a:r>
          </a:p>
        </p:txBody>
      </p:sp>
      <p:sp>
        <p:nvSpPr>
          <p:cNvPr id="29700" name="Rectangle 3"/>
          <p:cNvSpPr>
            <a:spLocks noGrp="1" noChangeArrowheads="1"/>
          </p:cNvSpPr>
          <p:nvPr>
            <p:ph idx="1"/>
          </p:nvPr>
        </p:nvSpPr>
        <p:spPr>
          <a:xfrm>
            <a:off x="0" y="1628775"/>
            <a:ext cx="9144000" cy="5040313"/>
          </a:xfrm>
        </p:spPr>
        <p:txBody>
          <a:bodyPr/>
          <a:lstStyle/>
          <a:p>
            <a:pPr eaLnBrk="1" hangingPunct="1">
              <a:buFont typeface="Wingdings" panose="05000000000000000000" pitchFamily="2" charset="2"/>
              <a:buNone/>
            </a:pPr>
            <a:r>
              <a:rPr lang="zh-CN" altLang="en-US" sz="2000"/>
              <a:t>［例</a:t>
            </a:r>
            <a:r>
              <a:rPr lang="en-US" altLang="zh-CN" sz="2000"/>
              <a:t>6</a:t>
            </a:r>
            <a:r>
              <a:rPr lang="zh-CN" altLang="en-US" sz="2000"/>
              <a:t>］  修改表</a:t>
            </a:r>
            <a:r>
              <a:rPr lang="en-US" altLang="zh-CN" sz="2000"/>
              <a:t>Student</a:t>
            </a:r>
            <a:r>
              <a:rPr lang="zh-CN" altLang="en-US" sz="2000"/>
              <a:t>中的约束条件，要求学号改为在</a:t>
            </a:r>
            <a:r>
              <a:rPr lang="en-US" altLang="zh-CN" sz="2000"/>
              <a:t>900000~999999</a:t>
            </a:r>
            <a:r>
              <a:rPr lang="zh-CN" altLang="en-US" sz="2000"/>
              <a:t>之间，年龄由小于</a:t>
            </a:r>
            <a:r>
              <a:rPr lang="en-US" altLang="zh-CN" sz="2000"/>
              <a:t>30</a:t>
            </a:r>
            <a:r>
              <a:rPr lang="zh-CN" altLang="en-US" sz="2000"/>
              <a:t>改为小于</a:t>
            </a:r>
            <a:r>
              <a:rPr lang="en-US" altLang="zh-CN" sz="2000"/>
              <a:t>40</a:t>
            </a:r>
          </a:p>
          <a:p>
            <a:pPr lvl="1" eaLnBrk="1" hangingPunct="1"/>
            <a:r>
              <a:rPr lang="zh-CN" altLang="en-US" sz="2000">
                <a:solidFill>
                  <a:srgbClr val="3333FF"/>
                </a:solidFill>
              </a:rPr>
              <a:t>可以先删除原来的约束条件，再增加新的约束条件</a:t>
            </a:r>
          </a:p>
          <a:p>
            <a:pPr eaLnBrk="1" hangingPunct="1">
              <a:buFont typeface="Wingdings" panose="05000000000000000000" pitchFamily="2" charset="2"/>
              <a:buNone/>
            </a:pPr>
            <a:r>
              <a:rPr lang="zh-CN" altLang="en-US" sz="2000"/>
              <a:t>      </a:t>
            </a:r>
            <a:r>
              <a:rPr lang="en-US" altLang="zh-CN" sz="2000">
                <a:solidFill>
                  <a:srgbClr val="72BE2C"/>
                </a:solidFill>
              </a:rPr>
              <a:t>ALTER TABLE Student</a:t>
            </a:r>
          </a:p>
          <a:p>
            <a:pPr eaLnBrk="1" hangingPunct="1">
              <a:buFont typeface="Wingdings" panose="05000000000000000000" pitchFamily="2" charset="2"/>
              <a:buNone/>
            </a:pPr>
            <a:r>
              <a:rPr lang="en-US" altLang="zh-CN" sz="2000">
                <a:solidFill>
                  <a:srgbClr val="72BE2C"/>
                </a:solidFill>
              </a:rPr>
              <a:t>        DROP CONSTRAINT C1;</a:t>
            </a:r>
          </a:p>
          <a:p>
            <a:pPr eaLnBrk="1" hangingPunct="1">
              <a:buFont typeface="Wingdings" panose="05000000000000000000" pitchFamily="2" charset="2"/>
              <a:buNone/>
            </a:pPr>
            <a:r>
              <a:rPr lang="en-US" altLang="zh-CN" sz="2000"/>
              <a:t>        </a:t>
            </a:r>
            <a:r>
              <a:rPr lang="en-US" altLang="zh-CN" sz="2000">
                <a:solidFill>
                  <a:srgbClr val="FF00FF"/>
                </a:solidFill>
              </a:rPr>
              <a:t>ALTER TABLE Student</a:t>
            </a:r>
          </a:p>
          <a:p>
            <a:pPr eaLnBrk="1" hangingPunct="1">
              <a:buFont typeface="Wingdings" panose="05000000000000000000" pitchFamily="2" charset="2"/>
              <a:buNone/>
            </a:pPr>
            <a:r>
              <a:rPr lang="en-US" altLang="zh-CN" sz="2000">
                <a:solidFill>
                  <a:srgbClr val="FF00FF"/>
                </a:solidFill>
              </a:rPr>
              <a:t>        ADD CONSTRAINT C1 CHECK (Sno BETWEEN 900000 AND 999999)</a:t>
            </a:r>
            <a:r>
              <a:rPr lang="zh-CN" altLang="en-US" sz="2000">
                <a:solidFill>
                  <a:srgbClr val="FF00FF"/>
                </a:solidFill>
              </a:rPr>
              <a:t>，</a:t>
            </a:r>
          </a:p>
          <a:p>
            <a:pPr eaLnBrk="1" hangingPunct="1">
              <a:buFont typeface="Wingdings" panose="05000000000000000000" pitchFamily="2" charset="2"/>
              <a:buNone/>
            </a:pPr>
            <a:r>
              <a:rPr lang="zh-CN" altLang="en-US" sz="2000"/>
              <a:t>        </a:t>
            </a:r>
            <a:r>
              <a:rPr lang="en-US" altLang="zh-CN" sz="2000">
                <a:solidFill>
                  <a:srgbClr val="72BE2C"/>
                </a:solidFill>
              </a:rPr>
              <a:t>ALTER TABLE Student</a:t>
            </a:r>
          </a:p>
          <a:p>
            <a:pPr eaLnBrk="1" hangingPunct="1">
              <a:buFont typeface="Wingdings" panose="05000000000000000000" pitchFamily="2" charset="2"/>
              <a:buNone/>
            </a:pPr>
            <a:r>
              <a:rPr lang="en-US" altLang="zh-CN" sz="2000">
                <a:solidFill>
                  <a:srgbClr val="72BE2C"/>
                </a:solidFill>
              </a:rPr>
              <a:t>        DROP CONSTRAINT C3;</a:t>
            </a:r>
          </a:p>
          <a:p>
            <a:pPr eaLnBrk="1" hangingPunct="1">
              <a:buFont typeface="Wingdings" panose="05000000000000000000" pitchFamily="2" charset="2"/>
              <a:buNone/>
            </a:pPr>
            <a:r>
              <a:rPr lang="en-US" altLang="zh-CN" sz="2000"/>
              <a:t>        </a:t>
            </a:r>
            <a:r>
              <a:rPr lang="en-US" altLang="zh-CN" sz="2000">
                <a:solidFill>
                  <a:srgbClr val="FF00FF"/>
                </a:solidFill>
              </a:rPr>
              <a:t>ALTER TABLE Student</a:t>
            </a:r>
          </a:p>
          <a:p>
            <a:pPr eaLnBrk="1" hangingPunct="1">
              <a:buFont typeface="Wingdings" panose="05000000000000000000" pitchFamily="2" charset="2"/>
              <a:buNone/>
            </a:pPr>
            <a:r>
              <a:rPr lang="en-US" altLang="zh-CN" sz="2000">
                <a:solidFill>
                  <a:srgbClr val="FF00FF"/>
                </a:solidFill>
              </a:rPr>
              <a:t>        ADD CONSTRAINT C3 CHECK (Sage &lt; 40)</a:t>
            </a:r>
            <a:r>
              <a:rPr lang="zh-CN" altLang="en-US" sz="2000">
                <a:solidFill>
                  <a:srgbClr val="FF00FF"/>
                </a:solidFill>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9700">
                                            <p:txEl>
                                              <p:pRg st="1" end="1"/>
                                            </p:txEl>
                                          </p:spTgt>
                                        </p:tgtEl>
                                        <p:attrNameLst>
                                          <p:attrName>style.visibility</p:attrName>
                                        </p:attrNameLst>
                                      </p:cBhvr>
                                      <p:to>
                                        <p:strVal val="visible"/>
                                      </p:to>
                                    </p:set>
                                    <p:animEffect transition="in" filter="box(in)">
                                      <p:cBhvr>
                                        <p:cTn id="7" dur="500"/>
                                        <p:tgtEl>
                                          <p:spTgt spid="2970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9700">
                                            <p:txEl>
                                              <p:pRg st="2" end="2"/>
                                            </p:txEl>
                                          </p:spTgt>
                                        </p:tgtEl>
                                        <p:attrNameLst>
                                          <p:attrName>style.visibility</p:attrName>
                                        </p:attrNameLst>
                                      </p:cBhvr>
                                      <p:to>
                                        <p:strVal val="visible"/>
                                      </p:to>
                                    </p:set>
                                    <p:animEffect transition="in" filter="box(in)">
                                      <p:cBhvr>
                                        <p:cTn id="12" dur="500"/>
                                        <p:tgtEl>
                                          <p:spTgt spid="29700">
                                            <p:txEl>
                                              <p:pRg st="2" end="2"/>
                                            </p:txEl>
                                          </p:spTgt>
                                        </p:tgtEl>
                                      </p:cBhvr>
                                    </p:animEffect>
                                  </p:childTnLst>
                                </p:cTn>
                              </p:par>
                              <p:par>
                                <p:cTn id="13" presetID="4" presetClass="entr" presetSubtype="16" fill="hold" nodeType="withEffect">
                                  <p:stCondLst>
                                    <p:cond delay="0"/>
                                  </p:stCondLst>
                                  <p:childTnLst>
                                    <p:set>
                                      <p:cBhvr>
                                        <p:cTn id="14" dur="1" fill="hold">
                                          <p:stCondLst>
                                            <p:cond delay="0"/>
                                          </p:stCondLst>
                                        </p:cTn>
                                        <p:tgtEl>
                                          <p:spTgt spid="29700">
                                            <p:txEl>
                                              <p:pRg st="3" end="3"/>
                                            </p:txEl>
                                          </p:spTgt>
                                        </p:tgtEl>
                                        <p:attrNameLst>
                                          <p:attrName>style.visibility</p:attrName>
                                        </p:attrNameLst>
                                      </p:cBhvr>
                                      <p:to>
                                        <p:strVal val="visible"/>
                                      </p:to>
                                    </p:set>
                                    <p:animEffect transition="in" filter="box(in)">
                                      <p:cBhvr>
                                        <p:cTn id="15" dur="500"/>
                                        <p:tgtEl>
                                          <p:spTgt spid="29700">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4" presetClass="entr" presetSubtype="16" fill="hold" nodeType="clickEffect">
                                  <p:stCondLst>
                                    <p:cond delay="0"/>
                                  </p:stCondLst>
                                  <p:childTnLst>
                                    <p:set>
                                      <p:cBhvr>
                                        <p:cTn id="19" dur="1" fill="hold">
                                          <p:stCondLst>
                                            <p:cond delay="0"/>
                                          </p:stCondLst>
                                        </p:cTn>
                                        <p:tgtEl>
                                          <p:spTgt spid="29700">
                                            <p:txEl>
                                              <p:pRg st="4" end="4"/>
                                            </p:txEl>
                                          </p:spTgt>
                                        </p:tgtEl>
                                        <p:attrNameLst>
                                          <p:attrName>style.visibility</p:attrName>
                                        </p:attrNameLst>
                                      </p:cBhvr>
                                      <p:to>
                                        <p:strVal val="visible"/>
                                      </p:to>
                                    </p:set>
                                    <p:animEffect transition="in" filter="box(in)">
                                      <p:cBhvr>
                                        <p:cTn id="20" dur="500"/>
                                        <p:tgtEl>
                                          <p:spTgt spid="29700">
                                            <p:txEl>
                                              <p:pRg st="4" end="4"/>
                                            </p:txEl>
                                          </p:spTgt>
                                        </p:tgtEl>
                                      </p:cBhvr>
                                    </p:animEffect>
                                  </p:childTnLst>
                                </p:cTn>
                              </p:par>
                              <p:par>
                                <p:cTn id="21" presetID="4" presetClass="entr" presetSubtype="16" fill="hold" nodeType="withEffect">
                                  <p:stCondLst>
                                    <p:cond delay="0"/>
                                  </p:stCondLst>
                                  <p:childTnLst>
                                    <p:set>
                                      <p:cBhvr>
                                        <p:cTn id="22" dur="1" fill="hold">
                                          <p:stCondLst>
                                            <p:cond delay="0"/>
                                          </p:stCondLst>
                                        </p:cTn>
                                        <p:tgtEl>
                                          <p:spTgt spid="29700">
                                            <p:txEl>
                                              <p:pRg st="5" end="5"/>
                                            </p:txEl>
                                          </p:spTgt>
                                        </p:tgtEl>
                                        <p:attrNameLst>
                                          <p:attrName>style.visibility</p:attrName>
                                        </p:attrNameLst>
                                      </p:cBhvr>
                                      <p:to>
                                        <p:strVal val="visible"/>
                                      </p:to>
                                    </p:set>
                                    <p:animEffect transition="in" filter="box(in)">
                                      <p:cBhvr>
                                        <p:cTn id="23" dur="500"/>
                                        <p:tgtEl>
                                          <p:spTgt spid="29700">
                                            <p:txEl>
                                              <p:pRg st="5" end="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nodeType="clickEffect">
                                  <p:stCondLst>
                                    <p:cond delay="0"/>
                                  </p:stCondLst>
                                  <p:childTnLst>
                                    <p:set>
                                      <p:cBhvr>
                                        <p:cTn id="27" dur="1" fill="hold">
                                          <p:stCondLst>
                                            <p:cond delay="0"/>
                                          </p:stCondLst>
                                        </p:cTn>
                                        <p:tgtEl>
                                          <p:spTgt spid="29700">
                                            <p:txEl>
                                              <p:pRg st="6" end="6"/>
                                            </p:txEl>
                                          </p:spTgt>
                                        </p:tgtEl>
                                        <p:attrNameLst>
                                          <p:attrName>style.visibility</p:attrName>
                                        </p:attrNameLst>
                                      </p:cBhvr>
                                      <p:to>
                                        <p:strVal val="visible"/>
                                      </p:to>
                                    </p:set>
                                    <p:animEffect transition="in" filter="box(in)">
                                      <p:cBhvr>
                                        <p:cTn id="28" dur="500"/>
                                        <p:tgtEl>
                                          <p:spTgt spid="29700">
                                            <p:txEl>
                                              <p:pRg st="6" end="6"/>
                                            </p:txEl>
                                          </p:spTgt>
                                        </p:tgtEl>
                                      </p:cBhvr>
                                    </p:animEffect>
                                  </p:childTnLst>
                                </p:cTn>
                              </p:par>
                              <p:par>
                                <p:cTn id="29" presetID="4" presetClass="entr" presetSubtype="16" fill="hold" nodeType="withEffect">
                                  <p:stCondLst>
                                    <p:cond delay="0"/>
                                  </p:stCondLst>
                                  <p:childTnLst>
                                    <p:set>
                                      <p:cBhvr>
                                        <p:cTn id="30" dur="1" fill="hold">
                                          <p:stCondLst>
                                            <p:cond delay="0"/>
                                          </p:stCondLst>
                                        </p:cTn>
                                        <p:tgtEl>
                                          <p:spTgt spid="29700">
                                            <p:txEl>
                                              <p:pRg st="7" end="7"/>
                                            </p:txEl>
                                          </p:spTgt>
                                        </p:tgtEl>
                                        <p:attrNameLst>
                                          <p:attrName>style.visibility</p:attrName>
                                        </p:attrNameLst>
                                      </p:cBhvr>
                                      <p:to>
                                        <p:strVal val="visible"/>
                                      </p:to>
                                    </p:set>
                                    <p:animEffect transition="in" filter="box(in)">
                                      <p:cBhvr>
                                        <p:cTn id="31" dur="500"/>
                                        <p:tgtEl>
                                          <p:spTgt spid="29700">
                                            <p:txEl>
                                              <p:pRg st="7" end="7"/>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4" presetClass="entr" presetSubtype="16" fill="hold" nodeType="clickEffect">
                                  <p:stCondLst>
                                    <p:cond delay="0"/>
                                  </p:stCondLst>
                                  <p:childTnLst>
                                    <p:set>
                                      <p:cBhvr>
                                        <p:cTn id="35" dur="1" fill="hold">
                                          <p:stCondLst>
                                            <p:cond delay="0"/>
                                          </p:stCondLst>
                                        </p:cTn>
                                        <p:tgtEl>
                                          <p:spTgt spid="29700">
                                            <p:txEl>
                                              <p:pRg st="8" end="8"/>
                                            </p:txEl>
                                          </p:spTgt>
                                        </p:tgtEl>
                                        <p:attrNameLst>
                                          <p:attrName>style.visibility</p:attrName>
                                        </p:attrNameLst>
                                      </p:cBhvr>
                                      <p:to>
                                        <p:strVal val="visible"/>
                                      </p:to>
                                    </p:set>
                                    <p:animEffect transition="in" filter="box(in)">
                                      <p:cBhvr>
                                        <p:cTn id="36" dur="500"/>
                                        <p:tgtEl>
                                          <p:spTgt spid="29700">
                                            <p:txEl>
                                              <p:pRg st="8" end="8"/>
                                            </p:txEl>
                                          </p:spTgt>
                                        </p:tgtEl>
                                      </p:cBhvr>
                                    </p:animEffect>
                                  </p:childTnLst>
                                </p:cTn>
                              </p:par>
                              <p:par>
                                <p:cTn id="37" presetID="4" presetClass="entr" presetSubtype="16" fill="hold" nodeType="withEffect">
                                  <p:stCondLst>
                                    <p:cond delay="0"/>
                                  </p:stCondLst>
                                  <p:childTnLst>
                                    <p:set>
                                      <p:cBhvr>
                                        <p:cTn id="38" dur="1" fill="hold">
                                          <p:stCondLst>
                                            <p:cond delay="0"/>
                                          </p:stCondLst>
                                        </p:cTn>
                                        <p:tgtEl>
                                          <p:spTgt spid="29700">
                                            <p:txEl>
                                              <p:pRg st="9" end="9"/>
                                            </p:txEl>
                                          </p:spTgt>
                                        </p:tgtEl>
                                        <p:attrNameLst>
                                          <p:attrName>style.visibility</p:attrName>
                                        </p:attrNameLst>
                                      </p:cBhvr>
                                      <p:to>
                                        <p:strVal val="visible"/>
                                      </p:to>
                                    </p:set>
                                    <p:animEffect transition="in" filter="box(in)">
                                      <p:cBhvr>
                                        <p:cTn id="39" dur="500"/>
                                        <p:tgtEl>
                                          <p:spTgt spid="29700">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1263333" y="260648"/>
            <a:ext cx="7793037" cy="1143000"/>
          </a:xfrm>
        </p:spPr>
        <p:txBody>
          <a:bodyPr/>
          <a:lstStyle/>
          <a:p>
            <a:pPr eaLnBrk="1" hangingPunct="1"/>
            <a:r>
              <a:rPr lang="zh-CN" altLang="en-US" sz="3600" dirty="0">
                <a:latin typeface="宋体" panose="02010600030101010101" pitchFamily="2" charset="-122"/>
                <a:ea typeface="宋体" panose="02010600030101010101" pitchFamily="2" charset="-122"/>
              </a:rPr>
              <a:t>域中的完整性限制</a:t>
            </a:r>
          </a:p>
        </p:txBody>
      </p:sp>
      <p:sp>
        <p:nvSpPr>
          <p:cNvPr id="30724" name="Rectangle 3"/>
          <p:cNvSpPr>
            <a:spLocks noGrp="1" noChangeArrowheads="1"/>
          </p:cNvSpPr>
          <p:nvPr>
            <p:ph idx="1"/>
          </p:nvPr>
        </p:nvSpPr>
        <p:spPr>
          <a:xfrm>
            <a:off x="107950" y="1698625"/>
            <a:ext cx="8775700" cy="4364038"/>
          </a:xfrm>
        </p:spPr>
        <p:txBody>
          <a:bodyPr/>
          <a:lstStyle/>
          <a:p>
            <a:pPr eaLnBrk="1" hangingPunct="1"/>
            <a:r>
              <a:rPr lang="en-US" altLang="zh-CN"/>
              <a:t>SQL</a:t>
            </a:r>
            <a:r>
              <a:rPr lang="zh-CN" altLang="en-US"/>
              <a:t>支持</a:t>
            </a:r>
            <a:r>
              <a:rPr lang="zh-CN" altLang="en-US">
                <a:solidFill>
                  <a:srgbClr val="FF0000"/>
                </a:solidFill>
              </a:rPr>
              <a:t>域</a:t>
            </a:r>
            <a:r>
              <a:rPr lang="zh-CN" altLang="en-US"/>
              <a:t>的概念，并可以用</a:t>
            </a:r>
            <a:r>
              <a:rPr lang="en-US" altLang="zh-CN"/>
              <a:t>CREATE DOMAIN</a:t>
            </a:r>
            <a:r>
              <a:rPr lang="zh-CN" altLang="en-US"/>
              <a:t>建立域。</a:t>
            </a:r>
            <a:endParaRPr lang="en-US" altLang="zh-CN"/>
          </a:p>
          <a:p>
            <a:pPr eaLnBrk="1" hangingPunct="1"/>
            <a:endParaRPr lang="zh-CN" altLang="en-US"/>
          </a:p>
          <a:p>
            <a:pPr eaLnBrk="1" hangingPunct="1"/>
            <a:r>
              <a:rPr lang="zh-CN" altLang="en-US"/>
              <a:t>例：建立一个性别域，并声明域的取值范围。</a:t>
            </a:r>
          </a:p>
          <a:p>
            <a:pPr lvl="1" eaLnBrk="1" hangingPunct="1">
              <a:buFont typeface="Wingdings" panose="05000000000000000000" pitchFamily="2" charset="2"/>
              <a:buNone/>
            </a:pPr>
            <a:r>
              <a:rPr lang="en-US" altLang="zh-CN"/>
              <a:t>CREATE DOMAIN GenderDomain CHAR(2)</a:t>
            </a:r>
          </a:p>
          <a:p>
            <a:pPr lvl="1" eaLnBrk="1" hangingPunct="1">
              <a:buFont typeface="Wingdings" panose="05000000000000000000" pitchFamily="2" charset="2"/>
              <a:buNone/>
            </a:pPr>
            <a:r>
              <a:rPr lang="en-US" altLang="zh-CN"/>
              <a:t>		CHECK (VALUE IN ('</a:t>
            </a:r>
            <a:r>
              <a:rPr lang="zh-CN" altLang="en-US"/>
              <a:t>男</a:t>
            </a:r>
            <a:r>
              <a:rPr lang="en-US" altLang="zh-CN"/>
              <a:t>', '</a:t>
            </a:r>
            <a:r>
              <a:rPr lang="zh-CN" altLang="en-US"/>
              <a:t>女</a:t>
            </a:r>
            <a:r>
              <a:rPr lang="en-US" altLang="zh-CN"/>
              <a:t>'));</a:t>
            </a:r>
          </a:p>
          <a:p>
            <a:pPr lvl="1" eaLnBrk="1" hangingPunct="1">
              <a:buFont typeface="Wingdings" panose="05000000000000000000" pitchFamily="2" charset="2"/>
              <a:buNone/>
            </a:pPr>
            <a:endParaRPr lang="en-US" altLang="zh-CN"/>
          </a:p>
          <a:p>
            <a:pPr lvl="1" eaLnBrk="1" hangingPunct="1">
              <a:buFont typeface="Wingdings" panose="05000000000000000000" pitchFamily="2" charset="2"/>
              <a:buNone/>
            </a:pPr>
            <a:r>
              <a:rPr lang="zh-CN" altLang="en-US"/>
              <a:t>在</a:t>
            </a:r>
            <a:r>
              <a:rPr lang="en-US" altLang="zh-CN"/>
              <a:t>Student</a:t>
            </a:r>
            <a:r>
              <a:rPr lang="zh-CN" altLang="en-US"/>
              <a:t>中对</a:t>
            </a:r>
            <a:r>
              <a:rPr lang="en-US" altLang="zh-CN"/>
              <a:t>Ssex </a:t>
            </a:r>
            <a:r>
              <a:rPr lang="zh-CN" altLang="en-US"/>
              <a:t>的说明可以改写为：</a:t>
            </a:r>
          </a:p>
          <a:p>
            <a:pPr lvl="1" eaLnBrk="1" hangingPunct="1">
              <a:buFont typeface="Wingdings" panose="05000000000000000000" pitchFamily="2" charset="2"/>
              <a:buNone/>
            </a:pPr>
            <a:r>
              <a:rPr lang="en-US" altLang="zh-CN"/>
              <a:t>Ssex GenderDomain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0724">
                                            <p:txEl>
                                              <p:pRg st="2" end="2"/>
                                            </p:txEl>
                                          </p:spTgt>
                                        </p:tgtEl>
                                        <p:attrNameLst>
                                          <p:attrName>style.visibility</p:attrName>
                                        </p:attrNameLst>
                                      </p:cBhvr>
                                      <p:to>
                                        <p:strVal val="visible"/>
                                      </p:to>
                                    </p:set>
                                    <p:animEffect transition="in" filter="box(in)">
                                      <p:cBhvr>
                                        <p:cTn id="7" dur="500"/>
                                        <p:tgtEl>
                                          <p:spTgt spid="30724">
                                            <p:txEl>
                                              <p:pRg st="2" end="2"/>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30724">
                                            <p:txEl>
                                              <p:pRg st="3" end="3"/>
                                            </p:txEl>
                                          </p:spTgt>
                                        </p:tgtEl>
                                        <p:attrNameLst>
                                          <p:attrName>style.visibility</p:attrName>
                                        </p:attrNameLst>
                                      </p:cBhvr>
                                      <p:to>
                                        <p:strVal val="visible"/>
                                      </p:to>
                                    </p:set>
                                    <p:animEffect transition="in" filter="box(in)">
                                      <p:cBhvr>
                                        <p:cTn id="10" dur="500"/>
                                        <p:tgtEl>
                                          <p:spTgt spid="30724">
                                            <p:txEl>
                                              <p:pRg st="3" end="3"/>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30724">
                                            <p:txEl>
                                              <p:pRg st="4" end="4"/>
                                            </p:txEl>
                                          </p:spTgt>
                                        </p:tgtEl>
                                        <p:attrNameLst>
                                          <p:attrName>style.visibility</p:attrName>
                                        </p:attrNameLst>
                                      </p:cBhvr>
                                      <p:to>
                                        <p:strVal val="visible"/>
                                      </p:to>
                                    </p:set>
                                    <p:animEffect transition="in" filter="box(in)">
                                      <p:cBhvr>
                                        <p:cTn id="13" dur="500"/>
                                        <p:tgtEl>
                                          <p:spTgt spid="30724">
                                            <p:txEl>
                                              <p:pRg st="4" end="4"/>
                                            </p:txEl>
                                          </p:spTgt>
                                        </p:tgtEl>
                                      </p:cBhvr>
                                    </p:animEffect>
                                  </p:childTnLst>
                                </p:cTn>
                              </p:par>
                              <p:par>
                                <p:cTn id="14" presetID="4" presetClass="entr" presetSubtype="16" fill="hold" nodeType="withEffect">
                                  <p:stCondLst>
                                    <p:cond delay="0"/>
                                  </p:stCondLst>
                                  <p:childTnLst>
                                    <p:set>
                                      <p:cBhvr>
                                        <p:cTn id="15" dur="1" fill="hold">
                                          <p:stCondLst>
                                            <p:cond delay="0"/>
                                          </p:stCondLst>
                                        </p:cTn>
                                        <p:tgtEl>
                                          <p:spTgt spid="30724">
                                            <p:txEl>
                                              <p:pRg st="6" end="6"/>
                                            </p:txEl>
                                          </p:spTgt>
                                        </p:tgtEl>
                                        <p:attrNameLst>
                                          <p:attrName>style.visibility</p:attrName>
                                        </p:attrNameLst>
                                      </p:cBhvr>
                                      <p:to>
                                        <p:strVal val="visible"/>
                                      </p:to>
                                    </p:set>
                                    <p:animEffect transition="in" filter="box(in)">
                                      <p:cBhvr>
                                        <p:cTn id="16" dur="500"/>
                                        <p:tgtEl>
                                          <p:spTgt spid="30724">
                                            <p:txEl>
                                              <p:pRg st="6" end="6"/>
                                            </p:txEl>
                                          </p:spTgt>
                                        </p:tgtEl>
                                      </p:cBhvr>
                                    </p:animEffect>
                                  </p:childTnLst>
                                </p:cTn>
                              </p:par>
                              <p:par>
                                <p:cTn id="17" presetID="4" presetClass="entr" presetSubtype="16" fill="hold" nodeType="withEffect">
                                  <p:stCondLst>
                                    <p:cond delay="0"/>
                                  </p:stCondLst>
                                  <p:childTnLst>
                                    <p:set>
                                      <p:cBhvr>
                                        <p:cTn id="18" dur="1" fill="hold">
                                          <p:stCondLst>
                                            <p:cond delay="0"/>
                                          </p:stCondLst>
                                        </p:cTn>
                                        <p:tgtEl>
                                          <p:spTgt spid="30724">
                                            <p:txEl>
                                              <p:pRg st="7" end="7"/>
                                            </p:txEl>
                                          </p:spTgt>
                                        </p:tgtEl>
                                        <p:attrNameLst>
                                          <p:attrName>style.visibility</p:attrName>
                                        </p:attrNameLst>
                                      </p:cBhvr>
                                      <p:to>
                                        <p:strVal val="visible"/>
                                      </p:to>
                                    </p:set>
                                    <p:animEffect transition="in" filter="box(in)">
                                      <p:cBhvr>
                                        <p:cTn id="19" dur="500"/>
                                        <p:tgtEl>
                                          <p:spTgt spid="3072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45058" name="图片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88" y="0"/>
            <a:ext cx="9144000" cy="169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59" name="页脚占位符 4"/>
          <p:cNvSpPr txBox="1">
            <a:spLocks noGrp="1" noChangeArrowheads="1"/>
          </p:cNvSpPr>
          <p:nvPr/>
        </p:nvSpPr>
        <p:spPr bwMode="auto">
          <a:xfrm>
            <a:off x="5219700" y="6381750"/>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kumimoji="1" lang="en-US" altLang="zh-CN" sz="1400" b="1">
              <a:solidFill>
                <a:srgbClr val="F03628"/>
              </a:solidFill>
              <a:latin typeface="Arial" panose="020B0604020202020204" pitchFamily="34" charset="0"/>
              <a:ea typeface="宋体" panose="02010600030101010101" pitchFamily="2" charset="-122"/>
            </a:endParaRPr>
          </a:p>
        </p:txBody>
      </p:sp>
      <p:sp>
        <p:nvSpPr>
          <p:cNvPr id="45060" name="Rectangle 2"/>
          <p:cNvSpPr>
            <a:spLocks noGrp="1" noChangeArrowheads="1"/>
          </p:cNvSpPr>
          <p:nvPr>
            <p:ph type="title" idx="4294967295"/>
          </p:nvPr>
        </p:nvSpPr>
        <p:spPr>
          <a:xfrm>
            <a:off x="1245870" y="260648"/>
            <a:ext cx="7793038" cy="1143000"/>
          </a:xfrm>
        </p:spPr>
        <p:txBody>
          <a:bodyPr/>
          <a:lstStyle/>
          <a:p>
            <a:pPr eaLnBrk="1" hangingPunct="1"/>
            <a:r>
              <a:rPr lang="zh-CN" altLang="zh-CN" sz="3600" dirty="0">
                <a:latin typeface="宋体" panose="02010600030101010101" pitchFamily="2" charset="-122"/>
                <a:ea typeface="宋体" panose="02010600030101010101" pitchFamily="2" charset="-122"/>
                <a:cs typeface="宋体" panose="02010600030101010101" pitchFamily="2" charset="-122"/>
              </a:rPr>
              <a:t>第五章 数据库完整性</a:t>
            </a:r>
          </a:p>
        </p:txBody>
      </p:sp>
      <p:sp>
        <p:nvSpPr>
          <p:cNvPr id="41988" name="Rectangle 3"/>
          <p:cNvSpPr>
            <a:spLocks noGrp="1" noChangeArrowheads="1"/>
          </p:cNvSpPr>
          <p:nvPr>
            <p:ph type="body" idx="4294967295"/>
          </p:nvPr>
        </p:nvSpPr>
        <p:spPr>
          <a:xfrm>
            <a:off x="827088" y="1557338"/>
            <a:ext cx="7859712" cy="3678237"/>
          </a:xfrm>
        </p:spPr>
        <p:txBody>
          <a:bodyPr rtlCol="0">
            <a:normAutofit fontScale="85000" lnSpcReduction="20000"/>
          </a:bodyPr>
          <a:lstStyle/>
          <a:p>
            <a:pPr eaLnBrk="1" fontAlgn="auto" hangingPunct="1">
              <a:lnSpc>
                <a:spcPct val="130000"/>
              </a:lnSpc>
              <a:spcAft>
                <a:spcPts val="0"/>
              </a:spcAft>
              <a:buFont typeface="Wingdings" panose="05000000000000000000" pitchFamily="2" charset="2"/>
              <a:buNone/>
              <a:defRPr/>
            </a:pPr>
            <a:r>
              <a:rPr lang="en-US" altLang="zh-CN" sz="2400" dirty="0"/>
              <a:t>5.1  </a:t>
            </a:r>
            <a:r>
              <a:rPr lang="zh-CN" altLang="en-US" sz="2400" dirty="0"/>
              <a:t>实体完整性</a:t>
            </a:r>
          </a:p>
          <a:p>
            <a:pPr eaLnBrk="1" fontAlgn="auto" hangingPunct="1">
              <a:lnSpc>
                <a:spcPct val="130000"/>
              </a:lnSpc>
              <a:spcAft>
                <a:spcPts val="0"/>
              </a:spcAft>
              <a:buFont typeface="Wingdings" panose="05000000000000000000" pitchFamily="2" charset="2"/>
              <a:buNone/>
              <a:defRPr/>
            </a:pPr>
            <a:r>
              <a:rPr lang="en-US" altLang="zh-CN" sz="2400" dirty="0"/>
              <a:t>5.2  </a:t>
            </a:r>
            <a:r>
              <a:rPr lang="zh-CN" altLang="en-US" sz="2400" dirty="0"/>
              <a:t>参照完整性</a:t>
            </a:r>
          </a:p>
          <a:p>
            <a:pPr eaLnBrk="1" fontAlgn="auto" hangingPunct="1">
              <a:lnSpc>
                <a:spcPct val="130000"/>
              </a:lnSpc>
              <a:spcAft>
                <a:spcPts val="0"/>
              </a:spcAft>
              <a:buFont typeface="Wingdings" panose="05000000000000000000" pitchFamily="2" charset="2"/>
              <a:buNone/>
              <a:defRPr/>
            </a:pPr>
            <a:r>
              <a:rPr lang="en-US" altLang="zh-CN" sz="2400" dirty="0"/>
              <a:t>5.3  </a:t>
            </a:r>
            <a:r>
              <a:rPr lang="zh-CN" altLang="en-US" sz="2400" dirty="0"/>
              <a:t>用户定义的完整性</a:t>
            </a:r>
          </a:p>
          <a:p>
            <a:pPr eaLnBrk="1" fontAlgn="auto" hangingPunct="1">
              <a:lnSpc>
                <a:spcPct val="130000"/>
              </a:lnSpc>
              <a:spcAft>
                <a:spcPts val="0"/>
              </a:spcAft>
              <a:buFont typeface="Wingdings" panose="05000000000000000000" pitchFamily="2" charset="2"/>
              <a:buNone/>
              <a:defRPr/>
            </a:pPr>
            <a:r>
              <a:rPr lang="en-US" altLang="zh-CN" sz="2400" dirty="0"/>
              <a:t>5.4  </a:t>
            </a:r>
            <a:r>
              <a:rPr lang="zh-CN" altLang="en-US" sz="2400" dirty="0"/>
              <a:t>完整性约束命名字句</a:t>
            </a:r>
          </a:p>
          <a:p>
            <a:pPr eaLnBrk="1" fontAlgn="auto" hangingPunct="1">
              <a:lnSpc>
                <a:spcPct val="130000"/>
              </a:lnSpc>
              <a:spcAft>
                <a:spcPts val="0"/>
              </a:spcAft>
              <a:buFont typeface="Wingdings" panose="05000000000000000000" pitchFamily="2" charset="2"/>
              <a:buNone/>
              <a:defRPr/>
            </a:pPr>
            <a:r>
              <a:rPr lang="zh-CN" altLang="en-US" sz="2400" dirty="0"/>
              <a:t>*</a:t>
            </a:r>
            <a:r>
              <a:rPr lang="en-US" altLang="zh-CN" sz="2400" dirty="0"/>
              <a:t>5.5  </a:t>
            </a:r>
            <a:r>
              <a:rPr lang="zh-CN" altLang="en-US" sz="2400" dirty="0"/>
              <a:t>域中的完整性限制</a:t>
            </a:r>
          </a:p>
          <a:p>
            <a:pPr eaLnBrk="1" fontAlgn="auto" hangingPunct="1">
              <a:lnSpc>
                <a:spcPct val="130000"/>
              </a:lnSpc>
              <a:spcAft>
                <a:spcPts val="0"/>
              </a:spcAft>
              <a:buFont typeface="Wingdings" panose="05000000000000000000" pitchFamily="2" charset="2"/>
              <a:buNone/>
              <a:defRPr/>
            </a:pPr>
            <a:r>
              <a:rPr lang="en-US" altLang="zh-CN" sz="2400" dirty="0">
                <a:solidFill>
                  <a:srgbClr val="FF0000"/>
                </a:solidFill>
              </a:rPr>
              <a:t>5.6  </a:t>
            </a:r>
            <a:r>
              <a:rPr lang="zh-CN" altLang="en-US" sz="2400" dirty="0">
                <a:solidFill>
                  <a:srgbClr val="FF0000"/>
                </a:solidFill>
              </a:rPr>
              <a:t>断言</a:t>
            </a:r>
          </a:p>
          <a:p>
            <a:pPr eaLnBrk="1" fontAlgn="auto" hangingPunct="1">
              <a:lnSpc>
                <a:spcPct val="130000"/>
              </a:lnSpc>
              <a:spcAft>
                <a:spcPts val="0"/>
              </a:spcAft>
              <a:buFont typeface="Wingdings" panose="05000000000000000000" pitchFamily="2" charset="2"/>
              <a:buNone/>
              <a:defRPr/>
            </a:pPr>
            <a:r>
              <a:rPr lang="en-US" altLang="zh-CN" sz="2400" dirty="0"/>
              <a:t>5.7  </a:t>
            </a:r>
            <a:r>
              <a:rPr lang="zh-CN" altLang="en-US" sz="2400" dirty="0"/>
              <a:t>触发器</a:t>
            </a:r>
            <a:endParaRPr lang="en-US" altLang="zh-CN" sz="2400" dirty="0"/>
          </a:p>
          <a:p>
            <a:pPr eaLnBrk="1" fontAlgn="auto" hangingPunct="1">
              <a:lnSpc>
                <a:spcPct val="130000"/>
              </a:lnSpc>
              <a:spcAft>
                <a:spcPts val="0"/>
              </a:spcAft>
              <a:buFont typeface="Wingdings" panose="05000000000000000000" pitchFamily="2" charset="2"/>
              <a:buNone/>
              <a:defRPr/>
            </a:pPr>
            <a:r>
              <a:rPr lang="en-US" altLang="zh-CN" sz="2400" dirty="0"/>
              <a:t>5.8  </a:t>
            </a:r>
            <a:r>
              <a:rPr lang="zh-CN" altLang="en-US" sz="2400" dirty="0"/>
              <a:t>小结</a:t>
            </a:r>
          </a:p>
          <a:p>
            <a:pPr eaLnBrk="1" fontAlgn="auto" hangingPunct="1">
              <a:spcAft>
                <a:spcPts val="0"/>
              </a:spcAft>
              <a:defRPr/>
            </a:pPr>
            <a:endParaRPr lang="en-US" altLang="zh-CN" sz="2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46082" name="图片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169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3" name="标题 1"/>
          <p:cNvSpPr>
            <a:spLocks noGrp="1" noChangeArrowheads="1"/>
          </p:cNvSpPr>
          <p:nvPr>
            <p:ph type="title" idx="4294967295"/>
          </p:nvPr>
        </p:nvSpPr>
        <p:spPr>
          <a:xfrm>
            <a:off x="1247458" y="299085"/>
            <a:ext cx="7793037" cy="1143000"/>
          </a:xfrm>
        </p:spPr>
        <p:txBody>
          <a:bodyPr/>
          <a:lstStyle/>
          <a:p>
            <a:pPr eaLnBrk="1" hangingPunct="1"/>
            <a:r>
              <a:rPr lang="zh-CN" altLang="zh-CN" sz="3600">
                <a:latin typeface="宋体" panose="02010600030101010101" pitchFamily="2" charset="-122"/>
                <a:ea typeface="宋体" panose="02010600030101010101" pitchFamily="2" charset="-122"/>
              </a:rPr>
              <a:t>断言</a:t>
            </a:r>
          </a:p>
        </p:txBody>
      </p:sp>
      <p:sp>
        <p:nvSpPr>
          <p:cNvPr id="53251" name="内容占位符 2"/>
          <p:cNvSpPr>
            <a:spLocks noGrp="1" noChangeArrowheads="1"/>
          </p:cNvSpPr>
          <p:nvPr>
            <p:ph idx="4294967295"/>
          </p:nvPr>
        </p:nvSpPr>
        <p:spPr>
          <a:xfrm>
            <a:off x="107950" y="1628775"/>
            <a:ext cx="8578850" cy="3962400"/>
          </a:xfrm>
        </p:spPr>
        <p:txBody>
          <a:bodyPr/>
          <a:lstStyle/>
          <a:p>
            <a:pPr eaLnBrk="1" hangingPunct="1">
              <a:lnSpc>
                <a:spcPct val="120000"/>
              </a:lnSpc>
            </a:pPr>
            <a:r>
              <a:rPr lang="zh-CN" altLang="en-US" dirty="0"/>
              <a:t>使用 </a:t>
            </a:r>
            <a:r>
              <a:rPr lang="en-US" altLang="zh-CN" dirty="0">
                <a:solidFill>
                  <a:srgbClr val="FF0000"/>
                </a:solidFill>
              </a:rPr>
              <a:t>CREATE ASSERTION</a:t>
            </a:r>
            <a:r>
              <a:rPr lang="zh-CN" altLang="en-US" dirty="0"/>
              <a:t>，指定更具一般性的约束。</a:t>
            </a:r>
          </a:p>
          <a:p>
            <a:pPr eaLnBrk="1" hangingPunct="1">
              <a:lnSpc>
                <a:spcPct val="120000"/>
              </a:lnSpc>
            </a:pPr>
            <a:r>
              <a:rPr lang="zh-CN" altLang="en-US" dirty="0"/>
              <a:t>可以定义涉及多个表的或聚集操作比较复杂的完整性约束。</a:t>
            </a:r>
          </a:p>
          <a:p>
            <a:pPr eaLnBrk="1" hangingPunct="1">
              <a:lnSpc>
                <a:spcPct val="120000"/>
              </a:lnSpc>
            </a:pPr>
            <a:r>
              <a:rPr lang="zh-CN" altLang="en-US" dirty="0"/>
              <a:t>断言创建以后，任何对断言中所涉及的关系的操作都会触发</a:t>
            </a:r>
            <a:r>
              <a:rPr lang="en-US" altLang="zh-CN" dirty="0"/>
              <a:t>DBMS</a:t>
            </a:r>
            <a:r>
              <a:rPr lang="zh-CN" altLang="en-US" dirty="0"/>
              <a:t>对断言的检查，任何使断言不为真值的操作都会被拒绝执行</a:t>
            </a:r>
          </a:p>
        </p:txBody>
      </p:sp>
      <p:sp>
        <p:nvSpPr>
          <p:cNvPr id="46085" name="页脚占位符 3"/>
          <p:cNvSpPr txBox="1">
            <a:spLocks noGrp="1" noChangeArrowheads="1"/>
          </p:cNvSpPr>
          <p:nvPr/>
        </p:nvSpPr>
        <p:spPr bwMode="auto">
          <a:xfrm>
            <a:off x="5219700" y="6381750"/>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kumimoji="1" lang="en-US" altLang="zh-CN" sz="1400" b="1">
              <a:solidFill>
                <a:srgbClr val="F03628"/>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3251">
                                            <p:txEl>
                                              <p:pRg st="1" end="1"/>
                                            </p:txEl>
                                          </p:spTgt>
                                        </p:tgtEl>
                                        <p:attrNameLst>
                                          <p:attrName>style.visibility</p:attrName>
                                        </p:attrNameLst>
                                      </p:cBhvr>
                                      <p:to>
                                        <p:strVal val="visible"/>
                                      </p:to>
                                    </p:set>
                                    <p:animEffect transition="in" filter="fade">
                                      <p:cBhvr>
                                        <p:cTn id="7" dur="1000"/>
                                        <p:tgtEl>
                                          <p:spTgt spid="53251">
                                            <p:txEl>
                                              <p:pRg st="1" end="1"/>
                                            </p:txEl>
                                          </p:spTgt>
                                        </p:tgtEl>
                                      </p:cBhvr>
                                    </p:animEffect>
                                    <p:anim calcmode="lin" valueType="num">
                                      <p:cBhvr>
                                        <p:cTn id="8" dur="1000" fill="hold"/>
                                        <p:tgtEl>
                                          <p:spTgt spid="53251">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3251">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3251">
                                            <p:txEl>
                                              <p:pRg st="2" end="2"/>
                                            </p:txEl>
                                          </p:spTgt>
                                        </p:tgtEl>
                                        <p:attrNameLst>
                                          <p:attrName>style.visibility</p:attrName>
                                        </p:attrNameLst>
                                      </p:cBhvr>
                                      <p:to>
                                        <p:strVal val="visible"/>
                                      </p:to>
                                    </p:set>
                                    <p:animEffect transition="in" filter="fade">
                                      <p:cBhvr>
                                        <p:cTn id="12" dur="1000"/>
                                        <p:tgtEl>
                                          <p:spTgt spid="53251">
                                            <p:txEl>
                                              <p:pRg st="2" end="2"/>
                                            </p:txEl>
                                          </p:spTgt>
                                        </p:tgtEl>
                                      </p:cBhvr>
                                    </p:animEffect>
                                    <p:anim calcmode="lin" valueType="num">
                                      <p:cBhvr>
                                        <p:cTn id="13" dur="1000" fill="hold"/>
                                        <p:tgtEl>
                                          <p:spTgt spid="53251">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53251">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47106" name="图片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169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07" name="标题 1"/>
          <p:cNvSpPr txBox="1">
            <a:spLocks noChangeArrowheads="1"/>
          </p:cNvSpPr>
          <p:nvPr/>
        </p:nvSpPr>
        <p:spPr bwMode="auto">
          <a:xfrm>
            <a:off x="457200" y="-28575"/>
            <a:ext cx="8229600" cy="112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kumimoji="1" lang="zh-CN" altLang="en-US" sz="3600" b="1">
                <a:solidFill>
                  <a:schemeClr val="bg1"/>
                </a:solidFill>
                <a:latin typeface="Arial" panose="020B0604020202020204" pitchFamily="34" charset="0"/>
                <a:ea typeface="宋体" panose="02010600030101010101" pitchFamily="2" charset="-122"/>
              </a:rPr>
              <a:t>断言</a:t>
            </a:r>
            <a:r>
              <a:rPr kumimoji="1" lang="en-US" altLang="zh-CN" sz="3600" b="1">
                <a:solidFill>
                  <a:schemeClr val="bg1"/>
                </a:solidFill>
                <a:latin typeface="Arial" panose="020B0604020202020204" pitchFamily="34" charset="0"/>
                <a:ea typeface="宋体" panose="02010600030101010101" pitchFamily="2" charset="-122"/>
              </a:rPr>
              <a:t>（</a:t>
            </a:r>
            <a:r>
              <a:rPr kumimoji="1" lang="zh-CN" altLang="en-US" sz="3600" b="1">
                <a:solidFill>
                  <a:schemeClr val="bg1"/>
                </a:solidFill>
                <a:latin typeface="Arial" panose="020B0604020202020204" pitchFamily="34" charset="0"/>
                <a:ea typeface="宋体" panose="02010600030101010101" pitchFamily="2" charset="-122"/>
              </a:rPr>
              <a:t>续</a:t>
            </a:r>
            <a:r>
              <a:rPr kumimoji="1" lang="en-US" altLang="zh-CN" sz="3600" b="1">
                <a:solidFill>
                  <a:schemeClr val="bg1"/>
                </a:solidFill>
                <a:latin typeface="Arial" panose="020B0604020202020204" pitchFamily="34" charset="0"/>
                <a:ea typeface="宋体" panose="02010600030101010101" pitchFamily="2" charset="-122"/>
              </a:rPr>
              <a:t>）</a:t>
            </a:r>
          </a:p>
        </p:txBody>
      </p:sp>
      <p:sp>
        <p:nvSpPr>
          <p:cNvPr id="47108" name="内容占位符 2"/>
          <p:cNvSpPr txBox="1">
            <a:spLocks noChangeArrowheads="1"/>
          </p:cNvSpPr>
          <p:nvPr/>
        </p:nvSpPr>
        <p:spPr bwMode="auto">
          <a:xfrm>
            <a:off x="285750" y="1668463"/>
            <a:ext cx="8534400" cy="4567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342900" indent="-3429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20000"/>
              </a:spcBef>
              <a:buFontTx/>
              <a:buNone/>
            </a:pPr>
            <a:r>
              <a:rPr lang="en-US" altLang="zh-CN" sz="3600" dirty="0">
                <a:latin typeface="Arial" panose="020B0604020202020204" pitchFamily="34" charset="0"/>
                <a:ea typeface="宋体" panose="02010600030101010101" pitchFamily="2" charset="-122"/>
              </a:rPr>
              <a:t>1. </a:t>
            </a:r>
            <a:r>
              <a:rPr lang="zh-CN" altLang="en-US" sz="3600" dirty="0">
                <a:latin typeface="Arial" panose="020B0604020202020204" pitchFamily="34" charset="0"/>
                <a:ea typeface="宋体" panose="02010600030101010101" pitchFamily="2" charset="-122"/>
              </a:rPr>
              <a:t>创建断言的语句格式</a:t>
            </a:r>
          </a:p>
          <a:p>
            <a:pPr lvl="1" eaLnBrk="1" hangingPunct="1">
              <a:lnSpc>
                <a:spcPct val="120000"/>
              </a:lnSpc>
              <a:spcBef>
                <a:spcPct val="20000"/>
              </a:spcBef>
              <a:buClr>
                <a:schemeClr val="folHlink"/>
              </a:buClr>
              <a:buSzPct val="60000"/>
              <a:buFont typeface="Wingdings" panose="05000000000000000000" pitchFamily="2" charset="2"/>
              <a:buChar char="n"/>
            </a:pPr>
            <a:endParaRPr lang="en-US" altLang="zh-CN" sz="1800" dirty="0"/>
          </a:p>
          <a:p>
            <a:pPr lvl="1" eaLnBrk="1" hangingPunct="1">
              <a:lnSpc>
                <a:spcPct val="120000"/>
              </a:lnSpc>
              <a:spcBef>
                <a:spcPct val="20000"/>
              </a:spcBef>
              <a:buClr>
                <a:schemeClr val="folHlink"/>
              </a:buClr>
              <a:buSzPct val="60000"/>
              <a:buFont typeface="Wingdings" panose="05000000000000000000" pitchFamily="2" charset="2"/>
              <a:buChar char="n"/>
            </a:pPr>
            <a:r>
              <a:rPr lang="en-US" altLang="zh-CN" dirty="0"/>
              <a:t>CREATE ASSERTION&lt;</a:t>
            </a:r>
            <a:r>
              <a:rPr lang="zh-CN" altLang="en-US" dirty="0"/>
              <a:t>断言名</a:t>
            </a:r>
            <a:r>
              <a:rPr lang="en-US" altLang="zh-CN" dirty="0"/>
              <a:t>&gt;&lt;CHECK </a:t>
            </a:r>
            <a:r>
              <a:rPr lang="zh-CN" altLang="en-US" dirty="0"/>
              <a:t>子句</a:t>
            </a:r>
            <a:r>
              <a:rPr lang="en-US" altLang="zh-CN" dirty="0"/>
              <a:t>&gt;</a:t>
            </a:r>
          </a:p>
          <a:p>
            <a:pPr lvl="1" eaLnBrk="1" hangingPunct="1">
              <a:lnSpc>
                <a:spcPct val="120000"/>
              </a:lnSpc>
              <a:spcBef>
                <a:spcPct val="20000"/>
              </a:spcBef>
              <a:buClr>
                <a:schemeClr val="folHlink"/>
              </a:buClr>
              <a:buSzPct val="60000"/>
              <a:buFont typeface="Wingdings" panose="05000000000000000000" pitchFamily="2" charset="2"/>
              <a:buChar char="n"/>
            </a:pPr>
            <a:endParaRPr lang="en-US" altLang="zh-CN" dirty="0"/>
          </a:p>
          <a:p>
            <a:pPr lvl="1" eaLnBrk="1" hangingPunct="1">
              <a:lnSpc>
                <a:spcPct val="120000"/>
              </a:lnSpc>
              <a:spcBef>
                <a:spcPct val="20000"/>
              </a:spcBef>
              <a:buClr>
                <a:schemeClr val="folHlink"/>
              </a:buClr>
              <a:buSzPct val="60000"/>
              <a:buFont typeface="Wingdings" panose="05000000000000000000" pitchFamily="2" charset="2"/>
              <a:buChar char="n"/>
            </a:pPr>
            <a:r>
              <a:rPr lang="zh-CN" altLang="en-US" dirty="0"/>
              <a:t>每个断言都被赋予一个名字，</a:t>
            </a:r>
            <a:r>
              <a:rPr lang="en-US" altLang="zh-CN" dirty="0"/>
              <a:t>&lt;CHECK </a:t>
            </a:r>
            <a:r>
              <a:rPr lang="zh-CN" altLang="en-US" dirty="0"/>
              <a:t>子句</a:t>
            </a:r>
            <a:r>
              <a:rPr lang="en-US" altLang="zh-CN" dirty="0"/>
              <a:t>&gt;</a:t>
            </a:r>
            <a:r>
              <a:rPr lang="zh-CN" altLang="en-US" dirty="0"/>
              <a:t>中的约束条件与</a:t>
            </a:r>
            <a:r>
              <a:rPr lang="en-US" altLang="zh-CN" dirty="0"/>
              <a:t>WHERE</a:t>
            </a:r>
            <a:r>
              <a:rPr lang="zh-CN" altLang="en-US" dirty="0"/>
              <a:t>子句的条件表达式类似。</a:t>
            </a:r>
          </a:p>
          <a:p>
            <a:pPr lvl="1" eaLnBrk="1" hangingPunct="1">
              <a:lnSpc>
                <a:spcPct val="100000"/>
              </a:lnSpc>
              <a:spcBef>
                <a:spcPct val="20000"/>
              </a:spcBef>
              <a:buFont typeface="Wingdings" panose="05000000000000000000" pitchFamily="2" charset="2"/>
              <a:buNone/>
            </a:pPr>
            <a:endParaRPr lang="en-US" altLang="zh-CN" sz="1800" dirty="0">
              <a:latin typeface="Arial" panose="020B0604020202020204" pitchFamily="34" charset="0"/>
              <a:ea typeface="宋体" panose="02010600030101010101" pitchFamily="2" charset="-122"/>
            </a:endParaRPr>
          </a:p>
        </p:txBody>
      </p:sp>
      <p:sp>
        <p:nvSpPr>
          <p:cNvPr id="47109" name="页脚占位符 3"/>
          <p:cNvSpPr txBox="1">
            <a:spLocks noGrp="1" noChangeArrowheads="1"/>
          </p:cNvSpPr>
          <p:nvPr/>
        </p:nvSpPr>
        <p:spPr bwMode="auto">
          <a:xfrm>
            <a:off x="5219700" y="6381750"/>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kumimoji="1" lang="en-US" altLang="zh-CN" sz="1400" b="1">
              <a:solidFill>
                <a:srgbClr val="F03628"/>
              </a:solidFill>
              <a:latin typeface="Arial" panose="020B0604020202020204" pitchFamily="34" charset="0"/>
              <a:ea typeface="宋体" panose="02010600030101010101" pitchFamily="2" charset="-122"/>
            </a:endParaRPr>
          </a:p>
        </p:txBody>
      </p:sp>
      <p:sp>
        <p:nvSpPr>
          <p:cNvPr id="5" name="标题 1"/>
          <p:cNvSpPr txBox="1"/>
          <p:nvPr/>
        </p:nvSpPr>
        <p:spPr bwMode="auto">
          <a:xfrm>
            <a:off x="1249045" y="-27384"/>
            <a:ext cx="7793038" cy="1143000"/>
          </a:xfrm>
          <a:prstGeom prst="rect">
            <a:avLst/>
          </a:prstGeom>
          <a:noFill/>
          <a:ln>
            <a:noFill/>
          </a:ln>
        </p:spPr>
        <p:txBody>
          <a:bodyPr anchor="b"/>
          <a:lstStyle>
            <a:lvl1pPr algn="l" rtl="0" eaLnBrk="0" fontAlgn="base" hangingPunct="0">
              <a:spcBef>
                <a:spcPct val="0"/>
              </a:spcBef>
              <a:spcAft>
                <a:spcPct val="0"/>
              </a:spcAft>
              <a:defRPr kumimoji="1" sz="3600" b="1">
                <a:solidFill>
                  <a:schemeClr val="tx2"/>
                </a:solidFill>
                <a:latin typeface="+mj-lt"/>
                <a:ea typeface="+mj-ea"/>
                <a:cs typeface="+mj-cs"/>
              </a:defRPr>
            </a:lvl1pPr>
            <a:lvl2pPr algn="l" rtl="0" eaLnBrk="0" fontAlgn="base" hangingPunct="0">
              <a:spcBef>
                <a:spcPct val="0"/>
              </a:spcBef>
              <a:spcAft>
                <a:spcPct val="0"/>
              </a:spcAft>
              <a:defRPr kumimoji="1" sz="3600" b="1">
                <a:solidFill>
                  <a:schemeClr val="tx2"/>
                </a:solidFill>
                <a:latin typeface="Tahoma" panose="020B0604030504040204" pitchFamily="34" charset="0"/>
                <a:ea typeface="仿宋_GB2312" pitchFamily="49" charset="-122"/>
              </a:defRPr>
            </a:lvl2pPr>
            <a:lvl3pPr algn="l" rtl="0" eaLnBrk="0" fontAlgn="base" hangingPunct="0">
              <a:spcBef>
                <a:spcPct val="0"/>
              </a:spcBef>
              <a:spcAft>
                <a:spcPct val="0"/>
              </a:spcAft>
              <a:defRPr kumimoji="1" sz="3600" b="1">
                <a:solidFill>
                  <a:schemeClr val="tx2"/>
                </a:solidFill>
                <a:latin typeface="Tahoma" panose="020B0604030504040204" pitchFamily="34" charset="0"/>
                <a:ea typeface="仿宋_GB2312" pitchFamily="49" charset="-122"/>
              </a:defRPr>
            </a:lvl3pPr>
            <a:lvl4pPr algn="l" rtl="0" eaLnBrk="0" fontAlgn="base" hangingPunct="0">
              <a:spcBef>
                <a:spcPct val="0"/>
              </a:spcBef>
              <a:spcAft>
                <a:spcPct val="0"/>
              </a:spcAft>
              <a:defRPr kumimoji="1" sz="3600" b="1">
                <a:solidFill>
                  <a:schemeClr val="tx2"/>
                </a:solidFill>
                <a:latin typeface="Tahoma" panose="020B0604030504040204" pitchFamily="34" charset="0"/>
                <a:ea typeface="仿宋_GB2312" pitchFamily="49" charset="-122"/>
              </a:defRPr>
            </a:lvl4pPr>
            <a:lvl5pPr algn="l" rtl="0" eaLnBrk="0" fontAlgn="base" hangingPunct="0">
              <a:spcBef>
                <a:spcPct val="0"/>
              </a:spcBef>
              <a:spcAft>
                <a:spcPct val="0"/>
              </a:spcAft>
              <a:defRPr kumimoji="1" sz="3600" b="1">
                <a:solidFill>
                  <a:schemeClr val="tx2"/>
                </a:solidFill>
                <a:latin typeface="Tahoma" panose="020B0604030504040204" pitchFamily="34" charset="0"/>
                <a:ea typeface="仿宋_GB2312" pitchFamily="49" charset="-122"/>
              </a:defRPr>
            </a:lvl5pPr>
            <a:lvl6pPr marL="457200" algn="l" rtl="0" fontAlgn="base">
              <a:spcBef>
                <a:spcPct val="0"/>
              </a:spcBef>
              <a:spcAft>
                <a:spcPct val="0"/>
              </a:spcAft>
              <a:defRPr kumimoji="1" sz="3600" b="1">
                <a:solidFill>
                  <a:schemeClr val="tx2"/>
                </a:solidFill>
                <a:latin typeface="Tahoma" panose="020B0604030504040204" pitchFamily="34" charset="0"/>
                <a:ea typeface="仿宋_GB2312" pitchFamily="49" charset="-122"/>
              </a:defRPr>
            </a:lvl6pPr>
            <a:lvl7pPr marL="914400" algn="l" rtl="0" fontAlgn="base">
              <a:spcBef>
                <a:spcPct val="0"/>
              </a:spcBef>
              <a:spcAft>
                <a:spcPct val="0"/>
              </a:spcAft>
              <a:defRPr kumimoji="1" sz="3600" b="1">
                <a:solidFill>
                  <a:schemeClr val="tx2"/>
                </a:solidFill>
                <a:latin typeface="Tahoma" panose="020B0604030504040204" pitchFamily="34" charset="0"/>
                <a:ea typeface="仿宋_GB2312" pitchFamily="49" charset="-122"/>
              </a:defRPr>
            </a:lvl7pPr>
            <a:lvl8pPr marL="1371600" algn="l" rtl="0" fontAlgn="base">
              <a:spcBef>
                <a:spcPct val="0"/>
              </a:spcBef>
              <a:spcAft>
                <a:spcPct val="0"/>
              </a:spcAft>
              <a:defRPr kumimoji="1" sz="3600" b="1">
                <a:solidFill>
                  <a:schemeClr val="tx2"/>
                </a:solidFill>
                <a:latin typeface="Tahoma" panose="020B0604030504040204" pitchFamily="34" charset="0"/>
                <a:ea typeface="仿宋_GB2312" pitchFamily="49" charset="-122"/>
              </a:defRPr>
            </a:lvl8pPr>
            <a:lvl9pPr marL="1828800" algn="l" rtl="0" fontAlgn="base">
              <a:spcBef>
                <a:spcPct val="0"/>
              </a:spcBef>
              <a:spcAft>
                <a:spcPct val="0"/>
              </a:spcAft>
              <a:defRPr kumimoji="1" sz="3600" b="1">
                <a:solidFill>
                  <a:schemeClr val="tx2"/>
                </a:solidFill>
                <a:latin typeface="Tahoma" panose="020B0604030504040204" pitchFamily="34" charset="0"/>
                <a:ea typeface="仿宋_GB2312" pitchFamily="49" charset="-122"/>
              </a:defRPr>
            </a:lvl9pPr>
          </a:lstStyle>
          <a:p>
            <a:pPr eaLnBrk="1" hangingPunct="1">
              <a:defRPr/>
            </a:pPr>
            <a:r>
              <a:rPr lang="zh-CN" altLang="en-US" b="0" dirty="0">
                <a:solidFill>
                  <a:schemeClr val="tx1"/>
                </a:solidFill>
                <a:latin typeface="宋体" panose="02010600030101010101" pitchFamily="2" charset="-122"/>
                <a:ea typeface="宋体" panose="02010600030101010101" pitchFamily="2" charset="-122"/>
              </a:rPr>
              <a:t>断言</a:t>
            </a:r>
            <a:r>
              <a:rPr lang="en-US" altLang="zh-CN" b="0" dirty="0">
                <a:solidFill>
                  <a:schemeClr val="tx1"/>
                </a:solidFill>
                <a:latin typeface="宋体" panose="02010600030101010101" pitchFamily="2" charset="-122"/>
                <a:ea typeface="宋体" panose="02010600030101010101" pitchFamily="2" charset="-122"/>
              </a:rPr>
              <a:t>（</a:t>
            </a:r>
            <a:r>
              <a:rPr lang="zh-CN" altLang="en-US" b="0" dirty="0">
                <a:solidFill>
                  <a:schemeClr val="tx1"/>
                </a:solidFill>
                <a:latin typeface="宋体" panose="02010600030101010101" pitchFamily="2" charset="-122"/>
                <a:ea typeface="宋体" panose="02010600030101010101" pitchFamily="2" charset="-122"/>
              </a:rPr>
              <a:t>续</a:t>
            </a:r>
            <a:r>
              <a:rPr lang="en-US" altLang="zh-CN" b="0" dirty="0">
                <a:solidFill>
                  <a:schemeClr val="tx1"/>
                </a:solidFill>
                <a:latin typeface="宋体" panose="02010600030101010101" pitchFamily="2" charset="-122"/>
                <a:ea typeface="宋体" panose="02010600030101010101" pitchFamily="2" charset="-122"/>
              </a:rPr>
              <a:t>）</a:t>
            </a:r>
            <a:endParaRPr lang="en-US" altLang="zh-CN" b="0" kern="0" dirty="0">
              <a:solidFill>
                <a:schemeClr val="tx1"/>
              </a:solidFill>
              <a:latin typeface="宋体" panose="02010600030101010101" pitchFamily="2" charset="-122"/>
              <a:ea typeface="宋体" panose="02010600030101010101" pitchFamily="2"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48130" name="图片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88" y="38100"/>
            <a:ext cx="9144000" cy="169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1" name="标题 1"/>
          <p:cNvSpPr txBox="1">
            <a:spLocks noChangeArrowheads="1"/>
          </p:cNvSpPr>
          <p:nvPr/>
        </p:nvSpPr>
        <p:spPr bwMode="auto">
          <a:xfrm>
            <a:off x="457200" y="-28575"/>
            <a:ext cx="8229600" cy="112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kumimoji="1" lang="zh-CN" altLang="en-US" sz="3600" b="1">
                <a:solidFill>
                  <a:schemeClr val="bg1"/>
                </a:solidFill>
                <a:latin typeface="Arial" panose="020B0604020202020204" pitchFamily="34" charset="0"/>
                <a:ea typeface="宋体" panose="02010600030101010101" pitchFamily="2" charset="-122"/>
              </a:rPr>
              <a:t>断言</a:t>
            </a:r>
            <a:r>
              <a:rPr kumimoji="1" lang="en-US" altLang="zh-CN" sz="3600" b="1">
                <a:solidFill>
                  <a:schemeClr val="bg1"/>
                </a:solidFill>
                <a:latin typeface="Arial" panose="020B0604020202020204" pitchFamily="34" charset="0"/>
                <a:ea typeface="宋体" panose="02010600030101010101" pitchFamily="2" charset="-122"/>
              </a:rPr>
              <a:t>（</a:t>
            </a:r>
            <a:r>
              <a:rPr kumimoji="1" lang="zh-CN" altLang="en-US" sz="3600" b="1">
                <a:solidFill>
                  <a:schemeClr val="bg1"/>
                </a:solidFill>
                <a:latin typeface="Arial" panose="020B0604020202020204" pitchFamily="34" charset="0"/>
                <a:ea typeface="宋体" panose="02010600030101010101" pitchFamily="2" charset="-122"/>
              </a:rPr>
              <a:t>续</a:t>
            </a:r>
            <a:r>
              <a:rPr kumimoji="1" lang="en-US" altLang="zh-CN" sz="3600" b="1">
                <a:solidFill>
                  <a:schemeClr val="bg1"/>
                </a:solidFill>
                <a:latin typeface="Arial" panose="020B0604020202020204" pitchFamily="34" charset="0"/>
                <a:ea typeface="宋体" panose="02010600030101010101" pitchFamily="2" charset="-122"/>
              </a:rPr>
              <a:t>）</a:t>
            </a:r>
          </a:p>
        </p:txBody>
      </p:sp>
      <p:sp>
        <p:nvSpPr>
          <p:cNvPr id="54275" name="内容占位符 2"/>
          <p:cNvSpPr txBox="1">
            <a:spLocks noChangeArrowheads="1"/>
          </p:cNvSpPr>
          <p:nvPr/>
        </p:nvSpPr>
        <p:spPr bwMode="auto">
          <a:xfrm>
            <a:off x="265113" y="1557338"/>
            <a:ext cx="8534400" cy="463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lvl="1" eaLnBrk="1" hangingPunct="1">
              <a:lnSpc>
                <a:spcPct val="100000"/>
              </a:lnSpc>
              <a:spcBef>
                <a:spcPct val="20000"/>
              </a:spcBef>
              <a:buFont typeface="Wingdings" panose="05000000000000000000" pitchFamily="2" charset="2"/>
              <a:buNone/>
            </a:pPr>
            <a:r>
              <a:rPr kumimoji="1" lang="en-US" altLang="zh-CN" sz="3200" dirty="0">
                <a:latin typeface="Arial" panose="020B0604020202020204" pitchFamily="34" charset="0"/>
                <a:ea typeface="宋体" panose="02010600030101010101" pitchFamily="2" charset="-122"/>
              </a:rPr>
              <a:t>[</a:t>
            </a:r>
            <a:r>
              <a:rPr kumimoji="1" lang="zh-CN" altLang="en-US" sz="3200" dirty="0">
                <a:latin typeface="Arial" panose="020B0604020202020204" pitchFamily="34" charset="0"/>
                <a:ea typeface="宋体" panose="02010600030101010101" pitchFamily="2" charset="-122"/>
              </a:rPr>
              <a:t>例</a:t>
            </a:r>
            <a:r>
              <a:rPr kumimoji="1" lang="en-US" altLang="zh-CN" sz="3200" dirty="0">
                <a:latin typeface="Arial" panose="020B0604020202020204" pitchFamily="34" charset="0"/>
                <a:ea typeface="宋体" panose="02010600030101010101" pitchFamily="2" charset="-122"/>
              </a:rPr>
              <a:t>7] </a:t>
            </a:r>
            <a:r>
              <a:rPr kumimoji="1" lang="zh-CN" altLang="en-US" sz="3200" dirty="0">
                <a:latin typeface="Arial" panose="020B0604020202020204" pitchFamily="34" charset="0"/>
                <a:ea typeface="宋体" panose="02010600030101010101" pitchFamily="2" charset="-122"/>
              </a:rPr>
              <a:t>限制数据库课程最多</a:t>
            </a:r>
            <a:r>
              <a:rPr kumimoji="1" lang="en-US" altLang="zh-CN" sz="3200" dirty="0">
                <a:latin typeface="Arial" panose="020B0604020202020204" pitchFamily="34" charset="0"/>
                <a:ea typeface="宋体" panose="02010600030101010101" pitchFamily="2" charset="-122"/>
              </a:rPr>
              <a:t>60</a:t>
            </a:r>
            <a:r>
              <a:rPr kumimoji="1" lang="zh-CN" altLang="en-US" sz="3200" dirty="0">
                <a:latin typeface="Arial" panose="020B0604020202020204" pitchFamily="34" charset="0"/>
                <a:ea typeface="宋体" panose="02010600030101010101" pitchFamily="2" charset="-122"/>
              </a:rPr>
              <a:t>名学生选修</a:t>
            </a:r>
            <a:endParaRPr kumimoji="1" lang="en-US" altLang="zh-CN" sz="3200" dirty="0">
              <a:latin typeface="Arial" panose="020B0604020202020204" pitchFamily="34" charset="0"/>
              <a:ea typeface="宋体" panose="02010600030101010101" pitchFamily="2" charset="-122"/>
            </a:endParaRPr>
          </a:p>
          <a:p>
            <a:pPr lvl="1" eaLnBrk="1" hangingPunct="1">
              <a:lnSpc>
                <a:spcPct val="100000"/>
              </a:lnSpc>
              <a:spcBef>
                <a:spcPct val="20000"/>
              </a:spcBef>
              <a:buFont typeface="Wingdings" panose="05000000000000000000" pitchFamily="2" charset="2"/>
              <a:buNone/>
            </a:pPr>
            <a:r>
              <a:rPr kumimoji="1" lang="en-US" altLang="zh-CN" dirty="0">
                <a:latin typeface="Arial" panose="020B0604020202020204" pitchFamily="34" charset="0"/>
                <a:ea typeface="宋体" panose="02010600030101010101" pitchFamily="2" charset="-122"/>
              </a:rPr>
              <a:t>	</a:t>
            </a:r>
          </a:p>
          <a:p>
            <a:pPr lvl="1" eaLnBrk="1" hangingPunct="1">
              <a:lnSpc>
                <a:spcPct val="100000"/>
              </a:lnSpc>
              <a:spcBef>
                <a:spcPct val="20000"/>
              </a:spcBef>
              <a:buFont typeface="Wingdings" panose="05000000000000000000" pitchFamily="2" charset="2"/>
              <a:buNone/>
            </a:pPr>
            <a:r>
              <a:rPr kumimoji="1" lang="en-US" altLang="zh-CN" dirty="0">
                <a:latin typeface="Arial" panose="020B0604020202020204" pitchFamily="34" charset="0"/>
                <a:ea typeface="宋体" panose="02010600030101010101" pitchFamily="2" charset="-122"/>
              </a:rPr>
              <a:t>CREATE ASSERTION ASSE_SC_DB_NUM</a:t>
            </a:r>
          </a:p>
          <a:p>
            <a:pPr lvl="1" eaLnBrk="1" hangingPunct="1">
              <a:lnSpc>
                <a:spcPct val="100000"/>
              </a:lnSpc>
              <a:spcBef>
                <a:spcPct val="20000"/>
              </a:spcBef>
              <a:buFont typeface="Wingdings" panose="05000000000000000000" pitchFamily="2" charset="2"/>
              <a:buNone/>
            </a:pPr>
            <a:r>
              <a:rPr kumimoji="1" lang="en-US" altLang="zh-CN" dirty="0">
                <a:latin typeface="Arial" panose="020B0604020202020204" pitchFamily="34" charset="0"/>
                <a:ea typeface="宋体" panose="02010600030101010101" pitchFamily="2" charset="-122"/>
              </a:rPr>
              <a:t>	CHECK</a:t>
            </a:r>
            <a:r>
              <a:rPr kumimoji="1" lang="zh-CN" altLang="en-US" dirty="0">
                <a:latin typeface="Arial" panose="020B0604020202020204" pitchFamily="34" charset="0"/>
                <a:ea typeface="宋体" panose="02010600030101010101" pitchFamily="2" charset="-122"/>
              </a:rPr>
              <a:t> (</a:t>
            </a:r>
            <a:r>
              <a:rPr kumimoji="1" lang="en-US" altLang="zh-CN" dirty="0">
                <a:latin typeface="Arial" panose="020B0604020202020204" pitchFamily="34" charset="0"/>
                <a:ea typeface="宋体" panose="02010600030101010101" pitchFamily="2" charset="-122"/>
              </a:rPr>
              <a:t>60 &gt;= </a:t>
            </a:r>
            <a:r>
              <a:rPr kumimoji="1" lang="zh-CN" altLang="en-US" dirty="0">
                <a:latin typeface="Arial" panose="020B0604020202020204" pitchFamily="34" charset="0"/>
                <a:ea typeface="宋体" panose="02010600030101010101" pitchFamily="2" charset="-122"/>
              </a:rPr>
              <a:t>(</a:t>
            </a:r>
            <a:r>
              <a:rPr kumimoji="1" lang="en-US" altLang="zh-CN" dirty="0">
                <a:latin typeface="Arial" panose="020B0604020202020204" pitchFamily="34" charset="0"/>
                <a:ea typeface="宋体" panose="02010600030101010101" pitchFamily="2" charset="-122"/>
              </a:rPr>
              <a:t>select</a:t>
            </a:r>
            <a:r>
              <a:rPr kumimoji="1" lang="zh-CN" altLang="en-US" dirty="0">
                <a:latin typeface="Arial" panose="020B0604020202020204" pitchFamily="34" charset="0"/>
                <a:ea typeface="宋体" panose="02010600030101010101" pitchFamily="2" charset="-122"/>
              </a:rPr>
              <a:t> </a:t>
            </a:r>
            <a:r>
              <a:rPr kumimoji="1" lang="en-US" altLang="zh-CN" dirty="0">
                <a:latin typeface="Arial" panose="020B0604020202020204" pitchFamily="34" charset="0"/>
                <a:ea typeface="宋体" panose="02010600030101010101" pitchFamily="2" charset="-122"/>
              </a:rPr>
              <a:t>count</a:t>
            </a:r>
            <a:r>
              <a:rPr kumimoji="1" lang="zh-CN" altLang="en-US" dirty="0">
                <a:latin typeface="Arial" panose="020B0604020202020204" pitchFamily="34" charset="0"/>
                <a:ea typeface="宋体" panose="02010600030101010101" pitchFamily="2" charset="-122"/>
              </a:rPr>
              <a:t>(</a:t>
            </a:r>
            <a:r>
              <a:rPr kumimoji="1" lang="en-US" altLang="zh-CN" dirty="0">
                <a:latin typeface="Arial" panose="020B0604020202020204" pitchFamily="34" charset="0"/>
                <a:ea typeface="宋体" panose="02010600030101010101" pitchFamily="2" charset="-122"/>
              </a:rPr>
              <a:t>*</a:t>
            </a:r>
            <a:r>
              <a:rPr kumimoji="1" lang="zh-CN" altLang="en-US" dirty="0">
                <a:latin typeface="Arial" panose="020B0604020202020204" pitchFamily="34" charset="0"/>
                <a:ea typeface="宋体" panose="02010600030101010101" pitchFamily="2" charset="-122"/>
              </a:rPr>
              <a:t>)</a:t>
            </a:r>
          </a:p>
          <a:p>
            <a:pPr lvl="1" eaLnBrk="1" hangingPunct="1">
              <a:lnSpc>
                <a:spcPct val="100000"/>
              </a:lnSpc>
              <a:spcBef>
                <a:spcPct val="20000"/>
              </a:spcBef>
              <a:buFont typeface="Wingdings" panose="05000000000000000000" pitchFamily="2" charset="2"/>
              <a:buNone/>
            </a:pPr>
            <a:r>
              <a:rPr kumimoji="1" lang="zh-CN" altLang="en-US" dirty="0">
                <a:latin typeface="Arial" panose="020B0604020202020204" pitchFamily="34" charset="0"/>
                <a:ea typeface="宋体" panose="02010600030101010101" pitchFamily="2" charset="-122"/>
              </a:rPr>
              <a:t>		            </a:t>
            </a:r>
            <a:r>
              <a:rPr kumimoji="1" lang="en-US" altLang="zh-CN" dirty="0">
                <a:latin typeface="Arial" panose="020B0604020202020204" pitchFamily="34" charset="0"/>
                <a:ea typeface="宋体" panose="02010600030101010101" pitchFamily="2" charset="-122"/>
              </a:rPr>
              <a:t>From </a:t>
            </a:r>
            <a:r>
              <a:rPr kumimoji="1" lang="en-US" altLang="zh-CN" dirty="0" err="1">
                <a:latin typeface="Arial" panose="020B0604020202020204" pitchFamily="34" charset="0"/>
                <a:ea typeface="宋体" panose="02010600030101010101" pitchFamily="2" charset="-122"/>
              </a:rPr>
              <a:t>Course,SC</a:t>
            </a:r>
            <a:endParaRPr kumimoji="1" lang="en-US" altLang="zh-CN" dirty="0">
              <a:latin typeface="Arial" panose="020B0604020202020204" pitchFamily="34" charset="0"/>
              <a:ea typeface="宋体" panose="02010600030101010101" pitchFamily="2" charset="-122"/>
            </a:endParaRPr>
          </a:p>
          <a:p>
            <a:pPr lvl="1" eaLnBrk="1" hangingPunct="1">
              <a:lnSpc>
                <a:spcPct val="100000"/>
              </a:lnSpc>
              <a:spcBef>
                <a:spcPct val="20000"/>
              </a:spcBef>
              <a:buFont typeface="Wingdings" panose="05000000000000000000" pitchFamily="2" charset="2"/>
              <a:buNone/>
            </a:pPr>
            <a:r>
              <a:rPr kumimoji="1" lang="en-US" altLang="zh-CN" dirty="0">
                <a:latin typeface="Arial" panose="020B0604020202020204" pitchFamily="34" charset="0"/>
                <a:ea typeface="宋体" panose="02010600030101010101" pitchFamily="2" charset="-122"/>
              </a:rPr>
              <a:t>    </a:t>
            </a:r>
            <a:r>
              <a:rPr kumimoji="1" lang="zh-CN" altLang="en-US" dirty="0">
                <a:latin typeface="Arial" panose="020B0604020202020204" pitchFamily="34" charset="0"/>
                <a:ea typeface="宋体" panose="02010600030101010101" pitchFamily="2" charset="-122"/>
              </a:rPr>
              <a:t>		    	</a:t>
            </a:r>
            <a:r>
              <a:rPr kumimoji="1" lang="en-US" altLang="zh-CN" dirty="0">
                <a:latin typeface="Arial" panose="020B0604020202020204" pitchFamily="34" charset="0"/>
                <a:ea typeface="宋体" panose="02010600030101010101" pitchFamily="2" charset="-122"/>
              </a:rPr>
              <a:t>Where </a:t>
            </a:r>
            <a:r>
              <a:rPr kumimoji="1" lang="en-US" altLang="zh-CN" dirty="0" err="1">
                <a:latin typeface="Arial" panose="020B0604020202020204" pitchFamily="34" charset="0"/>
                <a:ea typeface="宋体" panose="02010600030101010101" pitchFamily="2" charset="-122"/>
              </a:rPr>
              <a:t>SC.Cno</a:t>
            </a:r>
            <a:r>
              <a:rPr kumimoji="1" lang="en-US" altLang="zh-CN" dirty="0">
                <a:latin typeface="Arial" panose="020B0604020202020204" pitchFamily="34" charset="0"/>
                <a:ea typeface="宋体" panose="02010600030101010101" pitchFamily="2" charset="-122"/>
              </a:rPr>
              <a:t>=</a:t>
            </a:r>
            <a:r>
              <a:rPr kumimoji="1" lang="en-US" altLang="zh-CN" dirty="0" err="1">
                <a:latin typeface="Arial" panose="020B0604020202020204" pitchFamily="34" charset="0"/>
                <a:ea typeface="宋体" panose="02010600030101010101" pitchFamily="2" charset="-122"/>
              </a:rPr>
              <a:t>Course.Cno</a:t>
            </a:r>
            <a:r>
              <a:rPr kumimoji="1" lang="en-US" altLang="zh-CN" dirty="0">
                <a:latin typeface="Arial" panose="020B0604020202020204" pitchFamily="34" charset="0"/>
                <a:ea typeface="宋体" panose="02010600030101010101" pitchFamily="2" charset="-122"/>
              </a:rPr>
              <a:t> and </a:t>
            </a:r>
            <a:r>
              <a:rPr kumimoji="1" lang="zh-CN" altLang="en-US" dirty="0">
                <a:latin typeface="Arial" panose="020B0604020202020204" pitchFamily="34" charset="0"/>
                <a:ea typeface="宋体" panose="02010600030101010101" pitchFamily="2" charset="-122"/>
              </a:rPr>
              <a:t>						</a:t>
            </a:r>
            <a:r>
              <a:rPr kumimoji="1" lang="en-US" altLang="zh-CN" dirty="0" err="1">
                <a:latin typeface="Arial" panose="020B0604020202020204" pitchFamily="34" charset="0"/>
                <a:ea typeface="宋体" panose="02010600030101010101" pitchFamily="2" charset="-122"/>
              </a:rPr>
              <a:t>Course.Cname</a:t>
            </a:r>
            <a:r>
              <a:rPr kumimoji="1" lang="en-US" altLang="zh-CN" dirty="0">
                <a:latin typeface="Arial" panose="020B0604020202020204" pitchFamily="34" charset="0"/>
                <a:ea typeface="宋体" panose="02010600030101010101" pitchFamily="2" charset="-122"/>
              </a:rPr>
              <a:t> =</a:t>
            </a:r>
            <a:r>
              <a:rPr kumimoji="1" lang="zh-CN" altLang="en-US" dirty="0">
                <a:latin typeface="Arial" panose="020B0604020202020204" pitchFamily="34" charset="0"/>
                <a:ea typeface="宋体" panose="02010600030101010101" pitchFamily="2" charset="-122"/>
              </a:rPr>
              <a:t>'数据库')</a:t>
            </a:r>
          </a:p>
          <a:p>
            <a:pPr lvl="1" eaLnBrk="1" hangingPunct="1">
              <a:lnSpc>
                <a:spcPct val="100000"/>
              </a:lnSpc>
              <a:spcBef>
                <a:spcPct val="20000"/>
              </a:spcBef>
              <a:buFont typeface="Wingdings" panose="05000000000000000000" pitchFamily="2" charset="2"/>
              <a:buNone/>
            </a:pPr>
            <a:r>
              <a:rPr kumimoji="1" lang="zh-CN" altLang="en-US" dirty="0">
                <a:latin typeface="Arial" panose="020B0604020202020204" pitchFamily="34" charset="0"/>
                <a:ea typeface="宋体" panose="02010600030101010101" pitchFamily="2" charset="-122"/>
              </a:rPr>
              <a:t>			   	)</a:t>
            </a:r>
            <a:r>
              <a:rPr kumimoji="1" lang="en-US" altLang="zh-CN" dirty="0">
                <a:latin typeface="Arial" panose="020B0604020202020204" pitchFamily="34" charset="0"/>
                <a:ea typeface="宋体" panose="02010600030101010101" pitchFamily="2" charset="-122"/>
              </a:rPr>
              <a:t>;</a:t>
            </a:r>
          </a:p>
        </p:txBody>
      </p:sp>
      <p:sp>
        <p:nvSpPr>
          <p:cNvPr id="48133" name="页脚占位符 3"/>
          <p:cNvSpPr txBox="1">
            <a:spLocks noGrp="1" noChangeArrowheads="1"/>
          </p:cNvSpPr>
          <p:nvPr/>
        </p:nvSpPr>
        <p:spPr bwMode="auto">
          <a:xfrm>
            <a:off x="5219700" y="6381750"/>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kumimoji="1" lang="en-US" altLang="zh-CN" sz="1400" b="1">
              <a:solidFill>
                <a:srgbClr val="F03628"/>
              </a:solidFill>
              <a:latin typeface="Arial" panose="020B0604020202020204" pitchFamily="34" charset="0"/>
              <a:ea typeface="宋体" panose="02010600030101010101" pitchFamily="2" charset="-122"/>
            </a:endParaRPr>
          </a:p>
        </p:txBody>
      </p:sp>
      <p:sp>
        <p:nvSpPr>
          <p:cNvPr id="5" name="标题 1"/>
          <p:cNvSpPr txBox="1"/>
          <p:nvPr/>
        </p:nvSpPr>
        <p:spPr bwMode="auto">
          <a:xfrm>
            <a:off x="1250633" y="44624"/>
            <a:ext cx="7793037" cy="1143000"/>
          </a:xfrm>
          <a:prstGeom prst="rect">
            <a:avLst/>
          </a:prstGeom>
          <a:noFill/>
          <a:ln>
            <a:noFill/>
          </a:ln>
        </p:spPr>
        <p:txBody>
          <a:bodyPr anchor="b"/>
          <a:lstStyle>
            <a:lvl1pPr algn="l" rtl="0" eaLnBrk="0" fontAlgn="base" hangingPunct="0">
              <a:spcBef>
                <a:spcPct val="0"/>
              </a:spcBef>
              <a:spcAft>
                <a:spcPct val="0"/>
              </a:spcAft>
              <a:defRPr kumimoji="1" sz="3600" b="1">
                <a:solidFill>
                  <a:schemeClr val="tx2"/>
                </a:solidFill>
                <a:latin typeface="+mj-lt"/>
                <a:ea typeface="+mj-ea"/>
                <a:cs typeface="+mj-cs"/>
              </a:defRPr>
            </a:lvl1pPr>
            <a:lvl2pPr algn="l" rtl="0" eaLnBrk="0" fontAlgn="base" hangingPunct="0">
              <a:spcBef>
                <a:spcPct val="0"/>
              </a:spcBef>
              <a:spcAft>
                <a:spcPct val="0"/>
              </a:spcAft>
              <a:defRPr kumimoji="1" sz="3600" b="1">
                <a:solidFill>
                  <a:schemeClr val="tx2"/>
                </a:solidFill>
                <a:latin typeface="Tahoma" panose="020B0604030504040204" pitchFamily="34" charset="0"/>
                <a:ea typeface="仿宋_GB2312" pitchFamily="49" charset="-122"/>
              </a:defRPr>
            </a:lvl2pPr>
            <a:lvl3pPr algn="l" rtl="0" eaLnBrk="0" fontAlgn="base" hangingPunct="0">
              <a:spcBef>
                <a:spcPct val="0"/>
              </a:spcBef>
              <a:spcAft>
                <a:spcPct val="0"/>
              </a:spcAft>
              <a:defRPr kumimoji="1" sz="3600" b="1">
                <a:solidFill>
                  <a:schemeClr val="tx2"/>
                </a:solidFill>
                <a:latin typeface="Tahoma" panose="020B0604030504040204" pitchFamily="34" charset="0"/>
                <a:ea typeface="仿宋_GB2312" pitchFamily="49" charset="-122"/>
              </a:defRPr>
            </a:lvl3pPr>
            <a:lvl4pPr algn="l" rtl="0" eaLnBrk="0" fontAlgn="base" hangingPunct="0">
              <a:spcBef>
                <a:spcPct val="0"/>
              </a:spcBef>
              <a:spcAft>
                <a:spcPct val="0"/>
              </a:spcAft>
              <a:defRPr kumimoji="1" sz="3600" b="1">
                <a:solidFill>
                  <a:schemeClr val="tx2"/>
                </a:solidFill>
                <a:latin typeface="Tahoma" panose="020B0604030504040204" pitchFamily="34" charset="0"/>
                <a:ea typeface="仿宋_GB2312" pitchFamily="49" charset="-122"/>
              </a:defRPr>
            </a:lvl4pPr>
            <a:lvl5pPr algn="l" rtl="0" eaLnBrk="0" fontAlgn="base" hangingPunct="0">
              <a:spcBef>
                <a:spcPct val="0"/>
              </a:spcBef>
              <a:spcAft>
                <a:spcPct val="0"/>
              </a:spcAft>
              <a:defRPr kumimoji="1" sz="3600" b="1">
                <a:solidFill>
                  <a:schemeClr val="tx2"/>
                </a:solidFill>
                <a:latin typeface="Tahoma" panose="020B0604030504040204" pitchFamily="34" charset="0"/>
                <a:ea typeface="仿宋_GB2312" pitchFamily="49" charset="-122"/>
              </a:defRPr>
            </a:lvl5pPr>
            <a:lvl6pPr marL="457200" algn="l" rtl="0" fontAlgn="base">
              <a:spcBef>
                <a:spcPct val="0"/>
              </a:spcBef>
              <a:spcAft>
                <a:spcPct val="0"/>
              </a:spcAft>
              <a:defRPr kumimoji="1" sz="3600" b="1">
                <a:solidFill>
                  <a:schemeClr val="tx2"/>
                </a:solidFill>
                <a:latin typeface="Tahoma" panose="020B0604030504040204" pitchFamily="34" charset="0"/>
                <a:ea typeface="仿宋_GB2312" pitchFamily="49" charset="-122"/>
              </a:defRPr>
            </a:lvl6pPr>
            <a:lvl7pPr marL="914400" algn="l" rtl="0" fontAlgn="base">
              <a:spcBef>
                <a:spcPct val="0"/>
              </a:spcBef>
              <a:spcAft>
                <a:spcPct val="0"/>
              </a:spcAft>
              <a:defRPr kumimoji="1" sz="3600" b="1">
                <a:solidFill>
                  <a:schemeClr val="tx2"/>
                </a:solidFill>
                <a:latin typeface="Tahoma" panose="020B0604030504040204" pitchFamily="34" charset="0"/>
                <a:ea typeface="仿宋_GB2312" pitchFamily="49" charset="-122"/>
              </a:defRPr>
            </a:lvl7pPr>
            <a:lvl8pPr marL="1371600" algn="l" rtl="0" fontAlgn="base">
              <a:spcBef>
                <a:spcPct val="0"/>
              </a:spcBef>
              <a:spcAft>
                <a:spcPct val="0"/>
              </a:spcAft>
              <a:defRPr kumimoji="1" sz="3600" b="1">
                <a:solidFill>
                  <a:schemeClr val="tx2"/>
                </a:solidFill>
                <a:latin typeface="Tahoma" panose="020B0604030504040204" pitchFamily="34" charset="0"/>
                <a:ea typeface="仿宋_GB2312" pitchFamily="49" charset="-122"/>
              </a:defRPr>
            </a:lvl8pPr>
            <a:lvl9pPr marL="1828800" algn="l" rtl="0" fontAlgn="base">
              <a:spcBef>
                <a:spcPct val="0"/>
              </a:spcBef>
              <a:spcAft>
                <a:spcPct val="0"/>
              </a:spcAft>
              <a:defRPr kumimoji="1" sz="3600" b="1">
                <a:solidFill>
                  <a:schemeClr val="tx2"/>
                </a:solidFill>
                <a:latin typeface="Tahoma" panose="020B0604030504040204" pitchFamily="34" charset="0"/>
                <a:ea typeface="仿宋_GB2312" pitchFamily="49" charset="-122"/>
              </a:defRPr>
            </a:lvl9pPr>
          </a:lstStyle>
          <a:p>
            <a:pPr eaLnBrk="1" hangingPunct="1">
              <a:defRPr/>
            </a:pPr>
            <a:r>
              <a:rPr lang="zh-CN" altLang="en-US" b="0" dirty="0">
                <a:solidFill>
                  <a:schemeClr val="tx1"/>
                </a:solidFill>
                <a:latin typeface="宋体" panose="02010600030101010101" pitchFamily="2" charset="-122"/>
                <a:ea typeface="宋体" panose="02010600030101010101" pitchFamily="2" charset="-122"/>
              </a:rPr>
              <a:t>断言</a:t>
            </a:r>
            <a:r>
              <a:rPr lang="en-US" altLang="zh-CN" b="0" dirty="0">
                <a:solidFill>
                  <a:schemeClr val="tx1"/>
                </a:solidFill>
                <a:latin typeface="宋体" panose="02010600030101010101" pitchFamily="2" charset="-122"/>
                <a:ea typeface="宋体" panose="02010600030101010101" pitchFamily="2" charset="-122"/>
              </a:rPr>
              <a:t>（</a:t>
            </a:r>
            <a:r>
              <a:rPr lang="zh-CN" altLang="en-US" b="0" dirty="0">
                <a:solidFill>
                  <a:schemeClr val="tx1"/>
                </a:solidFill>
                <a:latin typeface="宋体" panose="02010600030101010101" pitchFamily="2" charset="-122"/>
                <a:ea typeface="宋体" panose="02010600030101010101" pitchFamily="2" charset="-122"/>
              </a:rPr>
              <a:t>续</a:t>
            </a:r>
            <a:r>
              <a:rPr lang="en-US" altLang="zh-CN" b="0" dirty="0">
                <a:solidFill>
                  <a:schemeClr val="tx1"/>
                </a:solidFill>
                <a:latin typeface="宋体" panose="02010600030101010101" pitchFamily="2" charset="-122"/>
                <a:ea typeface="宋体" panose="02010600030101010101" pitchFamily="2" charset="-122"/>
              </a:rPr>
              <a:t>）</a:t>
            </a:r>
            <a:endParaRPr lang="en-US" altLang="zh-CN" b="0" kern="0" dirty="0">
              <a:solidFill>
                <a:schemeClr val="tx1"/>
              </a:solidFill>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4275">
                                            <p:txEl>
                                              <p:pRg st="2" end="2"/>
                                            </p:txEl>
                                          </p:spTgt>
                                        </p:tgtEl>
                                        <p:attrNameLst>
                                          <p:attrName>style.visibility</p:attrName>
                                        </p:attrNameLst>
                                      </p:cBhvr>
                                      <p:to>
                                        <p:strVal val="visible"/>
                                      </p:to>
                                    </p:set>
                                    <p:animEffect transition="in" filter="fade">
                                      <p:cBhvr>
                                        <p:cTn id="7" dur="1000"/>
                                        <p:tgtEl>
                                          <p:spTgt spid="54275">
                                            <p:txEl>
                                              <p:pRg st="2" end="2"/>
                                            </p:txEl>
                                          </p:spTgt>
                                        </p:tgtEl>
                                      </p:cBhvr>
                                    </p:animEffect>
                                    <p:anim calcmode="lin" valueType="num">
                                      <p:cBhvr>
                                        <p:cTn id="8" dur="1000" fill="hold"/>
                                        <p:tgtEl>
                                          <p:spTgt spid="5427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4275">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4275">
                                            <p:txEl>
                                              <p:pRg st="3" end="3"/>
                                            </p:txEl>
                                          </p:spTgt>
                                        </p:tgtEl>
                                        <p:attrNameLst>
                                          <p:attrName>style.visibility</p:attrName>
                                        </p:attrNameLst>
                                      </p:cBhvr>
                                      <p:to>
                                        <p:strVal val="visible"/>
                                      </p:to>
                                    </p:set>
                                    <p:animEffect transition="in" filter="fade">
                                      <p:cBhvr>
                                        <p:cTn id="12" dur="1000"/>
                                        <p:tgtEl>
                                          <p:spTgt spid="54275">
                                            <p:txEl>
                                              <p:pRg st="3" end="3"/>
                                            </p:txEl>
                                          </p:spTgt>
                                        </p:tgtEl>
                                      </p:cBhvr>
                                    </p:animEffect>
                                    <p:anim calcmode="lin" valueType="num">
                                      <p:cBhvr>
                                        <p:cTn id="13" dur="1000" fill="hold"/>
                                        <p:tgtEl>
                                          <p:spTgt spid="54275">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54275">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4275">
                                            <p:txEl>
                                              <p:pRg st="4" end="4"/>
                                            </p:txEl>
                                          </p:spTgt>
                                        </p:tgtEl>
                                        <p:attrNameLst>
                                          <p:attrName>style.visibility</p:attrName>
                                        </p:attrNameLst>
                                      </p:cBhvr>
                                      <p:to>
                                        <p:strVal val="visible"/>
                                      </p:to>
                                    </p:set>
                                    <p:animEffect transition="in" filter="fade">
                                      <p:cBhvr>
                                        <p:cTn id="17" dur="1000"/>
                                        <p:tgtEl>
                                          <p:spTgt spid="54275">
                                            <p:txEl>
                                              <p:pRg st="4" end="4"/>
                                            </p:txEl>
                                          </p:spTgt>
                                        </p:tgtEl>
                                      </p:cBhvr>
                                    </p:animEffect>
                                    <p:anim calcmode="lin" valueType="num">
                                      <p:cBhvr>
                                        <p:cTn id="18" dur="1000" fill="hold"/>
                                        <p:tgtEl>
                                          <p:spTgt spid="54275">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54275">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4275">
                                            <p:txEl>
                                              <p:pRg st="5" end="5"/>
                                            </p:txEl>
                                          </p:spTgt>
                                        </p:tgtEl>
                                        <p:attrNameLst>
                                          <p:attrName>style.visibility</p:attrName>
                                        </p:attrNameLst>
                                      </p:cBhvr>
                                      <p:to>
                                        <p:strVal val="visible"/>
                                      </p:to>
                                    </p:set>
                                    <p:animEffect transition="in" filter="fade">
                                      <p:cBhvr>
                                        <p:cTn id="22" dur="1000"/>
                                        <p:tgtEl>
                                          <p:spTgt spid="54275">
                                            <p:txEl>
                                              <p:pRg st="5" end="5"/>
                                            </p:txEl>
                                          </p:spTgt>
                                        </p:tgtEl>
                                      </p:cBhvr>
                                    </p:animEffect>
                                    <p:anim calcmode="lin" valueType="num">
                                      <p:cBhvr>
                                        <p:cTn id="23" dur="1000" fill="hold"/>
                                        <p:tgtEl>
                                          <p:spTgt spid="54275">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54275">
                                            <p:txEl>
                                              <p:pRg st="5" end="5"/>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54275">
                                            <p:txEl>
                                              <p:pRg st="6" end="6"/>
                                            </p:txEl>
                                          </p:spTgt>
                                        </p:tgtEl>
                                        <p:attrNameLst>
                                          <p:attrName>style.visibility</p:attrName>
                                        </p:attrNameLst>
                                      </p:cBhvr>
                                      <p:to>
                                        <p:strVal val="visible"/>
                                      </p:to>
                                    </p:set>
                                    <p:animEffect transition="in" filter="fade">
                                      <p:cBhvr>
                                        <p:cTn id="27" dur="1000"/>
                                        <p:tgtEl>
                                          <p:spTgt spid="54275">
                                            <p:txEl>
                                              <p:pRg st="6" end="6"/>
                                            </p:txEl>
                                          </p:spTgt>
                                        </p:tgtEl>
                                      </p:cBhvr>
                                    </p:animEffect>
                                    <p:anim calcmode="lin" valueType="num">
                                      <p:cBhvr>
                                        <p:cTn id="28" dur="1000" fill="hold"/>
                                        <p:tgtEl>
                                          <p:spTgt spid="54275">
                                            <p:txEl>
                                              <p:pRg st="6" end="6"/>
                                            </p:txEl>
                                          </p:spTgt>
                                        </p:tgtEl>
                                        <p:attrNameLst>
                                          <p:attrName>ppt_x</p:attrName>
                                        </p:attrNameLst>
                                      </p:cBhvr>
                                      <p:tavLst>
                                        <p:tav tm="0">
                                          <p:val>
                                            <p:strVal val="#ppt_x"/>
                                          </p:val>
                                        </p:tav>
                                        <p:tav tm="100000">
                                          <p:val>
                                            <p:strVal val="#ppt_x"/>
                                          </p:val>
                                        </p:tav>
                                      </p:tavLst>
                                    </p:anim>
                                    <p:anim calcmode="lin" valueType="num">
                                      <p:cBhvr>
                                        <p:cTn id="29" dur="1000" fill="hold"/>
                                        <p:tgtEl>
                                          <p:spTgt spid="54275">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49154" name="图片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50" y="0"/>
            <a:ext cx="9144000" cy="169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298" name="内容占位符 2"/>
          <p:cNvSpPr>
            <a:spLocks noGrp="1" noChangeArrowheads="1"/>
          </p:cNvSpPr>
          <p:nvPr>
            <p:ph idx="4294967295"/>
          </p:nvPr>
        </p:nvSpPr>
        <p:spPr>
          <a:xfrm>
            <a:off x="539750" y="1628775"/>
            <a:ext cx="8467725" cy="4227513"/>
          </a:xfrm>
        </p:spPr>
        <p:txBody>
          <a:bodyPr/>
          <a:lstStyle/>
          <a:p>
            <a:pPr eaLnBrk="1" hangingPunct="1">
              <a:buFont typeface="Wingdings" panose="05000000000000000000" pitchFamily="2" charset="2"/>
              <a:buNone/>
            </a:pPr>
            <a:r>
              <a:rPr lang="en-US" altLang="zh-CN" dirty="0"/>
              <a:t>[</a:t>
            </a:r>
            <a:r>
              <a:rPr lang="zh-CN" altLang="en-US" dirty="0"/>
              <a:t>例</a:t>
            </a:r>
            <a:r>
              <a:rPr lang="en-US" altLang="zh-CN" dirty="0"/>
              <a:t>8]</a:t>
            </a:r>
            <a:r>
              <a:rPr lang="zh-CN" altLang="en-US" dirty="0"/>
              <a:t>限制每一门课程最多</a:t>
            </a:r>
            <a:r>
              <a:rPr lang="en-US" altLang="zh-CN" dirty="0"/>
              <a:t>60</a:t>
            </a:r>
            <a:r>
              <a:rPr lang="zh-CN" altLang="en-US" dirty="0"/>
              <a:t>名学生选修</a:t>
            </a:r>
            <a:endParaRPr lang="en-US" altLang="zh-CN" dirty="0"/>
          </a:p>
          <a:p>
            <a:pPr eaLnBrk="1" hangingPunct="1">
              <a:buFont typeface="Wingdings" panose="05000000000000000000" pitchFamily="2" charset="2"/>
              <a:buNone/>
            </a:pPr>
            <a:endParaRPr lang="en-US" altLang="zh-CN" sz="2200" dirty="0"/>
          </a:p>
          <a:p>
            <a:pPr eaLnBrk="1" hangingPunct="1">
              <a:lnSpc>
                <a:spcPct val="120000"/>
              </a:lnSpc>
              <a:buFont typeface="Wingdings" panose="05000000000000000000" pitchFamily="2" charset="2"/>
              <a:buNone/>
            </a:pPr>
            <a:r>
              <a:rPr lang="en-US" altLang="zh-CN" sz="2200" dirty="0"/>
              <a:t>	CREATE ASSERTION ASSE_SC_CNUM1</a:t>
            </a:r>
          </a:p>
          <a:p>
            <a:pPr eaLnBrk="1" hangingPunct="1">
              <a:lnSpc>
                <a:spcPct val="120000"/>
              </a:lnSpc>
              <a:buFont typeface="Wingdings" panose="05000000000000000000" pitchFamily="2" charset="2"/>
              <a:buNone/>
            </a:pPr>
            <a:r>
              <a:rPr lang="en-US" altLang="zh-CN" sz="2200" dirty="0"/>
              <a:t>		CHECK</a:t>
            </a:r>
            <a:r>
              <a:rPr lang="zh-CN" altLang="en-US" sz="2200" dirty="0"/>
              <a:t>(</a:t>
            </a:r>
            <a:r>
              <a:rPr lang="en-US" altLang="zh-CN" sz="2200" dirty="0"/>
              <a:t>60 &gt;= ALL </a:t>
            </a:r>
            <a:r>
              <a:rPr lang="zh-CN" altLang="en-US" sz="2200" dirty="0"/>
              <a:t>(</a:t>
            </a:r>
            <a:r>
              <a:rPr lang="en-US" altLang="zh-CN" sz="2200" dirty="0"/>
              <a:t>SELECT count</a:t>
            </a:r>
            <a:r>
              <a:rPr lang="zh-CN" altLang="en-US" sz="2200" dirty="0"/>
              <a:t>(</a:t>
            </a:r>
            <a:r>
              <a:rPr lang="en-US" altLang="zh-CN" sz="2200" dirty="0"/>
              <a:t>*</a:t>
            </a:r>
            <a:r>
              <a:rPr lang="zh-CN" altLang="en-US" sz="2200" dirty="0"/>
              <a:t>) </a:t>
            </a:r>
            <a:r>
              <a:rPr lang="en-US" altLang="zh-CN" sz="2200" dirty="0"/>
              <a:t>		  </a:t>
            </a:r>
            <a:r>
              <a:rPr lang="zh-CN" altLang="en-US" sz="2200" dirty="0"/>
              <a:t> </a:t>
            </a:r>
            <a:r>
              <a:rPr lang="en-US" altLang="zh-CN" sz="2200" dirty="0"/>
              <a:t>				                  FROM  SC </a:t>
            </a:r>
          </a:p>
          <a:p>
            <a:pPr eaLnBrk="1" hangingPunct="1">
              <a:lnSpc>
                <a:spcPct val="120000"/>
              </a:lnSpc>
              <a:buFont typeface="Wingdings" panose="05000000000000000000" pitchFamily="2" charset="2"/>
              <a:buNone/>
            </a:pPr>
            <a:r>
              <a:rPr lang="en-US" altLang="zh-CN" sz="2200" dirty="0"/>
              <a:t>				    GROUP by </a:t>
            </a:r>
            <a:r>
              <a:rPr lang="en-US" altLang="zh-CN" sz="2200" dirty="0" err="1"/>
              <a:t>Cno</a:t>
            </a:r>
            <a:r>
              <a:rPr lang="zh-CN" altLang="en-US" sz="2200" dirty="0"/>
              <a:t>)</a:t>
            </a:r>
            <a:endParaRPr lang="en-US" altLang="zh-CN" sz="2200" dirty="0"/>
          </a:p>
          <a:p>
            <a:pPr eaLnBrk="1" hangingPunct="1">
              <a:lnSpc>
                <a:spcPct val="120000"/>
              </a:lnSpc>
              <a:buFont typeface="Wingdings" panose="05000000000000000000" pitchFamily="2" charset="2"/>
              <a:buNone/>
            </a:pPr>
            <a:r>
              <a:rPr lang="en-US" altLang="zh-CN" sz="2200" dirty="0"/>
              <a:t>       </a:t>
            </a:r>
            <a:r>
              <a:rPr lang="zh-CN" altLang="en-US" sz="2200" dirty="0"/>
              <a:t> </a:t>
            </a:r>
            <a:r>
              <a:rPr lang="en-US" altLang="zh-CN" sz="2200" dirty="0"/>
              <a:t>		  </a:t>
            </a:r>
            <a:r>
              <a:rPr lang="zh-CN" altLang="en-US" sz="2200" dirty="0"/>
              <a:t>)</a:t>
            </a:r>
            <a:r>
              <a:rPr lang="en-US" altLang="zh-CN" sz="2200" dirty="0"/>
              <a:t>;</a:t>
            </a:r>
            <a:r>
              <a:rPr lang="en-US" altLang="zh-CN" sz="2400" dirty="0"/>
              <a:t>	</a:t>
            </a:r>
            <a:endParaRPr lang="zh-CN" altLang="en-US" sz="2200" dirty="0"/>
          </a:p>
        </p:txBody>
      </p:sp>
      <p:sp>
        <p:nvSpPr>
          <p:cNvPr id="49156" name="标题 1"/>
          <p:cNvSpPr>
            <a:spLocks noGrp="1" noChangeArrowheads="1"/>
          </p:cNvSpPr>
          <p:nvPr>
            <p:ph type="title" idx="4294967295"/>
          </p:nvPr>
        </p:nvSpPr>
        <p:spPr>
          <a:xfrm>
            <a:off x="1269683" y="332656"/>
            <a:ext cx="7793037" cy="1143000"/>
          </a:xfrm>
        </p:spPr>
        <p:txBody>
          <a:bodyPr/>
          <a:lstStyle/>
          <a:p>
            <a:pPr eaLnBrk="1" hangingPunct="1"/>
            <a:r>
              <a:rPr lang="zh-CN" altLang="en-US" sz="3600" dirty="0">
                <a:solidFill>
                  <a:schemeClr val="tx1"/>
                </a:solidFill>
                <a:latin typeface="宋体" panose="02010600030101010101" pitchFamily="2" charset="-122"/>
                <a:ea typeface="宋体" panose="02010600030101010101" pitchFamily="2" charset="-122"/>
              </a:rPr>
              <a:t>断言</a:t>
            </a:r>
            <a:r>
              <a:rPr lang="en-US" altLang="zh-CN" sz="3600" dirty="0">
                <a:solidFill>
                  <a:schemeClr val="tx1"/>
                </a:solidFill>
                <a:latin typeface="宋体" panose="02010600030101010101" pitchFamily="2" charset="-122"/>
                <a:ea typeface="宋体" panose="02010600030101010101" pitchFamily="2" charset="-122"/>
              </a:rPr>
              <a:t>（</a:t>
            </a:r>
            <a:r>
              <a:rPr lang="zh-CN" altLang="en-US" sz="3600" dirty="0">
                <a:solidFill>
                  <a:schemeClr val="tx1"/>
                </a:solidFill>
                <a:latin typeface="宋体" panose="02010600030101010101" pitchFamily="2" charset="-122"/>
                <a:ea typeface="宋体" panose="02010600030101010101" pitchFamily="2" charset="-122"/>
              </a:rPr>
              <a:t>续）</a:t>
            </a:r>
            <a:endParaRPr lang="en-US" altLang="zh-CN" dirty="0"/>
          </a:p>
        </p:txBody>
      </p:sp>
      <p:sp>
        <p:nvSpPr>
          <p:cNvPr id="49157" name="页脚占位符 3"/>
          <p:cNvSpPr txBox="1">
            <a:spLocks noGrp="1" noChangeArrowheads="1"/>
          </p:cNvSpPr>
          <p:nvPr/>
        </p:nvSpPr>
        <p:spPr bwMode="auto">
          <a:xfrm>
            <a:off x="5219700" y="6381750"/>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kumimoji="1" lang="en-US" altLang="zh-CN" sz="1400" b="1">
              <a:solidFill>
                <a:srgbClr val="F03628"/>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5298">
                                            <p:txEl>
                                              <p:pRg st="2" end="2"/>
                                            </p:txEl>
                                          </p:spTgt>
                                        </p:tgtEl>
                                        <p:attrNameLst>
                                          <p:attrName>style.visibility</p:attrName>
                                        </p:attrNameLst>
                                      </p:cBhvr>
                                      <p:to>
                                        <p:strVal val="visible"/>
                                      </p:to>
                                    </p:set>
                                    <p:animEffect transition="in" filter="fade">
                                      <p:cBhvr>
                                        <p:cTn id="7" dur="1000"/>
                                        <p:tgtEl>
                                          <p:spTgt spid="55298">
                                            <p:txEl>
                                              <p:pRg st="2" end="2"/>
                                            </p:txEl>
                                          </p:spTgt>
                                        </p:tgtEl>
                                      </p:cBhvr>
                                    </p:animEffect>
                                    <p:anim calcmode="lin" valueType="num">
                                      <p:cBhvr>
                                        <p:cTn id="8" dur="1000" fill="hold"/>
                                        <p:tgtEl>
                                          <p:spTgt spid="55298">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5298">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5298">
                                            <p:txEl>
                                              <p:pRg st="3" end="3"/>
                                            </p:txEl>
                                          </p:spTgt>
                                        </p:tgtEl>
                                        <p:attrNameLst>
                                          <p:attrName>style.visibility</p:attrName>
                                        </p:attrNameLst>
                                      </p:cBhvr>
                                      <p:to>
                                        <p:strVal val="visible"/>
                                      </p:to>
                                    </p:set>
                                    <p:animEffect transition="in" filter="fade">
                                      <p:cBhvr>
                                        <p:cTn id="12" dur="1000"/>
                                        <p:tgtEl>
                                          <p:spTgt spid="55298">
                                            <p:txEl>
                                              <p:pRg st="3" end="3"/>
                                            </p:txEl>
                                          </p:spTgt>
                                        </p:tgtEl>
                                      </p:cBhvr>
                                    </p:animEffect>
                                    <p:anim calcmode="lin" valueType="num">
                                      <p:cBhvr>
                                        <p:cTn id="13" dur="1000" fill="hold"/>
                                        <p:tgtEl>
                                          <p:spTgt spid="55298">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55298">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5298">
                                            <p:txEl>
                                              <p:pRg st="4" end="4"/>
                                            </p:txEl>
                                          </p:spTgt>
                                        </p:tgtEl>
                                        <p:attrNameLst>
                                          <p:attrName>style.visibility</p:attrName>
                                        </p:attrNameLst>
                                      </p:cBhvr>
                                      <p:to>
                                        <p:strVal val="visible"/>
                                      </p:to>
                                    </p:set>
                                    <p:animEffect transition="in" filter="fade">
                                      <p:cBhvr>
                                        <p:cTn id="17" dur="1000"/>
                                        <p:tgtEl>
                                          <p:spTgt spid="55298">
                                            <p:txEl>
                                              <p:pRg st="4" end="4"/>
                                            </p:txEl>
                                          </p:spTgt>
                                        </p:tgtEl>
                                      </p:cBhvr>
                                    </p:animEffect>
                                    <p:anim calcmode="lin" valueType="num">
                                      <p:cBhvr>
                                        <p:cTn id="18" dur="1000" fill="hold"/>
                                        <p:tgtEl>
                                          <p:spTgt spid="55298">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55298">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5298">
                                            <p:txEl>
                                              <p:pRg st="5" end="5"/>
                                            </p:txEl>
                                          </p:spTgt>
                                        </p:tgtEl>
                                        <p:attrNameLst>
                                          <p:attrName>style.visibility</p:attrName>
                                        </p:attrNameLst>
                                      </p:cBhvr>
                                      <p:to>
                                        <p:strVal val="visible"/>
                                      </p:to>
                                    </p:set>
                                    <p:animEffect transition="in" filter="fade">
                                      <p:cBhvr>
                                        <p:cTn id="22" dur="1000"/>
                                        <p:tgtEl>
                                          <p:spTgt spid="55298">
                                            <p:txEl>
                                              <p:pRg st="5" end="5"/>
                                            </p:txEl>
                                          </p:spTgt>
                                        </p:tgtEl>
                                      </p:cBhvr>
                                    </p:animEffect>
                                    <p:anim calcmode="lin" valueType="num">
                                      <p:cBhvr>
                                        <p:cTn id="23" dur="1000" fill="hold"/>
                                        <p:tgtEl>
                                          <p:spTgt spid="55298">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55298">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0178" name="图片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4191"/>
            <a:ext cx="9144000" cy="169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79" name="内容占位符 2"/>
          <p:cNvSpPr>
            <a:spLocks noGrp="1" noChangeArrowheads="1"/>
          </p:cNvSpPr>
          <p:nvPr>
            <p:ph idx="4294967295"/>
          </p:nvPr>
        </p:nvSpPr>
        <p:spPr>
          <a:xfrm>
            <a:off x="179388" y="1616075"/>
            <a:ext cx="8229600" cy="4278313"/>
          </a:xfrm>
        </p:spPr>
        <p:txBody>
          <a:bodyPr/>
          <a:lstStyle/>
          <a:p>
            <a:pPr eaLnBrk="1" hangingPunct="1">
              <a:lnSpc>
                <a:spcPct val="150000"/>
              </a:lnSpc>
              <a:buFont typeface="Wingdings" panose="05000000000000000000" pitchFamily="2" charset="2"/>
              <a:buNone/>
            </a:pPr>
            <a:r>
              <a:rPr lang="en-US" altLang="zh-CN"/>
              <a:t>2. </a:t>
            </a:r>
            <a:r>
              <a:rPr lang="zh-CN" altLang="en-US"/>
              <a:t>删除断言的语句格式为</a:t>
            </a:r>
          </a:p>
          <a:p>
            <a:pPr lvl="1" eaLnBrk="1" hangingPunct="1">
              <a:lnSpc>
                <a:spcPct val="150000"/>
              </a:lnSpc>
            </a:pPr>
            <a:r>
              <a:rPr lang="en-US" altLang="zh-CN"/>
              <a:t>DROP ASSERTION &lt;</a:t>
            </a:r>
            <a:r>
              <a:rPr lang="zh-CN" altLang="en-US"/>
              <a:t>断言名</a:t>
            </a:r>
            <a:r>
              <a:rPr lang="en-US" altLang="zh-CN"/>
              <a:t>&gt;</a:t>
            </a:r>
            <a:r>
              <a:rPr lang="zh-CN" altLang="en-US"/>
              <a:t>;</a:t>
            </a:r>
          </a:p>
          <a:p>
            <a:pPr lvl="1" eaLnBrk="1" hangingPunct="1">
              <a:lnSpc>
                <a:spcPct val="150000"/>
              </a:lnSpc>
            </a:pPr>
            <a:r>
              <a:rPr lang="zh-CN" altLang="en-US"/>
              <a:t>如果断言很复杂，则系统在检测和维护断言的开销较高，这是在使用断言时应该注意</a:t>
            </a:r>
          </a:p>
        </p:txBody>
      </p:sp>
      <p:sp>
        <p:nvSpPr>
          <p:cNvPr id="50180" name="标题 1"/>
          <p:cNvSpPr>
            <a:spLocks noGrp="1" noChangeArrowheads="1"/>
          </p:cNvSpPr>
          <p:nvPr>
            <p:ph type="title" idx="4294967295"/>
          </p:nvPr>
        </p:nvSpPr>
        <p:spPr>
          <a:xfrm>
            <a:off x="1350963" y="332105"/>
            <a:ext cx="7793037" cy="1143000"/>
          </a:xfrm>
        </p:spPr>
        <p:txBody>
          <a:bodyPr/>
          <a:lstStyle/>
          <a:p>
            <a:pPr eaLnBrk="1" hangingPunct="1"/>
            <a:r>
              <a:rPr lang="zh-CN" altLang="en-US" sz="3600">
                <a:latin typeface="宋体" panose="02010600030101010101" pitchFamily="2" charset="-122"/>
                <a:ea typeface="宋体" panose="02010600030101010101" pitchFamily="2" charset="-122"/>
              </a:rPr>
              <a:t>断言</a:t>
            </a:r>
            <a:r>
              <a:rPr lang="en-US" altLang="zh-CN" sz="3600">
                <a:latin typeface="宋体" panose="02010600030101010101" pitchFamily="2" charset="-122"/>
                <a:ea typeface="宋体" panose="02010600030101010101" pitchFamily="2" charset="-122"/>
              </a:rPr>
              <a:t>（</a:t>
            </a:r>
            <a:r>
              <a:rPr lang="zh-CN" altLang="en-US" sz="3600">
                <a:latin typeface="宋体" panose="02010600030101010101" pitchFamily="2" charset="-122"/>
                <a:ea typeface="宋体" panose="02010600030101010101" pitchFamily="2" charset="-122"/>
              </a:rPr>
              <a:t>续</a:t>
            </a:r>
            <a:r>
              <a:rPr lang="en-US" altLang="zh-CN" sz="3600">
                <a:latin typeface="宋体" panose="02010600030101010101" pitchFamily="2" charset="-122"/>
                <a:ea typeface="宋体" panose="02010600030101010101" pitchFamily="2" charset="-122"/>
              </a:rPr>
              <a:t>）</a:t>
            </a:r>
          </a:p>
        </p:txBody>
      </p:sp>
      <p:sp>
        <p:nvSpPr>
          <p:cNvPr id="50181" name="页脚占位符 3"/>
          <p:cNvSpPr txBox="1">
            <a:spLocks noGrp="1" noChangeArrowheads="1"/>
          </p:cNvSpPr>
          <p:nvPr/>
        </p:nvSpPr>
        <p:spPr bwMode="auto">
          <a:xfrm>
            <a:off x="5219700" y="6381750"/>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kumimoji="1" lang="en-US" altLang="zh-CN" sz="1400" b="1">
              <a:solidFill>
                <a:srgbClr val="F03628"/>
              </a:solidFill>
              <a:latin typeface="Arial" panose="020B0604020202020204" pitchFamily="34" charset="0"/>
              <a:ea typeface="宋体" panose="02010600030101010101" pitchFamily="2"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1202" name="图片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5400"/>
            <a:ext cx="9144000" cy="169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03" name="页脚占位符 4"/>
          <p:cNvSpPr txBox="1">
            <a:spLocks noGrp="1" noChangeArrowheads="1"/>
          </p:cNvSpPr>
          <p:nvPr/>
        </p:nvSpPr>
        <p:spPr bwMode="auto">
          <a:xfrm>
            <a:off x="5219700" y="6381750"/>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kumimoji="1" lang="en-US" altLang="zh-CN" sz="1400" b="1">
              <a:solidFill>
                <a:srgbClr val="F03628"/>
              </a:solidFill>
              <a:latin typeface="Arial" panose="020B0604020202020204" pitchFamily="34" charset="0"/>
              <a:ea typeface="宋体" panose="02010600030101010101" pitchFamily="2" charset="-122"/>
            </a:endParaRPr>
          </a:p>
        </p:txBody>
      </p:sp>
      <p:sp>
        <p:nvSpPr>
          <p:cNvPr id="51204" name="Rectangle 2"/>
          <p:cNvSpPr>
            <a:spLocks noGrp="1" noChangeArrowheads="1"/>
          </p:cNvSpPr>
          <p:nvPr>
            <p:ph type="title" idx="4294967295"/>
          </p:nvPr>
        </p:nvSpPr>
        <p:spPr>
          <a:xfrm>
            <a:off x="1245870" y="260648"/>
            <a:ext cx="7793038" cy="1143000"/>
          </a:xfrm>
        </p:spPr>
        <p:txBody>
          <a:bodyPr/>
          <a:lstStyle/>
          <a:p>
            <a:pPr eaLnBrk="1" hangingPunct="1"/>
            <a:r>
              <a:rPr lang="zh-CN" altLang="zh-CN" sz="3600" dirty="0">
                <a:latin typeface="宋体" panose="02010600030101010101" pitchFamily="2" charset="-122"/>
                <a:ea typeface="宋体" panose="02010600030101010101" pitchFamily="2" charset="-122"/>
                <a:cs typeface="宋体" panose="02010600030101010101" pitchFamily="2" charset="-122"/>
              </a:rPr>
              <a:t>第五章 数据库完整性</a:t>
            </a:r>
          </a:p>
        </p:txBody>
      </p:sp>
      <p:sp>
        <p:nvSpPr>
          <p:cNvPr id="48132" name="Rectangle 3"/>
          <p:cNvSpPr>
            <a:spLocks noGrp="1" noChangeArrowheads="1"/>
          </p:cNvSpPr>
          <p:nvPr>
            <p:ph type="body" idx="4294967295"/>
          </p:nvPr>
        </p:nvSpPr>
        <p:spPr>
          <a:xfrm>
            <a:off x="755650" y="1697038"/>
            <a:ext cx="7859713" cy="4259262"/>
          </a:xfrm>
        </p:spPr>
        <p:txBody>
          <a:bodyPr rtlCol="0">
            <a:normAutofit fontScale="85000" lnSpcReduction="20000"/>
          </a:bodyPr>
          <a:lstStyle/>
          <a:p>
            <a:pPr eaLnBrk="1" fontAlgn="auto" hangingPunct="1">
              <a:lnSpc>
                <a:spcPct val="130000"/>
              </a:lnSpc>
              <a:spcAft>
                <a:spcPts val="0"/>
              </a:spcAft>
              <a:buFont typeface="Wingdings" panose="05000000000000000000" pitchFamily="2" charset="2"/>
              <a:buNone/>
              <a:defRPr/>
            </a:pPr>
            <a:r>
              <a:rPr lang="en-US" altLang="zh-CN" dirty="0"/>
              <a:t>5.1  </a:t>
            </a:r>
            <a:r>
              <a:rPr lang="zh-CN" altLang="en-US" dirty="0"/>
              <a:t>实体完整性</a:t>
            </a:r>
          </a:p>
          <a:p>
            <a:pPr eaLnBrk="1" fontAlgn="auto" hangingPunct="1">
              <a:lnSpc>
                <a:spcPct val="130000"/>
              </a:lnSpc>
              <a:spcAft>
                <a:spcPts val="0"/>
              </a:spcAft>
              <a:buFont typeface="Wingdings" panose="05000000000000000000" pitchFamily="2" charset="2"/>
              <a:buNone/>
              <a:defRPr/>
            </a:pPr>
            <a:r>
              <a:rPr lang="en-US" altLang="zh-CN" dirty="0"/>
              <a:t>5.2  </a:t>
            </a:r>
            <a:r>
              <a:rPr lang="zh-CN" altLang="en-US" dirty="0"/>
              <a:t>参照完整性</a:t>
            </a:r>
          </a:p>
          <a:p>
            <a:pPr eaLnBrk="1" fontAlgn="auto" hangingPunct="1">
              <a:lnSpc>
                <a:spcPct val="130000"/>
              </a:lnSpc>
              <a:spcAft>
                <a:spcPts val="0"/>
              </a:spcAft>
              <a:buFont typeface="Wingdings" panose="05000000000000000000" pitchFamily="2" charset="2"/>
              <a:buNone/>
              <a:defRPr/>
            </a:pPr>
            <a:r>
              <a:rPr lang="en-US" altLang="zh-CN" dirty="0"/>
              <a:t>5.3  </a:t>
            </a:r>
            <a:r>
              <a:rPr lang="zh-CN" altLang="en-US" dirty="0"/>
              <a:t>用户定义的完整性</a:t>
            </a:r>
          </a:p>
          <a:p>
            <a:pPr eaLnBrk="1" fontAlgn="auto" hangingPunct="1">
              <a:lnSpc>
                <a:spcPct val="130000"/>
              </a:lnSpc>
              <a:spcAft>
                <a:spcPts val="0"/>
              </a:spcAft>
              <a:buFont typeface="Wingdings" panose="05000000000000000000" pitchFamily="2" charset="2"/>
              <a:buNone/>
              <a:defRPr/>
            </a:pPr>
            <a:r>
              <a:rPr lang="en-US" altLang="zh-CN" dirty="0"/>
              <a:t>5.4  </a:t>
            </a:r>
            <a:r>
              <a:rPr lang="zh-CN" altLang="en-US" dirty="0"/>
              <a:t>完整性约束命名字句</a:t>
            </a:r>
          </a:p>
          <a:p>
            <a:pPr eaLnBrk="1" fontAlgn="auto" hangingPunct="1">
              <a:lnSpc>
                <a:spcPct val="130000"/>
              </a:lnSpc>
              <a:spcAft>
                <a:spcPts val="0"/>
              </a:spcAft>
              <a:buFont typeface="Wingdings" panose="05000000000000000000" pitchFamily="2" charset="2"/>
              <a:buNone/>
              <a:defRPr/>
            </a:pPr>
            <a:r>
              <a:rPr lang="zh-CN" altLang="en-US" dirty="0"/>
              <a:t>*</a:t>
            </a:r>
            <a:r>
              <a:rPr lang="en-US" altLang="zh-CN" dirty="0"/>
              <a:t>5.5  </a:t>
            </a:r>
            <a:r>
              <a:rPr lang="zh-CN" altLang="en-US" dirty="0"/>
              <a:t>域中的完整性限制</a:t>
            </a:r>
          </a:p>
          <a:p>
            <a:pPr eaLnBrk="1" fontAlgn="auto" hangingPunct="1">
              <a:lnSpc>
                <a:spcPct val="130000"/>
              </a:lnSpc>
              <a:spcAft>
                <a:spcPts val="0"/>
              </a:spcAft>
              <a:buFont typeface="Wingdings" panose="05000000000000000000" pitchFamily="2" charset="2"/>
              <a:buNone/>
              <a:defRPr/>
            </a:pPr>
            <a:r>
              <a:rPr lang="en-US" altLang="zh-CN" dirty="0"/>
              <a:t>5.6  </a:t>
            </a:r>
            <a:r>
              <a:rPr lang="zh-CN" altLang="en-US" dirty="0"/>
              <a:t>断言</a:t>
            </a:r>
          </a:p>
          <a:p>
            <a:pPr eaLnBrk="1" fontAlgn="auto" hangingPunct="1">
              <a:lnSpc>
                <a:spcPct val="130000"/>
              </a:lnSpc>
              <a:spcAft>
                <a:spcPts val="0"/>
              </a:spcAft>
              <a:buFont typeface="Wingdings" panose="05000000000000000000" pitchFamily="2" charset="2"/>
              <a:buNone/>
              <a:defRPr/>
            </a:pPr>
            <a:r>
              <a:rPr lang="en-US" altLang="zh-CN" dirty="0">
                <a:solidFill>
                  <a:srgbClr val="FF0000"/>
                </a:solidFill>
              </a:rPr>
              <a:t>5.7  </a:t>
            </a:r>
            <a:r>
              <a:rPr lang="zh-CN" altLang="en-US" dirty="0">
                <a:solidFill>
                  <a:srgbClr val="FF0000"/>
                </a:solidFill>
              </a:rPr>
              <a:t>触发器</a:t>
            </a:r>
            <a:endParaRPr lang="en-US" altLang="zh-CN" dirty="0">
              <a:solidFill>
                <a:srgbClr val="FF0000"/>
              </a:solidFill>
            </a:endParaRPr>
          </a:p>
          <a:p>
            <a:pPr eaLnBrk="1" fontAlgn="auto" hangingPunct="1">
              <a:lnSpc>
                <a:spcPct val="130000"/>
              </a:lnSpc>
              <a:spcAft>
                <a:spcPts val="0"/>
              </a:spcAft>
              <a:buFont typeface="Wingdings" panose="05000000000000000000" pitchFamily="2" charset="2"/>
              <a:buNone/>
              <a:defRPr/>
            </a:pPr>
            <a:r>
              <a:rPr lang="en-US" altLang="zh-CN" dirty="0"/>
              <a:t>5.8  </a:t>
            </a:r>
            <a:r>
              <a:rPr lang="zh-CN" altLang="en-US" dirty="0"/>
              <a:t>小结</a:t>
            </a:r>
          </a:p>
          <a:p>
            <a:pPr eaLnBrk="1" fontAlgn="auto" hangingPunct="1">
              <a:spcAft>
                <a:spcPts val="0"/>
              </a:spcAft>
              <a:defRPr/>
            </a:pPr>
            <a:endParaRPr lang="en-US" altLang="zh-CN" sz="2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1259205" y="209868"/>
            <a:ext cx="7886700" cy="1325562"/>
          </a:xfrm>
        </p:spPr>
        <p:txBody>
          <a:bodyPr/>
          <a:lstStyle/>
          <a:p>
            <a:pPr eaLnBrk="1" hangingPunct="1"/>
            <a:r>
              <a:rPr lang="zh-CN" altLang="en-US" sz="3600" dirty="0">
                <a:latin typeface="宋体" panose="02010600030101010101" pitchFamily="2" charset="-122"/>
                <a:ea typeface="宋体" panose="02010600030101010101" pitchFamily="2" charset="-122"/>
              </a:rPr>
              <a:t>触发器</a:t>
            </a:r>
          </a:p>
        </p:txBody>
      </p:sp>
      <p:sp>
        <p:nvSpPr>
          <p:cNvPr id="31748" name="Rectangle 3"/>
          <p:cNvSpPr>
            <a:spLocks noGrp="1" noChangeArrowheads="1"/>
          </p:cNvSpPr>
          <p:nvPr>
            <p:ph idx="1"/>
          </p:nvPr>
        </p:nvSpPr>
        <p:spPr>
          <a:xfrm>
            <a:off x="250825" y="1606550"/>
            <a:ext cx="8497888" cy="4608513"/>
          </a:xfrm>
        </p:spPr>
        <p:txBody>
          <a:bodyPr/>
          <a:lstStyle/>
          <a:p>
            <a:pPr eaLnBrk="1" hangingPunct="1"/>
            <a:r>
              <a:rPr lang="zh-CN" altLang="en-US"/>
              <a:t>定义其它的完整性约束时，需要用数据库触发器（</a:t>
            </a:r>
            <a:r>
              <a:rPr lang="en-US" altLang="zh-CN"/>
              <a:t>Trigger</a:t>
            </a:r>
            <a:r>
              <a:rPr lang="zh-CN" altLang="en-US"/>
              <a:t>）来实现。</a:t>
            </a:r>
          </a:p>
          <a:p>
            <a:pPr eaLnBrk="1" hangingPunct="1">
              <a:spcBef>
                <a:spcPct val="60000"/>
              </a:spcBef>
            </a:pPr>
            <a:r>
              <a:rPr lang="zh-CN" altLang="en-US"/>
              <a:t>数据库触发器：一类靠</a:t>
            </a:r>
            <a:r>
              <a:rPr lang="zh-CN" altLang="en-US">
                <a:solidFill>
                  <a:srgbClr val="FF0000"/>
                </a:solidFill>
              </a:rPr>
              <a:t>事件</a:t>
            </a:r>
            <a:r>
              <a:rPr lang="zh-CN" altLang="en-US"/>
              <a:t>驱动的特殊过程。</a:t>
            </a:r>
          </a:p>
          <a:p>
            <a:pPr eaLnBrk="1" hangingPunct="1">
              <a:spcBef>
                <a:spcPct val="60000"/>
              </a:spcBef>
            </a:pPr>
            <a:r>
              <a:rPr lang="zh-CN" altLang="en-US"/>
              <a:t>一旦由某个用户定义，任何用户对该数据的增、删、改操作均由</a:t>
            </a:r>
            <a:r>
              <a:rPr lang="zh-CN" altLang="en-US">
                <a:solidFill>
                  <a:srgbClr val="FF0000"/>
                </a:solidFill>
              </a:rPr>
              <a:t>服务器</a:t>
            </a:r>
            <a:r>
              <a:rPr lang="zh-CN" altLang="en-US"/>
              <a:t>自动激活相应的触发器，在</a:t>
            </a:r>
            <a:r>
              <a:rPr lang="en-US" altLang="zh-CN"/>
              <a:t>DBMS</a:t>
            </a:r>
            <a:r>
              <a:rPr lang="zh-CN" altLang="en-US"/>
              <a:t>核心层进行集中的完整性控制。</a:t>
            </a:r>
          </a:p>
          <a:p>
            <a:pPr eaLnBrk="1" hangingPunct="1">
              <a:spcBef>
                <a:spcPct val="60000"/>
              </a:spcBef>
            </a:pPr>
            <a:r>
              <a:rPr lang="zh-CN" altLang="en-US"/>
              <a:t>定义数据库触发器的语句</a:t>
            </a:r>
          </a:p>
          <a:p>
            <a:pPr eaLnBrk="1" hangingPunct="1">
              <a:lnSpc>
                <a:spcPct val="80000"/>
              </a:lnSpc>
              <a:spcBef>
                <a:spcPct val="10000"/>
              </a:spcBef>
              <a:buFont typeface="Wingdings" panose="05000000000000000000" pitchFamily="2" charset="2"/>
              <a:buNone/>
            </a:pPr>
            <a:r>
              <a:rPr lang="zh-CN" altLang="en-US"/>
              <a:t>      </a:t>
            </a:r>
            <a:r>
              <a:rPr lang="en-US" altLang="zh-CN"/>
              <a:t>CREATE  TRIGGER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1748">
                                            <p:txEl>
                                              <p:pRg st="0" end="0"/>
                                            </p:txEl>
                                          </p:spTgt>
                                        </p:tgtEl>
                                        <p:attrNameLst>
                                          <p:attrName>style.visibility</p:attrName>
                                        </p:attrNameLst>
                                      </p:cBhvr>
                                      <p:to>
                                        <p:strVal val="visible"/>
                                      </p:to>
                                    </p:set>
                                    <p:animEffect transition="in" filter="box(in)">
                                      <p:cBhvr>
                                        <p:cTn id="7" dur="500"/>
                                        <p:tgtEl>
                                          <p:spTgt spid="3174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1748">
                                            <p:txEl>
                                              <p:pRg st="1" end="1"/>
                                            </p:txEl>
                                          </p:spTgt>
                                        </p:tgtEl>
                                        <p:attrNameLst>
                                          <p:attrName>style.visibility</p:attrName>
                                        </p:attrNameLst>
                                      </p:cBhvr>
                                      <p:to>
                                        <p:strVal val="visible"/>
                                      </p:to>
                                    </p:set>
                                    <p:animEffect transition="in" filter="box(in)">
                                      <p:cBhvr>
                                        <p:cTn id="12" dur="500"/>
                                        <p:tgtEl>
                                          <p:spTgt spid="3174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31748">
                                            <p:txEl>
                                              <p:pRg st="2" end="2"/>
                                            </p:txEl>
                                          </p:spTgt>
                                        </p:tgtEl>
                                        <p:attrNameLst>
                                          <p:attrName>style.visibility</p:attrName>
                                        </p:attrNameLst>
                                      </p:cBhvr>
                                      <p:to>
                                        <p:strVal val="visible"/>
                                      </p:to>
                                    </p:set>
                                    <p:animEffect transition="in" filter="box(in)">
                                      <p:cBhvr>
                                        <p:cTn id="17" dur="500"/>
                                        <p:tgtEl>
                                          <p:spTgt spid="3174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31748">
                                            <p:txEl>
                                              <p:pRg st="3" end="3"/>
                                            </p:txEl>
                                          </p:spTgt>
                                        </p:tgtEl>
                                        <p:attrNameLst>
                                          <p:attrName>style.visibility</p:attrName>
                                        </p:attrNameLst>
                                      </p:cBhvr>
                                      <p:to>
                                        <p:strVal val="visible"/>
                                      </p:to>
                                    </p:set>
                                    <p:animEffect transition="in" filter="box(in)">
                                      <p:cBhvr>
                                        <p:cTn id="22" dur="500"/>
                                        <p:tgtEl>
                                          <p:spTgt spid="31748">
                                            <p:txEl>
                                              <p:pRg st="3" end="3"/>
                                            </p:txEl>
                                          </p:spTgt>
                                        </p:tgtEl>
                                      </p:cBhvr>
                                    </p:animEffect>
                                  </p:childTnLst>
                                </p:cTn>
                              </p:par>
                              <p:par>
                                <p:cTn id="23" presetID="4" presetClass="entr" presetSubtype="16" fill="hold" nodeType="withEffect">
                                  <p:stCondLst>
                                    <p:cond delay="0"/>
                                  </p:stCondLst>
                                  <p:childTnLst>
                                    <p:set>
                                      <p:cBhvr>
                                        <p:cTn id="24" dur="1" fill="hold">
                                          <p:stCondLst>
                                            <p:cond delay="0"/>
                                          </p:stCondLst>
                                        </p:cTn>
                                        <p:tgtEl>
                                          <p:spTgt spid="31748">
                                            <p:txEl>
                                              <p:pRg st="4" end="4"/>
                                            </p:txEl>
                                          </p:spTgt>
                                        </p:tgtEl>
                                        <p:attrNameLst>
                                          <p:attrName>style.visibility</p:attrName>
                                        </p:attrNameLst>
                                      </p:cBhvr>
                                      <p:to>
                                        <p:strVal val="visible"/>
                                      </p:to>
                                    </p:set>
                                    <p:animEffect transition="in" filter="box(in)">
                                      <p:cBhvr>
                                        <p:cTn id="25" dur="500"/>
                                        <p:tgtEl>
                                          <p:spTgt spid="3174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1228725" y="188640"/>
            <a:ext cx="7886700" cy="1325562"/>
          </a:xfrm>
        </p:spPr>
        <p:txBody>
          <a:bodyPr/>
          <a:lstStyle/>
          <a:p>
            <a:pPr eaLnBrk="1" hangingPunct="1"/>
            <a:r>
              <a:rPr lang="zh-CN" altLang="en-US" sz="3600" dirty="0">
                <a:latin typeface="宋体" panose="02010600030101010101" pitchFamily="2" charset="-122"/>
                <a:ea typeface="宋体" panose="02010600030101010101" pitchFamily="2" charset="-122"/>
              </a:rPr>
              <a:t>触发器（续）</a:t>
            </a:r>
          </a:p>
        </p:txBody>
      </p:sp>
      <p:sp>
        <p:nvSpPr>
          <p:cNvPr id="53251" name="Rectangle 3"/>
          <p:cNvSpPr>
            <a:spLocks noGrp="1" noChangeArrowheads="1"/>
          </p:cNvSpPr>
          <p:nvPr>
            <p:ph idx="1"/>
          </p:nvPr>
        </p:nvSpPr>
        <p:spPr>
          <a:xfrm>
            <a:off x="323850" y="1700213"/>
            <a:ext cx="8631238" cy="4114800"/>
          </a:xfrm>
        </p:spPr>
        <p:txBody>
          <a:bodyPr/>
          <a:lstStyle/>
          <a:p>
            <a:pPr eaLnBrk="1" hangingPunct="1">
              <a:buFont typeface="Wingdings" panose="05000000000000000000" pitchFamily="2" charset="2"/>
              <a:buNone/>
            </a:pPr>
            <a:r>
              <a:rPr lang="en-US" altLang="zh-CN"/>
              <a:t>CREATE TRIGGER &lt;</a:t>
            </a:r>
            <a:r>
              <a:rPr lang="zh-CN" altLang="en-US"/>
              <a:t>触发器名</a:t>
            </a:r>
            <a:r>
              <a:rPr lang="en-US" altLang="zh-CN"/>
              <a:t>&gt;</a:t>
            </a:r>
          </a:p>
          <a:p>
            <a:pPr eaLnBrk="1" hangingPunct="1">
              <a:buFont typeface="Wingdings" panose="05000000000000000000" pitchFamily="2" charset="2"/>
              <a:buNone/>
            </a:pPr>
            <a:r>
              <a:rPr lang="en-US" altLang="zh-CN"/>
              <a:t>		{BEFORE|AFTER}  &lt;</a:t>
            </a:r>
            <a:r>
              <a:rPr lang="zh-CN" altLang="en-US"/>
              <a:t>触发事件</a:t>
            </a:r>
            <a:r>
              <a:rPr lang="en-US" altLang="zh-CN"/>
              <a:t>&gt; ON &lt;</a:t>
            </a:r>
            <a:r>
              <a:rPr lang="zh-CN" altLang="en-US"/>
              <a:t>表名</a:t>
            </a:r>
            <a:r>
              <a:rPr lang="en-US" altLang="zh-CN"/>
              <a:t>&gt;</a:t>
            </a:r>
          </a:p>
          <a:p>
            <a:pPr eaLnBrk="1" hangingPunct="1">
              <a:buFont typeface="Wingdings" panose="05000000000000000000" pitchFamily="2" charset="2"/>
              <a:buNone/>
            </a:pPr>
            <a:r>
              <a:rPr lang="en-US" altLang="zh-CN"/>
              <a:t>		REFERENCING NEW|OLD ROW AS&lt;</a:t>
            </a:r>
            <a:r>
              <a:rPr lang="zh-CN" altLang="en-US"/>
              <a:t>变量</a:t>
            </a:r>
            <a:r>
              <a:rPr lang="en-US" altLang="zh-CN"/>
              <a:t>&gt;</a:t>
            </a:r>
          </a:p>
          <a:p>
            <a:pPr eaLnBrk="1" hangingPunct="1">
              <a:buFont typeface="Wingdings" panose="05000000000000000000" pitchFamily="2" charset="2"/>
              <a:buNone/>
            </a:pPr>
            <a:r>
              <a:rPr lang="en-US" altLang="zh-CN"/>
              <a:t>        FOR EACH{ROW|STATEMENT}</a:t>
            </a:r>
          </a:p>
          <a:p>
            <a:pPr eaLnBrk="1" hangingPunct="1">
              <a:buFont typeface="Wingdings" panose="05000000000000000000" pitchFamily="2" charset="2"/>
              <a:buNone/>
            </a:pPr>
            <a:r>
              <a:rPr lang="en-US" altLang="zh-CN"/>
              <a:t>		[WHEN &lt;</a:t>
            </a:r>
            <a:r>
              <a:rPr lang="zh-CN" altLang="en-US"/>
              <a:t>触发条件</a:t>
            </a:r>
            <a:r>
              <a:rPr lang="en-US" altLang="zh-CN"/>
              <a:t>&gt;]</a:t>
            </a:r>
          </a:p>
          <a:p>
            <a:pPr eaLnBrk="1" hangingPunct="1">
              <a:buFont typeface="Wingdings" panose="05000000000000000000" pitchFamily="2" charset="2"/>
              <a:buNone/>
            </a:pPr>
            <a:r>
              <a:rPr lang="en-US" altLang="zh-CN"/>
              <a:t>		&lt;</a:t>
            </a:r>
            <a:r>
              <a:rPr lang="zh-CN" altLang="en-US"/>
              <a:t>触发动作体</a:t>
            </a:r>
            <a:r>
              <a:rPr lang="en-US" altLang="zh-CN"/>
              <a:t>&gt;</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1185545" y="219393"/>
            <a:ext cx="7886700" cy="1325562"/>
          </a:xfrm>
        </p:spPr>
        <p:txBody>
          <a:bodyPr/>
          <a:lstStyle/>
          <a:p>
            <a:pPr eaLnBrk="1" hangingPunct="1"/>
            <a:r>
              <a:rPr lang="zh-CN" altLang="en-US" sz="3600">
                <a:latin typeface="宋体" panose="02010600030101010101" pitchFamily="2" charset="-122"/>
                <a:ea typeface="宋体" panose="02010600030101010101" pitchFamily="2" charset="-122"/>
                <a:cs typeface="宋体" panose="02010600030101010101" pitchFamily="2" charset="-122"/>
              </a:rPr>
              <a:t>定义触发器</a:t>
            </a:r>
            <a:r>
              <a:rPr lang="en-US" altLang="zh-CN" sz="3600">
                <a:latin typeface="宋体" panose="02010600030101010101" pitchFamily="2" charset="-122"/>
                <a:ea typeface="宋体" panose="02010600030101010101" pitchFamily="2" charset="-122"/>
                <a:cs typeface="宋体" panose="02010600030101010101" pitchFamily="2" charset="-122"/>
              </a:rPr>
              <a:t>(</a:t>
            </a:r>
            <a:r>
              <a:rPr lang="zh-CN" altLang="en-US" sz="3600">
                <a:latin typeface="宋体" panose="02010600030101010101" pitchFamily="2" charset="-122"/>
                <a:ea typeface="宋体" panose="02010600030101010101" pitchFamily="2" charset="-122"/>
                <a:cs typeface="宋体" panose="02010600030101010101" pitchFamily="2" charset="-122"/>
              </a:rPr>
              <a:t>续</a:t>
            </a:r>
            <a:r>
              <a:rPr lang="en-US" altLang="zh-CN" sz="3600">
                <a:latin typeface="宋体" panose="02010600030101010101" pitchFamily="2" charset="-122"/>
                <a:ea typeface="宋体" panose="02010600030101010101" pitchFamily="2" charset="-122"/>
                <a:cs typeface="宋体" panose="02010600030101010101" pitchFamily="2" charset="-122"/>
              </a:rPr>
              <a:t>)</a:t>
            </a:r>
          </a:p>
        </p:txBody>
      </p:sp>
      <p:sp>
        <p:nvSpPr>
          <p:cNvPr id="54275" name="Rectangle 3"/>
          <p:cNvSpPr>
            <a:spLocks noGrp="1" noChangeArrowheads="1"/>
          </p:cNvSpPr>
          <p:nvPr>
            <p:ph idx="1"/>
          </p:nvPr>
        </p:nvSpPr>
        <p:spPr>
          <a:xfrm>
            <a:off x="228600" y="1557338"/>
            <a:ext cx="8686800" cy="4495800"/>
          </a:xfrm>
        </p:spPr>
        <p:txBody>
          <a:bodyPr/>
          <a:lstStyle/>
          <a:p>
            <a:pPr eaLnBrk="1" hangingPunct="1">
              <a:lnSpc>
                <a:spcPct val="120000"/>
              </a:lnSpc>
            </a:pPr>
            <a:r>
              <a:rPr lang="zh-CN" altLang="en-US"/>
              <a:t>在定义触发器前，首先要思考以下几个问题</a:t>
            </a:r>
            <a:r>
              <a:rPr lang="en-US" altLang="zh-CN"/>
              <a:t>:</a:t>
            </a:r>
          </a:p>
          <a:p>
            <a:pPr lvl="1" eaLnBrk="1" hangingPunct="1">
              <a:lnSpc>
                <a:spcPct val="120000"/>
              </a:lnSpc>
            </a:pPr>
            <a:r>
              <a:rPr lang="zh-CN" altLang="en-US"/>
              <a:t>触发器应依附于什么样的表？</a:t>
            </a:r>
          </a:p>
          <a:p>
            <a:pPr lvl="1" eaLnBrk="1" hangingPunct="1">
              <a:lnSpc>
                <a:spcPct val="120000"/>
              </a:lnSpc>
            </a:pPr>
            <a:r>
              <a:rPr lang="zh-CN" altLang="en-US"/>
              <a:t>对于什么样的事件应生成触发器？</a:t>
            </a:r>
          </a:p>
          <a:p>
            <a:pPr lvl="1" eaLnBrk="1" hangingPunct="1">
              <a:lnSpc>
                <a:spcPct val="120000"/>
              </a:lnSpc>
            </a:pPr>
            <a:r>
              <a:rPr lang="zh-CN" altLang="en-US"/>
              <a:t>触发器是在事件发生之前生成还是事件发生之后生成？</a:t>
            </a:r>
            <a:endParaRPr lang="en-US" altLang="zh-CN"/>
          </a:p>
          <a:p>
            <a:pPr lvl="1" eaLnBrk="1" hangingPunct="1">
              <a:lnSpc>
                <a:spcPct val="120000"/>
              </a:lnSpc>
            </a:pPr>
            <a:r>
              <a:rPr lang="zh-CN" altLang="en-US"/>
              <a:t>是应当为受影响的行生成触发器？还是应当为每一条</a:t>
            </a:r>
            <a:r>
              <a:rPr lang="en-US" altLang="zh-CN"/>
              <a:t>DML</a:t>
            </a:r>
            <a:r>
              <a:rPr lang="zh-CN" altLang="en-US"/>
              <a:t>语句生成触发器？</a:t>
            </a:r>
          </a:p>
          <a:p>
            <a:pPr lvl="1" eaLnBrk="1" hangingPunct="1">
              <a:lnSpc>
                <a:spcPct val="120000"/>
              </a:lnSpc>
            </a:pPr>
            <a:endParaRPr lang="zh-CN" altLang="en-US" sz="2000"/>
          </a:p>
          <a:p>
            <a:pPr lvl="1" eaLnBrk="1" hangingPunct="1">
              <a:lnSpc>
                <a:spcPct val="120000"/>
              </a:lnSpc>
              <a:buFont typeface="Wingdings" panose="05000000000000000000" pitchFamily="2" charset="2"/>
              <a:buNone/>
            </a:pPr>
            <a:endParaRPr lang="en-US" altLang="zh-CN"/>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1257300" y="208280"/>
            <a:ext cx="7886700" cy="1325563"/>
          </a:xfrm>
        </p:spPr>
        <p:txBody>
          <a:bodyPr/>
          <a:lstStyle/>
          <a:p>
            <a:pPr eaLnBrk="1" hangingPunct="1"/>
            <a:r>
              <a:rPr lang="zh-CN" altLang="en-US" sz="3600">
                <a:latin typeface="宋体" panose="02010600030101010101" pitchFamily="2" charset="-122"/>
                <a:ea typeface="宋体" panose="02010600030101010101" pitchFamily="2" charset="-122"/>
                <a:cs typeface="宋体" panose="02010600030101010101" pitchFamily="2" charset="-122"/>
              </a:rPr>
              <a:t>定义触发器</a:t>
            </a:r>
            <a:r>
              <a:rPr lang="en-US" altLang="zh-CN" sz="3600">
                <a:latin typeface="宋体" panose="02010600030101010101" pitchFamily="2" charset="-122"/>
                <a:ea typeface="宋体" panose="02010600030101010101" pitchFamily="2" charset="-122"/>
                <a:cs typeface="宋体" panose="02010600030101010101" pitchFamily="2" charset="-122"/>
              </a:rPr>
              <a:t>(</a:t>
            </a:r>
            <a:r>
              <a:rPr lang="zh-CN" altLang="en-US" sz="3600">
                <a:latin typeface="宋体" panose="02010600030101010101" pitchFamily="2" charset="-122"/>
                <a:ea typeface="宋体" panose="02010600030101010101" pitchFamily="2" charset="-122"/>
                <a:cs typeface="宋体" panose="02010600030101010101" pitchFamily="2" charset="-122"/>
              </a:rPr>
              <a:t>续</a:t>
            </a:r>
            <a:r>
              <a:rPr lang="en-US" altLang="zh-CN" sz="3600">
                <a:latin typeface="宋体" panose="02010600030101010101" pitchFamily="2" charset="-122"/>
                <a:ea typeface="宋体" panose="02010600030101010101" pitchFamily="2" charset="-122"/>
                <a:cs typeface="宋体" panose="02010600030101010101" pitchFamily="2" charset="-122"/>
              </a:rPr>
              <a:t>)</a:t>
            </a:r>
          </a:p>
        </p:txBody>
      </p:sp>
      <p:sp>
        <p:nvSpPr>
          <p:cNvPr id="34820" name="Rectangle 3"/>
          <p:cNvSpPr>
            <a:spLocks noGrp="1" noChangeArrowheads="1"/>
          </p:cNvSpPr>
          <p:nvPr>
            <p:ph idx="1"/>
          </p:nvPr>
        </p:nvSpPr>
        <p:spPr>
          <a:xfrm>
            <a:off x="219075" y="1700213"/>
            <a:ext cx="8704263" cy="4114800"/>
          </a:xfrm>
        </p:spPr>
        <p:txBody>
          <a:bodyPr/>
          <a:lstStyle/>
          <a:p>
            <a:pPr eaLnBrk="1" hangingPunct="1">
              <a:lnSpc>
                <a:spcPct val="140000"/>
              </a:lnSpc>
            </a:pPr>
            <a:r>
              <a:rPr lang="zh-CN" altLang="en-US" dirty="0"/>
              <a:t>例如</a:t>
            </a:r>
            <a:r>
              <a:rPr lang="en-US" altLang="zh-CN" dirty="0"/>
              <a:t>,</a:t>
            </a:r>
            <a:r>
              <a:rPr lang="zh-CN" altLang="en-US" dirty="0"/>
              <a:t>假设在</a:t>
            </a:r>
            <a:r>
              <a:rPr lang="en-US" altLang="zh-CN" dirty="0"/>
              <a:t>TEACHER</a:t>
            </a:r>
            <a:r>
              <a:rPr lang="zh-CN" altLang="en-US" dirty="0"/>
              <a:t>表上创建了一个</a:t>
            </a:r>
            <a:r>
              <a:rPr lang="en-US" altLang="zh-CN" dirty="0"/>
              <a:t>AFTER UPDATE</a:t>
            </a:r>
            <a:r>
              <a:rPr lang="zh-CN" altLang="en-US" dirty="0"/>
              <a:t>触发器。如果表</a:t>
            </a:r>
            <a:r>
              <a:rPr lang="en-US" altLang="zh-CN" dirty="0"/>
              <a:t>TEACHER</a:t>
            </a:r>
            <a:r>
              <a:rPr lang="zh-CN" altLang="en-US" dirty="0"/>
              <a:t>有</a:t>
            </a:r>
            <a:r>
              <a:rPr lang="en-US" altLang="zh-CN" dirty="0"/>
              <a:t>1000</a:t>
            </a:r>
            <a:r>
              <a:rPr lang="zh-CN" altLang="en-US" dirty="0"/>
              <a:t>行，执行如下语句：</a:t>
            </a:r>
          </a:p>
          <a:p>
            <a:pPr eaLnBrk="1" hangingPunct="1">
              <a:lnSpc>
                <a:spcPct val="140000"/>
              </a:lnSpc>
              <a:buFont typeface="Wingdings" panose="05000000000000000000" pitchFamily="2" charset="2"/>
              <a:buNone/>
            </a:pPr>
            <a:r>
              <a:rPr lang="zh-CN" altLang="en-US" dirty="0"/>
              <a:t>    </a:t>
            </a:r>
            <a:r>
              <a:rPr lang="en-US" altLang="zh-CN" sz="2400" dirty="0"/>
              <a:t>UPDATE TEACHER SET </a:t>
            </a:r>
            <a:r>
              <a:rPr lang="en-US" altLang="zh-CN" sz="2400" dirty="0" err="1"/>
              <a:t>Deptno</a:t>
            </a:r>
            <a:r>
              <a:rPr lang="en-US" altLang="zh-CN" sz="2400" dirty="0"/>
              <a:t>=5;</a:t>
            </a:r>
            <a:r>
              <a:rPr lang="en-US" altLang="zh-CN" dirty="0"/>
              <a:t> </a:t>
            </a:r>
          </a:p>
          <a:p>
            <a:pPr lvl="1" eaLnBrk="1" hangingPunct="1">
              <a:lnSpc>
                <a:spcPct val="140000"/>
              </a:lnSpc>
            </a:pPr>
            <a:r>
              <a:rPr lang="zh-CN" altLang="en-US" dirty="0"/>
              <a:t>如果该触发器为</a:t>
            </a:r>
            <a:r>
              <a:rPr lang="zh-CN" altLang="en-US" dirty="0">
                <a:solidFill>
                  <a:schemeClr val="accent2"/>
                </a:solidFill>
              </a:rPr>
              <a:t>语句级</a:t>
            </a:r>
            <a:r>
              <a:rPr lang="zh-CN" altLang="en-US" dirty="0"/>
              <a:t>触发器，那么执行完该语句后，触发动作只发生一次</a:t>
            </a:r>
          </a:p>
          <a:p>
            <a:pPr lvl="1" eaLnBrk="1" hangingPunct="1">
              <a:lnSpc>
                <a:spcPct val="140000"/>
              </a:lnSpc>
            </a:pPr>
            <a:r>
              <a:rPr lang="zh-CN" altLang="en-US" dirty="0"/>
              <a:t>如果是</a:t>
            </a:r>
            <a:r>
              <a:rPr lang="zh-CN" altLang="en-US" dirty="0">
                <a:solidFill>
                  <a:schemeClr val="accent2"/>
                </a:solidFill>
              </a:rPr>
              <a:t>行级</a:t>
            </a:r>
            <a:r>
              <a:rPr lang="zh-CN" altLang="en-US" dirty="0"/>
              <a:t>触发器，触发动作将执行</a:t>
            </a:r>
            <a:r>
              <a:rPr lang="en-US" altLang="zh-CN" dirty="0"/>
              <a:t>1000</a:t>
            </a:r>
            <a:r>
              <a:rPr lang="zh-CN" altLang="en-US" dirty="0"/>
              <a:t>次 </a:t>
            </a:r>
          </a:p>
          <a:p>
            <a:pPr eaLnBrk="1" hangingPunct="1"/>
            <a:endParaRPr lang="en-US" altLang="zh-CN" sz="2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4820">
                                            <p:txEl>
                                              <p:pRg st="2" end="2"/>
                                            </p:txEl>
                                          </p:spTgt>
                                        </p:tgtEl>
                                        <p:attrNameLst>
                                          <p:attrName>style.visibility</p:attrName>
                                        </p:attrNameLst>
                                      </p:cBhvr>
                                      <p:to>
                                        <p:strVal val="visible"/>
                                      </p:to>
                                    </p:set>
                                    <p:animEffect transition="in" filter="box(in)">
                                      <p:cBhvr>
                                        <p:cTn id="7" dur="500"/>
                                        <p:tgtEl>
                                          <p:spTgt spid="34820">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4820">
                                            <p:txEl>
                                              <p:pRg st="3" end="3"/>
                                            </p:txEl>
                                          </p:spTgt>
                                        </p:tgtEl>
                                        <p:attrNameLst>
                                          <p:attrName>style.visibility</p:attrName>
                                        </p:attrNameLst>
                                      </p:cBhvr>
                                      <p:to>
                                        <p:strVal val="visible"/>
                                      </p:to>
                                    </p:set>
                                    <p:animEffect transition="in" filter="box(in)">
                                      <p:cBhvr>
                                        <p:cTn id="12" dur="500"/>
                                        <p:tgtEl>
                                          <p:spTgt spid="3482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6322" name="图片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763"/>
            <a:ext cx="9144000" cy="169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3" name="Rectangle 2"/>
          <p:cNvSpPr>
            <a:spLocks noGrp="1" noChangeArrowheads="1"/>
          </p:cNvSpPr>
          <p:nvPr>
            <p:ph type="title" idx="4294967295"/>
          </p:nvPr>
        </p:nvSpPr>
        <p:spPr>
          <a:xfrm>
            <a:off x="1187133" y="410528"/>
            <a:ext cx="8229600" cy="936625"/>
          </a:xfrm>
        </p:spPr>
        <p:txBody>
          <a:bodyPr/>
          <a:lstStyle/>
          <a:p>
            <a:pPr eaLnBrk="1" hangingPunct="1"/>
            <a:r>
              <a:rPr lang="zh-CN" altLang="en-US" sz="3600">
                <a:latin typeface="宋体" panose="02010600030101010101" pitchFamily="2" charset="-122"/>
                <a:ea typeface="宋体" panose="02010600030101010101" pitchFamily="2" charset="-122"/>
              </a:rPr>
              <a:t>定义触发器</a:t>
            </a:r>
            <a:r>
              <a:rPr lang="en-US" altLang="zh-CN" sz="3600">
                <a:latin typeface="宋体" panose="02010600030101010101" pitchFamily="2" charset="-122"/>
                <a:ea typeface="宋体" panose="02010600030101010101" pitchFamily="2" charset="-122"/>
              </a:rPr>
              <a:t>（</a:t>
            </a:r>
            <a:r>
              <a:rPr lang="zh-CN" altLang="en-US" sz="3600">
                <a:latin typeface="宋体" panose="02010600030101010101" pitchFamily="2" charset="-122"/>
                <a:ea typeface="宋体" panose="02010600030101010101" pitchFamily="2" charset="-122"/>
              </a:rPr>
              <a:t>续</a:t>
            </a:r>
            <a:r>
              <a:rPr lang="en-US" altLang="zh-CN" sz="3600">
                <a:latin typeface="宋体" panose="02010600030101010101" pitchFamily="2" charset="-122"/>
                <a:ea typeface="宋体" panose="02010600030101010101" pitchFamily="2" charset="-122"/>
              </a:rPr>
              <a:t>）</a:t>
            </a:r>
          </a:p>
        </p:txBody>
      </p:sp>
      <p:sp>
        <p:nvSpPr>
          <p:cNvPr id="56324" name="Rectangle 3"/>
          <p:cNvSpPr>
            <a:spLocks noGrp="1" noChangeArrowheads="1"/>
          </p:cNvSpPr>
          <p:nvPr>
            <p:ph type="body" idx="4294967295"/>
          </p:nvPr>
        </p:nvSpPr>
        <p:spPr>
          <a:xfrm>
            <a:off x="179388" y="1484313"/>
            <a:ext cx="8785225" cy="4278312"/>
          </a:xfrm>
        </p:spPr>
        <p:txBody>
          <a:bodyPr/>
          <a:lstStyle/>
          <a:p>
            <a:pPr eaLnBrk="1" hangingPunct="1">
              <a:buSzPct val="85000"/>
              <a:buFont typeface="Wingdings" panose="05000000000000000000" pitchFamily="2" charset="2"/>
              <a:buNone/>
            </a:pPr>
            <a:r>
              <a:rPr lang="zh-CN" altLang="en-US" sz="2400"/>
              <a:t>触发动作体</a:t>
            </a:r>
          </a:p>
          <a:p>
            <a:pPr lvl="1" eaLnBrk="1" hangingPunct="1">
              <a:lnSpc>
                <a:spcPct val="120000"/>
              </a:lnSpc>
              <a:buSzPct val="87000"/>
              <a:buFont typeface="Wingdings" panose="05000000000000000000" pitchFamily="2" charset="2"/>
              <a:buChar char="l"/>
            </a:pPr>
            <a:r>
              <a:rPr lang="zh-CN" altLang="en-US" sz="2200"/>
              <a:t>触发动作体可以是一个匿名</a:t>
            </a:r>
            <a:r>
              <a:rPr lang="en-US" altLang="zh-CN" sz="2200"/>
              <a:t>PL/SQL</a:t>
            </a:r>
            <a:r>
              <a:rPr lang="zh-CN" altLang="en-US" sz="2200"/>
              <a:t>过程块</a:t>
            </a:r>
          </a:p>
          <a:p>
            <a:pPr lvl="1" eaLnBrk="1" hangingPunct="1">
              <a:lnSpc>
                <a:spcPct val="120000"/>
              </a:lnSpc>
              <a:buSzPct val="87000"/>
              <a:buFont typeface="Wingdings" panose="05000000000000000000" pitchFamily="2" charset="2"/>
              <a:buNone/>
            </a:pPr>
            <a:r>
              <a:rPr lang="zh-CN" altLang="en-US" sz="2200"/>
              <a:t>    也可以是对已创建存储过程的调用</a:t>
            </a:r>
          </a:p>
          <a:p>
            <a:pPr lvl="1" eaLnBrk="1" hangingPunct="1">
              <a:lnSpc>
                <a:spcPct val="120000"/>
              </a:lnSpc>
              <a:buSzPct val="87000"/>
              <a:buFont typeface="Wingdings" panose="05000000000000000000" pitchFamily="2" charset="2"/>
              <a:buChar char="l"/>
            </a:pPr>
            <a:r>
              <a:rPr lang="zh-CN" altLang="en-US" sz="2200"/>
              <a:t>如果是行级触发器，用户都可以在过程体中使用</a:t>
            </a:r>
            <a:r>
              <a:rPr lang="en-US" altLang="zh-CN" sz="2200"/>
              <a:t>NEW</a:t>
            </a:r>
            <a:r>
              <a:rPr lang="zh-CN" altLang="en-US" sz="2200"/>
              <a:t>和</a:t>
            </a:r>
            <a:r>
              <a:rPr lang="en-US" altLang="zh-CN" sz="2200"/>
              <a:t>OLD</a:t>
            </a:r>
            <a:r>
              <a:rPr lang="zh-CN" altLang="en-US" sz="2200"/>
              <a:t>引用事件之后的新值和事件之前的旧值</a:t>
            </a:r>
          </a:p>
          <a:p>
            <a:pPr lvl="1" eaLnBrk="1" hangingPunct="1">
              <a:lnSpc>
                <a:spcPct val="120000"/>
              </a:lnSpc>
              <a:buSzPct val="87000"/>
              <a:buFont typeface="Wingdings" panose="05000000000000000000" pitchFamily="2" charset="2"/>
              <a:buChar char="l"/>
            </a:pPr>
            <a:r>
              <a:rPr lang="zh-CN" altLang="en-US" sz="2200"/>
              <a:t>如果是语句级触发器，则不能在触发动作体中使用</a:t>
            </a:r>
            <a:r>
              <a:rPr lang="en-US" altLang="zh-CN" sz="2200"/>
              <a:t>NEW</a:t>
            </a:r>
            <a:r>
              <a:rPr lang="zh-CN" altLang="en-US" sz="2200"/>
              <a:t>或</a:t>
            </a:r>
            <a:r>
              <a:rPr lang="en-US" altLang="zh-CN" sz="2200"/>
              <a:t>OLD</a:t>
            </a:r>
            <a:r>
              <a:rPr lang="zh-CN" altLang="en-US" sz="2200"/>
              <a:t>进行引用</a:t>
            </a:r>
          </a:p>
          <a:p>
            <a:pPr lvl="1" eaLnBrk="1" hangingPunct="1">
              <a:buFont typeface="Wingdings" panose="05000000000000000000" pitchFamily="2" charset="2"/>
              <a:buNone/>
            </a:pPr>
            <a:endParaRPr lang="en-US" altLang="zh-CN"/>
          </a:p>
          <a:p>
            <a:pPr lvl="1" eaLnBrk="1" hangingPunct="1">
              <a:buFont typeface="Wingdings" panose="05000000000000000000" pitchFamily="2" charset="2"/>
              <a:buNone/>
            </a:pPr>
            <a:r>
              <a:rPr lang="zh-CN" altLang="en-US"/>
              <a:t>注意：不同的</a:t>
            </a:r>
            <a:r>
              <a:rPr lang="en-US" altLang="zh-CN"/>
              <a:t>RDBMS</a:t>
            </a:r>
            <a:r>
              <a:rPr lang="zh-CN" altLang="en-US"/>
              <a:t>产品触发器语法各不相同</a:t>
            </a:r>
            <a:endParaRPr lang="en-US" altLang="zh-CN"/>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1185545" y="209868"/>
            <a:ext cx="7886700" cy="1325562"/>
          </a:xfrm>
        </p:spPr>
        <p:txBody>
          <a:bodyPr/>
          <a:lstStyle/>
          <a:p>
            <a:pPr eaLnBrk="1" hangingPunct="1"/>
            <a:r>
              <a:rPr lang="zh-CN" altLang="en-US" sz="3600">
                <a:latin typeface="宋体" panose="02010600030101010101" pitchFamily="2" charset="-122"/>
                <a:ea typeface="宋体" panose="02010600030101010101" pitchFamily="2" charset="-122"/>
              </a:rPr>
              <a:t>触发器（续）</a:t>
            </a:r>
          </a:p>
        </p:txBody>
      </p:sp>
      <p:sp>
        <p:nvSpPr>
          <p:cNvPr id="57347" name="Rectangle 3"/>
          <p:cNvSpPr>
            <a:spLocks noGrp="1" noChangeArrowheads="1"/>
          </p:cNvSpPr>
          <p:nvPr>
            <p:ph idx="1"/>
          </p:nvPr>
        </p:nvSpPr>
        <p:spPr>
          <a:xfrm>
            <a:off x="219075" y="1700213"/>
            <a:ext cx="8704263" cy="4114800"/>
          </a:xfrm>
        </p:spPr>
        <p:txBody>
          <a:bodyPr/>
          <a:lstStyle/>
          <a:p>
            <a:pPr eaLnBrk="1" hangingPunct="1">
              <a:lnSpc>
                <a:spcPct val="160000"/>
              </a:lnSpc>
              <a:buFont typeface="Wingdings" panose="05000000000000000000" pitchFamily="2" charset="2"/>
              <a:buNone/>
            </a:pPr>
            <a:r>
              <a:rPr lang="zh-CN" altLang="en-US"/>
              <a:t>例</a:t>
            </a:r>
            <a:r>
              <a:rPr lang="en-US" altLang="zh-CN"/>
              <a:t>9</a:t>
            </a:r>
            <a:r>
              <a:rPr lang="zh-CN" altLang="en-US"/>
              <a:t>： 为教师表</a:t>
            </a:r>
            <a:r>
              <a:rPr lang="en-US" altLang="zh-CN"/>
              <a:t>Teacher</a:t>
            </a:r>
            <a:r>
              <a:rPr lang="zh-CN" altLang="en-US"/>
              <a:t>定义完整性规则</a:t>
            </a:r>
          </a:p>
          <a:p>
            <a:pPr eaLnBrk="1" hangingPunct="1">
              <a:lnSpc>
                <a:spcPct val="160000"/>
              </a:lnSpc>
              <a:buFont typeface="Wingdings" panose="05000000000000000000" pitchFamily="2" charset="2"/>
              <a:buNone/>
            </a:pPr>
            <a:r>
              <a:rPr lang="zh-CN" altLang="en-US"/>
              <a:t>   </a:t>
            </a:r>
            <a:r>
              <a:rPr lang="zh-CN" altLang="en-US">
                <a:latin typeface="Times New Roman" panose="02020603050405020304" pitchFamily="18" charset="0"/>
              </a:rPr>
              <a:t>“</a:t>
            </a:r>
            <a:r>
              <a:rPr lang="zh-CN" altLang="en-US"/>
              <a:t>教授的工资不得低于</a:t>
            </a:r>
            <a:r>
              <a:rPr lang="en-US" altLang="zh-CN"/>
              <a:t>3000</a:t>
            </a:r>
            <a:r>
              <a:rPr lang="zh-CN" altLang="en-US"/>
              <a:t>元，如果低于</a:t>
            </a:r>
            <a:r>
              <a:rPr lang="en-US" altLang="zh-CN"/>
              <a:t>3000</a:t>
            </a:r>
            <a:r>
              <a:rPr lang="zh-CN" altLang="en-US"/>
              <a:t>元，自动改为</a:t>
            </a:r>
            <a:r>
              <a:rPr lang="en-US" altLang="zh-CN"/>
              <a:t>3000</a:t>
            </a:r>
            <a:r>
              <a:rPr lang="zh-CN" altLang="en-US"/>
              <a:t>元</a:t>
            </a:r>
            <a:r>
              <a:rPr lang="zh-CN" altLang="en-US">
                <a:latin typeface="Times New Roman" panose="02020603050405020304" pitchFamily="18" charset="0"/>
              </a:rPr>
              <a:t>”</a:t>
            </a:r>
            <a:endParaRPr lang="zh-CN" altLang="en-US"/>
          </a:p>
          <a:p>
            <a:pPr eaLnBrk="1" hangingPunct="1">
              <a:buFont typeface="Wingdings" panose="05000000000000000000" pitchFamily="2" charset="2"/>
              <a:buNone/>
            </a:pPr>
            <a:endParaRPr lang="zh-CN" altLang="en-US"/>
          </a:p>
          <a:p>
            <a:pPr eaLnBrk="1" hangingPunct="1">
              <a:buFont typeface="Wingdings" panose="05000000000000000000" pitchFamily="2" charset="2"/>
              <a:buNone/>
            </a:pPr>
            <a:r>
              <a:rPr lang="zh-CN" altLang="en-US"/>
              <a:t>   </a:t>
            </a:r>
            <a:endParaRPr lang="zh-CN" altLang="en-US" sz="240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1183958" y="188640"/>
            <a:ext cx="7886700" cy="1325562"/>
          </a:xfrm>
        </p:spPr>
        <p:txBody>
          <a:bodyPr/>
          <a:lstStyle/>
          <a:p>
            <a:pPr eaLnBrk="1" hangingPunct="1"/>
            <a:r>
              <a:rPr lang="zh-CN" altLang="en-US" sz="3600" dirty="0">
                <a:latin typeface="宋体" panose="02010600030101010101" pitchFamily="2" charset="-122"/>
                <a:ea typeface="宋体" panose="02010600030101010101" pitchFamily="2" charset="-122"/>
              </a:rPr>
              <a:t>触发器（续）</a:t>
            </a:r>
          </a:p>
        </p:txBody>
      </p:sp>
      <p:sp>
        <p:nvSpPr>
          <p:cNvPr id="55300" name="Rectangle 3"/>
          <p:cNvSpPr>
            <a:spLocks noGrp="1" noChangeArrowheads="1"/>
          </p:cNvSpPr>
          <p:nvPr>
            <p:ph idx="1"/>
          </p:nvPr>
        </p:nvSpPr>
        <p:spPr>
          <a:xfrm>
            <a:off x="827584" y="1628800"/>
            <a:ext cx="7200924" cy="4114800"/>
          </a:xfrm>
        </p:spPr>
        <p:txBody>
          <a:bodyPr rtlCol="0">
            <a:normAutofit fontScale="92500" lnSpcReduction="20000"/>
          </a:bodyPr>
          <a:lstStyle/>
          <a:p>
            <a:pPr eaLnBrk="1" fontAlgn="auto" hangingPunct="1">
              <a:spcAft>
                <a:spcPts val="0"/>
              </a:spcAft>
              <a:buFont typeface="Wingdings" panose="05000000000000000000" pitchFamily="2" charset="2"/>
              <a:buNone/>
              <a:defRPr/>
            </a:pPr>
            <a:r>
              <a:rPr lang="en-US" altLang="zh-CN" sz="2400" dirty="0"/>
              <a:t>CREATE </a:t>
            </a:r>
            <a:r>
              <a:rPr lang="en-US" altLang="zh-CN" sz="2400" dirty="0">
                <a:solidFill>
                  <a:schemeClr val="hlink"/>
                </a:solidFill>
              </a:rPr>
              <a:t>TRIGGER </a:t>
            </a:r>
            <a:r>
              <a:rPr lang="en-US" altLang="zh-CN" sz="2400" dirty="0" err="1"/>
              <a:t>Insert_Or_Update_Sal</a:t>
            </a:r>
            <a:endParaRPr lang="en-US" altLang="zh-CN" sz="2400" dirty="0"/>
          </a:p>
          <a:p>
            <a:pPr eaLnBrk="1" fontAlgn="auto" hangingPunct="1">
              <a:spcAft>
                <a:spcPts val="0"/>
              </a:spcAft>
              <a:buFont typeface="Wingdings" panose="05000000000000000000" pitchFamily="2" charset="2"/>
              <a:buNone/>
              <a:defRPr/>
            </a:pPr>
            <a:r>
              <a:rPr lang="en-US" altLang="zh-CN" sz="2400" dirty="0"/>
              <a:t>    BEFORE INSERT OR UPDATE OF Sal, Pos ON Teacher</a:t>
            </a:r>
          </a:p>
          <a:p>
            <a:pPr eaLnBrk="1" fontAlgn="auto" hangingPunct="1">
              <a:spcAft>
                <a:spcPts val="0"/>
              </a:spcAft>
              <a:buFont typeface="Wingdings" panose="05000000000000000000" pitchFamily="2" charset="2"/>
              <a:buNone/>
              <a:defRPr/>
            </a:pPr>
            <a:r>
              <a:rPr lang="en-US" altLang="zh-CN" sz="2400" dirty="0"/>
              <a:t>    Referencing NEW row  AS new</a:t>
            </a:r>
          </a:p>
          <a:p>
            <a:pPr eaLnBrk="1" fontAlgn="auto" hangingPunct="1">
              <a:spcAft>
                <a:spcPts val="0"/>
              </a:spcAft>
              <a:buFont typeface="Wingdings" panose="05000000000000000000" pitchFamily="2" charset="2"/>
              <a:buNone/>
              <a:defRPr/>
            </a:pPr>
            <a:r>
              <a:rPr lang="en-US" altLang="zh-CN" sz="2400" dirty="0"/>
              <a:t>    FOR EACH ROW</a:t>
            </a:r>
          </a:p>
          <a:p>
            <a:pPr eaLnBrk="1" fontAlgn="auto" hangingPunct="1">
              <a:spcAft>
                <a:spcPts val="0"/>
              </a:spcAft>
              <a:buFont typeface="Wingdings" panose="05000000000000000000" pitchFamily="2" charset="2"/>
              <a:buNone/>
              <a:defRPr/>
            </a:pPr>
            <a:r>
              <a:rPr lang="en-US" altLang="zh-CN" sz="2400" dirty="0"/>
              <a:t>    WHEN (</a:t>
            </a:r>
            <a:r>
              <a:rPr lang="en-US" altLang="zh-CN" sz="2400" dirty="0" err="1"/>
              <a:t>new.Pos</a:t>
            </a:r>
            <a:r>
              <a:rPr lang="en-US" altLang="zh-CN" sz="2400" dirty="0"/>
              <a:t>='</a:t>
            </a:r>
            <a:r>
              <a:rPr lang="zh-CN" altLang="en-US" sz="2400" dirty="0"/>
              <a:t>教授</a:t>
            </a:r>
            <a:r>
              <a:rPr lang="en-US" altLang="zh-CN" sz="2400" dirty="0"/>
              <a:t>')</a:t>
            </a:r>
          </a:p>
          <a:p>
            <a:pPr eaLnBrk="1" fontAlgn="auto" hangingPunct="1">
              <a:spcAft>
                <a:spcPts val="0"/>
              </a:spcAft>
              <a:buFont typeface="Wingdings" panose="05000000000000000000" pitchFamily="2" charset="2"/>
              <a:buNone/>
              <a:defRPr/>
            </a:pPr>
            <a:r>
              <a:rPr lang="en-US" altLang="zh-CN" sz="2400" dirty="0"/>
              <a:t>    BEGIN</a:t>
            </a:r>
          </a:p>
          <a:p>
            <a:pPr eaLnBrk="1" fontAlgn="auto" hangingPunct="1">
              <a:spcAft>
                <a:spcPts val="0"/>
              </a:spcAft>
              <a:buFont typeface="Wingdings" panose="05000000000000000000" pitchFamily="2" charset="2"/>
              <a:buNone/>
              <a:defRPr/>
            </a:pPr>
            <a:r>
              <a:rPr lang="en-US" altLang="zh-CN" sz="2400" dirty="0"/>
              <a:t>          IF :</a:t>
            </a:r>
            <a:r>
              <a:rPr lang="en-US" altLang="zh-CN" sz="2400" dirty="0" err="1"/>
              <a:t>new.sal</a:t>
            </a:r>
            <a:r>
              <a:rPr lang="en-US" altLang="zh-CN" sz="2400" dirty="0"/>
              <a:t>&lt;3000   </a:t>
            </a:r>
          </a:p>
          <a:p>
            <a:pPr eaLnBrk="1" fontAlgn="auto" hangingPunct="1">
              <a:spcAft>
                <a:spcPts val="0"/>
              </a:spcAft>
              <a:buFont typeface="Wingdings" panose="05000000000000000000" pitchFamily="2" charset="2"/>
              <a:buNone/>
              <a:defRPr/>
            </a:pPr>
            <a:r>
              <a:rPr lang="en-US" altLang="zh-CN" sz="2400" dirty="0"/>
              <a:t>              THEN</a:t>
            </a:r>
          </a:p>
          <a:p>
            <a:pPr eaLnBrk="1" fontAlgn="auto" hangingPunct="1">
              <a:spcAft>
                <a:spcPts val="0"/>
              </a:spcAft>
              <a:buFont typeface="Wingdings" panose="05000000000000000000" pitchFamily="2" charset="2"/>
              <a:buNone/>
              <a:defRPr/>
            </a:pPr>
            <a:r>
              <a:rPr lang="en-US" altLang="zh-CN" sz="2400" dirty="0"/>
              <a:t>               :</a:t>
            </a:r>
            <a:r>
              <a:rPr lang="en-US" altLang="zh-CN" sz="2400" dirty="0" err="1"/>
              <a:t>new.Sal</a:t>
            </a:r>
            <a:r>
              <a:rPr lang="en-US" altLang="zh-CN" sz="2400" dirty="0"/>
              <a:t>:=3000;</a:t>
            </a:r>
          </a:p>
          <a:p>
            <a:pPr eaLnBrk="1" fontAlgn="auto" hangingPunct="1">
              <a:spcAft>
                <a:spcPts val="0"/>
              </a:spcAft>
              <a:buFont typeface="Wingdings" panose="05000000000000000000" pitchFamily="2" charset="2"/>
              <a:buNone/>
              <a:defRPr/>
            </a:pPr>
            <a:r>
              <a:rPr lang="en-US" altLang="zh-CN" sz="2400" dirty="0"/>
              <a:t>          END IF;</a:t>
            </a:r>
          </a:p>
          <a:p>
            <a:pPr eaLnBrk="1" fontAlgn="auto" hangingPunct="1">
              <a:spcAft>
                <a:spcPts val="0"/>
              </a:spcAft>
              <a:buFont typeface="Wingdings" panose="05000000000000000000" pitchFamily="2" charset="2"/>
              <a:buNone/>
              <a:defRPr/>
            </a:pPr>
            <a:r>
              <a:rPr lang="en-US" altLang="zh-CN" sz="2400" dirty="0"/>
              <a:t>    END;</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1187450" y="188640"/>
            <a:ext cx="7886700" cy="1325562"/>
          </a:xfrm>
        </p:spPr>
        <p:txBody>
          <a:bodyPr/>
          <a:lstStyle/>
          <a:p>
            <a:pPr eaLnBrk="1" hangingPunct="1"/>
            <a:r>
              <a:rPr lang="zh-CN" altLang="en-US" sz="3600" dirty="0">
                <a:latin typeface="宋体" panose="02010600030101010101" pitchFamily="2" charset="-122"/>
                <a:ea typeface="宋体" panose="02010600030101010101" pitchFamily="2" charset="-122"/>
                <a:cs typeface="宋体" panose="02010600030101010101" pitchFamily="2" charset="-122"/>
              </a:rPr>
              <a:t>定义触发器</a:t>
            </a:r>
            <a:r>
              <a:rPr lang="en-US" altLang="zh-CN" sz="3600" dirty="0">
                <a:latin typeface="宋体" panose="02010600030101010101" pitchFamily="2" charset="-122"/>
                <a:ea typeface="宋体" panose="02010600030101010101" pitchFamily="2" charset="-122"/>
                <a:cs typeface="宋体" panose="02010600030101010101" pitchFamily="2" charset="-122"/>
              </a:rPr>
              <a:t>(</a:t>
            </a:r>
            <a:r>
              <a:rPr lang="zh-CN" altLang="en-US" sz="3600" dirty="0">
                <a:latin typeface="宋体" panose="02010600030101010101" pitchFamily="2" charset="-122"/>
                <a:ea typeface="宋体" panose="02010600030101010101" pitchFamily="2" charset="-122"/>
                <a:cs typeface="宋体" panose="02010600030101010101" pitchFamily="2" charset="-122"/>
              </a:rPr>
              <a:t>续</a:t>
            </a:r>
            <a:r>
              <a:rPr lang="en-US" altLang="zh-CN" sz="3600" dirty="0">
                <a:latin typeface="宋体" panose="02010600030101010101" pitchFamily="2" charset="-122"/>
                <a:ea typeface="宋体" panose="02010600030101010101" pitchFamily="2" charset="-122"/>
                <a:cs typeface="宋体" panose="02010600030101010101" pitchFamily="2" charset="-122"/>
              </a:rPr>
              <a:t>)</a:t>
            </a:r>
          </a:p>
        </p:txBody>
      </p:sp>
      <p:sp>
        <p:nvSpPr>
          <p:cNvPr id="37892" name="Rectangle 3"/>
          <p:cNvSpPr>
            <a:spLocks noGrp="1" noChangeArrowheads="1"/>
          </p:cNvSpPr>
          <p:nvPr>
            <p:ph idx="1"/>
          </p:nvPr>
        </p:nvSpPr>
        <p:spPr>
          <a:xfrm>
            <a:off x="323850" y="1557338"/>
            <a:ext cx="8229600" cy="4495800"/>
          </a:xfrm>
        </p:spPr>
        <p:txBody>
          <a:bodyPr rtlCol="0">
            <a:normAutofit lnSpcReduction="10000"/>
          </a:bodyPr>
          <a:lstStyle/>
          <a:p>
            <a:pPr eaLnBrk="1" fontAlgn="auto" hangingPunct="1">
              <a:lnSpc>
                <a:spcPct val="110000"/>
              </a:lnSpc>
              <a:spcAft>
                <a:spcPts val="0"/>
              </a:spcAft>
              <a:buFont typeface="Wingdings" panose="05000000000000000000" pitchFamily="2" charset="2"/>
              <a:buNone/>
              <a:defRPr/>
            </a:pPr>
            <a:r>
              <a:rPr lang="zh-CN" altLang="en-US" sz="2400" dirty="0"/>
              <a:t>［例</a:t>
            </a:r>
            <a:r>
              <a:rPr lang="en-US" altLang="zh-CN" sz="2400" dirty="0"/>
              <a:t>10</a:t>
            </a:r>
            <a:r>
              <a:rPr lang="zh-CN" altLang="en-US" sz="2400" dirty="0"/>
              <a:t>］定义</a:t>
            </a:r>
            <a:r>
              <a:rPr lang="en-US" altLang="zh-CN" sz="2400" dirty="0"/>
              <a:t>AFTER</a:t>
            </a:r>
            <a:r>
              <a:rPr lang="zh-CN" altLang="en-US" sz="2400" dirty="0"/>
              <a:t>行级触发器，当教师表</a:t>
            </a:r>
            <a:r>
              <a:rPr lang="en-US" altLang="zh-CN" sz="2400" dirty="0"/>
              <a:t>Teacher</a:t>
            </a:r>
            <a:r>
              <a:rPr lang="zh-CN" altLang="en-US" sz="2400" dirty="0"/>
              <a:t>的工资发生变化后就自动在工资变化表</a:t>
            </a:r>
            <a:r>
              <a:rPr lang="en-US" altLang="zh-CN" sz="2400" dirty="0" err="1"/>
              <a:t>Sal_log</a:t>
            </a:r>
            <a:r>
              <a:rPr lang="zh-CN" altLang="en-US" sz="2400" dirty="0"/>
              <a:t>中增加一条相应记录。</a:t>
            </a:r>
          </a:p>
          <a:p>
            <a:pPr eaLnBrk="1" fontAlgn="auto" hangingPunct="1">
              <a:lnSpc>
                <a:spcPct val="110000"/>
              </a:lnSpc>
              <a:spcAft>
                <a:spcPts val="0"/>
              </a:spcAft>
              <a:buFont typeface="Wingdings" panose="05000000000000000000" pitchFamily="2" charset="2"/>
              <a:buNone/>
              <a:defRPr/>
            </a:pPr>
            <a:r>
              <a:rPr lang="zh-CN" altLang="en-US" sz="2400" dirty="0"/>
              <a:t>   首先建立工资变化表</a:t>
            </a:r>
            <a:r>
              <a:rPr lang="en-US" altLang="zh-CN" sz="2400" dirty="0" err="1"/>
              <a:t>Sal_log</a:t>
            </a:r>
            <a:endParaRPr lang="en-US" altLang="zh-CN" sz="2400" dirty="0"/>
          </a:p>
          <a:p>
            <a:pPr eaLnBrk="1" fontAlgn="auto" hangingPunct="1">
              <a:lnSpc>
                <a:spcPct val="110000"/>
              </a:lnSpc>
              <a:spcAft>
                <a:spcPts val="0"/>
              </a:spcAft>
              <a:buFont typeface="Wingdings" panose="05000000000000000000" pitchFamily="2" charset="2"/>
              <a:buNone/>
              <a:defRPr/>
            </a:pPr>
            <a:r>
              <a:rPr lang="en-US" altLang="zh-CN" sz="2400" dirty="0"/>
              <a:t>    CREATE TABLE </a:t>
            </a:r>
            <a:r>
              <a:rPr lang="en-US" altLang="zh-CN" sz="2400" dirty="0" err="1"/>
              <a:t>Sal_log</a:t>
            </a:r>
            <a:endParaRPr lang="en-US" altLang="zh-CN" sz="2400" dirty="0"/>
          </a:p>
          <a:p>
            <a:pPr eaLnBrk="1" fontAlgn="auto" hangingPunct="1">
              <a:lnSpc>
                <a:spcPct val="110000"/>
              </a:lnSpc>
              <a:spcAft>
                <a:spcPts val="0"/>
              </a:spcAft>
              <a:buFont typeface="Wingdings" panose="05000000000000000000" pitchFamily="2" charset="2"/>
              <a:buNone/>
              <a:defRPr/>
            </a:pPr>
            <a:r>
              <a:rPr lang="en-US" altLang="zh-CN" sz="2400" dirty="0"/>
              <a:t>        (Eno    NUMERIC(4)  references teacher(</a:t>
            </a:r>
            <a:r>
              <a:rPr lang="en-US" altLang="zh-CN" sz="2400" dirty="0" err="1"/>
              <a:t>eno</a:t>
            </a:r>
            <a:r>
              <a:rPr lang="en-US" altLang="zh-CN" sz="2400" dirty="0"/>
              <a:t>)</a:t>
            </a:r>
            <a:r>
              <a:rPr lang="zh-CN" altLang="en-US" sz="2400" dirty="0"/>
              <a:t>，</a:t>
            </a:r>
          </a:p>
          <a:p>
            <a:pPr eaLnBrk="1" fontAlgn="auto" hangingPunct="1">
              <a:lnSpc>
                <a:spcPct val="110000"/>
              </a:lnSpc>
              <a:spcAft>
                <a:spcPts val="0"/>
              </a:spcAft>
              <a:buFont typeface="Wingdings" panose="05000000000000000000" pitchFamily="2" charset="2"/>
              <a:buNone/>
              <a:defRPr/>
            </a:pPr>
            <a:r>
              <a:rPr lang="zh-CN" altLang="en-US" sz="2400" dirty="0"/>
              <a:t>          </a:t>
            </a:r>
            <a:r>
              <a:rPr lang="en-US" altLang="zh-CN" sz="2400" dirty="0"/>
              <a:t>Sal     NUMERIC(7</a:t>
            </a:r>
            <a:r>
              <a:rPr lang="zh-CN" altLang="en-US" sz="2400" dirty="0"/>
              <a:t>，</a:t>
            </a:r>
            <a:r>
              <a:rPr lang="en-US" altLang="zh-CN" sz="2400" dirty="0"/>
              <a:t>2)</a:t>
            </a:r>
            <a:r>
              <a:rPr lang="zh-CN" altLang="en-US" sz="2400" dirty="0"/>
              <a:t>，</a:t>
            </a:r>
          </a:p>
          <a:p>
            <a:pPr eaLnBrk="1" fontAlgn="auto" hangingPunct="1">
              <a:lnSpc>
                <a:spcPct val="110000"/>
              </a:lnSpc>
              <a:spcAft>
                <a:spcPts val="0"/>
              </a:spcAft>
              <a:buFont typeface="Wingdings" panose="05000000000000000000" pitchFamily="2" charset="2"/>
              <a:buNone/>
              <a:defRPr/>
            </a:pPr>
            <a:r>
              <a:rPr lang="zh-CN" altLang="en-US" sz="2400" dirty="0"/>
              <a:t>          </a:t>
            </a:r>
            <a:r>
              <a:rPr lang="en-US" altLang="zh-CN" sz="2400" dirty="0"/>
              <a:t>Username  char(10)</a:t>
            </a:r>
            <a:r>
              <a:rPr lang="zh-CN" altLang="en-US" sz="2400" dirty="0"/>
              <a:t>，</a:t>
            </a:r>
          </a:p>
          <a:p>
            <a:pPr eaLnBrk="1" fontAlgn="auto" hangingPunct="1">
              <a:lnSpc>
                <a:spcPct val="110000"/>
              </a:lnSpc>
              <a:spcAft>
                <a:spcPts val="0"/>
              </a:spcAft>
              <a:buFont typeface="Wingdings" panose="05000000000000000000" pitchFamily="2" charset="2"/>
              <a:buNone/>
              <a:defRPr/>
            </a:pPr>
            <a:r>
              <a:rPr lang="zh-CN" altLang="en-US" sz="2400" dirty="0"/>
              <a:t>          </a:t>
            </a:r>
            <a:r>
              <a:rPr lang="en-US" altLang="zh-CN" sz="2400" dirty="0"/>
              <a:t>Date   TIMESTAMP</a:t>
            </a:r>
          </a:p>
          <a:p>
            <a:pPr eaLnBrk="1" fontAlgn="auto" hangingPunct="1">
              <a:lnSpc>
                <a:spcPct val="110000"/>
              </a:lnSpc>
              <a:spcAft>
                <a:spcPts val="0"/>
              </a:spcAft>
              <a:buFont typeface="Wingdings" panose="05000000000000000000" pitchFamily="2" charset="2"/>
              <a:buNone/>
              <a:defRPr/>
            </a:pPr>
            <a:r>
              <a:rPr lang="en-US" altLang="zh-CN" sz="2400" dirty="0"/>
              <a:t>         )</a:t>
            </a:r>
            <a:r>
              <a:rPr lang="zh-CN" altLang="en-US" sz="2400"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7892">
                                            <p:txEl>
                                              <p:pRg st="1" end="1"/>
                                            </p:txEl>
                                          </p:spTgt>
                                        </p:tgtEl>
                                        <p:attrNameLst>
                                          <p:attrName>style.visibility</p:attrName>
                                        </p:attrNameLst>
                                      </p:cBhvr>
                                      <p:to>
                                        <p:strVal val="visible"/>
                                      </p:to>
                                    </p:set>
                                    <p:animEffect transition="in" filter="box(in)">
                                      <p:cBhvr>
                                        <p:cTn id="7" dur="500"/>
                                        <p:tgtEl>
                                          <p:spTgt spid="37892">
                                            <p:txEl>
                                              <p:pRg st="1" end="1"/>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37892">
                                            <p:txEl>
                                              <p:pRg st="2" end="2"/>
                                            </p:txEl>
                                          </p:spTgt>
                                        </p:tgtEl>
                                        <p:attrNameLst>
                                          <p:attrName>style.visibility</p:attrName>
                                        </p:attrNameLst>
                                      </p:cBhvr>
                                      <p:to>
                                        <p:strVal val="visible"/>
                                      </p:to>
                                    </p:set>
                                    <p:animEffect transition="in" filter="box(in)">
                                      <p:cBhvr>
                                        <p:cTn id="10" dur="500"/>
                                        <p:tgtEl>
                                          <p:spTgt spid="37892">
                                            <p:txEl>
                                              <p:pRg st="2" end="2"/>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37892">
                                            <p:txEl>
                                              <p:pRg st="3" end="3"/>
                                            </p:txEl>
                                          </p:spTgt>
                                        </p:tgtEl>
                                        <p:attrNameLst>
                                          <p:attrName>style.visibility</p:attrName>
                                        </p:attrNameLst>
                                      </p:cBhvr>
                                      <p:to>
                                        <p:strVal val="visible"/>
                                      </p:to>
                                    </p:set>
                                    <p:animEffect transition="in" filter="box(in)">
                                      <p:cBhvr>
                                        <p:cTn id="13" dur="500"/>
                                        <p:tgtEl>
                                          <p:spTgt spid="37892">
                                            <p:txEl>
                                              <p:pRg st="3" end="3"/>
                                            </p:txEl>
                                          </p:spTgt>
                                        </p:tgtEl>
                                      </p:cBhvr>
                                    </p:animEffect>
                                  </p:childTnLst>
                                </p:cTn>
                              </p:par>
                              <p:par>
                                <p:cTn id="14" presetID="4" presetClass="entr" presetSubtype="16" fill="hold" nodeType="withEffect">
                                  <p:stCondLst>
                                    <p:cond delay="0"/>
                                  </p:stCondLst>
                                  <p:childTnLst>
                                    <p:set>
                                      <p:cBhvr>
                                        <p:cTn id="15" dur="1" fill="hold">
                                          <p:stCondLst>
                                            <p:cond delay="0"/>
                                          </p:stCondLst>
                                        </p:cTn>
                                        <p:tgtEl>
                                          <p:spTgt spid="37892">
                                            <p:txEl>
                                              <p:pRg st="4" end="4"/>
                                            </p:txEl>
                                          </p:spTgt>
                                        </p:tgtEl>
                                        <p:attrNameLst>
                                          <p:attrName>style.visibility</p:attrName>
                                        </p:attrNameLst>
                                      </p:cBhvr>
                                      <p:to>
                                        <p:strVal val="visible"/>
                                      </p:to>
                                    </p:set>
                                    <p:animEffect transition="in" filter="box(in)">
                                      <p:cBhvr>
                                        <p:cTn id="16" dur="500"/>
                                        <p:tgtEl>
                                          <p:spTgt spid="37892">
                                            <p:txEl>
                                              <p:pRg st="4" end="4"/>
                                            </p:txEl>
                                          </p:spTgt>
                                        </p:tgtEl>
                                      </p:cBhvr>
                                    </p:animEffect>
                                  </p:childTnLst>
                                </p:cTn>
                              </p:par>
                              <p:par>
                                <p:cTn id="17" presetID="4" presetClass="entr" presetSubtype="16" fill="hold" nodeType="withEffect">
                                  <p:stCondLst>
                                    <p:cond delay="0"/>
                                  </p:stCondLst>
                                  <p:childTnLst>
                                    <p:set>
                                      <p:cBhvr>
                                        <p:cTn id="18" dur="1" fill="hold">
                                          <p:stCondLst>
                                            <p:cond delay="0"/>
                                          </p:stCondLst>
                                        </p:cTn>
                                        <p:tgtEl>
                                          <p:spTgt spid="37892">
                                            <p:txEl>
                                              <p:pRg st="5" end="5"/>
                                            </p:txEl>
                                          </p:spTgt>
                                        </p:tgtEl>
                                        <p:attrNameLst>
                                          <p:attrName>style.visibility</p:attrName>
                                        </p:attrNameLst>
                                      </p:cBhvr>
                                      <p:to>
                                        <p:strVal val="visible"/>
                                      </p:to>
                                    </p:set>
                                    <p:animEffect transition="in" filter="box(in)">
                                      <p:cBhvr>
                                        <p:cTn id="19" dur="500"/>
                                        <p:tgtEl>
                                          <p:spTgt spid="37892">
                                            <p:txEl>
                                              <p:pRg st="5" end="5"/>
                                            </p:txEl>
                                          </p:spTgt>
                                        </p:tgtEl>
                                      </p:cBhvr>
                                    </p:animEffect>
                                  </p:childTnLst>
                                </p:cTn>
                              </p:par>
                              <p:par>
                                <p:cTn id="20" presetID="4" presetClass="entr" presetSubtype="16" fill="hold" nodeType="withEffect">
                                  <p:stCondLst>
                                    <p:cond delay="0"/>
                                  </p:stCondLst>
                                  <p:childTnLst>
                                    <p:set>
                                      <p:cBhvr>
                                        <p:cTn id="21" dur="1" fill="hold">
                                          <p:stCondLst>
                                            <p:cond delay="0"/>
                                          </p:stCondLst>
                                        </p:cTn>
                                        <p:tgtEl>
                                          <p:spTgt spid="37892">
                                            <p:txEl>
                                              <p:pRg st="6" end="6"/>
                                            </p:txEl>
                                          </p:spTgt>
                                        </p:tgtEl>
                                        <p:attrNameLst>
                                          <p:attrName>style.visibility</p:attrName>
                                        </p:attrNameLst>
                                      </p:cBhvr>
                                      <p:to>
                                        <p:strVal val="visible"/>
                                      </p:to>
                                    </p:set>
                                    <p:animEffect transition="in" filter="box(in)">
                                      <p:cBhvr>
                                        <p:cTn id="22" dur="500"/>
                                        <p:tgtEl>
                                          <p:spTgt spid="37892">
                                            <p:txEl>
                                              <p:pRg st="6" end="6"/>
                                            </p:txEl>
                                          </p:spTgt>
                                        </p:tgtEl>
                                      </p:cBhvr>
                                    </p:animEffect>
                                  </p:childTnLst>
                                </p:cTn>
                              </p:par>
                              <p:par>
                                <p:cTn id="23" presetID="4" presetClass="entr" presetSubtype="16" fill="hold" nodeType="withEffect">
                                  <p:stCondLst>
                                    <p:cond delay="0"/>
                                  </p:stCondLst>
                                  <p:childTnLst>
                                    <p:set>
                                      <p:cBhvr>
                                        <p:cTn id="24" dur="1" fill="hold">
                                          <p:stCondLst>
                                            <p:cond delay="0"/>
                                          </p:stCondLst>
                                        </p:cTn>
                                        <p:tgtEl>
                                          <p:spTgt spid="37892">
                                            <p:txEl>
                                              <p:pRg st="7" end="7"/>
                                            </p:txEl>
                                          </p:spTgt>
                                        </p:tgtEl>
                                        <p:attrNameLst>
                                          <p:attrName>style.visibility</p:attrName>
                                        </p:attrNameLst>
                                      </p:cBhvr>
                                      <p:to>
                                        <p:strVal val="visible"/>
                                      </p:to>
                                    </p:set>
                                    <p:animEffect transition="in" filter="box(in)">
                                      <p:cBhvr>
                                        <p:cTn id="25" dur="500"/>
                                        <p:tgtEl>
                                          <p:spTgt spid="3789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1181100" y="188640"/>
            <a:ext cx="7886700" cy="1325562"/>
          </a:xfrm>
        </p:spPr>
        <p:txBody>
          <a:bodyPr/>
          <a:lstStyle/>
          <a:p>
            <a:pPr eaLnBrk="1" hangingPunct="1"/>
            <a:r>
              <a:rPr lang="zh-CN" altLang="en-US" sz="3600" dirty="0">
                <a:latin typeface="宋体" panose="02010600030101010101" pitchFamily="2" charset="-122"/>
                <a:ea typeface="宋体" panose="02010600030101010101" pitchFamily="2" charset="-122"/>
                <a:cs typeface="宋体" panose="02010600030101010101" pitchFamily="2" charset="-122"/>
              </a:rPr>
              <a:t>定义触发器</a:t>
            </a:r>
            <a:r>
              <a:rPr lang="en-US" altLang="zh-CN" sz="3600" dirty="0">
                <a:latin typeface="宋体" panose="02010600030101010101" pitchFamily="2" charset="-122"/>
                <a:ea typeface="宋体" panose="02010600030101010101" pitchFamily="2" charset="-122"/>
                <a:cs typeface="宋体" panose="02010600030101010101" pitchFamily="2" charset="-122"/>
              </a:rPr>
              <a:t>(</a:t>
            </a:r>
            <a:r>
              <a:rPr lang="zh-CN" altLang="en-US" sz="3600" dirty="0">
                <a:latin typeface="宋体" panose="02010600030101010101" pitchFamily="2" charset="-122"/>
                <a:ea typeface="宋体" panose="02010600030101010101" pitchFamily="2" charset="-122"/>
                <a:cs typeface="宋体" panose="02010600030101010101" pitchFamily="2" charset="-122"/>
              </a:rPr>
              <a:t>续</a:t>
            </a:r>
            <a:r>
              <a:rPr lang="en-US" altLang="zh-CN" sz="3600" dirty="0">
                <a:latin typeface="宋体" panose="02010600030101010101" pitchFamily="2" charset="-122"/>
                <a:ea typeface="宋体" panose="02010600030101010101" pitchFamily="2" charset="-122"/>
                <a:cs typeface="宋体" panose="02010600030101010101" pitchFamily="2" charset="-122"/>
              </a:rPr>
              <a:t>)</a:t>
            </a:r>
          </a:p>
        </p:txBody>
      </p:sp>
      <p:sp>
        <p:nvSpPr>
          <p:cNvPr id="57348" name="Rectangle 3"/>
          <p:cNvSpPr>
            <a:spLocks noGrp="1" noChangeArrowheads="1"/>
          </p:cNvSpPr>
          <p:nvPr>
            <p:ph idx="1"/>
          </p:nvPr>
        </p:nvSpPr>
        <p:spPr>
          <a:xfrm>
            <a:off x="277813" y="1557338"/>
            <a:ext cx="8785225" cy="4495800"/>
          </a:xfrm>
        </p:spPr>
        <p:txBody>
          <a:bodyPr rtlCol="0">
            <a:normAutofit fontScale="92500" lnSpcReduction="10000"/>
          </a:bodyPr>
          <a:lstStyle/>
          <a:p>
            <a:pPr eaLnBrk="1" fontAlgn="auto" hangingPunct="1">
              <a:lnSpc>
                <a:spcPct val="130000"/>
              </a:lnSpc>
              <a:spcAft>
                <a:spcPts val="0"/>
              </a:spcAft>
              <a:buFont typeface="Wingdings" panose="05000000000000000000" pitchFamily="2" charset="2"/>
              <a:buNone/>
              <a:defRPr/>
            </a:pPr>
            <a:r>
              <a:rPr lang="en-US" altLang="zh-CN" dirty="0"/>
              <a:t>[</a:t>
            </a:r>
            <a:r>
              <a:rPr lang="zh-CN" altLang="en-US" dirty="0"/>
              <a:t>例</a:t>
            </a:r>
            <a:r>
              <a:rPr lang="en-US" altLang="zh-CN" dirty="0"/>
              <a:t>10]</a:t>
            </a:r>
            <a:r>
              <a:rPr lang="zh-CN" altLang="en-US" dirty="0"/>
              <a:t>（续）</a:t>
            </a:r>
          </a:p>
          <a:p>
            <a:pPr eaLnBrk="1" fontAlgn="auto" hangingPunct="1">
              <a:lnSpc>
                <a:spcPct val="130000"/>
              </a:lnSpc>
              <a:spcAft>
                <a:spcPts val="0"/>
              </a:spcAft>
              <a:buFont typeface="Wingdings" panose="05000000000000000000" pitchFamily="2" charset="2"/>
              <a:buNone/>
              <a:defRPr/>
            </a:pPr>
            <a:r>
              <a:rPr lang="en-US" altLang="zh-CN" sz="2400" dirty="0"/>
              <a:t>CREATE TRIGGER </a:t>
            </a:r>
            <a:r>
              <a:rPr lang="en-US" altLang="zh-CN" sz="2400" dirty="0" err="1"/>
              <a:t>Insert_Sal</a:t>
            </a:r>
            <a:r>
              <a:rPr lang="en-US" altLang="zh-CN" sz="2400" dirty="0"/>
              <a:t>               	</a:t>
            </a:r>
          </a:p>
          <a:p>
            <a:pPr eaLnBrk="1" fontAlgn="auto" hangingPunct="1">
              <a:lnSpc>
                <a:spcPct val="130000"/>
              </a:lnSpc>
              <a:spcAft>
                <a:spcPts val="0"/>
              </a:spcAft>
              <a:buFont typeface="Wingdings" panose="05000000000000000000" pitchFamily="2" charset="2"/>
              <a:buNone/>
              <a:defRPr/>
            </a:pPr>
            <a:r>
              <a:rPr lang="en-US" altLang="zh-CN" sz="2400" dirty="0"/>
              <a:t>    </a:t>
            </a:r>
            <a:r>
              <a:rPr lang="en-US" altLang="zh-CN" sz="2400" dirty="0">
                <a:solidFill>
                  <a:srgbClr val="FF0000"/>
                </a:solidFill>
              </a:rPr>
              <a:t>AFTER INSERT </a:t>
            </a:r>
            <a:r>
              <a:rPr lang="en-US" altLang="zh-CN" sz="2400" dirty="0"/>
              <a:t>ON Teacher      	/*</a:t>
            </a:r>
            <a:r>
              <a:rPr lang="zh-CN" altLang="en-US" sz="2400" dirty="0"/>
              <a:t>触发事件是</a:t>
            </a:r>
            <a:r>
              <a:rPr lang="en-US" altLang="zh-CN" sz="2400" dirty="0"/>
              <a:t>INSERT*/</a:t>
            </a:r>
          </a:p>
          <a:p>
            <a:pPr eaLnBrk="1" fontAlgn="auto" hangingPunct="1">
              <a:lnSpc>
                <a:spcPct val="130000"/>
              </a:lnSpc>
              <a:spcAft>
                <a:spcPts val="0"/>
              </a:spcAft>
              <a:buFont typeface="Wingdings" panose="05000000000000000000" pitchFamily="2" charset="2"/>
              <a:buNone/>
              <a:defRPr/>
            </a:pPr>
            <a:r>
              <a:rPr lang="en-US" altLang="zh-CN" sz="2400" dirty="0"/>
              <a:t>    FOR EACH ROW</a:t>
            </a:r>
          </a:p>
          <a:p>
            <a:pPr eaLnBrk="1" fontAlgn="auto" hangingPunct="1">
              <a:lnSpc>
                <a:spcPct val="130000"/>
              </a:lnSpc>
              <a:spcAft>
                <a:spcPts val="0"/>
              </a:spcAft>
              <a:buFont typeface="Wingdings" panose="05000000000000000000" pitchFamily="2" charset="2"/>
              <a:buNone/>
              <a:defRPr/>
            </a:pPr>
            <a:r>
              <a:rPr lang="en-US" altLang="zh-CN" sz="2400" dirty="0"/>
              <a:t>    AS BEGIN</a:t>
            </a:r>
          </a:p>
          <a:p>
            <a:pPr eaLnBrk="1" fontAlgn="auto" hangingPunct="1">
              <a:lnSpc>
                <a:spcPct val="130000"/>
              </a:lnSpc>
              <a:spcAft>
                <a:spcPts val="0"/>
              </a:spcAft>
              <a:buFont typeface="Wingdings" panose="05000000000000000000" pitchFamily="2" charset="2"/>
              <a:buNone/>
              <a:defRPr/>
            </a:pPr>
            <a:r>
              <a:rPr lang="en-US" altLang="zh-CN" sz="2400" dirty="0"/>
              <a:t>        INSERT INTO </a:t>
            </a:r>
            <a:r>
              <a:rPr lang="en-US" altLang="zh-CN" sz="2400" dirty="0" err="1"/>
              <a:t>Sal_log</a:t>
            </a:r>
            <a:r>
              <a:rPr lang="en-US" altLang="zh-CN" sz="2400" dirty="0"/>
              <a:t> VALUES(</a:t>
            </a:r>
          </a:p>
          <a:p>
            <a:pPr eaLnBrk="1" fontAlgn="auto" hangingPunct="1">
              <a:lnSpc>
                <a:spcPct val="130000"/>
              </a:lnSpc>
              <a:spcAft>
                <a:spcPts val="0"/>
              </a:spcAft>
              <a:buFont typeface="Wingdings" panose="05000000000000000000" pitchFamily="2" charset="2"/>
              <a:buNone/>
              <a:defRPr/>
            </a:pPr>
            <a:r>
              <a:rPr lang="en-US" altLang="zh-CN" sz="2400" dirty="0"/>
              <a:t>           </a:t>
            </a:r>
            <a:r>
              <a:rPr lang="en-US" altLang="zh-CN" sz="2400" dirty="0" err="1"/>
              <a:t>new.Eno</a:t>
            </a:r>
            <a:r>
              <a:rPr lang="zh-CN" altLang="en-US" sz="2400" dirty="0"/>
              <a:t>，</a:t>
            </a:r>
            <a:r>
              <a:rPr lang="en-US" altLang="zh-CN" sz="2400" dirty="0" err="1"/>
              <a:t>new.Sal</a:t>
            </a:r>
            <a:r>
              <a:rPr lang="zh-CN" altLang="en-US" sz="2400" dirty="0"/>
              <a:t>，</a:t>
            </a:r>
            <a:r>
              <a:rPr lang="en-US" altLang="zh-CN" sz="2400" dirty="0"/>
              <a:t>CURRENT_USER</a:t>
            </a:r>
            <a:r>
              <a:rPr lang="zh-CN" altLang="en-US" sz="2400" dirty="0"/>
              <a:t>，</a:t>
            </a:r>
            <a:r>
              <a:rPr lang="en-US" altLang="zh-CN" sz="2400" dirty="0"/>
              <a:t>CURRENT_TIMESTAMP);</a:t>
            </a:r>
          </a:p>
          <a:p>
            <a:pPr eaLnBrk="1" fontAlgn="auto" hangingPunct="1">
              <a:lnSpc>
                <a:spcPct val="130000"/>
              </a:lnSpc>
              <a:spcAft>
                <a:spcPts val="0"/>
              </a:spcAft>
              <a:buFont typeface="Wingdings" panose="05000000000000000000" pitchFamily="2" charset="2"/>
              <a:buNone/>
              <a:defRPr/>
            </a:pPr>
            <a:r>
              <a:rPr lang="en-US" altLang="zh-CN" sz="2400" dirty="0"/>
              <a:t>    END;</a:t>
            </a:r>
          </a:p>
          <a:p>
            <a:pPr eaLnBrk="1" fontAlgn="auto" hangingPunct="1">
              <a:spcAft>
                <a:spcPts val="0"/>
              </a:spcAft>
              <a:defRPr/>
            </a:pPr>
            <a:endParaRPr lang="en-US" altLang="zh-CN" sz="24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1185545" y="188640"/>
            <a:ext cx="7886700" cy="1325563"/>
          </a:xfrm>
        </p:spPr>
        <p:txBody>
          <a:bodyPr/>
          <a:lstStyle/>
          <a:p>
            <a:pPr eaLnBrk="1" hangingPunct="1"/>
            <a:r>
              <a:rPr lang="en-US" altLang="zh-CN" sz="3600" dirty="0">
                <a:latin typeface="宋体" panose="02010600030101010101" pitchFamily="2" charset="-122"/>
                <a:ea typeface="宋体" panose="02010600030101010101" pitchFamily="2" charset="-122"/>
                <a:cs typeface="宋体" panose="02010600030101010101" pitchFamily="2" charset="-122"/>
              </a:rPr>
              <a:t>5.7.2 </a:t>
            </a:r>
            <a:r>
              <a:rPr lang="zh-CN" altLang="en-US" sz="3600" dirty="0">
                <a:latin typeface="宋体" panose="02010600030101010101" pitchFamily="2" charset="-122"/>
                <a:ea typeface="宋体" panose="02010600030101010101" pitchFamily="2" charset="-122"/>
                <a:cs typeface="宋体" panose="02010600030101010101" pitchFamily="2" charset="-122"/>
              </a:rPr>
              <a:t>激活触发器</a:t>
            </a:r>
          </a:p>
        </p:txBody>
      </p:sp>
      <p:sp>
        <p:nvSpPr>
          <p:cNvPr id="39940" name="Rectangle 3"/>
          <p:cNvSpPr>
            <a:spLocks noGrp="1" noChangeArrowheads="1"/>
          </p:cNvSpPr>
          <p:nvPr>
            <p:ph idx="1"/>
          </p:nvPr>
        </p:nvSpPr>
        <p:spPr>
          <a:xfrm>
            <a:off x="292100" y="1628775"/>
            <a:ext cx="8559800" cy="4114800"/>
          </a:xfrm>
        </p:spPr>
        <p:txBody>
          <a:bodyPr/>
          <a:lstStyle/>
          <a:p>
            <a:pPr eaLnBrk="1" hangingPunct="1">
              <a:lnSpc>
                <a:spcPct val="130000"/>
              </a:lnSpc>
            </a:pPr>
            <a:r>
              <a:rPr lang="zh-CN" altLang="en-US" dirty="0"/>
              <a:t>触发器的执行，是由</a:t>
            </a:r>
            <a:r>
              <a:rPr lang="zh-CN" altLang="en-US" dirty="0">
                <a:solidFill>
                  <a:srgbClr val="FF00FF"/>
                </a:solidFill>
              </a:rPr>
              <a:t>触发事件激活</a:t>
            </a:r>
            <a:r>
              <a:rPr lang="zh-CN" altLang="en-US" dirty="0"/>
              <a:t>的，并由数据库服务器自动执行</a:t>
            </a:r>
          </a:p>
          <a:p>
            <a:pPr eaLnBrk="1" hangingPunct="1">
              <a:lnSpc>
                <a:spcPct val="130000"/>
              </a:lnSpc>
            </a:pPr>
            <a:r>
              <a:rPr lang="zh-CN" altLang="en-US" dirty="0"/>
              <a:t>一个数据表上可能定义了</a:t>
            </a:r>
            <a:r>
              <a:rPr lang="zh-CN" altLang="en-US" dirty="0">
                <a:solidFill>
                  <a:srgbClr val="FF00FF"/>
                </a:solidFill>
              </a:rPr>
              <a:t>多个触发器</a:t>
            </a:r>
          </a:p>
          <a:p>
            <a:pPr lvl="1" eaLnBrk="1" hangingPunct="1">
              <a:lnSpc>
                <a:spcPct val="130000"/>
              </a:lnSpc>
            </a:pPr>
            <a:r>
              <a:rPr lang="zh-CN" altLang="en-US" dirty="0"/>
              <a:t>同一个表上的多个触发器激活时遵循如下的执行顺序：</a:t>
            </a:r>
          </a:p>
          <a:p>
            <a:pPr lvl="2" eaLnBrk="1" hangingPunct="1">
              <a:lnSpc>
                <a:spcPct val="130000"/>
              </a:lnSpc>
            </a:pPr>
            <a:r>
              <a:rPr lang="zh-CN" altLang="en-US" dirty="0"/>
              <a:t>（</a:t>
            </a:r>
            <a:r>
              <a:rPr lang="en-US" altLang="zh-CN" dirty="0"/>
              <a:t>1</a:t>
            </a:r>
            <a:r>
              <a:rPr lang="zh-CN" altLang="en-US" dirty="0"/>
              <a:t>） 执行该表上的</a:t>
            </a:r>
            <a:r>
              <a:rPr lang="en-US" altLang="zh-CN" dirty="0"/>
              <a:t>BEFORE</a:t>
            </a:r>
            <a:r>
              <a:rPr lang="zh-CN" altLang="en-US" dirty="0"/>
              <a:t>触发器；</a:t>
            </a:r>
          </a:p>
          <a:p>
            <a:pPr lvl="2" eaLnBrk="1" hangingPunct="1">
              <a:lnSpc>
                <a:spcPct val="130000"/>
              </a:lnSpc>
            </a:pPr>
            <a:r>
              <a:rPr lang="zh-CN" altLang="en-US" dirty="0"/>
              <a:t>（</a:t>
            </a:r>
            <a:r>
              <a:rPr lang="en-US" altLang="zh-CN" dirty="0"/>
              <a:t>2</a:t>
            </a:r>
            <a:r>
              <a:rPr lang="zh-CN" altLang="en-US" dirty="0"/>
              <a:t>） 激活触发器的</a:t>
            </a:r>
            <a:r>
              <a:rPr lang="en-US" altLang="zh-CN" dirty="0"/>
              <a:t>SQL</a:t>
            </a:r>
            <a:r>
              <a:rPr lang="zh-CN" altLang="en-US" dirty="0"/>
              <a:t>语句；</a:t>
            </a:r>
          </a:p>
          <a:p>
            <a:pPr lvl="2" eaLnBrk="1" hangingPunct="1">
              <a:lnSpc>
                <a:spcPct val="130000"/>
              </a:lnSpc>
            </a:pPr>
            <a:r>
              <a:rPr lang="zh-CN" altLang="en-US" dirty="0"/>
              <a:t>（</a:t>
            </a:r>
            <a:r>
              <a:rPr lang="en-US" altLang="zh-CN" dirty="0"/>
              <a:t>3</a:t>
            </a:r>
            <a:r>
              <a:rPr lang="zh-CN" altLang="en-US" dirty="0"/>
              <a:t>） 执行该表上的</a:t>
            </a:r>
            <a:r>
              <a:rPr lang="en-US" altLang="zh-CN" dirty="0"/>
              <a:t>AFTER</a:t>
            </a:r>
            <a:r>
              <a:rPr lang="zh-CN" altLang="en-US" dirty="0"/>
              <a:t>触发器。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9940">
                                            <p:txEl>
                                              <p:pRg st="1" end="1"/>
                                            </p:txEl>
                                          </p:spTgt>
                                        </p:tgtEl>
                                        <p:attrNameLst>
                                          <p:attrName>style.visibility</p:attrName>
                                        </p:attrNameLst>
                                      </p:cBhvr>
                                      <p:to>
                                        <p:strVal val="visible"/>
                                      </p:to>
                                    </p:set>
                                    <p:animEffect transition="in" filter="box(in)">
                                      <p:cBhvr>
                                        <p:cTn id="7" dur="500"/>
                                        <p:tgtEl>
                                          <p:spTgt spid="3994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9940">
                                            <p:txEl>
                                              <p:pRg st="2" end="2"/>
                                            </p:txEl>
                                          </p:spTgt>
                                        </p:tgtEl>
                                        <p:attrNameLst>
                                          <p:attrName>style.visibility</p:attrName>
                                        </p:attrNameLst>
                                      </p:cBhvr>
                                      <p:to>
                                        <p:strVal val="visible"/>
                                      </p:to>
                                    </p:set>
                                    <p:animEffect transition="in" filter="box(in)">
                                      <p:cBhvr>
                                        <p:cTn id="12" dur="500"/>
                                        <p:tgtEl>
                                          <p:spTgt spid="39940">
                                            <p:txEl>
                                              <p:pRg st="2" end="2"/>
                                            </p:txEl>
                                          </p:spTgt>
                                        </p:tgtEl>
                                      </p:cBhvr>
                                    </p:animEffect>
                                  </p:childTnLst>
                                </p:cTn>
                              </p:par>
                              <p:par>
                                <p:cTn id="13" presetID="4" presetClass="entr" presetSubtype="16" fill="hold" nodeType="withEffect">
                                  <p:stCondLst>
                                    <p:cond delay="0"/>
                                  </p:stCondLst>
                                  <p:childTnLst>
                                    <p:set>
                                      <p:cBhvr>
                                        <p:cTn id="14" dur="1" fill="hold">
                                          <p:stCondLst>
                                            <p:cond delay="0"/>
                                          </p:stCondLst>
                                        </p:cTn>
                                        <p:tgtEl>
                                          <p:spTgt spid="39940">
                                            <p:txEl>
                                              <p:pRg st="3" end="3"/>
                                            </p:txEl>
                                          </p:spTgt>
                                        </p:tgtEl>
                                        <p:attrNameLst>
                                          <p:attrName>style.visibility</p:attrName>
                                        </p:attrNameLst>
                                      </p:cBhvr>
                                      <p:to>
                                        <p:strVal val="visible"/>
                                      </p:to>
                                    </p:set>
                                    <p:animEffect transition="in" filter="box(in)">
                                      <p:cBhvr>
                                        <p:cTn id="15" dur="500"/>
                                        <p:tgtEl>
                                          <p:spTgt spid="39940">
                                            <p:txEl>
                                              <p:pRg st="3" end="3"/>
                                            </p:txEl>
                                          </p:spTgt>
                                        </p:tgtEl>
                                      </p:cBhvr>
                                    </p:animEffect>
                                  </p:childTnLst>
                                </p:cTn>
                              </p:par>
                              <p:par>
                                <p:cTn id="16" presetID="4" presetClass="entr" presetSubtype="16" fill="hold" nodeType="withEffect">
                                  <p:stCondLst>
                                    <p:cond delay="0"/>
                                  </p:stCondLst>
                                  <p:childTnLst>
                                    <p:set>
                                      <p:cBhvr>
                                        <p:cTn id="17" dur="1" fill="hold">
                                          <p:stCondLst>
                                            <p:cond delay="0"/>
                                          </p:stCondLst>
                                        </p:cTn>
                                        <p:tgtEl>
                                          <p:spTgt spid="39940">
                                            <p:txEl>
                                              <p:pRg st="4" end="4"/>
                                            </p:txEl>
                                          </p:spTgt>
                                        </p:tgtEl>
                                        <p:attrNameLst>
                                          <p:attrName>style.visibility</p:attrName>
                                        </p:attrNameLst>
                                      </p:cBhvr>
                                      <p:to>
                                        <p:strVal val="visible"/>
                                      </p:to>
                                    </p:set>
                                    <p:animEffect transition="in" filter="box(in)">
                                      <p:cBhvr>
                                        <p:cTn id="18" dur="500"/>
                                        <p:tgtEl>
                                          <p:spTgt spid="39940">
                                            <p:txEl>
                                              <p:pRg st="4" end="4"/>
                                            </p:txEl>
                                          </p:spTgt>
                                        </p:tgtEl>
                                      </p:cBhvr>
                                    </p:animEffect>
                                  </p:childTnLst>
                                </p:cTn>
                              </p:par>
                              <p:par>
                                <p:cTn id="19" presetID="4" presetClass="entr" presetSubtype="16" fill="hold" nodeType="withEffect">
                                  <p:stCondLst>
                                    <p:cond delay="0"/>
                                  </p:stCondLst>
                                  <p:childTnLst>
                                    <p:set>
                                      <p:cBhvr>
                                        <p:cTn id="20" dur="1" fill="hold">
                                          <p:stCondLst>
                                            <p:cond delay="0"/>
                                          </p:stCondLst>
                                        </p:cTn>
                                        <p:tgtEl>
                                          <p:spTgt spid="39940">
                                            <p:txEl>
                                              <p:pRg st="5" end="5"/>
                                            </p:txEl>
                                          </p:spTgt>
                                        </p:tgtEl>
                                        <p:attrNameLst>
                                          <p:attrName>style.visibility</p:attrName>
                                        </p:attrNameLst>
                                      </p:cBhvr>
                                      <p:to>
                                        <p:strVal val="visible"/>
                                      </p:to>
                                    </p:set>
                                    <p:animEffect transition="in" filter="box(in)">
                                      <p:cBhvr>
                                        <p:cTn id="21" dur="500"/>
                                        <p:tgtEl>
                                          <p:spTgt spid="3994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1187133" y="260648"/>
            <a:ext cx="7793037" cy="1143000"/>
          </a:xfrm>
        </p:spPr>
        <p:txBody>
          <a:bodyPr/>
          <a:lstStyle/>
          <a:p>
            <a:pPr eaLnBrk="1" hangingPunct="1"/>
            <a:r>
              <a:rPr lang="en-US" altLang="zh-CN" sz="3600" dirty="0">
                <a:latin typeface="宋体" panose="02010600030101010101" pitchFamily="2" charset="-122"/>
                <a:ea typeface="宋体" panose="02010600030101010101" pitchFamily="2" charset="-122"/>
                <a:cs typeface="宋体" panose="02010600030101010101" pitchFamily="2" charset="-122"/>
              </a:rPr>
              <a:t>5.7.3 </a:t>
            </a:r>
            <a:r>
              <a:rPr lang="zh-CN" altLang="en-US" sz="3600" dirty="0">
                <a:latin typeface="宋体" panose="02010600030101010101" pitchFamily="2" charset="-122"/>
                <a:ea typeface="宋体" panose="02010600030101010101" pitchFamily="2" charset="-122"/>
                <a:cs typeface="宋体" panose="02010600030101010101" pitchFamily="2" charset="-122"/>
              </a:rPr>
              <a:t>删除触发器</a:t>
            </a:r>
          </a:p>
        </p:txBody>
      </p:sp>
      <p:sp>
        <p:nvSpPr>
          <p:cNvPr id="41988" name="Rectangle 3"/>
          <p:cNvSpPr>
            <a:spLocks noGrp="1" noChangeArrowheads="1"/>
          </p:cNvSpPr>
          <p:nvPr>
            <p:ph idx="1"/>
          </p:nvPr>
        </p:nvSpPr>
        <p:spPr>
          <a:xfrm>
            <a:off x="323850" y="1557338"/>
            <a:ext cx="8388350" cy="4114800"/>
          </a:xfrm>
        </p:spPr>
        <p:txBody>
          <a:bodyPr rtlCol="0">
            <a:normAutofit fontScale="92500" lnSpcReduction="10000"/>
          </a:bodyPr>
          <a:lstStyle/>
          <a:p>
            <a:pPr eaLnBrk="1" fontAlgn="auto" hangingPunct="1">
              <a:lnSpc>
                <a:spcPct val="160000"/>
              </a:lnSpc>
              <a:spcAft>
                <a:spcPts val="0"/>
              </a:spcAft>
              <a:defRPr/>
            </a:pPr>
            <a:r>
              <a:rPr lang="zh-CN" altLang="en-US" dirty="0"/>
              <a:t>删除触发器的</a:t>
            </a:r>
            <a:r>
              <a:rPr lang="en-US" altLang="zh-CN" dirty="0"/>
              <a:t>SQL</a:t>
            </a:r>
            <a:r>
              <a:rPr lang="zh-CN" altLang="en-US" dirty="0"/>
              <a:t>语法：</a:t>
            </a:r>
          </a:p>
          <a:p>
            <a:pPr eaLnBrk="1" fontAlgn="auto" hangingPunct="1">
              <a:lnSpc>
                <a:spcPct val="160000"/>
              </a:lnSpc>
              <a:spcAft>
                <a:spcPts val="0"/>
              </a:spcAft>
              <a:buFont typeface="Wingdings" panose="05000000000000000000" pitchFamily="2" charset="2"/>
              <a:buNone/>
              <a:defRPr/>
            </a:pPr>
            <a:r>
              <a:rPr lang="zh-CN" altLang="en-US" dirty="0"/>
              <a:t>     </a:t>
            </a:r>
            <a:r>
              <a:rPr lang="en-US" altLang="zh-CN" dirty="0"/>
              <a:t>DROP TRIGGER &lt;</a:t>
            </a:r>
            <a:r>
              <a:rPr lang="zh-CN" altLang="en-US" dirty="0"/>
              <a:t>触发器名</a:t>
            </a:r>
            <a:r>
              <a:rPr lang="en-US" altLang="zh-CN" dirty="0"/>
              <a:t>&gt; ON &lt;</a:t>
            </a:r>
            <a:r>
              <a:rPr lang="zh-CN" altLang="en-US" dirty="0"/>
              <a:t>表名</a:t>
            </a:r>
            <a:r>
              <a:rPr lang="en-US" altLang="zh-CN" dirty="0"/>
              <a:t>&gt;;</a:t>
            </a:r>
          </a:p>
          <a:p>
            <a:pPr eaLnBrk="1" fontAlgn="auto" hangingPunct="1">
              <a:lnSpc>
                <a:spcPct val="160000"/>
              </a:lnSpc>
              <a:spcAft>
                <a:spcPts val="0"/>
              </a:spcAft>
              <a:defRPr/>
            </a:pPr>
            <a:r>
              <a:rPr lang="zh-CN" altLang="en-US" dirty="0"/>
              <a:t>触发器必须是一个已经创建的触发器，并且只能由具有相应权限的用户删除。</a:t>
            </a:r>
          </a:p>
          <a:p>
            <a:pPr eaLnBrk="1" fontAlgn="auto" hangingPunct="1">
              <a:lnSpc>
                <a:spcPct val="160000"/>
              </a:lnSpc>
              <a:spcAft>
                <a:spcPts val="0"/>
              </a:spcAft>
              <a:buFont typeface="Wingdings" panose="05000000000000000000" pitchFamily="2" charset="2"/>
              <a:buNone/>
              <a:defRPr/>
            </a:pPr>
            <a:r>
              <a:rPr lang="zh-CN" altLang="en-US" dirty="0"/>
              <a:t>［例</a:t>
            </a:r>
            <a:r>
              <a:rPr lang="en-US" altLang="zh-CN" dirty="0"/>
              <a:t>11</a:t>
            </a:r>
            <a:r>
              <a:rPr lang="zh-CN" altLang="en-US" dirty="0"/>
              <a:t>］  删除教师表</a:t>
            </a:r>
            <a:r>
              <a:rPr lang="en-US" altLang="zh-CN" dirty="0"/>
              <a:t>Teacher</a:t>
            </a:r>
            <a:r>
              <a:rPr lang="zh-CN" altLang="en-US" dirty="0"/>
              <a:t>上的触发器</a:t>
            </a:r>
            <a:r>
              <a:rPr lang="en-US" altLang="zh-CN" dirty="0" err="1"/>
              <a:t>Insert_Sal</a:t>
            </a:r>
            <a:endParaRPr lang="en-US" altLang="zh-CN" dirty="0"/>
          </a:p>
          <a:p>
            <a:pPr eaLnBrk="1" fontAlgn="auto" hangingPunct="1">
              <a:lnSpc>
                <a:spcPct val="160000"/>
              </a:lnSpc>
              <a:spcAft>
                <a:spcPts val="0"/>
              </a:spcAft>
              <a:buFont typeface="Wingdings" panose="05000000000000000000" pitchFamily="2" charset="2"/>
              <a:buNone/>
              <a:defRPr/>
            </a:pPr>
            <a:r>
              <a:rPr lang="en-US" altLang="zh-CN" dirty="0"/>
              <a:t>     DROP TRIGGER </a:t>
            </a:r>
            <a:r>
              <a:rPr lang="en-US" altLang="zh-CN" dirty="0" err="1"/>
              <a:t>Insert_Sal</a:t>
            </a:r>
            <a:r>
              <a:rPr lang="en-US" altLang="zh-CN" dirty="0"/>
              <a:t> ON Teacher;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1988">
                                            <p:txEl>
                                              <p:pRg st="3" end="3"/>
                                            </p:txEl>
                                          </p:spTgt>
                                        </p:tgtEl>
                                        <p:attrNameLst>
                                          <p:attrName>style.visibility</p:attrName>
                                        </p:attrNameLst>
                                      </p:cBhvr>
                                      <p:to>
                                        <p:strVal val="visible"/>
                                      </p:to>
                                    </p:set>
                                    <p:animEffect transition="in" filter="box(in)">
                                      <p:cBhvr>
                                        <p:cTn id="7" dur="500"/>
                                        <p:tgtEl>
                                          <p:spTgt spid="41988">
                                            <p:txEl>
                                              <p:pRg st="3" end="3"/>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41988">
                                            <p:txEl>
                                              <p:pRg st="4" end="4"/>
                                            </p:txEl>
                                          </p:spTgt>
                                        </p:tgtEl>
                                        <p:attrNameLst>
                                          <p:attrName>style.visibility</p:attrName>
                                        </p:attrNameLst>
                                      </p:cBhvr>
                                      <p:to>
                                        <p:strVal val="visible"/>
                                      </p:to>
                                    </p:set>
                                    <p:animEffect transition="in" filter="box(in)">
                                      <p:cBhvr>
                                        <p:cTn id="10" dur="500"/>
                                        <p:tgtEl>
                                          <p:spTgt spid="4198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1249363" y="188640"/>
            <a:ext cx="7886700" cy="1325563"/>
          </a:xfrm>
        </p:spPr>
        <p:txBody>
          <a:bodyPr/>
          <a:lstStyle/>
          <a:p>
            <a:pPr eaLnBrk="1" hangingPunct="1"/>
            <a:r>
              <a:rPr lang="en-US" altLang="zh-CN" sz="3600" dirty="0">
                <a:latin typeface="宋体" panose="02010600030101010101" pitchFamily="2" charset="-122"/>
                <a:ea typeface="宋体" panose="02010600030101010101" pitchFamily="2" charset="-122"/>
                <a:cs typeface="宋体" panose="02010600030101010101" pitchFamily="2" charset="-122"/>
              </a:rPr>
              <a:t>5.8  </a:t>
            </a:r>
            <a:r>
              <a:rPr lang="zh-CN" altLang="en-US" sz="3600" dirty="0">
                <a:latin typeface="宋体" panose="02010600030101010101" pitchFamily="2" charset="-122"/>
                <a:ea typeface="宋体" panose="02010600030101010101" pitchFamily="2" charset="-122"/>
                <a:cs typeface="宋体" panose="02010600030101010101" pitchFamily="2" charset="-122"/>
              </a:rPr>
              <a:t>小结</a:t>
            </a:r>
          </a:p>
        </p:txBody>
      </p:sp>
      <p:sp>
        <p:nvSpPr>
          <p:cNvPr id="44036" name="Rectangle 3"/>
          <p:cNvSpPr>
            <a:spLocks noGrp="1" noChangeArrowheads="1"/>
          </p:cNvSpPr>
          <p:nvPr>
            <p:ph idx="1"/>
          </p:nvPr>
        </p:nvSpPr>
        <p:spPr>
          <a:xfrm>
            <a:off x="395288" y="1700213"/>
            <a:ext cx="8559800" cy="4114800"/>
          </a:xfrm>
        </p:spPr>
        <p:txBody>
          <a:bodyPr/>
          <a:lstStyle/>
          <a:p>
            <a:pPr eaLnBrk="1" hangingPunct="1"/>
            <a:r>
              <a:rPr lang="zh-CN" altLang="en-US"/>
              <a:t>数据库的完整性是为了保证数据库中存储的数据是正确的，所谓正确的是指符合现实世界语义的。</a:t>
            </a:r>
          </a:p>
          <a:p>
            <a:pPr eaLnBrk="1" hangingPunct="1"/>
            <a:endParaRPr lang="zh-CN" altLang="en-US"/>
          </a:p>
          <a:p>
            <a:pPr eaLnBrk="1" hangingPunct="1"/>
            <a:r>
              <a:rPr lang="en-US" altLang="zh-CN"/>
              <a:t>DBMS</a:t>
            </a:r>
            <a:r>
              <a:rPr lang="zh-CN" altLang="en-US"/>
              <a:t>完整性实现的机制</a:t>
            </a:r>
          </a:p>
          <a:p>
            <a:pPr lvl="1" eaLnBrk="1" hangingPunct="1"/>
            <a:r>
              <a:rPr lang="zh-CN" altLang="en-US"/>
              <a:t>完整性约束定义机制</a:t>
            </a:r>
          </a:p>
          <a:p>
            <a:pPr lvl="1" eaLnBrk="1" hangingPunct="1"/>
            <a:r>
              <a:rPr lang="zh-CN" altLang="en-US"/>
              <a:t>完整性检查机制</a:t>
            </a:r>
          </a:p>
          <a:p>
            <a:pPr lvl="1" eaLnBrk="1" hangingPunct="1"/>
            <a:r>
              <a:rPr lang="zh-CN" altLang="en-US"/>
              <a:t>违背完整性约束条件时</a:t>
            </a:r>
            <a:r>
              <a:rPr lang="en-US" altLang="zh-CN"/>
              <a:t>DBMS</a:t>
            </a:r>
            <a:r>
              <a:rPr lang="zh-CN" altLang="en-US"/>
              <a:t>应采取的动作</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4036">
                                            <p:txEl>
                                              <p:pRg st="2" end="2"/>
                                            </p:txEl>
                                          </p:spTgt>
                                        </p:tgtEl>
                                        <p:attrNameLst>
                                          <p:attrName>style.visibility</p:attrName>
                                        </p:attrNameLst>
                                      </p:cBhvr>
                                      <p:to>
                                        <p:strVal val="visible"/>
                                      </p:to>
                                    </p:set>
                                    <p:animEffect transition="in" filter="box(in)">
                                      <p:cBhvr>
                                        <p:cTn id="7" dur="500"/>
                                        <p:tgtEl>
                                          <p:spTgt spid="44036">
                                            <p:txEl>
                                              <p:pRg st="2" end="2"/>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44036">
                                            <p:txEl>
                                              <p:pRg st="3" end="3"/>
                                            </p:txEl>
                                          </p:spTgt>
                                        </p:tgtEl>
                                        <p:attrNameLst>
                                          <p:attrName>style.visibility</p:attrName>
                                        </p:attrNameLst>
                                      </p:cBhvr>
                                      <p:to>
                                        <p:strVal val="visible"/>
                                      </p:to>
                                    </p:set>
                                    <p:animEffect transition="in" filter="box(in)">
                                      <p:cBhvr>
                                        <p:cTn id="10" dur="500"/>
                                        <p:tgtEl>
                                          <p:spTgt spid="44036">
                                            <p:txEl>
                                              <p:pRg st="3" end="3"/>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44036">
                                            <p:txEl>
                                              <p:pRg st="4" end="4"/>
                                            </p:txEl>
                                          </p:spTgt>
                                        </p:tgtEl>
                                        <p:attrNameLst>
                                          <p:attrName>style.visibility</p:attrName>
                                        </p:attrNameLst>
                                      </p:cBhvr>
                                      <p:to>
                                        <p:strVal val="visible"/>
                                      </p:to>
                                    </p:set>
                                    <p:animEffect transition="in" filter="box(in)">
                                      <p:cBhvr>
                                        <p:cTn id="13" dur="500"/>
                                        <p:tgtEl>
                                          <p:spTgt spid="44036">
                                            <p:txEl>
                                              <p:pRg st="4" end="4"/>
                                            </p:txEl>
                                          </p:spTgt>
                                        </p:tgtEl>
                                      </p:cBhvr>
                                    </p:animEffect>
                                  </p:childTnLst>
                                </p:cTn>
                              </p:par>
                              <p:par>
                                <p:cTn id="14" presetID="4" presetClass="entr" presetSubtype="16" fill="hold" nodeType="withEffect">
                                  <p:stCondLst>
                                    <p:cond delay="0"/>
                                  </p:stCondLst>
                                  <p:childTnLst>
                                    <p:set>
                                      <p:cBhvr>
                                        <p:cTn id="15" dur="1" fill="hold">
                                          <p:stCondLst>
                                            <p:cond delay="0"/>
                                          </p:stCondLst>
                                        </p:cTn>
                                        <p:tgtEl>
                                          <p:spTgt spid="44036">
                                            <p:txEl>
                                              <p:pRg st="5" end="5"/>
                                            </p:txEl>
                                          </p:spTgt>
                                        </p:tgtEl>
                                        <p:attrNameLst>
                                          <p:attrName>style.visibility</p:attrName>
                                        </p:attrNameLst>
                                      </p:cBhvr>
                                      <p:to>
                                        <p:strVal val="visible"/>
                                      </p:to>
                                    </p:set>
                                    <p:animEffect transition="in" filter="box(in)">
                                      <p:cBhvr>
                                        <p:cTn id="16" dur="500"/>
                                        <p:tgtEl>
                                          <p:spTgt spid="4403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a:xfrm>
            <a:off x="1185545" y="188640"/>
            <a:ext cx="7886700" cy="1325562"/>
          </a:xfrm>
        </p:spPr>
        <p:txBody>
          <a:bodyPr/>
          <a:lstStyle/>
          <a:p>
            <a:pPr eaLnBrk="1" hangingPunct="1"/>
            <a:r>
              <a:rPr lang="zh-CN" altLang="en-US" sz="3600" dirty="0">
                <a:latin typeface="宋体" panose="02010600030101010101" pitchFamily="2" charset="-122"/>
                <a:ea typeface="宋体" panose="02010600030101010101" pitchFamily="2" charset="-122"/>
              </a:rPr>
              <a:t>完整性小结</a:t>
            </a:r>
          </a:p>
        </p:txBody>
      </p:sp>
      <p:sp>
        <p:nvSpPr>
          <p:cNvPr id="43012" name="Rectangle 3"/>
          <p:cNvSpPr>
            <a:spLocks noGrp="1" noChangeArrowheads="1"/>
          </p:cNvSpPr>
          <p:nvPr>
            <p:ph idx="1"/>
          </p:nvPr>
        </p:nvSpPr>
        <p:spPr>
          <a:xfrm>
            <a:off x="395288" y="1557338"/>
            <a:ext cx="8351837" cy="4114800"/>
          </a:xfrm>
        </p:spPr>
        <p:txBody>
          <a:bodyPr/>
          <a:lstStyle/>
          <a:p>
            <a:pPr eaLnBrk="1" hangingPunct="1"/>
            <a:r>
              <a:rPr lang="zh-CN" altLang="en-US" dirty="0"/>
              <a:t>提供定义完整性约束条件</a:t>
            </a:r>
          </a:p>
          <a:p>
            <a:pPr lvl="1" eaLnBrk="1" hangingPunct="1">
              <a:buFont typeface="Wingdings" panose="05000000000000000000" pitchFamily="2" charset="2"/>
              <a:buNone/>
            </a:pPr>
            <a:r>
              <a:rPr lang="en-US" altLang="zh-CN" dirty="0"/>
              <a:t>CREATE TABLE</a:t>
            </a:r>
            <a:r>
              <a:rPr lang="zh-CN" altLang="en-US" dirty="0"/>
              <a:t>语句</a:t>
            </a:r>
          </a:p>
          <a:p>
            <a:pPr lvl="1" eaLnBrk="1" hangingPunct="1">
              <a:buFont typeface="Wingdings" panose="05000000000000000000" pitchFamily="2" charset="2"/>
              <a:buNone/>
            </a:pPr>
            <a:r>
              <a:rPr lang="en-US" altLang="zh-CN" dirty="0"/>
              <a:t>CREATE TRIGGER</a:t>
            </a:r>
            <a:r>
              <a:rPr lang="zh-CN" altLang="en-US" dirty="0"/>
              <a:t>语句</a:t>
            </a:r>
          </a:p>
          <a:p>
            <a:pPr lvl="1" eaLnBrk="1" hangingPunct="1">
              <a:buFont typeface="Wingdings" panose="05000000000000000000" pitchFamily="2" charset="2"/>
              <a:buNone/>
            </a:pPr>
            <a:r>
              <a:rPr lang="zh-CN" altLang="en-US" dirty="0"/>
              <a:t>可以定义很复杂的完整性约束条件</a:t>
            </a:r>
          </a:p>
          <a:p>
            <a:pPr eaLnBrk="1" hangingPunct="1"/>
            <a:endParaRPr lang="en-US" altLang="zh-CN" dirty="0"/>
          </a:p>
          <a:p>
            <a:pPr eaLnBrk="1" hangingPunct="1"/>
            <a:r>
              <a:rPr lang="en-US" altLang="zh-CN" dirty="0"/>
              <a:t>DBMS</a:t>
            </a:r>
            <a:r>
              <a:rPr lang="zh-CN" altLang="en-US" dirty="0"/>
              <a:t>自动执行相应的完整性检查</a:t>
            </a:r>
          </a:p>
          <a:p>
            <a:pPr eaLnBrk="1" hangingPunct="1">
              <a:buFont typeface="Wingdings" panose="05000000000000000000" pitchFamily="2" charset="2"/>
              <a:buNone/>
            </a:pPr>
            <a:r>
              <a:rPr lang="zh-CN" altLang="en-US" sz="2400" dirty="0"/>
              <a:t>    对于违反完整性约束条件的操作：拒绝执行或者执行事先定义的操作</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3012">
                                            <p:txEl>
                                              <p:pRg st="5" end="5"/>
                                            </p:txEl>
                                          </p:spTgt>
                                        </p:tgtEl>
                                        <p:attrNameLst>
                                          <p:attrName>style.visibility</p:attrName>
                                        </p:attrNameLst>
                                      </p:cBhvr>
                                      <p:to>
                                        <p:strVal val="visible"/>
                                      </p:to>
                                    </p:set>
                                    <p:animEffect transition="in" filter="box(in)">
                                      <p:cBhvr>
                                        <p:cTn id="7" dur="500"/>
                                        <p:tgtEl>
                                          <p:spTgt spid="43012">
                                            <p:txEl>
                                              <p:pRg st="5" end="5"/>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43012">
                                            <p:txEl>
                                              <p:pRg st="6" end="6"/>
                                            </p:txEl>
                                          </p:spTgt>
                                        </p:tgtEl>
                                        <p:attrNameLst>
                                          <p:attrName>style.visibility</p:attrName>
                                        </p:attrNameLst>
                                      </p:cBhvr>
                                      <p:to>
                                        <p:strVal val="visible"/>
                                      </p:to>
                                    </p:set>
                                    <p:animEffect transition="in" filter="box(in)">
                                      <p:cBhvr>
                                        <p:cTn id="10" dur="500"/>
                                        <p:tgtEl>
                                          <p:spTgt spid="4301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a:xfrm>
            <a:off x="1195388" y="260648"/>
            <a:ext cx="7793037" cy="1143000"/>
          </a:xfrm>
        </p:spPr>
        <p:txBody>
          <a:bodyPr/>
          <a:lstStyle/>
          <a:p>
            <a:pPr eaLnBrk="1" hangingPunct="1"/>
            <a:r>
              <a:rPr lang="zh-CN" altLang="en-US" sz="3600" dirty="0">
                <a:latin typeface="宋体" panose="02010600030101010101" pitchFamily="2" charset="-122"/>
                <a:ea typeface="宋体" panose="02010600030101010101" pitchFamily="2" charset="-122"/>
              </a:rPr>
              <a:t>完整性小结</a:t>
            </a:r>
          </a:p>
        </p:txBody>
      </p:sp>
      <p:sp>
        <p:nvSpPr>
          <p:cNvPr id="65539" name="Rectangle 3"/>
          <p:cNvSpPr>
            <a:spLocks noGrp="1" noChangeArrowheads="1"/>
          </p:cNvSpPr>
          <p:nvPr>
            <p:ph idx="1"/>
          </p:nvPr>
        </p:nvSpPr>
        <p:spPr>
          <a:xfrm>
            <a:off x="274638" y="1628775"/>
            <a:ext cx="8713787" cy="4114800"/>
          </a:xfrm>
        </p:spPr>
        <p:txBody>
          <a:bodyPr/>
          <a:lstStyle/>
          <a:p>
            <a:pPr eaLnBrk="1" hangingPunct="1"/>
            <a:r>
              <a:rPr lang="zh-CN" altLang="en-US" sz="2400" dirty="0"/>
              <a:t>完整性机制的实施会极大地影响系统性能。</a:t>
            </a:r>
          </a:p>
          <a:p>
            <a:pPr lvl="3" eaLnBrk="1" hangingPunct="1"/>
            <a:endParaRPr lang="zh-CN" altLang="en-US" sz="1600" dirty="0"/>
          </a:p>
          <a:p>
            <a:pPr eaLnBrk="1" hangingPunct="1"/>
            <a:r>
              <a:rPr lang="zh-CN" altLang="en-US" sz="2400" dirty="0"/>
              <a:t>不同的数据库产品对完整性的支持策略和支持程度是不同的</a:t>
            </a:r>
          </a:p>
          <a:p>
            <a:pPr lvl="1" eaLnBrk="1" hangingPunct="1"/>
            <a:endParaRPr lang="en-US" altLang="zh-CN" dirty="0"/>
          </a:p>
          <a:p>
            <a:pPr lvl="1" eaLnBrk="1" hangingPunct="1"/>
            <a:r>
              <a:rPr lang="zh-CN" altLang="en-US" dirty="0"/>
              <a:t>许多数据库管理系统对完整性机制的支持比对安全性的支持要晚得多也弱得多。</a:t>
            </a:r>
          </a:p>
          <a:p>
            <a:pPr lvl="1" eaLnBrk="1" hangingPunct="1">
              <a:spcBef>
                <a:spcPct val="60000"/>
              </a:spcBef>
            </a:pPr>
            <a:r>
              <a:rPr lang="zh-CN" altLang="en-US" dirty="0"/>
              <a:t>数据库厂商对完整性的支持越来越好，不仅在能保证实体完整性和参照完整性，而且能在</a:t>
            </a:r>
            <a:r>
              <a:rPr lang="en-US" altLang="zh-CN" dirty="0"/>
              <a:t>DBMS</a:t>
            </a:r>
            <a:r>
              <a:rPr lang="zh-CN" altLang="en-US" dirty="0"/>
              <a:t>核心定义、检查和保证用户定义的完整性约束条件。</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1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1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Office 2013 - 2022 主题">
  <a:themeElements>
    <a:clrScheme name="Office 2013 - 2022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79</TotalTime>
  <Words>3507</Words>
  <Application>Microsoft Office PowerPoint</Application>
  <PresentationFormat>全屏显示(4:3)</PresentationFormat>
  <Paragraphs>443</Paragraphs>
  <Slides>58</Slides>
  <Notes>7</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58</vt:i4>
      </vt:variant>
    </vt:vector>
  </HeadingPairs>
  <TitlesOfParts>
    <vt:vector size="71" baseType="lpstr">
      <vt:lpstr>Inter</vt:lpstr>
      <vt:lpstr>等线</vt:lpstr>
      <vt:lpstr>楷体_GB2312</vt:lpstr>
      <vt:lpstr>宋体</vt:lpstr>
      <vt:lpstr>微软雅黑</vt:lpstr>
      <vt:lpstr>Arial</vt:lpstr>
      <vt:lpstr>Arial Black</vt:lpstr>
      <vt:lpstr>Calibri</vt:lpstr>
      <vt:lpstr>Calibri Light</vt:lpstr>
      <vt:lpstr>Tahoma</vt:lpstr>
      <vt:lpstr>Times New Roman</vt:lpstr>
      <vt:lpstr>Wingdings</vt:lpstr>
      <vt:lpstr>Office 2013 - 2022 主题</vt:lpstr>
      <vt:lpstr>PowerPoint 演示文稿</vt:lpstr>
      <vt:lpstr>数据库完整性</vt:lpstr>
      <vt:lpstr>数据库完整性(续)</vt:lpstr>
      <vt:lpstr>完整性控制机制</vt:lpstr>
      <vt:lpstr>完整性控制机制</vt:lpstr>
      <vt:lpstr>三类完整性约束</vt:lpstr>
      <vt:lpstr>PowerPoint 演示文稿</vt:lpstr>
      <vt:lpstr>5.1.1 实体完整性定义</vt:lpstr>
      <vt:lpstr>实体完整性定义(续)</vt:lpstr>
      <vt:lpstr>实体完整性定义(续)</vt:lpstr>
      <vt:lpstr>实体完整性定义(续)</vt:lpstr>
      <vt:lpstr>实体完整性检查和违约处理</vt:lpstr>
      <vt:lpstr>实体完整性检查和违约处理(续)</vt:lpstr>
      <vt:lpstr>PowerPoint 演示文稿</vt:lpstr>
      <vt:lpstr>实体完整性检查和违约处理（续）</vt:lpstr>
      <vt:lpstr>三类完整性约束</vt:lpstr>
      <vt:lpstr>PowerPoint 演示文稿</vt:lpstr>
      <vt:lpstr>参照完整性</vt:lpstr>
      <vt:lpstr>参照完整性定义</vt:lpstr>
      <vt:lpstr>参照完整性检查和违约处理</vt:lpstr>
      <vt:lpstr>参照完整性检查和违约处理（续）</vt:lpstr>
      <vt:lpstr>参照完整性</vt:lpstr>
      <vt:lpstr>显式说明参照完整性的违约处理示例</vt:lpstr>
      <vt:lpstr>三类完整性约束</vt:lpstr>
      <vt:lpstr>用户定义的完整性</vt:lpstr>
      <vt:lpstr>5.3  用户定义的完整性</vt:lpstr>
      <vt:lpstr>用户定义的完整性（续）</vt:lpstr>
      <vt:lpstr>用户定义的完整性（续）</vt:lpstr>
      <vt:lpstr>PowerPoint 演示文稿</vt:lpstr>
      <vt:lpstr>用户定义的完整性（续）</vt:lpstr>
      <vt:lpstr>用户定义的完整性（续）</vt:lpstr>
      <vt:lpstr>5.4  完整性约束命名子句</vt:lpstr>
      <vt:lpstr>完整性约束命名子句(续)</vt:lpstr>
      <vt:lpstr>完整性约束命名子句(续)</vt:lpstr>
      <vt:lpstr>二、修改基本表</vt:lpstr>
      <vt:lpstr>完整性约束命名子句(续)</vt:lpstr>
      <vt:lpstr>域中的完整性限制</vt:lpstr>
      <vt:lpstr>第五章 数据库完整性</vt:lpstr>
      <vt:lpstr>断言</vt:lpstr>
      <vt:lpstr>PowerPoint 演示文稿</vt:lpstr>
      <vt:lpstr>PowerPoint 演示文稿</vt:lpstr>
      <vt:lpstr>断言（续）</vt:lpstr>
      <vt:lpstr>断言（续）</vt:lpstr>
      <vt:lpstr>第五章 数据库完整性</vt:lpstr>
      <vt:lpstr>触发器</vt:lpstr>
      <vt:lpstr>触发器（续）</vt:lpstr>
      <vt:lpstr>定义触发器(续)</vt:lpstr>
      <vt:lpstr>定义触发器(续)</vt:lpstr>
      <vt:lpstr>定义触发器（续）</vt:lpstr>
      <vt:lpstr>触发器（续）</vt:lpstr>
      <vt:lpstr>触发器（续）</vt:lpstr>
      <vt:lpstr>定义触发器(续)</vt:lpstr>
      <vt:lpstr>定义触发器(续)</vt:lpstr>
      <vt:lpstr>5.7.2 激活触发器</vt:lpstr>
      <vt:lpstr>5.7.3 删除触发器</vt:lpstr>
      <vt:lpstr>5.8  小结</vt:lpstr>
      <vt:lpstr>完整性小结</vt:lpstr>
      <vt:lpstr>完整性小结</vt:lpstr>
    </vt:vector>
  </TitlesOfParts>
  <Company>idke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课程名称：数据库系统概论</dc:title>
  <dc:creator>RUC IDKE</dc:creator>
  <cp:lastModifiedBy>a9400</cp:lastModifiedBy>
  <cp:revision>269</cp:revision>
  <dcterms:created xsi:type="dcterms:W3CDTF">2000-08-09T08:19:00Z</dcterms:created>
  <dcterms:modified xsi:type="dcterms:W3CDTF">2025-10-30T02:12:11Z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97C3A62514534803B7265B69D6232023_13</vt:lpwstr>
  </property>
  <property fmtid="{D5CDD505-2E9C-101B-9397-08002B2CF9AE}" pid="3" name="KSOProductBuildVer">
    <vt:lpwstr>2052-12.1.0.23125</vt:lpwstr>
  </property>
</Properties>
</file>