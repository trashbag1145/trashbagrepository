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8"/>
  </p:notesMasterIdLst>
  <p:handoutMasterIdLst>
    <p:handoutMasterId r:id="rId79"/>
  </p:handoutMasterIdLst>
  <p:sldIdLst>
    <p:sldId id="256" r:id="rId2"/>
    <p:sldId id="257" r:id="rId3"/>
    <p:sldId id="258" r:id="rId4"/>
    <p:sldId id="350" r:id="rId5"/>
    <p:sldId id="263" r:id="rId6"/>
    <p:sldId id="264" r:id="rId7"/>
    <p:sldId id="270" r:id="rId8"/>
    <p:sldId id="265" r:id="rId9"/>
    <p:sldId id="266" r:id="rId10"/>
    <p:sldId id="267" r:id="rId11"/>
    <p:sldId id="269" r:id="rId12"/>
    <p:sldId id="268" r:id="rId13"/>
    <p:sldId id="302" r:id="rId14"/>
    <p:sldId id="271" r:id="rId15"/>
    <p:sldId id="276" r:id="rId16"/>
    <p:sldId id="277" r:id="rId17"/>
    <p:sldId id="272" r:id="rId18"/>
    <p:sldId id="280" r:id="rId19"/>
    <p:sldId id="301" r:id="rId20"/>
    <p:sldId id="273" r:id="rId21"/>
    <p:sldId id="284" r:id="rId22"/>
    <p:sldId id="285" r:id="rId23"/>
    <p:sldId id="274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326" r:id="rId44"/>
    <p:sldId id="327" r:id="rId45"/>
    <p:sldId id="328" r:id="rId46"/>
    <p:sldId id="329" r:id="rId47"/>
    <p:sldId id="330" r:id="rId48"/>
    <p:sldId id="331" r:id="rId49"/>
    <p:sldId id="333" r:id="rId50"/>
    <p:sldId id="334" r:id="rId51"/>
    <p:sldId id="335" r:id="rId52"/>
    <p:sldId id="336" r:id="rId53"/>
    <p:sldId id="337" r:id="rId54"/>
    <p:sldId id="340" r:id="rId55"/>
    <p:sldId id="341" r:id="rId56"/>
    <p:sldId id="342" r:id="rId57"/>
    <p:sldId id="343" r:id="rId58"/>
    <p:sldId id="344" r:id="rId59"/>
    <p:sldId id="345" r:id="rId60"/>
    <p:sldId id="346" r:id="rId61"/>
    <p:sldId id="347" r:id="rId62"/>
    <p:sldId id="348" r:id="rId63"/>
    <p:sldId id="349" r:id="rId64"/>
    <p:sldId id="352" r:id="rId65"/>
    <p:sldId id="353" r:id="rId66"/>
    <p:sldId id="354" r:id="rId67"/>
    <p:sldId id="355" r:id="rId68"/>
    <p:sldId id="356" r:id="rId69"/>
    <p:sldId id="357" r:id="rId70"/>
    <p:sldId id="358" r:id="rId71"/>
    <p:sldId id="359" r:id="rId72"/>
    <p:sldId id="511" r:id="rId73"/>
    <p:sldId id="360" r:id="rId74"/>
    <p:sldId id="361" r:id="rId75"/>
    <p:sldId id="512" r:id="rId76"/>
    <p:sldId id="513" r:id="rId77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9900"/>
    <a:srgbClr val="FFFF00"/>
    <a:srgbClr val="CC009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68" autoAdjust="0"/>
    <p:restoredTop sz="80705" autoAdjust="0"/>
  </p:normalViewPr>
  <p:slideViewPr>
    <p:cSldViewPr>
      <p:cViewPr varScale="1">
        <p:scale>
          <a:sx n="88" d="100"/>
          <a:sy n="88" d="100"/>
        </p:scale>
        <p:origin x="186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1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1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imes New Roman" panose="02020503050405090304" pitchFamily="18" charset="0"/>
              </a:defRPr>
            </a:lvl1pPr>
          </a:lstStyle>
          <a:p>
            <a:fld id="{466DEB35-16F3-4E58-B91F-743CE3356E7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72074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imes New Roman" panose="02020503050405090304" pitchFamily="18" charset="0"/>
              </a:defRPr>
            </a:lvl1pPr>
          </a:lstStyle>
          <a:p>
            <a:fld id="{EAD88155-0117-4039-965F-D45B5A939B3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8770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41C585FC-6F19-4227-A1B9-FBA7FCDBC3D9}" type="slidenum">
              <a:rPr lang="zh-CN" altLang="en-US" sz="1200">
                <a:latin typeface="Times New Roman" panose="02020503050405090304" pitchFamily="18" charset="0"/>
              </a:rPr>
              <a:t>1</a:t>
            </a:fld>
            <a:endParaRPr lang="en-US" altLang="zh-CN" sz="1200">
              <a:latin typeface="Times New Roman" panose="02020503050405090304" pitchFamily="18" charset="0"/>
            </a:endParaRPr>
          </a:p>
        </p:txBody>
      </p:sp>
      <p:sp>
        <p:nvSpPr>
          <p:cNvPr id="222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2222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1027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1028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Rectangle 1029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1030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1031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1" name="Rectangle 1032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1033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Rectangle 1034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Rectangle 1035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348" name="Rectangle 1036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4349" name="Rectangle 103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038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039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04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3D8FAA1-BA08-4BFA-9674-ED779CE3B3A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745BE4-6838-4EFA-9782-2003DA052FA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FA833-3F3E-416B-8822-4DEE579E58C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E99AC0-312C-4F0E-BEE0-BA5A399DBCD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22C273-D9B2-4E46-A238-B31F2B1DD67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13CBD0-654B-46F2-B98A-1716F57DB51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3E1A7C-2E2F-48E5-B212-E6D45C7DD18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68ACE5-E88B-4C6E-BD6E-4849254E3D2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C25080-B910-431A-9470-9D1704102FF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903B5-6A8D-4E3B-A55E-E806019901D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AC3AB-2A10-496F-8F36-55143085034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15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5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3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/>
            </a:lvl1pPr>
          </a:lstStyle>
          <a:p>
            <a:fld id="{F09D0D33-5703-487C-ADB5-12B16EE67D3D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nteam.com.cn/putong/yingxiao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6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RS4y1q7cW/?spm_id_from=333.337.search-card.all.click&amp;vd_source=31b8cdf62fecff492433b8c24d65e7d2" TargetMode="External"/><Relationship Id="rId2" Type="http://schemas.openxmlformats.org/officeDocument/2006/relationships/hyperlink" Target="https://www.bilibili.com/video/BV1A54y1J725/?spm_id_from=333.337.search-card.all.click&amp;vd_source=31b8cdf62fecff492433b8c24d65e7d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4648200"/>
            <a:ext cx="8534400" cy="685800"/>
          </a:xfrm>
          <a:noFill/>
        </p:spPr>
        <p:txBody>
          <a:bodyPr/>
          <a:lstStyle/>
          <a:p>
            <a:pPr algn="ctr" eaLnBrk="1" hangingPunct="1"/>
            <a:r>
              <a:rPr lang="zh-CN" altLang="en-US" sz="3200" b="1">
                <a:solidFill>
                  <a:schemeClr val="tx1"/>
                </a:solidFill>
                <a:latin typeface="Times-Roman"/>
                <a:ea typeface="华文行楷" panose="02010800040101010101" pitchFamily="2" charset="-122"/>
              </a:rPr>
              <a:t>主讲：王海燕</a:t>
            </a:r>
            <a:br>
              <a:rPr lang="zh-CN" altLang="en-US" sz="3200" b="1">
                <a:solidFill>
                  <a:schemeClr val="tx1"/>
                </a:solidFill>
                <a:latin typeface="Times-Roman"/>
                <a:ea typeface="华文行楷" panose="02010800040101010101" pitchFamily="2" charset="-122"/>
              </a:rPr>
            </a:br>
            <a:r>
              <a:rPr lang="en-US" altLang="zh-CN" sz="3200" b="1">
                <a:solidFill>
                  <a:schemeClr val="tx1"/>
                </a:solidFill>
                <a:latin typeface="Times-Roman"/>
                <a:ea typeface="华文行楷" panose="02010800040101010101" pitchFamily="2" charset="-122"/>
              </a:rPr>
              <a:t>E-mail：wanghaiyan@mail.hzau.edu.cn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85800" y="2716213"/>
            <a:ext cx="7924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 dirty="0">
                <a:solidFill>
                  <a:schemeClr val="tx2"/>
                </a:solidFill>
                <a:latin typeface="Arial Black" panose="020B0A04020102020204" pitchFamily="34" charset="0"/>
                <a:ea typeface="隶书" panose="02010509060101010101" pitchFamily="49" charset="-122"/>
              </a:rPr>
              <a:t>第三章  关系数据库标准语言－</a:t>
            </a:r>
            <a:r>
              <a:rPr lang="en-US" altLang="zh-CN" sz="3600" b="1" dirty="0">
                <a:solidFill>
                  <a:schemeClr val="tx2"/>
                </a:solidFill>
                <a:latin typeface="Arial Black" panose="020B0A04020102020204" pitchFamily="34" charset="0"/>
                <a:ea typeface="隶书" panose="02010509060101010101" pitchFamily="49" charset="-122"/>
              </a:rPr>
              <a:t>SQL</a:t>
            </a:r>
            <a:endParaRPr lang="zh-CN" altLang="en-US" sz="3600" b="1" dirty="0">
              <a:solidFill>
                <a:schemeClr val="tx2"/>
              </a:solidFill>
              <a:latin typeface="SimSun" panose="02010600030101010101" pitchFamily="2" charset="-122"/>
            </a:endParaRPr>
          </a:p>
        </p:txBody>
      </p:sp>
      <p:pic>
        <p:nvPicPr>
          <p:cNvPr id="8196" name="Picture 4" descr="tuli">
            <a:hlinkClick r:id="rId3"/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10525" y="5486400"/>
            <a:ext cx="1133475" cy="1143000"/>
          </a:xfrm>
        </p:spPr>
      </p:pic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主要内容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3.1 SQL</a:t>
            </a:r>
            <a:r>
              <a:rPr lang="zh-CN" altLang="en-US" b="1"/>
              <a:t>语言的基本概念和特点</a:t>
            </a:r>
          </a:p>
          <a:p>
            <a:pPr eaLnBrk="1" hangingPunct="1"/>
            <a:r>
              <a:rPr lang="en-US" altLang="zh-CN" b="1"/>
              <a:t>3.4 </a:t>
            </a:r>
            <a:r>
              <a:rPr lang="zh-CN" altLang="en-US" b="1"/>
              <a:t>创建与使用数据表</a:t>
            </a:r>
          </a:p>
          <a:p>
            <a:pPr eaLnBrk="1" hangingPunct="1"/>
            <a:r>
              <a:rPr lang="en-US" altLang="zh-CN" b="1"/>
              <a:t>3.5 </a:t>
            </a:r>
            <a:r>
              <a:rPr lang="zh-CN" altLang="en-US" b="1"/>
              <a:t>创建与使用索引</a:t>
            </a:r>
          </a:p>
          <a:p>
            <a:pPr eaLnBrk="1" hangingPunct="1"/>
            <a:r>
              <a:rPr lang="en-US" altLang="zh-CN" b="1"/>
              <a:t>3.6 </a:t>
            </a:r>
            <a:r>
              <a:rPr lang="zh-CN" altLang="en-US" b="1"/>
              <a:t>数据查询</a:t>
            </a:r>
          </a:p>
          <a:p>
            <a:pPr eaLnBrk="1" hangingPunct="1"/>
            <a:r>
              <a:rPr lang="en-US" altLang="zh-CN" b="1"/>
              <a:t>3.7 </a:t>
            </a:r>
            <a:r>
              <a:rPr lang="zh-CN" altLang="en-US" b="1"/>
              <a:t>数据操纵</a:t>
            </a:r>
          </a:p>
          <a:p>
            <a:pPr eaLnBrk="1" hangingPunct="1"/>
            <a:r>
              <a:rPr lang="en-US" altLang="zh-CN" b="1"/>
              <a:t>3.8 </a:t>
            </a:r>
            <a:r>
              <a:rPr lang="zh-CN" altLang="en-US" b="1"/>
              <a:t>视图</a:t>
            </a:r>
          </a:p>
          <a:p>
            <a:pPr eaLnBrk="1" hangingPunct="1"/>
            <a:r>
              <a:rPr lang="en-US" altLang="zh-CN" b="1"/>
              <a:t>3.9 </a:t>
            </a:r>
            <a:r>
              <a:rPr lang="zh-CN" altLang="en-US" b="1"/>
              <a:t>数据控制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重点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基本表的创建、修改和删除</a:t>
            </a:r>
          </a:p>
          <a:p>
            <a:pPr eaLnBrk="1" hangingPunct="1"/>
            <a:endParaRPr lang="zh-CN" altLang="en-US" sz="3600" b="1"/>
          </a:p>
          <a:p>
            <a:pPr eaLnBrk="1" hangingPunct="1"/>
            <a:r>
              <a:rPr lang="zh-CN" altLang="en-US" sz="3600" b="1"/>
              <a:t>查询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CC0099"/>
                </a:solidFill>
              </a:rPr>
              <a:t>难点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连接查询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3.1 SQL</a:t>
            </a:r>
            <a:r>
              <a:rPr lang="zh-CN" altLang="en-US" b="1"/>
              <a:t>的基本概念与特点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3600" b="1"/>
              <a:t>SQL</a:t>
            </a:r>
            <a:r>
              <a:rPr lang="zh-CN" altLang="en-US" sz="3600" b="1"/>
              <a:t>的特点</a:t>
            </a:r>
          </a:p>
          <a:p>
            <a:pPr lvl="1" eaLnBrk="1" hangingPunct="1">
              <a:buSzTx/>
              <a:buFont typeface="Wingdings" panose="05000000000000000000" pitchFamily="2" charset="2"/>
              <a:buChar char="Ø"/>
            </a:pPr>
            <a:r>
              <a:rPr lang="zh-CN" altLang="en-US" b="1"/>
              <a:t> </a:t>
            </a:r>
            <a:r>
              <a:rPr lang="zh-CN" altLang="en-US" sz="3200" b="1"/>
              <a:t>综合统一</a:t>
            </a:r>
          </a:p>
          <a:p>
            <a:pPr lvl="1" eaLnBrk="1" hangingPunct="1">
              <a:buSzTx/>
              <a:buFont typeface="Wingdings" panose="05000000000000000000" pitchFamily="2" charset="2"/>
              <a:buChar char="Ø"/>
            </a:pPr>
            <a:r>
              <a:rPr lang="zh-CN" altLang="en-US" sz="3200" b="1"/>
              <a:t> 高度非过程化</a:t>
            </a:r>
          </a:p>
          <a:p>
            <a:pPr lvl="1" eaLnBrk="1" hangingPunct="1">
              <a:buSzTx/>
              <a:buFont typeface="Wingdings" panose="05000000000000000000" pitchFamily="2" charset="2"/>
              <a:buChar char="Ø"/>
            </a:pPr>
            <a:r>
              <a:rPr lang="zh-CN" altLang="en-US" sz="3200" b="1"/>
              <a:t> 面向集合的操作方式</a:t>
            </a:r>
          </a:p>
          <a:p>
            <a:pPr lvl="1" eaLnBrk="1" hangingPunct="1">
              <a:buSzTx/>
              <a:buFont typeface="Wingdings" panose="05000000000000000000" pitchFamily="2" charset="2"/>
              <a:buChar char="Ø"/>
            </a:pPr>
            <a:r>
              <a:rPr lang="zh-CN" altLang="en-US" sz="3200" b="1"/>
              <a:t> 以同一种语法结构提供两种使用方法</a:t>
            </a:r>
          </a:p>
          <a:p>
            <a:pPr lvl="1" eaLnBrk="1" hangingPunct="1">
              <a:buSzTx/>
              <a:buFont typeface="Wingdings" panose="05000000000000000000" pitchFamily="2" charset="2"/>
              <a:buChar char="Ø"/>
            </a:pPr>
            <a:r>
              <a:rPr lang="zh-CN" altLang="en-US" sz="3200" b="1"/>
              <a:t> </a:t>
            </a:r>
            <a:r>
              <a:rPr lang="zh-CN" altLang="en-US" sz="3200" b="1">
                <a:hlinkClick r:id="rId2" action="ppaction://hlinksldjump"/>
              </a:rPr>
              <a:t>语言简洁，易学易用</a:t>
            </a:r>
            <a:endParaRPr lang="zh-CN" altLang="en-US" sz="32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-304800" y="1752600"/>
          <a:ext cx="9710738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文档" r:id="rId3" imgW="4248150" imgH="1905000" progId="Word.Document.8">
                  <p:embed/>
                </p:oleObj>
              </mc:Choice>
              <mc:Fallback>
                <p:oleObj name="文档" r:id="rId3" imgW="4248150" imgH="19050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04800" y="1752600"/>
                        <a:ext cx="9710738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3.4 </a:t>
            </a:r>
            <a:r>
              <a:rPr lang="zh-CN" altLang="en-US" b="1"/>
              <a:t>创建与使用数据表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定义基本表</a:t>
            </a:r>
          </a:p>
          <a:p>
            <a:pPr eaLnBrk="1" hangingPunct="1"/>
            <a:r>
              <a:rPr lang="zh-CN" altLang="en-US" sz="3600" b="1"/>
              <a:t>修改基本表</a:t>
            </a:r>
          </a:p>
          <a:p>
            <a:pPr eaLnBrk="1" hangingPunct="1"/>
            <a:r>
              <a:rPr lang="zh-CN" altLang="en-US" sz="3600" b="1"/>
              <a:t>删除基本表</a:t>
            </a:r>
          </a:p>
          <a:p>
            <a:pPr eaLnBrk="1" hangingPunct="1"/>
            <a:endParaRPr lang="zh-CN" altLang="en-US" sz="36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-533400" y="1905000"/>
          <a:ext cx="99060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文档" r:id="rId3" imgW="5629275" imgH="1943100" progId="Word.Document.8">
                  <p:embed/>
                </p:oleObj>
              </mc:Choice>
              <mc:Fallback>
                <p:oleObj name="文档" r:id="rId3" imgW="5629275" imgH="19431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533400" y="1905000"/>
                        <a:ext cx="9906000" cy="388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CC0099"/>
                </a:solidFill>
              </a:rPr>
              <a:t>（一）、定义基本表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b="1"/>
              <a:t>CREATE TABLE &lt;</a:t>
            </a:r>
            <a:r>
              <a:rPr lang="zh-CN" altLang="en-US" sz="2600" b="1"/>
              <a:t>表名&gt;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     （&lt;列名&gt; &lt;数据类型&gt;[ &lt;列级完整性约束条件&gt; ]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     [，&lt;列名&gt; &lt;数据类型&gt;[ &lt;列级完整性约束条件&gt;] ] </a:t>
            </a:r>
            <a:r>
              <a:rPr lang="zh-CN" altLang="en-US" sz="2200" b="1">
                <a:latin typeface="Courier New" panose="02070409020205090404" pitchFamily="49" charset="0"/>
              </a:rPr>
              <a:t>…</a:t>
            </a:r>
            <a:endParaRPr lang="zh-CN" altLang="en-US" sz="2200" b="1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     [，&lt;表级完整性约束条件&gt; ] ）；</a:t>
            </a:r>
            <a:endParaRPr lang="zh-CN" altLang="en-US" sz="2400" b="1"/>
          </a:p>
          <a:p>
            <a:pPr algn="just" eaLnBrk="1" hangingPunct="1">
              <a:lnSpc>
                <a:spcPct val="90000"/>
              </a:lnSpc>
            </a:pPr>
            <a:r>
              <a:rPr lang="zh-CN" altLang="en-US" sz="2800" b="1">
                <a:solidFill>
                  <a:schemeClr val="hlink"/>
                </a:solidFill>
              </a:rPr>
              <a:t>&lt;表名&gt;</a:t>
            </a:r>
            <a:r>
              <a:rPr lang="zh-CN" altLang="en-US" sz="2800" b="1"/>
              <a:t>：所要定义的基本表的名字</a:t>
            </a:r>
          </a:p>
          <a:p>
            <a:pPr algn="just" eaLnBrk="1" hangingPunct="1">
              <a:lnSpc>
                <a:spcPct val="90000"/>
              </a:lnSpc>
            </a:pPr>
            <a:r>
              <a:rPr lang="zh-CN" altLang="en-US" sz="2800" b="1">
                <a:solidFill>
                  <a:schemeClr val="hlink"/>
                </a:solidFill>
              </a:rPr>
              <a:t>&lt;列名&gt;</a:t>
            </a:r>
            <a:r>
              <a:rPr lang="zh-CN" altLang="en-US" sz="2800" b="1"/>
              <a:t>：组成该表的各个属性（列）</a:t>
            </a:r>
          </a:p>
          <a:p>
            <a:pPr algn="just" eaLnBrk="1" hangingPunct="1">
              <a:lnSpc>
                <a:spcPct val="90000"/>
              </a:lnSpc>
            </a:pPr>
            <a:r>
              <a:rPr lang="zh-CN" altLang="en-US" sz="2800" b="1">
                <a:solidFill>
                  <a:schemeClr val="hlink"/>
                </a:solidFill>
              </a:rPr>
              <a:t>&lt;列级完整性约束条件&gt;</a:t>
            </a:r>
            <a:r>
              <a:rPr lang="zh-CN" altLang="en-US" sz="2800" b="1"/>
              <a:t>：涉及相应属性列的完整性约束条件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solidFill>
                  <a:schemeClr val="hlink"/>
                </a:solidFill>
              </a:rPr>
              <a:t>&lt;表级完整性约束条件&gt;</a:t>
            </a:r>
            <a:r>
              <a:rPr lang="zh-CN" altLang="en-US" sz="2800" b="1"/>
              <a:t>：涉及一个或多个属性列的完整性约束条件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[例1]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017713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/>
              <a:t>   建立一个</a:t>
            </a:r>
            <a:r>
              <a:rPr lang="zh-CN" altLang="en-US" sz="2800" b="1" dirty="0">
                <a:latin typeface="Courier New" panose="02070409020205090404" pitchFamily="49" charset="0"/>
              </a:rPr>
              <a:t>“</a:t>
            </a:r>
            <a:r>
              <a:rPr lang="zh-CN" altLang="en-US" sz="2800" b="1" dirty="0"/>
              <a:t>学生</a:t>
            </a:r>
            <a:r>
              <a:rPr lang="zh-CN" altLang="en-US" sz="2800" b="1" dirty="0">
                <a:latin typeface="Courier New" panose="02070409020205090404" pitchFamily="49" charset="0"/>
              </a:rPr>
              <a:t>”</a:t>
            </a:r>
            <a:r>
              <a:rPr lang="zh-CN" altLang="en-US" sz="2800" b="1" dirty="0"/>
              <a:t>表</a:t>
            </a:r>
            <a:r>
              <a:rPr lang="en-US" altLang="zh-CN" sz="2800" b="1" dirty="0"/>
              <a:t>Student，</a:t>
            </a:r>
            <a:r>
              <a:rPr lang="zh-CN" altLang="en-US" sz="2800" b="1" dirty="0"/>
              <a:t>它由学号</a:t>
            </a:r>
            <a:r>
              <a:rPr lang="en-US" altLang="zh-CN" sz="2800" b="1" dirty="0" err="1"/>
              <a:t>Sno</a:t>
            </a:r>
            <a:r>
              <a:rPr lang="en-US" altLang="zh-CN" sz="2800" b="1" dirty="0"/>
              <a:t>、</a:t>
            </a:r>
            <a:r>
              <a:rPr lang="zh-CN" altLang="en-US" sz="2800" b="1" dirty="0"/>
              <a:t>姓名</a:t>
            </a:r>
            <a:r>
              <a:rPr lang="en-US" altLang="zh-CN" sz="2800" b="1" dirty="0" err="1"/>
              <a:t>Sname</a:t>
            </a:r>
            <a:r>
              <a:rPr lang="en-US" altLang="zh-CN" sz="2800" b="1" dirty="0"/>
              <a:t>、</a:t>
            </a:r>
            <a:r>
              <a:rPr lang="zh-CN" altLang="en-US" sz="2800" b="1" dirty="0"/>
              <a:t>性别</a:t>
            </a:r>
            <a:r>
              <a:rPr lang="en-US" altLang="zh-CN" sz="2800" b="1" dirty="0" err="1"/>
              <a:t>Ssex</a:t>
            </a:r>
            <a:r>
              <a:rPr lang="en-US" altLang="zh-CN" sz="2800" b="1" dirty="0"/>
              <a:t>、</a:t>
            </a:r>
            <a:r>
              <a:rPr lang="zh-CN" altLang="en-US" sz="2800" b="1" dirty="0"/>
              <a:t>年龄</a:t>
            </a:r>
            <a:r>
              <a:rPr lang="en-US" altLang="zh-CN" sz="2800" b="1" dirty="0"/>
              <a:t>Sage、</a:t>
            </a:r>
            <a:r>
              <a:rPr lang="zh-CN" altLang="en-US" sz="2800" b="1" dirty="0"/>
              <a:t>所在系</a:t>
            </a:r>
            <a:r>
              <a:rPr lang="en-US" altLang="zh-CN" sz="2800" b="1" dirty="0" err="1"/>
              <a:t>Sdept</a:t>
            </a:r>
            <a:r>
              <a:rPr lang="zh-CN" altLang="en-US" sz="2800" b="1" dirty="0"/>
              <a:t>五个属性组成。其中学号不能为空，值是唯一的，并且姓名取值也唯一。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CREATE TABLE Student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/>
              <a:t>        (</a:t>
            </a:r>
            <a:r>
              <a:rPr lang="en-US" altLang="zh-CN" sz="2400" b="1" dirty="0" err="1"/>
              <a:t>Sno</a:t>
            </a:r>
            <a:r>
              <a:rPr lang="en-US" altLang="zh-CN" sz="2400" b="1"/>
              <a:t>      CHAR(13)   NOT NULL  UNIQUE， 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/>
              <a:t>         </a:t>
            </a:r>
            <a:r>
              <a:rPr lang="en-US" altLang="zh-CN" sz="2400" b="1" dirty="0" err="1"/>
              <a:t>Sname</a:t>
            </a:r>
            <a:r>
              <a:rPr lang="en-US" altLang="zh-CN" sz="2400" b="1" dirty="0"/>
              <a:t>  CHAR(20)   UNIQUE，          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/>
              <a:t>         </a:t>
            </a:r>
            <a:r>
              <a:rPr lang="en-US" altLang="zh-CN" sz="2400" b="1" dirty="0" err="1"/>
              <a:t>Ssex</a:t>
            </a:r>
            <a:r>
              <a:rPr lang="en-US" altLang="zh-CN" sz="2400" b="1" dirty="0"/>
              <a:t>      CHAR(1) ，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/>
              <a:t>         Sage      INT，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/>
              <a:t>         </a:t>
            </a:r>
            <a:r>
              <a:rPr lang="en-US" altLang="zh-CN" sz="2400" b="1" dirty="0" err="1"/>
              <a:t>Sdept</a:t>
            </a:r>
            <a:r>
              <a:rPr lang="en-US" altLang="zh-CN" sz="2400" b="1" dirty="0"/>
              <a:t>    CHAR(15))； 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[例2]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981200"/>
            <a:ext cx="3581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建立一个</a:t>
            </a:r>
            <a:r>
              <a:rPr lang="zh-CN" altLang="en-US" b="1">
                <a:latin typeface="Times New Roman" panose="02020503050405090304" pitchFamily="18" charset="0"/>
              </a:rPr>
              <a:t>“</a:t>
            </a:r>
            <a:r>
              <a:rPr lang="zh-CN" altLang="en-US" b="1"/>
              <a:t>学生选课</a:t>
            </a:r>
            <a:r>
              <a:rPr lang="zh-CN" altLang="en-US" b="1">
                <a:latin typeface="Times New Roman" panose="02020503050405090304" pitchFamily="18" charset="0"/>
              </a:rPr>
              <a:t>”</a:t>
            </a:r>
            <a:r>
              <a:rPr lang="zh-CN" altLang="en-US" b="1"/>
              <a:t>表</a:t>
            </a:r>
            <a:r>
              <a:rPr lang="en-US" altLang="zh-CN" b="1"/>
              <a:t>SC，</a:t>
            </a:r>
            <a:r>
              <a:rPr lang="zh-CN" altLang="en-US" b="1"/>
              <a:t>它由学号</a:t>
            </a:r>
            <a:r>
              <a:rPr lang="en-US" altLang="zh-CN" b="1"/>
              <a:t>Sno、</a:t>
            </a:r>
            <a:r>
              <a:rPr lang="zh-CN" altLang="en-US" b="1"/>
              <a:t>课程号</a:t>
            </a:r>
            <a:r>
              <a:rPr lang="en-US" altLang="zh-CN" b="1"/>
              <a:t>Cno，</a:t>
            </a:r>
            <a:r>
              <a:rPr lang="zh-CN" altLang="en-US" b="1"/>
              <a:t>修课成绩</a:t>
            </a:r>
            <a:r>
              <a:rPr lang="en-US" altLang="zh-CN" b="1"/>
              <a:t>Grade</a:t>
            </a:r>
            <a:r>
              <a:rPr lang="zh-CN" altLang="en-US" b="1"/>
              <a:t>组成，其中(</a:t>
            </a:r>
            <a:r>
              <a:rPr lang="en-US" altLang="zh-CN" b="1"/>
              <a:t>Sno, Cno)</a:t>
            </a:r>
            <a:r>
              <a:rPr lang="zh-CN" altLang="en-US" b="1"/>
              <a:t>为主码。</a:t>
            </a: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038600" y="1905000"/>
            <a:ext cx="4800600" cy="4114800"/>
          </a:xfrm>
        </p:spPr>
        <p:txBody>
          <a:bodyPr/>
          <a:lstStyle/>
          <a:p>
            <a:pPr eaLnBrk="1" hangingPunct="1"/>
            <a:r>
              <a:rPr lang="en-US" altLang="zh-CN" sz="2400" b="1"/>
              <a:t>Create table SC</a:t>
            </a:r>
          </a:p>
          <a:p>
            <a:pPr eaLnBrk="1" hangingPunct="1"/>
            <a:r>
              <a:rPr lang="en-US" altLang="zh-CN" sz="2400" b="1"/>
              <a:t>   ( Sno char(5),</a:t>
            </a:r>
          </a:p>
          <a:p>
            <a:pPr eaLnBrk="1" hangingPunct="1"/>
            <a:r>
              <a:rPr lang="en-US" altLang="zh-CN" sz="2400" b="1"/>
              <a:t>     Cno char(3),</a:t>
            </a:r>
          </a:p>
          <a:p>
            <a:pPr eaLnBrk="1" hangingPunct="1"/>
            <a:r>
              <a:rPr lang="en-US" altLang="zh-CN" sz="2400" b="1"/>
              <a:t>     Grade int,</a:t>
            </a:r>
          </a:p>
          <a:p>
            <a:pPr eaLnBrk="1" hangingPunct="1"/>
            <a:r>
              <a:rPr lang="en-US" altLang="zh-CN" sz="2400" b="1"/>
              <a:t>     Primary key(Sno,Cno),</a:t>
            </a:r>
          </a:p>
          <a:p>
            <a:pPr eaLnBrk="1" hangingPunct="1"/>
            <a:r>
              <a:rPr lang="en-US" altLang="zh-CN" sz="2400" b="1"/>
              <a:t>     Foreign Key(Sno) REFERENCES Student(Sno),</a:t>
            </a:r>
          </a:p>
          <a:p>
            <a:pPr eaLnBrk="1" hangingPunct="1"/>
            <a:r>
              <a:rPr lang="en-US" altLang="zh-CN" sz="2400" b="1"/>
              <a:t>     Foreign Key(Cno) REFERENCES Course(Cno));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常用完整性约束</a:t>
            </a:r>
          </a:p>
          <a:p>
            <a:pPr lvl="1" eaLnBrk="1" hangingPunct="1"/>
            <a:r>
              <a:rPr lang="zh-CN" altLang="en-US" b="1"/>
              <a:t>主码约束：    </a:t>
            </a:r>
            <a:r>
              <a:rPr lang="en-US" altLang="zh-CN" b="1"/>
              <a:t>PRIMARY  KEY</a:t>
            </a:r>
          </a:p>
          <a:p>
            <a:pPr lvl="1" eaLnBrk="1" hangingPunct="1"/>
            <a:r>
              <a:rPr lang="zh-CN" altLang="en-US" b="1"/>
              <a:t>唯一性约束：</a:t>
            </a:r>
            <a:r>
              <a:rPr lang="en-US" altLang="zh-CN" b="1"/>
              <a:t>UNIQUE</a:t>
            </a:r>
          </a:p>
          <a:p>
            <a:pPr lvl="1" eaLnBrk="1" hangingPunct="1"/>
            <a:r>
              <a:rPr lang="zh-CN" altLang="en-US" b="1"/>
              <a:t>非空值约束：</a:t>
            </a:r>
            <a:r>
              <a:rPr lang="en-US" altLang="zh-CN" b="1"/>
              <a:t>NOT NULL</a:t>
            </a:r>
          </a:p>
          <a:p>
            <a:pPr lvl="1" eaLnBrk="1" hangingPunct="1"/>
            <a:r>
              <a:rPr lang="zh-CN" altLang="en-US" b="1"/>
              <a:t>参照完整性约束</a:t>
            </a: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914400" y="4876805"/>
            <a:ext cx="7315200" cy="990601"/>
            <a:chOff x="192" y="3072"/>
            <a:chExt cx="4608" cy="624"/>
          </a:xfrm>
        </p:grpSpPr>
        <p:graphicFrame>
          <p:nvGraphicFramePr>
            <p:cNvPr id="3074" name="Object 8"/>
            <p:cNvGraphicFramePr>
              <a:graphicFrameLocks noChangeAspect="1"/>
            </p:cNvGraphicFramePr>
            <p:nvPr/>
          </p:nvGraphicFramePr>
          <p:xfrm>
            <a:off x="192" y="3072"/>
            <a:ext cx="528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位图图像" r:id="rId3" imgW="457200" imgH="449580" progId="Paint.Picture">
                    <p:embed/>
                  </p:oleObj>
                </mc:Choice>
                <mc:Fallback>
                  <p:oleObj name="位图图像" r:id="rId3" imgW="457200" imgH="449580" progId="Paint.Picture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3072"/>
                          <a:ext cx="528" cy="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8" name="Rectangle 9"/>
            <p:cNvSpPr>
              <a:spLocks noChangeArrowheads="1"/>
            </p:cNvSpPr>
            <p:nvPr/>
          </p:nvSpPr>
          <p:spPr bwMode="auto">
            <a:xfrm>
              <a:off x="768" y="3168"/>
              <a:ext cx="4032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800" b="1" dirty="0"/>
                <a:t>请思考：</a:t>
              </a:r>
              <a:r>
                <a:rPr lang="en-US" altLang="zh-CN" sz="2800" b="1" dirty="0"/>
                <a:t>PRIMARY  KEY</a:t>
              </a:r>
              <a:r>
                <a:rPr lang="zh-CN" altLang="zh-CN" sz="2800" b="1" dirty="0"/>
                <a:t>与</a:t>
              </a:r>
              <a:r>
                <a:rPr lang="zh-CN" altLang="en-US" sz="2800" b="1" dirty="0"/>
                <a:t> </a:t>
              </a:r>
              <a:r>
                <a:rPr lang="en-US" altLang="zh-CN" sz="2800" b="1" dirty="0"/>
                <a:t>UNIQUE</a:t>
              </a:r>
            </a:p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800" b="1" dirty="0"/>
                <a:t>的区别？</a:t>
              </a:r>
            </a:p>
            <a:p>
              <a:pPr eaLnBrk="1" hangingPunct="1"/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b="1">
                <a:solidFill>
                  <a:schemeClr val="tx1"/>
                </a:solidFill>
              </a:rPr>
              <a:t>PRIMARY  KEY</a:t>
            </a:r>
            <a:r>
              <a:rPr lang="zh-CN" altLang="zh-CN" sz="3600" b="1">
                <a:solidFill>
                  <a:schemeClr val="tx1"/>
                </a:solidFill>
              </a:rPr>
              <a:t>与</a:t>
            </a:r>
            <a:r>
              <a:rPr lang="zh-CN" altLang="en-US" sz="3600" b="1">
                <a:solidFill>
                  <a:schemeClr val="tx1"/>
                </a:solidFill>
              </a:rPr>
              <a:t> </a:t>
            </a:r>
            <a:r>
              <a:rPr lang="en-US" altLang="zh-CN" sz="3600" b="1">
                <a:solidFill>
                  <a:schemeClr val="tx1"/>
                </a:solidFill>
              </a:rPr>
              <a:t>UNIQUE</a:t>
            </a:r>
            <a:endParaRPr lang="zh-CN" altLang="en-US" sz="3600" b="1">
              <a:solidFill>
                <a:schemeClr val="tx1"/>
              </a:solidFill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2159265"/>
            <a:ext cx="8532812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相同点：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/>
              <a:t>通过建立唯一索引来保证基本表在主键列取值的唯一性。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不同点：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/>
              <a:t>一个基本表中只能定义一个</a:t>
            </a:r>
            <a:r>
              <a:rPr lang="en-US" altLang="zh-CN" sz="2400" b="1" dirty="0"/>
              <a:t>PRIMARY  KEY</a:t>
            </a:r>
            <a:r>
              <a:rPr lang="zh-CN" altLang="en-US" sz="2400" b="1" dirty="0"/>
              <a:t>约束；但可定义多个</a:t>
            </a:r>
            <a:r>
              <a:rPr lang="en-US" altLang="zh-CN" sz="2400" b="1" dirty="0"/>
              <a:t>UNIQUE</a:t>
            </a:r>
            <a:r>
              <a:rPr lang="zh-CN" altLang="en-US" sz="2400" b="1" dirty="0"/>
              <a:t>约束。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/>
              <a:t>指定为</a:t>
            </a:r>
            <a:r>
              <a:rPr lang="en-US" altLang="zh-CN" sz="2400" b="1" dirty="0"/>
              <a:t>PRIMARY  KEY</a:t>
            </a:r>
            <a:r>
              <a:rPr lang="zh-CN" altLang="en-US" sz="2400" b="1" dirty="0"/>
              <a:t>的一个列或多个列的组合，其中任何一列都不能出现</a:t>
            </a:r>
            <a:r>
              <a:rPr lang="en-US" altLang="zh-CN" sz="2400" b="1" dirty="0"/>
              <a:t>NULL</a:t>
            </a:r>
            <a:r>
              <a:rPr lang="zh-CN" altLang="en-US" sz="2400" b="1" dirty="0"/>
              <a:t>值；而对于</a:t>
            </a:r>
            <a:r>
              <a:rPr lang="en-US" altLang="zh-CN" sz="2400" b="1" dirty="0"/>
              <a:t>UNIQUE</a:t>
            </a:r>
            <a:r>
              <a:rPr lang="zh-CN" altLang="en-US" sz="2400" b="1" dirty="0"/>
              <a:t>所约束的唯一键，则允许为</a:t>
            </a:r>
            <a:r>
              <a:rPr lang="en-US" altLang="zh-CN" sz="2400" b="1" dirty="0"/>
              <a:t>NULL</a:t>
            </a:r>
            <a:r>
              <a:rPr lang="zh-CN" altLang="en-US" sz="2400" b="1" dirty="0"/>
              <a:t>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/>
              <a:t>不能为同一列或一组列既定义</a:t>
            </a:r>
            <a:r>
              <a:rPr lang="en-US" altLang="zh-CN" sz="2400" b="1" dirty="0"/>
              <a:t>UNIQUE</a:t>
            </a:r>
            <a:r>
              <a:rPr lang="zh-CN" altLang="en-US" sz="2400" b="1" dirty="0"/>
              <a:t>约束，又定义为</a:t>
            </a:r>
            <a:r>
              <a:rPr lang="en-US" altLang="zh-CN" sz="2400" b="1" dirty="0"/>
              <a:t>PRIMARY  KEY</a:t>
            </a:r>
            <a:r>
              <a:rPr lang="zh-CN" altLang="en-US" sz="2400" b="1" dirty="0"/>
              <a:t>约束。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CC0099"/>
                </a:solidFill>
              </a:rPr>
              <a:t>（二）、修改基本表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ALTER TABLE &lt;</a:t>
            </a:r>
            <a:r>
              <a:rPr lang="zh-CN" altLang="en-US" sz="2800" b="1" dirty="0"/>
              <a:t>表名&gt;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/>
              <a:t>[ </a:t>
            </a:r>
            <a:r>
              <a:rPr lang="en-US" altLang="zh-CN" sz="2800" b="1" dirty="0"/>
              <a:t>ADD &lt;</a:t>
            </a:r>
            <a:r>
              <a:rPr lang="zh-CN" altLang="en-US" sz="2800" b="1" dirty="0"/>
              <a:t>新列名&gt; &lt;数据类型&gt; [ 完整性约束 ] ]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/>
              <a:t>[ </a:t>
            </a:r>
            <a:r>
              <a:rPr lang="en-US" altLang="zh-CN" sz="2800" b="1" dirty="0"/>
              <a:t>DROP &lt;</a:t>
            </a:r>
            <a:r>
              <a:rPr lang="zh-CN" altLang="en-US" sz="2800" b="1" dirty="0"/>
              <a:t>完整性约束名&gt; ]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/>
              <a:t>[ </a:t>
            </a:r>
            <a:r>
              <a:rPr lang="en-US" altLang="zh-CN" sz="2800" b="1" dirty="0"/>
              <a:t>MODIFY &lt;</a:t>
            </a:r>
            <a:r>
              <a:rPr lang="zh-CN" altLang="en-US" sz="2800" b="1" dirty="0"/>
              <a:t>列名&gt; &lt;数据类型&gt; ]；</a:t>
            </a:r>
          </a:p>
          <a:p>
            <a:pPr algn="just"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chemeClr val="hlink"/>
                </a:solidFill>
              </a:rPr>
              <a:t>&lt;表名&gt;</a:t>
            </a:r>
            <a:r>
              <a:rPr lang="zh-CN" altLang="en-US" sz="2800" b="1" dirty="0"/>
              <a:t>：</a:t>
            </a:r>
            <a:r>
              <a:rPr lang="zh-CN" altLang="en-US" sz="2400" b="1" dirty="0"/>
              <a:t>要修改的基本表</a:t>
            </a:r>
            <a:endParaRPr lang="zh-CN" altLang="en-US" sz="2800" b="1" dirty="0"/>
          </a:p>
          <a:p>
            <a:pPr algn="just"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chemeClr val="hlink"/>
                </a:solidFill>
              </a:rPr>
              <a:t>ADD</a:t>
            </a:r>
            <a:r>
              <a:rPr lang="zh-CN" altLang="en-US" sz="2800" b="1" dirty="0">
                <a:solidFill>
                  <a:schemeClr val="hlink"/>
                </a:solidFill>
              </a:rPr>
              <a:t>子句</a:t>
            </a:r>
            <a:r>
              <a:rPr lang="zh-CN" altLang="en-US" sz="2800" b="1" dirty="0"/>
              <a:t>：</a:t>
            </a:r>
            <a:r>
              <a:rPr lang="zh-CN" altLang="en-US" sz="2400" b="1" dirty="0"/>
              <a:t>增加新列和新的完整性约束条件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chemeClr val="hlink"/>
                </a:solidFill>
              </a:rPr>
              <a:t>DROP</a:t>
            </a:r>
            <a:r>
              <a:rPr lang="zh-CN" altLang="en-US" sz="2800" b="1" dirty="0">
                <a:solidFill>
                  <a:schemeClr val="hlink"/>
                </a:solidFill>
              </a:rPr>
              <a:t>子句</a:t>
            </a:r>
            <a:r>
              <a:rPr lang="zh-CN" altLang="en-US" sz="2800" b="1" dirty="0"/>
              <a:t>：</a:t>
            </a:r>
            <a:r>
              <a:rPr lang="zh-CN" altLang="en-US" sz="2400" b="1" dirty="0"/>
              <a:t>删除指定的完整性约束条件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chemeClr val="hlink"/>
                </a:solidFill>
              </a:rPr>
              <a:t>MODIFY</a:t>
            </a:r>
            <a:r>
              <a:rPr lang="zh-CN" altLang="en-US" sz="2800" b="1" dirty="0">
                <a:solidFill>
                  <a:schemeClr val="hlink"/>
                </a:solidFill>
              </a:rPr>
              <a:t>子句</a:t>
            </a:r>
            <a:r>
              <a:rPr lang="zh-CN" altLang="en-US" sz="2800" b="1" dirty="0"/>
              <a:t>：</a:t>
            </a:r>
            <a:r>
              <a:rPr lang="zh-CN" altLang="en-US" sz="2400" b="1" dirty="0"/>
              <a:t>用于修改列名和数据类型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[例3]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017713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</a:t>
            </a:r>
            <a:r>
              <a:rPr lang="zh-CN" altLang="en-US" b="1"/>
              <a:t>向</a:t>
            </a:r>
            <a:r>
              <a:rPr lang="en-US" altLang="zh-CN" b="1"/>
              <a:t>Student</a:t>
            </a:r>
            <a:r>
              <a:rPr lang="zh-CN" altLang="en-US" b="1"/>
              <a:t>表增加</a:t>
            </a:r>
            <a:r>
              <a:rPr lang="zh-CN" altLang="en-US" b="1">
                <a:latin typeface="Courier New" panose="02070409020205090404" pitchFamily="49" charset="0"/>
              </a:rPr>
              <a:t>“</a:t>
            </a:r>
            <a:r>
              <a:rPr lang="zh-CN" altLang="en-US" b="1"/>
              <a:t>毕业时间</a:t>
            </a:r>
            <a:r>
              <a:rPr lang="zh-CN" altLang="en-US" b="1">
                <a:latin typeface="Courier New" panose="02070409020205090404" pitchFamily="49" charset="0"/>
              </a:rPr>
              <a:t>”</a:t>
            </a:r>
            <a:r>
              <a:rPr lang="zh-CN" altLang="en-US" b="1"/>
              <a:t>列，其数据类型为日期型。</a:t>
            </a:r>
            <a:endParaRPr lang="zh-CN" altLang="en-US" sz="4400" b="1"/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</a:t>
            </a:r>
            <a:r>
              <a:rPr lang="en-US" altLang="zh-CN" b="1"/>
              <a:t>ALTER TABLE Student ADD Sfin DATE；</a:t>
            </a:r>
          </a:p>
          <a:p>
            <a:pPr lvl="4" algn="ctr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b="1"/>
              <a:t>不论基本表中原来是否已有数据，新增加的列一律为空值。</a:t>
            </a:r>
            <a:r>
              <a:rPr lang="zh-CN" altLang="en-US" b="1">
                <a:latin typeface="Courier New" panose="02070409020205090404" pitchFamily="49" charset="0"/>
              </a:rPr>
              <a:t> 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017713"/>
            <a:ext cx="8077200" cy="41148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zh-CN" altLang="en-US" sz="3600" b="1">
                <a:ea typeface="隶书" panose="02010509060101010101" pitchFamily="49" charset="-122"/>
              </a:rPr>
              <a:t>删除属性列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chemeClr val="hlink"/>
                </a:solidFill>
              </a:rPr>
              <a:t>    </a:t>
            </a:r>
            <a:r>
              <a:rPr lang="zh-CN" altLang="en-US" sz="2400" b="1"/>
              <a:t>间接删除属性列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z="2000" b="1"/>
              <a:t>把表中要保留的列及其内容复制到一个新表中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z="2000" b="1"/>
              <a:t>删除原表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z="2000" b="1"/>
              <a:t>再将新表重命名为原表名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chemeClr val="hlink"/>
                </a:solidFill>
              </a:rPr>
              <a:t>    </a:t>
            </a:r>
            <a:r>
              <a:rPr lang="zh-CN" altLang="en-US" sz="2400" b="1">
                <a:solidFill>
                  <a:schemeClr val="hlink"/>
                </a:solidFill>
              </a:rPr>
              <a:t>直接删除:(新)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chemeClr val="hlink"/>
                </a:solidFill>
              </a:rPr>
              <a:t>    </a:t>
            </a:r>
            <a:r>
              <a:rPr lang="zh-CN" altLang="en-US" sz="2000" b="1"/>
              <a:t>例：</a:t>
            </a:r>
            <a:r>
              <a:rPr lang="en-US" altLang="zh-CN" sz="2000" b="1"/>
              <a:t>ALTER TABLE Student  Drop Sfin；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CC0099"/>
                </a:solidFill>
              </a:rPr>
              <a:t>（三）、删除基本表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017713"/>
            <a:ext cx="77724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600" b="1"/>
              <a:t>一般格式：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3600" b="1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3600" b="1"/>
              <a:t>DROP TABLE &lt;</a:t>
            </a:r>
            <a:r>
              <a:rPr lang="zh-CN" altLang="en-US" sz="3600" b="1"/>
              <a:t>表名&gt;; </a:t>
            </a:r>
            <a:r>
              <a:rPr lang="zh-CN" altLang="en-US" sz="3600" b="1">
                <a:latin typeface="Courier New" panose="02070409020205090404" pitchFamily="49" charset="0"/>
              </a:rPr>
              <a:t> </a:t>
            </a:r>
            <a:endParaRPr lang="zh-CN" altLang="en-US" sz="36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[例4]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sz="3600" b="1"/>
              <a:t>删除</a:t>
            </a:r>
            <a:r>
              <a:rPr lang="en-US" altLang="zh-CN" sz="3600" b="1"/>
              <a:t>Student</a:t>
            </a:r>
            <a:r>
              <a:rPr lang="zh-CN" altLang="en-US" sz="3600" b="1"/>
              <a:t>表</a:t>
            </a:r>
          </a:p>
          <a:p>
            <a:pPr lvl="1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3600" b="1"/>
              <a:t>     </a:t>
            </a:r>
            <a:r>
              <a:rPr lang="en-US" altLang="zh-CN" sz="3600" b="1"/>
              <a:t>DROP TABLE　Student ;</a:t>
            </a:r>
          </a:p>
          <a:p>
            <a:pPr eaLnBrk="1" hangingPunct="1"/>
            <a:endParaRPr lang="zh-CN" altLang="en-US" sz="36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3.5 </a:t>
            </a:r>
            <a:r>
              <a:rPr lang="zh-CN" altLang="en-US" b="1"/>
              <a:t>创建与使用索引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017713"/>
            <a:ext cx="8610600" cy="4114800"/>
          </a:xfrm>
        </p:spPr>
        <p:txBody>
          <a:bodyPr/>
          <a:lstStyle/>
          <a:p>
            <a:pPr eaLnBrk="1" hangingPunct="1"/>
            <a:r>
              <a:rPr lang="en-US" altLang="zh-CN" dirty="0"/>
              <a:t>A database </a:t>
            </a:r>
            <a:r>
              <a:rPr lang="en-US" altLang="zh-CN" i="1" dirty="0" err="1">
                <a:solidFill>
                  <a:srgbClr val="FF0000"/>
                </a:solidFill>
              </a:rPr>
              <a:t>index</a:t>
            </a:r>
            <a:r>
              <a:rPr lang="en-US" altLang="zh-CN" dirty="0" err="1"/>
              <a:t>，is</a:t>
            </a:r>
            <a:r>
              <a:rPr lang="en-US" altLang="zh-CN" dirty="0"/>
              <a:t> somewhat similar to the memory-resident data structures you have probably encountered in earlier </a:t>
            </a:r>
            <a:r>
              <a:rPr lang="en-US" altLang="zh-CN" dirty="0" err="1"/>
              <a:t>studies.It</a:t>
            </a:r>
            <a:r>
              <a:rPr lang="en-US" altLang="zh-CN" dirty="0"/>
              <a:t> is meant to </a:t>
            </a:r>
            <a:r>
              <a:rPr lang="en-US" altLang="zh-CN" i="1" dirty="0">
                <a:solidFill>
                  <a:srgbClr val="CC0099"/>
                </a:solidFill>
              </a:rPr>
              <a:t>improve the efficiency of data lookup to rows of a table</a:t>
            </a:r>
            <a:r>
              <a:rPr lang="en-US" altLang="zh-CN" dirty="0"/>
              <a:t> by a keyed access retrieval method.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          －－《Database </a:t>
            </a:r>
            <a:r>
              <a:rPr lang="en-US" altLang="zh-CN" dirty="0" err="1"/>
              <a:t>principles,programming,and</a:t>
            </a:r>
            <a:r>
              <a:rPr lang="en-US" altLang="zh-CN" dirty="0"/>
              <a:t> performance》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 b="1"/>
              <a:t>语句格式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   CREATE </a:t>
            </a:r>
            <a:r>
              <a:rPr lang="en-US" altLang="zh-CN" sz="2400" b="1" dirty="0">
                <a:solidFill>
                  <a:schemeClr val="hlink"/>
                </a:solidFill>
              </a:rPr>
              <a:t>[UNIQUE] [CLUSTER]</a:t>
            </a:r>
            <a:r>
              <a:rPr lang="en-US" altLang="zh-CN" sz="2400" b="1" dirty="0"/>
              <a:t> INDEX &lt;</a:t>
            </a:r>
            <a:r>
              <a:rPr lang="zh-CN" altLang="en-US" sz="2400" b="1" dirty="0"/>
              <a:t>索引名&gt;     </a:t>
            </a:r>
            <a:r>
              <a:rPr lang="en-US" altLang="zh-CN" sz="2400" b="1" dirty="0"/>
              <a:t>ON &lt;</a:t>
            </a:r>
            <a:r>
              <a:rPr lang="zh-CN" altLang="en-US" sz="2400" b="1" dirty="0"/>
              <a:t>表名&gt;(&lt;列名&gt;[&lt;次序&gt;][,&lt;列名&gt;[&lt;次序&gt;] ]</a:t>
            </a:r>
            <a:r>
              <a:rPr lang="zh-CN" altLang="en-US" sz="2400" b="1" dirty="0">
                <a:latin typeface="Courier New" panose="02070409020205090404" pitchFamily="49" charset="0"/>
              </a:rPr>
              <a:t>…</a:t>
            </a:r>
            <a:r>
              <a:rPr lang="zh-CN" altLang="en-US" sz="2400" b="1" dirty="0"/>
              <a:t>)；		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b="1" dirty="0"/>
              <a:t>用</a:t>
            </a:r>
            <a:r>
              <a:rPr lang="zh-CN" altLang="en-US" sz="2400" b="1" dirty="0">
                <a:solidFill>
                  <a:schemeClr val="hlink"/>
                </a:solidFill>
              </a:rPr>
              <a:t>&lt;表名&gt;</a:t>
            </a:r>
            <a:r>
              <a:rPr lang="zh-CN" altLang="en-US" sz="2400" b="1" dirty="0"/>
              <a:t>指定要建索引的基本表名字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b="1" dirty="0"/>
              <a:t>索引可以建立在该表的一</a:t>
            </a:r>
            <a:r>
              <a:rPr lang="zh-CN" altLang="en-US" sz="2400" b="1" dirty="0">
                <a:solidFill>
                  <a:schemeClr val="hlink"/>
                </a:solidFill>
              </a:rPr>
              <a:t>列</a:t>
            </a:r>
            <a:r>
              <a:rPr lang="zh-CN" altLang="en-US" sz="2400" b="1" dirty="0"/>
              <a:t>或多列上，各列名之间用逗号分隔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b="1" dirty="0"/>
              <a:t>用</a:t>
            </a:r>
            <a:r>
              <a:rPr lang="zh-CN" altLang="en-US" sz="2400" b="1" dirty="0">
                <a:solidFill>
                  <a:schemeClr val="hlink"/>
                </a:solidFill>
              </a:rPr>
              <a:t>&lt;次序&gt;</a:t>
            </a:r>
            <a:r>
              <a:rPr lang="zh-CN" altLang="en-US" sz="2400" b="1" dirty="0"/>
              <a:t>指定索引值的排列次序，升序：</a:t>
            </a:r>
            <a:r>
              <a:rPr lang="en-US" altLang="zh-CN" sz="2400" b="1" dirty="0"/>
              <a:t>ASC，</a:t>
            </a:r>
            <a:r>
              <a:rPr lang="zh-CN" altLang="en-US" sz="2400" b="1" dirty="0"/>
              <a:t>降序：</a:t>
            </a:r>
            <a:r>
              <a:rPr lang="en-US" altLang="zh-CN" sz="2400" b="1" dirty="0"/>
              <a:t>DESC。</a:t>
            </a:r>
            <a:r>
              <a:rPr lang="zh-CN" altLang="en-US" sz="2400" b="1" dirty="0"/>
              <a:t>缺省值：</a:t>
            </a:r>
            <a:r>
              <a:rPr lang="en-US" altLang="zh-CN" sz="2400" b="1" dirty="0"/>
              <a:t>ASC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hlink"/>
                </a:solidFill>
              </a:rPr>
              <a:t>UNIQUE</a:t>
            </a:r>
            <a:r>
              <a:rPr lang="zh-CN" altLang="en-US" sz="2400" b="1" dirty="0"/>
              <a:t>表明此索引的每一个索引值只对应唯一的数据记录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hlink"/>
                </a:solidFill>
              </a:rPr>
              <a:t>CLUSTER</a:t>
            </a:r>
            <a:r>
              <a:rPr lang="zh-CN" altLang="en-US" sz="2400" b="1" dirty="0"/>
              <a:t>表示要建立的索引是聚簇索引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 [例5] 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017713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          </a:t>
            </a:r>
            <a:r>
              <a:rPr lang="zh-CN" altLang="en-US" sz="2800" b="1" dirty="0"/>
              <a:t>为学生-课程数据库中的</a:t>
            </a:r>
            <a:r>
              <a:rPr lang="en-US" altLang="zh-CN" sz="2800" b="1" dirty="0" err="1"/>
              <a:t>Student，Course，SC</a:t>
            </a:r>
            <a:r>
              <a:rPr lang="zh-CN" altLang="en-US" sz="2800" b="1" dirty="0"/>
              <a:t>三个表建立索引。其中</a:t>
            </a:r>
            <a:r>
              <a:rPr lang="en-US" altLang="zh-CN" sz="2800" b="1" dirty="0"/>
              <a:t>Student</a:t>
            </a:r>
            <a:r>
              <a:rPr lang="zh-CN" altLang="en-US" sz="2800" b="1" dirty="0"/>
              <a:t>表按学号升序建唯一索引，</a:t>
            </a:r>
            <a:r>
              <a:rPr lang="en-US" altLang="zh-CN" sz="2800" b="1" dirty="0"/>
              <a:t>Course</a:t>
            </a:r>
            <a:r>
              <a:rPr lang="zh-CN" altLang="en-US" sz="2800" b="1" dirty="0"/>
              <a:t>表按课程号升序建唯一索引，</a:t>
            </a:r>
            <a:r>
              <a:rPr lang="en-US" altLang="zh-CN" sz="2800" b="1" dirty="0"/>
              <a:t>SC</a:t>
            </a:r>
            <a:r>
              <a:rPr lang="zh-CN" altLang="en-US" sz="2800" b="1" dirty="0"/>
              <a:t>表按学号升序和课程号降序建唯一索引。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CREATE UNIQUE INDEX  </a:t>
            </a:r>
            <a:r>
              <a:rPr lang="en-US" altLang="zh-CN" b="1" dirty="0" err="1"/>
              <a:t>Stusno</a:t>
            </a:r>
            <a:r>
              <a:rPr lang="en-US" altLang="zh-CN" b="1" dirty="0"/>
              <a:t> ON Student(</a:t>
            </a:r>
            <a:r>
              <a:rPr lang="en-US" altLang="zh-CN" b="1" dirty="0" err="1"/>
              <a:t>Sno</a:t>
            </a:r>
            <a:r>
              <a:rPr lang="en-US" altLang="zh-CN" b="1" dirty="0"/>
              <a:t>)；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CREATE UNIQUE INDEX </a:t>
            </a:r>
            <a:r>
              <a:rPr lang="en-US" altLang="zh-CN" b="1" dirty="0" err="1"/>
              <a:t>Coucno</a:t>
            </a:r>
            <a:r>
              <a:rPr lang="en-US" altLang="zh-CN" b="1" dirty="0"/>
              <a:t> ON Course(</a:t>
            </a:r>
            <a:r>
              <a:rPr lang="en-US" altLang="zh-CN" b="1" dirty="0" err="1"/>
              <a:t>Cno</a:t>
            </a:r>
            <a:r>
              <a:rPr lang="en-US" altLang="zh-CN" b="1" dirty="0"/>
              <a:t>)；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CREATE UNIQUE INDEX </a:t>
            </a:r>
            <a:r>
              <a:rPr lang="en-US" altLang="zh-CN" b="1" dirty="0" err="1"/>
              <a:t>SCno</a:t>
            </a:r>
            <a:r>
              <a:rPr lang="en-US" altLang="zh-CN" b="1" dirty="0"/>
              <a:t> ON SC(</a:t>
            </a:r>
            <a:r>
              <a:rPr lang="en-US" altLang="zh-CN" b="1" dirty="0" err="1"/>
              <a:t>Sno</a:t>
            </a:r>
            <a:r>
              <a:rPr lang="en-US" altLang="zh-CN" b="1" dirty="0"/>
              <a:t> </a:t>
            </a:r>
            <a:r>
              <a:rPr lang="en-US" altLang="zh-CN" b="1" dirty="0" err="1"/>
              <a:t>ASC，Cno</a:t>
            </a:r>
            <a:r>
              <a:rPr lang="en-US" altLang="zh-CN" b="1" dirty="0"/>
              <a:t> DESC)； 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b="1"/>
              <a:t>唯一值索引</a:t>
            </a:r>
            <a:endParaRPr lang="zh-CN" altLang="en-US" sz="2800" b="1"/>
          </a:p>
          <a:p>
            <a:pPr lvl="1" algn="just" eaLnBrk="1" fontAlgn="ctr" hangingPunct="1">
              <a:lnSpc>
                <a:spcPct val="170000"/>
              </a:lnSpc>
            </a:pPr>
            <a:r>
              <a:rPr lang="zh-CN" altLang="en-US" sz="2400" b="1"/>
              <a:t>对于已含重复值的属性列不能建</a:t>
            </a:r>
            <a:r>
              <a:rPr lang="en-US" altLang="zh-CN" sz="2400" b="1"/>
              <a:t>UNIQUE</a:t>
            </a:r>
            <a:r>
              <a:rPr lang="zh-CN" altLang="en-US" sz="2400" b="1"/>
              <a:t>索引</a:t>
            </a:r>
          </a:p>
          <a:p>
            <a:pPr lvl="1" algn="just" eaLnBrk="1" fontAlgn="ctr" hangingPunct="1">
              <a:lnSpc>
                <a:spcPct val="170000"/>
              </a:lnSpc>
            </a:pPr>
            <a:r>
              <a:rPr lang="zh-CN" altLang="en-US" sz="2400" b="1"/>
              <a:t>对某个列建立</a:t>
            </a:r>
            <a:r>
              <a:rPr lang="en-US" altLang="zh-CN" sz="2400" b="1"/>
              <a:t>UNIQUE</a:t>
            </a:r>
            <a:r>
              <a:rPr lang="zh-CN" altLang="en-US" sz="2400" b="1"/>
              <a:t>索引后，插入新记录时</a:t>
            </a:r>
            <a:r>
              <a:rPr lang="en-US" altLang="zh-CN" sz="2400" b="1"/>
              <a:t>DBMS</a:t>
            </a:r>
            <a:r>
              <a:rPr lang="zh-CN" altLang="en-US" sz="2400" b="1"/>
              <a:t>会自动检查新记录在该列上是否取了重复值。这相当于增加了一个</a:t>
            </a:r>
            <a:r>
              <a:rPr lang="en-US" altLang="zh-CN" sz="2400" b="1"/>
              <a:t>UNIQUE</a:t>
            </a:r>
            <a:r>
              <a:rPr lang="zh-CN" altLang="en-US" sz="2400" b="1"/>
              <a:t>约束</a:t>
            </a:r>
          </a:p>
          <a:p>
            <a:pPr eaLnBrk="1" hangingPunct="1"/>
            <a:endParaRPr lang="zh-CN" altLang="en-US" sz="28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（五）、删除索引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017713"/>
            <a:ext cx="77724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一般格式：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DROP INDEX &lt;</a:t>
            </a:r>
            <a:r>
              <a:rPr lang="zh-CN" altLang="en-US" b="1"/>
              <a:t>索引名&gt;；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folHlink"/>
                </a:solidFill>
              </a:rPr>
              <a:t>[例6]</a:t>
            </a:r>
            <a:r>
              <a:rPr lang="zh-CN" altLang="en-US" b="1"/>
              <a:t>  删除</a:t>
            </a:r>
            <a:r>
              <a:rPr lang="en-US" altLang="zh-CN" b="1"/>
              <a:t>Student</a:t>
            </a:r>
            <a:r>
              <a:rPr lang="zh-CN" altLang="en-US" b="1"/>
              <a:t>表的</a:t>
            </a:r>
            <a:r>
              <a:rPr lang="en-US" altLang="zh-CN" b="1"/>
              <a:t>Stusname</a:t>
            </a:r>
            <a:r>
              <a:rPr lang="zh-CN" altLang="en-US" b="1"/>
              <a:t>索引。</a:t>
            </a:r>
          </a:p>
          <a:p>
            <a:pPr lvl="2"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sz="3200" b="1"/>
              <a:t>	</a:t>
            </a:r>
            <a:r>
              <a:rPr lang="en-US" altLang="zh-CN" sz="3200" b="1"/>
              <a:t>DROP INDEX Stusname；</a:t>
            </a:r>
          </a:p>
          <a:p>
            <a:pPr eaLnBrk="1" hangingPunct="1"/>
            <a:endParaRPr lang="zh-CN" altLang="en-US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3.6 </a:t>
            </a:r>
            <a:r>
              <a:rPr lang="zh-CN" altLang="en-US" b="1"/>
              <a:t>数据查询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 sz="3600" b="1"/>
              <a:t>概述</a:t>
            </a:r>
          </a:p>
          <a:p>
            <a:pPr algn="just"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 sz="3600" b="1"/>
              <a:t>单表查询</a:t>
            </a:r>
          </a:p>
          <a:p>
            <a:pPr algn="just"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 sz="3600" b="1"/>
              <a:t>连接查询</a:t>
            </a:r>
          </a:p>
          <a:p>
            <a:pPr algn="just"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 sz="3600" b="1"/>
              <a:t>嵌套查询</a:t>
            </a:r>
          </a:p>
          <a:p>
            <a:pPr algn="just"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 sz="3600" b="1"/>
              <a:t>集合查询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（一）、概述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sz="2400" b="1" dirty="0"/>
              <a:t>语句格式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SELECT</a:t>
            </a:r>
            <a:r>
              <a:rPr lang="en-US" altLang="zh-CN" sz="2400" b="1" dirty="0"/>
              <a:t> [ALL|DISTINCT] &lt;</a:t>
            </a:r>
            <a:r>
              <a:rPr lang="zh-CN" altLang="en-US" sz="2400" b="1" dirty="0"/>
              <a:t>目标列表达式&gt;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              [，&lt;目标列表达式&gt;] </a:t>
            </a:r>
            <a:r>
              <a:rPr lang="zh-CN" altLang="en-US" sz="2400" b="1" dirty="0">
                <a:latin typeface="Courier New" panose="02070409020205090404" pitchFamily="49" charset="0"/>
              </a:rPr>
              <a:t>…</a:t>
            </a:r>
            <a:endParaRPr lang="zh-CN" altLang="en-US" sz="2400" b="1" dirty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FROM</a:t>
            </a:r>
            <a:r>
              <a:rPr lang="en-US" altLang="zh-CN" sz="2400" b="1" dirty="0">
                <a:solidFill>
                  <a:srgbClr val="D75B5B"/>
                </a:solidFill>
              </a:rPr>
              <a:t> 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表名或视图名&gt;[， &lt;表名或视图名&gt; ] </a:t>
            </a:r>
            <a:r>
              <a:rPr lang="zh-CN" altLang="en-US" sz="2400" b="1" dirty="0">
                <a:latin typeface="Courier New" panose="02070409020205090404" pitchFamily="49" charset="0"/>
              </a:rPr>
              <a:t>…</a:t>
            </a:r>
            <a:endParaRPr lang="zh-CN" altLang="en-US" sz="2400" b="1" dirty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[ </a:t>
            </a:r>
            <a:r>
              <a:rPr lang="en-US" altLang="zh-CN" sz="2400" b="1" dirty="0">
                <a:solidFill>
                  <a:schemeClr val="hlink"/>
                </a:solidFill>
              </a:rPr>
              <a:t>WHERE</a:t>
            </a:r>
            <a:r>
              <a:rPr lang="en-US" altLang="zh-CN" sz="2400" b="1" dirty="0"/>
              <a:t> &lt;</a:t>
            </a:r>
            <a:r>
              <a:rPr lang="zh-CN" altLang="en-US" sz="2400" b="1" dirty="0"/>
              <a:t>条件表达式&gt; ]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[ </a:t>
            </a:r>
            <a:r>
              <a:rPr lang="en-US" altLang="zh-CN" sz="2400" b="1" dirty="0">
                <a:solidFill>
                  <a:schemeClr val="hlink"/>
                </a:solidFill>
              </a:rPr>
              <a:t>GROUP BY 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列名1&gt; [ </a:t>
            </a:r>
            <a:r>
              <a:rPr lang="en-US" altLang="zh-CN" sz="2400" b="1" dirty="0">
                <a:solidFill>
                  <a:schemeClr val="hlink"/>
                </a:solidFill>
              </a:rPr>
              <a:t>HAVING</a:t>
            </a:r>
            <a:r>
              <a:rPr lang="en-US" altLang="zh-CN" sz="2400" b="1" dirty="0"/>
              <a:t> &lt;</a:t>
            </a:r>
            <a:r>
              <a:rPr lang="zh-CN" altLang="en-US" sz="2400" b="1" dirty="0"/>
              <a:t>条件表达式&gt; ] ]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[ </a:t>
            </a:r>
            <a:r>
              <a:rPr lang="en-US" altLang="zh-CN" sz="2400" b="1" dirty="0">
                <a:solidFill>
                  <a:schemeClr val="hlink"/>
                </a:solidFill>
              </a:rPr>
              <a:t>ORDER BY 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列名2&gt; [ </a:t>
            </a:r>
            <a:r>
              <a:rPr lang="en-US" altLang="zh-CN" sz="2400" b="1" dirty="0"/>
              <a:t>ASC|DESC ] ]；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057400"/>
            <a:ext cx="7772400" cy="4114800"/>
          </a:xfrm>
        </p:spPr>
        <p:txBody>
          <a:bodyPr/>
          <a:lstStyle/>
          <a:p>
            <a:pPr lvl="1" algn="just" eaLnBrk="1" hangingPunct="1"/>
            <a:r>
              <a:rPr lang="en-US" altLang="zh-CN" sz="2400" b="1" dirty="0">
                <a:solidFill>
                  <a:schemeClr val="hlink"/>
                </a:solidFill>
              </a:rPr>
              <a:t>SELECT</a:t>
            </a:r>
            <a:r>
              <a:rPr lang="zh-CN" altLang="en-US" sz="2400" b="1" dirty="0">
                <a:solidFill>
                  <a:schemeClr val="hlink"/>
                </a:solidFill>
              </a:rPr>
              <a:t>子句</a:t>
            </a:r>
            <a:r>
              <a:rPr lang="zh-CN" altLang="en-US" sz="2400" b="1" dirty="0"/>
              <a:t>：指定要显示的属性列</a:t>
            </a:r>
          </a:p>
          <a:p>
            <a:pPr lvl="1" algn="just" eaLnBrk="1" hangingPunct="1"/>
            <a:r>
              <a:rPr lang="en-US" altLang="zh-CN" sz="2400" b="1" dirty="0">
                <a:solidFill>
                  <a:schemeClr val="hlink"/>
                </a:solidFill>
              </a:rPr>
              <a:t>FROM</a:t>
            </a:r>
            <a:r>
              <a:rPr lang="zh-CN" altLang="en-US" sz="2400" b="1" dirty="0">
                <a:solidFill>
                  <a:schemeClr val="hlink"/>
                </a:solidFill>
              </a:rPr>
              <a:t>子句</a:t>
            </a:r>
            <a:r>
              <a:rPr lang="zh-CN" altLang="en-US" sz="2400" b="1" dirty="0"/>
              <a:t>：指定查询对象(基本表或视图)</a:t>
            </a:r>
          </a:p>
          <a:p>
            <a:pPr lvl="1" algn="just" eaLnBrk="1" hangingPunct="1"/>
            <a:r>
              <a:rPr lang="en-US" altLang="zh-CN" sz="2400" b="1" dirty="0">
                <a:solidFill>
                  <a:schemeClr val="hlink"/>
                </a:solidFill>
              </a:rPr>
              <a:t>WHERE</a:t>
            </a:r>
            <a:r>
              <a:rPr lang="zh-CN" altLang="en-US" sz="2400" b="1" dirty="0">
                <a:solidFill>
                  <a:schemeClr val="hlink"/>
                </a:solidFill>
              </a:rPr>
              <a:t>子句</a:t>
            </a:r>
            <a:r>
              <a:rPr lang="zh-CN" altLang="en-US" sz="2400" b="1" dirty="0"/>
              <a:t>：指定查询条件</a:t>
            </a:r>
          </a:p>
          <a:p>
            <a:pPr lvl="1" algn="just" eaLnBrk="1" hangingPunct="1"/>
            <a:r>
              <a:rPr lang="zh-CN" altLang="en-US" sz="2400" b="1" dirty="0"/>
              <a:t> </a:t>
            </a:r>
            <a:r>
              <a:rPr lang="en-US" altLang="zh-CN" sz="2400" b="1" dirty="0">
                <a:solidFill>
                  <a:schemeClr val="hlink"/>
                </a:solidFill>
              </a:rPr>
              <a:t>GROUP BY</a:t>
            </a:r>
            <a:r>
              <a:rPr lang="zh-CN" altLang="en-US" sz="2400" b="1" dirty="0">
                <a:solidFill>
                  <a:schemeClr val="hlink"/>
                </a:solidFill>
              </a:rPr>
              <a:t>子句</a:t>
            </a:r>
            <a:r>
              <a:rPr lang="zh-CN" altLang="en-US" sz="2400" b="1" dirty="0"/>
              <a:t>：对查询结果按指定列的值分组，该属性列值相等的元组为一个组。通常会在每组中作用集函数。</a:t>
            </a:r>
          </a:p>
          <a:p>
            <a:pPr lvl="1" algn="just" eaLnBrk="1" hangingPunct="1"/>
            <a:r>
              <a:rPr lang="en-US" altLang="zh-CN" sz="2400" b="1" dirty="0">
                <a:solidFill>
                  <a:schemeClr val="hlink"/>
                </a:solidFill>
              </a:rPr>
              <a:t>HAVING</a:t>
            </a:r>
            <a:r>
              <a:rPr lang="zh-CN" altLang="en-US" sz="2400" b="1" dirty="0">
                <a:solidFill>
                  <a:schemeClr val="hlink"/>
                </a:solidFill>
              </a:rPr>
              <a:t>短语</a:t>
            </a:r>
            <a:r>
              <a:rPr lang="zh-CN" altLang="en-US" sz="2400" b="1" dirty="0"/>
              <a:t>：筛选出只有满足指定条件的组</a:t>
            </a:r>
          </a:p>
          <a:p>
            <a:pPr lvl="1" eaLnBrk="1" hangingPunct="1"/>
            <a:r>
              <a:rPr lang="en-US" altLang="zh-CN" sz="2400" b="1" dirty="0">
                <a:solidFill>
                  <a:schemeClr val="hlink"/>
                </a:solidFill>
              </a:rPr>
              <a:t>ORDER BY</a:t>
            </a:r>
            <a:r>
              <a:rPr lang="zh-CN" altLang="en-US" sz="2400" b="1" dirty="0">
                <a:solidFill>
                  <a:schemeClr val="hlink"/>
                </a:solidFill>
              </a:rPr>
              <a:t>子句</a:t>
            </a:r>
            <a:r>
              <a:rPr lang="zh-CN" altLang="en-US" sz="2400" b="1" dirty="0"/>
              <a:t>：对查询结果表按指定列值的升序或降序排序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示例数据库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017713"/>
            <a:ext cx="77724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600" b="1"/>
              <a:t>学生-课程数据库</a:t>
            </a:r>
          </a:p>
          <a:p>
            <a:pPr algn="just"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 b="1"/>
              <a:t>学生表：</a:t>
            </a:r>
            <a:r>
              <a:rPr lang="en-US" altLang="zh-CN" b="1"/>
              <a:t>Student(Sno，Sname，Ssex，Sage，Sdept)</a:t>
            </a:r>
          </a:p>
          <a:p>
            <a:pPr algn="just"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 b="1"/>
              <a:t>课程表：</a:t>
            </a:r>
            <a:r>
              <a:rPr lang="en-US" altLang="zh-CN" b="1"/>
              <a:t>Course(Cno，Cname，Cpno，Ccredit)</a:t>
            </a:r>
          </a:p>
          <a:p>
            <a:pPr algn="just" eaLnBrk="1" hangingPunct="1">
              <a:buSzPct val="120000"/>
              <a:buFont typeface="Wingdings" panose="05000000000000000000" pitchFamily="2" charset="2"/>
              <a:buChar char="§"/>
            </a:pPr>
            <a:r>
              <a:rPr lang="en-US" altLang="zh-CN" b="1"/>
              <a:t> </a:t>
            </a:r>
            <a:r>
              <a:rPr lang="zh-CN" altLang="en-US" b="1"/>
              <a:t>学生选课表：</a:t>
            </a:r>
            <a:r>
              <a:rPr lang="en-US" altLang="zh-CN" b="1"/>
              <a:t>SC(Sno，Cno，Grade) </a:t>
            </a:r>
            <a:endParaRPr lang="zh-CN" altLang="en-US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（二）、单表查询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3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zh-CN" altLang="en-US" sz="3600" b="1"/>
              <a:t>选择表中的若干列</a:t>
            </a:r>
          </a:p>
          <a:p>
            <a:pPr algn="just" eaLnBrk="1" hangingPunct="1">
              <a:lnSpc>
                <a:spcPct val="13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zh-CN" altLang="en-US" sz="3600" b="1"/>
              <a:t>选择表中的若干元组</a:t>
            </a:r>
          </a:p>
          <a:p>
            <a:pPr algn="just" eaLnBrk="1" hangingPunct="1">
              <a:lnSpc>
                <a:spcPct val="13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zh-CN" altLang="en-US" sz="3600" b="1"/>
              <a:t>对查询结果排序</a:t>
            </a:r>
          </a:p>
          <a:p>
            <a:pPr algn="just" eaLnBrk="1" hangingPunct="1">
              <a:lnSpc>
                <a:spcPct val="13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zh-CN" altLang="en-US" sz="3600" b="1"/>
              <a:t>使用集函数</a:t>
            </a:r>
          </a:p>
          <a:p>
            <a:pPr eaLnBrk="1" hangingPunct="1">
              <a:lnSpc>
                <a:spcPct val="13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zh-CN" altLang="en-US" sz="3600" b="1"/>
              <a:t>对查询结果分组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1、选择表中的若干列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查询指定列</a:t>
            </a:r>
          </a:p>
          <a:p>
            <a:pPr eaLnBrk="1" hangingPunct="1"/>
            <a:r>
              <a:rPr lang="zh-CN" altLang="en-US" b="1"/>
              <a:t>查询全部列</a:t>
            </a:r>
          </a:p>
          <a:p>
            <a:pPr eaLnBrk="1" hangingPunct="1"/>
            <a:r>
              <a:rPr lang="zh-CN" altLang="en-US" b="1"/>
              <a:t>查询经过计算的值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查询指定列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[例7]  查询全体学生的学号与姓名。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SELECT Sno，Sname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FROM Student；</a:t>
            </a:r>
            <a:r>
              <a:rPr lang="en-US" altLang="zh-CN" b="1">
                <a:latin typeface="Courier New" panose="02070409020205090404" pitchFamily="49" charset="0"/>
              </a:rPr>
              <a:t> </a:t>
            </a:r>
            <a:endParaRPr lang="en-US" altLang="zh-CN" b="1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409020205090404" pitchFamily="49" charset="0"/>
              </a:rPr>
              <a:t> </a:t>
            </a:r>
            <a:endParaRPr lang="en-US" altLang="zh-CN" b="1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[</a:t>
            </a:r>
            <a:r>
              <a:rPr lang="zh-CN" altLang="en-US" sz="2800" b="1"/>
              <a:t>例8]  查询全体学生的姓名、学号、所在系。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SELECT Sname，Sno，Sdept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FROM Student；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查询全部列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sz="2800" b="1"/>
              <a:t>[例9]  查询全体学生的详细记录。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SELECT  Sno，Sname，Ssex，Sage，Sdept 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FROM Student； 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</a:t>
            </a:r>
            <a:r>
              <a:rPr lang="zh-CN" altLang="en-US" sz="2800" b="1"/>
              <a:t>或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SELECT  *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FROM Student； 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查询经过计算的值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[例10]  查询全体学生的姓名、出生年份和所有系，要求用小写字母表示所有系名。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 dirty="0"/>
              <a:t>SELECT </a:t>
            </a:r>
            <a:r>
              <a:rPr lang="en-US" altLang="zh-CN" b="1" dirty="0" err="1"/>
              <a:t>Sname</a:t>
            </a:r>
            <a:r>
              <a:rPr lang="en-US" altLang="zh-CN" b="1" dirty="0"/>
              <a:t>，'Year of Birth: '，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 dirty="0"/>
              <a:t>        2024-Sage，ISLOWER(</a:t>
            </a:r>
            <a:r>
              <a:rPr lang="en-US" altLang="zh-CN" b="1" dirty="0" err="1"/>
              <a:t>Sdept</a:t>
            </a:r>
            <a:r>
              <a:rPr lang="en-US" altLang="zh-CN" b="1" dirty="0"/>
              <a:t>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 dirty="0"/>
              <a:t>FROM Student；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 b="1"/>
              <a:t>输出结果：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    </a:t>
            </a:r>
            <a:r>
              <a:rPr lang="en-US" altLang="zh-CN" sz="2800" b="1" dirty="0" err="1"/>
              <a:t>Sname</a:t>
            </a:r>
            <a:r>
              <a:rPr lang="en-US" altLang="zh-CN" sz="2800" b="1" dirty="0"/>
              <a:t>   'Year of Birth:'  2023-Sage   ISLOWER(</a:t>
            </a:r>
            <a:r>
              <a:rPr lang="en-US" altLang="zh-CN" sz="2800" b="1" dirty="0" err="1"/>
              <a:t>Sdept</a:t>
            </a:r>
            <a:r>
              <a:rPr lang="en-US" altLang="zh-CN" sz="2800" b="1" dirty="0"/>
              <a:t>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   -------  ----------------  ---------  --------------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      </a:t>
            </a:r>
            <a:r>
              <a:rPr lang="zh-CN" altLang="en-US" sz="2800" b="1" dirty="0"/>
              <a:t>李勇    </a:t>
            </a:r>
            <a:r>
              <a:rPr lang="en-US" altLang="zh-CN" sz="2800" b="1" dirty="0"/>
              <a:t>Year of Birth:    2000       cs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       </a:t>
            </a:r>
            <a:r>
              <a:rPr lang="zh-CN" altLang="en-US" sz="2800" b="1" dirty="0"/>
              <a:t>刘晨    </a:t>
            </a:r>
            <a:r>
              <a:rPr lang="en-US" altLang="zh-CN" sz="2800" b="1" dirty="0"/>
              <a:t>Year of Birth:    2001       is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       </a:t>
            </a:r>
            <a:r>
              <a:rPr lang="zh-CN" altLang="en-US" sz="2800" b="1" dirty="0"/>
              <a:t>王名    </a:t>
            </a:r>
            <a:r>
              <a:rPr lang="en-US" altLang="zh-CN" sz="2800" b="1" dirty="0"/>
              <a:t>Year of Birth:    2002       ma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       </a:t>
            </a:r>
            <a:r>
              <a:rPr lang="zh-CN" altLang="en-US" sz="2800" b="1" dirty="0"/>
              <a:t>张立    </a:t>
            </a:r>
            <a:r>
              <a:rPr lang="en-US" altLang="zh-CN" sz="2800" b="1" dirty="0"/>
              <a:t>Year of Birth:    2000       is 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1143000" y="609600"/>
            <a:ext cx="779303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</a:rPr>
              <a:t>[例11] 使用列</a:t>
            </a:r>
            <a:r>
              <a:rPr lang="zh-CN" altLang="en-US" sz="3200" b="1">
                <a:solidFill>
                  <a:srgbClr val="D75B5B"/>
                </a:solidFill>
              </a:rPr>
              <a:t>别名</a:t>
            </a:r>
            <a:r>
              <a:rPr lang="zh-CN" altLang="en-US" sz="3200" b="1">
                <a:solidFill>
                  <a:schemeClr val="tx2"/>
                </a:solidFill>
              </a:rPr>
              <a:t>改变查询结果的列标题</a:t>
            </a:r>
            <a:endParaRPr lang="zh-CN" altLang="en-US" sz="4000" b="1">
              <a:solidFill>
                <a:schemeClr val="tx2"/>
              </a:solidFill>
            </a:endParaRP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914400" y="2170113"/>
            <a:ext cx="802163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/>
              <a:t>SELECT </a:t>
            </a:r>
            <a:r>
              <a:rPr lang="en-US" altLang="zh-CN" sz="2000" b="1" dirty="0" err="1"/>
              <a:t>Sname</a:t>
            </a:r>
            <a:r>
              <a:rPr lang="en-US" altLang="zh-CN" sz="2000" b="1" dirty="0"/>
              <a:t> </a:t>
            </a:r>
            <a:r>
              <a:rPr lang="en-US" altLang="zh-CN" sz="2000" b="1" dirty="0" err="1">
                <a:solidFill>
                  <a:srgbClr val="D75B5B"/>
                </a:solidFill>
              </a:rPr>
              <a:t>NAME</a:t>
            </a:r>
            <a:r>
              <a:rPr lang="en-US" altLang="zh-CN" sz="2000" b="1" dirty="0" err="1"/>
              <a:t>，'Year</a:t>
            </a:r>
            <a:r>
              <a:rPr lang="en-US" altLang="zh-CN" sz="2000" b="1" dirty="0"/>
              <a:t> of Birth: </a:t>
            </a:r>
            <a:r>
              <a:rPr lang="en-US" altLang="zh-CN" sz="2000" b="1" dirty="0">
                <a:latin typeface="Courier New" panose="02070409020205090404" pitchFamily="49" charset="0"/>
              </a:rPr>
              <a:t>’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D75B5B"/>
                </a:solidFill>
              </a:rPr>
              <a:t> BIRTH</a:t>
            </a:r>
            <a:r>
              <a:rPr lang="en-US" altLang="zh-CN" sz="2000" b="1" dirty="0"/>
              <a:t>，</a:t>
            </a:r>
            <a:endParaRPr lang="en-US" altLang="zh-CN" b="1" dirty="0"/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b="1" dirty="0"/>
              <a:t>       </a:t>
            </a:r>
            <a:r>
              <a:rPr lang="en-US" altLang="zh-CN" sz="1800" b="1" dirty="0"/>
              <a:t>2024-Sage </a:t>
            </a:r>
            <a:r>
              <a:rPr lang="en-US" altLang="zh-CN" sz="1800" b="1" dirty="0">
                <a:solidFill>
                  <a:srgbClr val="D75B5B"/>
                </a:solidFill>
              </a:rPr>
              <a:t> BIRTHYEAR</a:t>
            </a:r>
            <a:r>
              <a:rPr lang="en-US" altLang="zh-CN" sz="1800" b="1" dirty="0"/>
              <a:t>，ISLOWER(</a:t>
            </a:r>
            <a:r>
              <a:rPr lang="en-US" altLang="zh-CN" sz="1800" b="1" dirty="0" err="1"/>
              <a:t>Sdept</a:t>
            </a:r>
            <a:r>
              <a:rPr lang="en-US" altLang="zh-CN" sz="1800" b="1" dirty="0"/>
              <a:t>)  </a:t>
            </a:r>
            <a:r>
              <a:rPr lang="en-US" altLang="zh-CN" sz="1800" b="1" dirty="0">
                <a:solidFill>
                  <a:srgbClr val="D75B5B"/>
                </a:solidFill>
              </a:rPr>
              <a:t>DEPARTMENT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/>
              <a:t>FROM</a:t>
            </a:r>
            <a:r>
              <a:rPr lang="en-US" altLang="zh-CN" b="1" dirty="0"/>
              <a:t> </a:t>
            </a:r>
            <a:r>
              <a:rPr lang="en-US" altLang="zh-CN" sz="2000" b="1" dirty="0"/>
              <a:t>Student；</a:t>
            </a:r>
            <a:endParaRPr lang="en-US" altLang="zh-CN" sz="2800" b="1" dirty="0"/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b="1" dirty="0"/>
              <a:t>输出结果：</a:t>
            </a:r>
          </a:p>
          <a:p>
            <a:pPr lvl="1" algn="just" eaLnBrk="1" hangingPunct="1">
              <a:lnSpc>
                <a:spcPct val="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b="1" dirty="0"/>
              <a:t>      </a:t>
            </a:r>
            <a:r>
              <a:rPr lang="en-US" altLang="zh-CN" sz="2000" b="1" dirty="0"/>
              <a:t>NAME    BIRTH                  BIRTHYEAR   DEPARTMENT</a:t>
            </a:r>
          </a:p>
          <a:p>
            <a:pPr lvl="1" algn="just" eaLnBrk="1" hangingPunct="1">
              <a:lnSpc>
                <a:spcPct val="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b="1" dirty="0"/>
              <a:t>   -------  ----------------    -------------  ------------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b="1" dirty="0"/>
              <a:t>     </a:t>
            </a:r>
            <a:r>
              <a:rPr lang="zh-CN" altLang="en-US" b="1" dirty="0"/>
              <a:t>李勇    </a:t>
            </a:r>
            <a:r>
              <a:rPr lang="en-US" altLang="zh-CN" b="1" dirty="0"/>
              <a:t>Year of Birth:    2000       cs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b="1" dirty="0"/>
              <a:t>     </a:t>
            </a:r>
            <a:r>
              <a:rPr lang="zh-CN" altLang="en-US" b="1" dirty="0"/>
              <a:t>刘晨    </a:t>
            </a:r>
            <a:r>
              <a:rPr lang="en-US" altLang="zh-CN" b="1" dirty="0"/>
              <a:t>Year of Birth:    2001       is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b="1" dirty="0"/>
              <a:t>     </a:t>
            </a:r>
            <a:r>
              <a:rPr lang="zh-CN" altLang="en-US" b="1" dirty="0"/>
              <a:t>王名    </a:t>
            </a:r>
            <a:r>
              <a:rPr lang="en-US" altLang="zh-CN" b="1" dirty="0"/>
              <a:t>Year of Birth:    2002       ma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b="1" dirty="0"/>
              <a:t>     </a:t>
            </a:r>
            <a:r>
              <a:rPr lang="zh-CN" altLang="en-US" b="1" dirty="0"/>
              <a:t>张立    </a:t>
            </a:r>
            <a:r>
              <a:rPr lang="en-US" altLang="zh-CN" b="1" dirty="0"/>
              <a:t>Year of Birth:    2000       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示例数据库 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017713"/>
            <a:ext cx="77724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学生-课程数据库</a:t>
            </a:r>
          </a:p>
          <a:p>
            <a:pPr algn="just" eaLnBrk="1" hangingPunct="1">
              <a:buSzTx/>
              <a:buFont typeface="Wingdings" panose="05000000000000000000" pitchFamily="2" charset="2"/>
              <a:buChar char="§"/>
            </a:pPr>
            <a:r>
              <a:rPr lang="zh-CN" altLang="en-US" b="1"/>
              <a:t>学生表：</a:t>
            </a:r>
            <a:r>
              <a:rPr lang="en-US" altLang="zh-CN" b="1"/>
              <a:t>Student(Sno，Sname，Ssex，Sage，Sdept)</a:t>
            </a:r>
          </a:p>
          <a:p>
            <a:pPr algn="just" eaLnBrk="1" hangingPunct="1">
              <a:buSzTx/>
              <a:buFont typeface="Wingdings" panose="05000000000000000000" pitchFamily="2" charset="2"/>
              <a:buChar char="§"/>
            </a:pPr>
            <a:r>
              <a:rPr lang="zh-CN" altLang="en-US" b="1"/>
              <a:t>课程表：</a:t>
            </a:r>
            <a:r>
              <a:rPr lang="en-US" altLang="zh-CN" b="1"/>
              <a:t>Course(Cno，Cname，Cpno，Ccredit)</a:t>
            </a:r>
          </a:p>
          <a:p>
            <a:pPr algn="just"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zh-CN" b="1"/>
              <a:t> </a:t>
            </a:r>
            <a:r>
              <a:rPr lang="zh-CN" altLang="en-US" b="1"/>
              <a:t>学生选课表：</a:t>
            </a:r>
            <a:r>
              <a:rPr lang="en-US" altLang="zh-CN" b="1"/>
              <a:t>SC(Sno，Cno，Grade)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2、选择表中的若干元组 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200000"/>
              </a:lnSpc>
            </a:pPr>
            <a:r>
              <a:rPr lang="zh-CN" altLang="en-US" sz="3600" b="1"/>
              <a:t>消除取值重复的行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3600" b="1"/>
              <a:t>查询满足条件的元组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1）. 消除取值重复的行</a:t>
            </a:r>
            <a:endParaRPr lang="zh-CN" altLang="en-US" b="1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/>
              <a:t>在</a:t>
            </a:r>
            <a:r>
              <a:rPr lang="en-US" altLang="zh-CN" b="1"/>
              <a:t>SELECT</a:t>
            </a:r>
            <a:r>
              <a:rPr lang="zh-CN" altLang="en-US" b="1"/>
              <a:t>子句中使用</a:t>
            </a:r>
            <a:r>
              <a:rPr lang="en-US" altLang="zh-CN" b="1"/>
              <a:t>DISTINCT</a:t>
            </a:r>
            <a:r>
              <a:rPr lang="zh-CN" altLang="en-US" b="1"/>
              <a:t>短语</a:t>
            </a:r>
            <a:endParaRPr lang="zh-CN" altLang="en-US" sz="2800" b="1"/>
          </a:p>
          <a:p>
            <a:pPr lvl="1" eaLnBrk="1" hangingPunct="1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假设</a:t>
            </a:r>
            <a:r>
              <a:rPr lang="en-US" altLang="zh-CN" b="1"/>
              <a:t>SC</a:t>
            </a:r>
            <a:r>
              <a:rPr lang="zh-CN" altLang="en-US" b="1"/>
              <a:t>表中有下列数据		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          </a:t>
            </a:r>
            <a:r>
              <a:rPr lang="en-US" altLang="zh-CN" b="1"/>
              <a:t>Sno       Cno       Grade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         -------    -------     -------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         95001       1         92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         95001       2         85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         95001       3         88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         95002       2         90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         95002       3         80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/>
              <a:t>ALL </a:t>
            </a:r>
            <a:r>
              <a:rPr lang="zh-CN" altLang="en-US" sz="3200" b="1"/>
              <a:t>与</a:t>
            </a:r>
            <a:r>
              <a:rPr lang="zh-CN" altLang="en-US" sz="3600" b="1"/>
              <a:t> </a:t>
            </a:r>
            <a:r>
              <a:rPr lang="en-US" altLang="zh-CN" sz="3200" b="1"/>
              <a:t>DISTINCT</a:t>
            </a:r>
            <a:r>
              <a:rPr lang="en-US" altLang="zh-CN" sz="3600" b="1"/>
              <a:t> 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2017713"/>
            <a:ext cx="51054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[例6]  查询选修了课程的学生学号。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(1) </a:t>
            </a:r>
            <a:r>
              <a:rPr lang="en-US" altLang="zh-CN" sz="2800" b="1"/>
              <a:t>SELECT Sno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  FROM SC;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	</a:t>
            </a:r>
            <a:r>
              <a:rPr lang="zh-CN" altLang="en-US" sz="2800" b="1"/>
              <a:t>或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   SELECT ALL Sno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   FROM SC;</a:t>
            </a: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218113" y="2819400"/>
            <a:ext cx="3240087" cy="2935288"/>
          </a:xfrm>
        </p:spPr>
        <p:txBody>
          <a:bodyPr/>
          <a:lstStyle/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结果： </a:t>
            </a:r>
            <a:r>
              <a:rPr lang="en-US" altLang="zh-CN" sz="2800" b="1"/>
              <a:t>Sno   </a:t>
            </a:r>
          </a:p>
          <a:p>
            <a:pPr lvl="1" algn="just" eaLnBrk="1" hangingPunct="1">
              <a:lnSpc>
                <a:spcPct val="4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------- 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95001  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95001  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95001  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95002 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95002</a:t>
            </a:r>
            <a:r>
              <a:rPr lang="en-US" altLang="zh-CN" sz="1800" b="1"/>
              <a:t> </a:t>
            </a:r>
            <a:endParaRPr lang="zh-CN" altLang="en-US" sz="1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0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0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0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0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0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0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0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0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0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0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0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0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 autoUpdateAnimBg="0"/>
      <p:bldP spid="100356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例题（续）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(2)  </a:t>
            </a:r>
            <a:r>
              <a:rPr lang="en-US" altLang="zh-CN" sz="2800" b="1"/>
              <a:t>SELECT DISTINCT Sno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FROM SC;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Courier New" panose="02070409020205090404" pitchFamily="49" charset="0"/>
              </a:rPr>
              <a:t> </a:t>
            </a:r>
            <a:endParaRPr lang="en-US" altLang="zh-CN" sz="2800" b="1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	</a:t>
            </a:r>
            <a:r>
              <a:rPr lang="zh-CN" altLang="en-US" sz="2800" b="1"/>
              <a:t>结果：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          </a:t>
            </a:r>
            <a:r>
              <a:rPr lang="en-US" altLang="zh-CN" sz="2800" b="1"/>
              <a:t>Sno  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-------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95001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95002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b="1"/>
              <a:t>例题（续）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17713"/>
            <a:ext cx="8610600" cy="4114800"/>
          </a:xfrm>
        </p:spPr>
        <p:txBody>
          <a:bodyPr/>
          <a:lstStyle/>
          <a:p>
            <a:pPr algn="just" eaLnBrk="1" hangingPunct="1"/>
            <a:r>
              <a:rPr lang="zh-CN" altLang="en-US" sz="2800" b="1"/>
              <a:t>注意 </a:t>
            </a:r>
            <a:r>
              <a:rPr lang="en-US" altLang="zh-CN" sz="2800" b="1"/>
              <a:t>DISTINCT</a:t>
            </a:r>
            <a:r>
              <a:rPr lang="zh-CN" altLang="en-US" sz="2800" b="1"/>
              <a:t>短语的作用范围是所有目标列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例：查询选修课程的各种成绩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SELECT DISTINCT Cno，DISTINCT Grade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FROM SC;</a:t>
            </a:r>
          </a:p>
        </p:txBody>
      </p:sp>
      <p:grpSp>
        <p:nvGrpSpPr>
          <p:cNvPr id="2" name="Group 4"/>
          <p:cNvGrpSpPr/>
          <p:nvPr/>
        </p:nvGrpSpPr>
        <p:grpSpPr bwMode="auto">
          <a:xfrm>
            <a:off x="5486400" y="3657600"/>
            <a:ext cx="990600" cy="533400"/>
            <a:chOff x="2928" y="2352"/>
            <a:chExt cx="624" cy="336"/>
          </a:xfrm>
        </p:grpSpPr>
        <p:sp>
          <p:nvSpPr>
            <p:cNvPr id="54282" name="Line 5"/>
            <p:cNvSpPr>
              <a:spLocks noChangeShapeType="1"/>
            </p:cNvSpPr>
            <p:nvPr/>
          </p:nvSpPr>
          <p:spPr bwMode="auto">
            <a:xfrm flipH="1">
              <a:off x="2928" y="2352"/>
              <a:ext cx="624" cy="336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283" name="Line 6"/>
            <p:cNvSpPr>
              <a:spLocks noChangeShapeType="1"/>
            </p:cNvSpPr>
            <p:nvPr/>
          </p:nvSpPr>
          <p:spPr bwMode="auto">
            <a:xfrm>
              <a:off x="2928" y="2352"/>
              <a:ext cx="624" cy="336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381000" y="4876800"/>
            <a:ext cx="6781800" cy="1524000"/>
            <a:chOff x="240" y="3072"/>
            <a:chExt cx="4272" cy="960"/>
          </a:xfrm>
        </p:grpSpPr>
        <p:sp>
          <p:nvSpPr>
            <p:cNvPr id="54278" name="Rectangle 8"/>
            <p:cNvSpPr>
              <a:spLocks noChangeArrowheads="1"/>
            </p:cNvSpPr>
            <p:nvPr/>
          </p:nvSpPr>
          <p:spPr bwMode="auto">
            <a:xfrm>
              <a:off x="240" y="3072"/>
              <a:ext cx="4272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1pPr>
              <a:lvl2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9pPr>
            </a:lstStyle>
            <a:p>
              <a:pPr lvl="1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zh-CN" altLang="en-US" sz="2800" b="1"/>
                <a:t>正确的写法</a:t>
              </a:r>
            </a:p>
            <a:p>
              <a:pPr lvl="1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zh-CN" altLang="en-US" sz="2800" b="1"/>
                <a:t>     </a:t>
              </a:r>
              <a:r>
                <a:rPr lang="en-US" altLang="zh-CN" sz="2800" b="1"/>
                <a:t>SELECT DISTINCT Cno，Grade</a:t>
              </a:r>
            </a:p>
            <a:p>
              <a:pPr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800" b="1"/>
                <a:t>          FROM SC;</a:t>
              </a:r>
              <a:r>
                <a:rPr lang="en-US" altLang="zh-CN" sz="2800" b="1">
                  <a:latin typeface="Courier New" panose="02070409020205090404" pitchFamily="49" charset="0"/>
                </a:rPr>
                <a:t> </a:t>
              </a:r>
              <a:endParaRPr lang="en-US" altLang="zh-CN" sz="2800" b="1"/>
            </a:p>
            <a:p>
              <a:pPr eaLnBrk="1" hangingPunct="1"/>
              <a:endParaRPr lang="zh-CN" altLang="en-US"/>
            </a:p>
          </p:txBody>
        </p:sp>
        <p:grpSp>
          <p:nvGrpSpPr>
            <p:cNvPr id="54279" name="Group 9"/>
            <p:cNvGrpSpPr/>
            <p:nvPr/>
          </p:nvGrpSpPr>
          <p:grpSpPr bwMode="auto">
            <a:xfrm>
              <a:off x="3552" y="3600"/>
              <a:ext cx="672" cy="432"/>
              <a:chOff x="3024" y="3600"/>
              <a:chExt cx="672" cy="432"/>
            </a:xfrm>
          </p:grpSpPr>
          <p:sp>
            <p:nvSpPr>
              <p:cNvPr id="54280" name="Line 10"/>
              <p:cNvSpPr>
                <a:spLocks noChangeShapeType="1"/>
              </p:cNvSpPr>
              <p:nvPr/>
            </p:nvSpPr>
            <p:spPr bwMode="auto">
              <a:xfrm>
                <a:off x="3024" y="3840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281" name="Line 11"/>
              <p:cNvSpPr>
                <a:spLocks noChangeShapeType="1"/>
              </p:cNvSpPr>
              <p:nvPr/>
            </p:nvSpPr>
            <p:spPr bwMode="auto">
              <a:xfrm flipV="1">
                <a:off x="3216" y="3600"/>
                <a:ext cx="480" cy="432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2）.查询满足条件的元组</a:t>
            </a:r>
            <a:endParaRPr lang="zh-CN" altLang="en-US" b="1"/>
          </a:p>
        </p:txBody>
      </p:sp>
      <p:graphicFrame>
        <p:nvGraphicFramePr>
          <p:cNvPr id="4098" name="Object 3"/>
          <p:cNvGraphicFramePr>
            <a:graphicFrameLocks noGrp="1" noChangeAspect="1"/>
          </p:cNvGraphicFramePr>
          <p:nvPr>
            <p:ph type="body" idx="1"/>
          </p:nvPr>
        </p:nvGraphicFramePr>
        <p:xfrm>
          <a:off x="-1066800" y="2362200"/>
          <a:ext cx="11430000" cy="478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文档" r:id="rId3" imgW="5629275" imgH="1714500" progId="Word.Document.8">
                  <p:embed/>
                </p:oleObj>
              </mc:Choice>
              <mc:Fallback>
                <p:oleObj name="文档" r:id="rId3" imgW="5629275" imgH="17145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066800" y="2362200"/>
                        <a:ext cx="11430000" cy="478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1143000" y="1752600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1371600" y="1752600"/>
            <a:ext cx="70104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1066800" y="1676400"/>
            <a:ext cx="7162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Times New Roman" panose="02020503050405090304" pitchFamily="18" charset="0"/>
              </a:rPr>
              <a:t>WHERE</a:t>
            </a:r>
            <a:r>
              <a:rPr lang="zh-CN" altLang="en-US" sz="3200" b="1">
                <a:latin typeface="Times New Roman" panose="02020503050405090304" pitchFamily="18" charset="0"/>
              </a:rPr>
              <a:t>子句常用的查询条件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(1) 比较大小</a:t>
            </a:r>
            <a:endParaRPr lang="zh-CN" altLang="en-US" b="1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05000"/>
            <a:ext cx="7772400" cy="4114800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[例8]  查询所有年龄在20岁以下的学生姓名及其年龄。</a:t>
            </a:r>
            <a:endParaRPr lang="zh-CN" altLang="en-US" b="1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</a:t>
            </a:r>
            <a:r>
              <a:rPr lang="en-US" altLang="zh-CN" sz="2400" b="1"/>
              <a:t>SELECT Sname，Sage</a:t>
            </a:r>
            <a:r>
              <a:rPr lang="en-US" altLang="zh-CN" b="1"/>
              <a:t> 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FROM    Student    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WHERE Sage &lt; 20；         </a:t>
            </a:r>
            <a:r>
              <a:rPr lang="zh-CN" altLang="en-US" b="1"/>
              <a:t>或  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endParaRPr lang="zh-CN" altLang="en-US" b="1"/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SELECT Sname，Sage 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FROM    Student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b="1"/>
              <a:t>WHERE NOT Sage &gt;= 20；</a:t>
            </a:r>
            <a:r>
              <a:rPr lang="en-US" altLang="zh-CN" sz="2800" b="1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(2) 确定范围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8800"/>
            <a:ext cx="7772400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使用谓词   </a:t>
            </a:r>
            <a:r>
              <a:rPr lang="en-US" altLang="zh-CN" sz="2800" b="1"/>
              <a:t>BETWEEN </a:t>
            </a:r>
            <a:r>
              <a:rPr lang="en-US" altLang="zh-CN" sz="2800" b="1">
                <a:latin typeface="Courier New" panose="02070409020205090404" pitchFamily="49" charset="0"/>
              </a:rPr>
              <a:t>…</a:t>
            </a:r>
            <a:r>
              <a:rPr lang="en-US" altLang="zh-CN" sz="2800" b="1"/>
              <a:t>  AND  </a:t>
            </a:r>
            <a:r>
              <a:rPr lang="en-US" altLang="zh-CN" sz="2800" b="1">
                <a:latin typeface="Courier New" panose="02070409020205090404" pitchFamily="49" charset="0"/>
              </a:rPr>
              <a:t>…</a:t>
            </a:r>
            <a:endParaRPr lang="en-US" altLang="zh-CN" sz="2800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      NOT BETWEEN  </a:t>
            </a:r>
            <a:r>
              <a:rPr lang="en-US" altLang="zh-CN" sz="2800" b="1">
                <a:latin typeface="Courier New" panose="02070409020205090404" pitchFamily="49" charset="0"/>
              </a:rPr>
              <a:t>…</a:t>
            </a:r>
            <a:r>
              <a:rPr lang="en-US" altLang="zh-CN" sz="2800" b="1"/>
              <a:t>  AND  </a:t>
            </a:r>
            <a:r>
              <a:rPr lang="en-US" altLang="zh-CN" sz="2800" b="1">
                <a:latin typeface="Courier New" panose="02070409020205090404" pitchFamily="49" charset="0"/>
              </a:rPr>
              <a:t>…</a:t>
            </a:r>
            <a:endParaRPr lang="en-US" altLang="zh-CN" sz="2800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[</a:t>
            </a:r>
            <a:r>
              <a:rPr lang="zh-CN" altLang="en-US" sz="2800" b="1"/>
              <a:t>例10]  查询年龄在20~23岁（包括20岁和23岁）之间的学生的姓名、系别和年龄。</a:t>
            </a: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b="1"/>
              <a:t>    </a:t>
            </a:r>
            <a:r>
              <a:rPr lang="en-US" altLang="zh-CN" sz="3200" b="1"/>
              <a:t>SELECT Sname，Sdept，Sage</a:t>
            </a:r>
          </a:p>
          <a:p>
            <a:pPr lvl="2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FROM   Student</a:t>
            </a: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WHERE Sage BETWEEN 20 AND 23；</a:t>
            </a:r>
            <a:r>
              <a:rPr lang="en-US" altLang="zh-CN" b="1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例题（续）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81200"/>
            <a:ext cx="77724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[例11]  查询年龄不在20~23岁之间的学生姓名、系别和年龄。</a:t>
            </a:r>
            <a:endParaRPr lang="zh-CN" altLang="en-US" b="1" dirty="0"/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b="1" dirty="0"/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2800" b="1" dirty="0"/>
              <a:t>SELECT </a:t>
            </a:r>
            <a:r>
              <a:rPr lang="en-US" altLang="zh-CN" sz="2800" b="1" dirty="0" err="1"/>
              <a:t>Sname，Sdept，Sage</a:t>
            </a:r>
            <a:endParaRPr lang="en-US" altLang="zh-CN" sz="2800" b="1" dirty="0"/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2800" b="1" dirty="0"/>
              <a:t>FROM    Student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800" b="1" dirty="0"/>
              <a:t>WHERE Sage NOT BETWEEN 20 AND 23；</a:t>
            </a:r>
            <a:r>
              <a:rPr lang="en-US" altLang="zh-CN" b="1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(3) 确定集合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使用谓词     </a:t>
            </a:r>
            <a:r>
              <a:rPr lang="en-US" altLang="zh-CN" sz="2800" b="1"/>
              <a:t>IN &lt;</a:t>
            </a:r>
            <a:r>
              <a:rPr lang="zh-CN" altLang="en-US" sz="2800" b="1"/>
              <a:t>值表&gt;,  </a:t>
            </a:r>
            <a:r>
              <a:rPr lang="en-US" altLang="zh-CN" sz="2800" b="1"/>
              <a:t>NOT IN &lt;</a:t>
            </a:r>
            <a:r>
              <a:rPr lang="zh-CN" altLang="en-US" sz="2800" b="1"/>
              <a:t>值表&gt;</a:t>
            </a:r>
          </a:p>
          <a:p>
            <a:pPr lvl="2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      &lt;值表&gt;：用逗号分隔的一组取值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[</a:t>
            </a:r>
            <a:r>
              <a:rPr lang="zh-CN" altLang="en-US" sz="2800" b="1">
                <a:ea typeface="黑体" panose="02010609060101010101" pitchFamily="49" charset="-122"/>
              </a:rPr>
              <a:t>例</a:t>
            </a:r>
            <a:r>
              <a:rPr lang="zh-CN" altLang="en-US" sz="2800" b="1"/>
              <a:t>12]查询信息系（</a:t>
            </a:r>
            <a:r>
              <a:rPr lang="en-US" altLang="zh-CN" sz="2800" b="1"/>
              <a:t>IS）、</a:t>
            </a:r>
            <a:r>
              <a:rPr lang="zh-CN" altLang="en-US" sz="2800" b="1"/>
              <a:t>数学系（</a:t>
            </a:r>
            <a:r>
              <a:rPr lang="en-US" altLang="zh-CN" sz="2800" b="1"/>
              <a:t>MA）</a:t>
            </a:r>
            <a:r>
              <a:rPr lang="zh-CN" altLang="en-US" sz="2800" b="1"/>
              <a:t>和计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      算机科学系（</a:t>
            </a:r>
            <a:r>
              <a:rPr lang="en-US" altLang="zh-CN" sz="2800" b="1"/>
              <a:t>CS）</a:t>
            </a:r>
            <a:r>
              <a:rPr lang="zh-CN" altLang="en-US" sz="2800" b="1"/>
              <a:t>学生的姓名和性别。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SELECT Sname，Ssex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FROM  Student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WHERE Sdept IN ( 'IS'，'MA'，'CS' );</a:t>
            </a:r>
            <a:endParaRPr lang="zh-CN" altLang="en-US" sz="32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(3) 确定集合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906588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[</a:t>
            </a:r>
            <a:r>
              <a:rPr lang="zh-CN" altLang="en-US" sz="2800" b="1">
                <a:ea typeface="黑体" panose="02010609060101010101" pitchFamily="49" charset="-122"/>
              </a:rPr>
              <a:t>例</a:t>
            </a:r>
            <a:r>
              <a:rPr lang="zh-CN" altLang="en-US" sz="2800" b="1"/>
              <a:t>13]查询既不是信息系、数学系，也不是计算 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       机科学系的学生的姓名和性别。</a:t>
            </a:r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SELECT Sname，Ssex</a:t>
            </a:r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FROM Student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	 WHERE Sdept </a:t>
            </a:r>
            <a:r>
              <a:rPr lang="en-US" altLang="zh-CN" sz="2800" b="1">
                <a:solidFill>
                  <a:schemeClr val="hlink"/>
                </a:solidFill>
              </a:rPr>
              <a:t>NOT</a:t>
            </a:r>
            <a:r>
              <a:rPr lang="en-US" altLang="zh-CN" sz="2800" b="1"/>
              <a:t> IN ( 'IS'，'MA'，'CS' 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(4) 字符串匹配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06588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190000"/>
              </a:lnSpc>
            </a:pPr>
            <a:r>
              <a:rPr lang="zh-CN" altLang="en-US" sz="2000" b="1"/>
              <a:t> </a:t>
            </a:r>
            <a:r>
              <a:rPr lang="zh-CN" altLang="en-US" sz="2400" b="1"/>
              <a:t>[</a:t>
            </a:r>
            <a:r>
              <a:rPr lang="en-US" altLang="zh-CN" sz="2400" b="1"/>
              <a:t>NOT] LIKE  </a:t>
            </a:r>
            <a:r>
              <a:rPr lang="en-US" altLang="zh-CN" sz="2400" b="1">
                <a:latin typeface="Times New Roman" panose="02020503050405090304" pitchFamily="18" charset="0"/>
              </a:rPr>
              <a:t>‘</a:t>
            </a:r>
            <a:r>
              <a:rPr lang="en-US" altLang="zh-CN" sz="2400" b="1"/>
              <a:t>&lt;</a:t>
            </a:r>
            <a:r>
              <a:rPr lang="zh-CN" altLang="en-US" sz="2400" b="1"/>
              <a:t>匹配串&gt;</a:t>
            </a:r>
            <a:r>
              <a:rPr lang="zh-CN" altLang="en-US" sz="2400" b="1">
                <a:latin typeface="Times New Roman" panose="02020503050405090304" pitchFamily="18" charset="0"/>
              </a:rPr>
              <a:t>’</a:t>
            </a:r>
            <a:r>
              <a:rPr lang="zh-CN" altLang="en-US" sz="2400" b="1"/>
              <a:t> </a:t>
            </a:r>
          </a:p>
          <a:p>
            <a:pPr marL="643255" lvl="1" indent="-109855" algn="just" eaLnBrk="1" hangingPunct="1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&lt;匹配串&gt;：指定匹配模板</a:t>
            </a: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匹配模板：固定字符串或含通配符的字符串</a:t>
            </a: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当匹配模板为固定字符串时，</a:t>
            </a: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  可以用 = 运算符取代 </a:t>
            </a:r>
            <a:r>
              <a:rPr lang="en-US" altLang="zh-CN" sz="2000" b="1"/>
              <a:t>LIKE </a:t>
            </a:r>
            <a:r>
              <a:rPr lang="zh-CN" altLang="en-US" sz="2000" b="1"/>
              <a:t>谓词</a:t>
            </a: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  用 != 或 &lt; &gt;运算符取代 </a:t>
            </a:r>
            <a:r>
              <a:rPr lang="en-US" altLang="zh-CN" sz="2000" b="1"/>
              <a:t>NOT LIKE </a:t>
            </a:r>
            <a:r>
              <a:rPr lang="zh-CN" altLang="en-US" sz="2000" b="1"/>
              <a:t>谓词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通配符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8800"/>
            <a:ext cx="7772400" cy="4114800"/>
          </a:xfrm>
        </p:spPr>
        <p:txBody>
          <a:bodyPr/>
          <a:lstStyle/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chemeClr val="hlink"/>
                </a:solidFill>
              </a:rPr>
              <a:t>% (百分号)  代表任意长度（长度可以为0）的字符串</a:t>
            </a:r>
          </a:p>
          <a:p>
            <a:pPr lvl="1" eaLnBrk="1" hangingPunct="1">
              <a:lnSpc>
                <a:spcPct val="180000"/>
              </a:lnSpc>
              <a:buFont typeface="Wingdings" panose="05000000000000000000" pitchFamily="2" charset="2"/>
              <a:buChar char="Ø"/>
            </a:pPr>
            <a:r>
              <a:rPr lang="zh-CN" altLang="en-US" sz="2400" b="1"/>
              <a:t>例：</a:t>
            </a:r>
            <a:r>
              <a:rPr lang="en-US" altLang="zh-CN" sz="2400" b="1"/>
              <a:t>a%b</a:t>
            </a:r>
            <a:r>
              <a:rPr lang="zh-CN" altLang="en-US" sz="2400" b="1"/>
              <a:t>表示以</a:t>
            </a:r>
            <a:r>
              <a:rPr lang="en-US" altLang="zh-CN" sz="2400" b="1"/>
              <a:t>a</a:t>
            </a:r>
            <a:r>
              <a:rPr lang="zh-CN" altLang="en-US" sz="2400" b="1"/>
              <a:t>开头，以</a:t>
            </a:r>
            <a:r>
              <a:rPr lang="en-US" altLang="zh-CN" sz="2400" b="1"/>
              <a:t>b</a:t>
            </a:r>
            <a:r>
              <a:rPr lang="zh-CN" altLang="en-US" sz="2400" b="1"/>
              <a:t>结尾的任意长度的字符串。如</a:t>
            </a:r>
            <a:r>
              <a:rPr lang="en-US" altLang="zh-CN" sz="2400" b="1"/>
              <a:t>aedcb，agb，ab </a:t>
            </a:r>
            <a:r>
              <a:rPr lang="zh-CN" altLang="en-US" sz="2400" b="1"/>
              <a:t>等都满足该匹配串</a:t>
            </a: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chemeClr val="hlink"/>
                </a:solidFill>
              </a:rPr>
              <a:t>_ (下横线)  代表任意单个字符</a:t>
            </a:r>
          </a:p>
          <a:p>
            <a:pPr lvl="1" eaLnBrk="1" hangingPunct="1">
              <a:lnSpc>
                <a:spcPct val="180000"/>
              </a:lnSpc>
              <a:buFont typeface="Wingdings" panose="05000000000000000000" pitchFamily="2" charset="2"/>
              <a:buChar char="Ø"/>
            </a:pPr>
            <a:r>
              <a:rPr lang="zh-CN" altLang="en-US" sz="2400" b="1"/>
              <a:t>例：</a:t>
            </a:r>
            <a:r>
              <a:rPr lang="en-US" altLang="zh-CN" sz="2400" b="1"/>
              <a:t>a_b</a:t>
            </a:r>
            <a:r>
              <a:rPr lang="zh-CN" altLang="en-US" sz="2400" b="1"/>
              <a:t>表示以</a:t>
            </a:r>
            <a:r>
              <a:rPr lang="en-US" altLang="zh-CN" sz="2400" b="1"/>
              <a:t>a</a:t>
            </a:r>
            <a:r>
              <a:rPr lang="zh-CN" altLang="en-US" sz="2400" b="1"/>
              <a:t>开头，以</a:t>
            </a:r>
            <a:r>
              <a:rPr lang="en-US" altLang="zh-CN" sz="2400" b="1"/>
              <a:t>b</a:t>
            </a:r>
            <a:r>
              <a:rPr lang="zh-CN" altLang="en-US" sz="2400" b="1"/>
              <a:t>结尾的长度为3的任意字符串。如</a:t>
            </a:r>
            <a:r>
              <a:rPr lang="en-US" altLang="zh-CN" sz="2400" b="1"/>
              <a:t>aeb，adb</a:t>
            </a:r>
            <a:r>
              <a:rPr lang="zh-CN" altLang="en-US" sz="2400" b="1"/>
              <a:t>等都满足该匹配串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例题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1) 匹配模板为固定字符串 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[</a:t>
            </a:r>
            <a:r>
              <a:rPr lang="zh-CN" altLang="en-US" b="1">
                <a:ea typeface="黑体" panose="02010609060101010101" pitchFamily="49" charset="-122"/>
              </a:rPr>
              <a:t>例</a:t>
            </a:r>
            <a:r>
              <a:rPr lang="zh-CN" altLang="en-US" b="1"/>
              <a:t>14]  查询学号为95001的学生的详细情况。</a:t>
            </a:r>
            <a:endParaRPr lang="zh-CN" altLang="en-US" sz="2400" b="1"/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</a:t>
            </a:r>
            <a:r>
              <a:rPr lang="en-US" altLang="zh-CN" b="1"/>
              <a:t>SELECT *    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FROM  Student  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WHERE  Sno LIKE '95001'；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等价于：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	    </a:t>
            </a:r>
            <a:r>
              <a:rPr lang="en-US" altLang="zh-CN" b="1"/>
              <a:t>SELECT  *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 FROM  Student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 WHERE Sno = '95001'；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例题（续）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2) 匹配模板为含通配符的字符串</a:t>
            </a:r>
            <a:endParaRPr lang="zh-CN" altLang="en-US" sz="3600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 b="1"/>
              <a:t>[</a:t>
            </a:r>
            <a:r>
              <a:rPr lang="zh-CN" altLang="en-US" sz="2800" b="1"/>
              <a:t>例15]  查询所有姓李的学生的姓名、学号和性别。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</a:t>
            </a:r>
            <a:r>
              <a:rPr lang="en-US" altLang="zh-CN" sz="2400" b="1"/>
              <a:t>SELECT Sname，Sno，Ssex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FROM Student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WHERE  Sname LIKE </a:t>
            </a:r>
            <a:r>
              <a:rPr lang="en-US" altLang="zh-CN" sz="2400" b="1">
                <a:latin typeface="Times New Roman" panose="02020503050405090304" pitchFamily="18" charset="0"/>
              </a:rPr>
              <a:t>‘</a:t>
            </a:r>
            <a:r>
              <a:rPr lang="zh-CN" altLang="en-US" sz="2400" b="1"/>
              <a:t>李%</a:t>
            </a:r>
            <a:r>
              <a:rPr lang="zh-CN" altLang="en-US" sz="2400" b="1">
                <a:latin typeface="Times New Roman" panose="02020503050405090304" pitchFamily="18" charset="0"/>
              </a:rPr>
              <a:t>’</a:t>
            </a:r>
            <a:r>
              <a:rPr lang="zh-CN" altLang="en-US" sz="2400" b="1"/>
              <a:t>；</a:t>
            </a:r>
            <a:endParaRPr lang="zh-CN" altLang="en-US" sz="2000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例题（续）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[例16]  查询姓"欧阳"且全名为三个汉字的学生的姓名。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</a:t>
            </a:r>
            <a:r>
              <a:rPr lang="en-US" altLang="zh-CN" sz="2400" b="1"/>
              <a:t>SELECT Sname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FROM   Student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WHERE  Sname LIKE </a:t>
            </a:r>
            <a:r>
              <a:rPr lang="en-US" altLang="zh-CN" sz="2400" b="1">
                <a:latin typeface="Times New Roman" panose="02020503050405090304" pitchFamily="18" charset="0"/>
              </a:rPr>
              <a:t>‘</a:t>
            </a:r>
            <a:r>
              <a:rPr lang="zh-CN" altLang="en-US" sz="2400" b="1"/>
              <a:t>欧阳_ _</a:t>
            </a:r>
            <a:r>
              <a:rPr lang="zh-CN" altLang="en-US" sz="2400" b="1">
                <a:latin typeface="Times New Roman" panose="02020503050405090304" pitchFamily="18" charset="0"/>
              </a:rPr>
              <a:t>’</a:t>
            </a:r>
            <a:r>
              <a:rPr lang="zh-CN" altLang="en-US" sz="2400" b="1"/>
              <a:t>；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b="1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hlink"/>
                </a:solidFill>
              </a:rPr>
              <a:t>      </a:t>
            </a:r>
          </a:p>
        </p:txBody>
      </p:sp>
      <p:grpSp>
        <p:nvGrpSpPr>
          <p:cNvPr id="2" name="Group 4"/>
          <p:cNvGrpSpPr/>
          <p:nvPr/>
        </p:nvGrpSpPr>
        <p:grpSpPr bwMode="auto">
          <a:xfrm>
            <a:off x="152400" y="5105400"/>
            <a:ext cx="7467600" cy="1447800"/>
            <a:chOff x="96" y="3216"/>
            <a:chExt cx="4704" cy="912"/>
          </a:xfrm>
        </p:grpSpPr>
        <p:grpSp>
          <p:nvGrpSpPr>
            <p:cNvPr id="64517" name="Group 5"/>
            <p:cNvGrpSpPr/>
            <p:nvPr/>
          </p:nvGrpSpPr>
          <p:grpSpPr bwMode="auto">
            <a:xfrm>
              <a:off x="96" y="3216"/>
              <a:ext cx="1008" cy="912"/>
              <a:chOff x="0" y="3672"/>
              <a:chExt cx="794" cy="648"/>
            </a:xfrm>
          </p:grpSpPr>
          <p:grpSp>
            <p:nvGrpSpPr>
              <p:cNvPr id="64519" name="Group 6"/>
              <p:cNvGrpSpPr/>
              <p:nvPr/>
            </p:nvGrpSpPr>
            <p:grpSpPr bwMode="auto">
              <a:xfrm>
                <a:off x="402" y="3672"/>
                <a:ext cx="392" cy="633"/>
                <a:chOff x="402" y="3672"/>
                <a:chExt cx="392" cy="633"/>
              </a:xfrm>
            </p:grpSpPr>
            <p:sp>
              <p:nvSpPr>
                <p:cNvPr id="64527" name="Freeform 7"/>
                <p:cNvSpPr/>
                <p:nvPr/>
              </p:nvSpPr>
              <p:spPr bwMode="auto">
                <a:xfrm>
                  <a:off x="433" y="3737"/>
                  <a:ext cx="322" cy="520"/>
                </a:xfrm>
                <a:custGeom>
                  <a:avLst/>
                  <a:gdLst>
                    <a:gd name="T0" fmla="*/ 206 w 322"/>
                    <a:gd name="T1" fmla="*/ 238 h 520"/>
                    <a:gd name="T2" fmla="*/ 210 w 322"/>
                    <a:gd name="T3" fmla="*/ 218 h 520"/>
                    <a:gd name="T4" fmla="*/ 221 w 322"/>
                    <a:gd name="T5" fmla="*/ 204 h 520"/>
                    <a:gd name="T6" fmla="*/ 250 w 322"/>
                    <a:gd name="T7" fmla="*/ 180 h 520"/>
                    <a:gd name="T8" fmla="*/ 267 w 322"/>
                    <a:gd name="T9" fmla="*/ 160 h 520"/>
                    <a:gd name="T10" fmla="*/ 293 w 322"/>
                    <a:gd name="T11" fmla="*/ 132 h 520"/>
                    <a:gd name="T12" fmla="*/ 309 w 322"/>
                    <a:gd name="T13" fmla="*/ 105 h 520"/>
                    <a:gd name="T14" fmla="*/ 321 w 322"/>
                    <a:gd name="T15" fmla="*/ 82 h 520"/>
                    <a:gd name="T16" fmla="*/ 319 w 322"/>
                    <a:gd name="T17" fmla="*/ 62 h 520"/>
                    <a:gd name="T18" fmla="*/ 311 w 322"/>
                    <a:gd name="T19" fmla="*/ 39 h 520"/>
                    <a:gd name="T20" fmla="*/ 297 w 322"/>
                    <a:gd name="T21" fmla="*/ 22 h 520"/>
                    <a:gd name="T22" fmla="*/ 278 w 322"/>
                    <a:gd name="T23" fmla="*/ 9 h 520"/>
                    <a:gd name="T24" fmla="*/ 250 w 322"/>
                    <a:gd name="T25" fmla="*/ 0 h 520"/>
                    <a:gd name="T26" fmla="*/ 136 w 322"/>
                    <a:gd name="T27" fmla="*/ 0 h 520"/>
                    <a:gd name="T28" fmla="*/ 64 w 322"/>
                    <a:gd name="T29" fmla="*/ 1 h 520"/>
                    <a:gd name="T30" fmla="*/ 49 w 322"/>
                    <a:gd name="T31" fmla="*/ 15 h 520"/>
                    <a:gd name="T32" fmla="*/ 35 w 322"/>
                    <a:gd name="T33" fmla="*/ 31 h 520"/>
                    <a:gd name="T34" fmla="*/ 19 w 322"/>
                    <a:gd name="T35" fmla="*/ 56 h 520"/>
                    <a:gd name="T36" fmla="*/ 18 w 322"/>
                    <a:gd name="T37" fmla="*/ 74 h 520"/>
                    <a:gd name="T38" fmla="*/ 24 w 322"/>
                    <a:gd name="T39" fmla="*/ 107 h 520"/>
                    <a:gd name="T40" fmla="*/ 40 w 322"/>
                    <a:gd name="T41" fmla="*/ 131 h 520"/>
                    <a:gd name="T42" fmla="*/ 65 w 322"/>
                    <a:gd name="T43" fmla="*/ 158 h 520"/>
                    <a:gd name="T44" fmla="*/ 87 w 322"/>
                    <a:gd name="T45" fmla="*/ 180 h 520"/>
                    <a:gd name="T46" fmla="*/ 114 w 322"/>
                    <a:gd name="T47" fmla="*/ 202 h 520"/>
                    <a:gd name="T48" fmla="*/ 127 w 322"/>
                    <a:gd name="T49" fmla="*/ 215 h 520"/>
                    <a:gd name="T50" fmla="*/ 136 w 322"/>
                    <a:gd name="T51" fmla="*/ 233 h 520"/>
                    <a:gd name="T52" fmla="*/ 136 w 322"/>
                    <a:gd name="T53" fmla="*/ 250 h 520"/>
                    <a:gd name="T54" fmla="*/ 132 w 322"/>
                    <a:gd name="T55" fmla="*/ 270 h 520"/>
                    <a:gd name="T56" fmla="*/ 114 w 322"/>
                    <a:gd name="T57" fmla="*/ 295 h 520"/>
                    <a:gd name="T58" fmla="*/ 86 w 322"/>
                    <a:gd name="T59" fmla="*/ 321 h 520"/>
                    <a:gd name="T60" fmla="*/ 60 w 322"/>
                    <a:gd name="T61" fmla="*/ 349 h 520"/>
                    <a:gd name="T62" fmla="*/ 44 w 322"/>
                    <a:gd name="T63" fmla="*/ 367 h 520"/>
                    <a:gd name="T64" fmla="*/ 26 w 322"/>
                    <a:gd name="T65" fmla="*/ 387 h 520"/>
                    <a:gd name="T66" fmla="*/ 8 w 322"/>
                    <a:gd name="T67" fmla="*/ 407 h 520"/>
                    <a:gd name="T68" fmla="*/ 0 w 322"/>
                    <a:gd name="T69" fmla="*/ 438 h 520"/>
                    <a:gd name="T70" fmla="*/ 5 w 322"/>
                    <a:gd name="T71" fmla="*/ 458 h 520"/>
                    <a:gd name="T72" fmla="*/ 11 w 322"/>
                    <a:gd name="T73" fmla="*/ 473 h 520"/>
                    <a:gd name="T74" fmla="*/ 29 w 322"/>
                    <a:gd name="T75" fmla="*/ 490 h 520"/>
                    <a:gd name="T76" fmla="*/ 49 w 322"/>
                    <a:gd name="T77" fmla="*/ 504 h 520"/>
                    <a:gd name="T78" fmla="*/ 63 w 322"/>
                    <a:gd name="T79" fmla="*/ 512 h 520"/>
                    <a:gd name="T80" fmla="*/ 91 w 322"/>
                    <a:gd name="T81" fmla="*/ 515 h 520"/>
                    <a:gd name="T82" fmla="*/ 109 w 322"/>
                    <a:gd name="T83" fmla="*/ 519 h 520"/>
                    <a:gd name="T84" fmla="*/ 218 w 322"/>
                    <a:gd name="T85" fmla="*/ 517 h 520"/>
                    <a:gd name="T86" fmla="*/ 241 w 322"/>
                    <a:gd name="T87" fmla="*/ 508 h 520"/>
                    <a:gd name="T88" fmla="*/ 284 w 322"/>
                    <a:gd name="T89" fmla="*/ 488 h 520"/>
                    <a:gd name="T90" fmla="*/ 302 w 322"/>
                    <a:gd name="T91" fmla="*/ 473 h 520"/>
                    <a:gd name="T92" fmla="*/ 311 w 322"/>
                    <a:gd name="T93" fmla="*/ 462 h 520"/>
                    <a:gd name="T94" fmla="*/ 316 w 322"/>
                    <a:gd name="T95" fmla="*/ 446 h 520"/>
                    <a:gd name="T96" fmla="*/ 317 w 322"/>
                    <a:gd name="T97" fmla="*/ 411 h 520"/>
                    <a:gd name="T98" fmla="*/ 317 w 322"/>
                    <a:gd name="T99" fmla="*/ 385 h 520"/>
                    <a:gd name="T100" fmla="*/ 309 w 322"/>
                    <a:gd name="T101" fmla="*/ 369 h 520"/>
                    <a:gd name="T102" fmla="*/ 298 w 322"/>
                    <a:gd name="T103" fmla="*/ 352 h 520"/>
                    <a:gd name="T104" fmla="*/ 275 w 322"/>
                    <a:gd name="T105" fmla="*/ 332 h 520"/>
                    <a:gd name="T106" fmla="*/ 259 w 322"/>
                    <a:gd name="T107" fmla="*/ 321 h 520"/>
                    <a:gd name="T108" fmla="*/ 233 w 322"/>
                    <a:gd name="T109" fmla="*/ 308 h 520"/>
                    <a:gd name="T110" fmla="*/ 218 w 322"/>
                    <a:gd name="T111" fmla="*/ 295 h 520"/>
                    <a:gd name="T112" fmla="*/ 213 w 322"/>
                    <a:gd name="T113" fmla="*/ 277 h 520"/>
                    <a:gd name="T114" fmla="*/ 208 w 322"/>
                    <a:gd name="T115" fmla="*/ 255 h 520"/>
                    <a:gd name="T116" fmla="*/ 206 w 322"/>
                    <a:gd name="T117" fmla="*/ 233 h 520"/>
                    <a:gd name="T118" fmla="*/ 206 w 322"/>
                    <a:gd name="T119" fmla="*/ 238 h 520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w 322"/>
                    <a:gd name="T181" fmla="*/ 0 h 520"/>
                    <a:gd name="T182" fmla="*/ 322 w 322"/>
                    <a:gd name="T183" fmla="*/ 520 h 520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T180" t="T181" r="T182" b="T183"/>
                  <a:pathLst>
                    <a:path w="322" h="520">
                      <a:moveTo>
                        <a:pt x="206" y="238"/>
                      </a:moveTo>
                      <a:lnTo>
                        <a:pt x="210" y="218"/>
                      </a:lnTo>
                      <a:lnTo>
                        <a:pt x="221" y="204"/>
                      </a:lnTo>
                      <a:lnTo>
                        <a:pt x="250" y="180"/>
                      </a:lnTo>
                      <a:lnTo>
                        <a:pt x="267" y="160"/>
                      </a:lnTo>
                      <a:lnTo>
                        <a:pt x="293" y="132"/>
                      </a:lnTo>
                      <a:lnTo>
                        <a:pt x="309" y="105"/>
                      </a:lnTo>
                      <a:lnTo>
                        <a:pt x="321" y="82"/>
                      </a:lnTo>
                      <a:lnTo>
                        <a:pt x="319" y="62"/>
                      </a:lnTo>
                      <a:lnTo>
                        <a:pt x="311" y="39"/>
                      </a:lnTo>
                      <a:lnTo>
                        <a:pt x="297" y="22"/>
                      </a:lnTo>
                      <a:lnTo>
                        <a:pt x="278" y="9"/>
                      </a:lnTo>
                      <a:lnTo>
                        <a:pt x="250" y="0"/>
                      </a:lnTo>
                      <a:lnTo>
                        <a:pt x="136" y="0"/>
                      </a:lnTo>
                      <a:lnTo>
                        <a:pt x="64" y="1"/>
                      </a:lnTo>
                      <a:lnTo>
                        <a:pt x="49" y="15"/>
                      </a:lnTo>
                      <a:lnTo>
                        <a:pt x="35" y="31"/>
                      </a:lnTo>
                      <a:lnTo>
                        <a:pt x="19" y="56"/>
                      </a:lnTo>
                      <a:lnTo>
                        <a:pt x="18" y="74"/>
                      </a:lnTo>
                      <a:lnTo>
                        <a:pt x="24" y="107"/>
                      </a:lnTo>
                      <a:lnTo>
                        <a:pt x="40" y="131"/>
                      </a:lnTo>
                      <a:lnTo>
                        <a:pt x="65" y="158"/>
                      </a:lnTo>
                      <a:lnTo>
                        <a:pt x="87" y="180"/>
                      </a:lnTo>
                      <a:lnTo>
                        <a:pt x="114" y="202"/>
                      </a:lnTo>
                      <a:lnTo>
                        <a:pt x="127" y="215"/>
                      </a:lnTo>
                      <a:lnTo>
                        <a:pt x="136" y="233"/>
                      </a:lnTo>
                      <a:lnTo>
                        <a:pt x="136" y="250"/>
                      </a:lnTo>
                      <a:lnTo>
                        <a:pt x="132" y="270"/>
                      </a:lnTo>
                      <a:lnTo>
                        <a:pt x="114" y="295"/>
                      </a:lnTo>
                      <a:lnTo>
                        <a:pt x="86" y="321"/>
                      </a:lnTo>
                      <a:lnTo>
                        <a:pt x="60" y="349"/>
                      </a:lnTo>
                      <a:lnTo>
                        <a:pt x="44" y="367"/>
                      </a:lnTo>
                      <a:lnTo>
                        <a:pt x="26" y="387"/>
                      </a:lnTo>
                      <a:lnTo>
                        <a:pt x="8" y="407"/>
                      </a:lnTo>
                      <a:lnTo>
                        <a:pt x="0" y="438"/>
                      </a:lnTo>
                      <a:lnTo>
                        <a:pt x="5" y="458"/>
                      </a:lnTo>
                      <a:lnTo>
                        <a:pt x="11" y="473"/>
                      </a:lnTo>
                      <a:lnTo>
                        <a:pt x="29" y="490"/>
                      </a:lnTo>
                      <a:lnTo>
                        <a:pt x="49" y="504"/>
                      </a:lnTo>
                      <a:lnTo>
                        <a:pt x="63" y="512"/>
                      </a:lnTo>
                      <a:lnTo>
                        <a:pt x="91" y="515"/>
                      </a:lnTo>
                      <a:lnTo>
                        <a:pt x="109" y="519"/>
                      </a:lnTo>
                      <a:lnTo>
                        <a:pt x="218" y="517"/>
                      </a:lnTo>
                      <a:lnTo>
                        <a:pt x="241" y="508"/>
                      </a:lnTo>
                      <a:lnTo>
                        <a:pt x="284" y="488"/>
                      </a:lnTo>
                      <a:lnTo>
                        <a:pt x="302" y="473"/>
                      </a:lnTo>
                      <a:lnTo>
                        <a:pt x="311" y="462"/>
                      </a:lnTo>
                      <a:lnTo>
                        <a:pt x="316" y="446"/>
                      </a:lnTo>
                      <a:lnTo>
                        <a:pt x="317" y="411"/>
                      </a:lnTo>
                      <a:lnTo>
                        <a:pt x="317" y="385"/>
                      </a:lnTo>
                      <a:lnTo>
                        <a:pt x="309" y="369"/>
                      </a:lnTo>
                      <a:lnTo>
                        <a:pt x="298" y="352"/>
                      </a:lnTo>
                      <a:lnTo>
                        <a:pt x="275" y="332"/>
                      </a:lnTo>
                      <a:lnTo>
                        <a:pt x="259" y="321"/>
                      </a:lnTo>
                      <a:lnTo>
                        <a:pt x="233" y="308"/>
                      </a:lnTo>
                      <a:lnTo>
                        <a:pt x="218" y="295"/>
                      </a:lnTo>
                      <a:lnTo>
                        <a:pt x="213" y="277"/>
                      </a:lnTo>
                      <a:lnTo>
                        <a:pt x="208" y="255"/>
                      </a:lnTo>
                      <a:lnTo>
                        <a:pt x="206" y="233"/>
                      </a:lnTo>
                      <a:lnTo>
                        <a:pt x="206" y="238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28" name="Freeform 8" descr="大纸屑"/>
                <p:cNvSpPr/>
                <p:nvPr/>
              </p:nvSpPr>
              <p:spPr bwMode="auto">
                <a:xfrm>
                  <a:off x="474" y="3838"/>
                  <a:ext cx="256" cy="419"/>
                </a:xfrm>
                <a:custGeom>
                  <a:avLst/>
                  <a:gdLst>
                    <a:gd name="T0" fmla="*/ 255 w 256"/>
                    <a:gd name="T1" fmla="*/ 15 h 419"/>
                    <a:gd name="T2" fmla="*/ 236 w 256"/>
                    <a:gd name="T3" fmla="*/ 10 h 419"/>
                    <a:gd name="T4" fmla="*/ 218 w 256"/>
                    <a:gd name="T5" fmla="*/ 5 h 419"/>
                    <a:gd name="T6" fmla="*/ 199 w 256"/>
                    <a:gd name="T7" fmla="*/ 0 h 419"/>
                    <a:gd name="T8" fmla="*/ 180 w 256"/>
                    <a:gd name="T9" fmla="*/ 7 h 419"/>
                    <a:gd name="T10" fmla="*/ 167 w 256"/>
                    <a:gd name="T11" fmla="*/ 17 h 419"/>
                    <a:gd name="T12" fmla="*/ 137 w 256"/>
                    <a:gd name="T13" fmla="*/ 19 h 419"/>
                    <a:gd name="T14" fmla="*/ 106 w 256"/>
                    <a:gd name="T15" fmla="*/ 15 h 419"/>
                    <a:gd name="T16" fmla="*/ 92 w 256"/>
                    <a:gd name="T17" fmla="*/ 13 h 419"/>
                    <a:gd name="T18" fmla="*/ 67 w 256"/>
                    <a:gd name="T19" fmla="*/ 21 h 419"/>
                    <a:gd name="T20" fmla="*/ 38 w 256"/>
                    <a:gd name="T21" fmla="*/ 22 h 419"/>
                    <a:gd name="T22" fmla="*/ 16 w 256"/>
                    <a:gd name="T23" fmla="*/ 17 h 419"/>
                    <a:gd name="T24" fmla="*/ 0 w 256"/>
                    <a:gd name="T25" fmla="*/ 17 h 419"/>
                    <a:gd name="T26" fmla="*/ 1 w 256"/>
                    <a:gd name="T27" fmla="*/ 26 h 419"/>
                    <a:gd name="T28" fmla="*/ 22 w 256"/>
                    <a:gd name="T29" fmla="*/ 49 h 419"/>
                    <a:gd name="T30" fmla="*/ 46 w 256"/>
                    <a:gd name="T31" fmla="*/ 70 h 419"/>
                    <a:gd name="T32" fmla="*/ 76 w 256"/>
                    <a:gd name="T33" fmla="*/ 97 h 419"/>
                    <a:gd name="T34" fmla="*/ 97 w 256"/>
                    <a:gd name="T35" fmla="*/ 122 h 419"/>
                    <a:gd name="T36" fmla="*/ 113 w 256"/>
                    <a:gd name="T37" fmla="*/ 143 h 419"/>
                    <a:gd name="T38" fmla="*/ 116 w 256"/>
                    <a:gd name="T39" fmla="*/ 175 h 419"/>
                    <a:gd name="T40" fmla="*/ 119 w 256"/>
                    <a:gd name="T41" fmla="*/ 230 h 419"/>
                    <a:gd name="T42" fmla="*/ 115 w 256"/>
                    <a:gd name="T43" fmla="*/ 279 h 419"/>
                    <a:gd name="T44" fmla="*/ 104 w 256"/>
                    <a:gd name="T45" fmla="*/ 309 h 419"/>
                    <a:gd name="T46" fmla="*/ 70 w 256"/>
                    <a:gd name="T47" fmla="*/ 341 h 419"/>
                    <a:gd name="T48" fmla="*/ 36 w 256"/>
                    <a:gd name="T49" fmla="*/ 372 h 419"/>
                    <a:gd name="T50" fmla="*/ 25 w 256"/>
                    <a:gd name="T51" fmla="*/ 387 h 419"/>
                    <a:gd name="T52" fmla="*/ 21 w 256"/>
                    <a:gd name="T53" fmla="*/ 401 h 419"/>
                    <a:gd name="T54" fmla="*/ 43 w 256"/>
                    <a:gd name="T55" fmla="*/ 410 h 419"/>
                    <a:gd name="T56" fmla="*/ 95 w 256"/>
                    <a:gd name="T57" fmla="*/ 418 h 419"/>
                    <a:gd name="T58" fmla="*/ 140 w 256"/>
                    <a:gd name="T59" fmla="*/ 417 h 419"/>
                    <a:gd name="T60" fmla="*/ 172 w 256"/>
                    <a:gd name="T61" fmla="*/ 412 h 419"/>
                    <a:gd name="T62" fmla="*/ 203 w 256"/>
                    <a:gd name="T63" fmla="*/ 401 h 419"/>
                    <a:gd name="T64" fmla="*/ 218 w 256"/>
                    <a:gd name="T65" fmla="*/ 395 h 419"/>
                    <a:gd name="T66" fmla="*/ 202 w 256"/>
                    <a:gd name="T67" fmla="*/ 369 h 419"/>
                    <a:gd name="T68" fmla="*/ 182 w 256"/>
                    <a:gd name="T69" fmla="*/ 348 h 419"/>
                    <a:gd name="T70" fmla="*/ 158 w 256"/>
                    <a:gd name="T71" fmla="*/ 323 h 419"/>
                    <a:gd name="T72" fmla="*/ 142 w 256"/>
                    <a:gd name="T73" fmla="*/ 296 h 419"/>
                    <a:gd name="T74" fmla="*/ 135 w 256"/>
                    <a:gd name="T75" fmla="*/ 255 h 419"/>
                    <a:gd name="T76" fmla="*/ 132 w 256"/>
                    <a:gd name="T77" fmla="*/ 213 h 419"/>
                    <a:gd name="T78" fmla="*/ 137 w 256"/>
                    <a:gd name="T79" fmla="*/ 172 h 419"/>
                    <a:gd name="T80" fmla="*/ 142 w 256"/>
                    <a:gd name="T81" fmla="*/ 142 h 419"/>
                    <a:gd name="T82" fmla="*/ 159 w 256"/>
                    <a:gd name="T83" fmla="*/ 117 h 419"/>
                    <a:gd name="T84" fmla="*/ 186 w 256"/>
                    <a:gd name="T85" fmla="*/ 92 h 419"/>
                    <a:gd name="T86" fmla="*/ 215 w 256"/>
                    <a:gd name="T87" fmla="*/ 68 h 419"/>
                    <a:gd name="T88" fmla="*/ 236 w 256"/>
                    <a:gd name="T89" fmla="*/ 40 h 419"/>
                    <a:gd name="T90" fmla="*/ 255 w 256"/>
                    <a:gd name="T91" fmla="*/ 24 h 419"/>
                    <a:gd name="T92" fmla="*/ 255 w 256"/>
                    <a:gd name="T93" fmla="*/ 15 h 419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256"/>
                    <a:gd name="T142" fmla="*/ 0 h 419"/>
                    <a:gd name="T143" fmla="*/ 256 w 256"/>
                    <a:gd name="T144" fmla="*/ 419 h 419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256" h="419">
                      <a:moveTo>
                        <a:pt x="255" y="15"/>
                      </a:moveTo>
                      <a:lnTo>
                        <a:pt x="236" y="10"/>
                      </a:lnTo>
                      <a:lnTo>
                        <a:pt x="218" y="5"/>
                      </a:lnTo>
                      <a:lnTo>
                        <a:pt x="199" y="0"/>
                      </a:lnTo>
                      <a:lnTo>
                        <a:pt x="180" y="7"/>
                      </a:lnTo>
                      <a:lnTo>
                        <a:pt x="167" y="17"/>
                      </a:lnTo>
                      <a:lnTo>
                        <a:pt x="137" y="19"/>
                      </a:lnTo>
                      <a:lnTo>
                        <a:pt x="106" y="15"/>
                      </a:lnTo>
                      <a:lnTo>
                        <a:pt x="92" y="13"/>
                      </a:lnTo>
                      <a:lnTo>
                        <a:pt x="67" y="21"/>
                      </a:lnTo>
                      <a:lnTo>
                        <a:pt x="38" y="22"/>
                      </a:lnTo>
                      <a:lnTo>
                        <a:pt x="16" y="17"/>
                      </a:lnTo>
                      <a:lnTo>
                        <a:pt x="0" y="17"/>
                      </a:lnTo>
                      <a:lnTo>
                        <a:pt x="1" y="26"/>
                      </a:lnTo>
                      <a:lnTo>
                        <a:pt x="22" y="49"/>
                      </a:lnTo>
                      <a:lnTo>
                        <a:pt x="46" y="70"/>
                      </a:lnTo>
                      <a:lnTo>
                        <a:pt x="76" y="97"/>
                      </a:lnTo>
                      <a:lnTo>
                        <a:pt x="97" y="122"/>
                      </a:lnTo>
                      <a:lnTo>
                        <a:pt x="113" y="143"/>
                      </a:lnTo>
                      <a:lnTo>
                        <a:pt x="116" y="175"/>
                      </a:lnTo>
                      <a:lnTo>
                        <a:pt x="119" y="230"/>
                      </a:lnTo>
                      <a:lnTo>
                        <a:pt x="115" y="279"/>
                      </a:lnTo>
                      <a:lnTo>
                        <a:pt x="104" y="309"/>
                      </a:lnTo>
                      <a:lnTo>
                        <a:pt x="70" y="341"/>
                      </a:lnTo>
                      <a:lnTo>
                        <a:pt x="36" y="372"/>
                      </a:lnTo>
                      <a:lnTo>
                        <a:pt x="25" y="387"/>
                      </a:lnTo>
                      <a:lnTo>
                        <a:pt x="21" y="401"/>
                      </a:lnTo>
                      <a:lnTo>
                        <a:pt x="43" y="410"/>
                      </a:lnTo>
                      <a:lnTo>
                        <a:pt x="95" y="418"/>
                      </a:lnTo>
                      <a:lnTo>
                        <a:pt x="140" y="417"/>
                      </a:lnTo>
                      <a:lnTo>
                        <a:pt x="172" y="412"/>
                      </a:lnTo>
                      <a:lnTo>
                        <a:pt x="203" y="401"/>
                      </a:lnTo>
                      <a:lnTo>
                        <a:pt x="218" y="395"/>
                      </a:lnTo>
                      <a:lnTo>
                        <a:pt x="202" y="369"/>
                      </a:lnTo>
                      <a:lnTo>
                        <a:pt x="182" y="348"/>
                      </a:lnTo>
                      <a:lnTo>
                        <a:pt x="158" y="323"/>
                      </a:lnTo>
                      <a:lnTo>
                        <a:pt x="142" y="296"/>
                      </a:lnTo>
                      <a:lnTo>
                        <a:pt x="135" y="255"/>
                      </a:lnTo>
                      <a:lnTo>
                        <a:pt x="132" y="213"/>
                      </a:lnTo>
                      <a:lnTo>
                        <a:pt x="137" y="172"/>
                      </a:lnTo>
                      <a:lnTo>
                        <a:pt x="142" y="142"/>
                      </a:lnTo>
                      <a:lnTo>
                        <a:pt x="159" y="117"/>
                      </a:lnTo>
                      <a:lnTo>
                        <a:pt x="186" y="92"/>
                      </a:lnTo>
                      <a:lnTo>
                        <a:pt x="215" y="68"/>
                      </a:lnTo>
                      <a:lnTo>
                        <a:pt x="236" y="40"/>
                      </a:lnTo>
                      <a:lnTo>
                        <a:pt x="255" y="24"/>
                      </a:lnTo>
                      <a:lnTo>
                        <a:pt x="255" y="15"/>
                      </a:lnTo>
                    </a:path>
                  </a:pathLst>
                </a:custGeom>
                <a:pattFill prst="lgConfetti">
                  <a:fgClr>
                    <a:srgbClr val="B2B2B2"/>
                  </a:fgClr>
                  <a:bgClr>
                    <a:srgbClr val="FFFFFF"/>
                  </a:bgClr>
                </a:patt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29" name="Freeform 9"/>
                <p:cNvSpPr/>
                <p:nvPr/>
              </p:nvSpPr>
              <p:spPr bwMode="auto">
                <a:xfrm>
                  <a:off x="426" y="3730"/>
                  <a:ext cx="338" cy="533"/>
                </a:xfrm>
                <a:custGeom>
                  <a:avLst/>
                  <a:gdLst>
                    <a:gd name="T0" fmla="*/ 308 w 338"/>
                    <a:gd name="T1" fmla="*/ 494 h 533"/>
                    <a:gd name="T2" fmla="*/ 332 w 338"/>
                    <a:gd name="T3" fmla="*/ 449 h 533"/>
                    <a:gd name="T4" fmla="*/ 329 w 338"/>
                    <a:gd name="T5" fmla="*/ 386 h 533"/>
                    <a:gd name="T6" fmla="*/ 296 w 338"/>
                    <a:gd name="T7" fmla="*/ 342 h 533"/>
                    <a:gd name="T8" fmla="*/ 245 w 338"/>
                    <a:gd name="T9" fmla="*/ 310 h 533"/>
                    <a:gd name="T10" fmla="*/ 224 w 338"/>
                    <a:gd name="T11" fmla="*/ 278 h 533"/>
                    <a:gd name="T12" fmla="*/ 221 w 338"/>
                    <a:gd name="T13" fmla="*/ 239 h 533"/>
                    <a:gd name="T14" fmla="*/ 251 w 338"/>
                    <a:gd name="T15" fmla="*/ 202 h 533"/>
                    <a:gd name="T16" fmla="*/ 292 w 338"/>
                    <a:gd name="T17" fmla="*/ 160 h 533"/>
                    <a:gd name="T18" fmla="*/ 331 w 338"/>
                    <a:gd name="T19" fmla="*/ 101 h 533"/>
                    <a:gd name="T20" fmla="*/ 332 w 338"/>
                    <a:gd name="T21" fmla="*/ 67 h 533"/>
                    <a:gd name="T22" fmla="*/ 304 w 338"/>
                    <a:gd name="T23" fmla="*/ 23 h 533"/>
                    <a:gd name="T24" fmla="*/ 262 w 338"/>
                    <a:gd name="T25" fmla="*/ 1 h 533"/>
                    <a:gd name="T26" fmla="*/ 264 w 338"/>
                    <a:gd name="T27" fmla="*/ 16 h 533"/>
                    <a:gd name="T28" fmla="*/ 308 w 338"/>
                    <a:gd name="T29" fmla="*/ 46 h 533"/>
                    <a:gd name="T30" fmla="*/ 318 w 338"/>
                    <a:gd name="T31" fmla="*/ 90 h 533"/>
                    <a:gd name="T32" fmla="*/ 283 w 338"/>
                    <a:gd name="T33" fmla="*/ 145 h 533"/>
                    <a:gd name="T34" fmla="*/ 245 w 338"/>
                    <a:gd name="T35" fmla="*/ 187 h 533"/>
                    <a:gd name="T36" fmla="*/ 207 w 338"/>
                    <a:gd name="T37" fmla="*/ 224 h 533"/>
                    <a:gd name="T38" fmla="*/ 205 w 338"/>
                    <a:gd name="T39" fmla="*/ 268 h 533"/>
                    <a:gd name="T40" fmla="*/ 218 w 338"/>
                    <a:gd name="T41" fmla="*/ 308 h 533"/>
                    <a:gd name="T42" fmla="*/ 261 w 338"/>
                    <a:gd name="T43" fmla="*/ 334 h 533"/>
                    <a:gd name="T44" fmla="*/ 307 w 338"/>
                    <a:gd name="T45" fmla="*/ 375 h 533"/>
                    <a:gd name="T46" fmla="*/ 316 w 338"/>
                    <a:gd name="T47" fmla="*/ 434 h 533"/>
                    <a:gd name="T48" fmla="*/ 304 w 338"/>
                    <a:gd name="T49" fmla="*/ 472 h 533"/>
                    <a:gd name="T50" fmla="*/ 262 w 338"/>
                    <a:gd name="T51" fmla="*/ 498 h 533"/>
                    <a:gd name="T52" fmla="*/ 210 w 338"/>
                    <a:gd name="T53" fmla="*/ 518 h 533"/>
                    <a:gd name="T54" fmla="*/ 98 w 338"/>
                    <a:gd name="T55" fmla="*/ 516 h 533"/>
                    <a:gd name="T56" fmla="*/ 39 w 338"/>
                    <a:gd name="T57" fmla="*/ 488 h 533"/>
                    <a:gd name="T58" fmla="*/ 17 w 338"/>
                    <a:gd name="T59" fmla="*/ 444 h 533"/>
                    <a:gd name="T60" fmla="*/ 33 w 338"/>
                    <a:gd name="T61" fmla="*/ 408 h 533"/>
                    <a:gd name="T62" fmla="*/ 80 w 338"/>
                    <a:gd name="T63" fmla="*/ 354 h 533"/>
                    <a:gd name="T64" fmla="*/ 131 w 338"/>
                    <a:gd name="T65" fmla="*/ 303 h 533"/>
                    <a:gd name="T66" fmla="*/ 150 w 338"/>
                    <a:gd name="T67" fmla="*/ 260 h 533"/>
                    <a:gd name="T68" fmla="*/ 141 w 338"/>
                    <a:gd name="T69" fmla="*/ 215 h 533"/>
                    <a:gd name="T70" fmla="*/ 80 w 338"/>
                    <a:gd name="T71" fmla="*/ 161 h 533"/>
                    <a:gd name="T72" fmla="*/ 39 w 338"/>
                    <a:gd name="T73" fmla="*/ 103 h 533"/>
                    <a:gd name="T74" fmla="*/ 42 w 338"/>
                    <a:gd name="T75" fmla="*/ 52 h 533"/>
                    <a:gd name="T76" fmla="*/ 85 w 338"/>
                    <a:gd name="T77" fmla="*/ 16 h 533"/>
                    <a:gd name="T78" fmla="*/ 242 w 338"/>
                    <a:gd name="T79" fmla="*/ 11 h 533"/>
                    <a:gd name="T80" fmla="*/ 71 w 338"/>
                    <a:gd name="T81" fmla="*/ 5 h 533"/>
                    <a:gd name="T82" fmla="*/ 37 w 338"/>
                    <a:gd name="T83" fmla="*/ 32 h 533"/>
                    <a:gd name="T84" fmla="*/ 20 w 338"/>
                    <a:gd name="T85" fmla="*/ 80 h 533"/>
                    <a:gd name="T86" fmla="*/ 37 w 338"/>
                    <a:gd name="T87" fmla="*/ 134 h 533"/>
                    <a:gd name="T88" fmla="*/ 86 w 338"/>
                    <a:gd name="T89" fmla="*/ 186 h 533"/>
                    <a:gd name="T90" fmla="*/ 132 w 338"/>
                    <a:gd name="T91" fmla="*/ 231 h 533"/>
                    <a:gd name="T92" fmla="*/ 131 w 338"/>
                    <a:gd name="T93" fmla="*/ 275 h 533"/>
                    <a:gd name="T94" fmla="*/ 80 w 338"/>
                    <a:gd name="T95" fmla="*/ 331 h 533"/>
                    <a:gd name="T96" fmla="*/ 21 w 338"/>
                    <a:gd name="T97" fmla="*/ 396 h 533"/>
                    <a:gd name="T98" fmla="*/ 0 w 338"/>
                    <a:gd name="T99" fmla="*/ 446 h 533"/>
                    <a:gd name="T100" fmla="*/ 20 w 338"/>
                    <a:gd name="T101" fmla="*/ 494 h 533"/>
                    <a:gd name="T102" fmla="*/ 80 w 338"/>
                    <a:gd name="T103" fmla="*/ 528 h 533"/>
                    <a:gd name="T104" fmla="*/ 210 w 338"/>
                    <a:gd name="T105" fmla="*/ 532 h 533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338"/>
                    <a:gd name="T160" fmla="*/ 0 h 533"/>
                    <a:gd name="T161" fmla="*/ 338 w 338"/>
                    <a:gd name="T162" fmla="*/ 533 h 533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338" h="533">
                      <a:moveTo>
                        <a:pt x="255" y="520"/>
                      </a:moveTo>
                      <a:lnTo>
                        <a:pt x="283" y="508"/>
                      </a:lnTo>
                      <a:lnTo>
                        <a:pt x="308" y="494"/>
                      </a:lnTo>
                      <a:lnTo>
                        <a:pt x="320" y="481"/>
                      </a:lnTo>
                      <a:lnTo>
                        <a:pt x="328" y="465"/>
                      </a:lnTo>
                      <a:lnTo>
                        <a:pt x="332" y="449"/>
                      </a:lnTo>
                      <a:lnTo>
                        <a:pt x="334" y="428"/>
                      </a:lnTo>
                      <a:lnTo>
                        <a:pt x="332" y="404"/>
                      </a:lnTo>
                      <a:lnTo>
                        <a:pt x="329" y="386"/>
                      </a:lnTo>
                      <a:lnTo>
                        <a:pt x="323" y="372"/>
                      </a:lnTo>
                      <a:lnTo>
                        <a:pt x="310" y="355"/>
                      </a:lnTo>
                      <a:lnTo>
                        <a:pt x="296" y="342"/>
                      </a:lnTo>
                      <a:lnTo>
                        <a:pt x="285" y="331"/>
                      </a:lnTo>
                      <a:lnTo>
                        <a:pt x="264" y="319"/>
                      </a:lnTo>
                      <a:lnTo>
                        <a:pt x="245" y="310"/>
                      </a:lnTo>
                      <a:lnTo>
                        <a:pt x="236" y="303"/>
                      </a:lnTo>
                      <a:lnTo>
                        <a:pt x="229" y="293"/>
                      </a:lnTo>
                      <a:lnTo>
                        <a:pt x="224" y="278"/>
                      </a:lnTo>
                      <a:lnTo>
                        <a:pt x="221" y="266"/>
                      </a:lnTo>
                      <a:lnTo>
                        <a:pt x="221" y="252"/>
                      </a:lnTo>
                      <a:lnTo>
                        <a:pt x="221" y="239"/>
                      </a:lnTo>
                      <a:lnTo>
                        <a:pt x="224" y="229"/>
                      </a:lnTo>
                      <a:lnTo>
                        <a:pt x="236" y="213"/>
                      </a:lnTo>
                      <a:lnTo>
                        <a:pt x="251" y="202"/>
                      </a:lnTo>
                      <a:lnTo>
                        <a:pt x="264" y="191"/>
                      </a:lnTo>
                      <a:lnTo>
                        <a:pt x="277" y="176"/>
                      </a:lnTo>
                      <a:lnTo>
                        <a:pt x="292" y="160"/>
                      </a:lnTo>
                      <a:lnTo>
                        <a:pt x="310" y="140"/>
                      </a:lnTo>
                      <a:lnTo>
                        <a:pt x="320" y="120"/>
                      </a:lnTo>
                      <a:lnTo>
                        <a:pt x="331" y="101"/>
                      </a:lnTo>
                      <a:lnTo>
                        <a:pt x="337" y="89"/>
                      </a:lnTo>
                      <a:lnTo>
                        <a:pt x="337" y="77"/>
                      </a:lnTo>
                      <a:lnTo>
                        <a:pt x="332" y="67"/>
                      </a:lnTo>
                      <a:lnTo>
                        <a:pt x="327" y="47"/>
                      </a:lnTo>
                      <a:lnTo>
                        <a:pt x="316" y="33"/>
                      </a:lnTo>
                      <a:lnTo>
                        <a:pt x="304" y="23"/>
                      </a:lnTo>
                      <a:lnTo>
                        <a:pt x="292" y="12"/>
                      </a:lnTo>
                      <a:lnTo>
                        <a:pt x="277" y="5"/>
                      </a:lnTo>
                      <a:lnTo>
                        <a:pt x="262" y="1"/>
                      </a:lnTo>
                      <a:lnTo>
                        <a:pt x="224" y="0"/>
                      </a:lnTo>
                      <a:lnTo>
                        <a:pt x="242" y="10"/>
                      </a:lnTo>
                      <a:lnTo>
                        <a:pt x="264" y="16"/>
                      </a:lnTo>
                      <a:lnTo>
                        <a:pt x="286" y="25"/>
                      </a:lnTo>
                      <a:lnTo>
                        <a:pt x="299" y="35"/>
                      </a:lnTo>
                      <a:lnTo>
                        <a:pt x="308" y="46"/>
                      </a:lnTo>
                      <a:lnTo>
                        <a:pt x="313" y="62"/>
                      </a:lnTo>
                      <a:lnTo>
                        <a:pt x="318" y="76"/>
                      </a:lnTo>
                      <a:lnTo>
                        <a:pt x="318" y="90"/>
                      </a:lnTo>
                      <a:lnTo>
                        <a:pt x="308" y="113"/>
                      </a:lnTo>
                      <a:lnTo>
                        <a:pt x="297" y="127"/>
                      </a:lnTo>
                      <a:lnTo>
                        <a:pt x="283" y="145"/>
                      </a:lnTo>
                      <a:lnTo>
                        <a:pt x="273" y="156"/>
                      </a:lnTo>
                      <a:lnTo>
                        <a:pt x="261" y="174"/>
                      </a:lnTo>
                      <a:lnTo>
                        <a:pt x="245" y="187"/>
                      </a:lnTo>
                      <a:lnTo>
                        <a:pt x="229" y="200"/>
                      </a:lnTo>
                      <a:lnTo>
                        <a:pt x="218" y="208"/>
                      </a:lnTo>
                      <a:lnTo>
                        <a:pt x="207" y="224"/>
                      </a:lnTo>
                      <a:lnTo>
                        <a:pt x="205" y="238"/>
                      </a:lnTo>
                      <a:lnTo>
                        <a:pt x="204" y="251"/>
                      </a:lnTo>
                      <a:lnTo>
                        <a:pt x="205" y="268"/>
                      </a:lnTo>
                      <a:lnTo>
                        <a:pt x="208" y="282"/>
                      </a:lnTo>
                      <a:lnTo>
                        <a:pt x="213" y="297"/>
                      </a:lnTo>
                      <a:lnTo>
                        <a:pt x="218" y="308"/>
                      </a:lnTo>
                      <a:lnTo>
                        <a:pt x="231" y="318"/>
                      </a:lnTo>
                      <a:lnTo>
                        <a:pt x="243" y="325"/>
                      </a:lnTo>
                      <a:lnTo>
                        <a:pt x="261" y="334"/>
                      </a:lnTo>
                      <a:lnTo>
                        <a:pt x="285" y="350"/>
                      </a:lnTo>
                      <a:lnTo>
                        <a:pt x="297" y="364"/>
                      </a:lnTo>
                      <a:lnTo>
                        <a:pt x="307" y="375"/>
                      </a:lnTo>
                      <a:lnTo>
                        <a:pt x="312" y="386"/>
                      </a:lnTo>
                      <a:lnTo>
                        <a:pt x="316" y="397"/>
                      </a:lnTo>
                      <a:lnTo>
                        <a:pt x="316" y="434"/>
                      </a:lnTo>
                      <a:lnTo>
                        <a:pt x="315" y="451"/>
                      </a:lnTo>
                      <a:lnTo>
                        <a:pt x="312" y="461"/>
                      </a:lnTo>
                      <a:lnTo>
                        <a:pt x="304" y="472"/>
                      </a:lnTo>
                      <a:lnTo>
                        <a:pt x="294" y="483"/>
                      </a:lnTo>
                      <a:lnTo>
                        <a:pt x="280" y="492"/>
                      </a:lnTo>
                      <a:lnTo>
                        <a:pt x="262" y="498"/>
                      </a:lnTo>
                      <a:lnTo>
                        <a:pt x="243" y="508"/>
                      </a:lnTo>
                      <a:lnTo>
                        <a:pt x="227" y="514"/>
                      </a:lnTo>
                      <a:lnTo>
                        <a:pt x="210" y="518"/>
                      </a:lnTo>
                      <a:lnTo>
                        <a:pt x="185" y="519"/>
                      </a:lnTo>
                      <a:lnTo>
                        <a:pt x="134" y="519"/>
                      </a:lnTo>
                      <a:lnTo>
                        <a:pt x="98" y="516"/>
                      </a:lnTo>
                      <a:lnTo>
                        <a:pt x="71" y="510"/>
                      </a:lnTo>
                      <a:lnTo>
                        <a:pt x="59" y="501"/>
                      </a:lnTo>
                      <a:lnTo>
                        <a:pt x="39" y="488"/>
                      </a:lnTo>
                      <a:lnTo>
                        <a:pt x="26" y="476"/>
                      </a:lnTo>
                      <a:lnTo>
                        <a:pt x="18" y="461"/>
                      </a:lnTo>
                      <a:lnTo>
                        <a:pt x="17" y="444"/>
                      </a:lnTo>
                      <a:lnTo>
                        <a:pt x="18" y="433"/>
                      </a:lnTo>
                      <a:lnTo>
                        <a:pt x="26" y="419"/>
                      </a:lnTo>
                      <a:lnTo>
                        <a:pt x="33" y="408"/>
                      </a:lnTo>
                      <a:lnTo>
                        <a:pt x="42" y="394"/>
                      </a:lnTo>
                      <a:lnTo>
                        <a:pt x="61" y="374"/>
                      </a:lnTo>
                      <a:lnTo>
                        <a:pt x="80" y="354"/>
                      </a:lnTo>
                      <a:lnTo>
                        <a:pt x="93" y="338"/>
                      </a:lnTo>
                      <a:lnTo>
                        <a:pt x="112" y="321"/>
                      </a:lnTo>
                      <a:lnTo>
                        <a:pt x="131" y="303"/>
                      </a:lnTo>
                      <a:lnTo>
                        <a:pt x="140" y="290"/>
                      </a:lnTo>
                      <a:lnTo>
                        <a:pt x="147" y="275"/>
                      </a:lnTo>
                      <a:lnTo>
                        <a:pt x="150" y="260"/>
                      </a:lnTo>
                      <a:lnTo>
                        <a:pt x="150" y="248"/>
                      </a:lnTo>
                      <a:lnTo>
                        <a:pt x="148" y="230"/>
                      </a:lnTo>
                      <a:lnTo>
                        <a:pt x="141" y="215"/>
                      </a:lnTo>
                      <a:lnTo>
                        <a:pt x="124" y="200"/>
                      </a:lnTo>
                      <a:lnTo>
                        <a:pt x="104" y="184"/>
                      </a:lnTo>
                      <a:lnTo>
                        <a:pt x="80" y="161"/>
                      </a:lnTo>
                      <a:lnTo>
                        <a:pt x="64" y="145"/>
                      </a:lnTo>
                      <a:lnTo>
                        <a:pt x="45" y="124"/>
                      </a:lnTo>
                      <a:lnTo>
                        <a:pt x="39" y="103"/>
                      </a:lnTo>
                      <a:lnTo>
                        <a:pt x="37" y="86"/>
                      </a:lnTo>
                      <a:lnTo>
                        <a:pt x="37" y="69"/>
                      </a:lnTo>
                      <a:lnTo>
                        <a:pt x="42" y="52"/>
                      </a:lnTo>
                      <a:lnTo>
                        <a:pt x="53" y="36"/>
                      </a:lnTo>
                      <a:lnTo>
                        <a:pt x="71" y="21"/>
                      </a:lnTo>
                      <a:lnTo>
                        <a:pt x="85" y="16"/>
                      </a:lnTo>
                      <a:lnTo>
                        <a:pt x="104" y="14"/>
                      </a:lnTo>
                      <a:lnTo>
                        <a:pt x="121" y="11"/>
                      </a:lnTo>
                      <a:lnTo>
                        <a:pt x="242" y="11"/>
                      </a:lnTo>
                      <a:lnTo>
                        <a:pt x="227" y="1"/>
                      </a:lnTo>
                      <a:lnTo>
                        <a:pt x="91" y="2"/>
                      </a:lnTo>
                      <a:lnTo>
                        <a:pt x="71" y="5"/>
                      </a:lnTo>
                      <a:lnTo>
                        <a:pt x="61" y="12"/>
                      </a:lnTo>
                      <a:lnTo>
                        <a:pt x="53" y="18"/>
                      </a:lnTo>
                      <a:lnTo>
                        <a:pt x="37" y="32"/>
                      </a:lnTo>
                      <a:lnTo>
                        <a:pt x="31" y="46"/>
                      </a:lnTo>
                      <a:lnTo>
                        <a:pt x="21" y="62"/>
                      </a:lnTo>
                      <a:lnTo>
                        <a:pt x="20" y="80"/>
                      </a:lnTo>
                      <a:lnTo>
                        <a:pt x="20" y="98"/>
                      </a:lnTo>
                      <a:lnTo>
                        <a:pt x="26" y="116"/>
                      </a:lnTo>
                      <a:lnTo>
                        <a:pt x="37" y="134"/>
                      </a:lnTo>
                      <a:lnTo>
                        <a:pt x="50" y="150"/>
                      </a:lnTo>
                      <a:lnTo>
                        <a:pt x="63" y="164"/>
                      </a:lnTo>
                      <a:lnTo>
                        <a:pt x="86" y="186"/>
                      </a:lnTo>
                      <a:lnTo>
                        <a:pt x="102" y="202"/>
                      </a:lnTo>
                      <a:lnTo>
                        <a:pt x="123" y="220"/>
                      </a:lnTo>
                      <a:lnTo>
                        <a:pt x="132" y="231"/>
                      </a:lnTo>
                      <a:lnTo>
                        <a:pt x="136" y="244"/>
                      </a:lnTo>
                      <a:lnTo>
                        <a:pt x="137" y="257"/>
                      </a:lnTo>
                      <a:lnTo>
                        <a:pt x="131" y="275"/>
                      </a:lnTo>
                      <a:lnTo>
                        <a:pt x="123" y="288"/>
                      </a:lnTo>
                      <a:lnTo>
                        <a:pt x="101" y="312"/>
                      </a:lnTo>
                      <a:lnTo>
                        <a:pt x="80" y="331"/>
                      </a:lnTo>
                      <a:lnTo>
                        <a:pt x="61" y="352"/>
                      </a:lnTo>
                      <a:lnTo>
                        <a:pt x="40" y="375"/>
                      </a:lnTo>
                      <a:lnTo>
                        <a:pt x="21" y="396"/>
                      </a:lnTo>
                      <a:lnTo>
                        <a:pt x="12" y="409"/>
                      </a:lnTo>
                      <a:lnTo>
                        <a:pt x="7" y="426"/>
                      </a:lnTo>
                      <a:lnTo>
                        <a:pt x="0" y="446"/>
                      </a:lnTo>
                      <a:lnTo>
                        <a:pt x="1" y="461"/>
                      </a:lnTo>
                      <a:lnTo>
                        <a:pt x="7" y="476"/>
                      </a:lnTo>
                      <a:lnTo>
                        <a:pt x="20" y="494"/>
                      </a:lnTo>
                      <a:lnTo>
                        <a:pt x="37" y="508"/>
                      </a:lnTo>
                      <a:lnTo>
                        <a:pt x="59" y="521"/>
                      </a:lnTo>
                      <a:lnTo>
                        <a:pt x="80" y="528"/>
                      </a:lnTo>
                      <a:lnTo>
                        <a:pt x="110" y="530"/>
                      </a:lnTo>
                      <a:lnTo>
                        <a:pt x="161" y="532"/>
                      </a:lnTo>
                      <a:lnTo>
                        <a:pt x="210" y="532"/>
                      </a:lnTo>
                      <a:lnTo>
                        <a:pt x="240" y="528"/>
                      </a:lnTo>
                      <a:lnTo>
                        <a:pt x="255" y="52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30" name="Freeform 10"/>
                <p:cNvSpPr/>
                <p:nvPr/>
              </p:nvSpPr>
              <p:spPr bwMode="auto">
                <a:xfrm>
                  <a:off x="402" y="3672"/>
                  <a:ext cx="391" cy="74"/>
                </a:xfrm>
                <a:custGeom>
                  <a:avLst/>
                  <a:gdLst>
                    <a:gd name="T0" fmla="*/ 341 w 391"/>
                    <a:gd name="T1" fmla="*/ 0 h 74"/>
                    <a:gd name="T2" fmla="*/ 350 w 391"/>
                    <a:gd name="T3" fmla="*/ 0 h 74"/>
                    <a:gd name="T4" fmla="*/ 358 w 391"/>
                    <a:gd name="T5" fmla="*/ 2 h 74"/>
                    <a:gd name="T6" fmla="*/ 365 w 391"/>
                    <a:gd name="T7" fmla="*/ 4 h 74"/>
                    <a:gd name="T8" fmla="*/ 373 w 391"/>
                    <a:gd name="T9" fmla="*/ 7 h 74"/>
                    <a:gd name="T10" fmla="*/ 378 w 391"/>
                    <a:gd name="T11" fmla="*/ 12 h 74"/>
                    <a:gd name="T12" fmla="*/ 384 w 391"/>
                    <a:gd name="T13" fmla="*/ 16 h 74"/>
                    <a:gd name="T14" fmla="*/ 387 w 391"/>
                    <a:gd name="T15" fmla="*/ 22 h 74"/>
                    <a:gd name="T16" fmla="*/ 389 w 391"/>
                    <a:gd name="T17" fmla="*/ 28 h 74"/>
                    <a:gd name="T18" fmla="*/ 390 w 391"/>
                    <a:gd name="T19" fmla="*/ 33 h 74"/>
                    <a:gd name="T20" fmla="*/ 390 w 391"/>
                    <a:gd name="T21" fmla="*/ 34 h 74"/>
                    <a:gd name="T22" fmla="*/ 389 w 391"/>
                    <a:gd name="T23" fmla="*/ 40 h 74"/>
                    <a:gd name="T24" fmla="*/ 387 w 391"/>
                    <a:gd name="T25" fmla="*/ 46 h 74"/>
                    <a:gd name="T26" fmla="*/ 384 w 391"/>
                    <a:gd name="T27" fmla="*/ 52 h 74"/>
                    <a:gd name="T28" fmla="*/ 379 w 391"/>
                    <a:gd name="T29" fmla="*/ 57 h 74"/>
                    <a:gd name="T30" fmla="*/ 374 w 391"/>
                    <a:gd name="T31" fmla="*/ 60 h 74"/>
                    <a:gd name="T32" fmla="*/ 367 w 391"/>
                    <a:gd name="T33" fmla="*/ 64 h 74"/>
                    <a:gd name="T34" fmla="*/ 360 w 391"/>
                    <a:gd name="T35" fmla="*/ 67 h 74"/>
                    <a:gd name="T36" fmla="*/ 351 w 391"/>
                    <a:gd name="T37" fmla="*/ 68 h 74"/>
                    <a:gd name="T38" fmla="*/ 343 w 391"/>
                    <a:gd name="T39" fmla="*/ 69 h 74"/>
                    <a:gd name="T40" fmla="*/ 49 w 391"/>
                    <a:gd name="T41" fmla="*/ 73 h 74"/>
                    <a:gd name="T42" fmla="*/ 41 w 391"/>
                    <a:gd name="T43" fmla="*/ 72 h 74"/>
                    <a:gd name="T44" fmla="*/ 32 w 391"/>
                    <a:gd name="T45" fmla="*/ 71 h 74"/>
                    <a:gd name="T46" fmla="*/ 25 w 391"/>
                    <a:gd name="T47" fmla="*/ 68 h 74"/>
                    <a:gd name="T48" fmla="*/ 18 w 391"/>
                    <a:gd name="T49" fmla="*/ 65 h 74"/>
                    <a:gd name="T50" fmla="*/ 12 w 391"/>
                    <a:gd name="T51" fmla="*/ 61 h 74"/>
                    <a:gd name="T52" fmla="*/ 7 w 391"/>
                    <a:gd name="T53" fmla="*/ 56 h 74"/>
                    <a:gd name="T54" fmla="*/ 3 w 391"/>
                    <a:gd name="T55" fmla="*/ 51 h 74"/>
                    <a:gd name="T56" fmla="*/ 1 w 391"/>
                    <a:gd name="T57" fmla="*/ 45 h 74"/>
                    <a:gd name="T58" fmla="*/ 0 w 391"/>
                    <a:gd name="T59" fmla="*/ 39 h 74"/>
                    <a:gd name="T60" fmla="*/ 0 w 391"/>
                    <a:gd name="T61" fmla="*/ 38 h 74"/>
                    <a:gd name="T62" fmla="*/ 1 w 391"/>
                    <a:gd name="T63" fmla="*/ 32 h 74"/>
                    <a:gd name="T64" fmla="*/ 3 w 391"/>
                    <a:gd name="T65" fmla="*/ 26 h 74"/>
                    <a:gd name="T66" fmla="*/ 6 w 391"/>
                    <a:gd name="T67" fmla="*/ 21 h 74"/>
                    <a:gd name="T68" fmla="*/ 11 w 391"/>
                    <a:gd name="T69" fmla="*/ 16 h 74"/>
                    <a:gd name="T70" fmla="*/ 16 w 391"/>
                    <a:gd name="T71" fmla="*/ 12 h 74"/>
                    <a:gd name="T72" fmla="*/ 24 w 391"/>
                    <a:gd name="T73" fmla="*/ 8 h 74"/>
                    <a:gd name="T74" fmla="*/ 31 w 391"/>
                    <a:gd name="T75" fmla="*/ 5 h 74"/>
                    <a:gd name="T76" fmla="*/ 39 w 391"/>
                    <a:gd name="T77" fmla="*/ 4 h 74"/>
                    <a:gd name="T78" fmla="*/ 47 w 391"/>
                    <a:gd name="T79" fmla="*/ 4 h 74"/>
                    <a:gd name="T80" fmla="*/ 341 w 391"/>
                    <a:gd name="T81" fmla="*/ 0 h 7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391"/>
                    <a:gd name="T124" fmla="*/ 0 h 74"/>
                    <a:gd name="T125" fmla="*/ 391 w 391"/>
                    <a:gd name="T126" fmla="*/ 74 h 74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391" h="74">
                      <a:moveTo>
                        <a:pt x="341" y="0"/>
                      </a:moveTo>
                      <a:lnTo>
                        <a:pt x="350" y="0"/>
                      </a:lnTo>
                      <a:lnTo>
                        <a:pt x="358" y="2"/>
                      </a:lnTo>
                      <a:lnTo>
                        <a:pt x="365" y="4"/>
                      </a:lnTo>
                      <a:lnTo>
                        <a:pt x="373" y="7"/>
                      </a:lnTo>
                      <a:lnTo>
                        <a:pt x="378" y="12"/>
                      </a:lnTo>
                      <a:lnTo>
                        <a:pt x="384" y="16"/>
                      </a:lnTo>
                      <a:lnTo>
                        <a:pt x="387" y="22"/>
                      </a:lnTo>
                      <a:lnTo>
                        <a:pt x="389" y="28"/>
                      </a:lnTo>
                      <a:lnTo>
                        <a:pt x="390" y="33"/>
                      </a:lnTo>
                      <a:lnTo>
                        <a:pt x="390" y="34"/>
                      </a:lnTo>
                      <a:lnTo>
                        <a:pt x="389" y="40"/>
                      </a:lnTo>
                      <a:lnTo>
                        <a:pt x="387" y="46"/>
                      </a:lnTo>
                      <a:lnTo>
                        <a:pt x="384" y="52"/>
                      </a:lnTo>
                      <a:lnTo>
                        <a:pt x="379" y="57"/>
                      </a:lnTo>
                      <a:lnTo>
                        <a:pt x="374" y="60"/>
                      </a:lnTo>
                      <a:lnTo>
                        <a:pt x="367" y="64"/>
                      </a:lnTo>
                      <a:lnTo>
                        <a:pt x="360" y="67"/>
                      </a:lnTo>
                      <a:lnTo>
                        <a:pt x="351" y="68"/>
                      </a:lnTo>
                      <a:lnTo>
                        <a:pt x="343" y="69"/>
                      </a:lnTo>
                      <a:lnTo>
                        <a:pt x="49" y="73"/>
                      </a:lnTo>
                      <a:lnTo>
                        <a:pt x="41" y="72"/>
                      </a:lnTo>
                      <a:lnTo>
                        <a:pt x="32" y="71"/>
                      </a:lnTo>
                      <a:lnTo>
                        <a:pt x="25" y="68"/>
                      </a:lnTo>
                      <a:lnTo>
                        <a:pt x="18" y="65"/>
                      </a:lnTo>
                      <a:lnTo>
                        <a:pt x="12" y="61"/>
                      </a:lnTo>
                      <a:lnTo>
                        <a:pt x="7" y="56"/>
                      </a:lnTo>
                      <a:lnTo>
                        <a:pt x="3" y="51"/>
                      </a:lnTo>
                      <a:lnTo>
                        <a:pt x="1" y="45"/>
                      </a:lnTo>
                      <a:lnTo>
                        <a:pt x="0" y="39"/>
                      </a:lnTo>
                      <a:lnTo>
                        <a:pt x="0" y="38"/>
                      </a:lnTo>
                      <a:lnTo>
                        <a:pt x="1" y="32"/>
                      </a:lnTo>
                      <a:lnTo>
                        <a:pt x="3" y="26"/>
                      </a:lnTo>
                      <a:lnTo>
                        <a:pt x="6" y="21"/>
                      </a:lnTo>
                      <a:lnTo>
                        <a:pt x="11" y="16"/>
                      </a:lnTo>
                      <a:lnTo>
                        <a:pt x="16" y="12"/>
                      </a:lnTo>
                      <a:lnTo>
                        <a:pt x="24" y="8"/>
                      </a:lnTo>
                      <a:lnTo>
                        <a:pt x="31" y="5"/>
                      </a:lnTo>
                      <a:lnTo>
                        <a:pt x="39" y="4"/>
                      </a:lnTo>
                      <a:lnTo>
                        <a:pt x="47" y="4"/>
                      </a:lnTo>
                      <a:lnTo>
                        <a:pt x="341" y="0"/>
                      </a:lnTo>
                    </a:path>
                  </a:pathLst>
                </a:custGeom>
                <a:solidFill>
                  <a:srgbClr val="996633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31" name="AutoShape 11"/>
                <p:cNvSpPr>
                  <a:spLocks noChangeArrowheads="1"/>
                </p:cNvSpPr>
                <p:nvPr/>
              </p:nvSpPr>
              <p:spPr bwMode="auto">
                <a:xfrm>
                  <a:off x="406" y="4249"/>
                  <a:ext cx="388" cy="56"/>
                </a:xfrm>
                <a:prstGeom prst="roundRect">
                  <a:avLst>
                    <a:gd name="adj" fmla="val 12495"/>
                  </a:avLst>
                </a:prstGeom>
                <a:solidFill>
                  <a:srgbClr val="996633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4520" name="Group 12"/>
              <p:cNvGrpSpPr/>
              <p:nvPr/>
            </p:nvGrpSpPr>
            <p:grpSpPr bwMode="auto">
              <a:xfrm>
                <a:off x="0" y="3758"/>
                <a:ext cx="559" cy="562"/>
                <a:chOff x="0" y="3758"/>
                <a:chExt cx="559" cy="562"/>
              </a:xfrm>
            </p:grpSpPr>
            <p:sp>
              <p:nvSpPr>
                <p:cNvPr id="64521" name="Freeform 13"/>
                <p:cNvSpPr/>
                <p:nvPr/>
              </p:nvSpPr>
              <p:spPr bwMode="auto">
                <a:xfrm>
                  <a:off x="231" y="3758"/>
                  <a:ext cx="192" cy="127"/>
                </a:xfrm>
                <a:custGeom>
                  <a:avLst/>
                  <a:gdLst>
                    <a:gd name="T0" fmla="*/ 133 w 192"/>
                    <a:gd name="T1" fmla="*/ 79 h 127"/>
                    <a:gd name="T2" fmla="*/ 143 w 192"/>
                    <a:gd name="T3" fmla="*/ 62 h 127"/>
                    <a:gd name="T4" fmla="*/ 152 w 192"/>
                    <a:gd name="T5" fmla="*/ 42 h 127"/>
                    <a:gd name="T6" fmla="*/ 150 w 192"/>
                    <a:gd name="T7" fmla="*/ 23 h 127"/>
                    <a:gd name="T8" fmla="*/ 143 w 192"/>
                    <a:gd name="T9" fmla="*/ 9 h 127"/>
                    <a:gd name="T10" fmla="*/ 124 w 192"/>
                    <a:gd name="T11" fmla="*/ 3 h 127"/>
                    <a:gd name="T12" fmla="*/ 95 w 192"/>
                    <a:gd name="T13" fmla="*/ 0 h 127"/>
                    <a:gd name="T14" fmla="*/ 60 w 192"/>
                    <a:gd name="T15" fmla="*/ 14 h 127"/>
                    <a:gd name="T16" fmla="*/ 35 w 192"/>
                    <a:gd name="T17" fmla="*/ 36 h 127"/>
                    <a:gd name="T18" fmla="*/ 18 w 192"/>
                    <a:gd name="T19" fmla="*/ 54 h 127"/>
                    <a:gd name="T20" fmla="*/ 6 w 192"/>
                    <a:gd name="T21" fmla="*/ 82 h 127"/>
                    <a:gd name="T22" fmla="*/ 0 w 192"/>
                    <a:gd name="T23" fmla="*/ 106 h 127"/>
                    <a:gd name="T24" fmla="*/ 15 w 192"/>
                    <a:gd name="T25" fmla="*/ 120 h 127"/>
                    <a:gd name="T26" fmla="*/ 32 w 192"/>
                    <a:gd name="T27" fmla="*/ 126 h 127"/>
                    <a:gd name="T28" fmla="*/ 57 w 192"/>
                    <a:gd name="T29" fmla="*/ 125 h 127"/>
                    <a:gd name="T30" fmla="*/ 87 w 192"/>
                    <a:gd name="T31" fmla="*/ 109 h 127"/>
                    <a:gd name="T32" fmla="*/ 111 w 192"/>
                    <a:gd name="T33" fmla="*/ 98 h 127"/>
                    <a:gd name="T34" fmla="*/ 121 w 192"/>
                    <a:gd name="T35" fmla="*/ 89 h 127"/>
                    <a:gd name="T36" fmla="*/ 179 w 192"/>
                    <a:gd name="T37" fmla="*/ 108 h 127"/>
                    <a:gd name="T38" fmla="*/ 191 w 192"/>
                    <a:gd name="T39" fmla="*/ 103 h 127"/>
                    <a:gd name="T40" fmla="*/ 185 w 192"/>
                    <a:gd name="T41" fmla="*/ 95 h 127"/>
                    <a:gd name="T42" fmla="*/ 133 w 192"/>
                    <a:gd name="T43" fmla="*/ 79 h 127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192"/>
                    <a:gd name="T67" fmla="*/ 0 h 127"/>
                    <a:gd name="T68" fmla="*/ 192 w 192"/>
                    <a:gd name="T69" fmla="*/ 127 h 127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192" h="127">
                      <a:moveTo>
                        <a:pt x="133" y="79"/>
                      </a:moveTo>
                      <a:lnTo>
                        <a:pt x="143" y="62"/>
                      </a:lnTo>
                      <a:lnTo>
                        <a:pt x="152" y="42"/>
                      </a:lnTo>
                      <a:lnTo>
                        <a:pt x="150" y="23"/>
                      </a:lnTo>
                      <a:lnTo>
                        <a:pt x="143" y="9"/>
                      </a:lnTo>
                      <a:lnTo>
                        <a:pt x="124" y="3"/>
                      </a:lnTo>
                      <a:lnTo>
                        <a:pt x="95" y="0"/>
                      </a:lnTo>
                      <a:lnTo>
                        <a:pt x="60" y="14"/>
                      </a:lnTo>
                      <a:lnTo>
                        <a:pt x="35" y="36"/>
                      </a:lnTo>
                      <a:lnTo>
                        <a:pt x="18" y="54"/>
                      </a:lnTo>
                      <a:lnTo>
                        <a:pt x="6" y="82"/>
                      </a:lnTo>
                      <a:lnTo>
                        <a:pt x="0" y="106"/>
                      </a:lnTo>
                      <a:lnTo>
                        <a:pt x="15" y="120"/>
                      </a:lnTo>
                      <a:lnTo>
                        <a:pt x="32" y="126"/>
                      </a:lnTo>
                      <a:lnTo>
                        <a:pt x="57" y="125"/>
                      </a:lnTo>
                      <a:lnTo>
                        <a:pt x="87" y="109"/>
                      </a:lnTo>
                      <a:lnTo>
                        <a:pt x="111" y="98"/>
                      </a:lnTo>
                      <a:lnTo>
                        <a:pt x="121" y="89"/>
                      </a:lnTo>
                      <a:lnTo>
                        <a:pt x="179" y="108"/>
                      </a:lnTo>
                      <a:lnTo>
                        <a:pt x="191" y="103"/>
                      </a:lnTo>
                      <a:lnTo>
                        <a:pt x="185" y="95"/>
                      </a:lnTo>
                      <a:lnTo>
                        <a:pt x="133" y="79"/>
                      </a:lnTo>
                    </a:path>
                  </a:pathLst>
                </a:custGeom>
                <a:solidFill>
                  <a:srgbClr val="EAEC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22" name="Freeform 14"/>
                <p:cNvSpPr/>
                <p:nvPr/>
              </p:nvSpPr>
              <p:spPr bwMode="auto">
                <a:xfrm>
                  <a:off x="126" y="3885"/>
                  <a:ext cx="148" cy="235"/>
                </a:xfrm>
                <a:custGeom>
                  <a:avLst/>
                  <a:gdLst>
                    <a:gd name="T0" fmla="*/ 131 w 148"/>
                    <a:gd name="T1" fmla="*/ 10 h 235"/>
                    <a:gd name="T2" fmla="*/ 124 w 148"/>
                    <a:gd name="T3" fmla="*/ 4 h 235"/>
                    <a:gd name="T4" fmla="*/ 111 w 148"/>
                    <a:gd name="T5" fmla="*/ 0 h 235"/>
                    <a:gd name="T6" fmla="*/ 84 w 148"/>
                    <a:gd name="T7" fmla="*/ 5 h 235"/>
                    <a:gd name="T8" fmla="*/ 58 w 148"/>
                    <a:gd name="T9" fmla="*/ 22 h 235"/>
                    <a:gd name="T10" fmla="*/ 33 w 148"/>
                    <a:gd name="T11" fmla="*/ 42 h 235"/>
                    <a:gd name="T12" fmla="*/ 13 w 148"/>
                    <a:gd name="T13" fmla="*/ 78 h 235"/>
                    <a:gd name="T14" fmla="*/ 3 w 148"/>
                    <a:gd name="T15" fmla="*/ 113 h 235"/>
                    <a:gd name="T16" fmla="*/ 0 w 148"/>
                    <a:gd name="T17" fmla="*/ 143 h 235"/>
                    <a:gd name="T18" fmla="*/ 0 w 148"/>
                    <a:gd name="T19" fmla="*/ 176 h 235"/>
                    <a:gd name="T20" fmla="*/ 10 w 148"/>
                    <a:gd name="T21" fmla="*/ 203 h 235"/>
                    <a:gd name="T22" fmla="*/ 39 w 148"/>
                    <a:gd name="T23" fmla="*/ 224 h 235"/>
                    <a:gd name="T24" fmla="*/ 69 w 148"/>
                    <a:gd name="T25" fmla="*/ 233 h 235"/>
                    <a:gd name="T26" fmla="*/ 102 w 148"/>
                    <a:gd name="T27" fmla="*/ 234 h 235"/>
                    <a:gd name="T28" fmla="*/ 128 w 148"/>
                    <a:gd name="T29" fmla="*/ 224 h 235"/>
                    <a:gd name="T30" fmla="*/ 126 w 148"/>
                    <a:gd name="T31" fmla="*/ 207 h 235"/>
                    <a:gd name="T32" fmla="*/ 115 w 148"/>
                    <a:gd name="T33" fmla="*/ 182 h 235"/>
                    <a:gd name="T34" fmla="*/ 102 w 148"/>
                    <a:gd name="T35" fmla="*/ 167 h 235"/>
                    <a:gd name="T36" fmla="*/ 96 w 148"/>
                    <a:gd name="T37" fmla="*/ 143 h 235"/>
                    <a:gd name="T38" fmla="*/ 101 w 148"/>
                    <a:gd name="T39" fmla="*/ 120 h 235"/>
                    <a:gd name="T40" fmla="*/ 112 w 148"/>
                    <a:gd name="T41" fmla="*/ 93 h 235"/>
                    <a:gd name="T42" fmla="*/ 129 w 148"/>
                    <a:gd name="T43" fmla="*/ 74 h 235"/>
                    <a:gd name="T44" fmla="*/ 145 w 148"/>
                    <a:gd name="T45" fmla="*/ 48 h 235"/>
                    <a:gd name="T46" fmla="*/ 147 w 148"/>
                    <a:gd name="T47" fmla="*/ 28 h 235"/>
                    <a:gd name="T48" fmla="*/ 131 w 148"/>
                    <a:gd name="T49" fmla="*/ 10 h 235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148"/>
                    <a:gd name="T76" fmla="*/ 0 h 235"/>
                    <a:gd name="T77" fmla="*/ 148 w 148"/>
                    <a:gd name="T78" fmla="*/ 235 h 235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148" h="235">
                      <a:moveTo>
                        <a:pt x="131" y="10"/>
                      </a:moveTo>
                      <a:lnTo>
                        <a:pt x="124" y="4"/>
                      </a:lnTo>
                      <a:lnTo>
                        <a:pt x="111" y="0"/>
                      </a:lnTo>
                      <a:lnTo>
                        <a:pt x="84" y="5"/>
                      </a:lnTo>
                      <a:lnTo>
                        <a:pt x="58" y="22"/>
                      </a:lnTo>
                      <a:lnTo>
                        <a:pt x="33" y="42"/>
                      </a:lnTo>
                      <a:lnTo>
                        <a:pt x="13" y="78"/>
                      </a:lnTo>
                      <a:lnTo>
                        <a:pt x="3" y="113"/>
                      </a:lnTo>
                      <a:lnTo>
                        <a:pt x="0" y="143"/>
                      </a:lnTo>
                      <a:lnTo>
                        <a:pt x="0" y="176"/>
                      </a:lnTo>
                      <a:lnTo>
                        <a:pt x="10" y="203"/>
                      </a:lnTo>
                      <a:lnTo>
                        <a:pt x="39" y="224"/>
                      </a:lnTo>
                      <a:lnTo>
                        <a:pt x="69" y="233"/>
                      </a:lnTo>
                      <a:lnTo>
                        <a:pt x="102" y="234"/>
                      </a:lnTo>
                      <a:lnTo>
                        <a:pt x="128" y="224"/>
                      </a:lnTo>
                      <a:lnTo>
                        <a:pt x="126" y="207"/>
                      </a:lnTo>
                      <a:lnTo>
                        <a:pt x="115" y="182"/>
                      </a:lnTo>
                      <a:lnTo>
                        <a:pt x="102" y="167"/>
                      </a:lnTo>
                      <a:lnTo>
                        <a:pt x="96" y="143"/>
                      </a:lnTo>
                      <a:lnTo>
                        <a:pt x="101" y="120"/>
                      </a:lnTo>
                      <a:lnTo>
                        <a:pt x="112" y="93"/>
                      </a:lnTo>
                      <a:lnTo>
                        <a:pt x="129" y="74"/>
                      </a:lnTo>
                      <a:lnTo>
                        <a:pt x="145" y="48"/>
                      </a:lnTo>
                      <a:lnTo>
                        <a:pt x="147" y="28"/>
                      </a:lnTo>
                      <a:lnTo>
                        <a:pt x="131" y="10"/>
                      </a:lnTo>
                    </a:path>
                  </a:pathLst>
                </a:custGeom>
                <a:solidFill>
                  <a:srgbClr val="EAEC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23" name="Freeform 15"/>
                <p:cNvSpPr/>
                <p:nvPr/>
              </p:nvSpPr>
              <p:spPr bwMode="auto">
                <a:xfrm>
                  <a:off x="202" y="4064"/>
                  <a:ext cx="300" cy="159"/>
                </a:xfrm>
                <a:custGeom>
                  <a:avLst/>
                  <a:gdLst>
                    <a:gd name="T0" fmla="*/ 29 w 300"/>
                    <a:gd name="T1" fmla="*/ 9 h 159"/>
                    <a:gd name="T2" fmla="*/ 14 w 300"/>
                    <a:gd name="T3" fmla="*/ 9 h 159"/>
                    <a:gd name="T4" fmla="*/ 2 w 300"/>
                    <a:gd name="T5" fmla="*/ 17 h 159"/>
                    <a:gd name="T6" fmla="*/ 0 w 300"/>
                    <a:gd name="T7" fmla="*/ 30 h 159"/>
                    <a:gd name="T8" fmla="*/ 2 w 300"/>
                    <a:gd name="T9" fmla="*/ 37 h 159"/>
                    <a:gd name="T10" fmla="*/ 11 w 300"/>
                    <a:gd name="T11" fmla="*/ 50 h 159"/>
                    <a:gd name="T12" fmla="*/ 33 w 300"/>
                    <a:gd name="T13" fmla="*/ 59 h 159"/>
                    <a:gd name="T14" fmla="*/ 57 w 300"/>
                    <a:gd name="T15" fmla="*/ 62 h 159"/>
                    <a:gd name="T16" fmla="*/ 102 w 300"/>
                    <a:gd name="T17" fmla="*/ 53 h 159"/>
                    <a:gd name="T18" fmla="*/ 157 w 300"/>
                    <a:gd name="T19" fmla="*/ 37 h 159"/>
                    <a:gd name="T20" fmla="*/ 193 w 300"/>
                    <a:gd name="T21" fmla="*/ 22 h 159"/>
                    <a:gd name="T22" fmla="*/ 209 w 300"/>
                    <a:gd name="T23" fmla="*/ 20 h 159"/>
                    <a:gd name="T24" fmla="*/ 206 w 300"/>
                    <a:gd name="T25" fmla="*/ 28 h 159"/>
                    <a:gd name="T26" fmla="*/ 182 w 300"/>
                    <a:gd name="T27" fmla="*/ 62 h 159"/>
                    <a:gd name="T28" fmla="*/ 160 w 300"/>
                    <a:gd name="T29" fmla="*/ 93 h 159"/>
                    <a:gd name="T30" fmla="*/ 151 w 300"/>
                    <a:gd name="T31" fmla="*/ 114 h 159"/>
                    <a:gd name="T32" fmla="*/ 148 w 300"/>
                    <a:gd name="T33" fmla="*/ 136 h 159"/>
                    <a:gd name="T34" fmla="*/ 148 w 300"/>
                    <a:gd name="T35" fmla="*/ 146 h 159"/>
                    <a:gd name="T36" fmla="*/ 151 w 300"/>
                    <a:gd name="T37" fmla="*/ 154 h 159"/>
                    <a:gd name="T38" fmla="*/ 159 w 300"/>
                    <a:gd name="T39" fmla="*/ 158 h 159"/>
                    <a:gd name="T40" fmla="*/ 178 w 300"/>
                    <a:gd name="T41" fmla="*/ 158 h 159"/>
                    <a:gd name="T42" fmla="*/ 199 w 300"/>
                    <a:gd name="T43" fmla="*/ 146 h 159"/>
                    <a:gd name="T44" fmla="*/ 225 w 300"/>
                    <a:gd name="T45" fmla="*/ 137 h 159"/>
                    <a:gd name="T46" fmla="*/ 258 w 300"/>
                    <a:gd name="T47" fmla="*/ 131 h 159"/>
                    <a:gd name="T48" fmla="*/ 283 w 300"/>
                    <a:gd name="T49" fmla="*/ 124 h 159"/>
                    <a:gd name="T50" fmla="*/ 299 w 300"/>
                    <a:gd name="T51" fmla="*/ 125 h 159"/>
                    <a:gd name="T52" fmla="*/ 299 w 300"/>
                    <a:gd name="T53" fmla="*/ 114 h 159"/>
                    <a:gd name="T54" fmla="*/ 283 w 300"/>
                    <a:gd name="T55" fmla="*/ 96 h 159"/>
                    <a:gd name="T56" fmla="*/ 261 w 300"/>
                    <a:gd name="T57" fmla="*/ 87 h 159"/>
                    <a:gd name="T58" fmla="*/ 241 w 300"/>
                    <a:gd name="T59" fmla="*/ 92 h 159"/>
                    <a:gd name="T60" fmla="*/ 222 w 300"/>
                    <a:gd name="T61" fmla="*/ 104 h 159"/>
                    <a:gd name="T62" fmla="*/ 199 w 300"/>
                    <a:gd name="T63" fmla="*/ 119 h 159"/>
                    <a:gd name="T64" fmla="*/ 193 w 300"/>
                    <a:gd name="T65" fmla="*/ 127 h 159"/>
                    <a:gd name="T66" fmla="*/ 178 w 300"/>
                    <a:gd name="T67" fmla="*/ 140 h 159"/>
                    <a:gd name="T68" fmla="*/ 166 w 300"/>
                    <a:gd name="T69" fmla="*/ 136 h 159"/>
                    <a:gd name="T70" fmla="*/ 167 w 300"/>
                    <a:gd name="T71" fmla="*/ 115 h 159"/>
                    <a:gd name="T72" fmla="*/ 182 w 300"/>
                    <a:gd name="T73" fmla="*/ 95 h 159"/>
                    <a:gd name="T74" fmla="*/ 198 w 300"/>
                    <a:gd name="T75" fmla="*/ 74 h 159"/>
                    <a:gd name="T76" fmla="*/ 209 w 300"/>
                    <a:gd name="T77" fmla="*/ 56 h 159"/>
                    <a:gd name="T78" fmla="*/ 234 w 300"/>
                    <a:gd name="T79" fmla="*/ 24 h 159"/>
                    <a:gd name="T80" fmla="*/ 233 w 300"/>
                    <a:gd name="T81" fmla="*/ 10 h 159"/>
                    <a:gd name="T82" fmla="*/ 215 w 300"/>
                    <a:gd name="T83" fmla="*/ 1 h 159"/>
                    <a:gd name="T84" fmla="*/ 188 w 300"/>
                    <a:gd name="T85" fmla="*/ 0 h 159"/>
                    <a:gd name="T86" fmla="*/ 164 w 300"/>
                    <a:gd name="T87" fmla="*/ 10 h 159"/>
                    <a:gd name="T88" fmla="*/ 105 w 300"/>
                    <a:gd name="T89" fmla="*/ 23 h 159"/>
                    <a:gd name="T90" fmla="*/ 79 w 300"/>
                    <a:gd name="T91" fmla="*/ 24 h 159"/>
                    <a:gd name="T92" fmla="*/ 63 w 300"/>
                    <a:gd name="T93" fmla="*/ 21 h 159"/>
                    <a:gd name="T94" fmla="*/ 43 w 300"/>
                    <a:gd name="T95" fmla="*/ 13 h 159"/>
                    <a:gd name="T96" fmla="*/ 29 w 300"/>
                    <a:gd name="T97" fmla="*/ 9 h 159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300"/>
                    <a:gd name="T148" fmla="*/ 0 h 159"/>
                    <a:gd name="T149" fmla="*/ 300 w 300"/>
                    <a:gd name="T150" fmla="*/ 159 h 159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300" h="159">
                      <a:moveTo>
                        <a:pt x="29" y="9"/>
                      </a:moveTo>
                      <a:lnTo>
                        <a:pt x="14" y="9"/>
                      </a:lnTo>
                      <a:lnTo>
                        <a:pt x="2" y="17"/>
                      </a:lnTo>
                      <a:lnTo>
                        <a:pt x="0" y="30"/>
                      </a:lnTo>
                      <a:lnTo>
                        <a:pt x="2" y="37"/>
                      </a:lnTo>
                      <a:lnTo>
                        <a:pt x="11" y="50"/>
                      </a:lnTo>
                      <a:lnTo>
                        <a:pt x="33" y="59"/>
                      </a:lnTo>
                      <a:lnTo>
                        <a:pt x="57" y="62"/>
                      </a:lnTo>
                      <a:lnTo>
                        <a:pt x="102" y="53"/>
                      </a:lnTo>
                      <a:lnTo>
                        <a:pt x="157" y="37"/>
                      </a:lnTo>
                      <a:lnTo>
                        <a:pt x="193" y="22"/>
                      </a:lnTo>
                      <a:lnTo>
                        <a:pt x="209" y="20"/>
                      </a:lnTo>
                      <a:lnTo>
                        <a:pt x="206" y="28"/>
                      </a:lnTo>
                      <a:lnTo>
                        <a:pt x="182" y="62"/>
                      </a:lnTo>
                      <a:lnTo>
                        <a:pt x="160" y="93"/>
                      </a:lnTo>
                      <a:lnTo>
                        <a:pt x="151" y="114"/>
                      </a:lnTo>
                      <a:lnTo>
                        <a:pt x="148" y="136"/>
                      </a:lnTo>
                      <a:lnTo>
                        <a:pt x="148" y="146"/>
                      </a:lnTo>
                      <a:lnTo>
                        <a:pt x="151" y="154"/>
                      </a:lnTo>
                      <a:lnTo>
                        <a:pt x="159" y="158"/>
                      </a:lnTo>
                      <a:lnTo>
                        <a:pt x="178" y="158"/>
                      </a:lnTo>
                      <a:lnTo>
                        <a:pt x="199" y="146"/>
                      </a:lnTo>
                      <a:lnTo>
                        <a:pt x="225" y="137"/>
                      </a:lnTo>
                      <a:lnTo>
                        <a:pt x="258" y="131"/>
                      </a:lnTo>
                      <a:lnTo>
                        <a:pt x="283" y="124"/>
                      </a:lnTo>
                      <a:lnTo>
                        <a:pt x="299" y="125"/>
                      </a:lnTo>
                      <a:lnTo>
                        <a:pt x="299" y="114"/>
                      </a:lnTo>
                      <a:lnTo>
                        <a:pt x="283" y="96"/>
                      </a:lnTo>
                      <a:lnTo>
                        <a:pt x="261" y="87"/>
                      </a:lnTo>
                      <a:lnTo>
                        <a:pt x="241" y="92"/>
                      </a:lnTo>
                      <a:lnTo>
                        <a:pt x="222" y="104"/>
                      </a:lnTo>
                      <a:lnTo>
                        <a:pt x="199" y="119"/>
                      </a:lnTo>
                      <a:lnTo>
                        <a:pt x="193" y="127"/>
                      </a:lnTo>
                      <a:lnTo>
                        <a:pt x="178" y="140"/>
                      </a:lnTo>
                      <a:lnTo>
                        <a:pt x="166" y="136"/>
                      </a:lnTo>
                      <a:lnTo>
                        <a:pt x="167" y="115"/>
                      </a:lnTo>
                      <a:lnTo>
                        <a:pt x="182" y="95"/>
                      </a:lnTo>
                      <a:lnTo>
                        <a:pt x="198" y="74"/>
                      </a:lnTo>
                      <a:lnTo>
                        <a:pt x="209" y="56"/>
                      </a:lnTo>
                      <a:lnTo>
                        <a:pt x="234" y="24"/>
                      </a:lnTo>
                      <a:lnTo>
                        <a:pt x="233" y="10"/>
                      </a:lnTo>
                      <a:lnTo>
                        <a:pt x="215" y="1"/>
                      </a:lnTo>
                      <a:lnTo>
                        <a:pt x="188" y="0"/>
                      </a:lnTo>
                      <a:lnTo>
                        <a:pt x="164" y="10"/>
                      </a:lnTo>
                      <a:lnTo>
                        <a:pt x="105" y="23"/>
                      </a:lnTo>
                      <a:lnTo>
                        <a:pt x="79" y="24"/>
                      </a:lnTo>
                      <a:lnTo>
                        <a:pt x="63" y="21"/>
                      </a:lnTo>
                      <a:lnTo>
                        <a:pt x="43" y="13"/>
                      </a:lnTo>
                      <a:lnTo>
                        <a:pt x="29" y="9"/>
                      </a:lnTo>
                    </a:path>
                  </a:pathLst>
                </a:custGeom>
                <a:solidFill>
                  <a:srgbClr val="EAEC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24" name="Freeform 16"/>
                <p:cNvSpPr/>
                <p:nvPr/>
              </p:nvSpPr>
              <p:spPr bwMode="auto">
                <a:xfrm>
                  <a:off x="0" y="3887"/>
                  <a:ext cx="224" cy="104"/>
                </a:xfrm>
                <a:custGeom>
                  <a:avLst/>
                  <a:gdLst>
                    <a:gd name="T0" fmla="*/ 221 w 224"/>
                    <a:gd name="T1" fmla="*/ 5 h 104"/>
                    <a:gd name="T2" fmla="*/ 183 w 224"/>
                    <a:gd name="T3" fmla="*/ 0 h 104"/>
                    <a:gd name="T4" fmla="*/ 130 w 224"/>
                    <a:gd name="T5" fmla="*/ 3 h 104"/>
                    <a:gd name="T6" fmla="*/ 58 w 224"/>
                    <a:gd name="T7" fmla="*/ 10 h 104"/>
                    <a:gd name="T8" fmla="*/ 15 w 224"/>
                    <a:gd name="T9" fmla="*/ 28 h 104"/>
                    <a:gd name="T10" fmla="*/ 0 w 224"/>
                    <a:gd name="T11" fmla="*/ 41 h 104"/>
                    <a:gd name="T12" fmla="*/ 0 w 224"/>
                    <a:gd name="T13" fmla="*/ 52 h 104"/>
                    <a:gd name="T14" fmla="*/ 11 w 224"/>
                    <a:gd name="T15" fmla="*/ 60 h 104"/>
                    <a:gd name="T16" fmla="*/ 34 w 224"/>
                    <a:gd name="T17" fmla="*/ 77 h 104"/>
                    <a:gd name="T18" fmla="*/ 71 w 224"/>
                    <a:gd name="T19" fmla="*/ 98 h 104"/>
                    <a:gd name="T20" fmla="*/ 95 w 224"/>
                    <a:gd name="T21" fmla="*/ 103 h 104"/>
                    <a:gd name="T22" fmla="*/ 119 w 224"/>
                    <a:gd name="T23" fmla="*/ 103 h 104"/>
                    <a:gd name="T24" fmla="*/ 124 w 224"/>
                    <a:gd name="T25" fmla="*/ 94 h 104"/>
                    <a:gd name="T26" fmla="*/ 116 w 224"/>
                    <a:gd name="T27" fmla="*/ 81 h 104"/>
                    <a:gd name="T28" fmla="*/ 100 w 224"/>
                    <a:gd name="T29" fmla="*/ 75 h 104"/>
                    <a:gd name="T30" fmla="*/ 90 w 224"/>
                    <a:gd name="T31" fmla="*/ 77 h 104"/>
                    <a:gd name="T32" fmla="*/ 88 w 224"/>
                    <a:gd name="T33" fmla="*/ 86 h 104"/>
                    <a:gd name="T34" fmla="*/ 71 w 224"/>
                    <a:gd name="T35" fmla="*/ 87 h 104"/>
                    <a:gd name="T36" fmla="*/ 44 w 224"/>
                    <a:gd name="T37" fmla="*/ 71 h 104"/>
                    <a:gd name="T38" fmla="*/ 24 w 224"/>
                    <a:gd name="T39" fmla="*/ 55 h 104"/>
                    <a:gd name="T40" fmla="*/ 24 w 224"/>
                    <a:gd name="T41" fmla="*/ 43 h 104"/>
                    <a:gd name="T42" fmla="*/ 32 w 224"/>
                    <a:gd name="T43" fmla="*/ 38 h 104"/>
                    <a:gd name="T44" fmla="*/ 61 w 224"/>
                    <a:gd name="T45" fmla="*/ 28 h 104"/>
                    <a:gd name="T46" fmla="*/ 116 w 224"/>
                    <a:gd name="T47" fmla="*/ 21 h 104"/>
                    <a:gd name="T48" fmla="*/ 150 w 224"/>
                    <a:gd name="T49" fmla="*/ 21 h 104"/>
                    <a:gd name="T50" fmla="*/ 169 w 224"/>
                    <a:gd name="T51" fmla="*/ 22 h 104"/>
                    <a:gd name="T52" fmla="*/ 196 w 224"/>
                    <a:gd name="T53" fmla="*/ 27 h 104"/>
                    <a:gd name="T54" fmla="*/ 218 w 224"/>
                    <a:gd name="T55" fmla="*/ 27 h 104"/>
                    <a:gd name="T56" fmla="*/ 223 w 224"/>
                    <a:gd name="T57" fmla="*/ 16 h 104"/>
                    <a:gd name="T58" fmla="*/ 221 w 224"/>
                    <a:gd name="T59" fmla="*/ 5 h 104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224"/>
                    <a:gd name="T91" fmla="*/ 0 h 104"/>
                    <a:gd name="T92" fmla="*/ 224 w 224"/>
                    <a:gd name="T93" fmla="*/ 104 h 104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224" h="104">
                      <a:moveTo>
                        <a:pt x="221" y="5"/>
                      </a:moveTo>
                      <a:lnTo>
                        <a:pt x="183" y="0"/>
                      </a:lnTo>
                      <a:lnTo>
                        <a:pt x="130" y="3"/>
                      </a:lnTo>
                      <a:lnTo>
                        <a:pt x="58" y="10"/>
                      </a:lnTo>
                      <a:lnTo>
                        <a:pt x="15" y="28"/>
                      </a:lnTo>
                      <a:lnTo>
                        <a:pt x="0" y="41"/>
                      </a:lnTo>
                      <a:lnTo>
                        <a:pt x="0" y="52"/>
                      </a:lnTo>
                      <a:lnTo>
                        <a:pt x="11" y="60"/>
                      </a:lnTo>
                      <a:lnTo>
                        <a:pt x="34" y="77"/>
                      </a:lnTo>
                      <a:lnTo>
                        <a:pt x="71" y="98"/>
                      </a:lnTo>
                      <a:lnTo>
                        <a:pt x="95" y="103"/>
                      </a:lnTo>
                      <a:lnTo>
                        <a:pt x="119" y="103"/>
                      </a:lnTo>
                      <a:lnTo>
                        <a:pt x="124" y="94"/>
                      </a:lnTo>
                      <a:lnTo>
                        <a:pt x="116" y="81"/>
                      </a:lnTo>
                      <a:lnTo>
                        <a:pt x="100" y="75"/>
                      </a:lnTo>
                      <a:lnTo>
                        <a:pt x="90" y="77"/>
                      </a:lnTo>
                      <a:lnTo>
                        <a:pt x="88" y="86"/>
                      </a:lnTo>
                      <a:lnTo>
                        <a:pt x="71" y="87"/>
                      </a:lnTo>
                      <a:lnTo>
                        <a:pt x="44" y="71"/>
                      </a:lnTo>
                      <a:lnTo>
                        <a:pt x="24" y="55"/>
                      </a:lnTo>
                      <a:lnTo>
                        <a:pt x="24" y="43"/>
                      </a:lnTo>
                      <a:lnTo>
                        <a:pt x="32" y="38"/>
                      </a:lnTo>
                      <a:lnTo>
                        <a:pt x="61" y="28"/>
                      </a:lnTo>
                      <a:lnTo>
                        <a:pt x="116" y="21"/>
                      </a:lnTo>
                      <a:lnTo>
                        <a:pt x="150" y="21"/>
                      </a:lnTo>
                      <a:lnTo>
                        <a:pt x="169" y="22"/>
                      </a:lnTo>
                      <a:lnTo>
                        <a:pt x="196" y="27"/>
                      </a:lnTo>
                      <a:lnTo>
                        <a:pt x="218" y="27"/>
                      </a:lnTo>
                      <a:lnTo>
                        <a:pt x="223" y="16"/>
                      </a:lnTo>
                      <a:lnTo>
                        <a:pt x="221" y="5"/>
                      </a:lnTo>
                    </a:path>
                  </a:pathLst>
                </a:custGeom>
                <a:solidFill>
                  <a:srgbClr val="EAEC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25" name="Freeform 17"/>
                <p:cNvSpPr/>
                <p:nvPr/>
              </p:nvSpPr>
              <p:spPr bwMode="auto">
                <a:xfrm>
                  <a:off x="123" y="4055"/>
                  <a:ext cx="148" cy="265"/>
                </a:xfrm>
                <a:custGeom>
                  <a:avLst/>
                  <a:gdLst>
                    <a:gd name="T0" fmla="*/ 62 w 148"/>
                    <a:gd name="T1" fmla="*/ 84 h 265"/>
                    <a:gd name="T2" fmla="*/ 66 w 148"/>
                    <a:gd name="T3" fmla="*/ 58 h 265"/>
                    <a:gd name="T4" fmla="*/ 75 w 148"/>
                    <a:gd name="T5" fmla="*/ 38 h 265"/>
                    <a:gd name="T6" fmla="*/ 75 w 148"/>
                    <a:gd name="T7" fmla="*/ 7 h 265"/>
                    <a:gd name="T8" fmla="*/ 58 w 148"/>
                    <a:gd name="T9" fmla="*/ 0 h 265"/>
                    <a:gd name="T10" fmla="*/ 43 w 148"/>
                    <a:gd name="T11" fmla="*/ 1 h 265"/>
                    <a:gd name="T12" fmla="*/ 26 w 148"/>
                    <a:gd name="T13" fmla="*/ 11 h 265"/>
                    <a:gd name="T14" fmla="*/ 23 w 148"/>
                    <a:gd name="T15" fmla="*/ 29 h 265"/>
                    <a:gd name="T16" fmla="*/ 27 w 148"/>
                    <a:gd name="T17" fmla="*/ 64 h 265"/>
                    <a:gd name="T18" fmla="*/ 40 w 148"/>
                    <a:gd name="T19" fmla="*/ 108 h 265"/>
                    <a:gd name="T20" fmla="*/ 44 w 148"/>
                    <a:gd name="T21" fmla="*/ 129 h 265"/>
                    <a:gd name="T22" fmla="*/ 44 w 148"/>
                    <a:gd name="T23" fmla="*/ 150 h 265"/>
                    <a:gd name="T24" fmla="*/ 37 w 148"/>
                    <a:gd name="T25" fmla="*/ 174 h 265"/>
                    <a:gd name="T26" fmla="*/ 23 w 148"/>
                    <a:gd name="T27" fmla="*/ 203 h 265"/>
                    <a:gd name="T28" fmla="*/ 13 w 148"/>
                    <a:gd name="T29" fmla="*/ 219 h 265"/>
                    <a:gd name="T30" fmla="*/ 5 w 148"/>
                    <a:gd name="T31" fmla="*/ 231 h 265"/>
                    <a:gd name="T32" fmla="*/ 0 w 148"/>
                    <a:gd name="T33" fmla="*/ 245 h 265"/>
                    <a:gd name="T34" fmla="*/ 3 w 148"/>
                    <a:gd name="T35" fmla="*/ 254 h 265"/>
                    <a:gd name="T36" fmla="*/ 14 w 148"/>
                    <a:gd name="T37" fmla="*/ 257 h 265"/>
                    <a:gd name="T38" fmla="*/ 31 w 148"/>
                    <a:gd name="T39" fmla="*/ 257 h 265"/>
                    <a:gd name="T40" fmla="*/ 60 w 148"/>
                    <a:gd name="T41" fmla="*/ 252 h 265"/>
                    <a:gd name="T42" fmla="*/ 86 w 148"/>
                    <a:gd name="T43" fmla="*/ 257 h 265"/>
                    <a:gd name="T44" fmla="*/ 111 w 148"/>
                    <a:gd name="T45" fmla="*/ 264 h 265"/>
                    <a:gd name="T46" fmla="*/ 125 w 148"/>
                    <a:gd name="T47" fmla="*/ 264 h 265"/>
                    <a:gd name="T48" fmla="*/ 137 w 148"/>
                    <a:gd name="T49" fmla="*/ 257 h 265"/>
                    <a:gd name="T50" fmla="*/ 147 w 148"/>
                    <a:gd name="T51" fmla="*/ 247 h 265"/>
                    <a:gd name="T52" fmla="*/ 124 w 148"/>
                    <a:gd name="T53" fmla="*/ 241 h 265"/>
                    <a:gd name="T54" fmla="*/ 86 w 148"/>
                    <a:gd name="T55" fmla="*/ 238 h 265"/>
                    <a:gd name="T56" fmla="*/ 46 w 148"/>
                    <a:gd name="T57" fmla="*/ 240 h 265"/>
                    <a:gd name="T58" fmla="*/ 31 w 148"/>
                    <a:gd name="T59" fmla="*/ 246 h 265"/>
                    <a:gd name="T60" fmla="*/ 23 w 148"/>
                    <a:gd name="T61" fmla="*/ 239 h 265"/>
                    <a:gd name="T62" fmla="*/ 27 w 148"/>
                    <a:gd name="T63" fmla="*/ 229 h 265"/>
                    <a:gd name="T64" fmla="*/ 43 w 148"/>
                    <a:gd name="T65" fmla="*/ 197 h 265"/>
                    <a:gd name="T66" fmla="*/ 57 w 148"/>
                    <a:gd name="T67" fmla="*/ 171 h 265"/>
                    <a:gd name="T68" fmla="*/ 63 w 148"/>
                    <a:gd name="T69" fmla="*/ 148 h 265"/>
                    <a:gd name="T70" fmla="*/ 65 w 148"/>
                    <a:gd name="T71" fmla="*/ 128 h 265"/>
                    <a:gd name="T72" fmla="*/ 63 w 148"/>
                    <a:gd name="T73" fmla="*/ 110 h 265"/>
                    <a:gd name="T74" fmla="*/ 63 w 148"/>
                    <a:gd name="T75" fmla="*/ 98 h 265"/>
                    <a:gd name="T76" fmla="*/ 62 w 148"/>
                    <a:gd name="T77" fmla="*/ 84 h 265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48"/>
                    <a:gd name="T118" fmla="*/ 0 h 265"/>
                    <a:gd name="T119" fmla="*/ 148 w 148"/>
                    <a:gd name="T120" fmla="*/ 265 h 265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48" h="265">
                      <a:moveTo>
                        <a:pt x="62" y="84"/>
                      </a:moveTo>
                      <a:lnTo>
                        <a:pt x="66" y="58"/>
                      </a:lnTo>
                      <a:lnTo>
                        <a:pt x="75" y="38"/>
                      </a:lnTo>
                      <a:lnTo>
                        <a:pt x="75" y="7"/>
                      </a:lnTo>
                      <a:lnTo>
                        <a:pt x="58" y="0"/>
                      </a:lnTo>
                      <a:lnTo>
                        <a:pt x="43" y="1"/>
                      </a:lnTo>
                      <a:lnTo>
                        <a:pt x="26" y="11"/>
                      </a:lnTo>
                      <a:lnTo>
                        <a:pt x="23" y="29"/>
                      </a:lnTo>
                      <a:lnTo>
                        <a:pt x="27" y="64"/>
                      </a:lnTo>
                      <a:lnTo>
                        <a:pt x="40" y="108"/>
                      </a:lnTo>
                      <a:lnTo>
                        <a:pt x="44" y="129"/>
                      </a:lnTo>
                      <a:lnTo>
                        <a:pt x="44" y="150"/>
                      </a:lnTo>
                      <a:lnTo>
                        <a:pt x="37" y="174"/>
                      </a:lnTo>
                      <a:lnTo>
                        <a:pt x="23" y="203"/>
                      </a:lnTo>
                      <a:lnTo>
                        <a:pt x="13" y="219"/>
                      </a:lnTo>
                      <a:lnTo>
                        <a:pt x="5" y="231"/>
                      </a:lnTo>
                      <a:lnTo>
                        <a:pt x="0" y="245"/>
                      </a:lnTo>
                      <a:lnTo>
                        <a:pt x="3" y="254"/>
                      </a:lnTo>
                      <a:lnTo>
                        <a:pt x="14" y="257"/>
                      </a:lnTo>
                      <a:lnTo>
                        <a:pt x="31" y="257"/>
                      </a:lnTo>
                      <a:lnTo>
                        <a:pt x="60" y="252"/>
                      </a:lnTo>
                      <a:lnTo>
                        <a:pt x="86" y="257"/>
                      </a:lnTo>
                      <a:lnTo>
                        <a:pt x="111" y="264"/>
                      </a:lnTo>
                      <a:lnTo>
                        <a:pt x="125" y="264"/>
                      </a:lnTo>
                      <a:lnTo>
                        <a:pt x="137" y="257"/>
                      </a:lnTo>
                      <a:lnTo>
                        <a:pt x="147" y="247"/>
                      </a:lnTo>
                      <a:lnTo>
                        <a:pt x="124" y="241"/>
                      </a:lnTo>
                      <a:lnTo>
                        <a:pt x="86" y="238"/>
                      </a:lnTo>
                      <a:lnTo>
                        <a:pt x="46" y="240"/>
                      </a:lnTo>
                      <a:lnTo>
                        <a:pt x="31" y="246"/>
                      </a:lnTo>
                      <a:lnTo>
                        <a:pt x="23" y="239"/>
                      </a:lnTo>
                      <a:lnTo>
                        <a:pt x="27" y="229"/>
                      </a:lnTo>
                      <a:lnTo>
                        <a:pt x="43" y="197"/>
                      </a:lnTo>
                      <a:lnTo>
                        <a:pt x="57" y="171"/>
                      </a:lnTo>
                      <a:lnTo>
                        <a:pt x="63" y="148"/>
                      </a:lnTo>
                      <a:lnTo>
                        <a:pt x="65" y="128"/>
                      </a:lnTo>
                      <a:lnTo>
                        <a:pt x="63" y="110"/>
                      </a:lnTo>
                      <a:lnTo>
                        <a:pt x="63" y="98"/>
                      </a:lnTo>
                      <a:lnTo>
                        <a:pt x="62" y="84"/>
                      </a:lnTo>
                    </a:path>
                  </a:pathLst>
                </a:custGeom>
                <a:solidFill>
                  <a:srgbClr val="EAEC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26" name="Freeform 18"/>
                <p:cNvSpPr/>
                <p:nvPr/>
              </p:nvSpPr>
              <p:spPr bwMode="auto">
                <a:xfrm>
                  <a:off x="242" y="3803"/>
                  <a:ext cx="317" cy="158"/>
                </a:xfrm>
                <a:custGeom>
                  <a:avLst/>
                  <a:gdLst>
                    <a:gd name="T0" fmla="*/ 47 w 317"/>
                    <a:gd name="T1" fmla="*/ 127 h 158"/>
                    <a:gd name="T2" fmla="*/ 34 w 317"/>
                    <a:gd name="T3" fmla="*/ 120 h 158"/>
                    <a:gd name="T4" fmla="*/ 12 w 317"/>
                    <a:gd name="T5" fmla="*/ 114 h 158"/>
                    <a:gd name="T6" fmla="*/ 1 w 317"/>
                    <a:gd name="T7" fmla="*/ 120 h 158"/>
                    <a:gd name="T8" fmla="*/ 0 w 317"/>
                    <a:gd name="T9" fmla="*/ 134 h 158"/>
                    <a:gd name="T10" fmla="*/ 14 w 317"/>
                    <a:gd name="T11" fmla="*/ 143 h 158"/>
                    <a:gd name="T12" fmla="*/ 34 w 317"/>
                    <a:gd name="T13" fmla="*/ 148 h 158"/>
                    <a:gd name="T14" fmla="*/ 75 w 317"/>
                    <a:gd name="T15" fmla="*/ 154 h 158"/>
                    <a:gd name="T16" fmla="*/ 113 w 317"/>
                    <a:gd name="T17" fmla="*/ 157 h 158"/>
                    <a:gd name="T18" fmla="*/ 151 w 317"/>
                    <a:gd name="T19" fmla="*/ 153 h 158"/>
                    <a:gd name="T20" fmla="*/ 191 w 317"/>
                    <a:gd name="T21" fmla="*/ 129 h 158"/>
                    <a:gd name="T22" fmla="*/ 217 w 317"/>
                    <a:gd name="T23" fmla="*/ 93 h 158"/>
                    <a:gd name="T24" fmla="*/ 240 w 317"/>
                    <a:gd name="T25" fmla="*/ 58 h 158"/>
                    <a:gd name="T26" fmla="*/ 256 w 317"/>
                    <a:gd name="T27" fmla="*/ 41 h 158"/>
                    <a:gd name="T28" fmla="*/ 278 w 317"/>
                    <a:gd name="T29" fmla="*/ 44 h 158"/>
                    <a:gd name="T30" fmla="*/ 304 w 317"/>
                    <a:gd name="T31" fmla="*/ 52 h 158"/>
                    <a:gd name="T32" fmla="*/ 311 w 317"/>
                    <a:gd name="T33" fmla="*/ 47 h 158"/>
                    <a:gd name="T34" fmla="*/ 284 w 317"/>
                    <a:gd name="T35" fmla="*/ 38 h 158"/>
                    <a:gd name="T36" fmla="*/ 285 w 317"/>
                    <a:gd name="T37" fmla="*/ 34 h 158"/>
                    <a:gd name="T38" fmla="*/ 316 w 317"/>
                    <a:gd name="T39" fmla="*/ 25 h 158"/>
                    <a:gd name="T40" fmla="*/ 309 w 317"/>
                    <a:gd name="T41" fmla="*/ 21 h 158"/>
                    <a:gd name="T42" fmla="*/ 293 w 317"/>
                    <a:gd name="T43" fmla="*/ 23 h 158"/>
                    <a:gd name="T44" fmla="*/ 276 w 317"/>
                    <a:gd name="T45" fmla="*/ 27 h 158"/>
                    <a:gd name="T46" fmla="*/ 274 w 317"/>
                    <a:gd name="T47" fmla="*/ 25 h 158"/>
                    <a:gd name="T48" fmla="*/ 285 w 317"/>
                    <a:gd name="T49" fmla="*/ 1 h 158"/>
                    <a:gd name="T50" fmla="*/ 280 w 317"/>
                    <a:gd name="T51" fmla="*/ 0 h 158"/>
                    <a:gd name="T52" fmla="*/ 278 w 317"/>
                    <a:gd name="T53" fmla="*/ 0 h 158"/>
                    <a:gd name="T54" fmla="*/ 265 w 317"/>
                    <a:gd name="T55" fmla="*/ 22 h 158"/>
                    <a:gd name="T56" fmla="*/ 260 w 317"/>
                    <a:gd name="T57" fmla="*/ 23 h 158"/>
                    <a:gd name="T58" fmla="*/ 251 w 317"/>
                    <a:gd name="T59" fmla="*/ 1 h 158"/>
                    <a:gd name="T60" fmla="*/ 248 w 317"/>
                    <a:gd name="T61" fmla="*/ 1 h 158"/>
                    <a:gd name="T62" fmla="*/ 243 w 317"/>
                    <a:gd name="T63" fmla="*/ 6 h 158"/>
                    <a:gd name="T64" fmla="*/ 251 w 317"/>
                    <a:gd name="T65" fmla="*/ 23 h 158"/>
                    <a:gd name="T66" fmla="*/ 245 w 317"/>
                    <a:gd name="T67" fmla="*/ 36 h 158"/>
                    <a:gd name="T68" fmla="*/ 230 w 317"/>
                    <a:gd name="T69" fmla="*/ 54 h 158"/>
                    <a:gd name="T70" fmla="*/ 214 w 317"/>
                    <a:gd name="T71" fmla="*/ 80 h 158"/>
                    <a:gd name="T72" fmla="*/ 191 w 317"/>
                    <a:gd name="T73" fmla="*/ 112 h 158"/>
                    <a:gd name="T74" fmla="*/ 164 w 317"/>
                    <a:gd name="T75" fmla="*/ 129 h 158"/>
                    <a:gd name="T76" fmla="*/ 140 w 317"/>
                    <a:gd name="T77" fmla="*/ 136 h 158"/>
                    <a:gd name="T78" fmla="*/ 103 w 317"/>
                    <a:gd name="T79" fmla="*/ 137 h 158"/>
                    <a:gd name="T80" fmla="*/ 68 w 317"/>
                    <a:gd name="T81" fmla="*/ 132 h 158"/>
                    <a:gd name="T82" fmla="*/ 40 w 317"/>
                    <a:gd name="T83" fmla="*/ 126 h 158"/>
                    <a:gd name="T84" fmla="*/ 37 w 317"/>
                    <a:gd name="T85" fmla="*/ 123 h 158"/>
                    <a:gd name="T86" fmla="*/ 47 w 317"/>
                    <a:gd name="T87" fmla="*/ 127 h 15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17"/>
                    <a:gd name="T133" fmla="*/ 0 h 158"/>
                    <a:gd name="T134" fmla="*/ 317 w 317"/>
                    <a:gd name="T135" fmla="*/ 158 h 15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17" h="158">
                      <a:moveTo>
                        <a:pt x="47" y="127"/>
                      </a:moveTo>
                      <a:lnTo>
                        <a:pt x="34" y="120"/>
                      </a:lnTo>
                      <a:lnTo>
                        <a:pt x="12" y="114"/>
                      </a:lnTo>
                      <a:lnTo>
                        <a:pt x="1" y="120"/>
                      </a:lnTo>
                      <a:lnTo>
                        <a:pt x="0" y="134"/>
                      </a:lnTo>
                      <a:lnTo>
                        <a:pt x="14" y="143"/>
                      </a:lnTo>
                      <a:lnTo>
                        <a:pt x="34" y="148"/>
                      </a:lnTo>
                      <a:lnTo>
                        <a:pt x="75" y="154"/>
                      </a:lnTo>
                      <a:lnTo>
                        <a:pt x="113" y="157"/>
                      </a:lnTo>
                      <a:lnTo>
                        <a:pt x="151" y="153"/>
                      </a:lnTo>
                      <a:lnTo>
                        <a:pt x="191" y="129"/>
                      </a:lnTo>
                      <a:lnTo>
                        <a:pt x="217" y="93"/>
                      </a:lnTo>
                      <a:lnTo>
                        <a:pt x="240" y="58"/>
                      </a:lnTo>
                      <a:lnTo>
                        <a:pt x="256" y="41"/>
                      </a:lnTo>
                      <a:lnTo>
                        <a:pt x="278" y="44"/>
                      </a:lnTo>
                      <a:lnTo>
                        <a:pt x="304" y="52"/>
                      </a:lnTo>
                      <a:lnTo>
                        <a:pt x="311" y="47"/>
                      </a:lnTo>
                      <a:lnTo>
                        <a:pt x="284" y="38"/>
                      </a:lnTo>
                      <a:lnTo>
                        <a:pt x="285" y="34"/>
                      </a:lnTo>
                      <a:lnTo>
                        <a:pt x="316" y="25"/>
                      </a:lnTo>
                      <a:lnTo>
                        <a:pt x="309" y="21"/>
                      </a:lnTo>
                      <a:lnTo>
                        <a:pt x="293" y="23"/>
                      </a:lnTo>
                      <a:lnTo>
                        <a:pt x="276" y="27"/>
                      </a:lnTo>
                      <a:lnTo>
                        <a:pt x="274" y="25"/>
                      </a:lnTo>
                      <a:lnTo>
                        <a:pt x="285" y="1"/>
                      </a:lnTo>
                      <a:lnTo>
                        <a:pt x="280" y="0"/>
                      </a:lnTo>
                      <a:lnTo>
                        <a:pt x="278" y="0"/>
                      </a:lnTo>
                      <a:lnTo>
                        <a:pt x="265" y="22"/>
                      </a:lnTo>
                      <a:lnTo>
                        <a:pt x="260" y="23"/>
                      </a:lnTo>
                      <a:lnTo>
                        <a:pt x="251" y="1"/>
                      </a:lnTo>
                      <a:lnTo>
                        <a:pt x="248" y="1"/>
                      </a:lnTo>
                      <a:lnTo>
                        <a:pt x="243" y="6"/>
                      </a:lnTo>
                      <a:lnTo>
                        <a:pt x="251" y="23"/>
                      </a:lnTo>
                      <a:lnTo>
                        <a:pt x="245" y="36"/>
                      </a:lnTo>
                      <a:lnTo>
                        <a:pt x="230" y="54"/>
                      </a:lnTo>
                      <a:lnTo>
                        <a:pt x="214" y="80"/>
                      </a:lnTo>
                      <a:lnTo>
                        <a:pt x="191" y="112"/>
                      </a:lnTo>
                      <a:lnTo>
                        <a:pt x="164" y="129"/>
                      </a:lnTo>
                      <a:lnTo>
                        <a:pt x="140" y="136"/>
                      </a:lnTo>
                      <a:lnTo>
                        <a:pt x="103" y="137"/>
                      </a:lnTo>
                      <a:lnTo>
                        <a:pt x="68" y="132"/>
                      </a:lnTo>
                      <a:lnTo>
                        <a:pt x="40" y="126"/>
                      </a:lnTo>
                      <a:lnTo>
                        <a:pt x="37" y="123"/>
                      </a:lnTo>
                      <a:lnTo>
                        <a:pt x="47" y="127"/>
                      </a:lnTo>
                    </a:path>
                  </a:pathLst>
                </a:custGeom>
                <a:solidFill>
                  <a:srgbClr val="EAEC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4518" name="Rectangle 19"/>
            <p:cNvSpPr>
              <a:spLocks noChangeArrowheads="1"/>
            </p:cNvSpPr>
            <p:nvPr/>
          </p:nvSpPr>
          <p:spPr bwMode="auto">
            <a:xfrm>
              <a:off x="1104" y="3216"/>
              <a:ext cx="3696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1pPr>
              <a:lvl2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9pPr>
            </a:lstStyle>
            <a:p>
              <a:pPr lvl="1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chemeClr val="hlink"/>
                  </a:solidFill>
                </a:rPr>
                <a:t>请问：这里为什么要用两个</a:t>
              </a:r>
              <a:r>
                <a:rPr lang="zh-CN" altLang="en-US" b="1">
                  <a:solidFill>
                    <a:schemeClr val="hlink"/>
                  </a:solidFill>
                  <a:latin typeface="Times New Roman" panose="02020503050405090304" pitchFamily="18" charset="0"/>
                </a:rPr>
                <a:t>“</a:t>
              </a:r>
              <a:r>
                <a:rPr lang="zh-CN" altLang="en-US" b="1">
                  <a:solidFill>
                    <a:schemeClr val="hlink"/>
                  </a:solidFill>
                </a:rPr>
                <a:t>_</a:t>
              </a:r>
              <a:r>
                <a:rPr lang="zh-CN" altLang="en-US" b="1">
                  <a:solidFill>
                    <a:schemeClr val="hlink"/>
                  </a:solidFill>
                  <a:latin typeface="Times New Roman" panose="02020503050405090304" pitchFamily="18" charset="0"/>
                </a:rPr>
                <a:t>”</a:t>
              </a:r>
              <a:r>
                <a:rPr lang="zh-CN" altLang="en-US" b="1">
                  <a:solidFill>
                    <a:schemeClr val="hlink"/>
                  </a:solidFill>
                </a:rPr>
                <a:t>?</a:t>
              </a:r>
            </a:p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例题（续）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[例17]  查询名字中第2个字为"阳"字的学生的姓名和学号。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 </a:t>
            </a:r>
            <a:r>
              <a:rPr lang="en-US" altLang="zh-CN" sz="2400" b="1"/>
              <a:t>SELECT Sname，Sno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 FROM Student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 WHERE Sname LIKE </a:t>
            </a:r>
            <a:r>
              <a:rPr lang="en-US" altLang="zh-CN" sz="2400" b="1">
                <a:latin typeface="Times New Roman" panose="02020503050405090304" pitchFamily="18" charset="0"/>
              </a:rPr>
              <a:t>‘</a:t>
            </a:r>
            <a:r>
              <a:rPr lang="en-US" altLang="zh-CN" sz="2400" b="1"/>
              <a:t>_ _</a:t>
            </a:r>
            <a:r>
              <a:rPr lang="zh-CN" altLang="en-US" sz="2400" b="1"/>
              <a:t>阳%'；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例题（续）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[例18]  查询所有不姓刘的学生姓名。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      </a:t>
            </a:r>
            <a:r>
              <a:rPr lang="en-US" altLang="zh-CN" sz="2400" b="1" dirty="0"/>
              <a:t>SELECT </a:t>
            </a:r>
            <a:r>
              <a:rPr lang="en-US" altLang="zh-CN" sz="2400" b="1" dirty="0" err="1"/>
              <a:t>Sname，Sno，Ssex</a:t>
            </a:r>
            <a:endParaRPr lang="en-US" altLang="zh-CN" sz="24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      FROM Student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      WHERE </a:t>
            </a:r>
            <a:r>
              <a:rPr lang="en-US" altLang="zh-CN" sz="2400" b="1" dirty="0" err="1"/>
              <a:t>Sname</a:t>
            </a:r>
            <a:r>
              <a:rPr lang="en-US" altLang="zh-CN" sz="2400" b="1" dirty="0"/>
              <a:t> NOT LIKE '</a:t>
            </a:r>
            <a:r>
              <a:rPr lang="zh-CN" altLang="en-US" sz="2400" b="1" dirty="0"/>
              <a:t>刘%'；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(5) 涉及空值的查询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/>
              <a:t> </a:t>
            </a:r>
            <a:r>
              <a:rPr lang="zh-CN" altLang="en-US" sz="2800" b="1"/>
              <a:t>使用谓词 </a:t>
            </a:r>
            <a:r>
              <a:rPr lang="en-US" altLang="zh-CN" sz="2800" b="1"/>
              <a:t>IS NULL </a:t>
            </a:r>
            <a:r>
              <a:rPr lang="zh-CN" altLang="en-US" sz="2800" b="1"/>
              <a:t>或 </a:t>
            </a:r>
            <a:r>
              <a:rPr lang="en-US" altLang="zh-CN" sz="2800" b="1"/>
              <a:t>IS NOT NULL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 </a:t>
            </a:r>
            <a:r>
              <a:rPr lang="en-US" altLang="zh-CN" sz="2800" b="1">
                <a:solidFill>
                  <a:srgbClr val="CC0099"/>
                </a:solidFill>
                <a:latin typeface="Times New Roman" panose="02020503050405090304" pitchFamily="18" charset="0"/>
              </a:rPr>
              <a:t>“</a:t>
            </a:r>
            <a:r>
              <a:rPr lang="en-US" altLang="zh-CN" sz="2800" b="1">
                <a:solidFill>
                  <a:srgbClr val="CC0099"/>
                </a:solidFill>
              </a:rPr>
              <a:t>IS NULL</a:t>
            </a:r>
            <a:r>
              <a:rPr lang="en-US" altLang="zh-CN" sz="2800" b="1">
                <a:solidFill>
                  <a:srgbClr val="CC0099"/>
                </a:solidFill>
                <a:latin typeface="Times New Roman" panose="02020503050405090304" pitchFamily="18" charset="0"/>
              </a:rPr>
              <a:t>”</a:t>
            </a:r>
            <a:r>
              <a:rPr lang="en-US" altLang="zh-CN" sz="2800" b="1">
                <a:solidFill>
                  <a:srgbClr val="CC0099"/>
                </a:solidFill>
              </a:rPr>
              <a:t> </a:t>
            </a:r>
            <a:r>
              <a:rPr lang="zh-CN" altLang="en-US" sz="2800" b="1">
                <a:solidFill>
                  <a:srgbClr val="CC0099"/>
                </a:solidFill>
              </a:rPr>
              <a:t>不能用 </a:t>
            </a:r>
            <a:r>
              <a:rPr lang="zh-CN" altLang="en-US" sz="2800" b="1">
                <a:solidFill>
                  <a:srgbClr val="CC0099"/>
                </a:solidFill>
                <a:latin typeface="Times New Roman" panose="02020503050405090304" pitchFamily="18" charset="0"/>
              </a:rPr>
              <a:t>“</a:t>
            </a:r>
            <a:r>
              <a:rPr lang="zh-CN" altLang="en-US" sz="2800" b="1">
                <a:solidFill>
                  <a:srgbClr val="CC0099"/>
                </a:solidFill>
              </a:rPr>
              <a:t>= </a:t>
            </a:r>
            <a:r>
              <a:rPr lang="en-US" altLang="zh-CN" sz="2800" b="1">
                <a:solidFill>
                  <a:srgbClr val="CC0099"/>
                </a:solidFill>
              </a:rPr>
              <a:t>NULL</a:t>
            </a:r>
            <a:r>
              <a:rPr lang="en-US" altLang="zh-CN" sz="2800" b="1">
                <a:solidFill>
                  <a:srgbClr val="CC0099"/>
                </a:solidFill>
                <a:latin typeface="Times New Roman" panose="02020503050405090304" pitchFamily="18" charset="0"/>
              </a:rPr>
              <a:t>”</a:t>
            </a:r>
            <a:r>
              <a:rPr lang="en-US" altLang="zh-CN" sz="2800" b="1">
                <a:solidFill>
                  <a:srgbClr val="CC0099"/>
                </a:solidFill>
              </a:rPr>
              <a:t> </a:t>
            </a:r>
            <a:r>
              <a:rPr lang="zh-CN" altLang="en-US" sz="2800" b="1">
                <a:solidFill>
                  <a:srgbClr val="CC0099"/>
                </a:solidFill>
              </a:rPr>
              <a:t>代替</a:t>
            </a:r>
            <a:endParaRPr lang="zh-CN" altLang="en-US" b="1">
              <a:solidFill>
                <a:srgbClr val="CC0099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[例21]  某些学生选修课程后没有参加考试，所以有选课记录，但没有考试成绩。查询缺少成绩的学生的学号和相应的课程号。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 </a:t>
            </a:r>
            <a:r>
              <a:rPr lang="en-US" altLang="zh-CN" sz="2400" b="1"/>
              <a:t>SELECT Sno，Cno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FROM SC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WHERE Grade IS NULL；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例题(续) 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[例22]  查所有有成绩的学生学号和课程号。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 </a:t>
            </a:r>
            <a:r>
              <a:rPr lang="en-US" altLang="zh-CN" b="1"/>
              <a:t>SELECT Sno，Cno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   FROM  SC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   WHERE  Grade IS NOT NULL；</a:t>
            </a:r>
            <a:endParaRPr lang="en-US" altLang="zh-CN" sz="32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(6) 多重条件查询</a:t>
            </a:r>
            <a:endParaRPr lang="zh-CN" altLang="en-US" b="1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用逻辑运算符</a:t>
            </a:r>
            <a:r>
              <a:rPr lang="en-US" altLang="zh-CN" sz="2800" b="1"/>
              <a:t>AND</a:t>
            </a:r>
            <a:r>
              <a:rPr lang="zh-CN" altLang="en-US" sz="2800" b="1"/>
              <a:t>和 </a:t>
            </a:r>
            <a:r>
              <a:rPr lang="en-US" altLang="zh-CN" sz="2800" b="1"/>
              <a:t>OR</a:t>
            </a:r>
            <a:r>
              <a:rPr lang="zh-CN" altLang="en-US" sz="2800" b="1"/>
              <a:t>来联结多个查询条件</a:t>
            </a:r>
            <a:endParaRPr lang="zh-CN" altLang="en-US" b="1"/>
          </a:p>
          <a:p>
            <a:pPr lvl="2" eaLnBrk="1" hangingPunct="1">
              <a:lnSpc>
                <a:spcPct val="140000"/>
              </a:lnSpc>
            </a:pPr>
            <a:r>
              <a:rPr lang="zh-CN" altLang="en-US" b="1"/>
              <a:t> </a:t>
            </a:r>
            <a:r>
              <a:rPr lang="en-US" altLang="zh-CN" b="1"/>
              <a:t>AND</a:t>
            </a:r>
            <a:r>
              <a:rPr lang="zh-CN" altLang="en-US" b="1"/>
              <a:t>的优先级高于</a:t>
            </a:r>
            <a:r>
              <a:rPr lang="en-US" altLang="zh-CN" b="1"/>
              <a:t>OR</a:t>
            </a:r>
          </a:p>
          <a:p>
            <a:pPr lvl="2" eaLnBrk="1" hangingPunct="1">
              <a:lnSpc>
                <a:spcPct val="140000"/>
              </a:lnSpc>
            </a:pPr>
            <a:r>
              <a:rPr lang="en-US" altLang="zh-CN" b="1"/>
              <a:t> </a:t>
            </a:r>
            <a:r>
              <a:rPr lang="zh-CN" altLang="en-US" b="1"/>
              <a:t>可以用括号改变优先级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可用来实现多种其他谓词</a:t>
            </a:r>
            <a:endParaRPr lang="zh-CN" altLang="en-US" b="1"/>
          </a:p>
          <a:p>
            <a:pPr lvl="2" eaLnBrk="1" hangingPunct="1">
              <a:lnSpc>
                <a:spcPct val="140000"/>
              </a:lnSpc>
            </a:pPr>
            <a:r>
              <a:rPr lang="zh-CN" altLang="en-US" b="1"/>
              <a:t> [</a:t>
            </a:r>
            <a:r>
              <a:rPr lang="en-US" altLang="zh-CN" b="1"/>
              <a:t>NOT] IN</a:t>
            </a:r>
          </a:p>
          <a:p>
            <a:pPr lvl="2" eaLnBrk="1" hangingPunct="1">
              <a:lnSpc>
                <a:spcPct val="140000"/>
              </a:lnSpc>
            </a:pPr>
            <a:r>
              <a:rPr lang="en-US" altLang="zh-CN" b="1"/>
              <a:t> [NOT] BETWEEN </a:t>
            </a:r>
            <a:r>
              <a:rPr lang="en-US" altLang="zh-CN" b="1">
                <a:latin typeface="Times New Roman" panose="02020503050405090304" pitchFamily="18" charset="0"/>
              </a:rPr>
              <a:t>…</a:t>
            </a:r>
            <a:r>
              <a:rPr lang="en-US" altLang="zh-CN" b="1"/>
              <a:t>   AND  </a:t>
            </a:r>
            <a:r>
              <a:rPr lang="en-US" altLang="zh-CN" b="1">
                <a:latin typeface="Times New Roman" panose="02020503050405090304" pitchFamily="18" charset="0"/>
              </a:rPr>
              <a:t>…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例题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[例23]  查询计算机系年龄在20岁以下的学生姓名。</a:t>
            </a:r>
            <a:endParaRPr lang="zh-CN" altLang="en-US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</a:t>
            </a:r>
            <a:r>
              <a:rPr lang="en-US" altLang="zh-CN" sz="2400" b="1"/>
              <a:t>SELECT Sname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  FROM 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  WHERE Sdept= 'CS' AND Sage&lt;20；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改写[例12]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28800"/>
            <a:ext cx="81534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[例12]  查询信息系（</a:t>
            </a:r>
            <a:r>
              <a:rPr lang="en-US" altLang="zh-CN" sz="2400" b="1"/>
              <a:t>IS）、</a:t>
            </a:r>
            <a:r>
              <a:rPr lang="zh-CN" altLang="en-US" sz="2400" b="1"/>
              <a:t>数学系（</a:t>
            </a:r>
            <a:r>
              <a:rPr lang="en-US" altLang="zh-CN" sz="2400" b="1"/>
              <a:t>MA）</a:t>
            </a:r>
            <a:r>
              <a:rPr lang="zh-CN" altLang="en-US" sz="2400" b="1"/>
              <a:t>和计算机科学系（</a:t>
            </a:r>
            <a:r>
              <a:rPr lang="en-US" altLang="zh-CN" sz="2400" b="1"/>
              <a:t>CS）</a:t>
            </a:r>
            <a:r>
              <a:rPr lang="zh-CN" altLang="en-US" sz="2400" b="1"/>
              <a:t>学生的姓名和性别。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b="1"/>
              <a:t>SELECT Sname，Ssex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b="1"/>
              <a:t>FROM Student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b="1"/>
              <a:t>WHERE Sdept IN ( 'IS'，'MA'，'CS' )</a:t>
            </a:r>
            <a:endParaRPr lang="en-US" altLang="zh-CN" sz="2000" b="1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可改写为：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SELECT Sname，Ssex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FROM  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WHERE  Sdept= ' IS ' OR Sdept= ' MA' OR Sdept= ' CS '；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uild="p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改写[例10]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[例10]  查询年龄在20~23岁（包括20岁和23岁）之间的学生的姓名、系别和年龄</a:t>
            </a:r>
            <a:r>
              <a:rPr lang="zh-CN" altLang="en-US" b="1"/>
              <a:t>。</a:t>
            </a:r>
            <a:br>
              <a:rPr lang="zh-CN" altLang="en-US" b="1"/>
            </a:br>
            <a:r>
              <a:rPr lang="zh-CN" altLang="en-US" b="1"/>
              <a:t>     </a:t>
            </a:r>
            <a:r>
              <a:rPr lang="en-US" altLang="zh-CN" sz="2400" b="1"/>
              <a:t>SELECT Sname，Sdept，Sage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FROM Student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WHERE Sage BETWEEN 20 AND 23；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</a:t>
            </a:r>
            <a:r>
              <a:rPr lang="zh-CN" altLang="en-US" sz="2400" b="1"/>
              <a:t>可改写为：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</a:t>
            </a:r>
            <a:r>
              <a:rPr lang="en-US" altLang="zh-CN" sz="2400" b="1"/>
              <a:t>SELECT Sname，Sdept，Sage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FROM Student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WHERE  Sage&gt;=20 AND Sage&lt;=23；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build="p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3、对查询结果排序 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  <a:buFont typeface="SimSun" panose="02010600030101010101" pitchFamily="2" charset="-122"/>
              <a:buNone/>
            </a:pPr>
            <a:r>
              <a:rPr lang="zh-CN" altLang="en-US" sz="2800" b="1"/>
              <a:t>	使用</a:t>
            </a:r>
            <a:r>
              <a:rPr lang="en-US" altLang="zh-CN" sz="2800" b="1"/>
              <a:t>ORDER BY</a:t>
            </a:r>
            <a:r>
              <a:rPr lang="zh-CN" altLang="en-US" sz="2800" b="1"/>
              <a:t>子句</a:t>
            </a:r>
            <a:endParaRPr lang="zh-CN" altLang="en-US" b="1"/>
          </a:p>
          <a:p>
            <a:pPr lvl="2" algn="just" eaLnBrk="1" hangingPunct="1">
              <a:lnSpc>
                <a:spcPct val="150000"/>
              </a:lnSpc>
            </a:pPr>
            <a:r>
              <a:rPr lang="zh-CN" altLang="en-US" b="1"/>
              <a:t> 可以按一个或多个属性列排序</a:t>
            </a:r>
          </a:p>
          <a:p>
            <a:pPr lvl="2" algn="just" eaLnBrk="1" hangingPunct="1">
              <a:lnSpc>
                <a:spcPct val="150000"/>
              </a:lnSpc>
            </a:pPr>
            <a:r>
              <a:rPr lang="zh-CN" altLang="en-US" b="1"/>
              <a:t> 升序：</a:t>
            </a:r>
            <a:r>
              <a:rPr lang="en-US" altLang="zh-CN" b="1"/>
              <a:t>ASC；</a:t>
            </a:r>
            <a:r>
              <a:rPr lang="zh-CN" altLang="en-US" b="1"/>
              <a:t>降序：</a:t>
            </a:r>
            <a:r>
              <a:rPr lang="en-US" altLang="zh-CN" b="1"/>
              <a:t>DESC；</a:t>
            </a:r>
            <a:r>
              <a:rPr lang="zh-CN" altLang="en-US" b="1"/>
              <a:t>缺省值为升序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当排序列含空值时</a:t>
            </a:r>
          </a:p>
          <a:p>
            <a:pPr lvl="2" algn="just" eaLnBrk="1" hangingPunct="1">
              <a:lnSpc>
                <a:spcPct val="150000"/>
              </a:lnSpc>
            </a:pPr>
            <a:r>
              <a:rPr lang="en-US" altLang="zh-CN" b="1"/>
              <a:t>ASC：</a:t>
            </a:r>
            <a:r>
              <a:rPr lang="zh-CN" altLang="en-US" b="1"/>
              <a:t>排序列为空值的元组最后显示</a:t>
            </a:r>
          </a:p>
          <a:p>
            <a:pPr lvl="2" algn="just" eaLnBrk="1" hangingPunct="1">
              <a:lnSpc>
                <a:spcPct val="150000"/>
              </a:lnSpc>
            </a:pPr>
            <a:r>
              <a:rPr lang="en-US" altLang="zh-CN" b="1"/>
              <a:t>DESC：</a:t>
            </a:r>
            <a:r>
              <a:rPr lang="zh-CN" altLang="en-US" b="1"/>
              <a:t>排序列为空值的元组最先显示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对查询结果排序（续） 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[例24]  查询选修了3号课程的学生的学号及其成绩，查询结果按分数降序排列。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zh-CN" altLang="en-US" b="1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</a:t>
            </a:r>
            <a:r>
              <a:rPr lang="en-US" altLang="zh-CN" b="1"/>
              <a:t>SELECT Sno，Grade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 FROM  SC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 WHERE  Cno= ' 3 '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 ORDER BY Grade DESC；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查询结果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        </a:t>
            </a:r>
            <a:r>
              <a:rPr lang="en-US" altLang="zh-CN" sz="2400" b="1"/>
              <a:t>Sno        Grade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 -------    -------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  95010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  95024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  95007       92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  95003       82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  95010       82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  95009       75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  95014       61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  95002       55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对查询结果排序（续） 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[例25]  查询全体学生情况，查询结果按所在系的系号升序排列，同一系中的学生按年龄降序排列。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</a:t>
            </a:r>
            <a:r>
              <a:rPr lang="en-US" altLang="zh-CN" b="1"/>
              <a:t>SELECT  *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 FROM  Student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 ORDER BY Sdept，Sage DESC；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1143000" y="609600"/>
            <a:ext cx="779303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 sz="4400">
              <a:solidFill>
                <a:schemeClr val="tx2"/>
              </a:solidFill>
            </a:endParaRPr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4. </a:t>
            </a:r>
            <a:r>
              <a:rPr lang="zh-CN" altLang="en-US" b="1"/>
              <a:t>使用集函数 </a:t>
            </a:r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0" y="2057400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 sz="2800" b="1"/>
              <a:t>计数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COUNT（[DISTINCT|</a:t>
            </a:r>
            <a:r>
              <a:rPr lang="en-US" altLang="zh-CN" b="1" u="sng"/>
              <a:t>ALL</a:t>
            </a:r>
            <a:r>
              <a:rPr lang="en-US" altLang="zh-CN" b="1"/>
              <a:t>] *）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COUNT（[DISTINCT|</a:t>
            </a:r>
            <a:r>
              <a:rPr lang="en-US" altLang="zh-CN" b="1" u="sng"/>
              <a:t>ALL</a:t>
            </a:r>
            <a:r>
              <a:rPr lang="en-US" altLang="zh-CN" b="1"/>
              <a:t>] &lt;</a:t>
            </a:r>
            <a:r>
              <a:rPr lang="zh-CN" altLang="en-US" b="1"/>
              <a:t>列名&gt;）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800" b="1"/>
              <a:t>计算总和</a:t>
            </a:r>
            <a:endParaRPr lang="zh-CN" altLang="en-US" sz="2400" b="1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SUM（[DISTINCT|</a:t>
            </a:r>
            <a:r>
              <a:rPr lang="en-US" altLang="zh-CN" b="1" u="sng"/>
              <a:t>ALL</a:t>
            </a:r>
            <a:r>
              <a:rPr lang="en-US" altLang="zh-CN" b="1"/>
              <a:t>] &lt;</a:t>
            </a:r>
            <a:r>
              <a:rPr lang="zh-CN" altLang="en-US" b="1"/>
              <a:t>列名&gt;）	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800" b="1"/>
              <a:t> 计算平均值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AVG（[DISTINCT|</a:t>
            </a:r>
            <a:r>
              <a:rPr lang="en-US" altLang="zh-CN" b="1" u="sng"/>
              <a:t>ALL</a:t>
            </a:r>
            <a:r>
              <a:rPr lang="en-US" altLang="zh-CN" b="1"/>
              <a:t>] &lt;</a:t>
            </a:r>
            <a:r>
              <a:rPr lang="zh-CN" altLang="en-US" b="1"/>
              <a:t>列名&gt;）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使用集函数（续）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zh-CN" altLang="en-US" b="1"/>
              <a:t>求最大值</a:t>
            </a:r>
          </a:p>
          <a:p>
            <a:pPr lvl="2" algn="just" eaLnBrk="1" hangingPunct="1">
              <a:buClr>
                <a:schemeClr val="hlink"/>
              </a:buClr>
              <a:buSzPct val="120000"/>
              <a:buFont typeface="Wingdings" panose="05000000000000000000" pitchFamily="2" charset="2"/>
              <a:buNone/>
            </a:pPr>
            <a:r>
              <a:rPr lang="en-US" altLang="zh-CN" sz="2800" b="1"/>
              <a:t>MAX（[DISTINCT|</a:t>
            </a:r>
            <a:r>
              <a:rPr lang="en-US" altLang="zh-CN" sz="2800" b="1" u="sng"/>
              <a:t>ALL</a:t>
            </a:r>
            <a:r>
              <a:rPr lang="en-US" altLang="zh-CN" sz="2800" b="1"/>
              <a:t>] &lt;</a:t>
            </a:r>
            <a:r>
              <a:rPr lang="zh-CN" altLang="en-US" sz="2800" b="1"/>
              <a:t>列名&gt;）	</a:t>
            </a:r>
            <a:endParaRPr lang="zh-CN" altLang="en-US" b="1"/>
          </a:p>
          <a:p>
            <a:pPr algn="just"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 sz="2800" b="1"/>
              <a:t>求最小值</a:t>
            </a:r>
          </a:p>
          <a:p>
            <a:pPr algn="just" eaLnBrk="1" hangingPunct="1">
              <a:buSzPct val="120000"/>
              <a:buFont typeface="Wingdings" panose="05000000000000000000" pitchFamily="2" charset="2"/>
              <a:buNone/>
            </a:pPr>
            <a:r>
              <a:rPr lang="en-US" altLang="zh-CN" sz="3600" b="1"/>
              <a:t>      </a:t>
            </a:r>
            <a:r>
              <a:rPr lang="en-US" altLang="zh-CN" sz="2800" b="1"/>
              <a:t>MIN（[DISTINCT|</a:t>
            </a:r>
            <a:r>
              <a:rPr lang="en-US" altLang="zh-CN" sz="2800" b="1" u="sng"/>
              <a:t>ALL</a:t>
            </a:r>
            <a:r>
              <a:rPr lang="en-US" altLang="zh-CN" sz="2800" b="1"/>
              <a:t>] &lt;</a:t>
            </a:r>
            <a:r>
              <a:rPr lang="zh-CN" altLang="en-US" sz="2800" b="1"/>
              <a:t>列名&gt;）</a:t>
            </a:r>
            <a:r>
              <a:rPr lang="zh-CN" altLang="en-US" sz="3600" b="1"/>
              <a:t>	</a:t>
            </a:r>
            <a:endParaRPr lang="zh-CN" altLang="en-US" b="1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[例26]  查询学生总人数。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</a:t>
            </a:r>
            <a:r>
              <a:rPr lang="en-US" altLang="zh-CN" sz="2800" b="1"/>
              <a:t>SELECT COUNT(*)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FROM  Student；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Courier New" panose="02070409020205090404" pitchFamily="49" charset="0"/>
              </a:rPr>
              <a:t> </a:t>
            </a:r>
            <a:endParaRPr lang="en-US" altLang="zh-CN" sz="2800" b="1"/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1143000" y="3962400"/>
            <a:ext cx="640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[</a:t>
            </a:r>
            <a:r>
              <a:rPr lang="zh-CN" altLang="en-US" sz="2800" b="1"/>
              <a:t>例27]  查询选修了课程的学生人数。</a:t>
            </a:r>
          </a:p>
          <a:p>
            <a:pPr lvl="2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sz="2800" b="1"/>
              <a:t>     </a:t>
            </a:r>
            <a:endParaRPr lang="zh-CN" altLang="en-US"/>
          </a:p>
        </p:txBody>
      </p:sp>
      <p:sp>
        <p:nvSpPr>
          <p:cNvPr id="138245" name="Rectangle 5"/>
          <p:cNvSpPr>
            <a:spLocks noChangeArrowheads="1"/>
          </p:cNvSpPr>
          <p:nvPr/>
        </p:nvSpPr>
        <p:spPr bwMode="auto">
          <a:xfrm>
            <a:off x="1143000" y="4648200"/>
            <a:ext cx="6324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800" b="1"/>
              <a:t>     SELECT COUNT(</a:t>
            </a:r>
            <a:r>
              <a:rPr lang="en-US" altLang="zh-CN" sz="2800" b="1">
                <a:solidFill>
                  <a:srgbClr val="D60093"/>
                </a:solidFill>
              </a:rPr>
              <a:t>DISTINCT</a:t>
            </a:r>
            <a:r>
              <a:rPr lang="en-US" altLang="zh-CN" sz="2800" b="1"/>
              <a:t> Sno)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800" b="1"/>
              <a:t>     FROM SC；</a:t>
            </a:r>
            <a:endParaRPr lang="zh-CN" altLang="en-US" b="1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7254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[例28]  计算1号课程的学生平均成绩。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Courier New" panose="02070409020205090404" pitchFamily="49" charset="0"/>
              </a:rPr>
              <a:t> </a:t>
            </a:r>
            <a:endParaRPr lang="en-US" altLang="zh-CN" sz="2400" b="1"/>
          </a:p>
        </p:txBody>
      </p:sp>
      <p:sp>
        <p:nvSpPr>
          <p:cNvPr id="139268" name="Rectangle 4"/>
          <p:cNvSpPr>
            <a:spLocks noChangeArrowheads="1"/>
          </p:cNvSpPr>
          <p:nvPr/>
        </p:nvSpPr>
        <p:spPr bwMode="auto">
          <a:xfrm>
            <a:off x="1295400" y="4343400"/>
            <a:ext cx="678021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[</a:t>
            </a:r>
            <a:r>
              <a:rPr lang="zh-CN" altLang="en-US" sz="2800" b="1"/>
              <a:t>例29]  查询选修1号课程的学生最高分数。</a:t>
            </a:r>
          </a:p>
          <a:p>
            <a:pPr lvl="1" algn="ctr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b="1"/>
              <a:t>     </a:t>
            </a:r>
            <a:endParaRPr lang="zh-CN" altLang="en-US"/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1676400" y="5410200"/>
            <a:ext cx="4953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9270" name="Rectangle 6"/>
          <p:cNvSpPr>
            <a:spLocks noChangeArrowheads="1"/>
          </p:cNvSpPr>
          <p:nvPr/>
        </p:nvSpPr>
        <p:spPr bwMode="auto">
          <a:xfrm>
            <a:off x="1828800" y="4724400"/>
            <a:ext cx="51054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/>
              <a:t>SELECT MAX(Grade)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/>
              <a:t>FROM SC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/>
              <a:t>WHERE Cno= ' 1 '；</a:t>
            </a:r>
            <a:endParaRPr lang="zh-CN" altLang="en-US" sz="2800"/>
          </a:p>
          <a:p>
            <a:pPr eaLnBrk="1" hangingPunct="1"/>
            <a:endParaRPr lang="zh-CN" altLang="en-US"/>
          </a:p>
        </p:txBody>
      </p:sp>
      <p:sp>
        <p:nvSpPr>
          <p:cNvPr id="139271" name="Rectangle 7"/>
          <p:cNvSpPr>
            <a:spLocks noChangeArrowheads="1"/>
          </p:cNvSpPr>
          <p:nvPr/>
        </p:nvSpPr>
        <p:spPr bwMode="auto">
          <a:xfrm>
            <a:off x="1828800" y="2667000"/>
            <a:ext cx="47244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/>
              <a:t>SELECT AVG(Grade)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/>
              <a:t>FROM SC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/>
              <a:t>WHERE Cno= ' 1 '；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 autoUpdateAnimBg="0"/>
      <p:bldP spid="139268" grpId="0" autoUpdateAnimBg="0"/>
      <p:bldP spid="139270" grpId="0" autoUpdateAnimBg="0"/>
      <p:bldP spid="139271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5. </a:t>
            </a:r>
            <a:r>
              <a:rPr lang="zh-CN" altLang="en-US" b="1"/>
              <a:t>对查询结果分组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使用</a:t>
            </a:r>
            <a:r>
              <a:rPr lang="en-US" altLang="zh-CN" b="1"/>
              <a:t>GROUP BY</a:t>
            </a:r>
            <a:r>
              <a:rPr lang="zh-CN" altLang="en-US" b="1"/>
              <a:t>子句分组 	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细化集函数的作用对象</a:t>
            </a:r>
            <a:endParaRPr lang="zh-CN" altLang="en-US" b="1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b="1"/>
              <a:t> 未对查询结果分组，集函数将作用于整个查询结果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b="1"/>
              <a:t> 对查询结果分组后，集函数将分别作用于每个组 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使用</a:t>
            </a:r>
            <a:r>
              <a:rPr lang="en-US" altLang="zh-CN" sz="4000" b="1"/>
              <a:t>GROUP BY</a:t>
            </a:r>
            <a:r>
              <a:rPr lang="zh-CN" altLang="en-US" sz="4000" b="1"/>
              <a:t>子句分组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2401887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[</a:t>
            </a:r>
            <a:r>
              <a:rPr lang="zh-CN" altLang="en-US" sz="2400" b="1">
                <a:ea typeface="黑体" panose="02010609060101010101" pitchFamily="49" charset="-122"/>
              </a:rPr>
              <a:t>例</a:t>
            </a:r>
            <a:r>
              <a:rPr lang="zh-CN" altLang="en-US" sz="2400" b="1"/>
              <a:t>30]  求各个课程号及相应的选课人数。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</a:t>
            </a:r>
            <a:r>
              <a:rPr lang="en-US" altLang="zh-CN" sz="2400" b="1"/>
              <a:t>SELECT Cno，</a:t>
            </a:r>
            <a:r>
              <a:rPr lang="en-US" altLang="zh-CN" sz="2400" b="1">
                <a:solidFill>
                  <a:srgbClr val="852121"/>
                </a:solidFill>
              </a:rPr>
              <a:t>COUNT(Sno)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FROM    SC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GROUP BY Cno；</a:t>
            </a:r>
            <a:r>
              <a:rPr lang="en-US" altLang="zh-CN" sz="2400" b="1">
                <a:latin typeface="Times New Roman" panose="02020503050405090304" pitchFamily="18" charset="0"/>
              </a:rPr>
              <a:t> </a:t>
            </a:r>
            <a:endParaRPr lang="en-US" altLang="zh-CN" sz="24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</a:t>
            </a:r>
            <a:endParaRPr lang="zh-CN" altLang="en-US" sz="2800" b="1"/>
          </a:p>
        </p:txBody>
      </p:sp>
      <p:sp>
        <p:nvSpPr>
          <p:cNvPr id="141316" name="Rectangle 4"/>
          <p:cNvSpPr>
            <a:spLocks noChangeArrowheads="1"/>
          </p:cNvSpPr>
          <p:nvPr/>
        </p:nvSpPr>
        <p:spPr bwMode="auto">
          <a:xfrm>
            <a:off x="1295400" y="4267200"/>
            <a:ext cx="56388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结果: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                    </a:t>
            </a:r>
            <a:r>
              <a:rPr lang="en-US" altLang="zh-CN" b="1"/>
              <a:t>Cno        COUNT(Sno)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		</a:t>
            </a:r>
            <a:r>
              <a:rPr lang="en-US" altLang="zh-CN" b="1"/>
              <a:t>1             22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    </a:t>
            </a:r>
            <a:r>
              <a:rPr lang="en-US" altLang="zh-CN" sz="2800" b="1"/>
              <a:t>		</a:t>
            </a:r>
            <a:r>
              <a:rPr lang="en-US" altLang="zh-CN" b="1"/>
              <a:t>2             34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     		3             44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  		4             33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       		5             48</a:t>
            </a:r>
            <a:endParaRPr lang="zh-CN" altLang="en-US" sz="2800" b="1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build="p" autoUpdateAnimBg="0"/>
      <p:bldP spid="141316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对查询结果分组 （续）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en-US" altLang="zh-CN" sz="2800" b="1"/>
              <a:t>GROUP BY</a:t>
            </a:r>
            <a:r>
              <a:rPr lang="zh-CN" altLang="en-US" sz="2800" b="1"/>
              <a:t>子句的作用对象是查询的中间结果表</a:t>
            </a:r>
          </a:p>
          <a:p>
            <a:pPr algn="just" eaLnBrk="1" hangingPunct="1">
              <a:lnSpc>
                <a:spcPct val="140000"/>
              </a:lnSpc>
            </a:pPr>
            <a:r>
              <a:rPr lang="zh-CN" altLang="en-US" sz="2800" b="1"/>
              <a:t>分组方法：按指定的一列或多列值分组，值相等的为一组</a:t>
            </a:r>
          </a:p>
          <a:p>
            <a:pPr algn="just" eaLnBrk="1" hangingPunct="1">
              <a:lnSpc>
                <a:spcPct val="140000"/>
              </a:lnSpc>
            </a:pPr>
            <a:r>
              <a:rPr lang="zh-CN" altLang="en-US" sz="2800" b="1"/>
              <a:t>使用</a:t>
            </a:r>
            <a:r>
              <a:rPr lang="en-US" altLang="zh-CN" sz="2800" b="1"/>
              <a:t>GROUP BY</a:t>
            </a:r>
            <a:r>
              <a:rPr lang="zh-CN" altLang="en-US" sz="2800" b="1"/>
              <a:t>子句后，</a:t>
            </a:r>
            <a:r>
              <a:rPr lang="en-US" altLang="zh-CN" sz="2800" b="1"/>
              <a:t>SELECT</a:t>
            </a:r>
            <a:r>
              <a:rPr lang="zh-CN" altLang="en-US" sz="2800" b="1"/>
              <a:t>子句的列名列表中只能出现分组属性和集函数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使用</a:t>
            </a:r>
            <a:r>
              <a:rPr lang="en-US" altLang="zh-CN" sz="3600" b="1"/>
              <a:t>HAVING</a:t>
            </a:r>
            <a:r>
              <a:rPr lang="zh-CN" altLang="en-US" sz="3600" b="1"/>
              <a:t>短语筛选最终输出结果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[例</a:t>
            </a:r>
            <a:r>
              <a:rPr lang="zh-CN" altLang="en-US" sz="2800" b="1"/>
              <a:t>31]  查询选修了3门以上课程的学生学号。</a:t>
            </a:r>
          </a:p>
          <a:p>
            <a:pPr lvl="1" algn="just"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</a:t>
            </a:r>
            <a:r>
              <a:rPr lang="en-US" altLang="zh-CN" b="1"/>
              <a:t>SELECT Sno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FROM  SC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GROUP BY Sno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HAVING  COUNT(*) &gt;3；  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27B237A-5C60-4B82-B1AD-1965266E5B7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7267" y="1484784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请思考：  </a:t>
            </a:r>
            <a:r>
              <a:rPr lang="zh-CN" altLang="en-US" sz="2400" b="1" dirty="0"/>
              <a:t>查询有3门以上课程是90分以上的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       学生的学号及（90分以上的）课程数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BCBC7C7-EA0F-414B-9380-62EB1912700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A989B5-B8DF-4D37-99DE-0578EFB0E277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1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9F0F75E-7774-4543-876A-6A72205D4AE4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FCD3CCE1-5577-49BB-B4CA-C0C85959C44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A7C7B6C9-C907-45F9-B33F-FE82612675D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B46F3CFF-CCFA-4E82-A4B7-0444E3558EC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300140D9-662A-4482-AAB7-1DD4F8BAD474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3163B1C-918A-42E5-BCDB-C6A5271C9128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85536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例题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989138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请思考：  </a:t>
            </a:r>
            <a:r>
              <a:rPr lang="zh-CN" altLang="en-US" sz="2800" b="1" dirty="0"/>
              <a:t>查询有3门以上课程是90分以上的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/>
              <a:t>          学生的学号及（90分以上的）课程数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        </a:t>
            </a:r>
            <a:endParaRPr lang="zh-CN" altLang="en-US" b="1" dirty="0"/>
          </a:p>
        </p:txBody>
      </p:sp>
      <p:sp>
        <p:nvSpPr>
          <p:cNvPr id="144388" name="Rectangle 4"/>
          <p:cNvSpPr>
            <a:spLocks noChangeArrowheads="1"/>
          </p:cNvSpPr>
          <p:nvPr/>
        </p:nvSpPr>
        <p:spPr bwMode="auto">
          <a:xfrm>
            <a:off x="1524000" y="3505200"/>
            <a:ext cx="57150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/>
              <a:t>       SELECT  Sno,  COUNT(*)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/>
              <a:t>        FROM   SC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/>
              <a:t>        WHERE Grade&gt;=90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/>
              <a:t>        GROUP BY Sno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/>
              <a:t>        HAVING COUNT(*)&gt;=3;</a:t>
            </a:r>
            <a:r>
              <a:rPr lang="en-US" altLang="zh-CN" b="1"/>
              <a:t> </a:t>
            </a:r>
            <a:endParaRPr lang="zh-CN" altLang="en-US" sz="2800" b="1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8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989138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 sz="2800" b="1" dirty="0"/>
              <a:t>只有满足</a:t>
            </a:r>
            <a:r>
              <a:rPr lang="en-US" altLang="zh-CN" sz="2800" b="1" dirty="0"/>
              <a:t>HAVING</a:t>
            </a:r>
            <a:r>
              <a:rPr lang="zh-CN" altLang="en-US" sz="2800" b="1" dirty="0"/>
              <a:t>短语指定条件的组才输出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altLang="zh-CN" sz="2800" b="1" dirty="0"/>
              <a:t>HAVING</a:t>
            </a:r>
            <a:r>
              <a:rPr lang="zh-CN" altLang="en-US" sz="2800" b="1" dirty="0"/>
              <a:t>短语与</a:t>
            </a:r>
            <a:r>
              <a:rPr lang="en-US" altLang="zh-CN" sz="2800" b="1" dirty="0"/>
              <a:t>WHERE</a:t>
            </a:r>
            <a:r>
              <a:rPr lang="zh-CN" altLang="en-US" sz="2800" b="1" dirty="0"/>
              <a:t>子句的区别：作用对象不同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b="1" dirty="0"/>
              <a:t>WHERE</a:t>
            </a:r>
            <a:r>
              <a:rPr lang="zh-CN" altLang="en-US" b="1" dirty="0"/>
              <a:t>子句作用于基表或视图，从中选择满足条件的元组。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b="1" dirty="0"/>
              <a:t>HAVING</a:t>
            </a:r>
            <a:r>
              <a:rPr lang="zh-CN" altLang="en-US" b="1" dirty="0"/>
              <a:t>短语作用于组，从中选择满足条件的组</a:t>
            </a:r>
            <a:r>
              <a:rPr lang="zh-CN" altLang="en-US" sz="3200" b="1" dirty="0"/>
              <a:t>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72FE1-0706-47AA-97BB-B3DE133C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26ABD6-F7BC-4154-826C-04723A5B1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22416"/>
            <a:ext cx="7990656" cy="4114800"/>
          </a:xfrm>
        </p:spPr>
        <p:txBody>
          <a:bodyPr/>
          <a:lstStyle/>
          <a:p>
            <a:r>
              <a:rPr lang="zh-CN" altLang="en-US" sz="2400" b="1" dirty="0"/>
              <a:t>单表查询是 </a:t>
            </a:r>
            <a:r>
              <a:rPr lang="en-US" altLang="zh-CN" sz="2400" b="1" dirty="0"/>
              <a:t>SQL </a:t>
            </a:r>
            <a:r>
              <a:rPr lang="zh-CN" altLang="en-US" sz="2400" b="1" dirty="0"/>
              <a:t>查询的基础，核心是通过</a:t>
            </a:r>
            <a:r>
              <a:rPr lang="en-US" altLang="zh-CN" sz="2400" b="1" dirty="0"/>
              <a:t>SELECT</a:t>
            </a:r>
            <a:r>
              <a:rPr lang="zh-CN" altLang="en-US" sz="2400" b="1" dirty="0"/>
              <a:t>语句从单个表中筛选、计算、分组或排序数据，其逻辑可归纳为 </a:t>
            </a:r>
            <a:r>
              <a:rPr kumimoji="0" lang="zh-CN" altLang="en-US" sz="2400" b="1" kern="1200" dirty="0">
                <a:solidFill>
                  <a:srgbClr val="B15EF2"/>
                </a:solidFill>
                <a:latin typeface="+mn-ea"/>
              </a:rPr>
              <a:t>“选源→滤行→分组→筛组→选列→排序”</a:t>
            </a:r>
            <a:r>
              <a:rPr lang="zh-CN" altLang="en-US" sz="2400" b="1" dirty="0"/>
              <a:t>。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221C6B-8438-4E5E-9A23-E9772008C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3573016"/>
            <a:ext cx="6912768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+mn-ea"/>
                <a:ea typeface="+mn-ea"/>
              </a:rPr>
              <a:t>SELECT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t> [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+mn-ea"/>
                <a:ea typeface="+mn-ea"/>
              </a:rPr>
              <a:t>DISTINCT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t>] 列名/表达式/聚合函数 [别名]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+mn-ea"/>
                <a:ea typeface="+mn-ea"/>
              </a:rPr>
              <a:t>FROM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t> 表名 [别名] 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+mn-ea"/>
                <a:ea typeface="+mn-ea"/>
              </a:rPr>
              <a:t>WHERE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t> 行过滤条件 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+mn-ea"/>
                <a:ea typeface="+mn-ea"/>
              </a:rPr>
              <a:t>GROUP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+mn-ea"/>
                <a:ea typeface="+mn-ea"/>
              </a:rPr>
              <a:t>BY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t> 分组列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E54595"/>
                </a:solidFill>
                <a:effectLst/>
                <a:latin typeface="+mn-ea"/>
                <a:ea typeface="+mn-ea"/>
              </a:rPr>
              <a:t>1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t>, 分组列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E54595"/>
                </a:solidFill>
                <a:effectLst/>
                <a:latin typeface="+mn-ea"/>
                <a:ea typeface="+mn-ea"/>
              </a:rPr>
              <a:t>2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t>, ... 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+mn-ea"/>
                <a:ea typeface="+mn-ea"/>
              </a:rPr>
              <a:t>HAVING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t> 分组过滤条件 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+mn-ea"/>
                <a:ea typeface="+mn-ea"/>
              </a:rPr>
              <a:t>ORDER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+mn-ea"/>
                <a:ea typeface="+mn-ea"/>
              </a:rPr>
              <a:t>BY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t> 排序列 [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+mn-ea"/>
                <a:ea typeface="+mn-ea"/>
              </a:rPr>
              <a:t>ASC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t>/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+mn-ea"/>
                <a:ea typeface="+mn-ea"/>
              </a:rPr>
              <a:t>DESC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t>], ...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93988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C40E3-9D6E-CED6-0E50-71D1D2D0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331334-96AD-471B-E17B-3DA8DDF4A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198884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/>
              <a:t>拓展学习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单表查询（列查询，条件查询）</a:t>
            </a:r>
            <a:endParaRPr lang="en-US" altLang="zh-CN" sz="2400" b="1" dirty="0"/>
          </a:p>
          <a:p>
            <a:r>
              <a:rPr lang="en-US" altLang="zh-CN" sz="1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https://www.bilibili.com/video/BV1A54y1J725/?spm_id_from=333.337.search-card.all.click&amp;vd_source=31b8cdf62fecff492433b8c24d65e7d2</a:t>
            </a:r>
            <a:endParaRPr lang="en-US" altLang="zh-CN" sz="1400" dirty="0"/>
          </a:p>
          <a:p>
            <a:r>
              <a:rPr lang="zh-CN" altLang="en-US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https://www.bilibili.com/video/BV1RS4y1q7cW/?spm_id_from=333.337.search-card.all.click&amp;vd_source=31b8cdf62fecff492433b8c24d65e7d2</a:t>
            </a:r>
            <a:endParaRPr lang="zh-CN" altLang="en-US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pPr marL="0" indent="0">
              <a:buNone/>
            </a:pPr>
            <a:r>
              <a:rPr lang="zh-CN" altLang="en-US" sz="2400" b="1" dirty="0"/>
              <a:t>预习：连接查询</a:t>
            </a:r>
            <a:endParaRPr lang="en-US" altLang="zh-CN" sz="2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F5863E4-847C-00C7-D5A6-48BD75E372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64" r="28747"/>
          <a:stretch>
            <a:fillRect/>
          </a:stretch>
        </p:blipFill>
        <p:spPr>
          <a:xfrm>
            <a:off x="3203848" y="3403848"/>
            <a:ext cx="4296140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541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2554</TotalTime>
  <Words>3853</Words>
  <Application>Microsoft Office PowerPoint</Application>
  <PresentationFormat>全屏显示(4:3)</PresentationFormat>
  <Paragraphs>501</Paragraphs>
  <Slides>76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76</vt:i4>
      </vt:variant>
    </vt:vector>
  </HeadingPairs>
  <TitlesOfParts>
    <vt:vector size="88" baseType="lpstr">
      <vt:lpstr>Times-Roman</vt:lpstr>
      <vt:lpstr>宋体</vt:lpstr>
      <vt:lpstr>宋体</vt:lpstr>
      <vt:lpstr>微软雅黑</vt:lpstr>
      <vt:lpstr>Arial Black</vt:lpstr>
      <vt:lpstr>Courier New</vt:lpstr>
      <vt:lpstr>Tahoma</vt:lpstr>
      <vt:lpstr>Times New Roman</vt:lpstr>
      <vt:lpstr>Wingdings</vt:lpstr>
      <vt:lpstr>Blends</vt:lpstr>
      <vt:lpstr>文档</vt:lpstr>
      <vt:lpstr>位图图像</vt:lpstr>
      <vt:lpstr>主讲：王海燕 E-mail：wanghaiyan@mail.hzau.edu.cn</vt:lpstr>
      <vt:lpstr>主要内容</vt:lpstr>
      <vt:lpstr>重点</vt:lpstr>
      <vt:lpstr>难点</vt:lpstr>
      <vt:lpstr>3.1 SQL的基本概念与特点</vt:lpstr>
      <vt:lpstr>PowerPoint 演示文稿</vt:lpstr>
      <vt:lpstr>3.4 创建与使用数据表</vt:lpstr>
      <vt:lpstr>PowerPoint 演示文稿</vt:lpstr>
      <vt:lpstr>（一）、定义基本表</vt:lpstr>
      <vt:lpstr>[例1]</vt:lpstr>
      <vt:lpstr>[例2]</vt:lpstr>
      <vt:lpstr>PowerPoint 演示文稿</vt:lpstr>
      <vt:lpstr>PRIMARY  KEY与 UNIQUE</vt:lpstr>
      <vt:lpstr>（二）、修改基本表</vt:lpstr>
      <vt:lpstr>[例3]</vt:lpstr>
      <vt:lpstr>PowerPoint 演示文稿</vt:lpstr>
      <vt:lpstr>（三）、删除基本表</vt:lpstr>
      <vt:lpstr>[例4]</vt:lpstr>
      <vt:lpstr>3.5 创建与使用索引</vt:lpstr>
      <vt:lpstr>语句格式</vt:lpstr>
      <vt:lpstr> [例5] </vt:lpstr>
      <vt:lpstr>PowerPoint 演示文稿</vt:lpstr>
      <vt:lpstr>（五）、删除索引</vt:lpstr>
      <vt:lpstr>3.6 数据查询</vt:lpstr>
      <vt:lpstr>（一）、概述</vt:lpstr>
      <vt:lpstr>PowerPoint 演示文稿</vt:lpstr>
      <vt:lpstr>示例数据库</vt:lpstr>
      <vt:lpstr>（二）、单表查询</vt:lpstr>
      <vt:lpstr>1、选择表中的若干列</vt:lpstr>
      <vt:lpstr>查询指定列</vt:lpstr>
      <vt:lpstr>查询全部列</vt:lpstr>
      <vt:lpstr>查询经过计算的值</vt:lpstr>
      <vt:lpstr>输出结果：</vt:lpstr>
      <vt:lpstr>PowerPoint 演示文稿</vt:lpstr>
      <vt:lpstr>示例数据库 </vt:lpstr>
      <vt:lpstr>2、选择表中的若干元组 </vt:lpstr>
      <vt:lpstr>1）. 消除取值重复的行</vt:lpstr>
      <vt:lpstr>ALL 与 DISTINCT </vt:lpstr>
      <vt:lpstr>例题（续）</vt:lpstr>
      <vt:lpstr>例题（续）</vt:lpstr>
      <vt:lpstr>2）.查询满足条件的元组</vt:lpstr>
      <vt:lpstr>(1) 比较大小</vt:lpstr>
      <vt:lpstr>(2) 确定范围</vt:lpstr>
      <vt:lpstr>例题（续）</vt:lpstr>
      <vt:lpstr>(3) 确定集合</vt:lpstr>
      <vt:lpstr>(3) 确定集合</vt:lpstr>
      <vt:lpstr>(4) 字符串匹配</vt:lpstr>
      <vt:lpstr>通配符</vt:lpstr>
      <vt:lpstr>例题</vt:lpstr>
      <vt:lpstr>例题（续）</vt:lpstr>
      <vt:lpstr>例题（续）</vt:lpstr>
      <vt:lpstr>例题（续）</vt:lpstr>
      <vt:lpstr>例题（续）</vt:lpstr>
      <vt:lpstr>(5) 涉及空值的查询</vt:lpstr>
      <vt:lpstr>例题(续) </vt:lpstr>
      <vt:lpstr>(6) 多重条件查询</vt:lpstr>
      <vt:lpstr>例题</vt:lpstr>
      <vt:lpstr>改写[例12]</vt:lpstr>
      <vt:lpstr>改写[例10]</vt:lpstr>
      <vt:lpstr>3、对查询结果排序 </vt:lpstr>
      <vt:lpstr>对查询结果排序（续） </vt:lpstr>
      <vt:lpstr>查询结果</vt:lpstr>
      <vt:lpstr>对查询结果排序（续） </vt:lpstr>
      <vt:lpstr>4. 使用集函数 </vt:lpstr>
      <vt:lpstr>使用集函数（续）</vt:lpstr>
      <vt:lpstr>PowerPoint 演示文稿</vt:lpstr>
      <vt:lpstr>PowerPoint 演示文稿</vt:lpstr>
      <vt:lpstr>5. 对查询结果分组</vt:lpstr>
      <vt:lpstr>使用GROUP BY子句分组</vt:lpstr>
      <vt:lpstr>对查询结果分组 （续）</vt:lpstr>
      <vt:lpstr>使用HAVING短语筛选最终输出结果</vt:lpstr>
      <vt:lpstr>PowerPoint 演示文稿</vt:lpstr>
      <vt:lpstr>例题</vt:lpstr>
      <vt:lpstr>PowerPoint 演示文稿</vt:lpstr>
      <vt:lpstr>小结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why</dc:creator>
  <cp:lastModifiedBy>a9400</cp:lastModifiedBy>
  <cp:revision>211</cp:revision>
  <dcterms:created xsi:type="dcterms:W3CDTF">2020-10-30T07:31:42Z</dcterms:created>
  <dcterms:modified xsi:type="dcterms:W3CDTF">2025-10-09T09:49:52Z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1033-2.6.1.4274</vt:lpwstr>
  </property>
</Properties>
</file>