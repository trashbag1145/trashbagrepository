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notesMasterIdLst>
    <p:notesMasterId r:id="rId50"/>
  </p:notesMasterIdLst>
  <p:sldIdLst>
    <p:sldId id="256" r:id="rId2"/>
    <p:sldId id="456" r:id="rId3"/>
    <p:sldId id="402" r:id="rId4"/>
    <p:sldId id="404" r:id="rId5"/>
    <p:sldId id="399" r:id="rId6"/>
    <p:sldId id="403" r:id="rId7"/>
    <p:sldId id="455" r:id="rId8"/>
    <p:sldId id="454" r:id="rId9"/>
    <p:sldId id="409" r:id="rId10"/>
    <p:sldId id="411" r:id="rId11"/>
    <p:sldId id="412" r:id="rId12"/>
    <p:sldId id="413" r:id="rId13"/>
    <p:sldId id="415" r:id="rId14"/>
    <p:sldId id="416" r:id="rId15"/>
    <p:sldId id="453" r:id="rId16"/>
    <p:sldId id="418" r:id="rId17"/>
    <p:sldId id="417" r:id="rId18"/>
    <p:sldId id="421" r:id="rId19"/>
    <p:sldId id="422" r:id="rId20"/>
    <p:sldId id="423" r:id="rId21"/>
    <p:sldId id="424" r:id="rId22"/>
    <p:sldId id="425" r:id="rId23"/>
    <p:sldId id="426" r:id="rId24"/>
    <p:sldId id="427" r:id="rId25"/>
    <p:sldId id="428" r:id="rId26"/>
    <p:sldId id="429" r:id="rId27"/>
    <p:sldId id="430" r:id="rId28"/>
    <p:sldId id="449" r:id="rId29"/>
    <p:sldId id="431" r:id="rId30"/>
    <p:sldId id="433" r:id="rId31"/>
    <p:sldId id="432" r:id="rId32"/>
    <p:sldId id="434" r:id="rId33"/>
    <p:sldId id="435" r:id="rId34"/>
    <p:sldId id="436" r:id="rId35"/>
    <p:sldId id="438" r:id="rId36"/>
    <p:sldId id="439" r:id="rId37"/>
    <p:sldId id="437" r:id="rId38"/>
    <p:sldId id="440" r:id="rId39"/>
    <p:sldId id="441" r:id="rId40"/>
    <p:sldId id="442" r:id="rId41"/>
    <p:sldId id="443" r:id="rId42"/>
    <p:sldId id="444" r:id="rId43"/>
    <p:sldId id="445" r:id="rId44"/>
    <p:sldId id="446" r:id="rId45"/>
    <p:sldId id="447" r:id="rId46"/>
    <p:sldId id="448" r:id="rId47"/>
    <p:sldId id="450" r:id="rId48"/>
    <p:sldId id="457" r:id="rId49"/>
  </p:sldIdLst>
  <p:sldSz cx="9144000" cy="5143500" type="screen16x9"/>
  <p:notesSz cx="6858000" cy="9144000"/>
  <p:defaultTextStyle>
    <a:defPPr>
      <a:defRPr lang="zh-CN"/>
    </a:defPPr>
    <a:lvl1pPr algn="l" rtl="0" eaLnBrk="0" fontAlgn="base" hangingPunct="0">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0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79">
          <p15:clr>
            <a:srgbClr val="A4A3A4"/>
          </p15:clr>
        </p15:guide>
        <p15:guide id="2" pos="2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898989"/>
    <a:srgbClr val="E46C0A"/>
    <a:srgbClr val="CC0000"/>
    <a:srgbClr val="FF0000"/>
    <a:srgbClr val="FFFF00"/>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792" autoAdjust="0"/>
    <p:restoredTop sz="94883" autoAdjust="0"/>
  </p:normalViewPr>
  <p:slideViewPr>
    <p:cSldViewPr>
      <p:cViewPr varScale="1">
        <p:scale>
          <a:sx n="107" d="100"/>
          <a:sy n="107" d="100"/>
        </p:scale>
        <p:origin x="436" y="68"/>
      </p:cViewPr>
      <p:guideLst>
        <p:guide orient="horz" pos="1579"/>
        <p:guide pos="2839"/>
      </p:guideLst>
    </p:cSldViewPr>
  </p:slideViewPr>
  <p:outlineViewPr>
    <p:cViewPr>
      <p:scale>
        <a:sx n="33" d="100"/>
        <a:sy n="33" d="100"/>
      </p:scale>
      <p:origin x="0" y="16098"/>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a:extLst>
              <a:ext uri="{FF2B5EF4-FFF2-40B4-BE49-F238E27FC236}">
                <a16:creationId xmlns:a16="http://schemas.microsoft.com/office/drawing/2014/main" id="{0792BC37-9EC5-4CE9-8B25-C7E46B26F40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eaLnBrk="1" hangingPunct="1">
              <a:defRPr sz="1200">
                <a:latin typeface="Calibri" pitchFamily="34" charset="0"/>
                <a:ea typeface="宋体" pitchFamily="2" charset="-122"/>
              </a:defRPr>
            </a:lvl1pPr>
          </a:lstStyle>
          <a:p>
            <a:pPr>
              <a:defRPr/>
            </a:pPr>
            <a:endParaRPr lang="zh-CN" altLang="en-US"/>
          </a:p>
        </p:txBody>
      </p:sp>
      <p:sp>
        <p:nvSpPr>
          <p:cNvPr id="3075" name="日期占位符 2">
            <a:extLst>
              <a:ext uri="{FF2B5EF4-FFF2-40B4-BE49-F238E27FC236}">
                <a16:creationId xmlns:a16="http://schemas.microsoft.com/office/drawing/2014/main" id="{13964F98-05A4-4175-B851-BE2BFE9E4181}"/>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ea typeface="宋体" pitchFamily="2" charset="-122"/>
              </a:defRPr>
            </a:lvl1pPr>
          </a:lstStyle>
          <a:p>
            <a:pPr>
              <a:defRPr/>
            </a:pPr>
            <a:fld id="{F135A3B5-A195-470E-BD08-3CC56936B5A1}" type="datetimeFigureOut">
              <a:rPr lang="zh-CN" altLang="en-US"/>
              <a:pPr>
                <a:defRPr/>
              </a:pPr>
              <a:t>2025/9/8</a:t>
            </a:fld>
            <a:endParaRPr lang="zh-CN" altLang="en-US"/>
          </a:p>
        </p:txBody>
      </p:sp>
      <p:sp>
        <p:nvSpPr>
          <p:cNvPr id="2052" name="幻灯片图像占位符 3">
            <a:extLst>
              <a:ext uri="{FF2B5EF4-FFF2-40B4-BE49-F238E27FC236}">
                <a16:creationId xmlns:a16="http://schemas.microsoft.com/office/drawing/2014/main" id="{316A76AE-ECE1-4CA5-A309-B7AB84138E0E}"/>
              </a:ext>
            </a:extLst>
          </p:cNvPr>
          <p:cNvSpPr>
            <a:spLocks noGrp="1" noRot="1" noChangeAspect="1" noChangeArrowheads="1"/>
          </p:cNvSpPr>
          <p:nvPr>
            <p:ph type="sldImg" idx="2"/>
          </p:nvPr>
        </p:nvSpPr>
        <p:spPr bwMode="auto">
          <a:xfrm>
            <a:off x="381000" y="685800"/>
            <a:ext cx="6096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备注占位符 4">
            <a:extLst>
              <a:ext uri="{FF2B5EF4-FFF2-40B4-BE49-F238E27FC236}">
                <a16:creationId xmlns:a16="http://schemas.microsoft.com/office/drawing/2014/main" id="{6D7131BB-A6FB-49D8-9A66-863120FFBC5D}"/>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页脚占位符 5">
            <a:extLst>
              <a:ext uri="{FF2B5EF4-FFF2-40B4-BE49-F238E27FC236}">
                <a16:creationId xmlns:a16="http://schemas.microsoft.com/office/drawing/2014/main" id="{44AF91CB-9809-454F-A545-03E4402DB336}"/>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l" eaLnBrk="1" hangingPunct="1">
              <a:defRPr sz="1200">
                <a:latin typeface="Calibri" pitchFamily="34" charset="0"/>
                <a:ea typeface="宋体" pitchFamily="2" charset="-122"/>
              </a:defRPr>
            </a:lvl1pPr>
          </a:lstStyle>
          <a:p>
            <a:pPr>
              <a:defRPr/>
            </a:pPr>
            <a:endParaRPr lang="zh-CN" altLang="en-US"/>
          </a:p>
        </p:txBody>
      </p:sp>
      <p:sp>
        <p:nvSpPr>
          <p:cNvPr id="3079" name="灯片编号占位符 6">
            <a:extLst>
              <a:ext uri="{FF2B5EF4-FFF2-40B4-BE49-F238E27FC236}">
                <a16:creationId xmlns:a16="http://schemas.microsoft.com/office/drawing/2014/main" id="{CA0B9B36-5E26-46AD-8C29-4047D40667A5}"/>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2EDC839A-69AF-49F9-8539-80B704E6203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A8C62A36-F613-417C-AFEC-ACE52E064469}"/>
              </a:ext>
            </a:extLst>
          </p:cNvPr>
          <p:cNvSpPr>
            <a:spLocks noGrp="1" noRot="1" noChangeAspect="1" noChangeArrowheads="1" noTextEdit="1"/>
          </p:cNvSpPr>
          <p:nvPr>
            <p:ph type="sldImg"/>
          </p:nvPr>
        </p:nvSpPr>
        <p:spPr/>
      </p:sp>
      <p:sp>
        <p:nvSpPr>
          <p:cNvPr id="38915" name="备注占位符 2">
            <a:extLst>
              <a:ext uri="{FF2B5EF4-FFF2-40B4-BE49-F238E27FC236}">
                <a16:creationId xmlns:a16="http://schemas.microsoft.com/office/drawing/2014/main" id="{78D4F4CE-FC47-45CF-A868-7EA6577A96D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8916" name="灯片编号占位符 3">
            <a:extLst>
              <a:ext uri="{FF2B5EF4-FFF2-40B4-BE49-F238E27FC236}">
                <a16:creationId xmlns:a16="http://schemas.microsoft.com/office/drawing/2014/main" id="{68BC1B30-7B3E-42C4-B2A9-3A46968BC01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BEDAEEC4-27CC-4BCD-8A64-61C08BE787E7}" type="slidenum">
              <a:rPr lang="zh-CN" altLang="en-US" smtClean="0"/>
              <a:pPr>
                <a:spcBef>
                  <a:spcPct val="0"/>
                </a:spcBef>
              </a:pPr>
              <a:t>37</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a:extLst>
              <a:ext uri="{FF2B5EF4-FFF2-40B4-BE49-F238E27FC236}">
                <a16:creationId xmlns:a16="http://schemas.microsoft.com/office/drawing/2014/main" id="{595C48C7-DCA0-4882-A4CA-ACD246C9504E}"/>
              </a:ext>
            </a:extLst>
          </p:cNvPr>
          <p:cNvSpPr>
            <a:spLocks noGrp="1" noRot="1" noChangeAspect="1" noChangeArrowheads="1" noTextEdit="1"/>
          </p:cNvSpPr>
          <p:nvPr>
            <p:ph type="sldImg"/>
          </p:nvPr>
        </p:nvSpPr>
        <p:spPr/>
      </p:sp>
      <p:sp>
        <p:nvSpPr>
          <p:cNvPr id="40963" name="备注占位符 2">
            <a:extLst>
              <a:ext uri="{FF2B5EF4-FFF2-40B4-BE49-F238E27FC236}">
                <a16:creationId xmlns:a16="http://schemas.microsoft.com/office/drawing/2014/main" id="{24AB439D-3EE3-4DD8-B587-460341B1127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0964" name="灯片编号占位符 3">
            <a:extLst>
              <a:ext uri="{FF2B5EF4-FFF2-40B4-BE49-F238E27FC236}">
                <a16:creationId xmlns:a16="http://schemas.microsoft.com/office/drawing/2014/main" id="{1460CC81-9B08-40B5-BCE9-8EDBBA31890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7533FCA-B1AA-4D71-B1A7-86A3DE091126}" type="slidenum">
              <a:rPr lang="zh-CN" altLang="en-US" smtClean="0"/>
              <a:pPr>
                <a:spcBef>
                  <a:spcPct val="0"/>
                </a:spcBef>
              </a:pPr>
              <a:t>38</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a:extLst>
              <a:ext uri="{FF2B5EF4-FFF2-40B4-BE49-F238E27FC236}">
                <a16:creationId xmlns:a16="http://schemas.microsoft.com/office/drawing/2014/main" id="{640EB09D-464D-46D7-B8CE-956CE8EFB940}"/>
              </a:ext>
            </a:extLst>
          </p:cNvPr>
          <p:cNvSpPr>
            <a:spLocks noGrp="1" noRot="1" noChangeAspect="1" noChangeArrowheads="1" noTextEdit="1"/>
          </p:cNvSpPr>
          <p:nvPr>
            <p:ph type="sldImg"/>
          </p:nvPr>
        </p:nvSpPr>
        <p:spPr/>
      </p:sp>
      <p:sp>
        <p:nvSpPr>
          <p:cNvPr id="43011" name="备注占位符 2">
            <a:extLst>
              <a:ext uri="{FF2B5EF4-FFF2-40B4-BE49-F238E27FC236}">
                <a16:creationId xmlns:a16="http://schemas.microsoft.com/office/drawing/2014/main" id="{94244948-72CC-4F2D-A172-A97E2E1F98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12" name="灯片编号占位符 3">
            <a:extLst>
              <a:ext uri="{FF2B5EF4-FFF2-40B4-BE49-F238E27FC236}">
                <a16:creationId xmlns:a16="http://schemas.microsoft.com/office/drawing/2014/main" id="{6321AC78-B77B-4356-A424-399C6B54878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BA964247-1213-4B82-9D69-78BA7F8E08CC}" type="slidenum">
              <a:rPr lang="zh-CN" altLang="en-US" smtClean="0"/>
              <a:pPr>
                <a:spcBef>
                  <a:spcPct val="0"/>
                </a:spcBef>
              </a:pPr>
              <a:t>39</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8028567D-8999-4E29-ACEE-C5656BB10A85}"/>
              </a:ext>
            </a:extLst>
          </p:cNvPr>
          <p:cNvSpPr>
            <a:spLocks noGrp="1" noRot="1" noChangeAspect="1" noChangeArrowheads="1" noTextEdit="1"/>
          </p:cNvSpPr>
          <p:nvPr>
            <p:ph type="sldImg"/>
          </p:nvPr>
        </p:nvSpPr>
        <p:spPr/>
      </p:sp>
      <p:sp>
        <p:nvSpPr>
          <p:cNvPr id="45059" name="备注占位符 2">
            <a:extLst>
              <a:ext uri="{FF2B5EF4-FFF2-40B4-BE49-F238E27FC236}">
                <a16:creationId xmlns:a16="http://schemas.microsoft.com/office/drawing/2014/main" id="{45350152-7A17-46D2-9EB5-5ED154C3255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5060" name="灯片编号占位符 3">
            <a:extLst>
              <a:ext uri="{FF2B5EF4-FFF2-40B4-BE49-F238E27FC236}">
                <a16:creationId xmlns:a16="http://schemas.microsoft.com/office/drawing/2014/main" id="{EA86C812-2652-48DD-84F9-98863806D5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402CE50-7F87-40E2-BA00-ACF9D5BB251B}" type="slidenum">
              <a:rPr lang="zh-CN" altLang="en-US" smtClean="0"/>
              <a:pPr>
                <a:spcBef>
                  <a:spcPct val="0"/>
                </a:spcBef>
              </a:pPr>
              <a:t>40</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a:extLst>
              <a:ext uri="{FF2B5EF4-FFF2-40B4-BE49-F238E27FC236}">
                <a16:creationId xmlns:a16="http://schemas.microsoft.com/office/drawing/2014/main" id="{097F5194-CC5B-4642-AA34-3673497D698A}"/>
              </a:ext>
            </a:extLst>
          </p:cNvPr>
          <p:cNvSpPr>
            <a:spLocks noGrp="1" noRot="1" noChangeAspect="1" noChangeArrowheads="1" noTextEdit="1"/>
          </p:cNvSpPr>
          <p:nvPr>
            <p:ph type="sldImg"/>
          </p:nvPr>
        </p:nvSpPr>
        <p:spPr/>
      </p:sp>
      <p:sp>
        <p:nvSpPr>
          <p:cNvPr id="47107" name="备注占位符 2">
            <a:extLst>
              <a:ext uri="{FF2B5EF4-FFF2-40B4-BE49-F238E27FC236}">
                <a16:creationId xmlns:a16="http://schemas.microsoft.com/office/drawing/2014/main" id="{66EE804E-9D10-4E1B-9735-5674595B556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8" name="灯片编号占位符 3">
            <a:extLst>
              <a:ext uri="{FF2B5EF4-FFF2-40B4-BE49-F238E27FC236}">
                <a16:creationId xmlns:a16="http://schemas.microsoft.com/office/drawing/2014/main" id="{B6C5A21A-FF8B-4D24-8C17-BA19C9FD9D1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7DD6AB1-73CE-4405-8E62-60BD54418057}" type="slidenum">
              <a:rPr lang="zh-CN" altLang="en-US" smtClean="0"/>
              <a:pPr>
                <a:spcBef>
                  <a:spcPct val="0"/>
                </a:spcBef>
              </a:pPr>
              <a:t>41</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a:extLst>
              <a:ext uri="{FF2B5EF4-FFF2-40B4-BE49-F238E27FC236}">
                <a16:creationId xmlns:a16="http://schemas.microsoft.com/office/drawing/2014/main" id="{665549F5-B152-4446-954C-4FCA5F7CEDA9}"/>
              </a:ext>
            </a:extLst>
          </p:cNvPr>
          <p:cNvSpPr>
            <a:spLocks noGrp="1" noRot="1" noChangeAspect="1" noChangeArrowheads="1" noTextEdit="1"/>
          </p:cNvSpPr>
          <p:nvPr>
            <p:ph type="sldImg"/>
          </p:nvPr>
        </p:nvSpPr>
        <p:spPr/>
      </p:sp>
      <p:sp>
        <p:nvSpPr>
          <p:cNvPr id="49155" name="备注占位符 2">
            <a:extLst>
              <a:ext uri="{FF2B5EF4-FFF2-40B4-BE49-F238E27FC236}">
                <a16:creationId xmlns:a16="http://schemas.microsoft.com/office/drawing/2014/main" id="{A82EA83C-5EB2-4B8E-AF73-3ADBBAB476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156" name="灯片编号占位符 3">
            <a:extLst>
              <a:ext uri="{FF2B5EF4-FFF2-40B4-BE49-F238E27FC236}">
                <a16:creationId xmlns:a16="http://schemas.microsoft.com/office/drawing/2014/main" id="{CFD78A6A-F0EA-4AA3-B845-1CD2B800AD6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B224D7A9-6470-45A0-89EB-BE1B45F4D0D6}" type="slidenum">
              <a:rPr lang="zh-CN" altLang="en-US" smtClean="0"/>
              <a:pPr>
                <a:spcBef>
                  <a:spcPct val="0"/>
                </a:spcBef>
              </a:pPr>
              <a:t>42</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a:extLst>
              <a:ext uri="{FF2B5EF4-FFF2-40B4-BE49-F238E27FC236}">
                <a16:creationId xmlns:a16="http://schemas.microsoft.com/office/drawing/2014/main" id="{E0D174F5-EEED-4E47-BC1F-91C9661B7EC3}"/>
              </a:ext>
            </a:extLst>
          </p:cNvPr>
          <p:cNvSpPr>
            <a:spLocks noGrp="1" noRot="1" noChangeAspect="1" noChangeArrowheads="1" noTextEdit="1"/>
          </p:cNvSpPr>
          <p:nvPr>
            <p:ph type="sldImg"/>
          </p:nvPr>
        </p:nvSpPr>
        <p:spPr/>
      </p:sp>
      <p:sp>
        <p:nvSpPr>
          <p:cNvPr id="51203" name="备注占位符 2">
            <a:extLst>
              <a:ext uri="{FF2B5EF4-FFF2-40B4-BE49-F238E27FC236}">
                <a16:creationId xmlns:a16="http://schemas.microsoft.com/office/drawing/2014/main" id="{52F4196A-975B-479C-A45F-EE40CEA7014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4" name="灯片编号占位符 3">
            <a:extLst>
              <a:ext uri="{FF2B5EF4-FFF2-40B4-BE49-F238E27FC236}">
                <a16:creationId xmlns:a16="http://schemas.microsoft.com/office/drawing/2014/main" id="{958B9F67-13A2-4A96-994F-ACEE8DAD9FF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333CBD4B-0A85-4C1C-95FF-7EBC283ED3B0}" type="slidenum">
              <a:rPr lang="zh-CN" altLang="en-US" smtClean="0"/>
              <a:pPr>
                <a:spcBef>
                  <a:spcPct val="0"/>
                </a:spcBef>
              </a:pPr>
              <a:t>43</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a:extLst>
              <a:ext uri="{FF2B5EF4-FFF2-40B4-BE49-F238E27FC236}">
                <a16:creationId xmlns:a16="http://schemas.microsoft.com/office/drawing/2014/main" id="{1514417E-31F8-4074-9900-6D51970E05EE}"/>
              </a:ext>
            </a:extLst>
          </p:cNvPr>
          <p:cNvSpPr>
            <a:spLocks noGrp="1" noRot="1" noChangeAspect="1" noChangeArrowheads="1" noTextEdit="1"/>
          </p:cNvSpPr>
          <p:nvPr>
            <p:ph type="sldImg"/>
          </p:nvPr>
        </p:nvSpPr>
        <p:spPr/>
      </p:sp>
      <p:sp>
        <p:nvSpPr>
          <p:cNvPr id="53251" name="备注占位符 2">
            <a:extLst>
              <a:ext uri="{FF2B5EF4-FFF2-40B4-BE49-F238E27FC236}">
                <a16:creationId xmlns:a16="http://schemas.microsoft.com/office/drawing/2014/main" id="{39D1E9B9-E9D8-49AA-9C1A-B7887D43012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252" name="灯片编号占位符 3">
            <a:extLst>
              <a:ext uri="{FF2B5EF4-FFF2-40B4-BE49-F238E27FC236}">
                <a16:creationId xmlns:a16="http://schemas.microsoft.com/office/drawing/2014/main" id="{3AA99C8C-6FAF-4389-BE11-DB0DB6B54EF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8F57970-845D-4544-8563-A8D8F13C6D1E}" type="slidenum">
              <a:rPr lang="zh-CN" altLang="en-US" smtClean="0"/>
              <a:pPr>
                <a:spcBef>
                  <a:spcPct val="0"/>
                </a:spcBef>
              </a:pPr>
              <a:t>44</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a:extLst>
              <a:ext uri="{FF2B5EF4-FFF2-40B4-BE49-F238E27FC236}">
                <a16:creationId xmlns:a16="http://schemas.microsoft.com/office/drawing/2014/main" id="{6313C1CC-C4E2-4E50-86AD-BDE5109505E0}"/>
              </a:ext>
            </a:extLst>
          </p:cNvPr>
          <p:cNvSpPr>
            <a:spLocks noGrp="1" noRot="1" noChangeAspect="1" noChangeArrowheads="1" noTextEdit="1"/>
          </p:cNvSpPr>
          <p:nvPr>
            <p:ph type="sldImg"/>
          </p:nvPr>
        </p:nvSpPr>
        <p:spPr/>
      </p:sp>
      <p:sp>
        <p:nvSpPr>
          <p:cNvPr id="55299" name="备注占位符 2">
            <a:extLst>
              <a:ext uri="{FF2B5EF4-FFF2-40B4-BE49-F238E27FC236}">
                <a16:creationId xmlns:a16="http://schemas.microsoft.com/office/drawing/2014/main" id="{7B38FACF-C459-4ED5-936C-FA737B37A4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5300" name="灯片编号占位符 3">
            <a:extLst>
              <a:ext uri="{FF2B5EF4-FFF2-40B4-BE49-F238E27FC236}">
                <a16:creationId xmlns:a16="http://schemas.microsoft.com/office/drawing/2014/main" id="{186124C0-03DB-4C3B-948B-8E8EE23E778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F8EA8AA-CE74-4462-BBDD-11BC5BCCB142}" type="slidenum">
              <a:rPr lang="zh-CN" altLang="en-US" smtClean="0"/>
              <a:pPr>
                <a:spcBef>
                  <a:spcPct val="0"/>
                </a:spcBef>
              </a:pPr>
              <a:t>45</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a:extLst>
              <a:ext uri="{FF2B5EF4-FFF2-40B4-BE49-F238E27FC236}">
                <a16:creationId xmlns:a16="http://schemas.microsoft.com/office/drawing/2014/main" id="{27C6B2FD-6651-4B3A-811B-AF4056251697}"/>
              </a:ext>
            </a:extLst>
          </p:cNvPr>
          <p:cNvSpPr>
            <a:spLocks noGrp="1" noRot="1" noChangeAspect="1" noChangeArrowheads="1" noTextEdit="1"/>
          </p:cNvSpPr>
          <p:nvPr>
            <p:ph type="sldImg"/>
          </p:nvPr>
        </p:nvSpPr>
        <p:spPr/>
      </p:sp>
      <p:sp>
        <p:nvSpPr>
          <p:cNvPr id="57347" name="备注占位符 2">
            <a:extLst>
              <a:ext uri="{FF2B5EF4-FFF2-40B4-BE49-F238E27FC236}">
                <a16:creationId xmlns:a16="http://schemas.microsoft.com/office/drawing/2014/main" id="{17920645-BCB4-44B9-AC0E-997D99AA1AC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7348" name="灯片编号占位符 3">
            <a:extLst>
              <a:ext uri="{FF2B5EF4-FFF2-40B4-BE49-F238E27FC236}">
                <a16:creationId xmlns:a16="http://schemas.microsoft.com/office/drawing/2014/main" id="{B3B89C60-BCFE-49BC-9CF6-9AE3503F455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9F1873C-7AFF-4C81-912C-E0B84782994B}" type="slidenum">
              <a:rPr lang="zh-CN" altLang="en-US" smtClean="0"/>
              <a:pPr>
                <a:spcBef>
                  <a:spcPct val="0"/>
                </a:spcBef>
              </a:pPr>
              <a:t>46</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343"/>
            <a:ext cx="7772400" cy="1102995"/>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213534985"/>
      </p:ext>
    </p:extLst>
  </p:cSld>
  <p:clrMapOvr>
    <a:masterClrMapping/>
  </p:clrMapOvr>
  <p:transition spd="med">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b="1">
                <a:solidFill>
                  <a:srgbClr val="C00000"/>
                </a:solidFill>
                <a:latin typeface="+mj-ea"/>
                <a:ea typeface="+mj-ea"/>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78912318"/>
      </p:ext>
    </p:extLst>
  </p:cSld>
  <p:clrMapOvr>
    <a:masterClrMapping/>
  </p:clrMapOvr>
  <p:transition spd="med">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4699"/>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273"/>
            <a:ext cx="7772400" cy="112442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862849270"/>
      </p:ext>
    </p:extLst>
  </p:cSld>
  <p:clrMapOvr>
    <a:masterClrMapping/>
  </p:clrMapOvr>
  <p:transition spd="med">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28625" y="1478757"/>
            <a:ext cx="4038600" cy="31161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9625" y="1478757"/>
            <a:ext cx="4038600" cy="31161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72790066"/>
      </p:ext>
    </p:extLst>
  </p:cSld>
  <p:clrMapOvr>
    <a:masterClrMapping/>
  </p:clrMapOvr>
  <p:transition spd="med">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740"/>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573"/>
            <a:ext cx="4040188" cy="48006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633"/>
            <a:ext cx="4040188" cy="29632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573"/>
            <a:ext cx="4041775" cy="48006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633"/>
            <a:ext cx="4041775" cy="29632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39155517"/>
      </p:ext>
    </p:extLst>
  </p:cSld>
  <p:clrMapOvr>
    <a:masterClrMapping/>
  </p:clrMapOvr>
  <p:transition spd="med">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Tree>
    <p:extLst>
      <p:ext uri="{BB962C8B-B14F-4D97-AF65-F5344CB8AC3E}">
        <p14:creationId xmlns:p14="http://schemas.microsoft.com/office/powerpoint/2010/main" val="2399293928"/>
      </p:ext>
    </p:extLst>
  </p:cSld>
  <p:clrMapOvr>
    <a:masterClrMapping/>
  </p:clrMapOvr>
  <p:transition spd="med">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5263881"/>
      </p:ext>
    </p:extLst>
  </p:cSld>
  <p:clrMapOvr>
    <a:masterClrMapping/>
  </p:clrMapOvr>
  <p:transition spd="med">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312"/>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312"/>
            <a:ext cx="5111750" cy="439054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5849"/>
            <a:ext cx="3008313" cy="35190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851414657"/>
      </p:ext>
    </p:extLst>
  </p:cSld>
  <p:clrMapOvr>
    <a:masterClrMapping/>
  </p:clrMapOvr>
  <p:transition spd="med">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76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058"/>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6218"/>
            <a:ext cx="5486400" cy="6029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011096395"/>
      </p:ext>
    </p:extLst>
  </p:cSld>
  <p:clrMapOvr>
    <a:masterClrMapping/>
  </p:clrMapOvr>
  <p:transition spd="med">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87677755"/>
      </p:ext>
    </p:extLst>
  </p:cSld>
  <p:clrMapOvr>
    <a:masterClrMapping/>
  </p:clrMapOvr>
  <p:transition spd="med">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825" y="514350"/>
            <a:ext cx="2057400" cy="408051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28625" y="514350"/>
            <a:ext cx="6019800" cy="408051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1295735"/>
      </p:ext>
    </p:extLst>
  </p:cSld>
  <p:clrMapOvr>
    <a:masterClrMapping/>
  </p:clrMapOvr>
  <p:transition spd="med">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4B623D21-198C-403F-94BF-EE377C8255FB}"/>
              </a:ext>
            </a:extLst>
          </p:cNvPr>
          <p:cNvSpPr>
            <a:spLocks noGrp="1" noChangeArrowheads="1"/>
          </p:cNvSpPr>
          <p:nvPr>
            <p:ph type="title"/>
          </p:nvPr>
        </p:nvSpPr>
        <p:spPr bwMode="auto">
          <a:xfrm>
            <a:off x="1928813" y="835025"/>
            <a:ext cx="5614987"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dirty="0"/>
              <a:t>单击此处编辑母版标题样式</a:t>
            </a:r>
          </a:p>
        </p:txBody>
      </p:sp>
      <p:sp>
        <p:nvSpPr>
          <p:cNvPr id="1027" name="文本占位符 2">
            <a:extLst>
              <a:ext uri="{FF2B5EF4-FFF2-40B4-BE49-F238E27FC236}">
                <a16:creationId xmlns:a16="http://schemas.microsoft.com/office/drawing/2014/main" id="{AFD4B0E0-0240-4D49-90D7-79A6E07A6E99}"/>
              </a:ext>
            </a:extLst>
          </p:cNvPr>
          <p:cNvSpPr>
            <a:spLocks noGrp="1" noChangeArrowheads="1"/>
          </p:cNvSpPr>
          <p:nvPr>
            <p:ph type="body" idx="1"/>
          </p:nvPr>
        </p:nvSpPr>
        <p:spPr bwMode="auto">
          <a:xfrm>
            <a:off x="428625" y="1800225"/>
            <a:ext cx="8229600"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transition spd="med">
    <p:randomBar dir="vert"/>
  </p:transition>
  <p:txStyles>
    <p:titleStyle>
      <a:lvl1pPr algn="ctr" rtl="0" eaLnBrk="0" fontAlgn="base" hangingPunct="0">
        <a:spcBef>
          <a:spcPct val="0"/>
        </a:spcBef>
        <a:spcAft>
          <a:spcPct val="0"/>
        </a:spcAft>
        <a:defRPr lang="zh-CN" altLang="zh-CN" sz="3000" b="1" kern="1200" dirty="0">
          <a:solidFill>
            <a:srgbClr val="C00000"/>
          </a:solidFill>
          <a:effectLst>
            <a:reflection blurRad="6350" stA="50000" endA="300" endPos="50000" dist="60007" dir="5400000" sy="-100000" algn="bl" rotWithShape="0"/>
          </a:effectLst>
          <a:latin typeface="微软雅黑" pitchFamily="34" charset="-122"/>
          <a:ea typeface="微软雅黑" pitchFamily="34" charset="-122"/>
          <a:cs typeface="+mj-cs"/>
        </a:defRPr>
      </a:lvl1pPr>
      <a:lvl2pPr algn="ctr" rtl="0" eaLnBrk="0" fontAlgn="base" hangingPunct="0">
        <a:spcBef>
          <a:spcPct val="0"/>
        </a:spcBef>
        <a:spcAft>
          <a:spcPct val="0"/>
        </a:spcAft>
        <a:defRPr sz="3000" b="1">
          <a:solidFill>
            <a:srgbClr val="C00000"/>
          </a:solidFill>
          <a:latin typeface="微软雅黑" pitchFamily="34" charset="-122"/>
          <a:ea typeface="微软雅黑" pitchFamily="34" charset="-122"/>
        </a:defRPr>
      </a:lvl2pPr>
      <a:lvl3pPr algn="ctr" rtl="0" eaLnBrk="0" fontAlgn="base" hangingPunct="0">
        <a:spcBef>
          <a:spcPct val="0"/>
        </a:spcBef>
        <a:spcAft>
          <a:spcPct val="0"/>
        </a:spcAft>
        <a:defRPr sz="3000" b="1">
          <a:solidFill>
            <a:srgbClr val="C00000"/>
          </a:solidFill>
          <a:latin typeface="微软雅黑" pitchFamily="34" charset="-122"/>
          <a:ea typeface="微软雅黑" pitchFamily="34" charset="-122"/>
        </a:defRPr>
      </a:lvl3pPr>
      <a:lvl4pPr algn="ctr" rtl="0" eaLnBrk="0" fontAlgn="base" hangingPunct="0">
        <a:spcBef>
          <a:spcPct val="0"/>
        </a:spcBef>
        <a:spcAft>
          <a:spcPct val="0"/>
        </a:spcAft>
        <a:defRPr sz="3000" b="1">
          <a:solidFill>
            <a:srgbClr val="C00000"/>
          </a:solidFill>
          <a:latin typeface="微软雅黑" pitchFamily="34" charset="-122"/>
          <a:ea typeface="微软雅黑" pitchFamily="34" charset="-122"/>
        </a:defRPr>
      </a:lvl4pPr>
      <a:lvl5pPr algn="ctr" rtl="0" eaLnBrk="0" fontAlgn="base" hangingPunct="0">
        <a:spcBef>
          <a:spcPct val="0"/>
        </a:spcBef>
        <a:spcAft>
          <a:spcPct val="0"/>
        </a:spcAft>
        <a:defRPr sz="3000" b="1">
          <a:solidFill>
            <a:srgbClr val="C00000"/>
          </a:solidFill>
          <a:latin typeface="微软雅黑" pitchFamily="34" charset="-122"/>
          <a:ea typeface="微软雅黑" pitchFamily="34" charset="-122"/>
        </a:defRPr>
      </a:lvl5pPr>
      <a:lvl6pPr marL="457200" algn="ctr" rtl="0" eaLnBrk="0" fontAlgn="base" hangingPunct="0">
        <a:spcBef>
          <a:spcPct val="0"/>
        </a:spcBef>
        <a:spcAft>
          <a:spcPct val="0"/>
        </a:spcAft>
        <a:defRPr sz="3200">
          <a:solidFill>
            <a:schemeClr val="tx1"/>
          </a:solidFill>
          <a:latin typeface="微软雅黑" pitchFamily="34" charset="-122"/>
          <a:ea typeface="微软雅黑" pitchFamily="34" charset="-122"/>
        </a:defRPr>
      </a:lvl6pPr>
      <a:lvl7pPr marL="914400" algn="ctr" rtl="0" eaLnBrk="0" fontAlgn="base" hangingPunct="0">
        <a:spcBef>
          <a:spcPct val="0"/>
        </a:spcBef>
        <a:spcAft>
          <a:spcPct val="0"/>
        </a:spcAft>
        <a:defRPr sz="3200">
          <a:solidFill>
            <a:schemeClr val="tx1"/>
          </a:solidFill>
          <a:latin typeface="微软雅黑" pitchFamily="34" charset="-122"/>
          <a:ea typeface="微软雅黑" pitchFamily="34" charset="-122"/>
        </a:defRPr>
      </a:lvl7pPr>
      <a:lvl8pPr marL="1371600" algn="ctr" rtl="0" eaLnBrk="0" fontAlgn="base" hangingPunct="0">
        <a:spcBef>
          <a:spcPct val="0"/>
        </a:spcBef>
        <a:spcAft>
          <a:spcPct val="0"/>
        </a:spcAft>
        <a:defRPr sz="3200">
          <a:solidFill>
            <a:schemeClr val="tx1"/>
          </a:solidFill>
          <a:latin typeface="微软雅黑" pitchFamily="34" charset="-122"/>
          <a:ea typeface="微软雅黑" pitchFamily="34" charset="-122"/>
        </a:defRPr>
      </a:lvl8pPr>
      <a:lvl9pPr marL="1828800" algn="ctr" rtl="0" eaLnBrk="0" fontAlgn="base" hangingPunct="0">
        <a:spcBef>
          <a:spcPct val="0"/>
        </a:spcBef>
        <a:spcAft>
          <a:spcPct val="0"/>
        </a:spcAft>
        <a:defRPr sz="3200">
          <a:solidFill>
            <a:schemeClr val="tx1"/>
          </a:solidFill>
          <a:latin typeface="微软雅黑" pitchFamily="34" charset="-122"/>
          <a:ea typeface="微软雅黑" pitchFamily="34" charset="-122"/>
        </a:defRPr>
      </a:lvl9pPr>
    </p:titleStyle>
    <p:bodyStyle>
      <a:lvl1pPr marL="342900" indent="-342900" algn="l" rtl="0" eaLnBrk="0" fontAlgn="base" hangingPunct="0">
        <a:lnSpc>
          <a:spcPct val="150000"/>
        </a:lnSpc>
        <a:spcBef>
          <a:spcPct val="0"/>
        </a:spcBef>
        <a:spcAft>
          <a:spcPct val="0"/>
        </a:spcAft>
        <a:buClr>
          <a:srgbClr val="C00000"/>
        </a:buClr>
        <a:buFont typeface="Wingdings" panose="05000000000000000000" pitchFamily="2" charset="2"/>
        <a:buChar char="n"/>
        <a:defRPr sz="1600">
          <a:solidFill>
            <a:schemeClr val="tx1"/>
          </a:solidFill>
          <a:latin typeface="+mj-ea"/>
          <a:ea typeface="+mj-ea"/>
          <a:cs typeface="+mn-cs"/>
        </a:defRPr>
      </a:lvl1pPr>
      <a:lvl2pPr marL="742950" indent="-285750" algn="l" rtl="0" eaLnBrk="0" fontAlgn="base" hangingPunct="0">
        <a:lnSpc>
          <a:spcPct val="150000"/>
        </a:lnSpc>
        <a:spcBef>
          <a:spcPct val="0"/>
        </a:spcBef>
        <a:spcAft>
          <a:spcPct val="0"/>
        </a:spcAft>
        <a:buClr>
          <a:srgbClr val="C00000"/>
        </a:buClr>
        <a:buFont typeface="Wingdings" panose="05000000000000000000" pitchFamily="2" charset="2"/>
        <a:buChar char="Ø"/>
        <a:defRPr sz="1600">
          <a:solidFill>
            <a:schemeClr val="tx1"/>
          </a:solidFill>
          <a:latin typeface="+mj-ea"/>
          <a:ea typeface="+mj-ea"/>
        </a:defRPr>
      </a:lvl2pPr>
      <a:lvl3pPr marL="1143000" indent="-228600" algn="l" rtl="0" eaLnBrk="0" fontAlgn="base" hangingPunct="0">
        <a:lnSpc>
          <a:spcPct val="150000"/>
        </a:lnSpc>
        <a:spcBef>
          <a:spcPct val="0"/>
        </a:spcBef>
        <a:spcAft>
          <a:spcPct val="0"/>
        </a:spcAft>
        <a:buClr>
          <a:srgbClr val="C00000"/>
        </a:buClr>
        <a:buFont typeface="Wingdings" panose="05000000000000000000" pitchFamily="2" charset="2"/>
        <a:buChar char="ü"/>
        <a:defRPr sz="1600">
          <a:solidFill>
            <a:schemeClr val="tx1"/>
          </a:solidFill>
          <a:latin typeface="+mj-ea"/>
          <a:ea typeface="+mj-ea"/>
        </a:defRPr>
      </a:lvl3pPr>
      <a:lvl4pPr marL="16002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4pPr>
      <a:lvl5pPr marL="20574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5pPr>
      <a:lvl6pPr marL="2514600" indent="-228600" algn="l" rtl="0" eaLnBrk="0" fontAlgn="base" hangingPunct="0">
        <a:spcBef>
          <a:spcPct val="20000"/>
        </a:spcBef>
        <a:spcAft>
          <a:spcPct val="0"/>
        </a:spcAft>
        <a:buClr>
          <a:srgbClr val="E46C0A"/>
        </a:buClr>
        <a:buFont typeface="Wingdings" pitchFamily="2" charset="2"/>
        <a:buChar char="ü"/>
        <a:defRPr sz="2000">
          <a:solidFill>
            <a:schemeClr val="tx1"/>
          </a:solidFill>
          <a:latin typeface="+mn-lt"/>
          <a:ea typeface="+mn-ea"/>
        </a:defRPr>
      </a:lvl6pPr>
      <a:lvl7pPr marL="2971800" indent="-228600" algn="l" rtl="0" eaLnBrk="0" fontAlgn="base" hangingPunct="0">
        <a:spcBef>
          <a:spcPct val="20000"/>
        </a:spcBef>
        <a:spcAft>
          <a:spcPct val="0"/>
        </a:spcAft>
        <a:buClr>
          <a:srgbClr val="E46C0A"/>
        </a:buClr>
        <a:buFont typeface="Wingdings" pitchFamily="2" charset="2"/>
        <a:buChar char="ü"/>
        <a:defRPr sz="2000">
          <a:solidFill>
            <a:schemeClr val="tx1"/>
          </a:solidFill>
          <a:latin typeface="+mn-lt"/>
          <a:ea typeface="+mn-ea"/>
        </a:defRPr>
      </a:lvl7pPr>
      <a:lvl8pPr marL="3429000" indent="-228600" algn="l" rtl="0" eaLnBrk="0" fontAlgn="base" hangingPunct="0">
        <a:spcBef>
          <a:spcPct val="20000"/>
        </a:spcBef>
        <a:spcAft>
          <a:spcPct val="0"/>
        </a:spcAft>
        <a:buClr>
          <a:srgbClr val="E46C0A"/>
        </a:buClr>
        <a:buFont typeface="Wingdings" pitchFamily="2" charset="2"/>
        <a:buChar char="ü"/>
        <a:defRPr sz="2000">
          <a:solidFill>
            <a:schemeClr val="tx1"/>
          </a:solidFill>
          <a:latin typeface="+mn-lt"/>
          <a:ea typeface="+mn-ea"/>
        </a:defRPr>
      </a:lvl8pPr>
      <a:lvl9pPr marL="3886200" indent="-228600" algn="l" rtl="0" eaLnBrk="0" fontAlgn="base" hangingPunct="0">
        <a:spcBef>
          <a:spcPct val="20000"/>
        </a:spcBef>
        <a:spcAft>
          <a:spcPct val="0"/>
        </a:spcAft>
        <a:buClr>
          <a:srgbClr val="E46C0A"/>
        </a:buClr>
        <a:buFont typeface="Wingdings" pitchFamily="2" charset="2"/>
        <a:buChar char="ü"/>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DC495-B276-4025-84B6-BC5756A22F33}"/>
              </a:ext>
            </a:extLst>
          </p:cNvPr>
          <p:cNvSpPr>
            <a:spLocks noGrp="1"/>
          </p:cNvSpPr>
          <p:nvPr>
            <p:ph type="ctrTitle"/>
          </p:nvPr>
        </p:nvSpPr>
        <p:spPr>
          <a:xfrm>
            <a:off x="685800" y="1357304"/>
            <a:ext cx="7772400" cy="1103313"/>
          </a:xfrm>
        </p:spPr>
        <p:txBody>
          <a:bodyPr/>
          <a:lstStyle/>
          <a:p>
            <a:pPr>
              <a:defRPr/>
            </a:pPr>
            <a:r>
              <a:rPr altLang="en-US"/>
              <a:t>信息安全导论</a:t>
            </a:r>
            <a:br>
              <a:rPr altLang="en-US"/>
            </a:br>
            <a:r>
              <a:rPr altLang="en-US"/>
              <a:t> </a:t>
            </a:r>
            <a:r>
              <a:rPr lang="en-US" altLang="en-US"/>
              <a:t>Introduction to Information Security</a:t>
            </a:r>
            <a:endParaRPr altLang="en-US"/>
          </a:p>
        </p:txBody>
      </p:sp>
      <p:sp>
        <p:nvSpPr>
          <p:cNvPr id="3075" name="副标题 2">
            <a:extLst>
              <a:ext uri="{FF2B5EF4-FFF2-40B4-BE49-F238E27FC236}">
                <a16:creationId xmlns:a16="http://schemas.microsoft.com/office/drawing/2014/main" id="{71E10C8C-044D-40AE-9A25-3F0692B59B2C}"/>
              </a:ext>
            </a:extLst>
          </p:cNvPr>
          <p:cNvSpPr>
            <a:spLocks noGrp="1" noChangeArrowheads="1"/>
          </p:cNvSpPr>
          <p:nvPr>
            <p:ph type="subTitle" idx="1"/>
          </p:nvPr>
        </p:nvSpPr>
        <p:spPr>
          <a:xfrm>
            <a:off x="1371600" y="2786063"/>
            <a:ext cx="6400800" cy="1801812"/>
          </a:xfrm>
        </p:spPr>
        <p:txBody>
          <a:bodyPr/>
          <a:lstStyle/>
          <a:p>
            <a:r>
              <a:rPr lang="zh-CN" altLang="en-US" sz="1800" b="1" dirty="0"/>
              <a:t>华中农业大学信息学院</a:t>
            </a:r>
            <a:endParaRPr lang="en-US" altLang="zh-CN" sz="1800" b="1" dirty="0"/>
          </a:p>
          <a:p>
            <a:r>
              <a:rPr lang="zh-CN" altLang="en-US" sz="1800" b="1" dirty="0"/>
              <a:t>授课老师：徐士伟，</a:t>
            </a:r>
            <a:r>
              <a:rPr lang="en-US" altLang="zh-CN" sz="1800" b="1" dirty="0"/>
              <a:t>15002787572</a:t>
            </a:r>
          </a:p>
          <a:p>
            <a:r>
              <a:rPr lang="en-US" altLang="zh-CN" sz="1800" b="1" dirty="0"/>
              <a:t>QQ</a:t>
            </a:r>
            <a:r>
              <a:rPr lang="zh-CN" altLang="en-US" sz="1800" b="1" dirty="0"/>
              <a:t>：</a:t>
            </a:r>
            <a:r>
              <a:rPr lang="en-US" altLang="zh-CN" sz="1800" b="1" dirty="0"/>
              <a:t>173375927</a:t>
            </a:r>
          </a:p>
          <a:p>
            <a:r>
              <a:rPr lang="zh-CN" altLang="en-US" sz="1800" b="1" dirty="0"/>
              <a:t>邮箱：</a:t>
            </a:r>
            <a:r>
              <a:rPr lang="en-US" altLang="zh-CN" sz="1800" b="1" dirty="0"/>
              <a:t>xushiwei@mail.hzau.edu.cn</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rcRect l="15137" t="17801" r="12647" b="28771"/>
          <a:stretch>
            <a:fillRect/>
          </a:stretch>
        </p:blipFill>
        <p:spPr>
          <a:xfrm>
            <a:off x="7272809" y="2676310"/>
            <a:ext cx="1835695" cy="2415720"/>
          </a:xfrm>
          <a:prstGeom prst="rect">
            <a:avLst/>
          </a:prstGeom>
        </p:spPr>
      </p:pic>
      <p:sp>
        <p:nvSpPr>
          <p:cNvPr id="4098" name="副标题 2"/>
          <p:cNvSpPr>
            <a:spLocks noGrp="1" noChangeArrowheads="1"/>
          </p:cNvSpPr>
          <p:nvPr>
            <p:ph type="subTitle" idx="4294967295"/>
          </p:nvPr>
        </p:nvSpPr>
        <p:spPr>
          <a:xfrm>
            <a:off x="179512" y="123825"/>
            <a:ext cx="8713663" cy="4392613"/>
          </a:xfrm>
        </p:spPr>
        <p:txBody>
          <a:bodyPr/>
          <a:lstStyle/>
          <a:p>
            <a:pPr marL="0" indent="0" eaLnBrk="1" hangingPunct="1">
              <a:buFont typeface="Wingdings" panose="05000000000000000000" pitchFamily="2" charset="2"/>
              <a:buNone/>
            </a:pPr>
            <a:endParaRPr lang="en-US" altLang="zh-CN" b="1" dirty="0"/>
          </a:p>
          <a:p>
            <a:pPr marL="0" indent="0" eaLnBrk="1" hangingPunct="1">
              <a:buFont typeface="Wingdings" panose="05000000000000000000" pitchFamily="2" charset="2"/>
              <a:buNone/>
            </a:pPr>
            <a:r>
              <a:rPr lang="zh-CN" altLang="en-US" b="1" dirty="0"/>
              <a:t>总学时：  	</a:t>
            </a:r>
            <a:r>
              <a:rPr lang="en-US" altLang="zh-CN" b="1" dirty="0">
                <a:solidFill>
                  <a:srgbClr val="FF0000"/>
                </a:solidFill>
              </a:rPr>
              <a:t>24</a:t>
            </a:r>
            <a:r>
              <a:rPr lang="zh-CN" altLang="en-US" b="1" dirty="0"/>
              <a:t>（理论）</a:t>
            </a:r>
            <a:r>
              <a:rPr lang="en-US" altLang="zh-CN" b="1" dirty="0"/>
              <a:t>+</a:t>
            </a:r>
            <a:r>
              <a:rPr lang="en-US" altLang="zh-CN" b="1" dirty="0">
                <a:solidFill>
                  <a:srgbClr val="FF0000"/>
                </a:solidFill>
              </a:rPr>
              <a:t>16</a:t>
            </a:r>
            <a:r>
              <a:rPr lang="zh-CN" altLang="en-US" b="1" dirty="0"/>
              <a:t>（实验）</a:t>
            </a:r>
          </a:p>
          <a:p>
            <a:pPr marL="0" indent="0" eaLnBrk="1" hangingPunct="1">
              <a:buFont typeface="Wingdings" panose="05000000000000000000" pitchFamily="2" charset="2"/>
              <a:buNone/>
            </a:pPr>
            <a:r>
              <a:rPr lang="zh-CN" altLang="en-US" b="1" dirty="0"/>
              <a:t>考核方式：	</a:t>
            </a:r>
            <a:r>
              <a:rPr lang="zh-CN" altLang="en-US" b="1" dirty="0">
                <a:solidFill>
                  <a:schemeClr val="hlink"/>
                </a:solidFill>
              </a:rPr>
              <a:t>课程考核 </a:t>
            </a:r>
            <a:r>
              <a:rPr lang="en-US" altLang="zh-CN" b="1" dirty="0"/>
              <a:t>= </a:t>
            </a:r>
            <a:r>
              <a:rPr lang="zh-CN" altLang="en-US" b="1" dirty="0">
                <a:solidFill>
                  <a:schemeClr val="folHlink"/>
                </a:solidFill>
              </a:rPr>
              <a:t>课程论文</a:t>
            </a:r>
            <a:r>
              <a:rPr lang="en-US" altLang="zh-CN" b="1" dirty="0">
                <a:solidFill>
                  <a:schemeClr val="folHlink"/>
                </a:solidFill>
              </a:rPr>
              <a:t>(45%)</a:t>
            </a:r>
            <a:r>
              <a:rPr lang="en-US" altLang="zh-CN" b="1" dirty="0"/>
              <a:t>+</a:t>
            </a:r>
            <a:r>
              <a:rPr lang="zh-CN" altLang="en-US" b="1" dirty="0">
                <a:solidFill>
                  <a:schemeClr val="folHlink"/>
                </a:solidFill>
              </a:rPr>
              <a:t>实验</a:t>
            </a:r>
            <a:r>
              <a:rPr lang="en-US" altLang="zh-CN" b="1" dirty="0">
                <a:solidFill>
                  <a:schemeClr val="folHlink"/>
                </a:solidFill>
              </a:rPr>
              <a:t>(35%)</a:t>
            </a:r>
            <a:r>
              <a:rPr lang="en-US" altLang="zh-CN" b="1" dirty="0"/>
              <a:t> +</a:t>
            </a:r>
            <a:r>
              <a:rPr lang="zh-CN" altLang="en-US" b="1" dirty="0">
                <a:solidFill>
                  <a:schemeClr val="folHlink"/>
                </a:solidFill>
              </a:rPr>
              <a:t>平时作业</a:t>
            </a:r>
            <a:r>
              <a:rPr lang="en-US" altLang="zh-CN" b="1" dirty="0">
                <a:solidFill>
                  <a:schemeClr val="folHlink"/>
                </a:solidFill>
              </a:rPr>
              <a:t>(20%)</a:t>
            </a:r>
            <a:endParaRPr lang="zh-CN" altLang="en-US" b="1" dirty="0">
              <a:solidFill>
                <a:schemeClr val="folHlink"/>
              </a:solidFill>
            </a:endParaRPr>
          </a:p>
          <a:p>
            <a:pPr marL="0" indent="0" eaLnBrk="1" hangingPunct="1">
              <a:buFont typeface="Wingdings" panose="05000000000000000000" pitchFamily="2" charset="2"/>
              <a:buNone/>
            </a:pPr>
            <a:r>
              <a:rPr lang="zh-CN" altLang="en-US" b="1" dirty="0"/>
              <a:t>课程组成：	信息安全基本原理（第</a:t>
            </a:r>
            <a:r>
              <a:rPr lang="en-US" altLang="zh-CN" b="1" dirty="0"/>
              <a:t>3</a:t>
            </a:r>
            <a:r>
              <a:rPr lang="zh-CN" altLang="en-US" b="1" dirty="0"/>
              <a:t>章）		</a:t>
            </a:r>
            <a:r>
              <a:rPr lang="zh-CN" altLang="en-US" b="1" dirty="0">
                <a:solidFill>
                  <a:srgbClr val="FF0000"/>
                </a:solidFill>
              </a:rPr>
              <a:t>密码学</a:t>
            </a:r>
            <a:r>
              <a:rPr lang="zh-CN" altLang="en-US" b="1" dirty="0"/>
              <a:t>（第</a:t>
            </a:r>
            <a:r>
              <a:rPr lang="en-US" altLang="zh-CN" b="1" dirty="0"/>
              <a:t>4</a:t>
            </a:r>
            <a:r>
              <a:rPr lang="zh-CN" altLang="en-US" b="1" dirty="0"/>
              <a:t>章）</a:t>
            </a:r>
          </a:p>
          <a:p>
            <a:pPr marL="0" indent="0" eaLnBrk="1" hangingPunct="1">
              <a:buFont typeface="Wingdings" panose="05000000000000000000" pitchFamily="2" charset="2"/>
              <a:buNone/>
            </a:pPr>
            <a:r>
              <a:rPr lang="zh-CN" altLang="en-US" b="1" dirty="0"/>
              <a:t>		</a:t>
            </a:r>
            <a:r>
              <a:rPr lang="zh-CN" altLang="en-US" b="1" dirty="0">
                <a:solidFill>
                  <a:srgbClr val="FF0000"/>
                </a:solidFill>
              </a:rPr>
              <a:t>操作系统安全</a:t>
            </a:r>
            <a:r>
              <a:rPr lang="zh-CN" altLang="en-US" b="1" dirty="0"/>
              <a:t>（第</a:t>
            </a:r>
            <a:r>
              <a:rPr lang="en-US" altLang="zh-CN" b="1" dirty="0"/>
              <a:t>5</a:t>
            </a:r>
            <a:r>
              <a:rPr lang="zh-CN" altLang="en-US" b="1" dirty="0"/>
              <a:t>章）		物理安全（第</a:t>
            </a:r>
            <a:r>
              <a:rPr lang="en-US" altLang="zh-CN" b="1" dirty="0"/>
              <a:t>6</a:t>
            </a:r>
            <a:r>
              <a:rPr lang="zh-CN" altLang="en-US" b="1" dirty="0"/>
              <a:t>章）</a:t>
            </a:r>
          </a:p>
          <a:p>
            <a:pPr marL="0" indent="0" eaLnBrk="1" hangingPunct="1">
              <a:buFont typeface="Wingdings" panose="05000000000000000000" pitchFamily="2" charset="2"/>
              <a:buNone/>
            </a:pPr>
            <a:r>
              <a:rPr lang="zh-CN" altLang="en-US" b="1" dirty="0"/>
              <a:t>		</a:t>
            </a:r>
            <a:r>
              <a:rPr lang="zh-CN" altLang="en-US" b="1" dirty="0">
                <a:solidFill>
                  <a:srgbClr val="FF0000"/>
                </a:solidFill>
              </a:rPr>
              <a:t>网络安全</a:t>
            </a:r>
            <a:r>
              <a:rPr lang="zh-CN" altLang="en-US" b="1" dirty="0"/>
              <a:t>（第</a:t>
            </a:r>
            <a:r>
              <a:rPr lang="en-US" altLang="zh-CN" b="1" dirty="0"/>
              <a:t>7</a:t>
            </a:r>
            <a:r>
              <a:rPr lang="zh-CN" altLang="en-US" b="1" dirty="0"/>
              <a:t>章）			</a:t>
            </a:r>
            <a:r>
              <a:rPr lang="zh-CN" altLang="en-US" b="1" dirty="0">
                <a:solidFill>
                  <a:srgbClr val="FF0000"/>
                </a:solidFill>
              </a:rPr>
              <a:t>软件安全与恶意代码</a:t>
            </a:r>
            <a:r>
              <a:rPr lang="zh-CN" altLang="en-US" b="1" dirty="0"/>
              <a:t>（第</a:t>
            </a:r>
            <a:r>
              <a:rPr lang="en-US" altLang="zh-CN" b="1" dirty="0"/>
              <a:t>9</a:t>
            </a:r>
            <a:r>
              <a:rPr lang="zh-CN" altLang="en-US" b="1" dirty="0"/>
              <a:t>章）</a:t>
            </a:r>
            <a:endParaRPr lang="en-US" altLang="zh-CN" b="1" dirty="0"/>
          </a:p>
          <a:p>
            <a:pPr marL="0" indent="0" eaLnBrk="1" hangingPunct="1">
              <a:buFont typeface="Wingdings" panose="05000000000000000000" pitchFamily="2" charset="2"/>
              <a:buNone/>
            </a:pPr>
            <a:r>
              <a:rPr lang="en-US" altLang="zh-CN" b="1" dirty="0"/>
              <a:t>		</a:t>
            </a:r>
            <a:r>
              <a:rPr lang="zh-CN" altLang="en-US" b="1" dirty="0"/>
              <a:t>信息内容安全（第</a:t>
            </a:r>
            <a:r>
              <a:rPr lang="en-US" altLang="zh-CN" b="1" dirty="0"/>
              <a:t>10</a:t>
            </a:r>
            <a:r>
              <a:rPr lang="zh-CN" altLang="en-US" b="1" dirty="0"/>
              <a:t>章）		数据安全（第</a:t>
            </a:r>
            <a:r>
              <a:rPr lang="en-US" altLang="zh-CN" b="1" dirty="0"/>
              <a:t>11</a:t>
            </a:r>
            <a:r>
              <a:rPr lang="zh-CN" altLang="en-US" b="1" dirty="0"/>
              <a:t>章）</a:t>
            </a:r>
          </a:p>
          <a:p>
            <a:pPr marL="0" indent="0" eaLnBrk="1" hangingPunct="1">
              <a:buFont typeface="Wingdings" panose="05000000000000000000" pitchFamily="2" charset="2"/>
              <a:buNone/>
            </a:pPr>
            <a:r>
              <a:rPr lang="zh-CN" altLang="en-US" b="1" dirty="0"/>
              <a:t>学习要点：	在每章开头提出要点。</a:t>
            </a:r>
          </a:p>
        </p:txBody>
      </p:sp>
    </p:spTree>
  </p:cSld>
  <p:clrMapOvr>
    <a:masterClrMapping/>
  </p:clrMapOvr>
  <p:transition spd="med">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92CF6514-4654-4DFA-956B-6AEA1777993C}"/>
              </a:ext>
            </a:extLst>
          </p:cNvPr>
          <p:cNvSpPr txBox="1">
            <a:spLocks/>
          </p:cNvSpPr>
          <p:nvPr/>
        </p:nvSpPr>
        <p:spPr bwMode="auto">
          <a:xfrm>
            <a:off x="1285852" y="1071552"/>
            <a:ext cx="6072230" cy="632693"/>
          </a:xfrm>
          <a:prstGeom prst="rect">
            <a:avLst/>
          </a:prstGeom>
          <a:noFill/>
          <a:ln w="9525">
            <a:noFill/>
            <a:miter lim="800000"/>
            <a:headEnd/>
            <a:tailEnd/>
          </a:ln>
        </p:spPr>
        <p:txBody>
          <a:bodyPr anchor="ctr"/>
          <a:lstStyle/>
          <a:p>
            <a:pPr algn="ctr">
              <a:defRPr/>
            </a:pPr>
            <a:r>
              <a:rPr lang="zh-CN" altLang="en-US" sz="3200" b="1" dirty="0">
                <a:solidFill>
                  <a:srgbClr val="C00000"/>
                </a:solidFill>
                <a:effectLst>
                  <a:reflection blurRad="6350" stA="50000" endA="300" endPos="50000" dist="60007" dir="5400000" sy="-100000" algn="bl" rotWithShape="0"/>
                </a:effectLst>
                <a:latin typeface="+mj-ea"/>
                <a:ea typeface="+mj-ea"/>
                <a:cs typeface="+mj-cs"/>
              </a:rPr>
              <a:t>第</a:t>
            </a:r>
            <a:r>
              <a:rPr lang="en-US" altLang="zh-CN" sz="3200" b="1" dirty="0">
                <a:solidFill>
                  <a:srgbClr val="C00000"/>
                </a:solidFill>
                <a:effectLst>
                  <a:reflection blurRad="6350" stA="50000" endA="300" endPos="50000" dist="60007" dir="5400000" sy="-100000" algn="bl" rotWithShape="0"/>
                </a:effectLst>
                <a:latin typeface="+mj-ea"/>
                <a:ea typeface="+mj-ea"/>
                <a:cs typeface="+mj-cs"/>
              </a:rPr>
              <a:t>3</a:t>
            </a:r>
            <a:r>
              <a:rPr lang="zh-CN" altLang="en-US" sz="3200" b="1" dirty="0">
                <a:solidFill>
                  <a:srgbClr val="C00000"/>
                </a:solidFill>
                <a:effectLst>
                  <a:reflection blurRad="6350" stA="50000" endA="300" endPos="50000" dist="60007" dir="5400000" sy="-100000" algn="bl" rotWithShape="0"/>
                </a:effectLst>
                <a:latin typeface="+mj-ea"/>
                <a:ea typeface="+mj-ea"/>
                <a:cs typeface="+mj-cs"/>
              </a:rPr>
              <a:t>章  信息安全基本概念与原理</a:t>
            </a:r>
          </a:p>
        </p:txBody>
      </p:sp>
      <p:sp>
        <p:nvSpPr>
          <p:cNvPr id="5123" name="内容占位符 4">
            <a:extLst>
              <a:ext uri="{FF2B5EF4-FFF2-40B4-BE49-F238E27FC236}">
                <a16:creationId xmlns:a16="http://schemas.microsoft.com/office/drawing/2014/main" id="{CE409309-0C93-408A-BFCD-53F8D27FB234}"/>
              </a:ext>
            </a:extLst>
          </p:cNvPr>
          <p:cNvSpPr>
            <a:spLocks noGrp="1" noChangeArrowheads="1"/>
          </p:cNvSpPr>
          <p:nvPr>
            <p:ph idx="1"/>
          </p:nvPr>
        </p:nvSpPr>
        <p:spPr>
          <a:xfrm>
            <a:off x="1857375" y="2071688"/>
            <a:ext cx="5929313" cy="1928812"/>
          </a:xfrm>
        </p:spPr>
        <p:txBody>
          <a:bodyPr/>
          <a:lstStyle/>
          <a:p>
            <a:pPr>
              <a:buFont typeface="Wingdings" panose="05000000000000000000" pitchFamily="2" charset="2"/>
              <a:buNone/>
            </a:pPr>
            <a:r>
              <a:rPr lang="zh-CN" altLang="en-US" sz="2000" b="1"/>
              <a:t>本章学习要点：</a:t>
            </a:r>
            <a:endParaRPr lang="en-US" altLang="zh-CN" sz="2000" b="1"/>
          </a:p>
          <a:p>
            <a:pPr>
              <a:buFont typeface="Wingdings" panose="05000000000000000000" pitchFamily="2" charset="2"/>
              <a:buChar char="Ø"/>
            </a:pPr>
            <a:r>
              <a:rPr lang="zh-CN" altLang="en-US" sz="1800" b="1">
                <a:solidFill>
                  <a:srgbClr val="FF0000"/>
                </a:solidFill>
              </a:rPr>
              <a:t>掌握</a:t>
            </a:r>
            <a:r>
              <a:rPr lang="zh-CN" altLang="en-US" sz="1800" b="1"/>
              <a:t>信息安全的基本概念和基本服务；</a:t>
            </a:r>
            <a:endParaRPr lang="en-US" altLang="zh-CN" sz="1800" b="1"/>
          </a:p>
          <a:p>
            <a:pPr>
              <a:buFont typeface="Wingdings" panose="05000000000000000000" pitchFamily="2" charset="2"/>
              <a:buChar char="Ø"/>
            </a:pPr>
            <a:r>
              <a:rPr lang="zh-CN" altLang="en-US" sz="1800" b="1">
                <a:solidFill>
                  <a:srgbClr val="FF0000"/>
                </a:solidFill>
              </a:rPr>
              <a:t>了解</a:t>
            </a:r>
            <a:r>
              <a:rPr lang="zh-CN" altLang="en-US" sz="1800" b="1"/>
              <a:t>信息安全面临的主要威胁；</a:t>
            </a:r>
            <a:endParaRPr lang="en-US" altLang="zh-CN" sz="1800" b="1"/>
          </a:p>
          <a:p>
            <a:pPr>
              <a:buFont typeface="Wingdings" panose="05000000000000000000" pitchFamily="2" charset="2"/>
              <a:buChar char="Ø"/>
            </a:pPr>
            <a:r>
              <a:rPr lang="zh-CN" altLang="en-US" sz="1800" b="1">
                <a:solidFill>
                  <a:srgbClr val="FF0000"/>
                </a:solidFill>
              </a:rPr>
              <a:t>了解</a:t>
            </a:r>
            <a:r>
              <a:rPr lang="zh-CN" altLang="en-US" sz="1800" b="1"/>
              <a:t>信息安全体系结构，掌握相关概念和模型。</a:t>
            </a:r>
            <a:endParaRPr lang="en-US" altLang="zh-CN" sz="1800" b="1"/>
          </a:p>
          <a:p>
            <a:pPr>
              <a:buFont typeface="Wingdings" panose="05000000000000000000" pitchFamily="2" charset="2"/>
              <a:buChar char="Ø"/>
            </a:pPr>
            <a:endParaRPr lang="zh-CN" altLang="en-US" b="1"/>
          </a:p>
        </p:txBody>
      </p:sp>
    </p:spTree>
  </p:cSld>
  <p:clrMapOvr>
    <a:masterClrMapping/>
  </p:clrMapOvr>
  <p:transition spd="med">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五边形 9">
            <a:extLst>
              <a:ext uri="{FF2B5EF4-FFF2-40B4-BE49-F238E27FC236}">
                <a16:creationId xmlns:a16="http://schemas.microsoft.com/office/drawing/2014/main" id="{5AA94DD4-9584-4DC4-9C2B-D8DE2DFD6F91}"/>
              </a:ext>
            </a:extLst>
          </p:cNvPr>
          <p:cNvSpPr>
            <a:spLocks noChangeArrowheads="1"/>
          </p:cNvSpPr>
          <p:nvPr/>
        </p:nvSpPr>
        <p:spPr bwMode="auto">
          <a:xfrm rot="10800000">
            <a:off x="2714625" y="1643063"/>
            <a:ext cx="4071938" cy="500062"/>
          </a:xfrm>
          <a:prstGeom prst="homePlate">
            <a:avLst>
              <a:gd name="adj" fmla="val 50026"/>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6147" name="椭圆 10">
            <a:extLst>
              <a:ext uri="{FF2B5EF4-FFF2-40B4-BE49-F238E27FC236}">
                <a16:creationId xmlns:a16="http://schemas.microsoft.com/office/drawing/2014/main" id="{AC9D6258-EB0A-4692-BD07-E404564A4CC1}"/>
              </a:ext>
            </a:extLst>
          </p:cNvPr>
          <p:cNvSpPr>
            <a:spLocks noChangeArrowheads="1"/>
          </p:cNvSpPr>
          <p:nvPr/>
        </p:nvSpPr>
        <p:spPr bwMode="auto">
          <a:xfrm>
            <a:off x="2428875" y="1643063"/>
            <a:ext cx="500063" cy="500062"/>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9" name="TextBox 11">
            <a:extLst>
              <a:ext uri="{FF2B5EF4-FFF2-40B4-BE49-F238E27FC236}">
                <a16:creationId xmlns:a16="http://schemas.microsoft.com/office/drawing/2014/main" id="{0EF55488-1077-4EE4-8AA5-0676CE007958}"/>
              </a:ext>
            </a:extLst>
          </p:cNvPr>
          <p:cNvSpPr txBox="1">
            <a:spLocks noChangeArrowheads="1"/>
          </p:cNvSpPr>
          <p:nvPr/>
        </p:nvSpPr>
        <p:spPr bwMode="auto">
          <a:xfrm>
            <a:off x="3000375" y="1643063"/>
            <a:ext cx="3786188"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solidFill>
                  <a:srgbClr val="FF0000"/>
                </a:solidFill>
              </a:rPr>
              <a:t>信息安全概述</a:t>
            </a:r>
          </a:p>
        </p:txBody>
      </p:sp>
      <p:grpSp>
        <p:nvGrpSpPr>
          <p:cNvPr id="6149" name="组合 9">
            <a:extLst>
              <a:ext uri="{FF2B5EF4-FFF2-40B4-BE49-F238E27FC236}">
                <a16:creationId xmlns:a16="http://schemas.microsoft.com/office/drawing/2014/main" id="{E7F03605-F82F-4804-82E4-CA9C715C3C87}"/>
              </a:ext>
            </a:extLst>
          </p:cNvPr>
          <p:cNvGrpSpPr>
            <a:grpSpLocks/>
          </p:cNvGrpSpPr>
          <p:nvPr/>
        </p:nvGrpSpPr>
        <p:grpSpPr bwMode="auto">
          <a:xfrm>
            <a:off x="2428875" y="2357438"/>
            <a:ext cx="4357688" cy="500062"/>
            <a:chOff x="1071538" y="1785932"/>
            <a:chExt cx="4357704" cy="500066"/>
          </a:xfrm>
        </p:grpSpPr>
        <p:sp>
          <p:nvSpPr>
            <p:cNvPr id="6159" name="五边形 9">
              <a:extLst>
                <a:ext uri="{FF2B5EF4-FFF2-40B4-BE49-F238E27FC236}">
                  <a16:creationId xmlns:a16="http://schemas.microsoft.com/office/drawing/2014/main" id="{1FA2F111-9513-4E75-97C6-E49E8574277C}"/>
                </a:ext>
              </a:extLst>
            </p:cNvPr>
            <p:cNvSpPr>
              <a:spLocks noChangeArrowheads="1"/>
            </p:cNvSpPr>
            <p:nvPr/>
          </p:nvSpPr>
          <p:spPr bwMode="auto">
            <a:xfrm rot="10800000">
              <a:off x="1357290" y="1785932"/>
              <a:ext cx="4071938" cy="500063"/>
            </a:xfrm>
            <a:prstGeom prst="homePlate">
              <a:avLst>
                <a:gd name="adj" fmla="val 50026"/>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6160" name="椭圆 10">
              <a:extLst>
                <a:ext uri="{FF2B5EF4-FFF2-40B4-BE49-F238E27FC236}">
                  <a16:creationId xmlns:a16="http://schemas.microsoft.com/office/drawing/2014/main" id="{4EAA32C0-0711-4EA2-B94F-407C461109B3}"/>
                </a:ext>
              </a:extLst>
            </p:cNvPr>
            <p:cNvSpPr>
              <a:spLocks noChangeArrowheads="1"/>
            </p:cNvSpPr>
            <p:nvPr/>
          </p:nvSpPr>
          <p:spPr bwMode="auto">
            <a:xfrm>
              <a:off x="1071538" y="1785932"/>
              <a:ext cx="500066" cy="500066"/>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6161" name="TextBox 11">
              <a:extLst>
                <a:ext uri="{FF2B5EF4-FFF2-40B4-BE49-F238E27FC236}">
                  <a16:creationId xmlns:a16="http://schemas.microsoft.com/office/drawing/2014/main" id="{D1830C2C-328F-4126-9C58-380E178BD666}"/>
                </a:ext>
              </a:extLst>
            </p:cNvPr>
            <p:cNvSpPr txBox="1">
              <a:spLocks noChangeArrowheads="1"/>
            </p:cNvSpPr>
            <p:nvPr/>
          </p:nvSpPr>
          <p:spPr bwMode="auto">
            <a:xfrm>
              <a:off x="1643040" y="1785932"/>
              <a:ext cx="3786202" cy="44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t>信息安全的威胁</a:t>
              </a:r>
            </a:p>
          </p:txBody>
        </p:sp>
      </p:grpSp>
      <p:grpSp>
        <p:nvGrpSpPr>
          <p:cNvPr id="6150" name="组合 13">
            <a:extLst>
              <a:ext uri="{FF2B5EF4-FFF2-40B4-BE49-F238E27FC236}">
                <a16:creationId xmlns:a16="http://schemas.microsoft.com/office/drawing/2014/main" id="{8E43CFEB-2B5A-40B6-A99E-06DECE6FCC9E}"/>
              </a:ext>
            </a:extLst>
          </p:cNvPr>
          <p:cNvGrpSpPr>
            <a:grpSpLocks/>
          </p:cNvGrpSpPr>
          <p:nvPr/>
        </p:nvGrpSpPr>
        <p:grpSpPr bwMode="auto">
          <a:xfrm>
            <a:off x="2428875" y="3071813"/>
            <a:ext cx="4357688" cy="500062"/>
            <a:chOff x="1071538" y="1785932"/>
            <a:chExt cx="4357704" cy="500066"/>
          </a:xfrm>
        </p:grpSpPr>
        <p:sp>
          <p:nvSpPr>
            <p:cNvPr id="6156" name="五边形 9">
              <a:extLst>
                <a:ext uri="{FF2B5EF4-FFF2-40B4-BE49-F238E27FC236}">
                  <a16:creationId xmlns:a16="http://schemas.microsoft.com/office/drawing/2014/main" id="{9E4022D5-DE84-4C36-B4D4-DBF0DFA29031}"/>
                </a:ext>
              </a:extLst>
            </p:cNvPr>
            <p:cNvSpPr>
              <a:spLocks noChangeArrowheads="1"/>
            </p:cNvSpPr>
            <p:nvPr/>
          </p:nvSpPr>
          <p:spPr bwMode="auto">
            <a:xfrm rot="10800000">
              <a:off x="1357290" y="1785932"/>
              <a:ext cx="4071938" cy="500063"/>
            </a:xfrm>
            <a:prstGeom prst="homePlate">
              <a:avLst>
                <a:gd name="adj" fmla="val 50026"/>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6157" name="椭圆 10">
              <a:extLst>
                <a:ext uri="{FF2B5EF4-FFF2-40B4-BE49-F238E27FC236}">
                  <a16:creationId xmlns:a16="http://schemas.microsoft.com/office/drawing/2014/main" id="{1D04DC81-B063-4C4C-A31C-706A4BD8E495}"/>
                </a:ext>
              </a:extLst>
            </p:cNvPr>
            <p:cNvSpPr>
              <a:spLocks noChangeArrowheads="1"/>
            </p:cNvSpPr>
            <p:nvPr/>
          </p:nvSpPr>
          <p:spPr bwMode="auto">
            <a:xfrm>
              <a:off x="1071538" y="1785932"/>
              <a:ext cx="500066" cy="500066"/>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6158" name="TextBox 11">
              <a:extLst>
                <a:ext uri="{FF2B5EF4-FFF2-40B4-BE49-F238E27FC236}">
                  <a16:creationId xmlns:a16="http://schemas.microsoft.com/office/drawing/2014/main" id="{71AC1013-2543-40B4-9F27-AA3D36822AD6}"/>
                </a:ext>
              </a:extLst>
            </p:cNvPr>
            <p:cNvSpPr txBox="1">
              <a:spLocks noChangeArrowheads="1"/>
            </p:cNvSpPr>
            <p:nvPr/>
          </p:nvSpPr>
          <p:spPr bwMode="auto">
            <a:xfrm>
              <a:off x="1643040" y="1785932"/>
              <a:ext cx="3786202" cy="44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t>信息安全体系结构</a:t>
              </a:r>
            </a:p>
          </p:txBody>
        </p:sp>
      </p:grpSp>
      <p:grpSp>
        <p:nvGrpSpPr>
          <p:cNvPr id="6151" name="组合 17">
            <a:extLst>
              <a:ext uri="{FF2B5EF4-FFF2-40B4-BE49-F238E27FC236}">
                <a16:creationId xmlns:a16="http://schemas.microsoft.com/office/drawing/2014/main" id="{BA471903-A8A1-413C-B5E4-F722B48FDC1F}"/>
              </a:ext>
            </a:extLst>
          </p:cNvPr>
          <p:cNvGrpSpPr>
            <a:grpSpLocks/>
          </p:cNvGrpSpPr>
          <p:nvPr/>
        </p:nvGrpSpPr>
        <p:grpSpPr bwMode="auto">
          <a:xfrm>
            <a:off x="2428875" y="3714750"/>
            <a:ext cx="4357688" cy="500063"/>
            <a:chOff x="1071538" y="1785932"/>
            <a:chExt cx="4357704" cy="500066"/>
          </a:xfrm>
        </p:grpSpPr>
        <p:sp>
          <p:nvSpPr>
            <p:cNvPr id="6153" name="五边形 9">
              <a:extLst>
                <a:ext uri="{FF2B5EF4-FFF2-40B4-BE49-F238E27FC236}">
                  <a16:creationId xmlns:a16="http://schemas.microsoft.com/office/drawing/2014/main" id="{94EC344A-4D4E-4364-8D05-44108F28CC5F}"/>
                </a:ext>
              </a:extLst>
            </p:cNvPr>
            <p:cNvSpPr>
              <a:spLocks noChangeArrowheads="1"/>
            </p:cNvSpPr>
            <p:nvPr/>
          </p:nvSpPr>
          <p:spPr bwMode="auto">
            <a:xfrm rot="10800000">
              <a:off x="1357290" y="1785932"/>
              <a:ext cx="4071938" cy="500063"/>
            </a:xfrm>
            <a:prstGeom prst="homePlate">
              <a:avLst>
                <a:gd name="adj" fmla="val 50026"/>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6154" name="椭圆 10">
              <a:extLst>
                <a:ext uri="{FF2B5EF4-FFF2-40B4-BE49-F238E27FC236}">
                  <a16:creationId xmlns:a16="http://schemas.microsoft.com/office/drawing/2014/main" id="{719CC09A-FBF7-4738-B9A0-9F296DD0B6E4}"/>
                </a:ext>
              </a:extLst>
            </p:cNvPr>
            <p:cNvSpPr>
              <a:spLocks noChangeArrowheads="1"/>
            </p:cNvSpPr>
            <p:nvPr/>
          </p:nvSpPr>
          <p:spPr bwMode="auto">
            <a:xfrm>
              <a:off x="1071538" y="1785932"/>
              <a:ext cx="500066" cy="500066"/>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6155" name="TextBox 11">
              <a:extLst>
                <a:ext uri="{FF2B5EF4-FFF2-40B4-BE49-F238E27FC236}">
                  <a16:creationId xmlns:a16="http://schemas.microsoft.com/office/drawing/2014/main" id="{87556756-AA4F-42C2-8F11-C40C6AFAAA7F}"/>
                </a:ext>
              </a:extLst>
            </p:cNvPr>
            <p:cNvSpPr txBox="1">
              <a:spLocks noChangeArrowheads="1"/>
            </p:cNvSpPr>
            <p:nvPr/>
          </p:nvSpPr>
          <p:spPr bwMode="auto">
            <a:xfrm>
              <a:off x="1643040" y="1785932"/>
              <a:ext cx="3786202" cy="44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t>本章小结</a:t>
              </a:r>
            </a:p>
          </p:txBody>
        </p:sp>
      </p:grpSp>
      <p:sp>
        <p:nvSpPr>
          <p:cNvPr id="18" name="标题 1">
            <a:extLst>
              <a:ext uri="{FF2B5EF4-FFF2-40B4-BE49-F238E27FC236}">
                <a16:creationId xmlns:a16="http://schemas.microsoft.com/office/drawing/2014/main" id="{83F002E4-D915-44F3-80F8-52D206F37564}"/>
              </a:ext>
            </a:extLst>
          </p:cNvPr>
          <p:cNvSpPr txBox="1">
            <a:spLocks/>
          </p:cNvSpPr>
          <p:nvPr/>
        </p:nvSpPr>
        <p:spPr bwMode="auto">
          <a:xfrm>
            <a:off x="1500166" y="785800"/>
            <a:ext cx="6072230" cy="632693"/>
          </a:xfrm>
          <a:prstGeom prst="rect">
            <a:avLst/>
          </a:prstGeom>
          <a:noFill/>
          <a:ln w="9525">
            <a:noFill/>
            <a:miter lim="800000"/>
            <a:headEnd/>
            <a:tailEnd/>
          </a:ln>
        </p:spPr>
        <p:txBody>
          <a:bodyPr anchor="ctr"/>
          <a:lstStyle/>
          <a:p>
            <a:pPr algn="ctr">
              <a:defRPr/>
            </a:pPr>
            <a:r>
              <a:rPr lang="zh-CN" altLang="en-US" sz="3200" b="1" dirty="0">
                <a:solidFill>
                  <a:srgbClr val="C00000"/>
                </a:solidFill>
                <a:effectLst>
                  <a:reflection blurRad="6350" stA="50000" endA="300" endPos="50000" dist="60007" dir="5400000" sy="-100000" algn="bl" rotWithShape="0"/>
                </a:effectLst>
                <a:latin typeface="+mj-ea"/>
                <a:ea typeface="+mj-ea"/>
                <a:cs typeface="+mj-cs"/>
              </a:rPr>
              <a:t>第</a:t>
            </a:r>
            <a:r>
              <a:rPr lang="en-US" altLang="zh-CN" sz="3200" b="1" dirty="0">
                <a:solidFill>
                  <a:srgbClr val="C00000"/>
                </a:solidFill>
                <a:effectLst>
                  <a:reflection blurRad="6350" stA="50000" endA="300" endPos="50000" dist="60007" dir="5400000" sy="-100000" algn="bl" rotWithShape="0"/>
                </a:effectLst>
                <a:latin typeface="+mj-ea"/>
                <a:ea typeface="+mj-ea"/>
                <a:cs typeface="+mj-cs"/>
              </a:rPr>
              <a:t>3</a:t>
            </a:r>
            <a:r>
              <a:rPr lang="zh-CN" altLang="en-US" sz="3200" b="1" dirty="0">
                <a:solidFill>
                  <a:srgbClr val="C00000"/>
                </a:solidFill>
                <a:effectLst>
                  <a:reflection blurRad="6350" stA="50000" endA="300" endPos="50000" dist="60007" dir="5400000" sy="-100000" algn="bl" rotWithShape="0"/>
                </a:effectLst>
                <a:latin typeface="+mj-ea"/>
                <a:ea typeface="+mj-ea"/>
                <a:cs typeface="+mj-cs"/>
              </a:rPr>
              <a:t>章  信息安全基本概念与原理</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9">
                                            <p:txEl>
                                              <p:pRg st="0" end="0"/>
                                            </p:txEl>
                                          </p:spTgt>
                                        </p:tgtEl>
                                        <p:attrNameLst>
                                          <p:attrName>style.fontWeight</p:attrName>
                                        </p:attrNameLst>
                                      </p:cBhvr>
                                      <p:to>
                                        <p:strVal val="bold"/>
                                      </p:to>
                                    </p:set>
                                  </p:childTnLst>
                                </p:cTn>
                              </p:par>
                              <p:par>
                                <p:cTn id="7" presetID="3" presetClass="emph" presetSubtype="2" fill="hold" nodeType="withEffect">
                                  <p:stCondLst>
                                    <p:cond delay="0"/>
                                  </p:stCondLst>
                                  <p:iterate type="lt">
                                    <p:tmPct val="0"/>
                                  </p:iterate>
                                  <p:childTnLst>
                                    <p:animClr clrSpc="rgb" dir="cw">
                                      <p:cBhvr override="childStyle">
                                        <p:cTn id="8" dur="500" fill="hold"/>
                                        <p:tgtEl>
                                          <p:spTgt spid="9">
                                            <p:txEl>
                                              <p:pRg st="0" end="0"/>
                                            </p:txEl>
                                          </p:spTgt>
                                        </p:tgtEl>
                                        <p:attrNameLst>
                                          <p:attrName>style.color</p:attrName>
                                        </p:attrNameLst>
                                      </p:cBhvr>
                                      <p:to>
                                        <a:srgbClr val="CC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3">
            <a:extLst>
              <a:ext uri="{FF2B5EF4-FFF2-40B4-BE49-F238E27FC236}">
                <a16:creationId xmlns:a16="http://schemas.microsoft.com/office/drawing/2014/main" id="{E8237C82-FA13-413B-AFF3-89D02F8CBCF1}"/>
              </a:ext>
            </a:extLst>
          </p:cNvPr>
          <p:cNvSpPr>
            <a:spLocks noGrp="1"/>
          </p:cNvSpPr>
          <p:nvPr>
            <p:ph type="title"/>
          </p:nvPr>
        </p:nvSpPr>
        <p:spPr>
          <a:xfrm>
            <a:off x="2357422" y="857238"/>
            <a:ext cx="3786214" cy="1021556"/>
          </a:xfrm>
        </p:spPr>
        <p:txBody>
          <a:bodyPr/>
          <a:lstStyle/>
          <a:p>
            <a:pPr>
              <a:defRPr/>
            </a:pPr>
            <a:r>
              <a:rPr lang="en-US" dirty="0">
                <a:latin typeface="Cambria Math" pitchFamily="18" charset="0"/>
                <a:ea typeface="Cambria Math" pitchFamily="18" charset="0"/>
              </a:rPr>
              <a:t>3.1   </a:t>
            </a:r>
            <a:r>
              <a:rPr altLang="en-US" dirty="0"/>
              <a:t>信息安全概述</a:t>
            </a:r>
          </a:p>
        </p:txBody>
      </p:sp>
      <p:sp>
        <p:nvSpPr>
          <p:cNvPr id="7171" name="矩形 3">
            <a:extLst>
              <a:ext uri="{FF2B5EF4-FFF2-40B4-BE49-F238E27FC236}">
                <a16:creationId xmlns:a16="http://schemas.microsoft.com/office/drawing/2014/main" id="{4D375BC7-F4B7-459C-A55D-1301FA75FAC4}"/>
              </a:ext>
            </a:extLst>
          </p:cNvPr>
          <p:cNvSpPr>
            <a:spLocks noChangeArrowheads="1"/>
          </p:cNvSpPr>
          <p:nvPr/>
        </p:nvSpPr>
        <p:spPr bwMode="auto">
          <a:xfrm>
            <a:off x="2928938" y="2143125"/>
            <a:ext cx="3214687" cy="1229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5113" indent="-265113">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just" eaLnBrk="1" hangingPunct="1">
              <a:lnSpc>
                <a:spcPct val="200000"/>
              </a:lnSpc>
              <a:buClrTx/>
              <a:buSzPct val="80000"/>
              <a:buFontTx/>
              <a:buNone/>
            </a:pPr>
            <a:r>
              <a:rPr lang="en-US" altLang="zh-CN" sz="2000" b="1">
                <a:latin typeface="Comic Sans MS" panose="030F0702030302020204" pitchFamily="66" charset="0"/>
                <a:ea typeface="黑体" panose="02010609060101010101" pitchFamily="49" charset="-122"/>
                <a:cs typeface="Arial" panose="020B0604020202020204" pitchFamily="34" charset="0"/>
              </a:rPr>
              <a:t>3.1.1  </a:t>
            </a:r>
            <a:r>
              <a:rPr lang="zh-CN" altLang="en-US" sz="2000" b="1">
                <a:latin typeface="Comic Sans MS" panose="030F0702030302020204" pitchFamily="66" charset="0"/>
                <a:ea typeface="黑体" panose="02010609060101010101" pitchFamily="49" charset="-122"/>
                <a:cs typeface="Arial" panose="020B0604020202020204" pitchFamily="34" charset="0"/>
              </a:rPr>
              <a:t>信息安全的概述</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a:p>
            <a:pPr algn="just" eaLnBrk="1" hangingPunct="1">
              <a:lnSpc>
                <a:spcPct val="200000"/>
              </a:lnSpc>
              <a:buClrTx/>
              <a:buSzPct val="80000"/>
              <a:buFontTx/>
              <a:buNone/>
            </a:pPr>
            <a:r>
              <a:rPr lang="en-US" altLang="zh-CN" sz="2000" b="1">
                <a:latin typeface="Comic Sans MS" panose="030F0702030302020204" pitchFamily="66" charset="0"/>
                <a:ea typeface="黑体" panose="02010609060101010101" pitchFamily="49" charset="-122"/>
                <a:cs typeface="Arial" panose="020B0604020202020204" pitchFamily="34" charset="0"/>
              </a:rPr>
              <a:t>3.1.2  </a:t>
            </a:r>
            <a:r>
              <a:rPr lang="zh-CN" altLang="en-US" sz="2000" b="1">
                <a:latin typeface="Comic Sans MS" panose="030F0702030302020204" pitchFamily="66" charset="0"/>
                <a:ea typeface="黑体" panose="02010609060101010101" pitchFamily="49" charset="-122"/>
                <a:cs typeface="Arial" panose="020B0604020202020204" pitchFamily="34" charset="0"/>
              </a:rPr>
              <a:t>信息安全现状分析</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p:txBody>
      </p:sp>
    </p:spTree>
  </p:cSld>
  <p:clrMapOvr>
    <a:masterClrMapping/>
  </p:clrMapOvr>
  <p:transition spd="med">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65F71C1A-1B9C-4F3F-A8D8-355813A27453}"/>
              </a:ext>
            </a:extLst>
          </p:cNvPr>
          <p:cNvSpPr txBox="1">
            <a:spLocks/>
          </p:cNvSpPr>
          <p:nvPr/>
        </p:nvSpPr>
        <p:spPr bwMode="auto">
          <a:xfrm>
            <a:off x="357188" y="1428750"/>
            <a:ext cx="8572500"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en-US" altLang="zh-CN" b="1" dirty="0">
                <a:solidFill>
                  <a:srgbClr val="0033CC"/>
                </a:solidFill>
              </a:rPr>
              <a:t>1</a:t>
            </a:r>
            <a:r>
              <a:rPr lang="zh-CN" altLang="en-US" b="1" dirty="0">
                <a:solidFill>
                  <a:srgbClr val="0033CC"/>
                </a:solidFill>
              </a:rPr>
              <a:t>）数据与信息</a:t>
            </a:r>
            <a:endParaRPr lang="en-US" altLang="zh-CN" b="1" dirty="0">
              <a:solidFill>
                <a:srgbClr val="0033CC"/>
              </a:solidFill>
            </a:endParaRPr>
          </a:p>
          <a:p>
            <a:r>
              <a:rPr lang="zh-CN" altLang="en-US" b="1" dirty="0"/>
              <a:t>要了解什么是信息安全，需要先了解什么是信息，什么是数据。</a:t>
            </a:r>
            <a:endParaRPr lang="en-US" altLang="zh-CN" b="1" dirty="0"/>
          </a:p>
          <a:p>
            <a:r>
              <a:rPr lang="zh-CN" altLang="en-US" b="1" dirty="0">
                <a:solidFill>
                  <a:srgbClr val="FF0000"/>
                </a:solidFill>
              </a:rPr>
              <a:t>数据的定义：数据是用来反映客观世界而记录下来的可以鉴别的物理符号。</a:t>
            </a:r>
            <a:endParaRPr lang="en-US" altLang="zh-CN" b="1" dirty="0">
              <a:solidFill>
                <a:srgbClr val="FF0000"/>
              </a:solidFill>
            </a:endParaRPr>
          </a:p>
          <a:p>
            <a:r>
              <a:rPr lang="zh-CN" altLang="en-US" b="1" dirty="0"/>
              <a:t>数据具有客观性和可鉴别性，数据并不只是数字，所有用来描述客观事实的语言、文字、图画和模型等都是数据。</a:t>
            </a:r>
            <a:endParaRPr lang="en-US" altLang="zh-CN" b="1" dirty="0"/>
          </a:p>
          <a:p>
            <a:r>
              <a:rPr lang="zh-CN" altLang="en-US" b="1" dirty="0">
                <a:solidFill>
                  <a:srgbClr val="FF0000"/>
                </a:solidFill>
              </a:rPr>
              <a:t>信息的定义：</a:t>
            </a:r>
            <a:endParaRPr lang="en-US" altLang="zh-CN" b="1" dirty="0">
              <a:solidFill>
                <a:srgbClr val="FF0000"/>
              </a:solidFill>
            </a:endParaRPr>
          </a:p>
          <a:p>
            <a:pPr lvl="1"/>
            <a:r>
              <a:rPr lang="zh-CN" altLang="en-US" b="1" dirty="0"/>
              <a:t>信息</a:t>
            </a:r>
            <a:r>
              <a:rPr lang="zh-CN" altLang="en-US" b="1" u="sng" dirty="0"/>
              <a:t>是有一定含义的数据</a:t>
            </a:r>
            <a:r>
              <a:rPr lang="zh-CN" altLang="en-US" b="1" dirty="0"/>
              <a:t>，</a:t>
            </a:r>
            <a:r>
              <a:rPr lang="zh-CN" altLang="en-US" b="1" u="sng" dirty="0"/>
              <a:t>是加工处理后的数据</a:t>
            </a:r>
            <a:r>
              <a:rPr lang="zh-CN" altLang="en-US" b="1" dirty="0"/>
              <a:t>，</a:t>
            </a:r>
            <a:r>
              <a:rPr lang="zh-CN" altLang="en-US" b="1" u="sng" dirty="0"/>
              <a:t>是对决策者有用的数据</a:t>
            </a:r>
            <a:endParaRPr lang="en-US" altLang="zh-CN" b="1" u="sng" dirty="0"/>
          </a:p>
          <a:p>
            <a:pPr lvl="1"/>
            <a:r>
              <a:rPr lang="zh-CN" altLang="en-US" b="1" dirty="0"/>
              <a:t>香农 </a:t>
            </a:r>
            <a:r>
              <a:rPr lang="en-US" altLang="zh-CN" b="1" dirty="0"/>
              <a:t>C. E. Shannon </a:t>
            </a:r>
            <a:r>
              <a:rPr lang="zh-CN" altLang="en-US" b="1" dirty="0"/>
              <a:t>：信息是用来消除随机不确定性的东西</a:t>
            </a:r>
            <a:r>
              <a:rPr lang="en-US" altLang="zh-CN" b="1" dirty="0"/>
              <a:t>(</a:t>
            </a:r>
            <a:r>
              <a:rPr lang="zh-CN" altLang="en-US" b="1" dirty="0"/>
              <a:t>用熵来表示信息量</a:t>
            </a:r>
            <a:r>
              <a:rPr lang="en-US" altLang="zh-CN" b="1" dirty="0"/>
              <a:t>)</a:t>
            </a:r>
          </a:p>
          <a:p>
            <a:pPr lvl="1"/>
            <a:endParaRPr lang="en-US" altLang="zh-CN" b="1" dirty="0"/>
          </a:p>
        </p:txBody>
      </p:sp>
      <p:sp>
        <p:nvSpPr>
          <p:cNvPr id="9" name="矩形 3">
            <a:extLst>
              <a:ext uri="{FF2B5EF4-FFF2-40B4-BE49-F238E27FC236}">
                <a16:creationId xmlns:a16="http://schemas.microsoft.com/office/drawing/2014/main" id="{CA5F577D-C334-4BF2-B00B-D8C75DCDC8E3}"/>
              </a:ext>
            </a:extLst>
          </p:cNvPr>
          <p:cNvSpPr>
            <a:spLocks noChangeArrowheads="1"/>
          </p:cNvSpPr>
          <p:nvPr/>
        </p:nvSpPr>
        <p:spPr bwMode="auto">
          <a:xfrm>
            <a:off x="293688" y="1071563"/>
            <a:ext cx="1990725" cy="366712"/>
          </a:xfrm>
          <a:prstGeom prst="rect">
            <a:avLst/>
          </a:prstGeom>
          <a:noFill/>
          <a:ln w="9525">
            <a:noFill/>
            <a:miter lim="800000"/>
            <a:headEnd/>
            <a:tailEnd/>
          </a:ln>
        </p:spPr>
        <p:txBody>
          <a:bodyPr wrap="none">
            <a:spAutoFit/>
          </a:bodyPr>
          <a:lstStyle/>
          <a:p>
            <a:pPr algn="ctr" eaLnBrk="1" hangingPunct="1">
              <a:defRPr/>
            </a:pPr>
            <a:r>
              <a:rPr lang="en-US" altLang="zh-CN" sz="1800" b="1" dirty="0">
                <a:solidFill>
                  <a:schemeClr val="accent6"/>
                </a:solidFill>
                <a:latin typeface="+mj-ea"/>
                <a:ea typeface="+mj-ea"/>
              </a:rPr>
              <a:t>1.</a:t>
            </a:r>
            <a:r>
              <a:rPr lang="zh-CN" altLang="en-US" sz="1800" b="1" dirty="0">
                <a:solidFill>
                  <a:schemeClr val="accent6"/>
                </a:solidFill>
                <a:latin typeface="+mj-ea"/>
                <a:ea typeface="+mj-ea"/>
              </a:rPr>
              <a:t>信息与信息安全</a:t>
            </a:r>
          </a:p>
        </p:txBody>
      </p:sp>
      <p:sp>
        <p:nvSpPr>
          <p:cNvPr id="11" name="矩形 3">
            <a:extLst>
              <a:ext uri="{FF2B5EF4-FFF2-40B4-BE49-F238E27FC236}">
                <a16:creationId xmlns:a16="http://schemas.microsoft.com/office/drawing/2014/main" id="{6D0E9004-1EF4-489B-8158-F79C7F11BE80}"/>
              </a:ext>
            </a:extLst>
          </p:cNvPr>
          <p:cNvSpPr>
            <a:spLocks noChangeArrowheads="1"/>
          </p:cNvSpPr>
          <p:nvPr/>
        </p:nvSpPr>
        <p:spPr bwMode="auto">
          <a:xfrm>
            <a:off x="6786578" y="142858"/>
            <a:ext cx="2191627"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a:t>
            </a:r>
            <a:r>
              <a:rPr lang="zh-CN" altLang="en-US" sz="2000" b="1" dirty="0">
                <a:solidFill>
                  <a:srgbClr val="C00000"/>
                </a:solidFill>
                <a:effectLst>
                  <a:reflection blurRad="6350" stA="50000" endA="300" endPos="50000" dist="60007" dir="5400000" sy="-100000" algn="bl" rotWithShape="0"/>
                </a:effectLst>
                <a:latin typeface="+mj-ea"/>
                <a:ea typeface="+mj-ea"/>
              </a:rPr>
              <a:t> 信息安全概述</a:t>
            </a:r>
          </a:p>
        </p:txBody>
      </p:sp>
      <p:sp>
        <p:nvSpPr>
          <p:cNvPr id="8" name="矩形 3">
            <a:extLst>
              <a:ext uri="{FF2B5EF4-FFF2-40B4-BE49-F238E27FC236}">
                <a16:creationId xmlns:a16="http://schemas.microsoft.com/office/drawing/2014/main" id="{DE09B192-8FE2-4B00-85E8-1F211D37A77E}"/>
              </a:ext>
            </a:extLst>
          </p:cNvPr>
          <p:cNvSpPr>
            <a:spLocks noChangeArrowheads="1"/>
          </p:cNvSpPr>
          <p:nvPr/>
        </p:nvSpPr>
        <p:spPr bwMode="auto">
          <a:xfrm>
            <a:off x="214282" y="642924"/>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3.1.1</a:t>
            </a:r>
            <a:r>
              <a:rPr lang="zh-CN" altLang="en-US" sz="2000" b="1" dirty="0">
                <a:solidFill>
                  <a:srgbClr val="C00000"/>
                </a:solidFill>
                <a:effectLst>
                  <a:reflection blurRad="6350" stA="50000" endA="300" endPos="50000" dist="60007" dir="5400000" sy="-100000" algn="bl" rotWithShape="0"/>
                </a:effectLst>
                <a:latin typeface="+mj-ea"/>
                <a:ea typeface="+mj-ea"/>
              </a:rPr>
              <a:t> 信息安全的概念</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par>
                          <p:cTn id="13" fill="hold" nodeType="afterGroup">
                            <p:stCondLst>
                              <p:cond delay="500"/>
                            </p:stCondLst>
                            <p:childTnLst>
                              <p:par>
                                <p:cTn id="14" presetID="10" presetClass="entr" presetSubtype="0" fill="hold" nodeType="after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fade">
                                      <p:cBhvr>
                                        <p:cTn id="16" dur="500"/>
                                        <p:tgtEl>
                                          <p:spTgt spid="6">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fade">
                                      <p:cBhvr>
                                        <p:cTn id="21" dur="500"/>
                                        <p:tgtEl>
                                          <p:spTgt spid="6">
                                            <p:txEl>
                                              <p:pRg st="3" end="3"/>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nodeType="clickEffect">
                                  <p:stCondLst>
                                    <p:cond delay="0"/>
                                  </p:stCondLst>
                                  <p:childTnLst>
                                    <p:set>
                                      <p:cBhvr>
                                        <p:cTn id="25" dur="1" fill="hold">
                                          <p:stCondLst>
                                            <p:cond delay="0"/>
                                          </p:stCondLst>
                                        </p:cTn>
                                        <p:tgtEl>
                                          <p:spTgt spid="6">
                                            <p:txEl>
                                              <p:pRg st="4" end="4"/>
                                            </p:txEl>
                                          </p:spTgt>
                                        </p:tgtEl>
                                        <p:attrNameLst>
                                          <p:attrName>style.visibility</p:attrName>
                                        </p:attrNameLst>
                                      </p:cBhvr>
                                      <p:to>
                                        <p:strVal val="visible"/>
                                      </p:to>
                                    </p:set>
                                    <p:animEffect transition="in" filter="fade">
                                      <p:cBhvr>
                                        <p:cTn id="26" dur="500"/>
                                        <p:tgtEl>
                                          <p:spTgt spid="6">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Effect transition="in" filter="fade">
                                      <p:cBhvr>
                                        <p:cTn id="31" dur="500"/>
                                        <p:tgtEl>
                                          <p:spTgt spid="6">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
                                            <p:txEl>
                                              <p:pRg st="6" end="6"/>
                                            </p:txEl>
                                          </p:spTgt>
                                        </p:tgtEl>
                                        <p:attrNameLst>
                                          <p:attrName>style.visibility</p:attrName>
                                        </p:attrNameLst>
                                      </p:cBhvr>
                                      <p:to>
                                        <p:strVal val="visible"/>
                                      </p:to>
                                    </p:set>
                                    <p:animEffect transition="in" filter="fade">
                                      <p:cBhvr>
                                        <p:cTn id="36"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65F71C1A-1B9C-4F3F-A8D8-355813A27453}"/>
              </a:ext>
            </a:extLst>
          </p:cNvPr>
          <p:cNvSpPr txBox="1">
            <a:spLocks/>
          </p:cNvSpPr>
          <p:nvPr/>
        </p:nvSpPr>
        <p:spPr bwMode="auto">
          <a:xfrm>
            <a:off x="357188" y="1428750"/>
            <a:ext cx="8572500"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en-US" altLang="zh-CN" b="1" dirty="0">
                <a:solidFill>
                  <a:srgbClr val="0033CC"/>
                </a:solidFill>
              </a:rPr>
              <a:t>1</a:t>
            </a:r>
            <a:r>
              <a:rPr lang="zh-CN" altLang="en-US" b="1" dirty="0">
                <a:solidFill>
                  <a:srgbClr val="0033CC"/>
                </a:solidFill>
              </a:rPr>
              <a:t>）数据与信息</a:t>
            </a:r>
            <a:endParaRPr lang="en-US" altLang="zh-CN" b="1" dirty="0">
              <a:solidFill>
                <a:srgbClr val="0033CC"/>
              </a:solidFill>
            </a:endParaRPr>
          </a:p>
          <a:p>
            <a:r>
              <a:rPr lang="zh-CN" altLang="en-US" b="1" dirty="0"/>
              <a:t>下面那些属于信息？</a:t>
            </a:r>
            <a:endParaRPr lang="en-US" altLang="zh-CN" b="1" dirty="0"/>
          </a:p>
          <a:p>
            <a:pPr lvl="1"/>
            <a:r>
              <a:rPr lang="zh-CN" altLang="en-US" b="1" dirty="0"/>
              <a:t>手机收到的天气预报短信：“今天晚上有雨”；</a:t>
            </a:r>
            <a:endParaRPr lang="en-US" altLang="zh-CN" b="1" dirty="0"/>
          </a:p>
          <a:p>
            <a:pPr lvl="1"/>
            <a:r>
              <a:rPr lang="zh-CN" altLang="en-US" b="1" dirty="0"/>
              <a:t>云课堂上的一段</a:t>
            </a:r>
            <a:r>
              <a:rPr lang="en-US" altLang="zh-CN" b="1" dirty="0"/>
              <a:t>MOOC</a:t>
            </a:r>
            <a:r>
              <a:rPr lang="zh-CN" altLang="en-US" b="1" dirty="0"/>
              <a:t>教学视频；</a:t>
            </a:r>
            <a:endParaRPr lang="en-US" altLang="zh-CN" b="1" dirty="0"/>
          </a:p>
          <a:p>
            <a:pPr lvl="1"/>
            <a:r>
              <a:rPr lang="zh-CN" altLang="en-US" b="1" dirty="0"/>
              <a:t>期末考试试卷；</a:t>
            </a:r>
            <a:endParaRPr lang="en-US" altLang="zh-CN" b="1" dirty="0"/>
          </a:p>
          <a:p>
            <a:pPr lvl="1"/>
            <a:r>
              <a:rPr lang="zh-CN" altLang="en-US" b="1" dirty="0"/>
              <a:t>他人网上登录的用户名和口令；</a:t>
            </a:r>
            <a:endParaRPr lang="en-US" altLang="zh-CN" b="1" dirty="0"/>
          </a:p>
          <a:p>
            <a:pPr lvl="1"/>
            <a:r>
              <a:rPr lang="zh-CN" altLang="en-US" b="1" dirty="0"/>
              <a:t>一段随机数</a:t>
            </a:r>
            <a:endParaRPr lang="en-US" altLang="zh-CN" b="1" dirty="0"/>
          </a:p>
          <a:p>
            <a:pPr lvl="1"/>
            <a:r>
              <a:rPr lang="en-US" altLang="zh-CN" b="1" dirty="0"/>
              <a:t>……</a:t>
            </a:r>
          </a:p>
        </p:txBody>
      </p:sp>
      <p:sp>
        <p:nvSpPr>
          <p:cNvPr id="9" name="矩形 3">
            <a:extLst>
              <a:ext uri="{FF2B5EF4-FFF2-40B4-BE49-F238E27FC236}">
                <a16:creationId xmlns:a16="http://schemas.microsoft.com/office/drawing/2014/main" id="{CA5F577D-C334-4BF2-B00B-D8C75DCDC8E3}"/>
              </a:ext>
            </a:extLst>
          </p:cNvPr>
          <p:cNvSpPr>
            <a:spLocks noChangeArrowheads="1"/>
          </p:cNvSpPr>
          <p:nvPr/>
        </p:nvSpPr>
        <p:spPr bwMode="auto">
          <a:xfrm>
            <a:off x="293688" y="1071563"/>
            <a:ext cx="1990725" cy="366712"/>
          </a:xfrm>
          <a:prstGeom prst="rect">
            <a:avLst/>
          </a:prstGeom>
          <a:noFill/>
          <a:ln w="9525">
            <a:noFill/>
            <a:miter lim="800000"/>
            <a:headEnd/>
            <a:tailEnd/>
          </a:ln>
        </p:spPr>
        <p:txBody>
          <a:bodyPr wrap="none">
            <a:spAutoFit/>
          </a:bodyPr>
          <a:lstStyle/>
          <a:p>
            <a:pPr algn="ctr" eaLnBrk="1" hangingPunct="1">
              <a:defRPr/>
            </a:pPr>
            <a:r>
              <a:rPr lang="en-US" altLang="zh-CN" sz="1800" b="1" dirty="0">
                <a:solidFill>
                  <a:schemeClr val="accent6"/>
                </a:solidFill>
                <a:latin typeface="+mj-ea"/>
                <a:ea typeface="+mj-ea"/>
              </a:rPr>
              <a:t>1.</a:t>
            </a:r>
            <a:r>
              <a:rPr lang="zh-CN" altLang="en-US" sz="1800" b="1" dirty="0">
                <a:solidFill>
                  <a:schemeClr val="accent6"/>
                </a:solidFill>
                <a:latin typeface="+mj-ea"/>
                <a:ea typeface="+mj-ea"/>
              </a:rPr>
              <a:t>信息与信息安全</a:t>
            </a:r>
          </a:p>
        </p:txBody>
      </p:sp>
      <p:sp>
        <p:nvSpPr>
          <p:cNvPr id="11" name="矩形 3">
            <a:extLst>
              <a:ext uri="{FF2B5EF4-FFF2-40B4-BE49-F238E27FC236}">
                <a16:creationId xmlns:a16="http://schemas.microsoft.com/office/drawing/2014/main" id="{6D0E9004-1EF4-489B-8158-F79C7F11BE80}"/>
              </a:ext>
            </a:extLst>
          </p:cNvPr>
          <p:cNvSpPr>
            <a:spLocks noChangeArrowheads="1"/>
          </p:cNvSpPr>
          <p:nvPr/>
        </p:nvSpPr>
        <p:spPr bwMode="auto">
          <a:xfrm>
            <a:off x="6786578" y="142858"/>
            <a:ext cx="2191627"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a:t>
            </a:r>
            <a:r>
              <a:rPr lang="zh-CN" altLang="en-US" sz="2000" b="1" dirty="0">
                <a:solidFill>
                  <a:srgbClr val="C00000"/>
                </a:solidFill>
                <a:effectLst>
                  <a:reflection blurRad="6350" stA="50000" endA="300" endPos="50000" dist="60007" dir="5400000" sy="-100000" algn="bl" rotWithShape="0"/>
                </a:effectLst>
                <a:latin typeface="+mj-ea"/>
                <a:ea typeface="+mj-ea"/>
              </a:rPr>
              <a:t> 信息安全概述</a:t>
            </a:r>
          </a:p>
        </p:txBody>
      </p:sp>
      <p:sp>
        <p:nvSpPr>
          <p:cNvPr id="8" name="矩形 3">
            <a:extLst>
              <a:ext uri="{FF2B5EF4-FFF2-40B4-BE49-F238E27FC236}">
                <a16:creationId xmlns:a16="http://schemas.microsoft.com/office/drawing/2014/main" id="{DE09B192-8FE2-4B00-85E8-1F211D37A77E}"/>
              </a:ext>
            </a:extLst>
          </p:cNvPr>
          <p:cNvSpPr>
            <a:spLocks noChangeArrowheads="1"/>
          </p:cNvSpPr>
          <p:nvPr/>
        </p:nvSpPr>
        <p:spPr bwMode="auto">
          <a:xfrm>
            <a:off x="214282" y="642924"/>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3.1.1</a:t>
            </a:r>
            <a:r>
              <a:rPr lang="zh-CN" altLang="en-US" sz="2000" b="1" dirty="0">
                <a:solidFill>
                  <a:srgbClr val="C00000"/>
                </a:solidFill>
                <a:effectLst>
                  <a:reflection blurRad="6350" stA="50000" endA="300" endPos="50000" dist="60007" dir="5400000" sy="-100000" algn="bl" rotWithShape="0"/>
                </a:effectLst>
                <a:latin typeface="+mj-ea"/>
                <a:ea typeface="+mj-ea"/>
              </a:rPr>
              <a:t> 信息安全的概念</a:t>
            </a:r>
          </a:p>
        </p:txBody>
      </p:sp>
    </p:spTree>
    <p:extLst>
      <p:ext uri="{BB962C8B-B14F-4D97-AF65-F5344CB8AC3E}">
        <p14:creationId xmlns:p14="http://schemas.microsoft.com/office/powerpoint/2010/main" val="1871109389"/>
      </p:ext>
    </p:extLst>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par>
                    <p:cTn id="11" fill="hold">
                      <p:stCondLst>
                        <p:cond delay="indefinite"/>
                      </p:stCondLst>
                      <p:childTnLst>
                        <p:par>
                          <p:cTn id="12" fill="hold" nodeType="after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500"/>
                                        <p:tgtEl>
                                          <p:spTgt spid="6">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fade">
                                      <p:cBhvr>
                                        <p:cTn id="25" dur="500"/>
                                        <p:tgtEl>
                                          <p:spTgt spid="6">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
                                            <p:txEl>
                                              <p:pRg st="5" end="5"/>
                                            </p:txEl>
                                          </p:spTgt>
                                        </p:tgtEl>
                                        <p:attrNameLst>
                                          <p:attrName>style.visibility</p:attrName>
                                        </p:attrNameLst>
                                      </p:cBhvr>
                                      <p:to>
                                        <p:strVal val="visible"/>
                                      </p:to>
                                    </p:set>
                                    <p:animEffect transition="in" filter="fade">
                                      <p:cBhvr>
                                        <p:cTn id="30" dur="500"/>
                                        <p:tgtEl>
                                          <p:spTgt spid="6">
                                            <p:txEl>
                                              <p:pRg st="5" end="5"/>
                                            </p:txEl>
                                          </p:spTgt>
                                        </p:tgtEl>
                                      </p:cBhvr>
                                    </p:animEffect>
                                  </p:childTnLst>
                                </p:cTn>
                              </p:par>
                            </p:childTnLst>
                          </p:cTn>
                        </p:par>
                      </p:childTnLst>
                    </p:cTn>
                  </p:par>
                  <p:par>
                    <p:cTn id="31" fill="hold">
                      <p:stCondLst>
                        <p:cond delay="indefinite"/>
                      </p:stCondLst>
                      <p:childTnLst>
                        <p:par>
                          <p:cTn id="32" fill="hold" nodeType="afterGroup">
                            <p:stCondLst>
                              <p:cond delay="0"/>
                            </p:stCondLst>
                            <p:childTnLst>
                              <p:par>
                                <p:cTn id="33" presetID="10" presetClass="entr" presetSubtype="0" fill="hold"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Effect transition="in" filter="fade">
                                      <p:cBhvr>
                                        <p:cTn id="35" dur="500"/>
                                        <p:tgtEl>
                                          <p:spTgt spid="6">
                                            <p:txEl>
                                              <p:pRg st="6" end="6"/>
                                            </p:txEl>
                                          </p:spTgt>
                                        </p:tgtEl>
                                      </p:cBhvr>
                                    </p:animEffec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Effect transition="in" filter="fade">
                                      <p:cBhvr>
                                        <p:cTn id="39"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65F71C1A-1B9C-4F3F-A8D8-355813A27453}"/>
              </a:ext>
            </a:extLst>
          </p:cNvPr>
          <p:cNvSpPr txBox="1">
            <a:spLocks/>
          </p:cNvSpPr>
          <p:nvPr/>
        </p:nvSpPr>
        <p:spPr bwMode="auto">
          <a:xfrm>
            <a:off x="357188" y="1428750"/>
            <a:ext cx="8572500"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en-US" altLang="zh-CN" b="1" dirty="0">
                <a:solidFill>
                  <a:srgbClr val="0033CC"/>
                </a:solidFill>
              </a:rPr>
              <a:t>1</a:t>
            </a:r>
            <a:r>
              <a:rPr lang="zh-CN" altLang="en-US" b="1" dirty="0">
                <a:solidFill>
                  <a:srgbClr val="0033CC"/>
                </a:solidFill>
              </a:rPr>
              <a:t>）数据与信息</a:t>
            </a:r>
            <a:endParaRPr lang="en-US" altLang="zh-CN" b="1" dirty="0">
              <a:solidFill>
                <a:srgbClr val="0033CC"/>
              </a:solidFill>
            </a:endParaRPr>
          </a:p>
          <a:p>
            <a:r>
              <a:rPr lang="zh-CN" altLang="en-US" b="1" dirty="0"/>
              <a:t>信息可以有多种表现形式：</a:t>
            </a:r>
            <a:endParaRPr lang="en-US" altLang="zh-CN" b="1" dirty="0"/>
          </a:p>
          <a:p>
            <a:pPr lvl="1"/>
            <a:r>
              <a:rPr lang="zh-CN" altLang="en-US" b="1" dirty="0"/>
              <a:t>以电子数据的方式存储；</a:t>
            </a:r>
            <a:endParaRPr lang="en-US" altLang="zh-CN" b="1" dirty="0"/>
          </a:p>
          <a:p>
            <a:pPr lvl="1"/>
            <a:r>
              <a:rPr lang="zh-CN" altLang="en-US" b="1" dirty="0"/>
              <a:t>打印或书写在纸上；</a:t>
            </a:r>
            <a:endParaRPr lang="en-US" altLang="zh-CN" b="1" dirty="0"/>
          </a:p>
          <a:p>
            <a:pPr lvl="1"/>
            <a:r>
              <a:rPr lang="zh-CN" altLang="en-US" b="1" dirty="0"/>
              <a:t>或者以胶片形式显示或者通过交谈表达出来等。</a:t>
            </a:r>
            <a:endParaRPr lang="en-US" altLang="zh-CN" b="1" dirty="0"/>
          </a:p>
        </p:txBody>
      </p:sp>
      <p:sp>
        <p:nvSpPr>
          <p:cNvPr id="9" name="矩形 3">
            <a:extLst>
              <a:ext uri="{FF2B5EF4-FFF2-40B4-BE49-F238E27FC236}">
                <a16:creationId xmlns:a16="http://schemas.microsoft.com/office/drawing/2014/main" id="{CA5F577D-C334-4BF2-B00B-D8C75DCDC8E3}"/>
              </a:ext>
            </a:extLst>
          </p:cNvPr>
          <p:cNvSpPr>
            <a:spLocks noChangeArrowheads="1"/>
          </p:cNvSpPr>
          <p:nvPr/>
        </p:nvSpPr>
        <p:spPr bwMode="auto">
          <a:xfrm>
            <a:off x="293688" y="1071563"/>
            <a:ext cx="1990725" cy="366712"/>
          </a:xfrm>
          <a:prstGeom prst="rect">
            <a:avLst/>
          </a:prstGeom>
          <a:noFill/>
          <a:ln w="9525">
            <a:noFill/>
            <a:miter lim="800000"/>
            <a:headEnd/>
            <a:tailEnd/>
          </a:ln>
        </p:spPr>
        <p:txBody>
          <a:bodyPr wrap="none">
            <a:spAutoFit/>
          </a:bodyPr>
          <a:lstStyle/>
          <a:p>
            <a:pPr algn="ctr" eaLnBrk="1" hangingPunct="1">
              <a:defRPr/>
            </a:pPr>
            <a:r>
              <a:rPr lang="en-US" altLang="zh-CN" sz="1800" b="1" dirty="0">
                <a:solidFill>
                  <a:schemeClr val="accent6"/>
                </a:solidFill>
                <a:latin typeface="+mj-ea"/>
                <a:ea typeface="+mj-ea"/>
              </a:rPr>
              <a:t>1.</a:t>
            </a:r>
            <a:r>
              <a:rPr lang="zh-CN" altLang="en-US" sz="1800" b="1" dirty="0">
                <a:solidFill>
                  <a:schemeClr val="accent6"/>
                </a:solidFill>
                <a:latin typeface="+mj-ea"/>
                <a:ea typeface="+mj-ea"/>
              </a:rPr>
              <a:t>信息与信息安全</a:t>
            </a:r>
          </a:p>
        </p:txBody>
      </p:sp>
      <p:sp>
        <p:nvSpPr>
          <p:cNvPr id="11" name="矩形 3">
            <a:extLst>
              <a:ext uri="{FF2B5EF4-FFF2-40B4-BE49-F238E27FC236}">
                <a16:creationId xmlns:a16="http://schemas.microsoft.com/office/drawing/2014/main" id="{6D0E9004-1EF4-489B-8158-F79C7F11BE80}"/>
              </a:ext>
            </a:extLst>
          </p:cNvPr>
          <p:cNvSpPr>
            <a:spLocks noChangeArrowheads="1"/>
          </p:cNvSpPr>
          <p:nvPr/>
        </p:nvSpPr>
        <p:spPr bwMode="auto">
          <a:xfrm>
            <a:off x="6786578" y="142858"/>
            <a:ext cx="2191627"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a:t>
            </a:r>
            <a:r>
              <a:rPr lang="zh-CN" altLang="en-US" sz="2000" b="1" dirty="0">
                <a:solidFill>
                  <a:srgbClr val="C00000"/>
                </a:solidFill>
                <a:effectLst>
                  <a:reflection blurRad="6350" stA="50000" endA="300" endPos="50000" dist="60007" dir="5400000" sy="-100000" algn="bl" rotWithShape="0"/>
                </a:effectLst>
                <a:latin typeface="+mj-ea"/>
                <a:ea typeface="+mj-ea"/>
              </a:rPr>
              <a:t> 信息安全概述</a:t>
            </a:r>
          </a:p>
        </p:txBody>
      </p:sp>
      <p:sp>
        <p:nvSpPr>
          <p:cNvPr id="8" name="矩形 3">
            <a:extLst>
              <a:ext uri="{FF2B5EF4-FFF2-40B4-BE49-F238E27FC236}">
                <a16:creationId xmlns:a16="http://schemas.microsoft.com/office/drawing/2014/main" id="{DE09B192-8FE2-4B00-85E8-1F211D37A77E}"/>
              </a:ext>
            </a:extLst>
          </p:cNvPr>
          <p:cNvSpPr>
            <a:spLocks noChangeArrowheads="1"/>
          </p:cNvSpPr>
          <p:nvPr/>
        </p:nvSpPr>
        <p:spPr bwMode="auto">
          <a:xfrm>
            <a:off x="214282" y="642924"/>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3.1.1</a:t>
            </a:r>
            <a:r>
              <a:rPr lang="zh-CN" altLang="en-US" sz="2000" b="1" dirty="0">
                <a:solidFill>
                  <a:srgbClr val="C00000"/>
                </a:solidFill>
                <a:effectLst>
                  <a:reflection blurRad="6350" stA="50000" endA="300" endPos="50000" dist="60007" dir="5400000" sy="-100000" algn="bl" rotWithShape="0"/>
                </a:effectLst>
                <a:latin typeface="+mj-ea"/>
                <a:ea typeface="+mj-ea"/>
              </a:rPr>
              <a:t> 信息安全的概念</a:t>
            </a:r>
          </a:p>
        </p:txBody>
      </p:sp>
    </p:spTree>
    <p:extLst>
      <p:ext uri="{BB962C8B-B14F-4D97-AF65-F5344CB8AC3E}">
        <p14:creationId xmlns:p14="http://schemas.microsoft.com/office/powerpoint/2010/main" val="165922218"/>
      </p:ext>
    </p:extLst>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Effect transition="in" filter="fade">
                                      <p:cBhvr>
                                        <p:cTn id="11" dur="500"/>
                                        <p:tgtEl>
                                          <p:spTgt spid="6">
                                            <p:txEl>
                                              <p:pRg st="2" end="2"/>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fade">
                                      <p:cBhvr>
                                        <p:cTn id="15" dur="500"/>
                                        <p:tgtEl>
                                          <p:spTgt spid="6">
                                            <p:txEl>
                                              <p:pRg st="3" end="3"/>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fade">
                                      <p:cBhvr>
                                        <p:cTn id="19"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内容占位符 2">
            <a:extLst>
              <a:ext uri="{FF2B5EF4-FFF2-40B4-BE49-F238E27FC236}">
                <a16:creationId xmlns:a16="http://schemas.microsoft.com/office/drawing/2014/main" id="{D3273A35-BB34-415B-830B-A111E276A81A}"/>
              </a:ext>
            </a:extLst>
          </p:cNvPr>
          <p:cNvSpPr txBox="1">
            <a:spLocks/>
          </p:cNvSpPr>
          <p:nvPr/>
        </p:nvSpPr>
        <p:spPr bwMode="auto">
          <a:xfrm>
            <a:off x="357188" y="928688"/>
            <a:ext cx="857250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en-US" altLang="zh-CN" b="1" dirty="0">
                <a:solidFill>
                  <a:srgbClr val="0033CC"/>
                </a:solidFill>
              </a:rPr>
              <a:t>1</a:t>
            </a:r>
            <a:r>
              <a:rPr lang="zh-CN" altLang="en-US" b="1" dirty="0">
                <a:solidFill>
                  <a:srgbClr val="0033CC"/>
                </a:solidFill>
              </a:rPr>
              <a:t>）数据与信息</a:t>
            </a:r>
            <a:endParaRPr lang="en-US" altLang="zh-CN" b="1" dirty="0">
              <a:solidFill>
                <a:srgbClr val="0033CC"/>
              </a:solidFill>
            </a:endParaRPr>
          </a:p>
          <a:p>
            <a:r>
              <a:rPr lang="zh-CN" altLang="en-US" b="1" dirty="0"/>
              <a:t>美国著名未来学家托夫勒说：“谁掌握了信息，控制了网络，谁将拥有整个世界。”</a:t>
            </a:r>
            <a:endParaRPr lang="en-US" altLang="zh-CN" b="1" dirty="0"/>
          </a:p>
          <a:p>
            <a:r>
              <a:rPr lang="zh-CN" altLang="en-US" b="1" dirty="0">
                <a:solidFill>
                  <a:srgbClr val="0033CC"/>
                </a:solidFill>
              </a:rPr>
              <a:t>数据处理</a:t>
            </a:r>
            <a:r>
              <a:rPr lang="zh-CN" altLang="en-US" b="1" dirty="0">
                <a:solidFill>
                  <a:srgbClr val="FF0000"/>
                </a:solidFill>
              </a:rPr>
              <a:t>就是</a:t>
            </a:r>
            <a:r>
              <a:rPr lang="zh-CN" altLang="en-US" b="1" dirty="0">
                <a:solidFill>
                  <a:srgbClr val="0033CC"/>
                </a:solidFill>
              </a:rPr>
              <a:t>将数据转化为信息</a:t>
            </a:r>
            <a:r>
              <a:rPr lang="zh-CN" altLang="en-US" b="1" dirty="0"/>
              <a:t>的过程，</a:t>
            </a:r>
            <a:r>
              <a:rPr lang="zh-CN" altLang="en-US" b="1" dirty="0">
                <a:solidFill>
                  <a:srgbClr val="0033CC"/>
                </a:solidFill>
              </a:rPr>
              <a:t>信息技术</a:t>
            </a:r>
            <a:r>
              <a:rPr lang="zh-CN" altLang="en-US" b="1" dirty="0">
                <a:solidFill>
                  <a:srgbClr val="FF0000"/>
                </a:solidFill>
              </a:rPr>
              <a:t>也都是围绕着</a:t>
            </a:r>
            <a:r>
              <a:rPr lang="zh-CN" altLang="en-US" b="1" dirty="0">
                <a:solidFill>
                  <a:srgbClr val="0033CC"/>
                </a:solidFill>
              </a:rPr>
              <a:t>数据收集</a:t>
            </a:r>
            <a:r>
              <a:rPr lang="zh-CN" altLang="en-US" b="1" dirty="0"/>
              <a:t>、</a:t>
            </a:r>
            <a:r>
              <a:rPr lang="zh-CN" altLang="en-US" b="1" dirty="0">
                <a:solidFill>
                  <a:srgbClr val="0033CC"/>
                </a:solidFill>
              </a:rPr>
              <a:t>存储</a:t>
            </a:r>
            <a:r>
              <a:rPr lang="zh-CN" altLang="en-US" b="1" dirty="0"/>
              <a:t>、</a:t>
            </a:r>
            <a:r>
              <a:rPr lang="zh-CN" altLang="en-US" b="1" dirty="0">
                <a:solidFill>
                  <a:srgbClr val="0033CC"/>
                </a:solidFill>
              </a:rPr>
              <a:t>传输</a:t>
            </a:r>
            <a:r>
              <a:rPr lang="zh-CN" altLang="en-US" b="1" dirty="0"/>
              <a:t>、</a:t>
            </a:r>
            <a:r>
              <a:rPr lang="zh-CN" altLang="en-US" b="1" dirty="0">
                <a:solidFill>
                  <a:srgbClr val="0033CC"/>
                </a:solidFill>
              </a:rPr>
              <a:t>处理</a:t>
            </a:r>
            <a:r>
              <a:rPr lang="zh-CN" altLang="en-US" b="1" dirty="0"/>
              <a:t>等方面开展应用的。</a:t>
            </a:r>
            <a:endParaRPr lang="en-US" altLang="zh-CN" b="1" dirty="0"/>
          </a:p>
        </p:txBody>
      </p:sp>
      <p:sp>
        <p:nvSpPr>
          <p:cNvPr id="11" name="矩形 3">
            <a:extLst>
              <a:ext uri="{FF2B5EF4-FFF2-40B4-BE49-F238E27FC236}">
                <a16:creationId xmlns:a16="http://schemas.microsoft.com/office/drawing/2014/main" id="{6FBBEEB9-1F61-4F3E-A570-F11C04A024F3}"/>
              </a:ext>
            </a:extLst>
          </p:cNvPr>
          <p:cNvSpPr>
            <a:spLocks noChangeArrowheads="1"/>
          </p:cNvSpPr>
          <p:nvPr/>
        </p:nvSpPr>
        <p:spPr bwMode="auto">
          <a:xfrm>
            <a:off x="6786578" y="142858"/>
            <a:ext cx="2191627"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a:t>
            </a:r>
            <a:r>
              <a:rPr lang="zh-CN" altLang="en-US" sz="2000" b="1" dirty="0">
                <a:solidFill>
                  <a:srgbClr val="C00000"/>
                </a:solidFill>
                <a:effectLst>
                  <a:reflection blurRad="6350" stA="50000" endA="300" endPos="50000" dist="60007" dir="5400000" sy="-100000" algn="bl" rotWithShape="0"/>
                </a:effectLst>
                <a:latin typeface="+mj-ea"/>
                <a:ea typeface="+mj-ea"/>
              </a:rPr>
              <a:t> 信息安全概述</a:t>
            </a:r>
          </a:p>
        </p:txBody>
      </p:sp>
      <p:sp>
        <p:nvSpPr>
          <p:cNvPr id="8" name="矩形 3">
            <a:extLst>
              <a:ext uri="{FF2B5EF4-FFF2-40B4-BE49-F238E27FC236}">
                <a16:creationId xmlns:a16="http://schemas.microsoft.com/office/drawing/2014/main" id="{903026CE-01D6-458F-BB74-95A15E02E0AB}"/>
              </a:ext>
            </a:extLst>
          </p:cNvPr>
          <p:cNvSpPr>
            <a:spLocks noChangeArrowheads="1"/>
          </p:cNvSpPr>
          <p:nvPr/>
        </p:nvSpPr>
        <p:spPr bwMode="auto">
          <a:xfrm>
            <a:off x="214282" y="642924"/>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3.1.1</a:t>
            </a:r>
            <a:r>
              <a:rPr lang="zh-CN" altLang="en-US" sz="2000" b="1" dirty="0">
                <a:solidFill>
                  <a:srgbClr val="C00000"/>
                </a:solidFill>
                <a:effectLst>
                  <a:reflection blurRad="6350" stA="50000" endA="300" endPos="50000" dist="60007" dir="5400000" sy="-100000" algn="bl" rotWithShape="0"/>
                </a:effectLst>
                <a:latin typeface="+mj-ea"/>
                <a:ea typeface="+mj-ea"/>
              </a:rPr>
              <a:t> 信息安全的概念</a:t>
            </a:r>
          </a:p>
        </p:txBody>
      </p:sp>
      <p:grpSp>
        <p:nvGrpSpPr>
          <p:cNvPr id="9221" name="组合 77">
            <a:extLst>
              <a:ext uri="{FF2B5EF4-FFF2-40B4-BE49-F238E27FC236}">
                <a16:creationId xmlns:a16="http://schemas.microsoft.com/office/drawing/2014/main" id="{DDA60DDA-5F91-4BA8-A4F6-631D24C1F3F6}"/>
              </a:ext>
            </a:extLst>
          </p:cNvPr>
          <p:cNvGrpSpPr>
            <a:grpSpLocks/>
          </p:cNvGrpSpPr>
          <p:nvPr/>
        </p:nvGrpSpPr>
        <p:grpSpPr bwMode="auto">
          <a:xfrm>
            <a:off x="2500313" y="2643758"/>
            <a:ext cx="4159919" cy="1571055"/>
            <a:chOff x="1571604" y="2643188"/>
            <a:chExt cx="3857652" cy="1428757"/>
          </a:xfrm>
        </p:grpSpPr>
        <p:sp>
          <p:nvSpPr>
            <p:cNvPr id="9223" name="矩形 15">
              <a:extLst>
                <a:ext uri="{FF2B5EF4-FFF2-40B4-BE49-F238E27FC236}">
                  <a16:creationId xmlns:a16="http://schemas.microsoft.com/office/drawing/2014/main" id="{9A828228-C014-4918-A6D9-197343DDB92C}"/>
                </a:ext>
              </a:extLst>
            </p:cNvPr>
            <p:cNvSpPr>
              <a:spLocks noChangeArrowheads="1"/>
            </p:cNvSpPr>
            <p:nvPr/>
          </p:nvSpPr>
          <p:spPr bwMode="auto">
            <a:xfrm>
              <a:off x="3000364" y="3714755"/>
              <a:ext cx="1000132" cy="357190"/>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400" b="1">
                  <a:latin typeface="黑体" panose="02010609060101010101" pitchFamily="49" charset="-122"/>
                  <a:ea typeface="黑体" panose="02010609060101010101" pitchFamily="49" charset="-122"/>
                </a:rPr>
                <a:t>数据处理</a:t>
              </a:r>
            </a:p>
          </p:txBody>
        </p:sp>
        <p:cxnSp>
          <p:nvCxnSpPr>
            <p:cNvPr id="9224" name="直接连接符 60">
              <a:extLst>
                <a:ext uri="{FF2B5EF4-FFF2-40B4-BE49-F238E27FC236}">
                  <a16:creationId xmlns:a16="http://schemas.microsoft.com/office/drawing/2014/main" id="{8BF9BF20-17E0-4321-B20E-115CC5E1E2F2}"/>
                </a:ext>
              </a:extLst>
            </p:cNvPr>
            <p:cNvCxnSpPr>
              <a:cxnSpLocks noChangeShapeType="1"/>
            </p:cNvCxnSpPr>
            <p:nvPr/>
          </p:nvCxnSpPr>
          <p:spPr bwMode="auto">
            <a:xfrm>
              <a:off x="2143108" y="3857634"/>
              <a:ext cx="857256" cy="1588"/>
            </a:xfrm>
            <a:prstGeom prst="line">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225" name="直接连接符 63">
              <a:extLst>
                <a:ext uri="{FF2B5EF4-FFF2-40B4-BE49-F238E27FC236}">
                  <a16:creationId xmlns:a16="http://schemas.microsoft.com/office/drawing/2014/main" id="{8901AD53-E61E-430F-9EF6-BD9B034A45F2}"/>
                </a:ext>
              </a:extLst>
            </p:cNvPr>
            <p:cNvCxnSpPr>
              <a:cxnSpLocks noChangeShapeType="1"/>
            </p:cNvCxnSpPr>
            <p:nvPr/>
          </p:nvCxnSpPr>
          <p:spPr bwMode="auto">
            <a:xfrm rot="5400000" flipH="1" flipV="1">
              <a:off x="4714082" y="3357568"/>
              <a:ext cx="715174" cy="793"/>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9226" name="矩形 38">
              <a:extLst>
                <a:ext uri="{FF2B5EF4-FFF2-40B4-BE49-F238E27FC236}">
                  <a16:creationId xmlns:a16="http://schemas.microsoft.com/office/drawing/2014/main" id="{2AACC564-8F23-471F-8986-F9632DF4FDD6}"/>
                </a:ext>
              </a:extLst>
            </p:cNvPr>
            <p:cNvSpPr>
              <a:spLocks noChangeArrowheads="1"/>
            </p:cNvSpPr>
            <p:nvPr/>
          </p:nvSpPr>
          <p:spPr bwMode="auto">
            <a:xfrm>
              <a:off x="3000364" y="2857501"/>
              <a:ext cx="1000132" cy="357190"/>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400" b="1" dirty="0">
                  <a:latin typeface="黑体" panose="02010609060101010101" pitchFamily="49" charset="-122"/>
                  <a:ea typeface="黑体" panose="02010609060101010101" pitchFamily="49" charset="-122"/>
                </a:rPr>
                <a:t>现实世界</a:t>
              </a:r>
            </a:p>
          </p:txBody>
        </p:sp>
        <p:sp>
          <p:nvSpPr>
            <p:cNvPr id="9227" name="矩形 39">
              <a:extLst>
                <a:ext uri="{FF2B5EF4-FFF2-40B4-BE49-F238E27FC236}">
                  <a16:creationId xmlns:a16="http://schemas.microsoft.com/office/drawing/2014/main" id="{A5C92E49-9E10-478C-A301-EBE4B45C1799}"/>
                </a:ext>
              </a:extLst>
            </p:cNvPr>
            <p:cNvSpPr>
              <a:spLocks noChangeArrowheads="1"/>
            </p:cNvSpPr>
            <p:nvPr/>
          </p:nvSpPr>
          <p:spPr bwMode="auto">
            <a:xfrm>
              <a:off x="1571604" y="3714755"/>
              <a:ext cx="571504" cy="357190"/>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400" b="1">
                  <a:latin typeface="黑体" panose="02010609060101010101" pitchFamily="49" charset="-122"/>
                  <a:ea typeface="黑体" panose="02010609060101010101" pitchFamily="49" charset="-122"/>
                </a:rPr>
                <a:t>数据</a:t>
              </a:r>
            </a:p>
          </p:txBody>
        </p:sp>
        <p:sp>
          <p:nvSpPr>
            <p:cNvPr id="9228" name="矩形 40">
              <a:extLst>
                <a:ext uri="{FF2B5EF4-FFF2-40B4-BE49-F238E27FC236}">
                  <a16:creationId xmlns:a16="http://schemas.microsoft.com/office/drawing/2014/main" id="{C9230B0F-A2CD-42B1-8B0B-D76D378C2E4B}"/>
                </a:ext>
              </a:extLst>
            </p:cNvPr>
            <p:cNvSpPr>
              <a:spLocks noChangeArrowheads="1"/>
            </p:cNvSpPr>
            <p:nvPr/>
          </p:nvSpPr>
          <p:spPr bwMode="auto">
            <a:xfrm>
              <a:off x="4857752" y="3714755"/>
              <a:ext cx="571504" cy="357190"/>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400" b="1">
                  <a:latin typeface="黑体" panose="02010609060101010101" pitchFamily="49" charset="-122"/>
                  <a:ea typeface="黑体" panose="02010609060101010101" pitchFamily="49" charset="-122"/>
                </a:rPr>
                <a:t>信息</a:t>
              </a:r>
            </a:p>
          </p:txBody>
        </p:sp>
        <p:cxnSp>
          <p:nvCxnSpPr>
            <p:cNvPr id="9229" name="直接连接符 60">
              <a:extLst>
                <a:ext uri="{FF2B5EF4-FFF2-40B4-BE49-F238E27FC236}">
                  <a16:creationId xmlns:a16="http://schemas.microsoft.com/office/drawing/2014/main" id="{60C9F757-D61C-44B9-9591-0D7F9F8E1C94}"/>
                </a:ext>
              </a:extLst>
            </p:cNvPr>
            <p:cNvCxnSpPr>
              <a:cxnSpLocks noChangeShapeType="1"/>
            </p:cNvCxnSpPr>
            <p:nvPr/>
          </p:nvCxnSpPr>
          <p:spPr bwMode="auto">
            <a:xfrm>
              <a:off x="4000496" y="3857634"/>
              <a:ext cx="857256" cy="1588"/>
            </a:xfrm>
            <a:prstGeom prst="line">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230" name="直接连接符 60">
              <a:extLst>
                <a:ext uri="{FF2B5EF4-FFF2-40B4-BE49-F238E27FC236}">
                  <a16:creationId xmlns:a16="http://schemas.microsoft.com/office/drawing/2014/main" id="{EF23711F-B742-48D7-A4C0-C06B33CF8C53}"/>
                </a:ext>
              </a:extLst>
            </p:cNvPr>
            <p:cNvCxnSpPr>
              <a:cxnSpLocks noChangeShapeType="1"/>
            </p:cNvCxnSpPr>
            <p:nvPr/>
          </p:nvCxnSpPr>
          <p:spPr bwMode="auto">
            <a:xfrm rot="10800000">
              <a:off x="4000496" y="3000378"/>
              <a:ext cx="1071570" cy="1588"/>
            </a:xfrm>
            <a:prstGeom prst="line">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231" name="直接连接符 63">
              <a:extLst>
                <a:ext uri="{FF2B5EF4-FFF2-40B4-BE49-F238E27FC236}">
                  <a16:creationId xmlns:a16="http://schemas.microsoft.com/office/drawing/2014/main" id="{3623C2D7-5E33-4081-9D44-AF7388D3C667}"/>
                </a:ext>
              </a:extLst>
            </p:cNvPr>
            <p:cNvCxnSpPr>
              <a:cxnSpLocks noChangeShapeType="1"/>
            </p:cNvCxnSpPr>
            <p:nvPr/>
          </p:nvCxnSpPr>
          <p:spPr bwMode="auto">
            <a:xfrm rot="10800000">
              <a:off x="1857356" y="3000378"/>
              <a:ext cx="1143008"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9232" name="直接连接符 60">
              <a:extLst>
                <a:ext uri="{FF2B5EF4-FFF2-40B4-BE49-F238E27FC236}">
                  <a16:creationId xmlns:a16="http://schemas.microsoft.com/office/drawing/2014/main" id="{CA7D966B-DC05-4A71-952A-7A10EE0A52E1}"/>
                </a:ext>
              </a:extLst>
            </p:cNvPr>
            <p:cNvCxnSpPr>
              <a:cxnSpLocks noChangeShapeType="1"/>
            </p:cNvCxnSpPr>
            <p:nvPr/>
          </p:nvCxnSpPr>
          <p:spPr bwMode="auto">
            <a:xfrm rot="5400000">
              <a:off x="1500167" y="3357568"/>
              <a:ext cx="714380" cy="1588"/>
            </a:xfrm>
            <a:prstGeom prst="line">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233" name="矩形 75">
              <a:extLst>
                <a:ext uri="{FF2B5EF4-FFF2-40B4-BE49-F238E27FC236}">
                  <a16:creationId xmlns:a16="http://schemas.microsoft.com/office/drawing/2014/main" id="{71218086-E30E-47CF-94F8-B1B3E3F5E22F}"/>
                </a:ext>
              </a:extLst>
            </p:cNvPr>
            <p:cNvSpPr>
              <a:spLocks noChangeArrowheads="1"/>
            </p:cNvSpPr>
            <p:nvPr/>
          </p:nvSpPr>
          <p:spPr bwMode="auto">
            <a:xfrm>
              <a:off x="4071933" y="2643188"/>
              <a:ext cx="1000132" cy="357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400" b="1">
                  <a:latin typeface="黑体" panose="02010609060101010101" pitchFamily="49" charset="-122"/>
                  <a:ea typeface="黑体" panose="02010609060101010101" pitchFamily="49" charset="-122"/>
                </a:rPr>
                <a:t>决策过程</a:t>
              </a:r>
            </a:p>
          </p:txBody>
        </p:sp>
        <p:sp>
          <p:nvSpPr>
            <p:cNvPr id="9234" name="矩形 76">
              <a:extLst>
                <a:ext uri="{FF2B5EF4-FFF2-40B4-BE49-F238E27FC236}">
                  <a16:creationId xmlns:a16="http://schemas.microsoft.com/office/drawing/2014/main" id="{979B549B-66E9-41E6-BA15-29A98B1F9382}"/>
                </a:ext>
              </a:extLst>
            </p:cNvPr>
            <p:cNvSpPr>
              <a:spLocks noChangeArrowheads="1"/>
            </p:cNvSpPr>
            <p:nvPr/>
          </p:nvSpPr>
          <p:spPr bwMode="auto">
            <a:xfrm>
              <a:off x="1928793" y="2643188"/>
              <a:ext cx="1000132" cy="357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400" b="1">
                  <a:latin typeface="黑体" panose="02010609060101010101" pitchFamily="49" charset="-122"/>
                  <a:ea typeface="黑体" panose="02010609060101010101" pitchFamily="49" charset="-122"/>
                </a:rPr>
                <a:t>数据收集</a:t>
              </a:r>
            </a:p>
          </p:txBody>
        </p:sp>
      </p:grpSp>
      <p:sp>
        <p:nvSpPr>
          <p:cNvPr id="79" name="矩形 3">
            <a:extLst>
              <a:ext uri="{FF2B5EF4-FFF2-40B4-BE49-F238E27FC236}">
                <a16:creationId xmlns:a16="http://schemas.microsoft.com/office/drawing/2014/main" id="{652D581E-347E-409E-A7B7-6987136D68C1}"/>
              </a:ext>
            </a:extLst>
          </p:cNvPr>
          <p:cNvSpPr>
            <a:spLocks noChangeArrowheads="1"/>
          </p:cNvSpPr>
          <p:nvPr/>
        </p:nvSpPr>
        <p:spPr bwMode="auto">
          <a:xfrm>
            <a:off x="3995936" y="4286250"/>
            <a:ext cx="1250950" cy="304800"/>
          </a:xfrm>
          <a:prstGeom prst="rect">
            <a:avLst/>
          </a:prstGeom>
          <a:noFill/>
          <a:ln w="9525">
            <a:noFill/>
            <a:miter lim="800000"/>
            <a:headEnd/>
            <a:tailEnd/>
          </a:ln>
        </p:spPr>
        <p:txBody>
          <a:bodyPr wrap="none">
            <a:spAutoFit/>
          </a:bodyPr>
          <a:lstStyle/>
          <a:p>
            <a:pPr algn="ctr" eaLnBrk="1" hangingPunct="1">
              <a:defRPr/>
            </a:pPr>
            <a:r>
              <a:rPr lang="zh-CN" altLang="en-US" sz="1400" b="1" dirty="0">
                <a:latin typeface="+mj-ea"/>
                <a:ea typeface="+mj-ea"/>
              </a:rPr>
              <a:t>数据处理过程</a:t>
            </a:r>
          </a:p>
        </p:txBody>
      </p:sp>
    </p:spTree>
  </p:cSld>
  <p:clrMapOvr>
    <a:masterClrMapping/>
  </p:clrMapOvr>
  <p:transition spd="med">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内容占位符 2">
            <a:extLst>
              <a:ext uri="{FF2B5EF4-FFF2-40B4-BE49-F238E27FC236}">
                <a16:creationId xmlns:a16="http://schemas.microsoft.com/office/drawing/2014/main" id="{5449CD6E-1101-47E0-AF10-351CBDE0E4B2}"/>
              </a:ext>
            </a:extLst>
          </p:cNvPr>
          <p:cNvSpPr txBox="1">
            <a:spLocks/>
          </p:cNvSpPr>
          <p:nvPr/>
        </p:nvSpPr>
        <p:spPr bwMode="auto">
          <a:xfrm>
            <a:off x="285750" y="1000125"/>
            <a:ext cx="8572500"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en-US" altLang="zh-CN" b="1" dirty="0">
                <a:solidFill>
                  <a:srgbClr val="0033CC"/>
                </a:solidFill>
              </a:rPr>
              <a:t>1</a:t>
            </a:r>
            <a:r>
              <a:rPr lang="zh-CN" altLang="en-US" b="1" dirty="0">
                <a:solidFill>
                  <a:srgbClr val="0033CC"/>
                </a:solidFill>
              </a:rPr>
              <a:t>）数据与信息 </a:t>
            </a:r>
            <a:r>
              <a:rPr lang="en-US" altLang="zh-CN" b="1" dirty="0">
                <a:solidFill>
                  <a:srgbClr val="0033CC"/>
                </a:solidFill>
              </a:rPr>
              <a:t>— </a:t>
            </a:r>
            <a:r>
              <a:rPr lang="zh-CN" altLang="en-US" b="1" dirty="0">
                <a:solidFill>
                  <a:srgbClr val="0033CC"/>
                </a:solidFill>
              </a:rPr>
              <a:t>网络与信息安全的重要意义</a:t>
            </a:r>
            <a:endParaRPr lang="en-US" altLang="zh-CN" b="1" dirty="0">
              <a:solidFill>
                <a:srgbClr val="0033CC"/>
              </a:solidFill>
            </a:endParaRPr>
          </a:p>
          <a:p>
            <a:r>
              <a:rPr lang="zh-CN" altLang="en-US" b="1" dirty="0">
                <a:solidFill>
                  <a:srgbClr val="FF0000"/>
                </a:solidFill>
              </a:rPr>
              <a:t>我们已经进入信息社会，信息已经成为一种重要的战略资源。</a:t>
            </a:r>
            <a:endParaRPr lang="en-US" altLang="zh-CN" b="1" dirty="0">
              <a:solidFill>
                <a:srgbClr val="FF0000"/>
              </a:solidFill>
            </a:endParaRPr>
          </a:p>
          <a:p>
            <a:pPr>
              <a:spcBef>
                <a:spcPts val="600"/>
              </a:spcBef>
              <a:buFont typeface="Wingdings" panose="05000000000000000000" pitchFamily="2" charset="2"/>
              <a:buChar char="Ø"/>
            </a:pPr>
            <a:r>
              <a:rPr lang="en-US" altLang="zh-CN" sz="1400" b="1" dirty="0">
                <a:solidFill>
                  <a:srgbClr val="0033CC"/>
                </a:solidFill>
              </a:rPr>
              <a:t>2014</a:t>
            </a:r>
            <a:r>
              <a:rPr lang="zh-CN" altLang="en-US" sz="1400" b="1" dirty="0">
                <a:solidFill>
                  <a:srgbClr val="0033CC"/>
                </a:solidFill>
              </a:rPr>
              <a:t>年</a:t>
            </a:r>
            <a:r>
              <a:rPr lang="en-US" altLang="zh-CN" sz="1400" b="1" dirty="0">
                <a:solidFill>
                  <a:srgbClr val="0033CC"/>
                </a:solidFill>
              </a:rPr>
              <a:t>2</a:t>
            </a:r>
            <a:r>
              <a:rPr lang="zh-CN" altLang="en-US" sz="1400" b="1" dirty="0">
                <a:solidFill>
                  <a:srgbClr val="0033CC"/>
                </a:solidFill>
              </a:rPr>
              <a:t>月</a:t>
            </a:r>
            <a:r>
              <a:rPr lang="en-US" altLang="zh-CN" sz="1400" b="1" dirty="0">
                <a:solidFill>
                  <a:srgbClr val="0033CC"/>
                </a:solidFill>
              </a:rPr>
              <a:t>27</a:t>
            </a:r>
            <a:r>
              <a:rPr lang="zh-CN" altLang="en-US" sz="1400" b="1" dirty="0">
                <a:solidFill>
                  <a:srgbClr val="0033CC"/>
                </a:solidFill>
              </a:rPr>
              <a:t>日</a:t>
            </a:r>
            <a:r>
              <a:rPr lang="zh-CN" altLang="en-US" sz="1400" b="1" dirty="0"/>
              <a:t>，</a:t>
            </a:r>
            <a:r>
              <a:rPr lang="zh-CN" altLang="en-US" sz="1400" b="1" dirty="0">
                <a:solidFill>
                  <a:srgbClr val="0033CC"/>
                </a:solidFill>
              </a:rPr>
              <a:t>中国共产党中央网络安全和信息化领导小组</a:t>
            </a:r>
            <a:r>
              <a:rPr lang="zh-CN" altLang="en-US" sz="1400" b="1" dirty="0"/>
              <a:t>（现改名为：</a:t>
            </a:r>
            <a:r>
              <a:rPr lang="zh-CN" altLang="en-US" sz="1400" b="1" dirty="0">
                <a:solidFill>
                  <a:srgbClr val="0033CC"/>
                </a:solidFill>
              </a:rPr>
              <a:t>中国共产党中央网络安全和信息化委员会</a:t>
            </a:r>
            <a:r>
              <a:rPr lang="zh-CN" altLang="en-US" sz="1400" b="1" dirty="0"/>
              <a:t>）成立，并由</a:t>
            </a:r>
            <a:r>
              <a:rPr lang="zh-CN" altLang="en-US" sz="1400" b="1" dirty="0">
                <a:solidFill>
                  <a:srgbClr val="0033CC"/>
                </a:solidFill>
              </a:rPr>
              <a:t>习近平总书记</a:t>
            </a:r>
            <a:r>
              <a:rPr lang="zh-CN" altLang="en-US" sz="1400" b="1" dirty="0">
                <a:solidFill>
                  <a:srgbClr val="FF0000"/>
                </a:solidFill>
              </a:rPr>
              <a:t>担任</a:t>
            </a:r>
            <a:r>
              <a:rPr lang="zh-CN" altLang="en-US" sz="1400" b="1" dirty="0">
                <a:solidFill>
                  <a:srgbClr val="0033CC"/>
                </a:solidFill>
              </a:rPr>
              <a:t>主任</a:t>
            </a:r>
            <a:r>
              <a:rPr lang="zh-CN" altLang="en-US" sz="1400" b="1" dirty="0"/>
              <a:t>，总书记多次在相关会议上发表指示国家网络安全建设的重要讲话，</a:t>
            </a:r>
            <a:r>
              <a:rPr lang="zh-CN" altLang="en-US" sz="1400" b="1" dirty="0">
                <a:solidFill>
                  <a:srgbClr val="0033CC"/>
                </a:solidFill>
              </a:rPr>
              <a:t>网络与信息</a:t>
            </a:r>
            <a:r>
              <a:rPr lang="zh-CN" altLang="en-US" sz="1400" b="1" dirty="0">
                <a:solidFill>
                  <a:srgbClr val="FF0000"/>
                </a:solidFill>
              </a:rPr>
              <a:t>已经成为“海陆空天电”之后的</a:t>
            </a:r>
            <a:r>
              <a:rPr lang="zh-CN" altLang="en-US" sz="1400" b="1" dirty="0">
                <a:solidFill>
                  <a:srgbClr val="0033CC"/>
                </a:solidFill>
              </a:rPr>
              <a:t>第</a:t>
            </a:r>
            <a:r>
              <a:rPr lang="en-US" altLang="zh-CN" sz="1400" b="1" dirty="0">
                <a:solidFill>
                  <a:srgbClr val="0033CC"/>
                </a:solidFill>
              </a:rPr>
              <a:t>6</a:t>
            </a:r>
            <a:r>
              <a:rPr lang="zh-CN" altLang="en-US" sz="1400" b="1" dirty="0">
                <a:solidFill>
                  <a:srgbClr val="0033CC"/>
                </a:solidFill>
              </a:rPr>
              <a:t>大战场</a:t>
            </a:r>
            <a:r>
              <a:rPr lang="zh-CN" altLang="en-US" sz="1400" b="1" dirty="0"/>
              <a:t>；</a:t>
            </a:r>
            <a:endParaRPr lang="en-US" altLang="zh-CN" sz="1400" b="1" dirty="0"/>
          </a:p>
          <a:p>
            <a:pPr>
              <a:spcBef>
                <a:spcPts val="600"/>
              </a:spcBef>
              <a:buFont typeface="Wingdings" panose="05000000000000000000" pitchFamily="2" charset="2"/>
              <a:buChar char="Ø"/>
            </a:pPr>
            <a:r>
              <a:rPr lang="zh-CN" altLang="en-US" sz="1400" b="1" dirty="0">
                <a:solidFill>
                  <a:srgbClr val="0033CC"/>
                </a:solidFill>
              </a:rPr>
              <a:t>近几年来</a:t>
            </a:r>
            <a:r>
              <a:rPr lang="zh-CN" altLang="en-US" sz="1400" b="1" dirty="0"/>
              <a:t>，国家自然科学基金计算机科学相关项目，将信息安全作为第一重点支持方向。</a:t>
            </a:r>
            <a:endParaRPr lang="en-US" altLang="zh-CN" sz="1400" b="1" dirty="0"/>
          </a:p>
          <a:p>
            <a:pPr>
              <a:spcBef>
                <a:spcPts val="600"/>
              </a:spcBef>
              <a:buFont typeface="Wingdings" panose="05000000000000000000" pitchFamily="2" charset="2"/>
              <a:buChar char="Ø"/>
            </a:pPr>
            <a:endParaRPr lang="zh-CN" altLang="en-US" sz="1400" b="1" dirty="0"/>
          </a:p>
          <a:p>
            <a:r>
              <a:rPr lang="zh-CN" altLang="en-US" b="1" dirty="0"/>
              <a:t>人们越来越依赖互联网和各种信息系统，信息系统的一次故障或事故会造成巨大的影响甚至灾难。因此信息安全至关重要。</a:t>
            </a:r>
            <a:endParaRPr lang="en-US" altLang="zh-CN" b="1" dirty="0"/>
          </a:p>
        </p:txBody>
      </p:sp>
      <p:sp>
        <p:nvSpPr>
          <p:cNvPr id="11" name="矩形 3">
            <a:extLst>
              <a:ext uri="{FF2B5EF4-FFF2-40B4-BE49-F238E27FC236}">
                <a16:creationId xmlns:a16="http://schemas.microsoft.com/office/drawing/2014/main" id="{0B437652-CBBE-4A60-B66B-DE7F77217F04}"/>
              </a:ext>
            </a:extLst>
          </p:cNvPr>
          <p:cNvSpPr>
            <a:spLocks noChangeArrowheads="1"/>
          </p:cNvSpPr>
          <p:nvPr/>
        </p:nvSpPr>
        <p:spPr bwMode="auto">
          <a:xfrm>
            <a:off x="6786578" y="142858"/>
            <a:ext cx="2191627"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a:t>
            </a:r>
            <a:r>
              <a:rPr lang="zh-CN" altLang="en-US" sz="2000" b="1" dirty="0">
                <a:solidFill>
                  <a:srgbClr val="C00000"/>
                </a:solidFill>
                <a:effectLst>
                  <a:reflection blurRad="6350" stA="50000" endA="300" endPos="50000" dist="60007" dir="5400000" sy="-100000" algn="bl" rotWithShape="0"/>
                </a:effectLst>
                <a:latin typeface="+mj-ea"/>
                <a:ea typeface="+mj-ea"/>
              </a:rPr>
              <a:t> 信息安全概述</a:t>
            </a:r>
          </a:p>
        </p:txBody>
      </p:sp>
      <p:sp>
        <p:nvSpPr>
          <p:cNvPr id="8" name="矩形 3">
            <a:extLst>
              <a:ext uri="{FF2B5EF4-FFF2-40B4-BE49-F238E27FC236}">
                <a16:creationId xmlns:a16="http://schemas.microsoft.com/office/drawing/2014/main" id="{979009CB-0EC8-4511-B9DC-A51B55EC77EC}"/>
              </a:ext>
            </a:extLst>
          </p:cNvPr>
          <p:cNvSpPr>
            <a:spLocks noChangeArrowheads="1"/>
          </p:cNvSpPr>
          <p:nvPr/>
        </p:nvSpPr>
        <p:spPr bwMode="auto">
          <a:xfrm>
            <a:off x="214282" y="642924"/>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3.1.1</a:t>
            </a:r>
            <a:r>
              <a:rPr lang="zh-CN" altLang="en-US" sz="2000" b="1" dirty="0">
                <a:solidFill>
                  <a:srgbClr val="C00000"/>
                </a:solidFill>
                <a:effectLst>
                  <a:reflection blurRad="6350" stA="50000" endA="300" endPos="50000" dist="60007" dir="5400000" sy="-100000" algn="bl" rotWithShape="0"/>
                </a:effectLst>
                <a:latin typeface="+mj-ea"/>
                <a:ea typeface="+mj-ea"/>
              </a:rPr>
              <a:t> 信息安全的概念</a:t>
            </a:r>
          </a:p>
        </p:txBody>
      </p:sp>
    </p:spTree>
  </p:cSld>
  <p:clrMapOvr>
    <a:masterClrMapping/>
  </p:clrMapOvr>
  <p:transition spd="med">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内容占位符 2">
            <a:extLst>
              <a:ext uri="{FF2B5EF4-FFF2-40B4-BE49-F238E27FC236}">
                <a16:creationId xmlns:a16="http://schemas.microsoft.com/office/drawing/2014/main" id="{F12AB3D6-5F86-4770-8CC3-CA9F1170A1E7}"/>
              </a:ext>
            </a:extLst>
          </p:cNvPr>
          <p:cNvSpPr txBox="1">
            <a:spLocks/>
          </p:cNvSpPr>
          <p:nvPr/>
        </p:nvSpPr>
        <p:spPr bwMode="auto">
          <a:xfrm>
            <a:off x="285750" y="1000125"/>
            <a:ext cx="8572500"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en-US" altLang="zh-CN" b="1" dirty="0">
                <a:solidFill>
                  <a:srgbClr val="0033CC"/>
                </a:solidFill>
              </a:rPr>
              <a:t>2</a:t>
            </a:r>
            <a:r>
              <a:rPr lang="zh-CN" altLang="en-US" b="1" dirty="0">
                <a:solidFill>
                  <a:srgbClr val="0033CC"/>
                </a:solidFill>
              </a:rPr>
              <a:t>）信息安全</a:t>
            </a:r>
            <a:endParaRPr lang="en-US" altLang="zh-CN" b="1" dirty="0">
              <a:solidFill>
                <a:srgbClr val="0033CC"/>
              </a:solidFill>
            </a:endParaRPr>
          </a:p>
          <a:p>
            <a:r>
              <a:rPr lang="zh-CN" altLang="en-US" b="1" dirty="0">
                <a:solidFill>
                  <a:srgbClr val="FF0000"/>
                </a:solidFill>
              </a:rPr>
              <a:t>关于信息安全，有以下一些具有代表性的定义方式：</a:t>
            </a:r>
            <a:endParaRPr lang="en-US" altLang="zh-CN" b="1" dirty="0">
              <a:solidFill>
                <a:srgbClr val="FF0000"/>
              </a:solidFill>
            </a:endParaRPr>
          </a:p>
          <a:p>
            <a:pPr>
              <a:spcBef>
                <a:spcPts val="600"/>
              </a:spcBef>
              <a:buFont typeface="Wingdings" panose="05000000000000000000" pitchFamily="2" charset="2"/>
              <a:buChar char="Ø"/>
            </a:pPr>
            <a:r>
              <a:rPr lang="zh-CN" altLang="en-US" sz="1400" b="1" dirty="0"/>
              <a:t>国内学者给出的定义是：“信息安全保密内容分为实体安全、运行安全、数据安全和管理安全四个方面。”</a:t>
            </a:r>
            <a:endParaRPr lang="en-US" altLang="zh-CN" sz="1400" b="1" dirty="0"/>
          </a:p>
          <a:p>
            <a:pPr>
              <a:spcBef>
                <a:spcPts val="600"/>
              </a:spcBef>
              <a:buFont typeface="Wingdings" panose="05000000000000000000" pitchFamily="2" charset="2"/>
              <a:buChar char="Ø"/>
            </a:pPr>
            <a:r>
              <a:rPr lang="zh-CN" altLang="en-US" sz="1400" b="1" dirty="0"/>
              <a:t>我国相关立法给出的定义是：“保障计算机及其相关的和配套的设备、设施（网络）的安全，运行环境的安全，保障信息安全，保障计算机功能的正常发挥，以维护计算机信息系统的安全。”</a:t>
            </a:r>
            <a:endParaRPr lang="en-US" altLang="zh-CN" sz="1400" b="1" dirty="0"/>
          </a:p>
          <a:p>
            <a:pPr>
              <a:spcBef>
                <a:spcPts val="600"/>
              </a:spcBef>
              <a:buFont typeface="Wingdings" panose="05000000000000000000" pitchFamily="2" charset="2"/>
              <a:buChar char="Ø"/>
            </a:pPr>
            <a:r>
              <a:rPr lang="zh-CN" altLang="en-US" sz="1400" b="1" dirty="0"/>
              <a:t>英国</a:t>
            </a:r>
            <a:r>
              <a:rPr lang="en-US" altLang="zh-CN" sz="1400" b="1" dirty="0"/>
              <a:t>BS7799</a:t>
            </a:r>
            <a:r>
              <a:rPr lang="zh-CN" altLang="en-US" sz="1400" b="1" dirty="0"/>
              <a:t>信息安全管理标准给出的定义是：“信息安全是使信息避免一系列威胁，保障商务的连续性，最大限度地减少商务损失，最大限度地获取投资和商务的回报，涉及的是机密性、完整性、可用性。”</a:t>
            </a:r>
            <a:endParaRPr lang="en-US" altLang="zh-CN" sz="1400" b="1" dirty="0"/>
          </a:p>
        </p:txBody>
      </p:sp>
      <p:sp>
        <p:nvSpPr>
          <p:cNvPr id="11" name="矩形 3">
            <a:extLst>
              <a:ext uri="{FF2B5EF4-FFF2-40B4-BE49-F238E27FC236}">
                <a16:creationId xmlns:a16="http://schemas.microsoft.com/office/drawing/2014/main" id="{FD812FEA-3137-4638-8538-E2938BAB65C1}"/>
              </a:ext>
            </a:extLst>
          </p:cNvPr>
          <p:cNvSpPr>
            <a:spLocks noChangeArrowheads="1"/>
          </p:cNvSpPr>
          <p:nvPr/>
        </p:nvSpPr>
        <p:spPr bwMode="auto">
          <a:xfrm>
            <a:off x="6786578" y="142858"/>
            <a:ext cx="2191627"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a:t>
            </a:r>
            <a:r>
              <a:rPr lang="zh-CN" altLang="en-US" sz="2000" b="1" dirty="0">
                <a:solidFill>
                  <a:srgbClr val="C00000"/>
                </a:solidFill>
                <a:effectLst>
                  <a:reflection blurRad="6350" stA="50000" endA="300" endPos="50000" dist="60007" dir="5400000" sy="-100000" algn="bl" rotWithShape="0"/>
                </a:effectLst>
                <a:latin typeface="+mj-ea"/>
                <a:ea typeface="+mj-ea"/>
              </a:rPr>
              <a:t> 信息安全概述</a:t>
            </a:r>
          </a:p>
        </p:txBody>
      </p:sp>
      <p:sp>
        <p:nvSpPr>
          <p:cNvPr id="8" name="矩形 3">
            <a:extLst>
              <a:ext uri="{FF2B5EF4-FFF2-40B4-BE49-F238E27FC236}">
                <a16:creationId xmlns:a16="http://schemas.microsoft.com/office/drawing/2014/main" id="{4C6B31DF-89D0-4CCB-80AF-2AB4FCFADEA4}"/>
              </a:ext>
            </a:extLst>
          </p:cNvPr>
          <p:cNvSpPr>
            <a:spLocks noChangeArrowheads="1"/>
          </p:cNvSpPr>
          <p:nvPr/>
        </p:nvSpPr>
        <p:spPr bwMode="auto">
          <a:xfrm>
            <a:off x="214282" y="642924"/>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3.1.1</a:t>
            </a:r>
            <a:r>
              <a:rPr lang="zh-CN" altLang="en-US" sz="2000" b="1" dirty="0">
                <a:solidFill>
                  <a:srgbClr val="C00000"/>
                </a:solidFill>
                <a:effectLst>
                  <a:reflection blurRad="6350" stA="50000" endA="300" endPos="50000" dist="60007" dir="5400000" sy="-100000" algn="bl" rotWithShape="0"/>
                </a:effectLst>
                <a:latin typeface="+mj-ea"/>
                <a:ea typeface="+mj-ea"/>
              </a:rPr>
              <a:t> 信息安全的概念</a:t>
            </a:r>
          </a:p>
        </p:txBody>
      </p:sp>
    </p:spTree>
  </p:cSld>
  <p:clrMapOvr>
    <a:masterClrMapping/>
  </p:clrMapOvr>
  <p:transition spd="med">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A49554BA-4B41-421E-A5AC-6CF0C18214DB}"/>
              </a:ext>
            </a:extLst>
          </p:cNvPr>
          <p:cNvSpPr txBox="1">
            <a:spLocks/>
          </p:cNvSpPr>
          <p:nvPr/>
        </p:nvSpPr>
        <p:spPr bwMode="auto">
          <a:xfrm>
            <a:off x="285750" y="1000125"/>
            <a:ext cx="8572500" cy="3714750"/>
          </a:xfrm>
          <a:prstGeom prst="rect">
            <a:avLst/>
          </a:prstGeom>
          <a:noFill/>
          <a:ln w="9525">
            <a:noFill/>
            <a:miter lim="800000"/>
            <a:headEnd/>
            <a:tailEnd/>
          </a:ln>
        </p:spPr>
        <p:txBody>
          <a:bodyPr/>
          <a:lstStyle/>
          <a:p>
            <a:pPr marL="342900" indent="-342900">
              <a:lnSpc>
                <a:spcPct val="150000"/>
              </a:lnSpc>
              <a:buClr>
                <a:srgbClr val="C00000"/>
              </a:buClr>
              <a:defRPr/>
            </a:pPr>
            <a:r>
              <a:rPr lang="en-US" altLang="zh-CN" sz="1600" b="1" dirty="0">
                <a:solidFill>
                  <a:srgbClr val="0033CC"/>
                </a:solidFill>
                <a:latin typeface="微软雅黑" pitchFamily="34" charset="-122"/>
                <a:ea typeface="微软雅黑" pitchFamily="34" charset="-122"/>
              </a:rPr>
              <a:t>2</a:t>
            </a:r>
            <a:r>
              <a:rPr lang="zh-CN" altLang="en-US" sz="1600" b="1" dirty="0">
                <a:solidFill>
                  <a:srgbClr val="0033CC"/>
                </a:solidFill>
                <a:latin typeface="微软雅黑" pitchFamily="34" charset="-122"/>
                <a:ea typeface="微软雅黑" pitchFamily="34" charset="-122"/>
              </a:rPr>
              <a:t>）信息安全</a:t>
            </a:r>
            <a:endParaRPr lang="en-US" altLang="zh-CN" sz="1600" b="1" dirty="0">
              <a:solidFill>
                <a:srgbClr val="0033CC"/>
              </a:solidFill>
              <a:latin typeface="微软雅黑" pitchFamily="34" charset="-122"/>
              <a:ea typeface="微软雅黑" pitchFamily="34" charset="-122"/>
            </a:endParaRPr>
          </a:p>
          <a:p>
            <a:pPr marL="342900" indent="-342900">
              <a:lnSpc>
                <a:spcPct val="150000"/>
              </a:lnSpc>
              <a:buClr>
                <a:srgbClr val="C00000"/>
              </a:buClr>
              <a:buFont typeface="Wingdings" pitchFamily="2" charset="2"/>
              <a:buChar char="n"/>
              <a:defRPr/>
            </a:pPr>
            <a:r>
              <a:rPr lang="zh-CN" altLang="en-US" sz="1600" b="1" dirty="0">
                <a:solidFill>
                  <a:srgbClr val="FF0000"/>
                </a:solidFill>
                <a:latin typeface="微软雅黑" pitchFamily="34" charset="-122"/>
                <a:ea typeface="微软雅黑" pitchFamily="34" charset="-122"/>
              </a:rPr>
              <a:t>关于信息安全，有以下一些具有代表性的定义方式：</a:t>
            </a:r>
            <a:endParaRPr lang="en-US" altLang="zh-CN" sz="1600" b="1" dirty="0">
              <a:solidFill>
                <a:srgbClr val="FF0000"/>
              </a:solidFill>
              <a:latin typeface="微软雅黑" pitchFamily="34" charset="-122"/>
              <a:ea typeface="微软雅黑" pitchFamily="34" charset="-122"/>
            </a:endParaRPr>
          </a:p>
          <a:p>
            <a:pPr marL="342900" indent="-342900">
              <a:lnSpc>
                <a:spcPct val="150000"/>
              </a:lnSpc>
              <a:spcBef>
                <a:spcPts val="600"/>
              </a:spcBef>
              <a:buClr>
                <a:srgbClr val="C00000"/>
              </a:buClr>
              <a:buFont typeface="Wingdings" pitchFamily="2" charset="2"/>
              <a:buChar char="Ø"/>
              <a:defRPr/>
            </a:pPr>
            <a:r>
              <a:rPr lang="zh-CN" altLang="en-US" sz="1400" b="1" dirty="0">
                <a:latin typeface="微软雅黑" pitchFamily="34" charset="-122"/>
                <a:ea typeface="微软雅黑" pitchFamily="34" charset="-122"/>
              </a:rPr>
              <a:t>美国国家安全局信息保障官员给出的定义是：“因为术语‘信息安全’一直仅表示信息的机密性，在国防部内部用‘信息保障’来描述信息安全，也叫‘</a:t>
            </a:r>
            <a:r>
              <a:rPr lang="en-US" altLang="zh-CN" sz="1400" b="1" dirty="0">
                <a:latin typeface="微软雅黑" pitchFamily="34" charset="-122"/>
                <a:ea typeface="微软雅黑" pitchFamily="34" charset="-122"/>
              </a:rPr>
              <a:t>IA</a:t>
            </a:r>
            <a:r>
              <a:rPr lang="zh-CN" altLang="en-US" sz="1400" b="1" dirty="0">
                <a:latin typeface="微软雅黑" pitchFamily="34" charset="-122"/>
                <a:ea typeface="微软雅黑" pitchFamily="34" charset="-122"/>
              </a:rPr>
              <a:t>’。它包含五种安全服务，包括机密性、完整性、可用性、真实性和不可抵赖性。”</a:t>
            </a:r>
            <a:endParaRPr lang="en-US" altLang="zh-CN" sz="1400" b="1" dirty="0">
              <a:latin typeface="微软雅黑" pitchFamily="34" charset="-122"/>
              <a:ea typeface="微软雅黑" pitchFamily="34" charset="-122"/>
            </a:endParaRPr>
          </a:p>
          <a:p>
            <a:pPr marL="342900" indent="-342900">
              <a:lnSpc>
                <a:spcPct val="150000"/>
              </a:lnSpc>
              <a:spcBef>
                <a:spcPts val="600"/>
              </a:spcBef>
              <a:buClr>
                <a:srgbClr val="C00000"/>
              </a:buClr>
              <a:buFont typeface="Wingdings" pitchFamily="2" charset="2"/>
              <a:buChar char="Ø"/>
              <a:defRPr/>
            </a:pPr>
            <a:r>
              <a:rPr lang="zh-CN" altLang="en-US" sz="1400" b="1" dirty="0">
                <a:latin typeface="微软雅黑" pitchFamily="34" charset="-122"/>
                <a:ea typeface="微软雅黑" pitchFamily="34" charset="-122"/>
              </a:rPr>
              <a:t>国际标准化委员会给出的定义是：“为数据处理系统而采取的技术的和管理的安全保护，保护计算机硬件、软件、数据不因偶然的或恶意的原因而遭到破坏、更改、显露。”</a:t>
            </a:r>
            <a:endParaRPr lang="en-US" altLang="zh-CN" sz="1400" b="1" dirty="0">
              <a:latin typeface="微软雅黑" pitchFamily="34" charset="-122"/>
              <a:ea typeface="微软雅黑" pitchFamily="34" charset="-122"/>
            </a:endParaRPr>
          </a:p>
          <a:p>
            <a:pPr marL="342900" indent="-342900">
              <a:lnSpc>
                <a:spcPct val="150000"/>
              </a:lnSpc>
              <a:buClr>
                <a:srgbClr val="C00000"/>
              </a:buClr>
              <a:buFont typeface="Wingdings" pitchFamily="2" charset="2"/>
              <a:buChar char="n"/>
              <a:defRPr/>
            </a:pPr>
            <a:r>
              <a:rPr lang="zh-CN" altLang="en-US" sz="1600" b="1" dirty="0">
                <a:solidFill>
                  <a:srgbClr val="0033CC"/>
                </a:solidFill>
                <a:effectLst>
                  <a:outerShdw blurRad="38100" dist="38100" dir="2700000" algn="tl">
                    <a:srgbClr val="C0C0C0"/>
                  </a:outerShdw>
                </a:effectLst>
                <a:latin typeface="微软雅黑" pitchFamily="34" charset="-122"/>
                <a:ea typeface="微软雅黑" pitchFamily="34" charset="-122"/>
              </a:rPr>
              <a:t>由此可见，</a:t>
            </a:r>
            <a:r>
              <a:rPr lang="zh-CN" altLang="en-US" sz="1600" b="1" u="sng" dirty="0">
                <a:solidFill>
                  <a:srgbClr val="FF0000"/>
                </a:solidFill>
                <a:effectLst>
                  <a:outerShdw blurRad="38100" dist="38100" dir="2700000" algn="tl">
                    <a:srgbClr val="C0C0C0"/>
                  </a:outerShdw>
                </a:effectLst>
                <a:latin typeface="微软雅黑" pitchFamily="34" charset="-122"/>
                <a:ea typeface="微软雅黑" pitchFamily="34" charset="-122"/>
              </a:rPr>
              <a:t>机密性</a:t>
            </a:r>
            <a:r>
              <a:rPr lang="zh-CN" altLang="en-US" sz="1600" b="1" dirty="0">
                <a:solidFill>
                  <a:srgbClr val="0033CC"/>
                </a:solidFill>
                <a:effectLst>
                  <a:outerShdw blurRad="38100" dist="38100" dir="2700000" algn="tl">
                    <a:srgbClr val="C0C0C0"/>
                  </a:outerShdw>
                </a:effectLst>
                <a:latin typeface="微软雅黑" pitchFamily="34" charset="-122"/>
                <a:ea typeface="微软雅黑" pitchFamily="34" charset="-122"/>
              </a:rPr>
              <a:t>、</a:t>
            </a:r>
            <a:r>
              <a:rPr lang="zh-CN" altLang="en-US" sz="1600" b="1" u="sng" dirty="0">
                <a:solidFill>
                  <a:srgbClr val="FF0000"/>
                </a:solidFill>
                <a:effectLst>
                  <a:outerShdw blurRad="38100" dist="38100" dir="2700000" algn="tl">
                    <a:srgbClr val="C0C0C0"/>
                  </a:outerShdw>
                </a:effectLst>
                <a:latin typeface="微软雅黑" pitchFamily="34" charset="-122"/>
                <a:ea typeface="微软雅黑" pitchFamily="34" charset="-122"/>
              </a:rPr>
              <a:t>完整性</a:t>
            </a:r>
            <a:r>
              <a:rPr lang="zh-CN" altLang="en-US" sz="1600" b="1" dirty="0">
                <a:solidFill>
                  <a:srgbClr val="0033CC"/>
                </a:solidFill>
                <a:effectLst>
                  <a:outerShdw blurRad="38100" dist="38100" dir="2700000" algn="tl">
                    <a:srgbClr val="C0C0C0"/>
                  </a:outerShdw>
                </a:effectLst>
                <a:latin typeface="微软雅黑" pitchFamily="34" charset="-122"/>
                <a:ea typeface="微软雅黑" pitchFamily="34" charset="-122"/>
              </a:rPr>
              <a:t>、</a:t>
            </a:r>
            <a:r>
              <a:rPr lang="zh-CN" altLang="en-US" sz="1600" b="1" u="sng" dirty="0">
                <a:solidFill>
                  <a:srgbClr val="FF0000"/>
                </a:solidFill>
                <a:effectLst>
                  <a:outerShdw blurRad="38100" dist="38100" dir="2700000" algn="tl">
                    <a:srgbClr val="C0C0C0"/>
                  </a:outerShdw>
                </a:effectLst>
                <a:latin typeface="微软雅黑" pitchFamily="34" charset="-122"/>
                <a:ea typeface="微软雅黑" pitchFamily="34" charset="-122"/>
              </a:rPr>
              <a:t>可用性</a:t>
            </a:r>
            <a:r>
              <a:rPr lang="zh-CN" altLang="en-US" sz="1600" b="1" dirty="0">
                <a:solidFill>
                  <a:srgbClr val="0033CC"/>
                </a:solidFill>
                <a:effectLst>
                  <a:outerShdw blurRad="38100" dist="38100" dir="2700000" algn="tl">
                    <a:srgbClr val="C0C0C0"/>
                  </a:outerShdw>
                </a:effectLst>
                <a:latin typeface="微软雅黑" pitchFamily="34" charset="-122"/>
                <a:ea typeface="微软雅黑" pitchFamily="34" charset="-122"/>
              </a:rPr>
              <a:t>这三个基本属性实际上就是信息安全的核心属性，可以反映出信息安全的基本概貌。</a:t>
            </a:r>
            <a:endParaRPr lang="en-US" altLang="zh-CN" sz="1400" b="1" dirty="0">
              <a:solidFill>
                <a:srgbClr val="FF0000"/>
              </a:solidFill>
              <a:latin typeface="微软雅黑" pitchFamily="34" charset="-122"/>
              <a:ea typeface="微软雅黑" pitchFamily="34" charset="-122"/>
            </a:endParaRPr>
          </a:p>
        </p:txBody>
      </p:sp>
      <p:sp>
        <p:nvSpPr>
          <p:cNvPr id="11" name="矩形 3">
            <a:extLst>
              <a:ext uri="{FF2B5EF4-FFF2-40B4-BE49-F238E27FC236}">
                <a16:creationId xmlns:a16="http://schemas.microsoft.com/office/drawing/2014/main" id="{D9044CBE-1E0E-4845-998F-53C86B6B804F}"/>
              </a:ext>
            </a:extLst>
          </p:cNvPr>
          <p:cNvSpPr>
            <a:spLocks noChangeArrowheads="1"/>
          </p:cNvSpPr>
          <p:nvPr/>
        </p:nvSpPr>
        <p:spPr bwMode="auto">
          <a:xfrm>
            <a:off x="6786578" y="142858"/>
            <a:ext cx="2191627"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a:t>
            </a:r>
            <a:r>
              <a:rPr lang="zh-CN" altLang="en-US" sz="2000" b="1" dirty="0">
                <a:solidFill>
                  <a:srgbClr val="C00000"/>
                </a:solidFill>
                <a:effectLst>
                  <a:reflection blurRad="6350" stA="50000" endA="300" endPos="50000" dist="60007" dir="5400000" sy="-100000" algn="bl" rotWithShape="0"/>
                </a:effectLst>
                <a:latin typeface="+mj-ea"/>
                <a:ea typeface="+mj-ea"/>
              </a:rPr>
              <a:t> 信息安全概述</a:t>
            </a:r>
          </a:p>
        </p:txBody>
      </p:sp>
      <p:sp>
        <p:nvSpPr>
          <p:cNvPr id="8" name="矩形 3">
            <a:extLst>
              <a:ext uri="{FF2B5EF4-FFF2-40B4-BE49-F238E27FC236}">
                <a16:creationId xmlns:a16="http://schemas.microsoft.com/office/drawing/2014/main" id="{04E06C8B-3325-4402-9F18-B200BEE97ACD}"/>
              </a:ext>
            </a:extLst>
          </p:cNvPr>
          <p:cNvSpPr>
            <a:spLocks noChangeArrowheads="1"/>
          </p:cNvSpPr>
          <p:nvPr/>
        </p:nvSpPr>
        <p:spPr bwMode="auto">
          <a:xfrm>
            <a:off x="214282" y="642924"/>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3.1.1</a:t>
            </a:r>
            <a:r>
              <a:rPr lang="zh-CN" altLang="en-US" sz="2000" b="1" dirty="0">
                <a:solidFill>
                  <a:srgbClr val="C00000"/>
                </a:solidFill>
                <a:effectLst>
                  <a:reflection blurRad="6350" stA="50000" endA="300" endPos="50000" dist="60007" dir="5400000" sy="-100000" algn="bl" rotWithShape="0"/>
                </a:effectLst>
                <a:latin typeface="+mj-ea"/>
                <a:ea typeface="+mj-ea"/>
              </a:rPr>
              <a:t> 信息安全的概念</a:t>
            </a:r>
          </a:p>
        </p:txBody>
      </p:sp>
    </p:spTree>
  </p:cSld>
  <p:clrMapOvr>
    <a:masterClrMapping/>
  </p:clrMapOvr>
  <p:transition spd="med">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85F66983-034A-49A2-9F4B-863448D83330}"/>
              </a:ext>
            </a:extLst>
          </p:cNvPr>
          <p:cNvSpPr txBox="1">
            <a:spLocks/>
          </p:cNvSpPr>
          <p:nvPr/>
        </p:nvSpPr>
        <p:spPr bwMode="auto">
          <a:xfrm>
            <a:off x="285750" y="1000125"/>
            <a:ext cx="8572500" cy="365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en-US" altLang="zh-CN" b="1" dirty="0">
                <a:solidFill>
                  <a:srgbClr val="0033CC"/>
                </a:solidFill>
              </a:rPr>
              <a:t>2</a:t>
            </a:r>
            <a:r>
              <a:rPr lang="zh-CN" altLang="en-US" b="1" dirty="0">
                <a:solidFill>
                  <a:srgbClr val="0033CC"/>
                </a:solidFill>
              </a:rPr>
              <a:t>）信息安全</a:t>
            </a:r>
            <a:endParaRPr lang="en-US" altLang="zh-CN" b="1" dirty="0">
              <a:solidFill>
                <a:srgbClr val="0033CC"/>
              </a:solidFill>
            </a:endParaRPr>
          </a:p>
          <a:p>
            <a:r>
              <a:rPr lang="zh-CN" altLang="en-US" b="1" dirty="0"/>
              <a:t>信息安全的目标就是保证计算机系统正常运行。具体表现为三个基本属性或基本目标为：</a:t>
            </a:r>
            <a:r>
              <a:rPr lang="zh-CN" altLang="en-US" b="1" dirty="0">
                <a:solidFill>
                  <a:srgbClr val="FF0000"/>
                </a:solidFill>
              </a:rPr>
              <a:t>保密性</a:t>
            </a:r>
            <a:r>
              <a:rPr lang="zh-CN" altLang="en-US" b="1" dirty="0"/>
              <a:t>（</a:t>
            </a:r>
            <a:r>
              <a:rPr lang="en-US" altLang="zh-CN" b="1" dirty="0"/>
              <a:t>Confidentiality</a:t>
            </a:r>
            <a:r>
              <a:rPr lang="zh-CN" altLang="en-US" b="1" dirty="0"/>
              <a:t>）、</a:t>
            </a:r>
            <a:r>
              <a:rPr lang="zh-CN" altLang="en-US" b="1" dirty="0">
                <a:solidFill>
                  <a:srgbClr val="FF0000"/>
                </a:solidFill>
              </a:rPr>
              <a:t>完整性</a:t>
            </a:r>
            <a:r>
              <a:rPr lang="zh-CN" altLang="en-US" b="1" dirty="0"/>
              <a:t>（</a:t>
            </a:r>
            <a:r>
              <a:rPr lang="en-US" altLang="zh-CN" b="1" dirty="0"/>
              <a:t>Integrity</a:t>
            </a:r>
            <a:r>
              <a:rPr lang="zh-CN" altLang="en-US" b="1" dirty="0"/>
              <a:t>）和</a:t>
            </a:r>
            <a:r>
              <a:rPr lang="zh-CN" altLang="en-US" b="1" dirty="0">
                <a:solidFill>
                  <a:srgbClr val="FF0000"/>
                </a:solidFill>
              </a:rPr>
              <a:t>可用性</a:t>
            </a:r>
            <a:r>
              <a:rPr lang="zh-CN" altLang="en-US" b="1" dirty="0"/>
              <a:t>（</a:t>
            </a:r>
            <a:r>
              <a:rPr lang="en-US" altLang="zh-CN" b="1" dirty="0"/>
              <a:t>Availability</a:t>
            </a:r>
            <a:r>
              <a:rPr lang="zh-CN" altLang="en-US" b="1" dirty="0"/>
              <a:t>），即信息技术评估标准中所述的三要素</a:t>
            </a:r>
            <a:r>
              <a:rPr lang="en-US" altLang="zh-CN" b="1" dirty="0"/>
              <a:t>CIA</a:t>
            </a:r>
            <a:r>
              <a:rPr lang="zh-CN" altLang="en-US" b="1" dirty="0"/>
              <a:t>。</a:t>
            </a:r>
            <a:endParaRPr lang="en-US" altLang="zh-CN" b="1" dirty="0"/>
          </a:p>
          <a:p>
            <a:pPr>
              <a:buFont typeface="Wingdings" panose="05000000000000000000" pitchFamily="2" charset="2"/>
              <a:buChar char="Ø"/>
            </a:pPr>
            <a:r>
              <a:rPr lang="zh-CN" altLang="en-US" sz="1400" b="1" dirty="0">
                <a:solidFill>
                  <a:srgbClr val="FF0000"/>
                </a:solidFill>
              </a:rPr>
              <a:t>保密性</a:t>
            </a:r>
            <a:r>
              <a:rPr lang="zh-CN" altLang="en-US" sz="1400" b="1" dirty="0"/>
              <a:t>：</a:t>
            </a:r>
            <a:r>
              <a:rPr lang="zh-CN" altLang="en-US" sz="1400" b="1" dirty="0">
                <a:solidFill>
                  <a:srgbClr val="0033CC"/>
                </a:solidFill>
              </a:rPr>
              <a:t>确保</a:t>
            </a:r>
            <a:r>
              <a:rPr lang="zh-CN" altLang="en-US" sz="1400" b="1" dirty="0"/>
              <a:t>信息在存储、使用、传输过程中不会泄露给非授权用户或实体；</a:t>
            </a:r>
            <a:endParaRPr lang="en-US" altLang="zh-CN" sz="1400" b="1" dirty="0"/>
          </a:p>
          <a:p>
            <a:pPr>
              <a:buFont typeface="Wingdings" panose="05000000000000000000" pitchFamily="2" charset="2"/>
              <a:buChar char="Ø"/>
            </a:pPr>
            <a:r>
              <a:rPr lang="zh-CN" altLang="en-US" sz="1400" b="1" dirty="0">
                <a:solidFill>
                  <a:srgbClr val="FF0000"/>
                </a:solidFill>
              </a:rPr>
              <a:t>完整性</a:t>
            </a:r>
            <a:r>
              <a:rPr lang="zh-CN" altLang="en-US" sz="1400" b="1" dirty="0"/>
              <a:t>：</a:t>
            </a:r>
            <a:r>
              <a:rPr lang="zh-CN" altLang="en-US" sz="1400" b="1" dirty="0">
                <a:solidFill>
                  <a:srgbClr val="0033CC"/>
                </a:solidFill>
              </a:rPr>
              <a:t>确保</a:t>
            </a:r>
            <a:r>
              <a:rPr lang="zh-CN" altLang="en-US" sz="1400" b="1" dirty="0"/>
              <a:t>信息在存储、使用、传输过程中不会被非授权用户篡改，</a:t>
            </a:r>
            <a:r>
              <a:rPr lang="zh-CN" altLang="en-US" sz="1400" b="1" dirty="0">
                <a:solidFill>
                  <a:srgbClr val="0033CC"/>
                </a:solidFill>
              </a:rPr>
              <a:t>同时</a:t>
            </a:r>
            <a:r>
              <a:rPr lang="zh-CN" altLang="en-US" sz="1400" b="1" dirty="0"/>
              <a:t>还要防止授权用户对系统及信息进行不恰当篡改，保持信息内、外部表示的一致性；（</a:t>
            </a:r>
            <a:r>
              <a:rPr lang="zh-CN" altLang="en-US" sz="1400" b="1" dirty="0">
                <a:solidFill>
                  <a:srgbClr val="FF0000"/>
                </a:solidFill>
              </a:rPr>
              <a:t>可分为</a:t>
            </a:r>
            <a:r>
              <a:rPr lang="zh-CN" altLang="en-US" sz="1400" b="1" dirty="0"/>
              <a:t>：</a:t>
            </a:r>
            <a:r>
              <a:rPr lang="zh-CN" altLang="en-US" sz="1400" b="1" dirty="0">
                <a:solidFill>
                  <a:srgbClr val="0033CC"/>
                </a:solidFill>
              </a:rPr>
              <a:t>数据完整性</a:t>
            </a:r>
            <a:r>
              <a:rPr lang="zh-CN" altLang="en-US" sz="1400" b="1" dirty="0"/>
              <a:t>，</a:t>
            </a:r>
            <a:r>
              <a:rPr lang="zh-CN" altLang="en-US" sz="1400" b="1" dirty="0">
                <a:solidFill>
                  <a:srgbClr val="0033CC"/>
                </a:solidFill>
              </a:rPr>
              <a:t>身份可认证性</a:t>
            </a:r>
            <a:r>
              <a:rPr lang="zh-CN" altLang="en-US" sz="1400" b="1" dirty="0"/>
              <a:t>）</a:t>
            </a:r>
            <a:endParaRPr lang="en-US" altLang="zh-CN" sz="1400" b="1" dirty="0"/>
          </a:p>
          <a:p>
            <a:pPr>
              <a:buFont typeface="Wingdings" panose="05000000000000000000" pitchFamily="2" charset="2"/>
              <a:buChar char="Ø"/>
            </a:pPr>
            <a:r>
              <a:rPr lang="zh-CN" altLang="en-US" sz="1400" b="1" dirty="0">
                <a:solidFill>
                  <a:srgbClr val="FF0000"/>
                </a:solidFill>
              </a:rPr>
              <a:t>可用性</a:t>
            </a:r>
            <a:r>
              <a:rPr lang="zh-CN" altLang="en-US" sz="1400" b="1" dirty="0"/>
              <a:t>：</a:t>
            </a:r>
            <a:r>
              <a:rPr lang="zh-CN" altLang="en-US" sz="1400" b="1" dirty="0">
                <a:solidFill>
                  <a:srgbClr val="0033CC"/>
                </a:solidFill>
              </a:rPr>
              <a:t>确保</a:t>
            </a:r>
            <a:r>
              <a:rPr lang="zh-CN" altLang="en-US" sz="1400" b="1" dirty="0"/>
              <a:t>授权用户或实体对信息及资源的正常使用不会被异常拒绝，允许其可靠而及时地访问信息及资源；</a:t>
            </a:r>
            <a:endParaRPr lang="en-US" altLang="zh-CN" sz="1400" b="1" dirty="0"/>
          </a:p>
          <a:p>
            <a:pPr>
              <a:buFont typeface="Wingdings" panose="05000000000000000000" pitchFamily="2" charset="2"/>
              <a:buChar char="Ø"/>
            </a:pPr>
            <a:r>
              <a:rPr lang="zh-CN" altLang="en-US" sz="1400" b="1" dirty="0"/>
              <a:t>数据的</a:t>
            </a:r>
            <a:r>
              <a:rPr lang="zh-CN" altLang="en-US" sz="1400" b="1" dirty="0">
                <a:solidFill>
                  <a:srgbClr val="0033CC"/>
                </a:solidFill>
              </a:rPr>
              <a:t>真实性</a:t>
            </a:r>
            <a:r>
              <a:rPr lang="zh-CN" altLang="en-US" sz="1400" b="1" dirty="0"/>
              <a:t>、</a:t>
            </a:r>
            <a:r>
              <a:rPr lang="zh-CN" altLang="en-US" sz="1400" b="1" dirty="0">
                <a:solidFill>
                  <a:srgbClr val="0033CC"/>
                </a:solidFill>
              </a:rPr>
              <a:t>不可抵赖性</a:t>
            </a:r>
            <a:r>
              <a:rPr lang="zh-CN" altLang="en-US" sz="1400" b="1" dirty="0"/>
              <a:t>、数据的</a:t>
            </a:r>
            <a:r>
              <a:rPr lang="zh-CN" altLang="en-US" sz="1400" b="1" dirty="0">
                <a:solidFill>
                  <a:srgbClr val="0033CC"/>
                </a:solidFill>
              </a:rPr>
              <a:t>强机密性</a:t>
            </a:r>
            <a:r>
              <a:rPr lang="zh-CN" altLang="en-US" sz="1400" b="1" dirty="0"/>
              <a:t>、身份的</a:t>
            </a:r>
            <a:r>
              <a:rPr lang="zh-CN" altLang="en-US" sz="1400" b="1" dirty="0">
                <a:solidFill>
                  <a:srgbClr val="0033CC"/>
                </a:solidFill>
              </a:rPr>
              <a:t>匿名性</a:t>
            </a:r>
            <a:r>
              <a:rPr lang="zh-CN" altLang="en-US" sz="1400" b="1" dirty="0"/>
              <a:t>、身份的</a:t>
            </a:r>
            <a:r>
              <a:rPr lang="zh-CN" altLang="en-US" sz="1400" b="1" dirty="0">
                <a:solidFill>
                  <a:srgbClr val="0033CC"/>
                </a:solidFill>
              </a:rPr>
              <a:t>不可链接性</a:t>
            </a:r>
            <a:r>
              <a:rPr lang="zh-CN" altLang="en-US" sz="1400" b="1" dirty="0"/>
              <a:t>。</a:t>
            </a:r>
            <a:endParaRPr lang="en-US" altLang="zh-CN" sz="1400" b="1" dirty="0">
              <a:solidFill>
                <a:srgbClr val="0033CC"/>
              </a:solidFill>
            </a:endParaRPr>
          </a:p>
          <a:p>
            <a:pPr>
              <a:spcBef>
                <a:spcPts val="600"/>
              </a:spcBef>
              <a:buFont typeface="Wingdings" panose="05000000000000000000" pitchFamily="2" charset="2"/>
              <a:buChar char="Ø"/>
            </a:pPr>
            <a:endParaRPr lang="en-US" altLang="zh-CN" b="1" dirty="0"/>
          </a:p>
          <a:p>
            <a:endParaRPr lang="en-US" altLang="zh-CN" b="1" dirty="0"/>
          </a:p>
          <a:p>
            <a:pPr>
              <a:buFont typeface="Wingdings" panose="05000000000000000000" pitchFamily="2" charset="2"/>
              <a:buChar char="Ø"/>
            </a:pPr>
            <a:endParaRPr lang="en-US" altLang="zh-CN" sz="1400" b="1" dirty="0"/>
          </a:p>
        </p:txBody>
      </p:sp>
      <p:sp>
        <p:nvSpPr>
          <p:cNvPr id="11" name="矩形 3">
            <a:extLst>
              <a:ext uri="{FF2B5EF4-FFF2-40B4-BE49-F238E27FC236}">
                <a16:creationId xmlns:a16="http://schemas.microsoft.com/office/drawing/2014/main" id="{8113A7A3-2BE6-4CE9-9102-ADEDEF654702}"/>
              </a:ext>
            </a:extLst>
          </p:cNvPr>
          <p:cNvSpPr>
            <a:spLocks noChangeArrowheads="1"/>
          </p:cNvSpPr>
          <p:nvPr/>
        </p:nvSpPr>
        <p:spPr bwMode="auto">
          <a:xfrm>
            <a:off x="6786578" y="142858"/>
            <a:ext cx="2191627"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a:t>
            </a:r>
            <a:r>
              <a:rPr lang="zh-CN" altLang="en-US" sz="2000" b="1" dirty="0">
                <a:solidFill>
                  <a:srgbClr val="C00000"/>
                </a:solidFill>
                <a:effectLst>
                  <a:reflection blurRad="6350" stA="50000" endA="300" endPos="50000" dist="60007" dir="5400000" sy="-100000" algn="bl" rotWithShape="0"/>
                </a:effectLst>
                <a:latin typeface="+mj-ea"/>
                <a:ea typeface="+mj-ea"/>
              </a:rPr>
              <a:t> 信息安全概述</a:t>
            </a:r>
          </a:p>
        </p:txBody>
      </p:sp>
      <p:sp>
        <p:nvSpPr>
          <p:cNvPr id="8" name="矩形 3">
            <a:extLst>
              <a:ext uri="{FF2B5EF4-FFF2-40B4-BE49-F238E27FC236}">
                <a16:creationId xmlns:a16="http://schemas.microsoft.com/office/drawing/2014/main" id="{9990F999-7F6A-46D9-B590-4B785E681320}"/>
              </a:ext>
            </a:extLst>
          </p:cNvPr>
          <p:cNvSpPr>
            <a:spLocks noChangeArrowheads="1"/>
          </p:cNvSpPr>
          <p:nvPr/>
        </p:nvSpPr>
        <p:spPr bwMode="auto">
          <a:xfrm>
            <a:off x="214282" y="642924"/>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3.1.1</a:t>
            </a:r>
            <a:r>
              <a:rPr lang="zh-CN" altLang="en-US" sz="2000" b="1" dirty="0">
                <a:solidFill>
                  <a:srgbClr val="C00000"/>
                </a:solidFill>
                <a:effectLst>
                  <a:reflection blurRad="6350" stA="50000" endA="300" endPos="50000" dist="60007" dir="5400000" sy="-100000" algn="bl" rotWithShape="0"/>
                </a:effectLst>
                <a:latin typeface="+mj-ea"/>
                <a:ea typeface="+mj-ea"/>
              </a:rPr>
              <a:t> 信息安全的概念</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a:extLst>
              <a:ext uri="{FF2B5EF4-FFF2-40B4-BE49-F238E27FC236}">
                <a16:creationId xmlns:a16="http://schemas.microsoft.com/office/drawing/2014/main" id="{8E39BB5A-D478-4E8F-BF3B-98C261DB13D9}"/>
              </a:ext>
            </a:extLst>
          </p:cNvPr>
          <p:cNvSpPr txBox="1">
            <a:spLocks/>
          </p:cNvSpPr>
          <p:nvPr/>
        </p:nvSpPr>
        <p:spPr bwMode="auto">
          <a:xfrm>
            <a:off x="250825" y="987425"/>
            <a:ext cx="8572500"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en-US" altLang="zh-CN" b="1">
                <a:solidFill>
                  <a:srgbClr val="0033CC"/>
                </a:solidFill>
              </a:rPr>
              <a:t>2</a:t>
            </a:r>
            <a:r>
              <a:rPr lang="zh-CN" altLang="en-US" b="1">
                <a:solidFill>
                  <a:srgbClr val="0033CC"/>
                </a:solidFill>
              </a:rPr>
              <a:t>）信息安全</a:t>
            </a:r>
          </a:p>
          <a:p>
            <a:pPr>
              <a:buFontTx/>
              <a:buNone/>
            </a:pPr>
            <a:r>
              <a:rPr lang="zh-CN" altLang="en-US" b="1">
                <a:solidFill>
                  <a:srgbClr val="0033CC"/>
                </a:solidFill>
              </a:rPr>
              <a:t>     体系结构</a:t>
            </a:r>
          </a:p>
          <a:p>
            <a:pPr>
              <a:buFontTx/>
              <a:buNone/>
            </a:pPr>
            <a:endParaRPr lang="zh-CN" altLang="en-US" sz="1400"/>
          </a:p>
          <a:p>
            <a:pPr>
              <a:buFontTx/>
              <a:buNone/>
            </a:pPr>
            <a:r>
              <a:rPr lang="zh-CN" altLang="en-US" sz="1400" b="1"/>
              <a:t>本课程将：</a:t>
            </a:r>
          </a:p>
          <a:p>
            <a:pPr>
              <a:buFontTx/>
              <a:buNone/>
            </a:pPr>
            <a:r>
              <a:rPr lang="zh-CN" altLang="en-US" sz="1400" b="1"/>
              <a:t>“从左到右，</a:t>
            </a:r>
          </a:p>
          <a:p>
            <a:pPr>
              <a:buFontTx/>
              <a:buNone/>
            </a:pPr>
            <a:r>
              <a:rPr lang="zh-CN" altLang="en-US" sz="1400" b="1"/>
              <a:t>从下至上”讲解</a:t>
            </a:r>
          </a:p>
        </p:txBody>
      </p:sp>
      <p:sp>
        <p:nvSpPr>
          <p:cNvPr id="11" name="矩形 3">
            <a:extLst>
              <a:ext uri="{FF2B5EF4-FFF2-40B4-BE49-F238E27FC236}">
                <a16:creationId xmlns:a16="http://schemas.microsoft.com/office/drawing/2014/main" id="{374429F3-4AB5-43FF-BF36-986496AB4419}"/>
              </a:ext>
            </a:extLst>
          </p:cNvPr>
          <p:cNvSpPr>
            <a:spLocks noChangeArrowheads="1"/>
          </p:cNvSpPr>
          <p:nvPr/>
        </p:nvSpPr>
        <p:spPr bwMode="auto">
          <a:xfrm>
            <a:off x="6786578" y="142858"/>
            <a:ext cx="2191627"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a:t>
            </a:r>
            <a:r>
              <a:rPr lang="zh-CN" altLang="en-US" sz="2000" b="1" dirty="0">
                <a:solidFill>
                  <a:srgbClr val="C00000"/>
                </a:solidFill>
                <a:effectLst>
                  <a:reflection blurRad="6350" stA="50000" endA="300" endPos="50000" dist="60007" dir="5400000" sy="-100000" algn="bl" rotWithShape="0"/>
                </a:effectLst>
                <a:latin typeface="+mj-ea"/>
                <a:ea typeface="+mj-ea"/>
              </a:rPr>
              <a:t> 信息安全概述</a:t>
            </a:r>
          </a:p>
        </p:txBody>
      </p:sp>
      <p:sp>
        <p:nvSpPr>
          <p:cNvPr id="8" name="矩形 3">
            <a:extLst>
              <a:ext uri="{FF2B5EF4-FFF2-40B4-BE49-F238E27FC236}">
                <a16:creationId xmlns:a16="http://schemas.microsoft.com/office/drawing/2014/main" id="{A6FBCC36-4C9D-4237-8DF6-F17F19C949D6}"/>
              </a:ext>
            </a:extLst>
          </p:cNvPr>
          <p:cNvSpPr>
            <a:spLocks noChangeArrowheads="1"/>
          </p:cNvSpPr>
          <p:nvPr/>
        </p:nvSpPr>
        <p:spPr bwMode="auto">
          <a:xfrm>
            <a:off x="214282" y="642924"/>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3.1.1</a:t>
            </a:r>
            <a:r>
              <a:rPr lang="zh-CN" altLang="en-US" sz="2000" b="1" dirty="0">
                <a:solidFill>
                  <a:srgbClr val="C00000"/>
                </a:solidFill>
                <a:effectLst>
                  <a:reflection blurRad="6350" stA="50000" endA="300" endPos="50000" dist="60007" dir="5400000" sy="-100000" algn="bl" rotWithShape="0"/>
                </a:effectLst>
                <a:latin typeface="+mj-ea"/>
                <a:ea typeface="+mj-ea"/>
              </a:rPr>
              <a:t> 信息安全的概念</a:t>
            </a:r>
          </a:p>
        </p:txBody>
      </p:sp>
      <p:sp>
        <p:nvSpPr>
          <p:cNvPr id="13318" name="内容占位符 3">
            <a:extLst>
              <a:ext uri="{FF2B5EF4-FFF2-40B4-BE49-F238E27FC236}">
                <a16:creationId xmlns:a16="http://schemas.microsoft.com/office/drawing/2014/main" id="{E1011E6A-37B8-49DC-8599-51AE49CAF065}"/>
              </a:ext>
            </a:extLst>
          </p:cNvPr>
          <p:cNvSpPr>
            <a:spLocks/>
          </p:cNvSpPr>
          <p:nvPr/>
        </p:nvSpPr>
        <p:spPr bwMode="auto">
          <a:xfrm>
            <a:off x="1906588" y="1079500"/>
            <a:ext cx="6842125" cy="4984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r>
              <a:rPr lang="zh-CN" altLang="en-US" sz="1200" b="1"/>
              <a:t>安全目标</a:t>
            </a:r>
            <a:r>
              <a:rPr lang="en-US" altLang="zh-CN" sz="1200" b="1"/>
              <a:t>CIA</a:t>
            </a:r>
            <a:r>
              <a:rPr lang="zh-CN" altLang="en-US" sz="1200" b="1"/>
              <a:t>：  </a:t>
            </a:r>
            <a:r>
              <a:rPr lang="zh-CN" altLang="en-US" sz="1200" b="1">
                <a:solidFill>
                  <a:srgbClr val="FF0000"/>
                </a:solidFill>
              </a:rPr>
              <a:t>机密性</a:t>
            </a:r>
            <a:r>
              <a:rPr lang="zh-CN" altLang="en-US" sz="1200" b="1"/>
              <a:t>、</a:t>
            </a:r>
            <a:r>
              <a:rPr lang="zh-CN" altLang="en-US" sz="1200" b="1">
                <a:solidFill>
                  <a:srgbClr val="FF0000"/>
                </a:solidFill>
              </a:rPr>
              <a:t>完整性</a:t>
            </a:r>
            <a:r>
              <a:rPr lang="zh-CN" altLang="en-US" sz="1200" b="1"/>
              <a:t>、</a:t>
            </a:r>
            <a:r>
              <a:rPr lang="zh-CN" altLang="en-US" sz="1200" b="1">
                <a:solidFill>
                  <a:srgbClr val="FF0000"/>
                </a:solidFill>
              </a:rPr>
              <a:t>可用性</a:t>
            </a:r>
          </a:p>
        </p:txBody>
      </p:sp>
      <p:sp>
        <p:nvSpPr>
          <p:cNvPr id="13320" name="内容占位符 3">
            <a:extLst>
              <a:ext uri="{FF2B5EF4-FFF2-40B4-BE49-F238E27FC236}">
                <a16:creationId xmlns:a16="http://schemas.microsoft.com/office/drawing/2014/main" id="{9827EF32-245F-4A63-97C9-4201E77D1ECF}"/>
              </a:ext>
            </a:extLst>
          </p:cNvPr>
          <p:cNvSpPr txBox="1">
            <a:spLocks/>
          </p:cNvSpPr>
          <p:nvPr/>
        </p:nvSpPr>
        <p:spPr bwMode="auto">
          <a:xfrm>
            <a:off x="2568575" y="2397125"/>
            <a:ext cx="1714500" cy="5715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r>
              <a:rPr lang="zh-CN" altLang="en-US" sz="1400" b="1"/>
              <a:t>数据安全</a:t>
            </a:r>
          </a:p>
        </p:txBody>
      </p:sp>
      <p:sp>
        <p:nvSpPr>
          <p:cNvPr id="13321" name="内容占位符 3">
            <a:extLst>
              <a:ext uri="{FF2B5EF4-FFF2-40B4-BE49-F238E27FC236}">
                <a16:creationId xmlns:a16="http://schemas.microsoft.com/office/drawing/2014/main" id="{08EDFD43-22F3-464D-98AD-55714C98DF4D}"/>
              </a:ext>
            </a:extLst>
          </p:cNvPr>
          <p:cNvSpPr txBox="1">
            <a:spLocks/>
          </p:cNvSpPr>
          <p:nvPr/>
        </p:nvSpPr>
        <p:spPr bwMode="auto">
          <a:xfrm>
            <a:off x="2568575" y="2971800"/>
            <a:ext cx="1714500" cy="4873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r>
              <a:rPr lang="zh-CN" altLang="en-US" sz="1400" b="1"/>
              <a:t>软件安全</a:t>
            </a:r>
          </a:p>
        </p:txBody>
      </p:sp>
      <p:sp>
        <p:nvSpPr>
          <p:cNvPr id="13322" name="内容占位符 3">
            <a:extLst>
              <a:ext uri="{FF2B5EF4-FFF2-40B4-BE49-F238E27FC236}">
                <a16:creationId xmlns:a16="http://schemas.microsoft.com/office/drawing/2014/main" id="{F61F4601-8460-4FAA-B852-BB2D471DC0C5}"/>
              </a:ext>
            </a:extLst>
          </p:cNvPr>
          <p:cNvSpPr txBox="1">
            <a:spLocks/>
          </p:cNvSpPr>
          <p:nvPr/>
        </p:nvSpPr>
        <p:spPr bwMode="auto">
          <a:xfrm>
            <a:off x="2568575" y="3455988"/>
            <a:ext cx="1714500" cy="720725"/>
          </a:xfrm>
          <a:prstGeom prst="rect">
            <a:avLst/>
          </a:prstGeom>
          <a:solidFill>
            <a:srgbClr val="FFFF00"/>
          </a:solidFill>
          <a:ln w="12700">
            <a:solidFill>
              <a:schemeClr val="tx1"/>
            </a:solidFill>
            <a:miter lim="800000"/>
            <a:headEnd/>
            <a:tailEnd/>
          </a:ln>
        </p:spPr>
        <p:txBody>
          <a:bodyPr anchor="ct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r>
              <a:rPr lang="zh-CN" altLang="en-US" sz="1400" b="1">
                <a:solidFill>
                  <a:srgbClr val="FF0000"/>
                </a:solidFill>
              </a:rPr>
              <a:t>操作系统安全</a:t>
            </a:r>
          </a:p>
          <a:p>
            <a:pPr algn="ctr" eaLnBrk="1" hangingPunct="1">
              <a:buFont typeface="Wingdings" panose="05000000000000000000" pitchFamily="2" charset="2"/>
              <a:buNone/>
            </a:pPr>
            <a:r>
              <a:rPr lang="zh-CN" altLang="en-US" sz="1400" b="1">
                <a:solidFill>
                  <a:srgbClr val="0033CC"/>
                </a:solidFill>
              </a:rPr>
              <a:t>（软件基础）</a:t>
            </a:r>
          </a:p>
        </p:txBody>
      </p:sp>
      <p:sp>
        <p:nvSpPr>
          <p:cNvPr id="13323" name="内容占位符 3">
            <a:extLst>
              <a:ext uri="{FF2B5EF4-FFF2-40B4-BE49-F238E27FC236}">
                <a16:creationId xmlns:a16="http://schemas.microsoft.com/office/drawing/2014/main" id="{D19337A9-5560-43F4-B6F8-33641D44B42E}"/>
              </a:ext>
            </a:extLst>
          </p:cNvPr>
          <p:cNvSpPr txBox="1">
            <a:spLocks/>
          </p:cNvSpPr>
          <p:nvPr/>
        </p:nvSpPr>
        <p:spPr bwMode="auto">
          <a:xfrm>
            <a:off x="2568575" y="4176713"/>
            <a:ext cx="1714500" cy="576262"/>
          </a:xfrm>
          <a:prstGeom prst="rect">
            <a:avLst/>
          </a:prstGeom>
          <a:solidFill>
            <a:srgbClr val="FFFF00"/>
          </a:solidFill>
          <a:ln w="12700">
            <a:solidFill>
              <a:schemeClr val="tx1"/>
            </a:solidFill>
            <a:miter lim="800000"/>
            <a:headEnd/>
            <a:tailEnd/>
          </a:ln>
        </p:spPr>
        <p:txBody>
          <a:bodyPr anchor="ct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r>
              <a:rPr lang="zh-CN" altLang="en-US" sz="1400" b="1">
                <a:solidFill>
                  <a:srgbClr val="FF0000"/>
                </a:solidFill>
              </a:rPr>
              <a:t>硬件安全</a:t>
            </a:r>
          </a:p>
          <a:p>
            <a:pPr algn="ctr" eaLnBrk="1" hangingPunct="1">
              <a:buFont typeface="Wingdings" panose="05000000000000000000" pitchFamily="2" charset="2"/>
              <a:buNone/>
            </a:pPr>
            <a:r>
              <a:rPr lang="zh-CN" altLang="en-US" sz="1400" b="1">
                <a:solidFill>
                  <a:srgbClr val="0033CC"/>
                </a:solidFill>
              </a:rPr>
              <a:t>（硬件基础）</a:t>
            </a:r>
          </a:p>
        </p:txBody>
      </p:sp>
      <p:sp>
        <p:nvSpPr>
          <p:cNvPr id="13324" name="内容占位符 3">
            <a:extLst>
              <a:ext uri="{FF2B5EF4-FFF2-40B4-BE49-F238E27FC236}">
                <a16:creationId xmlns:a16="http://schemas.microsoft.com/office/drawing/2014/main" id="{9A17A130-4DDA-411C-9995-8D2DF9521B80}"/>
              </a:ext>
            </a:extLst>
          </p:cNvPr>
          <p:cNvSpPr txBox="1">
            <a:spLocks/>
          </p:cNvSpPr>
          <p:nvPr/>
        </p:nvSpPr>
        <p:spPr bwMode="auto">
          <a:xfrm>
            <a:off x="2565400" y="2016125"/>
            <a:ext cx="1720850" cy="3841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r>
              <a:rPr lang="zh-CN" altLang="en-US" sz="1400" b="1"/>
              <a:t>网络安全</a:t>
            </a:r>
          </a:p>
        </p:txBody>
      </p:sp>
      <p:sp>
        <p:nvSpPr>
          <p:cNvPr id="13325" name="内容占位符 3">
            <a:extLst>
              <a:ext uri="{FF2B5EF4-FFF2-40B4-BE49-F238E27FC236}">
                <a16:creationId xmlns:a16="http://schemas.microsoft.com/office/drawing/2014/main" id="{8B4C0880-5E2E-4469-9AB2-C7496A7A7CB3}"/>
              </a:ext>
            </a:extLst>
          </p:cNvPr>
          <p:cNvSpPr txBox="1">
            <a:spLocks/>
          </p:cNvSpPr>
          <p:nvPr/>
        </p:nvSpPr>
        <p:spPr bwMode="auto">
          <a:xfrm>
            <a:off x="4289425" y="4176713"/>
            <a:ext cx="3889375" cy="576262"/>
          </a:xfrm>
          <a:prstGeom prst="rect">
            <a:avLst/>
          </a:prstGeom>
          <a:solidFill>
            <a:srgbClr val="FFFF00"/>
          </a:solidFill>
          <a:ln w="12700">
            <a:solidFill>
              <a:schemeClr val="tx1"/>
            </a:solidFill>
            <a:miter lim="800000"/>
            <a:headEnd/>
            <a:tailEnd/>
          </a:ln>
        </p:spPr>
        <p:txBody>
          <a:bodyPr anchor="ct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r>
              <a:rPr lang="zh-CN" altLang="en-US" sz="1000" b="1"/>
              <a:t>安全硬件</a:t>
            </a:r>
            <a:r>
              <a:rPr lang="en-US" altLang="zh-CN" sz="1000" b="1"/>
              <a:t>(</a:t>
            </a:r>
            <a:r>
              <a:rPr lang="zh-CN" altLang="en-US" sz="1000" b="1"/>
              <a:t>例：可信计算</a:t>
            </a:r>
            <a:r>
              <a:rPr lang="en-US" altLang="zh-CN" sz="1000" b="1"/>
              <a:t>)</a:t>
            </a:r>
            <a:r>
              <a:rPr lang="zh-CN" altLang="en-US" sz="1000" b="1"/>
              <a:t>等</a:t>
            </a:r>
          </a:p>
        </p:txBody>
      </p:sp>
      <p:sp>
        <p:nvSpPr>
          <p:cNvPr id="13326" name="内容占位符 3">
            <a:extLst>
              <a:ext uri="{FF2B5EF4-FFF2-40B4-BE49-F238E27FC236}">
                <a16:creationId xmlns:a16="http://schemas.microsoft.com/office/drawing/2014/main" id="{FCCDB110-1859-4D74-91D1-0ED9C247C293}"/>
              </a:ext>
            </a:extLst>
          </p:cNvPr>
          <p:cNvSpPr txBox="1">
            <a:spLocks/>
          </p:cNvSpPr>
          <p:nvPr/>
        </p:nvSpPr>
        <p:spPr bwMode="auto">
          <a:xfrm>
            <a:off x="4289425" y="2016125"/>
            <a:ext cx="3889375" cy="21605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endParaRPr lang="zh-CN" altLang="en-US" sz="1000" b="1"/>
          </a:p>
        </p:txBody>
      </p:sp>
      <p:sp>
        <p:nvSpPr>
          <p:cNvPr id="13327" name="内容占位符 3">
            <a:extLst>
              <a:ext uri="{FF2B5EF4-FFF2-40B4-BE49-F238E27FC236}">
                <a16:creationId xmlns:a16="http://schemas.microsoft.com/office/drawing/2014/main" id="{148CC92D-40C8-40C4-B057-4B35799BDE16}"/>
              </a:ext>
            </a:extLst>
          </p:cNvPr>
          <p:cNvSpPr txBox="1">
            <a:spLocks/>
          </p:cNvSpPr>
          <p:nvPr/>
        </p:nvSpPr>
        <p:spPr bwMode="auto">
          <a:xfrm>
            <a:off x="4294188" y="2024063"/>
            <a:ext cx="388461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dash"/>
                <a:miter lim="800000"/>
                <a:headEnd/>
                <a:tailEnd/>
              </a14:hiddenLine>
            </a:ext>
          </a:extLst>
        </p:spPr>
        <p:txBody>
          <a:bodyPr anchor="ct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r>
              <a:rPr lang="zh-CN" altLang="en-US" sz="1000" b="1"/>
              <a:t>防火墙、入侵检测、</a:t>
            </a:r>
            <a:r>
              <a:rPr lang="en-US" altLang="zh-CN" sz="1000" b="1"/>
              <a:t>VPN</a:t>
            </a:r>
            <a:r>
              <a:rPr lang="zh-CN" altLang="en-US" sz="1000" b="1"/>
              <a:t>、网络协议等</a:t>
            </a:r>
          </a:p>
        </p:txBody>
      </p:sp>
      <p:sp>
        <p:nvSpPr>
          <p:cNvPr id="13328" name="内容占位符 3">
            <a:extLst>
              <a:ext uri="{FF2B5EF4-FFF2-40B4-BE49-F238E27FC236}">
                <a16:creationId xmlns:a16="http://schemas.microsoft.com/office/drawing/2014/main" id="{AA241AA6-AE7A-4241-B43C-2B713C1F2140}"/>
              </a:ext>
            </a:extLst>
          </p:cNvPr>
          <p:cNvSpPr txBox="1">
            <a:spLocks/>
          </p:cNvSpPr>
          <p:nvPr/>
        </p:nvSpPr>
        <p:spPr bwMode="auto">
          <a:xfrm>
            <a:off x="4284663" y="3463925"/>
            <a:ext cx="3884612" cy="704850"/>
          </a:xfrm>
          <a:prstGeom prst="rect">
            <a:avLst/>
          </a:prstGeom>
          <a:solidFill>
            <a:srgbClr val="FFFF00"/>
          </a:solidFill>
          <a:ln>
            <a:noFill/>
          </a:ln>
          <a:extLst>
            <a:ext uri="{91240B29-F687-4F45-9708-019B960494DF}">
              <a14:hiddenLine xmlns:a14="http://schemas.microsoft.com/office/drawing/2010/main" w="12700">
                <a:solidFill>
                  <a:srgbClr val="000000"/>
                </a:solidFill>
                <a:prstDash val="dash"/>
                <a:miter lim="800000"/>
                <a:headEnd/>
                <a:tailEnd/>
              </a14:hiddenLine>
            </a:ext>
          </a:extLst>
        </p:spPr>
        <p:txBody>
          <a:bodyPr anchor="ct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r>
              <a:rPr lang="zh-CN" altLang="en-US" sz="1000" b="1"/>
              <a:t>身份认证、访问控制、安全审计等</a:t>
            </a:r>
          </a:p>
        </p:txBody>
      </p:sp>
      <p:sp>
        <p:nvSpPr>
          <p:cNvPr id="13329" name="内容占位符 3">
            <a:extLst>
              <a:ext uri="{FF2B5EF4-FFF2-40B4-BE49-F238E27FC236}">
                <a16:creationId xmlns:a16="http://schemas.microsoft.com/office/drawing/2014/main" id="{F5EA373D-FA77-4CD9-837B-C394346A1DB5}"/>
              </a:ext>
            </a:extLst>
          </p:cNvPr>
          <p:cNvSpPr txBox="1">
            <a:spLocks/>
          </p:cNvSpPr>
          <p:nvPr/>
        </p:nvSpPr>
        <p:spPr bwMode="auto">
          <a:xfrm>
            <a:off x="4330700" y="3060700"/>
            <a:ext cx="38608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dash"/>
                <a:miter lim="800000"/>
                <a:headEnd/>
                <a:tailEnd/>
              </a14:hiddenLine>
            </a:ext>
          </a:extLst>
        </p:spPr>
        <p:txBody>
          <a:bodyPr anchor="ct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r>
              <a:rPr lang="zh-CN" altLang="en-US" sz="1000" b="1"/>
              <a:t>数据库安全、漏洞扫描、恶意代码防护等</a:t>
            </a:r>
          </a:p>
        </p:txBody>
      </p:sp>
      <p:sp>
        <p:nvSpPr>
          <p:cNvPr id="13330" name="下箭头 16">
            <a:extLst>
              <a:ext uri="{FF2B5EF4-FFF2-40B4-BE49-F238E27FC236}">
                <a16:creationId xmlns:a16="http://schemas.microsoft.com/office/drawing/2014/main" id="{A96A3ADC-C834-4F0B-9EF3-BBE774376968}"/>
              </a:ext>
            </a:extLst>
          </p:cNvPr>
          <p:cNvSpPr>
            <a:spLocks noChangeArrowheads="1"/>
          </p:cNvSpPr>
          <p:nvPr/>
        </p:nvSpPr>
        <p:spPr bwMode="auto">
          <a:xfrm flipV="1">
            <a:off x="1912938" y="1577975"/>
            <a:ext cx="642937" cy="436563"/>
          </a:xfrm>
          <a:prstGeom prst="downArrow">
            <a:avLst>
              <a:gd name="adj1" fmla="val 50000"/>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wrap="none"/>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buFontTx/>
              <a:buNone/>
            </a:pPr>
            <a:endParaRPr lang="zh-CN" altLang="en-US" sz="1400" b="1"/>
          </a:p>
        </p:txBody>
      </p:sp>
      <p:sp>
        <p:nvSpPr>
          <p:cNvPr id="13331" name="下箭头 17">
            <a:extLst>
              <a:ext uri="{FF2B5EF4-FFF2-40B4-BE49-F238E27FC236}">
                <a16:creationId xmlns:a16="http://schemas.microsoft.com/office/drawing/2014/main" id="{DA9A781C-E6DA-4F45-A680-EFF792BA1D4A}"/>
              </a:ext>
            </a:extLst>
          </p:cNvPr>
          <p:cNvSpPr>
            <a:spLocks noChangeArrowheads="1"/>
          </p:cNvSpPr>
          <p:nvPr/>
        </p:nvSpPr>
        <p:spPr bwMode="auto">
          <a:xfrm flipV="1">
            <a:off x="3136900" y="1577975"/>
            <a:ext cx="642938" cy="436563"/>
          </a:xfrm>
          <a:prstGeom prst="downArrow">
            <a:avLst>
              <a:gd name="adj1" fmla="val 50000"/>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wrap="none"/>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buFontTx/>
              <a:buNone/>
            </a:pPr>
            <a:endParaRPr lang="zh-CN" altLang="en-US" sz="1200" b="1"/>
          </a:p>
        </p:txBody>
      </p:sp>
      <p:sp>
        <p:nvSpPr>
          <p:cNvPr id="13332" name="下箭头 18">
            <a:extLst>
              <a:ext uri="{FF2B5EF4-FFF2-40B4-BE49-F238E27FC236}">
                <a16:creationId xmlns:a16="http://schemas.microsoft.com/office/drawing/2014/main" id="{60AC5052-B8B3-423B-AB19-AE9A3F4CFB0D}"/>
              </a:ext>
            </a:extLst>
          </p:cNvPr>
          <p:cNvSpPr>
            <a:spLocks noChangeArrowheads="1"/>
          </p:cNvSpPr>
          <p:nvPr/>
        </p:nvSpPr>
        <p:spPr bwMode="auto">
          <a:xfrm flipV="1">
            <a:off x="5867400" y="1577975"/>
            <a:ext cx="642938" cy="436563"/>
          </a:xfrm>
          <a:prstGeom prst="downArrow">
            <a:avLst>
              <a:gd name="adj1" fmla="val 50000"/>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wrap="none"/>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buFontTx/>
              <a:buNone/>
            </a:pPr>
            <a:endParaRPr lang="zh-CN" altLang="en-US" sz="1200" b="1"/>
          </a:p>
        </p:txBody>
      </p:sp>
      <p:sp>
        <p:nvSpPr>
          <p:cNvPr id="13333" name="内容占位符 3">
            <a:extLst>
              <a:ext uri="{FF2B5EF4-FFF2-40B4-BE49-F238E27FC236}">
                <a16:creationId xmlns:a16="http://schemas.microsoft.com/office/drawing/2014/main" id="{8B9C42F6-56A9-45A9-B9AC-C415D7121213}"/>
              </a:ext>
            </a:extLst>
          </p:cNvPr>
          <p:cNvSpPr txBox="1">
            <a:spLocks/>
          </p:cNvSpPr>
          <p:nvPr/>
        </p:nvSpPr>
        <p:spPr bwMode="auto">
          <a:xfrm>
            <a:off x="4294188" y="2376488"/>
            <a:ext cx="388461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dash"/>
                <a:miter lim="800000"/>
                <a:headEnd/>
                <a:tailEnd/>
              </a14:hiddenLine>
            </a:ext>
          </a:extLst>
        </p:spPr>
        <p:txBody>
          <a:bodyPr anchor="ct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r>
              <a:rPr lang="zh-CN" altLang="en-US" sz="1000" b="1"/>
              <a:t>容灾备份、数据加密、信息隐藏、隐私保护等</a:t>
            </a:r>
          </a:p>
        </p:txBody>
      </p:sp>
      <p:sp>
        <p:nvSpPr>
          <p:cNvPr id="13334" name="Line 22">
            <a:extLst>
              <a:ext uri="{FF2B5EF4-FFF2-40B4-BE49-F238E27FC236}">
                <a16:creationId xmlns:a16="http://schemas.microsoft.com/office/drawing/2014/main" id="{5F00A0D6-9835-46FD-B6FB-20EB4E5ADD1F}"/>
              </a:ext>
            </a:extLst>
          </p:cNvPr>
          <p:cNvSpPr>
            <a:spLocks noChangeShapeType="1"/>
          </p:cNvSpPr>
          <p:nvPr/>
        </p:nvSpPr>
        <p:spPr bwMode="auto">
          <a:xfrm>
            <a:off x="4294188" y="2400300"/>
            <a:ext cx="3884612" cy="158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5" name="Line 23">
            <a:extLst>
              <a:ext uri="{FF2B5EF4-FFF2-40B4-BE49-F238E27FC236}">
                <a16:creationId xmlns:a16="http://schemas.microsoft.com/office/drawing/2014/main" id="{F5B9E1C7-F2BD-4094-9DFB-1B0B9397D409}"/>
              </a:ext>
            </a:extLst>
          </p:cNvPr>
          <p:cNvSpPr>
            <a:spLocks noChangeShapeType="1"/>
          </p:cNvSpPr>
          <p:nvPr/>
        </p:nvSpPr>
        <p:spPr bwMode="auto">
          <a:xfrm>
            <a:off x="4294188" y="2968625"/>
            <a:ext cx="3884612" cy="158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6" name="Line 24">
            <a:extLst>
              <a:ext uri="{FF2B5EF4-FFF2-40B4-BE49-F238E27FC236}">
                <a16:creationId xmlns:a16="http://schemas.microsoft.com/office/drawing/2014/main" id="{B89A7256-C4F9-4E5D-8EC3-9D926F042C55}"/>
              </a:ext>
            </a:extLst>
          </p:cNvPr>
          <p:cNvSpPr>
            <a:spLocks noChangeShapeType="1"/>
          </p:cNvSpPr>
          <p:nvPr/>
        </p:nvSpPr>
        <p:spPr bwMode="auto">
          <a:xfrm>
            <a:off x="4279900" y="3455988"/>
            <a:ext cx="3884613"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7" name="内容占位符 3">
            <a:extLst>
              <a:ext uri="{FF2B5EF4-FFF2-40B4-BE49-F238E27FC236}">
                <a16:creationId xmlns:a16="http://schemas.microsoft.com/office/drawing/2014/main" id="{BB36E7C6-1DD9-484D-A9F7-BA35B4F7771A}"/>
              </a:ext>
            </a:extLst>
          </p:cNvPr>
          <p:cNvSpPr txBox="1">
            <a:spLocks/>
          </p:cNvSpPr>
          <p:nvPr/>
        </p:nvSpPr>
        <p:spPr bwMode="auto">
          <a:xfrm>
            <a:off x="1920875" y="2014538"/>
            <a:ext cx="647700" cy="2736850"/>
          </a:xfrm>
          <a:prstGeom prst="rect">
            <a:avLst/>
          </a:prstGeom>
          <a:solidFill>
            <a:srgbClr val="FFFF00"/>
          </a:solidFill>
          <a:ln w="12700">
            <a:solidFill>
              <a:schemeClr val="tx1"/>
            </a:solidFill>
            <a:miter lim="800000"/>
            <a:headEnd/>
            <a:tailEnd/>
          </a:ln>
        </p:spPr>
        <p:txBody>
          <a:bodyPr anchor="ct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r>
              <a:rPr lang="zh-CN" altLang="en-US" b="1">
                <a:solidFill>
                  <a:srgbClr val="FF0000"/>
                </a:solidFill>
              </a:rPr>
              <a:t>密</a:t>
            </a:r>
          </a:p>
          <a:p>
            <a:pPr algn="ctr" eaLnBrk="1" hangingPunct="1">
              <a:buFont typeface="Wingdings" panose="05000000000000000000" pitchFamily="2" charset="2"/>
              <a:buNone/>
            </a:pPr>
            <a:r>
              <a:rPr lang="zh-CN" altLang="en-US" b="1">
                <a:solidFill>
                  <a:srgbClr val="FF0000"/>
                </a:solidFill>
              </a:rPr>
              <a:t>码</a:t>
            </a:r>
          </a:p>
          <a:p>
            <a:pPr algn="ctr" eaLnBrk="1" hangingPunct="1">
              <a:buFont typeface="Wingdings" panose="05000000000000000000" pitchFamily="2" charset="2"/>
              <a:buNone/>
            </a:pPr>
            <a:r>
              <a:rPr lang="zh-CN" altLang="en-US" b="1">
                <a:solidFill>
                  <a:srgbClr val="FF0000"/>
                </a:solidFill>
              </a:rPr>
              <a:t>学</a:t>
            </a:r>
          </a:p>
          <a:p>
            <a:pPr algn="ctr" eaLnBrk="1" hangingPunct="1">
              <a:buFont typeface="Wingdings" panose="05000000000000000000" pitchFamily="2" charset="2"/>
              <a:buNone/>
            </a:pPr>
            <a:r>
              <a:rPr lang="en-US" altLang="zh-CN" sz="1400" b="1">
                <a:solidFill>
                  <a:srgbClr val="0033CC"/>
                </a:solidFill>
              </a:rPr>
              <a:t>(</a:t>
            </a:r>
            <a:r>
              <a:rPr lang="zh-CN" altLang="en-US" sz="1400" b="1">
                <a:solidFill>
                  <a:srgbClr val="0033CC"/>
                </a:solidFill>
              </a:rPr>
              <a:t>关键</a:t>
            </a:r>
          </a:p>
          <a:p>
            <a:pPr algn="ctr" eaLnBrk="1" hangingPunct="1">
              <a:buFont typeface="Wingdings" panose="05000000000000000000" pitchFamily="2" charset="2"/>
              <a:buNone/>
            </a:pPr>
            <a:r>
              <a:rPr lang="zh-CN" altLang="en-US" sz="1400" b="1">
                <a:solidFill>
                  <a:srgbClr val="0033CC"/>
                </a:solidFill>
              </a:rPr>
              <a:t>技术</a:t>
            </a:r>
            <a:r>
              <a:rPr lang="en-US" altLang="zh-CN" sz="1400" b="1">
                <a:solidFill>
                  <a:srgbClr val="0033CC"/>
                </a:solidFill>
              </a:rPr>
              <a:t>)</a:t>
            </a:r>
          </a:p>
        </p:txBody>
      </p:sp>
      <p:sp>
        <p:nvSpPr>
          <p:cNvPr id="13338" name="内容占位符 3">
            <a:extLst>
              <a:ext uri="{FF2B5EF4-FFF2-40B4-BE49-F238E27FC236}">
                <a16:creationId xmlns:a16="http://schemas.microsoft.com/office/drawing/2014/main" id="{066F3D19-4E88-4F94-9F89-4C8FCC70845E}"/>
              </a:ext>
            </a:extLst>
          </p:cNvPr>
          <p:cNvSpPr txBox="1">
            <a:spLocks/>
          </p:cNvSpPr>
          <p:nvPr/>
        </p:nvSpPr>
        <p:spPr bwMode="auto">
          <a:xfrm>
            <a:off x="8172450" y="2020888"/>
            <a:ext cx="571500" cy="2736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nchor="ct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buFont typeface="Wingdings" panose="05000000000000000000" pitchFamily="2" charset="2"/>
              <a:buNone/>
            </a:pPr>
            <a:r>
              <a:rPr lang="zh-CN" altLang="en-US" sz="1000" b="1"/>
              <a:t>管理层：法律、法规</a:t>
            </a:r>
          </a:p>
        </p:txBody>
      </p:sp>
      <p:sp>
        <p:nvSpPr>
          <p:cNvPr id="13339" name="下箭头 18">
            <a:extLst>
              <a:ext uri="{FF2B5EF4-FFF2-40B4-BE49-F238E27FC236}">
                <a16:creationId xmlns:a16="http://schemas.microsoft.com/office/drawing/2014/main" id="{93B05292-B6A9-409A-ABF5-9ED1EA8E84D5}"/>
              </a:ext>
            </a:extLst>
          </p:cNvPr>
          <p:cNvSpPr>
            <a:spLocks noChangeArrowheads="1"/>
          </p:cNvSpPr>
          <p:nvPr/>
        </p:nvSpPr>
        <p:spPr bwMode="auto">
          <a:xfrm flipV="1">
            <a:off x="8140700" y="1576388"/>
            <a:ext cx="642938" cy="436562"/>
          </a:xfrm>
          <a:prstGeom prst="downArrow">
            <a:avLst>
              <a:gd name="adj1" fmla="val 50000"/>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wrap="none"/>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buFontTx/>
              <a:buNone/>
            </a:pPr>
            <a:endParaRPr lang="zh-CN" altLang="en-US" sz="1200" b="1"/>
          </a:p>
        </p:txBody>
      </p:sp>
      <p:sp>
        <p:nvSpPr>
          <p:cNvPr id="2" name="对话气泡: 圆角矩形 1">
            <a:extLst>
              <a:ext uri="{FF2B5EF4-FFF2-40B4-BE49-F238E27FC236}">
                <a16:creationId xmlns:a16="http://schemas.microsoft.com/office/drawing/2014/main" id="{ECED96CC-83B2-4DF8-94D9-B5441F7A90C8}"/>
              </a:ext>
            </a:extLst>
          </p:cNvPr>
          <p:cNvSpPr/>
          <p:nvPr/>
        </p:nvSpPr>
        <p:spPr bwMode="auto">
          <a:xfrm>
            <a:off x="7524328" y="771550"/>
            <a:ext cx="1512168" cy="949300"/>
          </a:xfrm>
          <a:prstGeom prst="wedgeRoundRectCallout">
            <a:avLst>
              <a:gd name="adj1" fmla="val 13325"/>
              <a:gd name="adj2" fmla="val 223530"/>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dirty="0">
                <a:ln>
                  <a:noFill/>
                </a:ln>
                <a:solidFill>
                  <a:srgbClr val="FF0000"/>
                </a:solidFill>
                <a:effectLst/>
                <a:latin typeface="Arial" pitchFamily="34" charset="0"/>
                <a:ea typeface="微软雅黑" pitchFamily="34" charset="-122"/>
              </a:rPr>
              <a:t>《</a:t>
            </a:r>
            <a:r>
              <a:rPr kumimoji="0" lang="zh-CN" altLang="en-US" sz="1000" b="1" i="0" u="none" strike="noStrike" cap="none" normalizeH="0" baseline="0" dirty="0">
                <a:ln>
                  <a:noFill/>
                </a:ln>
                <a:solidFill>
                  <a:srgbClr val="FF0000"/>
                </a:solidFill>
                <a:effectLst/>
                <a:latin typeface="Arial" pitchFamily="34" charset="0"/>
                <a:ea typeface="微软雅黑" pitchFamily="34" charset="-122"/>
              </a:rPr>
              <a:t>中华人民共和国</a:t>
            </a:r>
            <a:endParaRPr kumimoji="0" lang="en-US" altLang="zh-CN" sz="1000" b="1" i="0" u="none" strike="noStrike" cap="none" normalizeH="0" baseline="0" dirty="0">
              <a:ln>
                <a:noFill/>
              </a:ln>
              <a:solidFill>
                <a:srgbClr val="FF0000"/>
              </a:solidFill>
              <a:effectLst/>
              <a:latin typeface="Arial" pitchFamily="34" charset="0"/>
              <a:ea typeface="微软雅黑" pitchFamily="34"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dirty="0">
                <a:ln>
                  <a:noFill/>
                </a:ln>
                <a:solidFill>
                  <a:srgbClr val="FF0000"/>
                </a:solidFill>
                <a:effectLst/>
                <a:latin typeface="Arial" pitchFamily="34" charset="0"/>
                <a:ea typeface="微软雅黑" pitchFamily="34" charset="-122"/>
              </a:rPr>
              <a:t>数据安全法</a:t>
            </a:r>
            <a:r>
              <a:rPr kumimoji="0" lang="en-US" altLang="zh-CN" sz="1000" b="1" i="0" u="none" strike="noStrike" cap="none" normalizeH="0" baseline="0" dirty="0">
                <a:ln>
                  <a:noFill/>
                </a:ln>
                <a:solidFill>
                  <a:srgbClr val="FF0000"/>
                </a:solidFill>
                <a:effectLst/>
                <a:latin typeface="Arial" pitchFamily="34" charset="0"/>
                <a:ea typeface="微软雅黑" pitchFamily="34" charset="-122"/>
              </a:rPr>
              <a:t>》</a:t>
            </a:r>
          </a:p>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dirty="0">
                <a:ln>
                  <a:noFill/>
                </a:ln>
                <a:solidFill>
                  <a:srgbClr val="FF0000"/>
                </a:solidFill>
                <a:effectLst/>
                <a:latin typeface="Arial" pitchFamily="34" charset="0"/>
                <a:ea typeface="微软雅黑" pitchFamily="34" charset="-122"/>
              </a:rPr>
              <a:t>《</a:t>
            </a:r>
            <a:r>
              <a:rPr kumimoji="0" lang="zh-CN" altLang="en-US" sz="1000" b="1" i="0" u="none" strike="noStrike" cap="none" normalizeH="0" baseline="0" dirty="0">
                <a:ln>
                  <a:noFill/>
                </a:ln>
                <a:solidFill>
                  <a:srgbClr val="FF0000"/>
                </a:solidFill>
                <a:effectLst/>
                <a:latin typeface="Arial" pitchFamily="34" charset="0"/>
                <a:ea typeface="微软雅黑" pitchFamily="34" charset="-122"/>
              </a:rPr>
              <a:t>中华人民共和国</a:t>
            </a:r>
            <a:endParaRPr kumimoji="0" lang="en-US" altLang="zh-CN" sz="1000" b="1" i="0" u="none" strike="noStrike" cap="none" normalizeH="0" baseline="0" dirty="0">
              <a:ln>
                <a:noFill/>
              </a:ln>
              <a:solidFill>
                <a:srgbClr val="FF0000"/>
              </a:solidFill>
              <a:effectLst/>
              <a:latin typeface="Arial" pitchFamily="34" charset="0"/>
              <a:ea typeface="微软雅黑" pitchFamily="34"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dirty="0">
                <a:ln>
                  <a:noFill/>
                </a:ln>
                <a:solidFill>
                  <a:srgbClr val="FF0000"/>
                </a:solidFill>
                <a:effectLst/>
                <a:latin typeface="Arial" pitchFamily="34" charset="0"/>
                <a:ea typeface="微软雅黑" pitchFamily="34" charset="-122"/>
              </a:rPr>
              <a:t>个人信息保护法</a:t>
            </a:r>
            <a:r>
              <a:rPr kumimoji="0" lang="en-US" altLang="zh-CN" sz="1000" b="1" i="0" u="none" strike="noStrike" cap="none" normalizeH="0" baseline="0" dirty="0">
                <a:ln>
                  <a:noFill/>
                </a:ln>
                <a:solidFill>
                  <a:srgbClr val="FF0000"/>
                </a:solidFill>
                <a:effectLst/>
                <a:latin typeface="Arial" pitchFamily="34" charset="0"/>
                <a:ea typeface="微软雅黑" pitchFamily="34" charset="-122"/>
              </a:rPr>
              <a:t>》</a:t>
            </a:r>
            <a:endParaRPr kumimoji="0" lang="zh-CN" altLang="en-US" sz="1000" b="1" i="0" u="none" strike="noStrike" cap="none" normalizeH="0" baseline="0" dirty="0">
              <a:ln>
                <a:noFill/>
              </a:ln>
              <a:solidFill>
                <a:srgbClr val="FF0000"/>
              </a:solidFill>
              <a:effectLst/>
              <a:latin typeface="Arial" pitchFamily="34" charset="0"/>
              <a:ea typeface="微软雅黑" pitchFamily="34" charset="-122"/>
            </a:endParaRP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3318"/>
                                        </p:tgtEl>
                                        <p:attrNameLst>
                                          <p:attrName>style.visibility</p:attrName>
                                        </p:attrNameLst>
                                      </p:cBhvr>
                                      <p:to>
                                        <p:strVal val="visible"/>
                                      </p:to>
                                    </p:set>
                                    <p:animEffect transition="in" filter="blinds(horizontal)">
                                      <p:cBhvr>
                                        <p:cTn id="7" dur="500"/>
                                        <p:tgtEl>
                                          <p:spTgt spid="1331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320"/>
                                        </p:tgtEl>
                                        <p:attrNameLst>
                                          <p:attrName>style.visibility</p:attrName>
                                        </p:attrNameLst>
                                      </p:cBhvr>
                                      <p:to>
                                        <p:strVal val="visible"/>
                                      </p:to>
                                    </p:set>
                                    <p:animEffect transition="in" filter="blinds(horizontal)">
                                      <p:cBhvr>
                                        <p:cTn id="10" dur="500"/>
                                        <p:tgtEl>
                                          <p:spTgt spid="1332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3321"/>
                                        </p:tgtEl>
                                        <p:attrNameLst>
                                          <p:attrName>style.visibility</p:attrName>
                                        </p:attrNameLst>
                                      </p:cBhvr>
                                      <p:to>
                                        <p:strVal val="visible"/>
                                      </p:to>
                                    </p:set>
                                    <p:animEffect transition="in" filter="blinds(horizontal)">
                                      <p:cBhvr>
                                        <p:cTn id="13" dur="500"/>
                                        <p:tgtEl>
                                          <p:spTgt spid="1332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3322"/>
                                        </p:tgtEl>
                                        <p:attrNameLst>
                                          <p:attrName>style.visibility</p:attrName>
                                        </p:attrNameLst>
                                      </p:cBhvr>
                                      <p:to>
                                        <p:strVal val="visible"/>
                                      </p:to>
                                    </p:set>
                                    <p:animEffect transition="in" filter="blinds(horizontal)">
                                      <p:cBhvr>
                                        <p:cTn id="16" dur="500"/>
                                        <p:tgtEl>
                                          <p:spTgt spid="13322"/>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3323"/>
                                        </p:tgtEl>
                                        <p:attrNameLst>
                                          <p:attrName>style.visibility</p:attrName>
                                        </p:attrNameLst>
                                      </p:cBhvr>
                                      <p:to>
                                        <p:strVal val="visible"/>
                                      </p:to>
                                    </p:set>
                                    <p:animEffect transition="in" filter="blinds(horizontal)">
                                      <p:cBhvr>
                                        <p:cTn id="19" dur="500"/>
                                        <p:tgtEl>
                                          <p:spTgt spid="13323"/>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3324"/>
                                        </p:tgtEl>
                                        <p:attrNameLst>
                                          <p:attrName>style.visibility</p:attrName>
                                        </p:attrNameLst>
                                      </p:cBhvr>
                                      <p:to>
                                        <p:strVal val="visible"/>
                                      </p:to>
                                    </p:set>
                                    <p:animEffect transition="in" filter="blinds(horizontal)">
                                      <p:cBhvr>
                                        <p:cTn id="22" dur="500"/>
                                        <p:tgtEl>
                                          <p:spTgt spid="13324"/>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3325"/>
                                        </p:tgtEl>
                                        <p:attrNameLst>
                                          <p:attrName>style.visibility</p:attrName>
                                        </p:attrNameLst>
                                      </p:cBhvr>
                                      <p:to>
                                        <p:strVal val="visible"/>
                                      </p:to>
                                    </p:set>
                                    <p:animEffect transition="in" filter="blinds(horizontal)">
                                      <p:cBhvr>
                                        <p:cTn id="25" dur="500"/>
                                        <p:tgtEl>
                                          <p:spTgt spid="13325"/>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338"/>
                                        </p:tgtEl>
                                        <p:attrNameLst>
                                          <p:attrName>style.visibility</p:attrName>
                                        </p:attrNameLst>
                                      </p:cBhvr>
                                      <p:to>
                                        <p:strVal val="visible"/>
                                      </p:to>
                                    </p:set>
                                    <p:animEffect transition="in" filter="blinds(horizontal)">
                                      <p:cBhvr>
                                        <p:cTn id="28" dur="500"/>
                                        <p:tgtEl>
                                          <p:spTgt spid="13338"/>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3326"/>
                                        </p:tgtEl>
                                        <p:attrNameLst>
                                          <p:attrName>style.visibility</p:attrName>
                                        </p:attrNameLst>
                                      </p:cBhvr>
                                      <p:to>
                                        <p:strVal val="visible"/>
                                      </p:to>
                                    </p:set>
                                    <p:animEffect transition="in" filter="blinds(horizontal)">
                                      <p:cBhvr>
                                        <p:cTn id="31" dur="500"/>
                                        <p:tgtEl>
                                          <p:spTgt spid="13326"/>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3327"/>
                                        </p:tgtEl>
                                        <p:attrNameLst>
                                          <p:attrName>style.visibility</p:attrName>
                                        </p:attrNameLst>
                                      </p:cBhvr>
                                      <p:to>
                                        <p:strVal val="visible"/>
                                      </p:to>
                                    </p:set>
                                    <p:animEffect transition="in" filter="blinds(horizontal)">
                                      <p:cBhvr>
                                        <p:cTn id="34" dur="500"/>
                                        <p:tgtEl>
                                          <p:spTgt spid="13327"/>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3328"/>
                                        </p:tgtEl>
                                        <p:attrNameLst>
                                          <p:attrName>style.visibility</p:attrName>
                                        </p:attrNameLst>
                                      </p:cBhvr>
                                      <p:to>
                                        <p:strVal val="visible"/>
                                      </p:to>
                                    </p:set>
                                    <p:animEffect transition="in" filter="blinds(horizontal)">
                                      <p:cBhvr>
                                        <p:cTn id="37" dur="500"/>
                                        <p:tgtEl>
                                          <p:spTgt spid="13328"/>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3329"/>
                                        </p:tgtEl>
                                        <p:attrNameLst>
                                          <p:attrName>style.visibility</p:attrName>
                                        </p:attrNameLst>
                                      </p:cBhvr>
                                      <p:to>
                                        <p:strVal val="visible"/>
                                      </p:to>
                                    </p:set>
                                    <p:animEffect transition="in" filter="blinds(horizontal)">
                                      <p:cBhvr>
                                        <p:cTn id="40" dur="500"/>
                                        <p:tgtEl>
                                          <p:spTgt spid="13329"/>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3330"/>
                                        </p:tgtEl>
                                        <p:attrNameLst>
                                          <p:attrName>style.visibility</p:attrName>
                                        </p:attrNameLst>
                                      </p:cBhvr>
                                      <p:to>
                                        <p:strVal val="visible"/>
                                      </p:to>
                                    </p:set>
                                    <p:animEffect transition="in" filter="blinds(horizontal)">
                                      <p:cBhvr>
                                        <p:cTn id="43" dur="500"/>
                                        <p:tgtEl>
                                          <p:spTgt spid="13330"/>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3331"/>
                                        </p:tgtEl>
                                        <p:attrNameLst>
                                          <p:attrName>style.visibility</p:attrName>
                                        </p:attrNameLst>
                                      </p:cBhvr>
                                      <p:to>
                                        <p:strVal val="visible"/>
                                      </p:to>
                                    </p:set>
                                    <p:animEffect transition="in" filter="blinds(horizontal)">
                                      <p:cBhvr>
                                        <p:cTn id="46" dur="500"/>
                                        <p:tgtEl>
                                          <p:spTgt spid="13331"/>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3332"/>
                                        </p:tgtEl>
                                        <p:attrNameLst>
                                          <p:attrName>style.visibility</p:attrName>
                                        </p:attrNameLst>
                                      </p:cBhvr>
                                      <p:to>
                                        <p:strVal val="visible"/>
                                      </p:to>
                                    </p:set>
                                    <p:animEffect transition="in" filter="blinds(horizontal)">
                                      <p:cBhvr>
                                        <p:cTn id="49" dur="500"/>
                                        <p:tgtEl>
                                          <p:spTgt spid="13332"/>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3333"/>
                                        </p:tgtEl>
                                        <p:attrNameLst>
                                          <p:attrName>style.visibility</p:attrName>
                                        </p:attrNameLst>
                                      </p:cBhvr>
                                      <p:to>
                                        <p:strVal val="visible"/>
                                      </p:to>
                                    </p:set>
                                    <p:animEffect transition="in" filter="blinds(horizontal)">
                                      <p:cBhvr>
                                        <p:cTn id="52" dur="500"/>
                                        <p:tgtEl>
                                          <p:spTgt spid="13333"/>
                                        </p:tgtEl>
                                      </p:cBhvr>
                                    </p:animEffect>
                                  </p:childTnLst>
                                </p:cTn>
                              </p:par>
                              <p:par>
                                <p:cTn id="53" presetID="3" presetClass="entr" presetSubtype="10" fill="hold" nodeType="withEffect">
                                  <p:stCondLst>
                                    <p:cond delay="0"/>
                                  </p:stCondLst>
                                  <p:childTnLst>
                                    <p:set>
                                      <p:cBhvr>
                                        <p:cTn id="54" dur="1" fill="hold">
                                          <p:stCondLst>
                                            <p:cond delay="0"/>
                                          </p:stCondLst>
                                        </p:cTn>
                                        <p:tgtEl>
                                          <p:spTgt spid="13334"/>
                                        </p:tgtEl>
                                        <p:attrNameLst>
                                          <p:attrName>style.visibility</p:attrName>
                                        </p:attrNameLst>
                                      </p:cBhvr>
                                      <p:to>
                                        <p:strVal val="visible"/>
                                      </p:to>
                                    </p:set>
                                    <p:animEffect transition="in" filter="blinds(horizontal)">
                                      <p:cBhvr>
                                        <p:cTn id="55" dur="500"/>
                                        <p:tgtEl>
                                          <p:spTgt spid="13334"/>
                                        </p:tgtEl>
                                      </p:cBhvr>
                                    </p:animEffect>
                                  </p:childTnLst>
                                </p:cTn>
                              </p:par>
                              <p:par>
                                <p:cTn id="56" presetID="3" presetClass="entr" presetSubtype="10" fill="hold" nodeType="withEffect">
                                  <p:stCondLst>
                                    <p:cond delay="0"/>
                                  </p:stCondLst>
                                  <p:childTnLst>
                                    <p:set>
                                      <p:cBhvr>
                                        <p:cTn id="57" dur="1" fill="hold">
                                          <p:stCondLst>
                                            <p:cond delay="0"/>
                                          </p:stCondLst>
                                        </p:cTn>
                                        <p:tgtEl>
                                          <p:spTgt spid="13335"/>
                                        </p:tgtEl>
                                        <p:attrNameLst>
                                          <p:attrName>style.visibility</p:attrName>
                                        </p:attrNameLst>
                                      </p:cBhvr>
                                      <p:to>
                                        <p:strVal val="visible"/>
                                      </p:to>
                                    </p:set>
                                    <p:animEffect transition="in" filter="blinds(horizontal)">
                                      <p:cBhvr>
                                        <p:cTn id="58" dur="500"/>
                                        <p:tgtEl>
                                          <p:spTgt spid="13335"/>
                                        </p:tgtEl>
                                      </p:cBhvr>
                                    </p:animEffect>
                                  </p:childTnLst>
                                </p:cTn>
                              </p:par>
                              <p:par>
                                <p:cTn id="59" presetID="3" presetClass="entr" presetSubtype="10" fill="hold" nodeType="withEffect">
                                  <p:stCondLst>
                                    <p:cond delay="0"/>
                                  </p:stCondLst>
                                  <p:childTnLst>
                                    <p:set>
                                      <p:cBhvr>
                                        <p:cTn id="60" dur="1" fill="hold">
                                          <p:stCondLst>
                                            <p:cond delay="0"/>
                                          </p:stCondLst>
                                        </p:cTn>
                                        <p:tgtEl>
                                          <p:spTgt spid="13336"/>
                                        </p:tgtEl>
                                        <p:attrNameLst>
                                          <p:attrName>style.visibility</p:attrName>
                                        </p:attrNameLst>
                                      </p:cBhvr>
                                      <p:to>
                                        <p:strVal val="visible"/>
                                      </p:to>
                                    </p:set>
                                    <p:animEffect transition="in" filter="blinds(horizontal)">
                                      <p:cBhvr>
                                        <p:cTn id="61" dur="500"/>
                                        <p:tgtEl>
                                          <p:spTgt spid="13336"/>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13337"/>
                                        </p:tgtEl>
                                        <p:attrNameLst>
                                          <p:attrName>style.visibility</p:attrName>
                                        </p:attrNameLst>
                                      </p:cBhvr>
                                      <p:to>
                                        <p:strVal val="visible"/>
                                      </p:to>
                                    </p:set>
                                    <p:animEffect transition="in" filter="blinds(horizontal)">
                                      <p:cBhvr>
                                        <p:cTn id="64" dur="500"/>
                                        <p:tgtEl>
                                          <p:spTgt spid="13337"/>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13339"/>
                                        </p:tgtEl>
                                        <p:attrNameLst>
                                          <p:attrName>style.visibility</p:attrName>
                                        </p:attrNameLst>
                                      </p:cBhvr>
                                      <p:to>
                                        <p:strVal val="visible"/>
                                      </p:to>
                                    </p:set>
                                    <p:animEffect transition="in" filter="blinds(horizontal)">
                                      <p:cBhvr>
                                        <p:cTn id="67" dur="500"/>
                                        <p:tgtEl>
                                          <p:spTgt spid="13339"/>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randombar(horizontal)">
                                      <p:cBhvr>
                                        <p:cTn id="7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animBg="1"/>
      <p:bldP spid="13320" grpId="0" animBg="1"/>
      <p:bldP spid="13321" grpId="0" animBg="1"/>
      <p:bldP spid="13322" grpId="0" animBg="1"/>
      <p:bldP spid="13323" grpId="0" animBg="1"/>
      <p:bldP spid="13324" grpId="0" animBg="1"/>
      <p:bldP spid="13325" grpId="0" animBg="1"/>
      <p:bldP spid="13326" grpId="0" animBg="1"/>
      <p:bldP spid="13327" grpId="0"/>
      <p:bldP spid="13328" grpId="0" animBg="1"/>
      <p:bldP spid="13329" grpId="0"/>
      <p:bldP spid="13330" grpId="0" animBg="1"/>
      <p:bldP spid="13331" grpId="0" animBg="1"/>
      <p:bldP spid="13332" grpId="0" animBg="1"/>
      <p:bldP spid="13333" grpId="0"/>
      <p:bldP spid="13337" grpId="0" animBg="1"/>
      <p:bldP spid="13338" grpId="0" animBg="1"/>
      <p:bldP spid="13339" grpId="0" animBg="1"/>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4BC93262-5627-4D5E-8497-DCA1D15B841A}"/>
              </a:ext>
            </a:extLst>
          </p:cNvPr>
          <p:cNvSpPr txBox="1">
            <a:spLocks/>
          </p:cNvSpPr>
          <p:nvPr/>
        </p:nvSpPr>
        <p:spPr bwMode="auto">
          <a:xfrm>
            <a:off x="214313" y="1285875"/>
            <a:ext cx="8715375"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r>
              <a:rPr lang="zh-CN" altLang="en-US" b="1"/>
              <a:t>信息安全的发展大体上可以分为以下几个方面。</a:t>
            </a:r>
            <a:endParaRPr lang="en-US" altLang="zh-CN" b="1"/>
          </a:p>
          <a:p>
            <a:pPr>
              <a:buFont typeface="Wingdings" panose="05000000000000000000" pitchFamily="2" charset="2"/>
              <a:buChar char="Ø"/>
            </a:pPr>
            <a:r>
              <a:rPr lang="zh-CN" altLang="en-US" sz="1400" b="1">
                <a:solidFill>
                  <a:srgbClr val="FF0000"/>
                </a:solidFill>
              </a:rPr>
              <a:t>（</a:t>
            </a:r>
            <a:r>
              <a:rPr lang="en-US" altLang="zh-CN" sz="1400" b="1">
                <a:solidFill>
                  <a:srgbClr val="FF0000"/>
                </a:solidFill>
              </a:rPr>
              <a:t>1</a:t>
            </a:r>
            <a:r>
              <a:rPr lang="zh-CN" altLang="en-US" sz="1400" b="1">
                <a:solidFill>
                  <a:srgbClr val="FF0000"/>
                </a:solidFill>
              </a:rPr>
              <a:t>）密码学</a:t>
            </a:r>
            <a:r>
              <a:rPr lang="zh-CN" altLang="en-US" sz="1400" b="1"/>
              <a:t>。</a:t>
            </a:r>
            <a:r>
              <a:rPr lang="zh-CN" altLang="en-US" sz="1400" b="1">
                <a:solidFill>
                  <a:srgbClr val="0033CC"/>
                </a:solidFill>
              </a:rPr>
              <a:t>密码学</a:t>
            </a:r>
            <a:r>
              <a:rPr lang="zh-CN" altLang="en-US" sz="1400" b="1">
                <a:solidFill>
                  <a:srgbClr val="FF0000"/>
                </a:solidFill>
              </a:rPr>
              <a:t>是研究</a:t>
            </a:r>
            <a:r>
              <a:rPr lang="zh-CN" altLang="en-US" sz="1400" b="1">
                <a:solidFill>
                  <a:srgbClr val="0033CC"/>
                </a:solidFill>
              </a:rPr>
              <a:t>编制密码</a:t>
            </a:r>
            <a:r>
              <a:rPr lang="zh-CN" altLang="en-US" sz="1400" b="1"/>
              <a:t>和</a:t>
            </a:r>
            <a:r>
              <a:rPr lang="zh-CN" altLang="en-US" sz="1400" b="1">
                <a:solidFill>
                  <a:srgbClr val="0033CC"/>
                </a:solidFill>
              </a:rPr>
              <a:t>破译密码</a:t>
            </a:r>
            <a:r>
              <a:rPr lang="zh-CN" altLang="en-US" sz="1400" b="1"/>
              <a:t>的</a:t>
            </a:r>
            <a:r>
              <a:rPr lang="zh-CN" altLang="en-US" sz="1400" b="1">
                <a:solidFill>
                  <a:srgbClr val="0033CC"/>
                </a:solidFill>
              </a:rPr>
              <a:t>技术科学</a:t>
            </a:r>
            <a:r>
              <a:rPr lang="zh-CN" altLang="en-US" sz="1400" b="1"/>
              <a:t>。研究密码变化的客观规律，应用于编制密码以保守通信秘密的，</a:t>
            </a:r>
            <a:r>
              <a:rPr lang="zh-CN" altLang="en-US" sz="1400" b="1">
                <a:solidFill>
                  <a:srgbClr val="FF0000"/>
                </a:solidFill>
              </a:rPr>
              <a:t>称为编码学</a:t>
            </a:r>
            <a:r>
              <a:rPr lang="zh-CN" altLang="en-US" sz="1400" b="1"/>
              <a:t>；应用于破译密码以获取通信情报的，</a:t>
            </a:r>
            <a:r>
              <a:rPr lang="zh-CN" altLang="en-US" sz="1400" b="1">
                <a:solidFill>
                  <a:srgbClr val="FF0000"/>
                </a:solidFill>
              </a:rPr>
              <a:t>称为破译学 </a:t>
            </a:r>
            <a:r>
              <a:rPr lang="en-US" altLang="zh-CN" sz="1400" b="1">
                <a:sym typeface="Wingdings" panose="05000000000000000000" pitchFamily="2" charset="2"/>
              </a:rPr>
              <a:t> </a:t>
            </a:r>
            <a:r>
              <a:rPr lang="zh-CN" altLang="en-US" sz="1400" b="1">
                <a:solidFill>
                  <a:srgbClr val="FF0000"/>
                </a:solidFill>
              </a:rPr>
              <a:t>总称密码学</a:t>
            </a:r>
            <a:r>
              <a:rPr lang="zh-CN" altLang="en-US" sz="1400" b="1"/>
              <a:t>。 </a:t>
            </a:r>
            <a:endParaRPr lang="en-US" altLang="zh-CN" sz="1400" b="1"/>
          </a:p>
          <a:p>
            <a:pPr>
              <a:buFont typeface="Wingdings" panose="05000000000000000000" pitchFamily="2" charset="2"/>
              <a:buChar char="Ø"/>
            </a:pPr>
            <a:r>
              <a:rPr lang="zh-CN" altLang="en-US" sz="1400" b="1">
                <a:solidFill>
                  <a:srgbClr val="FF0000"/>
                </a:solidFill>
              </a:rPr>
              <a:t>（</a:t>
            </a:r>
            <a:r>
              <a:rPr lang="en-US" altLang="zh-CN" sz="1400" b="1">
                <a:solidFill>
                  <a:srgbClr val="FF0000"/>
                </a:solidFill>
              </a:rPr>
              <a:t>2</a:t>
            </a:r>
            <a:r>
              <a:rPr lang="zh-CN" altLang="en-US" sz="1400" b="1">
                <a:solidFill>
                  <a:srgbClr val="FF0000"/>
                </a:solidFill>
              </a:rPr>
              <a:t>）物理安全</a:t>
            </a:r>
            <a:r>
              <a:rPr lang="zh-CN" altLang="en-US" sz="1400" b="1"/>
              <a:t>。早期的信息安全主要关注的是信息系统的物理安全，即整个系统所处的场所和环境的安全、设备和设施的安全，以及整个系统可靠运行等方面，这些都是信息系统安全运行的基本保障。</a:t>
            </a:r>
            <a:r>
              <a:rPr lang="zh-CN" altLang="en-US" sz="1400" b="1">
                <a:solidFill>
                  <a:srgbClr val="0033CC"/>
                </a:solidFill>
              </a:rPr>
              <a:t>物理安全</a:t>
            </a:r>
            <a:r>
              <a:rPr lang="zh-CN" altLang="en-US" sz="1400" b="1">
                <a:solidFill>
                  <a:srgbClr val="FF0000"/>
                </a:solidFill>
              </a:rPr>
              <a:t>是指通过</a:t>
            </a:r>
            <a:r>
              <a:rPr lang="zh-CN" altLang="en-US" sz="1400" b="1">
                <a:solidFill>
                  <a:srgbClr val="0033CC"/>
                </a:solidFill>
              </a:rPr>
              <a:t>设备访问控制</a:t>
            </a:r>
            <a:r>
              <a:rPr lang="zh-CN" altLang="en-US" sz="1400" b="1"/>
              <a:t>、</a:t>
            </a:r>
            <a:r>
              <a:rPr lang="zh-CN" altLang="en-US" sz="1400" b="1">
                <a:solidFill>
                  <a:srgbClr val="0033CC"/>
                </a:solidFill>
              </a:rPr>
              <a:t>边界保护</a:t>
            </a:r>
            <a:r>
              <a:rPr lang="zh-CN" altLang="en-US" sz="1400" b="1"/>
              <a:t>、</a:t>
            </a:r>
            <a:r>
              <a:rPr lang="zh-CN" altLang="en-US" sz="1400" b="1">
                <a:solidFill>
                  <a:srgbClr val="0033CC"/>
                </a:solidFill>
              </a:rPr>
              <a:t>设备及网络资源管理</a:t>
            </a:r>
            <a:r>
              <a:rPr lang="zh-CN" altLang="en-US" sz="1400" b="1"/>
              <a:t>等措施</a:t>
            </a:r>
            <a:r>
              <a:rPr lang="zh-CN" altLang="en-US" sz="1400" b="1">
                <a:solidFill>
                  <a:srgbClr val="FF0000"/>
                </a:solidFill>
              </a:rPr>
              <a:t>确保信息系统</a:t>
            </a:r>
            <a:r>
              <a:rPr lang="zh-CN" altLang="en-US" sz="1400" b="1"/>
              <a:t>的</a:t>
            </a:r>
            <a:r>
              <a:rPr lang="zh-CN" altLang="en-US" sz="1400" b="1">
                <a:solidFill>
                  <a:srgbClr val="0033CC"/>
                </a:solidFill>
              </a:rPr>
              <a:t>保密性</a:t>
            </a:r>
            <a:r>
              <a:rPr lang="zh-CN" altLang="en-US" sz="1400" b="1"/>
              <a:t>和</a:t>
            </a:r>
            <a:r>
              <a:rPr lang="zh-CN" altLang="en-US" sz="1400" b="1">
                <a:solidFill>
                  <a:srgbClr val="0033CC"/>
                </a:solidFill>
              </a:rPr>
              <a:t>完整性</a:t>
            </a:r>
            <a:r>
              <a:rPr lang="zh-CN" altLang="en-US" sz="1400" b="1"/>
              <a:t>。</a:t>
            </a:r>
            <a:r>
              <a:rPr lang="zh-CN" altLang="en-US" sz="1400" b="1">
                <a:solidFill>
                  <a:srgbClr val="FF0000"/>
                </a:solidFill>
              </a:rPr>
              <a:t>通过</a:t>
            </a:r>
            <a:r>
              <a:rPr lang="zh-CN" altLang="en-US" sz="1400" b="1">
                <a:solidFill>
                  <a:srgbClr val="0033CC"/>
                </a:solidFill>
              </a:rPr>
              <a:t>容错</a:t>
            </a:r>
            <a:r>
              <a:rPr lang="zh-CN" altLang="en-US" sz="1400" b="1"/>
              <a:t>、</a:t>
            </a:r>
            <a:r>
              <a:rPr lang="zh-CN" altLang="en-US" sz="1400" b="1">
                <a:solidFill>
                  <a:srgbClr val="0033CC"/>
                </a:solidFill>
              </a:rPr>
              <a:t>故障恢复</a:t>
            </a:r>
            <a:r>
              <a:rPr lang="zh-CN" altLang="en-US" sz="1400" b="1"/>
              <a:t>及</a:t>
            </a:r>
            <a:r>
              <a:rPr lang="zh-CN" altLang="en-US" sz="1400" b="1">
                <a:solidFill>
                  <a:srgbClr val="0033CC"/>
                </a:solidFill>
              </a:rPr>
              <a:t>系统灾难备份</a:t>
            </a:r>
            <a:r>
              <a:rPr lang="zh-CN" altLang="en-US" sz="1400" b="1"/>
              <a:t>等措施</a:t>
            </a:r>
            <a:r>
              <a:rPr lang="zh-CN" altLang="en-US" sz="1400" b="1">
                <a:solidFill>
                  <a:srgbClr val="FF0000"/>
                </a:solidFill>
              </a:rPr>
              <a:t>保证信息系统</a:t>
            </a:r>
            <a:r>
              <a:rPr lang="zh-CN" altLang="en-US" sz="1400" b="1"/>
              <a:t>的</a:t>
            </a:r>
            <a:r>
              <a:rPr lang="zh-CN" altLang="en-US" sz="1400" b="1">
                <a:solidFill>
                  <a:srgbClr val="0033CC"/>
                </a:solidFill>
              </a:rPr>
              <a:t>可用性</a:t>
            </a:r>
            <a:r>
              <a:rPr lang="zh-CN" altLang="en-US" sz="1400" b="1"/>
              <a:t>。物理安全是保证计算机信息系统保密性、完整性和可用性的基础。</a:t>
            </a:r>
            <a:endParaRPr lang="en-US" altLang="zh-CN" sz="1400" b="1"/>
          </a:p>
        </p:txBody>
      </p:sp>
      <p:sp>
        <p:nvSpPr>
          <p:cNvPr id="11" name="矩形 3">
            <a:extLst>
              <a:ext uri="{FF2B5EF4-FFF2-40B4-BE49-F238E27FC236}">
                <a16:creationId xmlns:a16="http://schemas.microsoft.com/office/drawing/2014/main" id="{CBC20D72-7145-4C42-A1E7-E095EB92043D}"/>
              </a:ext>
            </a:extLst>
          </p:cNvPr>
          <p:cNvSpPr>
            <a:spLocks noChangeArrowheads="1"/>
          </p:cNvSpPr>
          <p:nvPr/>
        </p:nvSpPr>
        <p:spPr bwMode="auto">
          <a:xfrm>
            <a:off x="6786578" y="142858"/>
            <a:ext cx="2191627"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a:t>
            </a:r>
            <a:r>
              <a:rPr lang="zh-CN" altLang="en-US" sz="2000" b="1" dirty="0">
                <a:solidFill>
                  <a:srgbClr val="C00000"/>
                </a:solidFill>
                <a:effectLst>
                  <a:reflection blurRad="6350" stA="50000" endA="300" endPos="50000" dist="60007" dir="5400000" sy="-100000" algn="bl" rotWithShape="0"/>
                </a:effectLst>
                <a:latin typeface="+mj-ea"/>
                <a:ea typeface="+mj-ea"/>
              </a:rPr>
              <a:t> 信息安全概述</a:t>
            </a:r>
          </a:p>
        </p:txBody>
      </p:sp>
      <p:sp>
        <p:nvSpPr>
          <p:cNvPr id="8" name="矩形 3">
            <a:extLst>
              <a:ext uri="{FF2B5EF4-FFF2-40B4-BE49-F238E27FC236}">
                <a16:creationId xmlns:a16="http://schemas.microsoft.com/office/drawing/2014/main" id="{1D196708-5F0D-42CA-AEFF-0D213DC42054}"/>
              </a:ext>
            </a:extLst>
          </p:cNvPr>
          <p:cNvSpPr>
            <a:spLocks noChangeArrowheads="1"/>
          </p:cNvSpPr>
          <p:nvPr/>
        </p:nvSpPr>
        <p:spPr bwMode="auto">
          <a:xfrm>
            <a:off x="214282" y="571486"/>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3.1.1</a:t>
            </a:r>
            <a:r>
              <a:rPr lang="zh-CN" altLang="en-US" sz="2000" b="1" dirty="0">
                <a:solidFill>
                  <a:srgbClr val="C00000"/>
                </a:solidFill>
                <a:effectLst>
                  <a:reflection blurRad="6350" stA="50000" endA="300" endPos="50000" dist="60007" dir="5400000" sy="-100000" algn="bl" rotWithShape="0"/>
                </a:effectLst>
                <a:latin typeface="+mj-ea"/>
                <a:ea typeface="+mj-ea"/>
              </a:rPr>
              <a:t> 信息安全的概念</a:t>
            </a:r>
          </a:p>
        </p:txBody>
      </p:sp>
      <p:sp>
        <p:nvSpPr>
          <p:cNvPr id="5" name="矩形 3">
            <a:extLst>
              <a:ext uri="{FF2B5EF4-FFF2-40B4-BE49-F238E27FC236}">
                <a16:creationId xmlns:a16="http://schemas.microsoft.com/office/drawing/2014/main" id="{36B8730E-A850-4EB4-9B25-E945A985BC2C}"/>
              </a:ext>
            </a:extLst>
          </p:cNvPr>
          <p:cNvSpPr>
            <a:spLocks noChangeArrowheads="1"/>
          </p:cNvSpPr>
          <p:nvPr/>
        </p:nvSpPr>
        <p:spPr bwMode="auto">
          <a:xfrm>
            <a:off x="296863" y="1000125"/>
            <a:ext cx="2447925" cy="366713"/>
          </a:xfrm>
          <a:prstGeom prst="rect">
            <a:avLst/>
          </a:prstGeom>
          <a:noFill/>
          <a:ln w="9525">
            <a:noFill/>
            <a:miter lim="800000"/>
            <a:headEnd/>
            <a:tailEnd/>
          </a:ln>
        </p:spPr>
        <p:txBody>
          <a:bodyPr wrap="none">
            <a:spAutoFit/>
          </a:bodyPr>
          <a:lstStyle/>
          <a:p>
            <a:pPr algn="ctr" eaLnBrk="1" hangingPunct="1">
              <a:defRPr/>
            </a:pPr>
            <a:r>
              <a:rPr lang="en-US" altLang="zh-CN" sz="1800" b="1" dirty="0">
                <a:solidFill>
                  <a:schemeClr val="accent6"/>
                </a:solidFill>
                <a:latin typeface="+mj-ea"/>
                <a:ea typeface="+mj-ea"/>
              </a:rPr>
              <a:t>2.</a:t>
            </a:r>
            <a:r>
              <a:rPr lang="zh-CN" altLang="en-US" sz="1800" b="1" dirty="0">
                <a:solidFill>
                  <a:schemeClr val="accent6"/>
                </a:solidFill>
                <a:latin typeface="+mj-ea"/>
                <a:ea typeface="+mj-ea"/>
              </a:rPr>
              <a:t>信息安全的发展历程</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A9ACAF75-7DAE-489B-A19D-AE75B428E3C4}"/>
              </a:ext>
            </a:extLst>
          </p:cNvPr>
          <p:cNvSpPr txBox="1">
            <a:spLocks/>
          </p:cNvSpPr>
          <p:nvPr/>
        </p:nvSpPr>
        <p:spPr bwMode="auto">
          <a:xfrm>
            <a:off x="214313" y="1285875"/>
            <a:ext cx="8715375"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r>
              <a:rPr lang="zh-CN" altLang="en-US" b="1"/>
              <a:t>信息安全的发展大体上可以分为以下几个方面。</a:t>
            </a:r>
            <a:endParaRPr lang="en-US" altLang="zh-CN" b="1"/>
          </a:p>
          <a:p>
            <a:pPr>
              <a:buFont typeface="Wingdings" panose="05000000000000000000" pitchFamily="2" charset="2"/>
              <a:buChar char="Ø"/>
            </a:pPr>
            <a:r>
              <a:rPr lang="zh-CN" altLang="en-US" sz="1400" b="1">
                <a:solidFill>
                  <a:srgbClr val="FF0000"/>
                </a:solidFill>
              </a:rPr>
              <a:t>（</a:t>
            </a:r>
            <a:r>
              <a:rPr lang="en-US" altLang="zh-CN" sz="1400" b="1">
                <a:solidFill>
                  <a:srgbClr val="FF0000"/>
                </a:solidFill>
              </a:rPr>
              <a:t>2</a:t>
            </a:r>
            <a:r>
              <a:rPr lang="zh-CN" altLang="en-US" sz="1400" b="1">
                <a:solidFill>
                  <a:srgbClr val="FF0000"/>
                </a:solidFill>
              </a:rPr>
              <a:t>）操作系统安全</a:t>
            </a:r>
            <a:r>
              <a:rPr lang="zh-CN" altLang="en-US" sz="1400" b="1"/>
              <a:t>。</a:t>
            </a:r>
            <a:r>
              <a:rPr lang="zh-CN" altLang="en-US" sz="1400" b="1">
                <a:solidFill>
                  <a:srgbClr val="0033CC"/>
                </a:solidFill>
              </a:rPr>
              <a:t>一个</a:t>
            </a:r>
            <a:r>
              <a:rPr lang="zh-CN" altLang="zh-CN" sz="1400" b="1">
                <a:solidFill>
                  <a:srgbClr val="0033CC"/>
                </a:solidFill>
              </a:rPr>
              <a:t>安全操作系统</a:t>
            </a:r>
            <a:r>
              <a:rPr lang="zh-CN" altLang="zh-CN" sz="1400" b="1">
                <a:solidFill>
                  <a:srgbClr val="FF0000"/>
                </a:solidFill>
              </a:rPr>
              <a:t>是指</a:t>
            </a:r>
            <a:r>
              <a:rPr lang="zh-CN" altLang="zh-CN" sz="1400" b="1"/>
              <a:t>计算机信息系统在</a:t>
            </a:r>
            <a:r>
              <a:rPr lang="zh-CN" altLang="zh-CN" sz="1400" b="1" u="sng"/>
              <a:t>自主访问控制</a:t>
            </a:r>
            <a:r>
              <a:rPr lang="zh-CN" altLang="zh-CN" sz="1400" b="1"/>
              <a:t>、</a:t>
            </a:r>
            <a:r>
              <a:rPr lang="zh-CN" altLang="zh-CN" sz="1400" b="1" u="sng"/>
              <a:t>强制访问控制</a:t>
            </a:r>
            <a:r>
              <a:rPr lang="zh-CN" altLang="zh-CN" sz="1400" b="1"/>
              <a:t>、标记、身份鉴别、客体重用、审计、数据完整性、隐蔽信道分析、可信路径、可信恢复</a:t>
            </a:r>
            <a:r>
              <a:rPr lang="zh-CN" altLang="en-US" sz="1400" b="1"/>
              <a:t>和形式化分析</a:t>
            </a:r>
            <a:r>
              <a:rPr lang="zh-CN" altLang="zh-CN" sz="1400" b="1">
                <a:solidFill>
                  <a:srgbClr val="0033CC"/>
                </a:solidFill>
              </a:rPr>
              <a:t>等</a:t>
            </a:r>
            <a:r>
              <a:rPr lang="zh-CN" altLang="en-US" sz="1400" b="1">
                <a:solidFill>
                  <a:srgbClr val="0033CC"/>
                </a:solidFill>
              </a:rPr>
              <a:t>1</a:t>
            </a:r>
            <a:r>
              <a:rPr lang="en-US" altLang="zh-CN" sz="1400" b="1">
                <a:solidFill>
                  <a:srgbClr val="0033CC"/>
                </a:solidFill>
              </a:rPr>
              <a:t>1</a:t>
            </a:r>
            <a:r>
              <a:rPr lang="zh-CN" altLang="en-US" sz="1400" b="1">
                <a:solidFill>
                  <a:srgbClr val="0033CC"/>
                </a:solidFill>
              </a:rPr>
              <a:t>个</a:t>
            </a:r>
            <a:r>
              <a:rPr lang="zh-CN" altLang="zh-CN" sz="1400" b="1">
                <a:solidFill>
                  <a:srgbClr val="0033CC"/>
                </a:solidFill>
              </a:rPr>
              <a:t>方面满足相应的安全技术要求</a:t>
            </a:r>
            <a:r>
              <a:rPr lang="zh-CN" altLang="zh-CN" sz="1400" b="1"/>
              <a:t>。</a:t>
            </a:r>
            <a:endParaRPr lang="en-US" altLang="zh-CN" sz="1400" b="1"/>
          </a:p>
          <a:p>
            <a:pPr>
              <a:buFont typeface="Wingdings" panose="05000000000000000000" pitchFamily="2" charset="2"/>
              <a:buChar char="Ø"/>
            </a:pPr>
            <a:r>
              <a:rPr lang="zh-CN" altLang="en-US" sz="1400" b="1">
                <a:solidFill>
                  <a:srgbClr val="FF0000"/>
                </a:solidFill>
              </a:rPr>
              <a:t>（</a:t>
            </a:r>
            <a:r>
              <a:rPr lang="en-US" altLang="zh-CN" sz="1400" b="1">
                <a:solidFill>
                  <a:srgbClr val="FF0000"/>
                </a:solidFill>
              </a:rPr>
              <a:t>3</a:t>
            </a:r>
            <a:r>
              <a:rPr lang="zh-CN" altLang="en-US" sz="1400" b="1">
                <a:solidFill>
                  <a:srgbClr val="FF0000"/>
                </a:solidFill>
              </a:rPr>
              <a:t>）网络安全</a:t>
            </a:r>
            <a:r>
              <a:rPr lang="zh-CN" altLang="en-US" sz="1400" b="1"/>
              <a:t>。从</a:t>
            </a:r>
            <a:r>
              <a:rPr lang="en-US" altLang="zh-CN" sz="1400" b="1"/>
              <a:t>20</a:t>
            </a:r>
            <a:r>
              <a:rPr lang="zh-CN" altLang="en-US" sz="1400" b="1"/>
              <a:t>世纪</a:t>
            </a:r>
            <a:r>
              <a:rPr lang="en-US" altLang="zh-CN" sz="1400" b="1"/>
              <a:t>90</a:t>
            </a:r>
            <a:r>
              <a:rPr lang="zh-CN" altLang="en-US" sz="1400" b="1"/>
              <a:t>年代以来，信息安全防护扩展到整个网络可以到达的范围。网络安全是指网络系统的硬件、软件及其系统中的数据受到保护，不因偶然的或恶意的原因而遭受破坏、更改和泄露，系统可以连续可靠地运行，网络服务不中断。</a:t>
            </a:r>
            <a:r>
              <a:rPr lang="zh-CN" altLang="en-US" sz="1400" b="1">
                <a:solidFill>
                  <a:srgbClr val="0033CC"/>
                </a:solidFill>
              </a:rPr>
              <a:t>网络安全</a:t>
            </a:r>
            <a:r>
              <a:rPr lang="zh-CN" altLang="en-US" sz="1400" b="1">
                <a:solidFill>
                  <a:srgbClr val="FF0000"/>
                </a:solidFill>
              </a:rPr>
              <a:t>包括</a:t>
            </a:r>
            <a:r>
              <a:rPr lang="zh-CN" altLang="en-US" sz="1400" b="1">
                <a:solidFill>
                  <a:srgbClr val="0033CC"/>
                </a:solidFill>
              </a:rPr>
              <a:t>网络设备安全</a:t>
            </a:r>
            <a:r>
              <a:rPr lang="zh-CN" altLang="en-US" sz="1400" b="1"/>
              <a:t>、</a:t>
            </a:r>
            <a:r>
              <a:rPr lang="zh-CN" altLang="en-US" sz="1400" b="1">
                <a:solidFill>
                  <a:srgbClr val="0033CC"/>
                </a:solidFill>
              </a:rPr>
              <a:t>网络信息安全</a:t>
            </a:r>
            <a:r>
              <a:rPr lang="zh-CN" altLang="en-US" sz="1400" b="1"/>
              <a:t>和</a:t>
            </a:r>
            <a:r>
              <a:rPr lang="zh-CN" altLang="en-US" sz="1400" b="1">
                <a:solidFill>
                  <a:srgbClr val="0033CC"/>
                </a:solidFill>
              </a:rPr>
              <a:t>网络软件安全</a:t>
            </a:r>
            <a:r>
              <a:rPr lang="zh-CN" altLang="en-US" sz="1400" b="1"/>
              <a:t>。</a:t>
            </a:r>
            <a:endParaRPr lang="en-US" altLang="zh-CN" sz="1400" b="1"/>
          </a:p>
        </p:txBody>
      </p:sp>
      <p:sp>
        <p:nvSpPr>
          <p:cNvPr id="11" name="矩形 3">
            <a:extLst>
              <a:ext uri="{FF2B5EF4-FFF2-40B4-BE49-F238E27FC236}">
                <a16:creationId xmlns:a16="http://schemas.microsoft.com/office/drawing/2014/main" id="{220ECA69-B8A1-498A-A66A-01AB16466317}"/>
              </a:ext>
            </a:extLst>
          </p:cNvPr>
          <p:cNvSpPr>
            <a:spLocks noChangeArrowheads="1"/>
          </p:cNvSpPr>
          <p:nvPr/>
        </p:nvSpPr>
        <p:spPr bwMode="auto">
          <a:xfrm>
            <a:off x="6786578" y="142858"/>
            <a:ext cx="2191627"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a:t>
            </a:r>
            <a:r>
              <a:rPr lang="zh-CN" altLang="en-US" sz="2000" b="1" dirty="0">
                <a:solidFill>
                  <a:srgbClr val="C00000"/>
                </a:solidFill>
                <a:effectLst>
                  <a:reflection blurRad="6350" stA="50000" endA="300" endPos="50000" dist="60007" dir="5400000" sy="-100000" algn="bl" rotWithShape="0"/>
                </a:effectLst>
                <a:latin typeface="+mj-ea"/>
                <a:ea typeface="+mj-ea"/>
              </a:rPr>
              <a:t> 信息安全概述</a:t>
            </a:r>
          </a:p>
        </p:txBody>
      </p:sp>
      <p:sp>
        <p:nvSpPr>
          <p:cNvPr id="8" name="矩形 3">
            <a:extLst>
              <a:ext uri="{FF2B5EF4-FFF2-40B4-BE49-F238E27FC236}">
                <a16:creationId xmlns:a16="http://schemas.microsoft.com/office/drawing/2014/main" id="{DA8387A8-1CCC-48D7-9C1B-008F099AA630}"/>
              </a:ext>
            </a:extLst>
          </p:cNvPr>
          <p:cNvSpPr>
            <a:spLocks noChangeArrowheads="1"/>
          </p:cNvSpPr>
          <p:nvPr/>
        </p:nvSpPr>
        <p:spPr bwMode="auto">
          <a:xfrm>
            <a:off x="214282" y="571486"/>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3.1.1</a:t>
            </a:r>
            <a:r>
              <a:rPr lang="zh-CN" altLang="en-US" sz="2000" b="1" dirty="0">
                <a:solidFill>
                  <a:srgbClr val="C00000"/>
                </a:solidFill>
                <a:effectLst>
                  <a:reflection blurRad="6350" stA="50000" endA="300" endPos="50000" dist="60007" dir="5400000" sy="-100000" algn="bl" rotWithShape="0"/>
                </a:effectLst>
                <a:latin typeface="+mj-ea"/>
                <a:ea typeface="+mj-ea"/>
              </a:rPr>
              <a:t> 信息安全的概念</a:t>
            </a:r>
          </a:p>
        </p:txBody>
      </p:sp>
      <p:sp>
        <p:nvSpPr>
          <p:cNvPr id="5" name="矩形 3">
            <a:extLst>
              <a:ext uri="{FF2B5EF4-FFF2-40B4-BE49-F238E27FC236}">
                <a16:creationId xmlns:a16="http://schemas.microsoft.com/office/drawing/2014/main" id="{6C42D19C-855D-46E5-B606-F4A7490927D3}"/>
              </a:ext>
            </a:extLst>
          </p:cNvPr>
          <p:cNvSpPr>
            <a:spLocks noChangeArrowheads="1"/>
          </p:cNvSpPr>
          <p:nvPr/>
        </p:nvSpPr>
        <p:spPr bwMode="auto">
          <a:xfrm>
            <a:off x="296863" y="1000125"/>
            <a:ext cx="2447925" cy="366713"/>
          </a:xfrm>
          <a:prstGeom prst="rect">
            <a:avLst/>
          </a:prstGeom>
          <a:noFill/>
          <a:ln w="9525">
            <a:noFill/>
            <a:miter lim="800000"/>
            <a:headEnd/>
            <a:tailEnd/>
          </a:ln>
        </p:spPr>
        <p:txBody>
          <a:bodyPr wrap="none">
            <a:spAutoFit/>
          </a:bodyPr>
          <a:lstStyle/>
          <a:p>
            <a:pPr algn="ctr" eaLnBrk="1" hangingPunct="1">
              <a:defRPr/>
            </a:pPr>
            <a:r>
              <a:rPr lang="en-US" altLang="zh-CN" sz="1800" b="1" dirty="0">
                <a:solidFill>
                  <a:schemeClr val="accent6"/>
                </a:solidFill>
                <a:latin typeface="+mj-ea"/>
                <a:ea typeface="+mj-ea"/>
              </a:rPr>
              <a:t>2.</a:t>
            </a:r>
            <a:r>
              <a:rPr lang="zh-CN" altLang="en-US" sz="1800" b="1" dirty="0">
                <a:solidFill>
                  <a:schemeClr val="accent6"/>
                </a:solidFill>
                <a:latin typeface="+mj-ea"/>
                <a:ea typeface="+mj-ea"/>
              </a:rPr>
              <a:t>信息安全的发展历程</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08FBB1A7-BB58-4906-A0B8-475EF82B3BC4}"/>
              </a:ext>
            </a:extLst>
          </p:cNvPr>
          <p:cNvSpPr txBox="1">
            <a:spLocks/>
          </p:cNvSpPr>
          <p:nvPr/>
        </p:nvSpPr>
        <p:spPr bwMode="auto">
          <a:xfrm>
            <a:off x="214313" y="1285875"/>
            <a:ext cx="8715375"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r>
              <a:rPr lang="zh-CN" altLang="en-US" b="1"/>
              <a:t>信息安全的发展大体上可以分为以下几个方面。</a:t>
            </a:r>
            <a:endParaRPr lang="en-US" altLang="zh-CN" b="1"/>
          </a:p>
          <a:p>
            <a:pPr>
              <a:spcBef>
                <a:spcPts val="0"/>
              </a:spcBef>
              <a:buFont typeface="Wingdings" panose="05000000000000000000" pitchFamily="2" charset="2"/>
              <a:buChar char="Ø"/>
            </a:pPr>
            <a:r>
              <a:rPr lang="zh-CN" altLang="en-US" sz="1400" b="1"/>
              <a:t>（</a:t>
            </a:r>
            <a:r>
              <a:rPr lang="en-US" altLang="zh-CN" sz="1400" b="1"/>
              <a:t>4</a:t>
            </a:r>
            <a:r>
              <a:rPr lang="zh-CN" altLang="en-US" sz="1400" b="1"/>
              <a:t>）</a:t>
            </a:r>
            <a:r>
              <a:rPr lang="zh-CN" altLang="en-US" sz="1400" b="1">
                <a:solidFill>
                  <a:srgbClr val="FF0000"/>
                </a:solidFill>
              </a:rPr>
              <a:t>软件安全</a:t>
            </a:r>
            <a:r>
              <a:rPr lang="zh-CN" altLang="en-US" sz="1400" b="1"/>
              <a:t>。通常情况下，信息都是通过软件和应用来存取和运算的 </a:t>
            </a:r>
            <a:r>
              <a:rPr lang="en-US" altLang="zh-CN" sz="1400" b="1">
                <a:solidFill>
                  <a:srgbClr val="FF0000"/>
                </a:solidFill>
                <a:sym typeface="Wingdings" panose="05000000000000000000" pitchFamily="2" charset="2"/>
              </a:rPr>
              <a:t></a:t>
            </a:r>
            <a:r>
              <a:rPr lang="en-US" altLang="zh-CN" sz="1400" b="1">
                <a:sym typeface="Wingdings" panose="05000000000000000000" pitchFamily="2" charset="2"/>
              </a:rPr>
              <a:t> </a:t>
            </a:r>
            <a:r>
              <a:rPr lang="zh-CN" altLang="en-US" sz="1400" b="1"/>
              <a:t>软件安全也是确保信息安全的一个重要部分  </a:t>
            </a:r>
            <a:r>
              <a:rPr lang="en-US" altLang="zh-CN" sz="1400" b="1">
                <a:solidFill>
                  <a:srgbClr val="FF0000"/>
                </a:solidFill>
                <a:sym typeface="Wingdings" panose="05000000000000000000" pitchFamily="2" charset="2"/>
              </a:rPr>
              <a:t></a:t>
            </a:r>
            <a:r>
              <a:rPr lang="en-US" altLang="zh-CN" sz="1400" b="1">
                <a:sym typeface="Wingdings" panose="05000000000000000000" pitchFamily="2" charset="2"/>
              </a:rPr>
              <a:t> </a:t>
            </a:r>
            <a:r>
              <a:rPr lang="zh-CN" altLang="en-US" sz="1400" b="1"/>
              <a:t>常见的软件安全问题包括：</a:t>
            </a:r>
            <a:r>
              <a:rPr lang="zh-CN" altLang="en-US" sz="1400" b="1">
                <a:solidFill>
                  <a:srgbClr val="0033CC"/>
                </a:solidFill>
              </a:rPr>
              <a:t>数据库软件安全</a:t>
            </a:r>
            <a:r>
              <a:rPr lang="zh-CN" altLang="en-US" sz="1400" b="1"/>
              <a:t>、</a:t>
            </a:r>
            <a:r>
              <a:rPr lang="en-US" altLang="zh-CN" sz="1400" b="1">
                <a:solidFill>
                  <a:srgbClr val="0033CC"/>
                </a:solidFill>
              </a:rPr>
              <a:t>Web</a:t>
            </a:r>
            <a:r>
              <a:rPr lang="zh-CN" altLang="en-US" sz="1400" b="1">
                <a:solidFill>
                  <a:srgbClr val="0033CC"/>
                </a:solidFill>
              </a:rPr>
              <a:t>应用软件安全</a:t>
            </a:r>
            <a:r>
              <a:rPr lang="zh-CN" altLang="en-US" sz="1400" b="1"/>
              <a:t>和</a:t>
            </a:r>
            <a:r>
              <a:rPr lang="zh-CN" altLang="en-US" sz="1400" b="1">
                <a:solidFill>
                  <a:srgbClr val="0033CC"/>
                </a:solidFill>
              </a:rPr>
              <a:t>恶意软件安全防护</a:t>
            </a:r>
            <a:r>
              <a:rPr lang="zh-CN" altLang="en-US" sz="1400" b="1"/>
              <a:t>。</a:t>
            </a:r>
            <a:endParaRPr lang="en-US" altLang="zh-CN" sz="1400" b="1"/>
          </a:p>
          <a:p>
            <a:pPr>
              <a:spcBef>
                <a:spcPts val="600"/>
              </a:spcBef>
              <a:buFont typeface="Wingdings" panose="05000000000000000000" pitchFamily="2" charset="2"/>
              <a:buChar char="Ø"/>
            </a:pPr>
            <a:r>
              <a:rPr lang="zh-CN" altLang="en-US" sz="1400" b="1"/>
              <a:t>（</a:t>
            </a:r>
            <a:r>
              <a:rPr lang="en-US" altLang="zh-CN" sz="1400" b="1"/>
              <a:t>5</a:t>
            </a:r>
            <a:r>
              <a:rPr lang="zh-CN" altLang="en-US" sz="1400" b="1"/>
              <a:t>）</a:t>
            </a:r>
            <a:r>
              <a:rPr lang="zh-CN" altLang="en-US" sz="1400" b="1">
                <a:solidFill>
                  <a:srgbClr val="FF0000"/>
                </a:solidFill>
              </a:rPr>
              <a:t>数据安全</a:t>
            </a:r>
            <a:r>
              <a:rPr lang="zh-CN" altLang="en-US" sz="1400" b="1"/>
              <a:t>。一是</a:t>
            </a:r>
            <a:r>
              <a:rPr lang="zh-CN" altLang="en-US" sz="1400" b="1">
                <a:solidFill>
                  <a:srgbClr val="FF0000"/>
                </a:solidFill>
              </a:rPr>
              <a:t>要防止数据丢失</a:t>
            </a:r>
            <a:r>
              <a:rPr lang="zh-CN" altLang="en-US" sz="1400" b="1"/>
              <a:t>，</a:t>
            </a:r>
            <a:r>
              <a:rPr lang="zh-CN" altLang="en-US" sz="1400" b="1">
                <a:solidFill>
                  <a:srgbClr val="FF0000"/>
                </a:solidFill>
              </a:rPr>
              <a:t>要采取现代信息存储手段对数据进行主动防护</a:t>
            </a:r>
            <a:r>
              <a:rPr lang="zh-CN" altLang="en-US" sz="1400" b="1"/>
              <a:t>，如</a:t>
            </a:r>
            <a:r>
              <a:rPr lang="zh-CN" altLang="en-US" sz="1400" b="1">
                <a:solidFill>
                  <a:srgbClr val="0033CC"/>
                </a:solidFill>
              </a:rPr>
              <a:t>磁盘阵列</a:t>
            </a:r>
            <a:r>
              <a:rPr lang="zh-CN" altLang="en-US" sz="1400" b="1"/>
              <a:t>、</a:t>
            </a:r>
            <a:r>
              <a:rPr lang="zh-CN" altLang="en-US" sz="1400" b="1">
                <a:solidFill>
                  <a:srgbClr val="0033CC"/>
                </a:solidFill>
              </a:rPr>
              <a:t>数据备份和恢复</a:t>
            </a:r>
            <a:r>
              <a:rPr lang="zh-CN" altLang="en-US" sz="1400" b="1"/>
              <a:t>以及</a:t>
            </a:r>
            <a:r>
              <a:rPr lang="zh-CN" altLang="en-US" sz="1400" b="1">
                <a:solidFill>
                  <a:srgbClr val="0033CC"/>
                </a:solidFill>
              </a:rPr>
              <a:t>异地容灾</a:t>
            </a:r>
            <a:r>
              <a:rPr lang="zh-CN" altLang="en-US" sz="1400" b="1"/>
              <a:t>等。二是</a:t>
            </a:r>
            <a:r>
              <a:rPr lang="zh-CN" altLang="en-US" sz="1400" b="1">
                <a:solidFill>
                  <a:srgbClr val="FF0000"/>
                </a:solidFill>
              </a:rPr>
              <a:t>要防止数据泄露</a:t>
            </a:r>
            <a:r>
              <a:rPr lang="zh-CN" altLang="en-US" sz="1400" b="1"/>
              <a:t>，</a:t>
            </a:r>
            <a:r>
              <a:rPr lang="zh-CN" altLang="en-US" sz="1400" b="1">
                <a:solidFill>
                  <a:srgbClr val="FF0000"/>
                </a:solidFill>
              </a:rPr>
              <a:t>采用现代密码算法对数据进行主动保护</a:t>
            </a:r>
            <a:r>
              <a:rPr lang="zh-CN" altLang="en-US" sz="1400" b="1"/>
              <a:t>，如</a:t>
            </a:r>
            <a:r>
              <a:rPr lang="zh-CN" altLang="en-US" sz="1400" b="1">
                <a:solidFill>
                  <a:srgbClr val="0033CC"/>
                </a:solidFill>
              </a:rPr>
              <a:t>数据加密</a:t>
            </a:r>
            <a:r>
              <a:rPr lang="zh-CN" altLang="en-US" sz="1400" b="1"/>
              <a:t>，</a:t>
            </a:r>
            <a:r>
              <a:rPr lang="zh-CN" altLang="en-US" sz="1400" b="1">
                <a:solidFill>
                  <a:srgbClr val="0033CC"/>
                </a:solidFill>
              </a:rPr>
              <a:t>数据完整性检查</a:t>
            </a:r>
            <a:r>
              <a:rPr lang="zh-CN" altLang="en-US" sz="1400" b="1"/>
              <a:t>、</a:t>
            </a:r>
            <a:r>
              <a:rPr lang="zh-CN" altLang="en-US" sz="1400" b="1">
                <a:solidFill>
                  <a:srgbClr val="0033CC"/>
                </a:solidFill>
              </a:rPr>
              <a:t>双向强身份认证</a:t>
            </a:r>
            <a:r>
              <a:rPr lang="zh-CN" altLang="en-US" sz="1400" b="1"/>
              <a:t>等。当然，还需要防止数据被非法访问和盗取，在数据传输和处理过程中对数据的防护也很重要。</a:t>
            </a:r>
            <a:endParaRPr lang="en-US" altLang="zh-CN" sz="1400" b="1"/>
          </a:p>
        </p:txBody>
      </p:sp>
      <p:sp>
        <p:nvSpPr>
          <p:cNvPr id="11" name="矩形 3">
            <a:extLst>
              <a:ext uri="{FF2B5EF4-FFF2-40B4-BE49-F238E27FC236}">
                <a16:creationId xmlns:a16="http://schemas.microsoft.com/office/drawing/2014/main" id="{EEF4EED5-119C-4E59-B9DD-14E4A7E68932}"/>
              </a:ext>
            </a:extLst>
          </p:cNvPr>
          <p:cNvSpPr>
            <a:spLocks noChangeArrowheads="1"/>
          </p:cNvSpPr>
          <p:nvPr/>
        </p:nvSpPr>
        <p:spPr bwMode="auto">
          <a:xfrm>
            <a:off x="6786578" y="142858"/>
            <a:ext cx="2191627"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a:t>
            </a:r>
            <a:r>
              <a:rPr lang="zh-CN" altLang="en-US" sz="2000" b="1" dirty="0">
                <a:solidFill>
                  <a:srgbClr val="C00000"/>
                </a:solidFill>
                <a:effectLst>
                  <a:reflection blurRad="6350" stA="50000" endA="300" endPos="50000" dist="60007" dir="5400000" sy="-100000" algn="bl" rotWithShape="0"/>
                </a:effectLst>
                <a:latin typeface="+mj-ea"/>
                <a:ea typeface="+mj-ea"/>
              </a:rPr>
              <a:t> 信息安全概述</a:t>
            </a:r>
          </a:p>
        </p:txBody>
      </p:sp>
      <p:sp>
        <p:nvSpPr>
          <p:cNvPr id="8" name="矩形 3">
            <a:extLst>
              <a:ext uri="{FF2B5EF4-FFF2-40B4-BE49-F238E27FC236}">
                <a16:creationId xmlns:a16="http://schemas.microsoft.com/office/drawing/2014/main" id="{6E4BC69A-83BE-4C28-A0F4-4997453C3885}"/>
              </a:ext>
            </a:extLst>
          </p:cNvPr>
          <p:cNvSpPr>
            <a:spLocks noChangeArrowheads="1"/>
          </p:cNvSpPr>
          <p:nvPr/>
        </p:nvSpPr>
        <p:spPr bwMode="auto">
          <a:xfrm>
            <a:off x="214282" y="571486"/>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3.1.1</a:t>
            </a:r>
            <a:r>
              <a:rPr lang="zh-CN" altLang="en-US" sz="2000" b="1" dirty="0">
                <a:solidFill>
                  <a:srgbClr val="C00000"/>
                </a:solidFill>
                <a:effectLst>
                  <a:reflection blurRad="6350" stA="50000" endA="300" endPos="50000" dist="60007" dir="5400000" sy="-100000" algn="bl" rotWithShape="0"/>
                </a:effectLst>
                <a:latin typeface="+mj-ea"/>
                <a:ea typeface="+mj-ea"/>
              </a:rPr>
              <a:t> 信息安全的概念</a:t>
            </a:r>
          </a:p>
        </p:txBody>
      </p:sp>
      <p:sp>
        <p:nvSpPr>
          <p:cNvPr id="5" name="矩形 3">
            <a:extLst>
              <a:ext uri="{FF2B5EF4-FFF2-40B4-BE49-F238E27FC236}">
                <a16:creationId xmlns:a16="http://schemas.microsoft.com/office/drawing/2014/main" id="{79EF8D75-C2CC-4E9F-BC50-3764FAEE6DCD}"/>
              </a:ext>
            </a:extLst>
          </p:cNvPr>
          <p:cNvSpPr>
            <a:spLocks noChangeArrowheads="1"/>
          </p:cNvSpPr>
          <p:nvPr/>
        </p:nvSpPr>
        <p:spPr bwMode="auto">
          <a:xfrm>
            <a:off x="285750" y="1000125"/>
            <a:ext cx="2470150" cy="369888"/>
          </a:xfrm>
          <a:prstGeom prst="rect">
            <a:avLst/>
          </a:prstGeom>
          <a:noFill/>
          <a:ln w="9525">
            <a:noFill/>
            <a:miter lim="800000"/>
            <a:headEnd/>
            <a:tailEnd/>
          </a:ln>
        </p:spPr>
        <p:txBody>
          <a:bodyPr wrap="none">
            <a:spAutoFit/>
          </a:bodyPr>
          <a:lstStyle/>
          <a:p>
            <a:pPr algn="ctr" eaLnBrk="1" hangingPunct="1">
              <a:defRPr/>
            </a:pPr>
            <a:r>
              <a:rPr lang="en-US" altLang="zh-CN" sz="1800" b="1" dirty="0">
                <a:solidFill>
                  <a:schemeClr val="accent6"/>
                </a:solidFill>
                <a:latin typeface="+mj-ea"/>
                <a:ea typeface="+mj-ea"/>
              </a:rPr>
              <a:t>2.</a:t>
            </a:r>
            <a:r>
              <a:rPr lang="zh-CN" altLang="en-US" sz="1800" b="1" dirty="0">
                <a:solidFill>
                  <a:schemeClr val="accent6"/>
                </a:solidFill>
                <a:latin typeface="+mj-ea"/>
                <a:ea typeface="+mj-ea"/>
              </a:rPr>
              <a:t>信息安全的发展历程</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五边形 9">
            <a:extLst>
              <a:ext uri="{FF2B5EF4-FFF2-40B4-BE49-F238E27FC236}">
                <a16:creationId xmlns:a16="http://schemas.microsoft.com/office/drawing/2014/main" id="{020C74D2-57E2-466C-BC8E-F82278FEBF81}"/>
              </a:ext>
            </a:extLst>
          </p:cNvPr>
          <p:cNvSpPr>
            <a:spLocks noChangeArrowheads="1"/>
          </p:cNvSpPr>
          <p:nvPr/>
        </p:nvSpPr>
        <p:spPr bwMode="auto">
          <a:xfrm rot="10800000">
            <a:off x="2714625" y="1643063"/>
            <a:ext cx="4071938" cy="500062"/>
          </a:xfrm>
          <a:prstGeom prst="homePlate">
            <a:avLst>
              <a:gd name="adj" fmla="val 50026"/>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18435" name="椭圆 10">
            <a:extLst>
              <a:ext uri="{FF2B5EF4-FFF2-40B4-BE49-F238E27FC236}">
                <a16:creationId xmlns:a16="http://schemas.microsoft.com/office/drawing/2014/main" id="{CA7D563D-5145-45E8-98C6-7047AE4B9A4C}"/>
              </a:ext>
            </a:extLst>
          </p:cNvPr>
          <p:cNvSpPr>
            <a:spLocks noChangeArrowheads="1"/>
          </p:cNvSpPr>
          <p:nvPr/>
        </p:nvSpPr>
        <p:spPr bwMode="auto">
          <a:xfrm>
            <a:off x="2428875" y="1643063"/>
            <a:ext cx="500063" cy="500062"/>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18436" name="TextBox 11">
            <a:extLst>
              <a:ext uri="{FF2B5EF4-FFF2-40B4-BE49-F238E27FC236}">
                <a16:creationId xmlns:a16="http://schemas.microsoft.com/office/drawing/2014/main" id="{312FC1BB-78BB-4DF9-B3C5-328BCDC5BC68}"/>
              </a:ext>
            </a:extLst>
          </p:cNvPr>
          <p:cNvSpPr txBox="1">
            <a:spLocks noChangeArrowheads="1"/>
          </p:cNvSpPr>
          <p:nvPr/>
        </p:nvSpPr>
        <p:spPr bwMode="auto">
          <a:xfrm>
            <a:off x="3000375" y="1643063"/>
            <a:ext cx="3786188"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t>信息安全概述</a:t>
            </a:r>
          </a:p>
        </p:txBody>
      </p:sp>
      <p:sp>
        <p:nvSpPr>
          <p:cNvPr id="18437" name="五边形 9">
            <a:extLst>
              <a:ext uri="{FF2B5EF4-FFF2-40B4-BE49-F238E27FC236}">
                <a16:creationId xmlns:a16="http://schemas.microsoft.com/office/drawing/2014/main" id="{62E9461F-A976-4815-A0E1-4366BD64BC65}"/>
              </a:ext>
            </a:extLst>
          </p:cNvPr>
          <p:cNvSpPr>
            <a:spLocks noChangeArrowheads="1"/>
          </p:cNvSpPr>
          <p:nvPr/>
        </p:nvSpPr>
        <p:spPr bwMode="auto">
          <a:xfrm rot="10800000">
            <a:off x="2714625" y="2357438"/>
            <a:ext cx="4071938" cy="500062"/>
          </a:xfrm>
          <a:prstGeom prst="homePlate">
            <a:avLst>
              <a:gd name="adj" fmla="val 50026"/>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18438" name="椭圆 10">
            <a:extLst>
              <a:ext uri="{FF2B5EF4-FFF2-40B4-BE49-F238E27FC236}">
                <a16:creationId xmlns:a16="http://schemas.microsoft.com/office/drawing/2014/main" id="{43774379-7695-4A68-897F-A83135C908E0}"/>
              </a:ext>
            </a:extLst>
          </p:cNvPr>
          <p:cNvSpPr>
            <a:spLocks noChangeArrowheads="1"/>
          </p:cNvSpPr>
          <p:nvPr/>
        </p:nvSpPr>
        <p:spPr bwMode="auto">
          <a:xfrm>
            <a:off x="2428875" y="2357438"/>
            <a:ext cx="500063" cy="500062"/>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13" name="TextBox 11">
            <a:extLst>
              <a:ext uri="{FF2B5EF4-FFF2-40B4-BE49-F238E27FC236}">
                <a16:creationId xmlns:a16="http://schemas.microsoft.com/office/drawing/2014/main" id="{5959F52D-68DE-47AC-BF12-3E4DD49AD658}"/>
              </a:ext>
            </a:extLst>
          </p:cNvPr>
          <p:cNvSpPr txBox="1">
            <a:spLocks noChangeArrowheads="1"/>
          </p:cNvSpPr>
          <p:nvPr/>
        </p:nvSpPr>
        <p:spPr bwMode="auto">
          <a:xfrm>
            <a:off x="3000375" y="2357438"/>
            <a:ext cx="3786188"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solidFill>
                  <a:srgbClr val="FF0000"/>
                </a:solidFill>
              </a:rPr>
              <a:t>信息安全的威胁</a:t>
            </a:r>
          </a:p>
        </p:txBody>
      </p:sp>
      <p:grpSp>
        <p:nvGrpSpPr>
          <p:cNvPr id="18440" name="组合 13">
            <a:extLst>
              <a:ext uri="{FF2B5EF4-FFF2-40B4-BE49-F238E27FC236}">
                <a16:creationId xmlns:a16="http://schemas.microsoft.com/office/drawing/2014/main" id="{1A1220EC-98CA-459B-A94C-66A5802BE398}"/>
              </a:ext>
            </a:extLst>
          </p:cNvPr>
          <p:cNvGrpSpPr>
            <a:grpSpLocks/>
          </p:cNvGrpSpPr>
          <p:nvPr/>
        </p:nvGrpSpPr>
        <p:grpSpPr bwMode="auto">
          <a:xfrm>
            <a:off x="2428875" y="3071813"/>
            <a:ext cx="4357688" cy="500062"/>
            <a:chOff x="1071538" y="1785932"/>
            <a:chExt cx="4357704" cy="500066"/>
          </a:xfrm>
        </p:grpSpPr>
        <p:sp>
          <p:nvSpPr>
            <p:cNvPr id="18446" name="五边形 9">
              <a:extLst>
                <a:ext uri="{FF2B5EF4-FFF2-40B4-BE49-F238E27FC236}">
                  <a16:creationId xmlns:a16="http://schemas.microsoft.com/office/drawing/2014/main" id="{D27D2DED-6725-49D5-8750-E0FE803391ED}"/>
                </a:ext>
              </a:extLst>
            </p:cNvPr>
            <p:cNvSpPr>
              <a:spLocks noChangeArrowheads="1"/>
            </p:cNvSpPr>
            <p:nvPr/>
          </p:nvSpPr>
          <p:spPr bwMode="auto">
            <a:xfrm rot="10800000">
              <a:off x="1357290" y="1785932"/>
              <a:ext cx="4071938" cy="500063"/>
            </a:xfrm>
            <a:prstGeom prst="homePlate">
              <a:avLst>
                <a:gd name="adj" fmla="val 50026"/>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18447" name="椭圆 10">
              <a:extLst>
                <a:ext uri="{FF2B5EF4-FFF2-40B4-BE49-F238E27FC236}">
                  <a16:creationId xmlns:a16="http://schemas.microsoft.com/office/drawing/2014/main" id="{0B6D65E2-2644-4873-BE08-05EAF4F0AEF1}"/>
                </a:ext>
              </a:extLst>
            </p:cNvPr>
            <p:cNvSpPr>
              <a:spLocks noChangeArrowheads="1"/>
            </p:cNvSpPr>
            <p:nvPr/>
          </p:nvSpPr>
          <p:spPr bwMode="auto">
            <a:xfrm>
              <a:off x="1071538" y="1785932"/>
              <a:ext cx="500066" cy="500066"/>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18448" name="TextBox 11">
              <a:extLst>
                <a:ext uri="{FF2B5EF4-FFF2-40B4-BE49-F238E27FC236}">
                  <a16:creationId xmlns:a16="http://schemas.microsoft.com/office/drawing/2014/main" id="{DA958E25-3D88-47F4-B7FB-C34F13979E04}"/>
                </a:ext>
              </a:extLst>
            </p:cNvPr>
            <p:cNvSpPr txBox="1">
              <a:spLocks noChangeArrowheads="1"/>
            </p:cNvSpPr>
            <p:nvPr/>
          </p:nvSpPr>
          <p:spPr bwMode="auto">
            <a:xfrm>
              <a:off x="1643040" y="1785932"/>
              <a:ext cx="3786202" cy="44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t>信息安全体系结构</a:t>
              </a:r>
            </a:p>
          </p:txBody>
        </p:sp>
      </p:grpSp>
      <p:grpSp>
        <p:nvGrpSpPr>
          <p:cNvPr id="18441" name="组合 17">
            <a:extLst>
              <a:ext uri="{FF2B5EF4-FFF2-40B4-BE49-F238E27FC236}">
                <a16:creationId xmlns:a16="http://schemas.microsoft.com/office/drawing/2014/main" id="{700DF920-3664-4F35-8F86-0B6096D8D0B6}"/>
              </a:ext>
            </a:extLst>
          </p:cNvPr>
          <p:cNvGrpSpPr>
            <a:grpSpLocks/>
          </p:cNvGrpSpPr>
          <p:nvPr/>
        </p:nvGrpSpPr>
        <p:grpSpPr bwMode="auto">
          <a:xfrm>
            <a:off x="2428875" y="3714750"/>
            <a:ext cx="4357688" cy="500063"/>
            <a:chOff x="1071538" y="1785932"/>
            <a:chExt cx="4357704" cy="500066"/>
          </a:xfrm>
        </p:grpSpPr>
        <p:sp>
          <p:nvSpPr>
            <p:cNvPr id="18443" name="五边形 9">
              <a:extLst>
                <a:ext uri="{FF2B5EF4-FFF2-40B4-BE49-F238E27FC236}">
                  <a16:creationId xmlns:a16="http://schemas.microsoft.com/office/drawing/2014/main" id="{326AD906-7B6F-42D4-BD31-CB0E44C1A26D}"/>
                </a:ext>
              </a:extLst>
            </p:cNvPr>
            <p:cNvSpPr>
              <a:spLocks noChangeArrowheads="1"/>
            </p:cNvSpPr>
            <p:nvPr/>
          </p:nvSpPr>
          <p:spPr bwMode="auto">
            <a:xfrm rot="10800000">
              <a:off x="1357290" y="1785932"/>
              <a:ext cx="4071938" cy="500063"/>
            </a:xfrm>
            <a:prstGeom prst="homePlate">
              <a:avLst>
                <a:gd name="adj" fmla="val 50026"/>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18444" name="椭圆 10">
              <a:extLst>
                <a:ext uri="{FF2B5EF4-FFF2-40B4-BE49-F238E27FC236}">
                  <a16:creationId xmlns:a16="http://schemas.microsoft.com/office/drawing/2014/main" id="{2A8036A4-1B65-4162-87A2-0791C3BDE68D}"/>
                </a:ext>
              </a:extLst>
            </p:cNvPr>
            <p:cNvSpPr>
              <a:spLocks noChangeArrowheads="1"/>
            </p:cNvSpPr>
            <p:nvPr/>
          </p:nvSpPr>
          <p:spPr bwMode="auto">
            <a:xfrm>
              <a:off x="1071538" y="1785932"/>
              <a:ext cx="500066" cy="500066"/>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18445" name="TextBox 11">
              <a:extLst>
                <a:ext uri="{FF2B5EF4-FFF2-40B4-BE49-F238E27FC236}">
                  <a16:creationId xmlns:a16="http://schemas.microsoft.com/office/drawing/2014/main" id="{0C7FD9DA-F48D-43E4-8EDD-8D52086AAA7B}"/>
                </a:ext>
              </a:extLst>
            </p:cNvPr>
            <p:cNvSpPr txBox="1">
              <a:spLocks noChangeArrowheads="1"/>
            </p:cNvSpPr>
            <p:nvPr/>
          </p:nvSpPr>
          <p:spPr bwMode="auto">
            <a:xfrm>
              <a:off x="1643040" y="1785932"/>
              <a:ext cx="3786202" cy="44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t>本章小结</a:t>
              </a:r>
            </a:p>
          </p:txBody>
        </p:sp>
      </p:grpSp>
      <p:sp>
        <p:nvSpPr>
          <p:cNvPr id="18" name="标题 1">
            <a:extLst>
              <a:ext uri="{FF2B5EF4-FFF2-40B4-BE49-F238E27FC236}">
                <a16:creationId xmlns:a16="http://schemas.microsoft.com/office/drawing/2014/main" id="{B3E4127F-84B6-4C9A-9F12-09985933168C}"/>
              </a:ext>
            </a:extLst>
          </p:cNvPr>
          <p:cNvSpPr txBox="1">
            <a:spLocks/>
          </p:cNvSpPr>
          <p:nvPr/>
        </p:nvSpPr>
        <p:spPr bwMode="auto">
          <a:xfrm>
            <a:off x="1500166" y="785800"/>
            <a:ext cx="6072230" cy="632693"/>
          </a:xfrm>
          <a:prstGeom prst="rect">
            <a:avLst/>
          </a:prstGeom>
          <a:noFill/>
          <a:ln w="9525">
            <a:noFill/>
            <a:miter lim="800000"/>
            <a:headEnd/>
            <a:tailEnd/>
          </a:ln>
        </p:spPr>
        <p:txBody>
          <a:bodyPr anchor="ctr"/>
          <a:lstStyle/>
          <a:p>
            <a:pPr algn="ctr">
              <a:defRPr/>
            </a:pPr>
            <a:r>
              <a:rPr lang="zh-CN" altLang="en-US" sz="3200" b="1" dirty="0">
                <a:solidFill>
                  <a:srgbClr val="C00000"/>
                </a:solidFill>
                <a:effectLst>
                  <a:reflection blurRad="6350" stA="50000" endA="300" endPos="50000" dist="60007" dir="5400000" sy="-100000" algn="bl" rotWithShape="0"/>
                </a:effectLst>
                <a:latin typeface="+mj-ea"/>
                <a:ea typeface="+mj-ea"/>
                <a:cs typeface="+mj-cs"/>
              </a:rPr>
              <a:t>内容提纲</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iterate type="lt">
                                    <p:tmPct val="0"/>
                                  </p:iterate>
                                  <p:childTnLst>
                                    <p:animClr clrSpc="rgb" dir="cw">
                                      <p:cBhvr override="childStyle">
                                        <p:cTn id="6" dur="500" fill="hold"/>
                                        <p:tgtEl>
                                          <p:spTgt spid="13">
                                            <p:txEl>
                                              <p:pRg st="0" end="0"/>
                                            </p:txEl>
                                          </p:spTgt>
                                        </p:tgtEl>
                                        <p:attrNameLst>
                                          <p:attrName>style.color</p:attrName>
                                        </p:attrNameLst>
                                      </p:cBhvr>
                                      <p:to>
                                        <a:srgbClr val="CC0000"/>
                                      </p:to>
                                    </p:animClr>
                                  </p:childTnLst>
                                </p:cTn>
                              </p:par>
                              <p:par>
                                <p:cTn id="7" presetID="15" presetClass="emph" presetSubtype="0" nodeType="withEffect">
                                  <p:stCondLst>
                                    <p:cond delay="0"/>
                                  </p:stCondLst>
                                  <p:iterate type="lt">
                                    <p:tmAbs val="25"/>
                                  </p:iterate>
                                  <p:childTnLst>
                                    <p:set>
                                      <p:cBhvr override="childStyle">
                                        <p:cTn id="8" dur="indefinite"/>
                                        <p:tgtEl>
                                          <p:spTgt spid="13">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3">
            <a:extLst>
              <a:ext uri="{FF2B5EF4-FFF2-40B4-BE49-F238E27FC236}">
                <a16:creationId xmlns:a16="http://schemas.microsoft.com/office/drawing/2014/main" id="{DF224682-4A8C-477F-9C14-2ACEB855745C}"/>
              </a:ext>
            </a:extLst>
          </p:cNvPr>
          <p:cNvSpPr>
            <a:spLocks noGrp="1"/>
          </p:cNvSpPr>
          <p:nvPr>
            <p:ph type="title"/>
          </p:nvPr>
        </p:nvSpPr>
        <p:spPr>
          <a:xfrm>
            <a:off x="2357422" y="857238"/>
            <a:ext cx="3929090" cy="1021556"/>
          </a:xfrm>
        </p:spPr>
        <p:txBody>
          <a:bodyPr/>
          <a:lstStyle/>
          <a:p>
            <a:pPr>
              <a:defRPr/>
            </a:pPr>
            <a:r>
              <a:rPr lang="en-US" dirty="0">
                <a:latin typeface="Cambria Math" pitchFamily="18" charset="0"/>
                <a:ea typeface="Cambria Math" pitchFamily="18" charset="0"/>
              </a:rPr>
              <a:t>3.2   </a:t>
            </a:r>
            <a:r>
              <a:rPr altLang="en-US" dirty="0"/>
              <a:t>信息安全的威胁</a:t>
            </a:r>
          </a:p>
        </p:txBody>
      </p:sp>
      <p:sp>
        <p:nvSpPr>
          <p:cNvPr id="19459" name="矩形 3">
            <a:extLst>
              <a:ext uri="{FF2B5EF4-FFF2-40B4-BE49-F238E27FC236}">
                <a16:creationId xmlns:a16="http://schemas.microsoft.com/office/drawing/2014/main" id="{045CC671-AD4A-4572-AB21-773E5596B332}"/>
              </a:ext>
            </a:extLst>
          </p:cNvPr>
          <p:cNvSpPr>
            <a:spLocks noChangeArrowheads="1"/>
          </p:cNvSpPr>
          <p:nvPr/>
        </p:nvSpPr>
        <p:spPr bwMode="auto">
          <a:xfrm>
            <a:off x="2500313" y="2000250"/>
            <a:ext cx="560070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5113" indent="-265113">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just" eaLnBrk="1" hangingPunct="1">
              <a:lnSpc>
                <a:spcPct val="200000"/>
              </a:lnSpc>
              <a:buClrTx/>
              <a:buSzPct val="80000"/>
              <a:buFontTx/>
              <a:buNone/>
            </a:pPr>
            <a:r>
              <a:rPr lang="en-US" altLang="zh-CN" sz="2000" b="1">
                <a:latin typeface="Comic Sans MS" panose="030F0702030302020204" pitchFamily="66" charset="0"/>
                <a:ea typeface="黑体" panose="02010609060101010101" pitchFamily="49" charset="-122"/>
                <a:cs typeface="Arial" panose="020B0604020202020204" pitchFamily="34" charset="0"/>
              </a:rPr>
              <a:t>3.2.1  </a:t>
            </a:r>
            <a:r>
              <a:rPr lang="zh-CN" altLang="en-US" sz="2000" b="1">
                <a:latin typeface="Comic Sans MS" panose="030F0702030302020204" pitchFamily="66" charset="0"/>
                <a:ea typeface="黑体" panose="02010609060101010101" pitchFamily="49" charset="-122"/>
                <a:cs typeface="Arial" panose="020B0604020202020204" pitchFamily="34" charset="0"/>
              </a:rPr>
              <a:t>信息安全的主要威胁</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a:p>
            <a:pPr algn="just" eaLnBrk="1" hangingPunct="1">
              <a:lnSpc>
                <a:spcPct val="200000"/>
              </a:lnSpc>
              <a:buClrTx/>
              <a:buSzPct val="80000"/>
              <a:buFontTx/>
              <a:buNone/>
            </a:pPr>
            <a:r>
              <a:rPr lang="en-US" altLang="zh-CN" sz="2000" b="1">
                <a:latin typeface="Comic Sans MS" panose="030F0702030302020204" pitchFamily="66" charset="0"/>
                <a:ea typeface="黑体" panose="02010609060101010101" pitchFamily="49" charset="-122"/>
                <a:cs typeface="Arial" panose="020B0604020202020204" pitchFamily="34" charset="0"/>
              </a:rPr>
              <a:t>3.2.2  </a:t>
            </a:r>
            <a:r>
              <a:rPr lang="zh-CN" altLang="en-US" sz="2000" b="1">
                <a:latin typeface="Comic Sans MS" panose="030F0702030302020204" pitchFamily="66" charset="0"/>
                <a:ea typeface="黑体" panose="02010609060101010101" pitchFamily="49" charset="-122"/>
                <a:cs typeface="Arial" panose="020B0604020202020204" pitchFamily="34" charset="0"/>
              </a:rPr>
              <a:t>攻击者实施攻击的主要对象</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a:p>
            <a:pPr algn="just" eaLnBrk="1" hangingPunct="1">
              <a:lnSpc>
                <a:spcPct val="200000"/>
              </a:lnSpc>
              <a:buClrTx/>
              <a:buSzPct val="80000"/>
              <a:buFontTx/>
              <a:buNone/>
            </a:pPr>
            <a:r>
              <a:rPr lang="en-US" altLang="zh-CN" sz="2000" b="1">
                <a:latin typeface="Comic Sans MS" panose="030F0702030302020204" pitchFamily="66" charset="0"/>
                <a:ea typeface="黑体" panose="02010609060101010101" pitchFamily="49" charset="-122"/>
                <a:cs typeface="Arial" panose="020B0604020202020204" pitchFamily="34" charset="0"/>
              </a:rPr>
              <a:t>3.2.3  </a:t>
            </a:r>
            <a:r>
              <a:rPr lang="zh-CN" altLang="en-US" sz="2000" b="1">
                <a:latin typeface="Comic Sans MS" panose="030F0702030302020204" pitchFamily="66" charset="0"/>
                <a:ea typeface="黑体" panose="02010609060101010101" pitchFamily="49" charset="-122"/>
                <a:cs typeface="Arial" panose="020B0604020202020204" pitchFamily="34" charset="0"/>
              </a:rPr>
              <a:t>社会工程学攻击</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p:txBody>
      </p:sp>
    </p:spTree>
  </p:cSld>
  <p:clrMapOvr>
    <a:masterClrMapping/>
  </p:clrMapOvr>
  <p:transition spd="med">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72A22C38-4334-4EBD-93B3-37F36D0DCFD0}"/>
              </a:ext>
            </a:extLst>
          </p:cNvPr>
          <p:cNvSpPr txBox="1">
            <a:spLocks/>
          </p:cNvSpPr>
          <p:nvPr/>
        </p:nvSpPr>
        <p:spPr bwMode="auto">
          <a:xfrm>
            <a:off x="500063" y="1214438"/>
            <a:ext cx="8001000" cy="335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r>
              <a:rPr lang="zh-CN" altLang="en-US" b="1">
                <a:solidFill>
                  <a:srgbClr val="0033CC"/>
                </a:solidFill>
              </a:rPr>
              <a:t>信息安全所面临的主要威胁有如下几种：</a:t>
            </a:r>
            <a:endParaRPr lang="en-US" altLang="zh-CN" b="1">
              <a:solidFill>
                <a:srgbClr val="0033CC"/>
              </a:solidFill>
            </a:endParaRPr>
          </a:p>
          <a:p>
            <a:pPr>
              <a:spcBef>
                <a:spcPts val="600"/>
              </a:spcBef>
              <a:buFont typeface="Wingdings" panose="05000000000000000000" pitchFamily="2" charset="2"/>
              <a:buChar char="Ø"/>
            </a:pPr>
            <a:r>
              <a:rPr lang="zh-CN" altLang="en-US" sz="1400" b="1"/>
              <a:t>（</a:t>
            </a:r>
            <a:r>
              <a:rPr lang="en-US" altLang="zh-CN" sz="1400" b="1"/>
              <a:t>1</a:t>
            </a:r>
            <a:r>
              <a:rPr lang="zh-CN" altLang="en-US" sz="1400" b="1"/>
              <a:t>）</a:t>
            </a:r>
            <a:r>
              <a:rPr lang="zh-CN" altLang="en-US" sz="1400" b="1">
                <a:solidFill>
                  <a:srgbClr val="FF0000"/>
                </a:solidFill>
              </a:rPr>
              <a:t>人为的失误</a:t>
            </a:r>
            <a:r>
              <a:rPr lang="zh-CN" altLang="en-US" sz="1400" b="1"/>
              <a:t>：如操作员安全配置不当造成的安全漏洞，用户安全意识不强，用户口令选择不慎，用户将自己的账号随意转借他人或与别人共享都会对网络安全带来威胁。</a:t>
            </a:r>
            <a:endParaRPr lang="en-US" altLang="zh-CN" sz="1400" b="1"/>
          </a:p>
          <a:p>
            <a:pPr>
              <a:spcBef>
                <a:spcPts val="600"/>
              </a:spcBef>
              <a:buFont typeface="Wingdings" panose="05000000000000000000" pitchFamily="2" charset="2"/>
              <a:buChar char="Ø"/>
            </a:pPr>
            <a:r>
              <a:rPr lang="zh-CN" altLang="en-US" sz="1400" b="1"/>
              <a:t>（</a:t>
            </a:r>
            <a:r>
              <a:rPr lang="en-US" altLang="zh-CN" sz="1400" b="1"/>
              <a:t>2</a:t>
            </a:r>
            <a:r>
              <a:rPr lang="zh-CN" altLang="en-US" sz="1400" b="1"/>
              <a:t>）</a:t>
            </a:r>
            <a:r>
              <a:rPr lang="zh-CN" altLang="en-US" sz="1400" b="1">
                <a:solidFill>
                  <a:srgbClr val="FF0000"/>
                </a:solidFill>
              </a:rPr>
              <a:t>信息截取</a:t>
            </a:r>
            <a:r>
              <a:rPr lang="zh-CN" altLang="en-US" sz="1400" b="1"/>
              <a:t>：通过信道进行信息的截取，获取机密信息，或通过信息的流量分析、通信频度、长度分析，推出有用的信息，这种方式不破坏信息的内容，不易被发现。这种方式是在过去军事对抗、政治对抗和当今经济对抗中最常用，也是最有效的方式。</a:t>
            </a:r>
            <a:endParaRPr lang="en-US" altLang="zh-CN" sz="1400" b="1"/>
          </a:p>
          <a:p>
            <a:pPr>
              <a:spcBef>
                <a:spcPts val="600"/>
              </a:spcBef>
              <a:buFont typeface="Wingdings" panose="05000000000000000000" pitchFamily="2" charset="2"/>
              <a:buChar char="Ø"/>
            </a:pPr>
            <a:r>
              <a:rPr lang="zh-CN" altLang="en-US" sz="1400" b="1"/>
              <a:t>（</a:t>
            </a:r>
            <a:r>
              <a:rPr lang="en-US" altLang="zh-CN" sz="1400" b="1"/>
              <a:t>3</a:t>
            </a:r>
            <a:r>
              <a:rPr lang="zh-CN" altLang="en-US" sz="1400" b="1"/>
              <a:t>）</a:t>
            </a:r>
            <a:r>
              <a:rPr lang="zh-CN" altLang="en-US" sz="1400" b="1">
                <a:solidFill>
                  <a:srgbClr val="FF0000"/>
                </a:solidFill>
              </a:rPr>
              <a:t>内部窃密和破坏</a:t>
            </a:r>
            <a:r>
              <a:rPr lang="zh-CN" altLang="en-US" sz="1400" b="1"/>
              <a:t>：内部或本系统的人员通过网络窃取机密、泄露或更改信息以及破坏信息系统。</a:t>
            </a:r>
            <a:endParaRPr lang="en-US" altLang="zh-CN" b="1"/>
          </a:p>
        </p:txBody>
      </p:sp>
      <p:sp>
        <p:nvSpPr>
          <p:cNvPr id="11" name="矩形 3">
            <a:extLst>
              <a:ext uri="{FF2B5EF4-FFF2-40B4-BE49-F238E27FC236}">
                <a16:creationId xmlns:a16="http://schemas.microsoft.com/office/drawing/2014/main" id="{707B286C-6CAD-4C3A-879E-121AECCA13C8}"/>
              </a:ext>
            </a:extLst>
          </p:cNvPr>
          <p:cNvSpPr>
            <a:spLocks noChangeArrowheads="1"/>
          </p:cNvSpPr>
          <p:nvPr/>
        </p:nvSpPr>
        <p:spPr bwMode="auto">
          <a:xfrm>
            <a:off x="6572264" y="142858"/>
            <a:ext cx="244810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a:t>
            </a:r>
            <a:r>
              <a:rPr lang="zh-CN" altLang="en-US" sz="2000" b="1" dirty="0">
                <a:solidFill>
                  <a:srgbClr val="C00000"/>
                </a:solidFill>
                <a:effectLst>
                  <a:reflection blurRad="6350" stA="50000" endA="300" endPos="50000" dist="60007" dir="5400000" sy="-100000" algn="bl" rotWithShape="0"/>
                </a:effectLst>
                <a:latin typeface="+mj-ea"/>
                <a:ea typeface="+mj-ea"/>
              </a:rPr>
              <a:t> 信息安全的威胁</a:t>
            </a:r>
          </a:p>
        </p:txBody>
      </p:sp>
      <p:sp>
        <p:nvSpPr>
          <p:cNvPr id="8" name="矩形 3">
            <a:extLst>
              <a:ext uri="{FF2B5EF4-FFF2-40B4-BE49-F238E27FC236}">
                <a16:creationId xmlns:a16="http://schemas.microsoft.com/office/drawing/2014/main" id="{DCD33464-BC03-40A6-B4DC-9D37717B2B4B}"/>
              </a:ext>
            </a:extLst>
          </p:cNvPr>
          <p:cNvSpPr>
            <a:spLocks noChangeArrowheads="1"/>
          </p:cNvSpPr>
          <p:nvPr/>
        </p:nvSpPr>
        <p:spPr bwMode="auto">
          <a:xfrm>
            <a:off x="214282" y="642924"/>
            <a:ext cx="3193503"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3.2.1 </a:t>
            </a:r>
            <a:r>
              <a:rPr lang="zh-CN" altLang="en-US" sz="2000" b="1" dirty="0">
                <a:solidFill>
                  <a:srgbClr val="C00000"/>
                </a:solidFill>
                <a:effectLst>
                  <a:reflection blurRad="6350" stA="50000" endA="300" endPos="50000" dist="60007" dir="5400000" sy="-100000" algn="bl" rotWithShape="0"/>
                </a:effectLst>
                <a:latin typeface="+mj-ea"/>
                <a:ea typeface="+mj-ea"/>
              </a:rPr>
              <a:t>信息安全的主要威胁</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24A79ECE-F2EB-453C-AA85-858468E61DC5}"/>
              </a:ext>
            </a:extLst>
          </p:cNvPr>
          <p:cNvSpPr txBox="1">
            <a:spLocks/>
          </p:cNvSpPr>
          <p:nvPr/>
        </p:nvSpPr>
        <p:spPr bwMode="auto">
          <a:xfrm>
            <a:off x="642938" y="1357313"/>
            <a:ext cx="8143875"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r>
              <a:rPr lang="zh-CN" altLang="en-US" b="1">
                <a:solidFill>
                  <a:srgbClr val="0033CC"/>
                </a:solidFill>
              </a:rPr>
              <a:t>信息安全所面临的主要威胁有如下几种：</a:t>
            </a:r>
            <a:endParaRPr lang="en-US" altLang="zh-CN" b="1">
              <a:solidFill>
                <a:srgbClr val="0033CC"/>
              </a:solidFill>
            </a:endParaRPr>
          </a:p>
          <a:p>
            <a:pPr>
              <a:spcBef>
                <a:spcPts val="600"/>
              </a:spcBef>
              <a:buFont typeface="Wingdings" panose="05000000000000000000" pitchFamily="2" charset="2"/>
              <a:buChar char="Ø"/>
            </a:pPr>
            <a:r>
              <a:rPr lang="zh-CN" altLang="en-US" sz="1400" b="1"/>
              <a:t>（</a:t>
            </a:r>
            <a:r>
              <a:rPr lang="en-US" altLang="zh-CN" sz="1400" b="1"/>
              <a:t>4</a:t>
            </a:r>
            <a:r>
              <a:rPr lang="zh-CN" altLang="en-US" sz="1400" b="1"/>
              <a:t>）</a:t>
            </a:r>
            <a:r>
              <a:rPr lang="zh-CN" altLang="en-US" sz="1400" b="1">
                <a:solidFill>
                  <a:srgbClr val="FF0000"/>
                </a:solidFill>
              </a:rPr>
              <a:t>黑客攻击</a:t>
            </a:r>
            <a:r>
              <a:rPr lang="zh-CN" altLang="en-US" sz="1400" b="1"/>
              <a:t>：黑客已经成为网络安全的最大隐患。</a:t>
            </a:r>
            <a:endParaRPr lang="en-US" altLang="zh-CN" sz="1400" b="1"/>
          </a:p>
          <a:p>
            <a:pPr>
              <a:spcBef>
                <a:spcPts val="600"/>
              </a:spcBef>
              <a:buFont typeface="Wingdings" panose="05000000000000000000" pitchFamily="2" charset="2"/>
              <a:buChar char="Ø"/>
            </a:pPr>
            <a:r>
              <a:rPr lang="zh-CN" altLang="en-US" sz="1400" b="1"/>
              <a:t>（</a:t>
            </a:r>
            <a:r>
              <a:rPr lang="en-US" altLang="zh-CN" sz="1400" b="1"/>
              <a:t>5</a:t>
            </a:r>
            <a:r>
              <a:rPr lang="zh-CN" altLang="en-US" sz="1400" b="1"/>
              <a:t>）</a:t>
            </a:r>
            <a:r>
              <a:rPr lang="zh-CN" altLang="en-US" sz="1400" b="1">
                <a:solidFill>
                  <a:srgbClr val="FF0000"/>
                </a:solidFill>
              </a:rPr>
              <a:t>技术缺陷</a:t>
            </a:r>
            <a:r>
              <a:rPr lang="zh-CN" altLang="en-US" sz="1400" b="1"/>
              <a:t>：由于认识能力和技术发展的局限性，在硬件和软件设计过程中，难免留下技术缺陷，由此可造成网络的安全隐患。其次网络硬件、软件产品多数依靠进口。</a:t>
            </a:r>
            <a:endParaRPr lang="en-US" altLang="zh-CN" sz="1400" b="1"/>
          </a:p>
          <a:p>
            <a:pPr>
              <a:spcBef>
                <a:spcPts val="600"/>
              </a:spcBef>
              <a:buFont typeface="Wingdings" panose="05000000000000000000" pitchFamily="2" charset="2"/>
              <a:buChar char="Ø"/>
            </a:pPr>
            <a:r>
              <a:rPr lang="zh-CN" altLang="en-US" sz="1400" b="1"/>
              <a:t>（</a:t>
            </a:r>
            <a:r>
              <a:rPr lang="en-US" altLang="zh-CN" sz="1400" b="1"/>
              <a:t>6</a:t>
            </a:r>
            <a:r>
              <a:rPr lang="zh-CN" altLang="en-US" sz="1400" b="1"/>
              <a:t>）</a:t>
            </a:r>
            <a:r>
              <a:rPr lang="zh-CN" altLang="en-US" sz="1400" b="1">
                <a:solidFill>
                  <a:srgbClr val="FF0000"/>
                </a:solidFill>
              </a:rPr>
              <a:t>病毒</a:t>
            </a:r>
            <a:r>
              <a:rPr lang="zh-CN" altLang="en-US" sz="1400" b="1"/>
              <a:t>：计算机病毒感染方式已从单机的被动传播变成了利用网络的主动传播，从计算机主体到手机终端的传播，不仅带来了网络的破坏，而且造成用户隐私信息的泄露甚至带来严重的金融安全。</a:t>
            </a:r>
            <a:endParaRPr lang="en-US" altLang="zh-CN" sz="1400" b="1"/>
          </a:p>
          <a:p>
            <a:pPr>
              <a:buFontTx/>
              <a:buNone/>
            </a:pPr>
            <a:endParaRPr lang="en-US" altLang="zh-CN" sz="1400" b="1"/>
          </a:p>
        </p:txBody>
      </p:sp>
      <p:sp>
        <p:nvSpPr>
          <p:cNvPr id="11" name="矩形 3">
            <a:extLst>
              <a:ext uri="{FF2B5EF4-FFF2-40B4-BE49-F238E27FC236}">
                <a16:creationId xmlns:a16="http://schemas.microsoft.com/office/drawing/2014/main" id="{A8736C24-9B86-4FC8-BEF6-87FB720A654F}"/>
              </a:ext>
            </a:extLst>
          </p:cNvPr>
          <p:cNvSpPr>
            <a:spLocks noChangeArrowheads="1"/>
          </p:cNvSpPr>
          <p:nvPr/>
        </p:nvSpPr>
        <p:spPr bwMode="auto">
          <a:xfrm>
            <a:off x="6572264" y="142858"/>
            <a:ext cx="244810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a:t>
            </a:r>
            <a:r>
              <a:rPr lang="zh-CN" altLang="en-US" sz="2000" b="1" dirty="0">
                <a:solidFill>
                  <a:srgbClr val="C00000"/>
                </a:solidFill>
                <a:effectLst>
                  <a:reflection blurRad="6350" stA="50000" endA="300" endPos="50000" dist="60007" dir="5400000" sy="-100000" algn="bl" rotWithShape="0"/>
                </a:effectLst>
                <a:latin typeface="+mj-ea"/>
                <a:ea typeface="+mj-ea"/>
              </a:rPr>
              <a:t> 信息安全的威胁</a:t>
            </a:r>
          </a:p>
        </p:txBody>
      </p:sp>
      <p:sp>
        <p:nvSpPr>
          <p:cNvPr id="8" name="矩形 3">
            <a:extLst>
              <a:ext uri="{FF2B5EF4-FFF2-40B4-BE49-F238E27FC236}">
                <a16:creationId xmlns:a16="http://schemas.microsoft.com/office/drawing/2014/main" id="{38680C04-940E-46ED-96E8-9975FAEFAE21}"/>
              </a:ext>
            </a:extLst>
          </p:cNvPr>
          <p:cNvSpPr>
            <a:spLocks noChangeArrowheads="1"/>
          </p:cNvSpPr>
          <p:nvPr/>
        </p:nvSpPr>
        <p:spPr bwMode="auto">
          <a:xfrm>
            <a:off x="214282" y="642924"/>
            <a:ext cx="3193503"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3.2.1 </a:t>
            </a:r>
            <a:r>
              <a:rPr lang="zh-CN" altLang="en-US" sz="2000" b="1" dirty="0">
                <a:solidFill>
                  <a:srgbClr val="C00000"/>
                </a:solidFill>
                <a:effectLst>
                  <a:reflection blurRad="6350" stA="50000" endA="300" endPos="50000" dist="60007" dir="5400000" sy="-100000" algn="bl" rotWithShape="0"/>
                </a:effectLst>
                <a:latin typeface="+mj-ea"/>
                <a:ea typeface="+mj-ea"/>
              </a:rPr>
              <a:t>信息安全的主要威胁</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547703AF-84B4-44C3-8591-259E37517492}"/>
              </a:ext>
            </a:extLst>
          </p:cNvPr>
          <p:cNvSpPr txBox="1">
            <a:spLocks/>
          </p:cNvSpPr>
          <p:nvPr/>
        </p:nvSpPr>
        <p:spPr bwMode="auto">
          <a:xfrm>
            <a:off x="285750" y="1071563"/>
            <a:ext cx="8572500"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r>
              <a:rPr lang="zh-CN" altLang="en-US" b="1">
                <a:solidFill>
                  <a:srgbClr val="0033CC"/>
                </a:solidFill>
              </a:rPr>
              <a:t>计算机网络安全威胁归纳起来常表现为以下特征：</a:t>
            </a:r>
            <a:endParaRPr lang="en-US" altLang="zh-CN" b="1">
              <a:solidFill>
                <a:srgbClr val="0033CC"/>
              </a:solidFill>
            </a:endParaRPr>
          </a:p>
          <a:p>
            <a:pPr>
              <a:spcBef>
                <a:spcPts val="400"/>
              </a:spcBef>
              <a:buFont typeface="Wingdings" panose="05000000000000000000" pitchFamily="2" charset="2"/>
              <a:buChar char="Ø"/>
            </a:pPr>
            <a:r>
              <a:rPr lang="zh-CN" altLang="en-US" sz="1400" b="1"/>
              <a:t>（</a:t>
            </a:r>
            <a:r>
              <a:rPr lang="en-US" altLang="zh-CN" sz="1400" b="1"/>
              <a:t>1</a:t>
            </a:r>
            <a:r>
              <a:rPr lang="zh-CN" altLang="en-US" sz="1400" b="1"/>
              <a:t>）</a:t>
            </a:r>
            <a:r>
              <a:rPr lang="zh-CN" altLang="en-US" sz="1400" b="1">
                <a:solidFill>
                  <a:srgbClr val="FF0000"/>
                </a:solidFill>
              </a:rPr>
              <a:t>窃听</a:t>
            </a:r>
            <a:r>
              <a:rPr lang="zh-CN" altLang="en-US" sz="1400" b="1"/>
              <a:t>：攻击者通过监视网络数据获得敏感信息。</a:t>
            </a:r>
            <a:endParaRPr lang="en-US" altLang="zh-CN" sz="1400" b="1"/>
          </a:p>
          <a:p>
            <a:pPr>
              <a:spcBef>
                <a:spcPts val="400"/>
              </a:spcBef>
              <a:buFont typeface="Wingdings" panose="05000000000000000000" pitchFamily="2" charset="2"/>
              <a:buChar char="Ø"/>
            </a:pPr>
            <a:r>
              <a:rPr lang="zh-CN" altLang="en-US" sz="1400" b="1"/>
              <a:t>（</a:t>
            </a:r>
            <a:r>
              <a:rPr lang="en-US" altLang="zh-CN" sz="1400" b="1"/>
              <a:t>2</a:t>
            </a:r>
            <a:r>
              <a:rPr lang="zh-CN" altLang="en-US" sz="1400" b="1"/>
              <a:t>）</a:t>
            </a:r>
            <a:r>
              <a:rPr lang="zh-CN" altLang="en-US" sz="1400" b="1">
                <a:solidFill>
                  <a:srgbClr val="FF0000"/>
                </a:solidFill>
              </a:rPr>
              <a:t>重传</a:t>
            </a:r>
            <a:r>
              <a:rPr lang="zh-CN" altLang="en-US" sz="1400" b="1"/>
              <a:t>：攻击者先获得部分或全部信息，而以后将此信息发送给接收者。</a:t>
            </a:r>
            <a:endParaRPr lang="en-US" altLang="zh-CN" sz="1400" b="1"/>
          </a:p>
          <a:p>
            <a:pPr>
              <a:spcBef>
                <a:spcPts val="400"/>
              </a:spcBef>
              <a:buFont typeface="Wingdings" panose="05000000000000000000" pitchFamily="2" charset="2"/>
              <a:buChar char="Ø"/>
            </a:pPr>
            <a:r>
              <a:rPr lang="zh-CN" altLang="en-US" sz="1400" b="1"/>
              <a:t>（</a:t>
            </a:r>
            <a:r>
              <a:rPr lang="en-US" altLang="zh-CN" sz="1400" b="1"/>
              <a:t>3</a:t>
            </a:r>
            <a:r>
              <a:rPr lang="zh-CN" altLang="en-US" sz="1400" b="1"/>
              <a:t>）</a:t>
            </a:r>
            <a:r>
              <a:rPr lang="zh-CN" altLang="en-US" sz="1400" b="1">
                <a:solidFill>
                  <a:srgbClr val="FF0000"/>
                </a:solidFill>
              </a:rPr>
              <a:t>伪造</a:t>
            </a:r>
            <a:r>
              <a:rPr lang="zh-CN" altLang="en-US" sz="1400" b="1"/>
              <a:t>：攻击者将伪造的信息发送给接收者。</a:t>
            </a:r>
            <a:endParaRPr lang="en-US" altLang="zh-CN" sz="1400" b="1"/>
          </a:p>
          <a:p>
            <a:pPr>
              <a:spcBef>
                <a:spcPts val="400"/>
              </a:spcBef>
              <a:buFont typeface="Wingdings" panose="05000000000000000000" pitchFamily="2" charset="2"/>
              <a:buChar char="Ø"/>
            </a:pPr>
            <a:r>
              <a:rPr lang="zh-CN" altLang="en-US" sz="1400" b="1"/>
              <a:t>（</a:t>
            </a:r>
            <a:r>
              <a:rPr lang="en-US" altLang="zh-CN" sz="1400" b="1"/>
              <a:t>4</a:t>
            </a:r>
            <a:r>
              <a:rPr lang="zh-CN" altLang="en-US" sz="1400" b="1"/>
              <a:t>）</a:t>
            </a:r>
            <a:r>
              <a:rPr lang="zh-CN" altLang="en-US" sz="1400" b="1">
                <a:solidFill>
                  <a:srgbClr val="FF0000"/>
                </a:solidFill>
              </a:rPr>
              <a:t>篡改</a:t>
            </a:r>
            <a:r>
              <a:rPr lang="zh-CN" altLang="en-US" sz="1400" b="1"/>
              <a:t>：攻击者对合法用户之间的通信信息进行修改、删除、插入，再发送给接收者。</a:t>
            </a:r>
            <a:endParaRPr lang="en-US" altLang="zh-CN" sz="1400" b="1"/>
          </a:p>
          <a:p>
            <a:pPr>
              <a:spcBef>
                <a:spcPts val="400"/>
              </a:spcBef>
              <a:buFont typeface="Wingdings" panose="05000000000000000000" pitchFamily="2" charset="2"/>
              <a:buChar char="Ø"/>
            </a:pPr>
            <a:r>
              <a:rPr lang="zh-CN" altLang="en-US" sz="1400" b="1"/>
              <a:t>（</a:t>
            </a:r>
            <a:r>
              <a:rPr lang="en-US" altLang="zh-CN" sz="1400" b="1"/>
              <a:t>5</a:t>
            </a:r>
            <a:r>
              <a:rPr lang="zh-CN" altLang="en-US" sz="1400" b="1"/>
              <a:t>）</a:t>
            </a:r>
            <a:r>
              <a:rPr lang="zh-CN" altLang="en-US" sz="1400" b="1">
                <a:solidFill>
                  <a:srgbClr val="FF0000"/>
                </a:solidFill>
              </a:rPr>
              <a:t>拒绝服务攻击</a:t>
            </a:r>
            <a:r>
              <a:rPr lang="zh-CN" altLang="en-US" sz="1400" b="1"/>
              <a:t>：攻击者通过某种方法使系统响应减慢甚至瘫痪，阻碍合法用户获得服务。</a:t>
            </a:r>
            <a:endParaRPr lang="en-US" altLang="zh-CN" sz="1400" b="1"/>
          </a:p>
          <a:p>
            <a:pPr>
              <a:spcBef>
                <a:spcPts val="400"/>
              </a:spcBef>
              <a:buFont typeface="Wingdings" panose="05000000000000000000" pitchFamily="2" charset="2"/>
              <a:buChar char="Ø"/>
            </a:pPr>
            <a:r>
              <a:rPr lang="zh-CN" altLang="en-US" sz="1400" b="1"/>
              <a:t>（</a:t>
            </a:r>
            <a:r>
              <a:rPr lang="en-US" altLang="zh-CN" sz="1400" b="1"/>
              <a:t>6</a:t>
            </a:r>
            <a:r>
              <a:rPr lang="zh-CN" altLang="en-US" sz="1400" b="1"/>
              <a:t>）</a:t>
            </a:r>
            <a:r>
              <a:rPr lang="zh-CN" altLang="en-US" sz="1400" b="1">
                <a:solidFill>
                  <a:srgbClr val="FF0000"/>
                </a:solidFill>
              </a:rPr>
              <a:t>行为否认</a:t>
            </a:r>
            <a:r>
              <a:rPr lang="zh-CN" altLang="en-US" sz="1400" b="1"/>
              <a:t>：通过实体否认已经发生的行为。</a:t>
            </a:r>
            <a:endParaRPr lang="en-US" altLang="zh-CN" sz="1400" b="1"/>
          </a:p>
          <a:p>
            <a:pPr>
              <a:spcBef>
                <a:spcPts val="400"/>
              </a:spcBef>
              <a:buFont typeface="Wingdings" panose="05000000000000000000" pitchFamily="2" charset="2"/>
              <a:buChar char="Ø"/>
            </a:pPr>
            <a:r>
              <a:rPr lang="zh-CN" altLang="en-US" sz="1400" b="1"/>
              <a:t>（</a:t>
            </a:r>
            <a:r>
              <a:rPr lang="en-US" altLang="zh-CN" sz="1400" b="1"/>
              <a:t>7</a:t>
            </a:r>
            <a:r>
              <a:rPr lang="zh-CN" altLang="en-US" sz="1400" b="1"/>
              <a:t>）</a:t>
            </a:r>
            <a:r>
              <a:rPr lang="zh-CN" altLang="en-US" sz="1400" b="1">
                <a:solidFill>
                  <a:srgbClr val="FF0000"/>
                </a:solidFill>
              </a:rPr>
              <a:t>非授权访问</a:t>
            </a:r>
            <a:r>
              <a:rPr lang="zh-CN" altLang="en-US" sz="1400" b="1"/>
              <a:t>：没有预先经过同意，就使用网络或计算机资源。</a:t>
            </a:r>
            <a:endParaRPr lang="en-US" altLang="zh-CN" sz="1400" b="1"/>
          </a:p>
          <a:p>
            <a:pPr>
              <a:spcBef>
                <a:spcPts val="400"/>
              </a:spcBef>
              <a:buFont typeface="Wingdings" panose="05000000000000000000" pitchFamily="2" charset="2"/>
              <a:buChar char="Ø"/>
            </a:pPr>
            <a:r>
              <a:rPr lang="zh-CN" altLang="en-US" sz="1400" b="1"/>
              <a:t>（</a:t>
            </a:r>
            <a:r>
              <a:rPr lang="en-US" altLang="zh-CN" sz="1400" b="1"/>
              <a:t>8</a:t>
            </a:r>
            <a:r>
              <a:rPr lang="zh-CN" altLang="en-US" sz="1400" b="1"/>
              <a:t>）</a:t>
            </a:r>
            <a:r>
              <a:rPr lang="zh-CN" altLang="en-US" sz="1400" b="1">
                <a:solidFill>
                  <a:srgbClr val="FF0000"/>
                </a:solidFill>
              </a:rPr>
              <a:t>传播病毒</a:t>
            </a:r>
            <a:r>
              <a:rPr lang="zh-CN" altLang="en-US" sz="1400" b="1"/>
              <a:t>：通过网络传播计算机病毒，其破坏性非常高，而且用户很难防范。</a:t>
            </a:r>
            <a:endParaRPr lang="en-US" altLang="zh-CN" sz="1400" b="1"/>
          </a:p>
        </p:txBody>
      </p:sp>
      <p:sp>
        <p:nvSpPr>
          <p:cNvPr id="11" name="矩形 3">
            <a:extLst>
              <a:ext uri="{FF2B5EF4-FFF2-40B4-BE49-F238E27FC236}">
                <a16:creationId xmlns:a16="http://schemas.microsoft.com/office/drawing/2014/main" id="{AA2895BE-B6DF-4D88-A557-46820EFF6402}"/>
              </a:ext>
            </a:extLst>
          </p:cNvPr>
          <p:cNvSpPr>
            <a:spLocks noChangeArrowheads="1"/>
          </p:cNvSpPr>
          <p:nvPr/>
        </p:nvSpPr>
        <p:spPr bwMode="auto">
          <a:xfrm>
            <a:off x="6572264" y="142858"/>
            <a:ext cx="244810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a:t>
            </a:r>
            <a:r>
              <a:rPr lang="zh-CN" altLang="en-US" sz="2000" b="1" dirty="0">
                <a:solidFill>
                  <a:srgbClr val="C00000"/>
                </a:solidFill>
                <a:effectLst>
                  <a:reflection blurRad="6350" stA="50000" endA="300" endPos="50000" dist="60007" dir="5400000" sy="-100000" algn="bl" rotWithShape="0"/>
                </a:effectLst>
                <a:latin typeface="+mj-ea"/>
                <a:ea typeface="+mj-ea"/>
              </a:rPr>
              <a:t> 信息安全的威胁</a:t>
            </a:r>
          </a:p>
        </p:txBody>
      </p:sp>
      <p:sp>
        <p:nvSpPr>
          <p:cNvPr id="8" name="矩形 3">
            <a:extLst>
              <a:ext uri="{FF2B5EF4-FFF2-40B4-BE49-F238E27FC236}">
                <a16:creationId xmlns:a16="http://schemas.microsoft.com/office/drawing/2014/main" id="{62AACCE3-ED4D-45AA-93DE-3A04CECBFEB3}"/>
              </a:ext>
            </a:extLst>
          </p:cNvPr>
          <p:cNvSpPr>
            <a:spLocks noChangeArrowheads="1"/>
          </p:cNvSpPr>
          <p:nvPr/>
        </p:nvSpPr>
        <p:spPr bwMode="auto">
          <a:xfrm>
            <a:off x="214282" y="642924"/>
            <a:ext cx="3193503"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3.2.1 </a:t>
            </a:r>
            <a:r>
              <a:rPr lang="zh-CN" altLang="en-US" sz="2000" b="1" dirty="0">
                <a:solidFill>
                  <a:srgbClr val="C00000"/>
                </a:solidFill>
                <a:effectLst>
                  <a:reflection blurRad="6350" stA="50000" endA="300" endPos="50000" dist="60007" dir="5400000" sy="-100000" algn="bl" rotWithShape="0"/>
                </a:effectLst>
                <a:latin typeface="+mj-ea"/>
                <a:ea typeface="+mj-ea"/>
              </a:rPr>
              <a:t>信息安全的主要威胁</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fade">
                                      <p:cBhvr>
                                        <p:cTn id="10" dur="500"/>
                                        <p:tgtEl>
                                          <p:spTgt spid="6">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fade">
                                      <p:cBhvr>
                                        <p:cTn id="13" dur="500"/>
                                        <p:tgtEl>
                                          <p:spTgt spid="6">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animEffect transition="in" filter="fade">
                                      <p:cBhvr>
                                        <p:cTn id="16" dur="500"/>
                                        <p:tgtEl>
                                          <p:spTgt spid="6">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animEffect transition="in" filter="fade">
                                      <p:cBhvr>
                                        <p:cTn id="19" dur="500"/>
                                        <p:tgtEl>
                                          <p:spTgt spid="6">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500"/>
                                        <p:tgtEl>
                                          <p:spTgt spid="6">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animEffect transition="in" filter="fade">
                                      <p:cBhvr>
                                        <p:cTn id="25" dur="500"/>
                                        <p:tgtEl>
                                          <p:spTgt spid="6">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6">
                                            <p:txEl>
                                              <p:pRg st="8" end="8"/>
                                            </p:txEl>
                                          </p:spTgt>
                                        </p:tgtEl>
                                        <p:attrNameLst>
                                          <p:attrName>style.visibility</p:attrName>
                                        </p:attrNameLst>
                                      </p:cBhvr>
                                      <p:to>
                                        <p:strVal val="visible"/>
                                      </p:to>
                                    </p:set>
                                    <p:animEffect transition="in" filter="fade">
                                      <p:cBhvr>
                                        <p:cTn id="28"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a:extLst>
              <a:ext uri="{FF2B5EF4-FFF2-40B4-BE49-F238E27FC236}">
                <a16:creationId xmlns:a16="http://schemas.microsoft.com/office/drawing/2014/main" id="{EB7F3178-1E64-4F52-8698-9B8955D5FE94}"/>
              </a:ext>
            </a:extLst>
          </p:cNvPr>
          <p:cNvSpPr txBox="1">
            <a:spLocks/>
          </p:cNvSpPr>
          <p:nvPr/>
        </p:nvSpPr>
        <p:spPr bwMode="auto">
          <a:xfrm>
            <a:off x="285750" y="1071563"/>
            <a:ext cx="8572500"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zh-CN" altLang="en-US" b="1">
                <a:solidFill>
                  <a:srgbClr val="1AB39F"/>
                </a:solidFill>
              </a:rPr>
              <a:t>信息安全威胁的基本类型有：</a:t>
            </a:r>
            <a:endParaRPr lang="en-US" altLang="zh-CN" b="1">
              <a:solidFill>
                <a:srgbClr val="1AB39F"/>
              </a:solidFill>
            </a:endParaRPr>
          </a:p>
          <a:p>
            <a:r>
              <a:rPr lang="en-US" altLang="zh-CN" b="1"/>
              <a:t>1</a:t>
            </a:r>
            <a:r>
              <a:rPr lang="zh-CN" altLang="en-US" b="1"/>
              <a:t>）针对网络基础设施的攻击</a:t>
            </a:r>
            <a:endParaRPr lang="en-US" altLang="zh-CN" b="1"/>
          </a:p>
          <a:p>
            <a:pPr>
              <a:spcBef>
                <a:spcPts val="400"/>
              </a:spcBef>
              <a:buFont typeface="Wingdings" panose="05000000000000000000" pitchFamily="2" charset="2"/>
              <a:buChar char="Ø"/>
            </a:pPr>
            <a:r>
              <a:rPr lang="zh-CN" altLang="en-US" sz="1400" b="1"/>
              <a:t>近年来，我国基础网络安全防护水平进一步提升，但是基础网络设备仍存在较多安全漏洞，深层次安全风险和事件逐渐增多。这些漏洞将可能导致网络设备或结点被操控，出现窃取用户信息、传播恶意代码、实施网络攻击、破坏网络稳定运行等安全事件。云服务日益成为网络攻击的重点目标。</a:t>
            </a:r>
            <a:endParaRPr lang="en-US" altLang="zh-CN" sz="1400" b="1"/>
          </a:p>
          <a:p>
            <a:pPr>
              <a:spcBef>
                <a:spcPts val="400"/>
              </a:spcBef>
              <a:buFont typeface="Wingdings" panose="05000000000000000000" pitchFamily="2" charset="2"/>
              <a:buChar char="Ø"/>
            </a:pPr>
            <a:r>
              <a:rPr lang="zh-CN" altLang="en-US" sz="1400" b="1"/>
              <a:t>域名系统承担域名解析工作，面临严重的拒绝服务攻击威胁，一些重要的网站频繁发生域名解析被篡改事件。</a:t>
            </a:r>
            <a:endParaRPr lang="en-US" altLang="zh-CN" sz="1400" b="1"/>
          </a:p>
          <a:p>
            <a:pPr>
              <a:spcBef>
                <a:spcPts val="400"/>
              </a:spcBef>
              <a:buFont typeface="Wingdings" panose="05000000000000000000" pitchFamily="2" charset="2"/>
              <a:buChar char="Ø"/>
            </a:pPr>
            <a:r>
              <a:rPr lang="zh-CN" altLang="en-US" sz="1400" b="1"/>
              <a:t>工业互联网是全球工业系统与高级计算、分析、感应技术以及互联网连接融合的结果。它通过智能机器间的连接并最终将人机连接，结合软件和大数据分析，重构全球工业、激发生产力。当前网络攻击威胁日益向工业互联网渗透。</a:t>
            </a:r>
            <a:endParaRPr lang="en-US" altLang="zh-CN" sz="1400" b="1"/>
          </a:p>
        </p:txBody>
      </p:sp>
      <p:sp>
        <p:nvSpPr>
          <p:cNvPr id="11" name="矩形 3">
            <a:extLst>
              <a:ext uri="{FF2B5EF4-FFF2-40B4-BE49-F238E27FC236}">
                <a16:creationId xmlns:a16="http://schemas.microsoft.com/office/drawing/2014/main" id="{3FB46691-DDCC-4C5B-9AB0-0179C6E4B646}"/>
              </a:ext>
            </a:extLst>
          </p:cNvPr>
          <p:cNvSpPr>
            <a:spLocks noChangeArrowheads="1"/>
          </p:cNvSpPr>
          <p:nvPr/>
        </p:nvSpPr>
        <p:spPr bwMode="auto">
          <a:xfrm>
            <a:off x="6572264" y="142858"/>
            <a:ext cx="244810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a:t>
            </a:r>
            <a:r>
              <a:rPr lang="zh-CN" altLang="en-US" sz="2000" b="1" dirty="0">
                <a:solidFill>
                  <a:srgbClr val="C00000"/>
                </a:solidFill>
                <a:effectLst>
                  <a:reflection blurRad="6350" stA="50000" endA="300" endPos="50000" dist="60007" dir="5400000" sy="-100000" algn="bl" rotWithShape="0"/>
                </a:effectLst>
                <a:latin typeface="+mj-ea"/>
                <a:ea typeface="+mj-ea"/>
              </a:rPr>
              <a:t> 信息安全的威胁</a:t>
            </a:r>
          </a:p>
        </p:txBody>
      </p:sp>
      <p:sp>
        <p:nvSpPr>
          <p:cNvPr id="8" name="矩形 3">
            <a:extLst>
              <a:ext uri="{FF2B5EF4-FFF2-40B4-BE49-F238E27FC236}">
                <a16:creationId xmlns:a16="http://schemas.microsoft.com/office/drawing/2014/main" id="{D8E47B86-5CC7-406C-B4DA-C28F22F2BC03}"/>
              </a:ext>
            </a:extLst>
          </p:cNvPr>
          <p:cNvSpPr>
            <a:spLocks noChangeArrowheads="1"/>
          </p:cNvSpPr>
          <p:nvPr/>
        </p:nvSpPr>
        <p:spPr bwMode="auto">
          <a:xfrm>
            <a:off x="214282" y="642924"/>
            <a:ext cx="3962944"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3.2.2 </a:t>
            </a:r>
            <a:r>
              <a:rPr lang="zh-CN" altLang="en-US" sz="2000" b="1" dirty="0">
                <a:solidFill>
                  <a:srgbClr val="C00000"/>
                </a:solidFill>
                <a:effectLst>
                  <a:reflection blurRad="6350" stA="50000" endA="300" endPos="50000" dist="60007" dir="5400000" sy="-100000" algn="bl" rotWithShape="0"/>
                </a:effectLst>
                <a:latin typeface="+mj-ea"/>
                <a:ea typeface="+mj-ea"/>
              </a:rPr>
              <a:t>攻击者实施攻击的主要对象</a:t>
            </a:r>
          </a:p>
        </p:txBody>
      </p:sp>
    </p:spTree>
  </p:cSld>
  <p:clrMapOvr>
    <a:masterClrMapping/>
  </p:clrMapOvr>
  <p:transition spd="med">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内容占位符 2">
            <a:extLst>
              <a:ext uri="{FF2B5EF4-FFF2-40B4-BE49-F238E27FC236}">
                <a16:creationId xmlns:a16="http://schemas.microsoft.com/office/drawing/2014/main" id="{ADBA3DC2-4D7D-45D2-BC47-0465F306B255}"/>
              </a:ext>
            </a:extLst>
          </p:cNvPr>
          <p:cNvSpPr txBox="1">
            <a:spLocks/>
          </p:cNvSpPr>
          <p:nvPr/>
        </p:nvSpPr>
        <p:spPr bwMode="auto">
          <a:xfrm>
            <a:off x="214313" y="928688"/>
            <a:ext cx="857250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zh-CN" altLang="en-US" b="1">
                <a:solidFill>
                  <a:srgbClr val="1AB39F"/>
                </a:solidFill>
              </a:rPr>
              <a:t>信息安全威胁的基本类型有：</a:t>
            </a:r>
            <a:endParaRPr lang="en-US" altLang="zh-CN" b="1">
              <a:solidFill>
                <a:srgbClr val="1AB39F"/>
              </a:solidFill>
            </a:endParaRPr>
          </a:p>
          <a:p>
            <a:r>
              <a:rPr lang="en-US" altLang="zh-CN" b="1"/>
              <a:t>2</a:t>
            </a:r>
            <a:r>
              <a:rPr lang="zh-CN" altLang="en-US" b="1"/>
              <a:t>）针对公共互联网的攻击</a:t>
            </a:r>
            <a:endParaRPr lang="en-US" altLang="zh-CN" b="1"/>
          </a:p>
          <a:p>
            <a:pPr>
              <a:buFontTx/>
              <a:buNone/>
            </a:pPr>
            <a:r>
              <a:rPr lang="en-US" altLang="zh-CN" b="1"/>
              <a:t>	</a:t>
            </a:r>
            <a:r>
              <a:rPr lang="zh-CN" altLang="en-US" b="1"/>
              <a:t>针对公共互联网的攻击，主要表现在木马僵尸网络、</a:t>
            </a:r>
            <a:r>
              <a:rPr lang="zh-CN" altLang="en-US" b="1" u="sng"/>
              <a:t>拒绝服务攻击</a:t>
            </a:r>
            <a:r>
              <a:rPr lang="zh-CN" altLang="en-US" b="1"/>
              <a:t>、</a:t>
            </a:r>
            <a:r>
              <a:rPr lang="zh-CN" altLang="en-US" b="1" u="sng"/>
              <a:t>安全漏洞</a:t>
            </a:r>
            <a:r>
              <a:rPr lang="zh-CN" altLang="en-US" b="1"/>
              <a:t>、网络数据泄露、</a:t>
            </a:r>
            <a:r>
              <a:rPr lang="zh-CN" altLang="en-US" b="1" u="sng"/>
              <a:t>移动互联网恶意程序</a:t>
            </a:r>
            <a:r>
              <a:rPr lang="zh-CN" altLang="en-US" b="1"/>
              <a:t>、网页仿冒、网站攻击等。</a:t>
            </a:r>
            <a:endParaRPr lang="en-US" altLang="zh-CN" b="1"/>
          </a:p>
          <a:p>
            <a:pPr>
              <a:buFont typeface="Wingdings" panose="05000000000000000000" pitchFamily="2" charset="2"/>
              <a:buChar char="Ø"/>
            </a:pPr>
            <a:r>
              <a:rPr lang="zh-CN" altLang="en-US" sz="1400" b="1"/>
              <a:t>以拒绝服务攻击为例，分布式反射型攻击（</a:t>
            </a:r>
            <a:r>
              <a:rPr lang="en-US" altLang="zh-CN" sz="1400" b="1"/>
              <a:t>Distributed Reflection Denial Service</a:t>
            </a:r>
            <a:r>
              <a:rPr lang="zh-CN" altLang="en-US" sz="1400" b="1"/>
              <a:t>，</a:t>
            </a:r>
            <a:r>
              <a:rPr lang="en-US" altLang="zh-CN" sz="1400" b="1"/>
              <a:t>DRDoS</a:t>
            </a:r>
            <a:r>
              <a:rPr lang="zh-CN" altLang="en-US" sz="1400" b="1"/>
              <a:t>）逐渐成为拒绝服务攻击的重要形式。分布式反射型攻击是指黑客不直接攻击目标，而利用互联网的一些网络服务协议和开放服务器，伪造被攻击目标地址向开放服务器发起大量请求包，服务器向攻击目标反馈大量应答包，间接发起攻击。</a:t>
            </a:r>
            <a:endParaRPr lang="en-US" altLang="zh-CN" sz="1400" b="1"/>
          </a:p>
          <a:p>
            <a:pPr>
              <a:buFont typeface="Wingdings" panose="05000000000000000000" pitchFamily="2" charset="2"/>
              <a:buChar char="ü"/>
            </a:pPr>
            <a:r>
              <a:rPr lang="zh-CN" altLang="en-US" sz="1400" b="1"/>
              <a:t>这种方式能够隐藏攻击来源，以较小的代价实现攻击规模放大，且攻击目标难以防御。</a:t>
            </a:r>
            <a:endParaRPr lang="en-US" altLang="zh-CN" sz="1400" b="1"/>
          </a:p>
          <a:p>
            <a:pPr>
              <a:buFont typeface="Wingdings" panose="05000000000000000000" pitchFamily="2" charset="2"/>
              <a:buChar char="ü"/>
            </a:pPr>
            <a:r>
              <a:rPr lang="zh-CN" altLang="en-US" sz="1400" b="1"/>
              <a:t>这类攻击在我国呈现三个明显特点。一是频繁且发生流量规模大；二是攻击方式复杂多样；三是攻击包来源以境外为主。</a:t>
            </a:r>
            <a:endParaRPr lang="en-US" altLang="zh-CN" sz="1400" b="1"/>
          </a:p>
        </p:txBody>
      </p:sp>
      <p:sp>
        <p:nvSpPr>
          <p:cNvPr id="11" name="矩形 3">
            <a:extLst>
              <a:ext uri="{FF2B5EF4-FFF2-40B4-BE49-F238E27FC236}">
                <a16:creationId xmlns:a16="http://schemas.microsoft.com/office/drawing/2014/main" id="{486E0C7B-4157-4AD5-9712-0EA568F6B71D}"/>
              </a:ext>
            </a:extLst>
          </p:cNvPr>
          <p:cNvSpPr>
            <a:spLocks noChangeArrowheads="1"/>
          </p:cNvSpPr>
          <p:nvPr/>
        </p:nvSpPr>
        <p:spPr bwMode="auto">
          <a:xfrm>
            <a:off x="6572264" y="142858"/>
            <a:ext cx="244810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a:t>
            </a:r>
            <a:r>
              <a:rPr lang="zh-CN" altLang="en-US" sz="2000" b="1" dirty="0">
                <a:solidFill>
                  <a:srgbClr val="C00000"/>
                </a:solidFill>
                <a:effectLst>
                  <a:reflection blurRad="6350" stA="50000" endA="300" endPos="50000" dist="60007" dir="5400000" sy="-100000" algn="bl" rotWithShape="0"/>
                </a:effectLst>
                <a:latin typeface="+mj-ea"/>
                <a:ea typeface="+mj-ea"/>
              </a:rPr>
              <a:t> 信息安全的威胁</a:t>
            </a:r>
          </a:p>
        </p:txBody>
      </p:sp>
      <p:sp>
        <p:nvSpPr>
          <p:cNvPr id="8" name="矩形 3">
            <a:extLst>
              <a:ext uri="{FF2B5EF4-FFF2-40B4-BE49-F238E27FC236}">
                <a16:creationId xmlns:a16="http://schemas.microsoft.com/office/drawing/2014/main" id="{96E55A03-EFF9-4FEC-A23A-99F7C652FABD}"/>
              </a:ext>
            </a:extLst>
          </p:cNvPr>
          <p:cNvSpPr>
            <a:spLocks noChangeArrowheads="1"/>
          </p:cNvSpPr>
          <p:nvPr/>
        </p:nvSpPr>
        <p:spPr bwMode="auto">
          <a:xfrm>
            <a:off x="214282" y="571486"/>
            <a:ext cx="3962944"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3.2.2 </a:t>
            </a:r>
            <a:r>
              <a:rPr lang="zh-CN" altLang="en-US" sz="2000" b="1" dirty="0">
                <a:solidFill>
                  <a:srgbClr val="C00000"/>
                </a:solidFill>
                <a:effectLst>
                  <a:reflection blurRad="6350" stA="50000" endA="300" endPos="50000" dist="60007" dir="5400000" sy="-100000" algn="bl" rotWithShape="0"/>
                </a:effectLst>
                <a:latin typeface="+mj-ea"/>
                <a:ea typeface="+mj-ea"/>
              </a:rPr>
              <a:t>攻击者实施攻击的主要对象</a:t>
            </a:r>
          </a:p>
        </p:txBody>
      </p:sp>
    </p:spTree>
  </p:cSld>
  <p:clrMapOvr>
    <a:masterClrMapping/>
  </p:clrMapOvr>
  <p:transition spd="med">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内容占位符 2">
            <a:extLst>
              <a:ext uri="{FF2B5EF4-FFF2-40B4-BE49-F238E27FC236}">
                <a16:creationId xmlns:a16="http://schemas.microsoft.com/office/drawing/2014/main" id="{4514EF16-844E-45F9-A8A3-29D151F0BECF}"/>
              </a:ext>
            </a:extLst>
          </p:cNvPr>
          <p:cNvSpPr txBox="1">
            <a:spLocks/>
          </p:cNvSpPr>
          <p:nvPr/>
        </p:nvSpPr>
        <p:spPr bwMode="auto">
          <a:xfrm>
            <a:off x="214313" y="928688"/>
            <a:ext cx="857250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zh-CN" altLang="en-US" b="1">
                <a:solidFill>
                  <a:srgbClr val="1AB39F"/>
                </a:solidFill>
              </a:rPr>
              <a:t>信息安全威胁的基本类型有：</a:t>
            </a:r>
            <a:endParaRPr lang="en-US" altLang="zh-CN" b="1">
              <a:solidFill>
                <a:srgbClr val="1AB39F"/>
              </a:solidFill>
            </a:endParaRPr>
          </a:p>
          <a:p>
            <a:r>
              <a:rPr lang="en-US" altLang="zh-CN" b="1"/>
              <a:t>2</a:t>
            </a:r>
            <a:r>
              <a:rPr lang="zh-CN" altLang="en-US" b="1"/>
              <a:t>）针对公共互联网的攻击</a:t>
            </a:r>
            <a:endParaRPr lang="en-US" altLang="zh-CN" b="1"/>
          </a:p>
          <a:p>
            <a:pPr>
              <a:spcBef>
                <a:spcPts val="400"/>
              </a:spcBef>
              <a:buFont typeface="Wingdings" panose="05000000000000000000" pitchFamily="2" charset="2"/>
              <a:buChar char="Ø"/>
            </a:pPr>
            <a:r>
              <a:rPr lang="zh-CN" altLang="en-US" sz="1500"/>
              <a:t>在安全漏洞方面，</a:t>
            </a:r>
            <a:r>
              <a:rPr lang="zh-CN" altLang="en-US" sz="1500" b="1"/>
              <a:t>涉及重要行业和政府部门的高危漏洞事件</a:t>
            </a:r>
            <a:r>
              <a:rPr lang="zh-CN" altLang="en-US" sz="1500"/>
              <a:t>增多，基础应用或通用软硬件漏洞风险凸显。由于基础应用和通用软硬件产品部署广泛，漏洞容易被批量利用，而且定位和修复困难，影响范围可能波及全国，危害程度远大于一般漏洞。</a:t>
            </a:r>
            <a:endParaRPr lang="en-US" altLang="zh-CN" sz="1500"/>
          </a:p>
          <a:p>
            <a:pPr>
              <a:spcBef>
                <a:spcPts val="400"/>
              </a:spcBef>
              <a:buFont typeface="Wingdings" panose="05000000000000000000" pitchFamily="2" charset="2"/>
              <a:buChar char="Ø"/>
            </a:pPr>
            <a:r>
              <a:rPr lang="zh-CN" altLang="en-US" sz="1500" b="1"/>
              <a:t>移动应用程序</a:t>
            </a:r>
            <a:r>
              <a:rPr lang="zh-CN" altLang="en-US" sz="1500"/>
              <a:t>成为数据泄露的新主体。</a:t>
            </a:r>
            <a:endParaRPr lang="en-US" altLang="zh-CN" sz="1500"/>
          </a:p>
          <a:p>
            <a:r>
              <a:rPr lang="en-US" altLang="zh-CN" b="1"/>
              <a:t>3</a:t>
            </a:r>
            <a:r>
              <a:rPr lang="zh-CN" altLang="en-US" b="1"/>
              <a:t>）新兴信息技术带来的安全威胁</a:t>
            </a:r>
            <a:endParaRPr lang="en-US" altLang="zh-CN" b="1"/>
          </a:p>
          <a:p>
            <a:pPr>
              <a:buFont typeface="Wingdings" panose="05000000000000000000" pitchFamily="2" charset="2"/>
              <a:buChar char="Ø"/>
            </a:pPr>
            <a:r>
              <a:rPr lang="zh-CN" altLang="en-US" sz="1500" b="1"/>
              <a:t>物联网</a:t>
            </a:r>
            <a:r>
              <a:rPr lang="zh-CN" altLang="en-US" sz="1500"/>
              <a:t>、</a:t>
            </a:r>
            <a:r>
              <a:rPr lang="zh-CN" altLang="en-US" sz="1500" b="1"/>
              <a:t>云计算</a:t>
            </a:r>
            <a:r>
              <a:rPr lang="zh-CN" altLang="en-US" sz="1500"/>
              <a:t>、</a:t>
            </a:r>
            <a:r>
              <a:rPr lang="zh-CN" altLang="en-US" sz="1500" b="1"/>
              <a:t>大数据</a:t>
            </a:r>
            <a:r>
              <a:rPr lang="zh-CN" altLang="en-US" sz="1500"/>
              <a:t>和</a:t>
            </a:r>
            <a:r>
              <a:rPr lang="zh-CN" altLang="en-US" sz="1500" b="1"/>
              <a:t>移动互联网</a:t>
            </a:r>
            <a:r>
              <a:rPr lang="zh-CN" altLang="en-US" sz="1500"/>
              <a:t>被称为新一代信息技术“四驾马车”。现有的安全理论与实践大多是针对传统的计算模式而生，不能完全适用于云计算、大数据的新的商业模式和技术构架。</a:t>
            </a:r>
            <a:endParaRPr lang="en-US" altLang="zh-CN" sz="1500"/>
          </a:p>
          <a:p>
            <a:endParaRPr lang="en-US" altLang="zh-CN"/>
          </a:p>
        </p:txBody>
      </p:sp>
      <p:sp>
        <p:nvSpPr>
          <p:cNvPr id="11" name="矩形 3">
            <a:extLst>
              <a:ext uri="{FF2B5EF4-FFF2-40B4-BE49-F238E27FC236}">
                <a16:creationId xmlns:a16="http://schemas.microsoft.com/office/drawing/2014/main" id="{F7007D1A-4FE5-49B7-AFBE-2CAE2B64A496}"/>
              </a:ext>
            </a:extLst>
          </p:cNvPr>
          <p:cNvSpPr>
            <a:spLocks noChangeArrowheads="1"/>
          </p:cNvSpPr>
          <p:nvPr/>
        </p:nvSpPr>
        <p:spPr bwMode="auto">
          <a:xfrm>
            <a:off x="6572264" y="142858"/>
            <a:ext cx="244810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a:t>
            </a:r>
            <a:r>
              <a:rPr lang="zh-CN" altLang="en-US" sz="2000" b="1" dirty="0">
                <a:solidFill>
                  <a:srgbClr val="C00000"/>
                </a:solidFill>
                <a:effectLst>
                  <a:reflection blurRad="6350" stA="50000" endA="300" endPos="50000" dist="60007" dir="5400000" sy="-100000" algn="bl" rotWithShape="0"/>
                </a:effectLst>
                <a:latin typeface="+mj-ea"/>
                <a:ea typeface="+mj-ea"/>
              </a:rPr>
              <a:t> 信息安全的威胁</a:t>
            </a:r>
          </a:p>
        </p:txBody>
      </p:sp>
      <p:sp>
        <p:nvSpPr>
          <p:cNvPr id="8" name="矩形 3">
            <a:extLst>
              <a:ext uri="{FF2B5EF4-FFF2-40B4-BE49-F238E27FC236}">
                <a16:creationId xmlns:a16="http://schemas.microsoft.com/office/drawing/2014/main" id="{C41002EC-D311-4AA8-B6BB-3C6466E7FC59}"/>
              </a:ext>
            </a:extLst>
          </p:cNvPr>
          <p:cNvSpPr>
            <a:spLocks noChangeArrowheads="1"/>
          </p:cNvSpPr>
          <p:nvPr/>
        </p:nvSpPr>
        <p:spPr bwMode="auto">
          <a:xfrm>
            <a:off x="214282" y="571486"/>
            <a:ext cx="3962944"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3.2.2 </a:t>
            </a:r>
            <a:r>
              <a:rPr lang="zh-CN" altLang="en-US" sz="2000" b="1" dirty="0">
                <a:solidFill>
                  <a:srgbClr val="C00000"/>
                </a:solidFill>
                <a:effectLst>
                  <a:reflection blurRad="6350" stA="50000" endA="300" endPos="50000" dist="60007" dir="5400000" sy="-100000" algn="bl" rotWithShape="0"/>
                </a:effectLst>
                <a:latin typeface="+mj-ea"/>
                <a:ea typeface="+mj-ea"/>
              </a:rPr>
              <a:t>攻击者实施攻击的主要对象</a:t>
            </a:r>
          </a:p>
        </p:txBody>
      </p:sp>
    </p:spTree>
  </p:cSld>
  <p:clrMapOvr>
    <a:masterClrMapping/>
  </p:clrMapOvr>
  <p:transition spd="med">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2">
            <a:extLst>
              <a:ext uri="{FF2B5EF4-FFF2-40B4-BE49-F238E27FC236}">
                <a16:creationId xmlns:a16="http://schemas.microsoft.com/office/drawing/2014/main" id="{670B7A54-7F9E-41C6-B295-D1173CFF5E8C}"/>
              </a:ext>
            </a:extLst>
          </p:cNvPr>
          <p:cNvSpPr txBox="1">
            <a:spLocks/>
          </p:cNvSpPr>
          <p:nvPr/>
        </p:nvSpPr>
        <p:spPr bwMode="auto">
          <a:xfrm>
            <a:off x="285750" y="1071563"/>
            <a:ext cx="8572500"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r>
              <a:rPr lang="zh-CN" altLang="en-US" b="1">
                <a:solidFill>
                  <a:srgbClr val="0033CC"/>
                </a:solidFill>
              </a:rPr>
              <a:t>社会工程学（</a:t>
            </a:r>
            <a:r>
              <a:rPr lang="en-US" altLang="zh-CN" b="1">
                <a:solidFill>
                  <a:srgbClr val="0033CC"/>
                </a:solidFill>
              </a:rPr>
              <a:t>Social Engineering</a:t>
            </a:r>
            <a:r>
              <a:rPr lang="zh-CN" altLang="en-US" b="1">
                <a:solidFill>
                  <a:srgbClr val="0033CC"/>
                </a:solidFill>
              </a:rPr>
              <a:t>）</a:t>
            </a:r>
            <a:r>
              <a:rPr lang="zh-CN" altLang="en-US" b="1"/>
              <a:t>又被翻译为社交工程学，</a:t>
            </a:r>
            <a:r>
              <a:rPr lang="zh-CN" altLang="en-US" b="1">
                <a:solidFill>
                  <a:srgbClr val="FF0000"/>
                </a:solidFill>
              </a:rPr>
              <a:t>是一种通过对</a:t>
            </a:r>
            <a:r>
              <a:rPr lang="zh-CN" altLang="en-US" b="1">
                <a:solidFill>
                  <a:srgbClr val="0033CC"/>
                </a:solidFill>
              </a:rPr>
              <a:t>受害者心里弱点、本能反应、好奇心、信任、贪婪等信息陷阱</a:t>
            </a:r>
            <a:r>
              <a:rPr lang="zh-CN" altLang="en-US" b="1">
                <a:solidFill>
                  <a:srgbClr val="FF0000"/>
                </a:solidFill>
              </a:rPr>
              <a:t>进行</a:t>
            </a:r>
            <a:r>
              <a:rPr lang="zh-CN" altLang="en-US" b="1">
                <a:solidFill>
                  <a:srgbClr val="0033CC"/>
                </a:solidFill>
              </a:rPr>
              <a:t>诸如欺骗、伤害等危害手段取得自身利益的</a:t>
            </a:r>
            <a:r>
              <a:rPr lang="zh-CN" altLang="en-US" b="1">
                <a:solidFill>
                  <a:srgbClr val="FF0000"/>
                </a:solidFill>
              </a:rPr>
              <a:t>手法</a:t>
            </a:r>
            <a:r>
              <a:rPr lang="zh-CN" altLang="en-US" b="1"/>
              <a:t>，已成迅速上升甚至滥用的趋势。</a:t>
            </a:r>
            <a:endParaRPr lang="en-US" altLang="zh-CN" b="1"/>
          </a:p>
        </p:txBody>
      </p:sp>
      <p:sp>
        <p:nvSpPr>
          <p:cNvPr id="11" name="矩形 3">
            <a:extLst>
              <a:ext uri="{FF2B5EF4-FFF2-40B4-BE49-F238E27FC236}">
                <a16:creationId xmlns:a16="http://schemas.microsoft.com/office/drawing/2014/main" id="{28930945-4248-42B2-9EB2-E0756243FD92}"/>
              </a:ext>
            </a:extLst>
          </p:cNvPr>
          <p:cNvSpPr>
            <a:spLocks noChangeArrowheads="1"/>
          </p:cNvSpPr>
          <p:nvPr/>
        </p:nvSpPr>
        <p:spPr bwMode="auto">
          <a:xfrm>
            <a:off x="6572264" y="142858"/>
            <a:ext cx="244810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a:t>
            </a:r>
            <a:r>
              <a:rPr lang="zh-CN" altLang="en-US" sz="2000" b="1" dirty="0">
                <a:solidFill>
                  <a:srgbClr val="C00000"/>
                </a:solidFill>
                <a:effectLst>
                  <a:reflection blurRad="6350" stA="50000" endA="300" endPos="50000" dist="60007" dir="5400000" sy="-100000" algn="bl" rotWithShape="0"/>
                </a:effectLst>
                <a:latin typeface="+mj-ea"/>
                <a:ea typeface="+mj-ea"/>
              </a:rPr>
              <a:t> 信息安全的威胁</a:t>
            </a:r>
          </a:p>
        </p:txBody>
      </p:sp>
      <p:sp>
        <p:nvSpPr>
          <p:cNvPr id="8" name="矩形 3">
            <a:extLst>
              <a:ext uri="{FF2B5EF4-FFF2-40B4-BE49-F238E27FC236}">
                <a16:creationId xmlns:a16="http://schemas.microsoft.com/office/drawing/2014/main" id="{EF3113FD-6E3B-4DBC-A04B-656A97AD916F}"/>
              </a:ext>
            </a:extLst>
          </p:cNvPr>
          <p:cNvSpPr>
            <a:spLocks noChangeArrowheads="1"/>
          </p:cNvSpPr>
          <p:nvPr/>
        </p:nvSpPr>
        <p:spPr bwMode="auto">
          <a:xfrm>
            <a:off x="214282" y="642924"/>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3.2.3 </a:t>
            </a:r>
            <a:r>
              <a:rPr lang="zh-CN" altLang="en-US" sz="2000" b="1" dirty="0">
                <a:solidFill>
                  <a:srgbClr val="C00000"/>
                </a:solidFill>
                <a:effectLst>
                  <a:reflection blurRad="6350" stA="50000" endA="300" endPos="50000" dist="60007" dir="5400000" sy="-100000" algn="bl" rotWithShape="0"/>
                </a:effectLst>
                <a:latin typeface="+mj-ea"/>
                <a:ea typeface="+mj-ea"/>
              </a:rPr>
              <a:t>社会工程学攻击</a:t>
            </a:r>
          </a:p>
        </p:txBody>
      </p:sp>
      <p:pic>
        <p:nvPicPr>
          <p:cNvPr id="26629" name="图片 4">
            <a:extLst>
              <a:ext uri="{FF2B5EF4-FFF2-40B4-BE49-F238E27FC236}">
                <a16:creationId xmlns:a16="http://schemas.microsoft.com/office/drawing/2014/main" id="{E892F7F1-3579-4310-9FBB-A4AF0B3E2F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2875" y="2235200"/>
            <a:ext cx="392112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图片 8">
            <a:extLst>
              <a:ext uri="{FF2B5EF4-FFF2-40B4-BE49-F238E27FC236}">
                <a16:creationId xmlns:a16="http://schemas.microsoft.com/office/drawing/2014/main" id="{C27B1D60-7210-4754-8F71-8FC5FDA622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3038475"/>
            <a:ext cx="24479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图片 9">
            <a:extLst>
              <a:ext uri="{FF2B5EF4-FFF2-40B4-BE49-F238E27FC236}">
                <a16:creationId xmlns:a16="http://schemas.microsoft.com/office/drawing/2014/main" id="{1CAF3D54-D36F-48D9-A768-1E4D8324B6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2243138"/>
            <a:ext cx="2960688"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2">
            <a:extLst>
              <a:ext uri="{FF2B5EF4-FFF2-40B4-BE49-F238E27FC236}">
                <a16:creationId xmlns:a16="http://schemas.microsoft.com/office/drawing/2014/main" id="{1D2D5D3C-D219-4DC4-92A2-0987C1CB4906}"/>
              </a:ext>
            </a:extLst>
          </p:cNvPr>
          <p:cNvSpPr txBox="1">
            <a:spLocks/>
          </p:cNvSpPr>
          <p:nvPr/>
        </p:nvSpPr>
        <p:spPr bwMode="auto">
          <a:xfrm>
            <a:off x="285750" y="1071563"/>
            <a:ext cx="8572500"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r>
              <a:rPr lang="zh-CN" altLang="en-US" b="1">
                <a:solidFill>
                  <a:srgbClr val="FF0000"/>
                </a:solidFill>
              </a:rPr>
              <a:t>社会工程学攻击方式</a:t>
            </a:r>
            <a:r>
              <a:rPr lang="zh-CN" altLang="en-US" b="1">
                <a:solidFill>
                  <a:srgbClr val="0033CC"/>
                </a:solidFill>
              </a:rPr>
              <a:t>：</a:t>
            </a:r>
            <a:endParaRPr lang="en-US" altLang="zh-CN" b="1">
              <a:solidFill>
                <a:srgbClr val="0033CC"/>
              </a:solidFill>
            </a:endParaRPr>
          </a:p>
          <a:p>
            <a:pPr>
              <a:spcBef>
                <a:spcPts val="400"/>
              </a:spcBef>
              <a:buFont typeface="Wingdings" panose="05000000000000000000" pitchFamily="2" charset="2"/>
              <a:buChar char="Ø"/>
            </a:pPr>
            <a:r>
              <a:rPr lang="zh-CN" altLang="en-US" sz="1400" b="1"/>
              <a:t>（</a:t>
            </a:r>
            <a:r>
              <a:rPr lang="en-US" altLang="zh-CN" sz="1400" b="1"/>
              <a:t>1</a:t>
            </a:r>
            <a:r>
              <a:rPr lang="zh-CN" altLang="en-US" sz="1400" b="1"/>
              <a:t>）</a:t>
            </a:r>
            <a:r>
              <a:rPr lang="zh-CN" altLang="en-US" sz="1400" b="1">
                <a:solidFill>
                  <a:srgbClr val="0033CC"/>
                </a:solidFill>
              </a:rPr>
              <a:t>假托</a:t>
            </a:r>
            <a:r>
              <a:rPr lang="zh-CN" altLang="en-US" sz="1400" b="1"/>
              <a:t>（</a:t>
            </a:r>
            <a:r>
              <a:rPr lang="en-US" altLang="zh-CN" sz="1400" b="1"/>
              <a:t>pretexting</a:t>
            </a:r>
            <a:r>
              <a:rPr lang="zh-CN" altLang="en-US" sz="1400" b="1"/>
              <a:t>）是一种制造虚假情形，以迫使针对受害人吐露平时不愿泄露的信息的手段。</a:t>
            </a:r>
            <a:endParaRPr lang="en-US" altLang="zh-CN" sz="1400" b="1"/>
          </a:p>
          <a:p>
            <a:pPr>
              <a:spcBef>
                <a:spcPts val="400"/>
              </a:spcBef>
              <a:buFont typeface="Wingdings" panose="05000000000000000000" pitchFamily="2" charset="2"/>
              <a:buChar char="Ø"/>
            </a:pPr>
            <a:r>
              <a:rPr lang="zh-CN" altLang="en-US" sz="1400" b="1"/>
              <a:t>（</a:t>
            </a:r>
            <a:r>
              <a:rPr lang="en-US" altLang="zh-CN" sz="1400" b="1"/>
              <a:t>2</a:t>
            </a:r>
            <a:r>
              <a:rPr lang="zh-CN" altLang="en-US" sz="1400" b="1"/>
              <a:t>）</a:t>
            </a:r>
            <a:r>
              <a:rPr lang="zh-CN" altLang="en-US" sz="1400" b="1">
                <a:solidFill>
                  <a:srgbClr val="0033CC"/>
                </a:solidFill>
              </a:rPr>
              <a:t>调虎离山</a:t>
            </a:r>
            <a:r>
              <a:rPr lang="zh-CN" altLang="en-US" sz="1400" b="1"/>
              <a:t>（</a:t>
            </a:r>
            <a:r>
              <a:rPr lang="en-US" altLang="zh-CN" sz="1400" b="1"/>
              <a:t>diversion theft</a:t>
            </a:r>
            <a:r>
              <a:rPr lang="zh-CN" altLang="en-US" sz="1400" b="1"/>
              <a:t>）。</a:t>
            </a:r>
            <a:endParaRPr lang="en-US" altLang="zh-CN" sz="1400" b="1"/>
          </a:p>
          <a:p>
            <a:pPr>
              <a:spcBef>
                <a:spcPts val="400"/>
              </a:spcBef>
              <a:buFont typeface="Wingdings" panose="05000000000000000000" pitchFamily="2" charset="2"/>
              <a:buChar char="Ø"/>
            </a:pPr>
            <a:r>
              <a:rPr lang="zh-CN" altLang="en-US" sz="1400" b="1"/>
              <a:t>（</a:t>
            </a:r>
            <a:r>
              <a:rPr lang="en-US" altLang="zh-CN" sz="1400" b="1"/>
              <a:t>3</a:t>
            </a:r>
            <a:r>
              <a:rPr lang="zh-CN" altLang="en-US" sz="1400" b="1"/>
              <a:t>）</a:t>
            </a:r>
            <a:r>
              <a:rPr lang="zh-CN" altLang="en-US" sz="1400" b="1">
                <a:solidFill>
                  <a:srgbClr val="0033CC"/>
                </a:solidFill>
              </a:rPr>
              <a:t>钓鱼</a:t>
            </a:r>
            <a:r>
              <a:rPr lang="zh-CN" altLang="en-US" sz="1400" b="1"/>
              <a:t>（</a:t>
            </a:r>
            <a:r>
              <a:rPr lang="en-US" altLang="zh-CN" sz="1400" b="1"/>
              <a:t>phishing</a:t>
            </a:r>
            <a:r>
              <a:rPr lang="zh-CN" altLang="en-US" sz="1400" b="1"/>
              <a:t>）。</a:t>
            </a:r>
            <a:endParaRPr lang="en-US" altLang="zh-CN" sz="1400" b="1"/>
          </a:p>
          <a:p>
            <a:pPr>
              <a:spcBef>
                <a:spcPts val="400"/>
              </a:spcBef>
              <a:buFont typeface="Wingdings" panose="05000000000000000000" pitchFamily="2" charset="2"/>
              <a:buChar char="Ø"/>
            </a:pPr>
            <a:r>
              <a:rPr lang="zh-CN" altLang="en-US" sz="1400" b="1"/>
              <a:t>（</a:t>
            </a:r>
            <a:r>
              <a:rPr lang="en-US" altLang="zh-CN" sz="1400" b="1"/>
              <a:t>4</a:t>
            </a:r>
            <a:r>
              <a:rPr lang="zh-CN" altLang="en-US" sz="1400" b="1"/>
              <a:t>）</a:t>
            </a:r>
            <a:r>
              <a:rPr lang="zh-CN" altLang="en-US" sz="1400" b="1">
                <a:solidFill>
                  <a:srgbClr val="0033CC"/>
                </a:solidFill>
              </a:rPr>
              <a:t>在线聊天</a:t>
            </a:r>
            <a:r>
              <a:rPr lang="en-US" altLang="zh-CN" sz="1400" b="1">
                <a:solidFill>
                  <a:srgbClr val="0033CC"/>
                </a:solidFill>
              </a:rPr>
              <a:t>/</a:t>
            </a:r>
            <a:r>
              <a:rPr lang="zh-CN" altLang="en-US" sz="1400" b="1">
                <a:solidFill>
                  <a:srgbClr val="0033CC"/>
                </a:solidFill>
              </a:rPr>
              <a:t>电话钓鱼</a:t>
            </a:r>
            <a:r>
              <a:rPr lang="zh-CN" altLang="en-US" sz="1400" b="1"/>
              <a:t>（</a:t>
            </a:r>
            <a:r>
              <a:rPr lang="en-US" altLang="zh-CN" sz="1400" b="1"/>
              <a:t>IVR/phone phishing, IVR: interactive voice response</a:t>
            </a:r>
            <a:r>
              <a:rPr lang="zh-CN" altLang="en-US" sz="1400" b="1"/>
              <a:t>）。</a:t>
            </a:r>
            <a:endParaRPr lang="en-US" altLang="zh-CN" sz="1400" b="1"/>
          </a:p>
          <a:p>
            <a:pPr>
              <a:spcBef>
                <a:spcPts val="400"/>
              </a:spcBef>
              <a:buFont typeface="Wingdings" panose="05000000000000000000" pitchFamily="2" charset="2"/>
              <a:buChar char="Ø"/>
            </a:pPr>
            <a:r>
              <a:rPr lang="zh-CN" altLang="en-US" sz="1400" b="1"/>
              <a:t>（</a:t>
            </a:r>
            <a:r>
              <a:rPr lang="en-US" altLang="zh-CN" sz="1400" b="1"/>
              <a:t>5</a:t>
            </a:r>
            <a:r>
              <a:rPr lang="zh-CN" altLang="en-US" sz="1400" b="1"/>
              <a:t>）</a:t>
            </a:r>
            <a:r>
              <a:rPr lang="zh-CN" altLang="en-US" sz="1400" b="1">
                <a:solidFill>
                  <a:srgbClr val="0033CC"/>
                </a:solidFill>
              </a:rPr>
              <a:t>下饵</a:t>
            </a:r>
            <a:r>
              <a:rPr lang="zh-CN" altLang="en-US" sz="1400" b="1"/>
              <a:t>（</a:t>
            </a:r>
            <a:r>
              <a:rPr lang="en-US" altLang="zh-CN" sz="1400" b="1"/>
              <a:t>Baiting</a:t>
            </a:r>
            <a:r>
              <a:rPr lang="zh-CN" altLang="en-US" sz="1400" b="1"/>
              <a:t>）。</a:t>
            </a:r>
            <a:endParaRPr lang="en-US" altLang="zh-CN" sz="1400" b="1"/>
          </a:p>
          <a:p>
            <a:pPr>
              <a:spcBef>
                <a:spcPts val="400"/>
              </a:spcBef>
              <a:buFont typeface="Wingdings" panose="05000000000000000000" pitchFamily="2" charset="2"/>
              <a:buChar char="Ø"/>
            </a:pPr>
            <a:r>
              <a:rPr lang="zh-CN" altLang="en-US" sz="1400" b="1"/>
              <a:t>（</a:t>
            </a:r>
            <a:r>
              <a:rPr lang="en-US" altLang="zh-CN" sz="1400" b="1"/>
              <a:t>6</a:t>
            </a:r>
            <a:r>
              <a:rPr lang="zh-CN" altLang="en-US" sz="1400" b="1"/>
              <a:t>）</a:t>
            </a:r>
            <a:r>
              <a:rPr lang="zh-CN" altLang="en-US" sz="1400" b="1">
                <a:solidFill>
                  <a:srgbClr val="0033CC"/>
                </a:solidFill>
              </a:rPr>
              <a:t>等价交换</a:t>
            </a:r>
            <a:r>
              <a:rPr lang="zh-CN" altLang="en-US" sz="1400" b="1"/>
              <a:t>（</a:t>
            </a:r>
            <a:r>
              <a:rPr lang="en-US" altLang="zh-CN" sz="1400" b="1"/>
              <a:t>Quid pro quo</a:t>
            </a:r>
            <a:r>
              <a:rPr lang="zh-CN" altLang="en-US" sz="1400" b="1"/>
              <a:t>）。攻击者伪装成公司内部技术人员或者问卷调查人员，要求对方给出密码等关键信息。</a:t>
            </a:r>
            <a:endParaRPr lang="en-US" altLang="zh-CN" sz="1400" b="1"/>
          </a:p>
          <a:p>
            <a:pPr>
              <a:spcBef>
                <a:spcPts val="400"/>
              </a:spcBef>
              <a:buFont typeface="Wingdings" panose="05000000000000000000" pitchFamily="2" charset="2"/>
              <a:buChar char="Ø"/>
            </a:pPr>
            <a:r>
              <a:rPr lang="zh-CN" altLang="en-US" sz="1400" b="1"/>
              <a:t>（</a:t>
            </a:r>
            <a:r>
              <a:rPr lang="en-US" altLang="zh-CN" sz="1400" b="1"/>
              <a:t>7</a:t>
            </a:r>
            <a:r>
              <a:rPr lang="zh-CN" altLang="en-US" sz="1400" b="1"/>
              <a:t>）</a:t>
            </a:r>
            <a:r>
              <a:rPr lang="zh-CN" altLang="en-US" sz="1400" b="1">
                <a:solidFill>
                  <a:srgbClr val="0033CC"/>
                </a:solidFill>
              </a:rPr>
              <a:t>尾随</a:t>
            </a:r>
            <a:r>
              <a:rPr lang="zh-CN" altLang="en-US" sz="1400" b="1"/>
              <a:t>（</a:t>
            </a:r>
            <a:r>
              <a:rPr lang="en-US" altLang="zh-CN" sz="1400" b="1"/>
              <a:t>Tailgating</a:t>
            </a:r>
            <a:r>
              <a:rPr lang="zh-CN" altLang="en-US" sz="1400" b="1"/>
              <a:t>）。</a:t>
            </a:r>
            <a:endParaRPr lang="en-US" altLang="zh-CN" sz="1400" b="1"/>
          </a:p>
        </p:txBody>
      </p:sp>
      <p:sp>
        <p:nvSpPr>
          <p:cNvPr id="11" name="矩形 3">
            <a:extLst>
              <a:ext uri="{FF2B5EF4-FFF2-40B4-BE49-F238E27FC236}">
                <a16:creationId xmlns:a16="http://schemas.microsoft.com/office/drawing/2014/main" id="{3CB25500-B145-4B8D-B1A6-4AFFAAED989B}"/>
              </a:ext>
            </a:extLst>
          </p:cNvPr>
          <p:cNvSpPr>
            <a:spLocks noChangeArrowheads="1"/>
          </p:cNvSpPr>
          <p:nvPr/>
        </p:nvSpPr>
        <p:spPr bwMode="auto">
          <a:xfrm>
            <a:off x="6572264" y="142858"/>
            <a:ext cx="244810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a:t>
            </a:r>
            <a:r>
              <a:rPr lang="zh-CN" altLang="en-US" sz="2000" b="1" dirty="0">
                <a:solidFill>
                  <a:srgbClr val="C00000"/>
                </a:solidFill>
                <a:effectLst>
                  <a:reflection blurRad="6350" stA="50000" endA="300" endPos="50000" dist="60007" dir="5400000" sy="-100000" algn="bl" rotWithShape="0"/>
                </a:effectLst>
                <a:latin typeface="+mj-ea"/>
                <a:ea typeface="+mj-ea"/>
              </a:rPr>
              <a:t> 信息安全的威胁</a:t>
            </a:r>
          </a:p>
        </p:txBody>
      </p:sp>
      <p:sp>
        <p:nvSpPr>
          <p:cNvPr id="8" name="矩形 3">
            <a:extLst>
              <a:ext uri="{FF2B5EF4-FFF2-40B4-BE49-F238E27FC236}">
                <a16:creationId xmlns:a16="http://schemas.microsoft.com/office/drawing/2014/main" id="{2EA9F2E8-7AAD-4A2B-B273-CABEE6E75480}"/>
              </a:ext>
            </a:extLst>
          </p:cNvPr>
          <p:cNvSpPr>
            <a:spLocks noChangeArrowheads="1"/>
          </p:cNvSpPr>
          <p:nvPr/>
        </p:nvSpPr>
        <p:spPr bwMode="auto">
          <a:xfrm>
            <a:off x="214282" y="642924"/>
            <a:ext cx="2680542"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3.2.3 </a:t>
            </a:r>
            <a:r>
              <a:rPr lang="zh-CN" altLang="en-US" sz="2000" b="1" dirty="0">
                <a:solidFill>
                  <a:srgbClr val="C00000"/>
                </a:solidFill>
                <a:effectLst>
                  <a:reflection blurRad="6350" stA="50000" endA="300" endPos="50000" dist="60007" dir="5400000" sy="-100000" algn="bl" rotWithShape="0"/>
                </a:effectLst>
                <a:latin typeface="+mj-ea"/>
                <a:ea typeface="+mj-ea"/>
              </a:rPr>
              <a:t>社会工程学攻击</a:t>
            </a:r>
          </a:p>
        </p:txBody>
      </p:sp>
    </p:spTree>
  </p:cSld>
  <p:clrMapOvr>
    <a:masterClrMapping/>
  </p:clrMapOvr>
  <p:transition spd="med">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五边形 9">
            <a:extLst>
              <a:ext uri="{FF2B5EF4-FFF2-40B4-BE49-F238E27FC236}">
                <a16:creationId xmlns:a16="http://schemas.microsoft.com/office/drawing/2014/main" id="{35519107-454B-48DE-AB20-B9067AE587AB}"/>
              </a:ext>
            </a:extLst>
          </p:cNvPr>
          <p:cNvSpPr>
            <a:spLocks noChangeArrowheads="1"/>
          </p:cNvSpPr>
          <p:nvPr/>
        </p:nvSpPr>
        <p:spPr bwMode="auto">
          <a:xfrm rot="10800000">
            <a:off x="2714625" y="1643063"/>
            <a:ext cx="4222750" cy="500062"/>
          </a:xfrm>
          <a:prstGeom prst="homePlate">
            <a:avLst>
              <a:gd name="adj" fmla="val 51879"/>
            </a:avLst>
          </a:prstGeom>
          <a:solidFill>
            <a:schemeClr val="bg1"/>
          </a:solidFill>
          <a:ln w="28575" algn="ctr">
            <a:solidFill>
              <a:schemeClr val="tx1"/>
            </a:solidFill>
            <a:round/>
            <a:headEnd/>
            <a:tailEnd/>
          </a:ln>
        </p:spPr>
        <p:txBody>
          <a:bodyPr rot="10800000"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28675" name="椭圆 10">
            <a:extLst>
              <a:ext uri="{FF2B5EF4-FFF2-40B4-BE49-F238E27FC236}">
                <a16:creationId xmlns:a16="http://schemas.microsoft.com/office/drawing/2014/main" id="{BE4F683B-979D-480A-B530-BF101D83C5FA}"/>
              </a:ext>
            </a:extLst>
          </p:cNvPr>
          <p:cNvSpPr>
            <a:spLocks noChangeArrowheads="1"/>
          </p:cNvSpPr>
          <p:nvPr/>
        </p:nvSpPr>
        <p:spPr bwMode="auto">
          <a:xfrm>
            <a:off x="2428875" y="1643063"/>
            <a:ext cx="519113" cy="500062"/>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28676" name="TextBox 11">
            <a:extLst>
              <a:ext uri="{FF2B5EF4-FFF2-40B4-BE49-F238E27FC236}">
                <a16:creationId xmlns:a16="http://schemas.microsoft.com/office/drawing/2014/main" id="{4646E8A4-EEDA-477F-9224-92F7A2B5E279}"/>
              </a:ext>
            </a:extLst>
          </p:cNvPr>
          <p:cNvSpPr txBox="1">
            <a:spLocks noChangeArrowheads="1"/>
          </p:cNvSpPr>
          <p:nvPr/>
        </p:nvSpPr>
        <p:spPr bwMode="auto">
          <a:xfrm>
            <a:off x="3000375" y="1643063"/>
            <a:ext cx="3927475"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t>信息安全概述</a:t>
            </a:r>
          </a:p>
        </p:txBody>
      </p:sp>
      <p:grpSp>
        <p:nvGrpSpPr>
          <p:cNvPr id="28677" name="组合 9">
            <a:extLst>
              <a:ext uri="{FF2B5EF4-FFF2-40B4-BE49-F238E27FC236}">
                <a16:creationId xmlns:a16="http://schemas.microsoft.com/office/drawing/2014/main" id="{B9D3E692-2AA3-403E-AB21-CCDDFFF273D3}"/>
              </a:ext>
            </a:extLst>
          </p:cNvPr>
          <p:cNvGrpSpPr>
            <a:grpSpLocks/>
          </p:cNvGrpSpPr>
          <p:nvPr/>
        </p:nvGrpSpPr>
        <p:grpSpPr bwMode="auto">
          <a:xfrm>
            <a:off x="2428875" y="2357438"/>
            <a:ext cx="4519613" cy="500062"/>
            <a:chOff x="1071538" y="1785932"/>
            <a:chExt cx="4357704" cy="500066"/>
          </a:xfrm>
        </p:grpSpPr>
        <p:sp>
          <p:nvSpPr>
            <p:cNvPr id="28686" name="五边形 9">
              <a:extLst>
                <a:ext uri="{FF2B5EF4-FFF2-40B4-BE49-F238E27FC236}">
                  <a16:creationId xmlns:a16="http://schemas.microsoft.com/office/drawing/2014/main" id="{50B3F31B-11AD-4FC6-BD54-CD927A81488E}"/>
                </a:ext>
              </a:extLst>
            </p:cNvPr>
            <p:cNvSpPr>
              <a:spLocks noChangeArrowheads="1"/>
            </p:cNvSpPr>
            <p:nvPr/>
          </p:nvSpPr>
          <p:spPr bwMode="auto">
            <a:xfrm rot="10800000">
              <a:off x="1357290" y="1785932"/>
              <a:ext cx="4071938" cy="500063"/>
            </a:xfrm>
            <a:prstGeom prst="homePlate">
              <a:avLst>
                <a:gd name="adj" fmla="val 50026"/>
              </a:avLst>
            </a:prstGeom>
            <a:solidFill>
              <a:schemeClr val="bg1"/>
            </a:solidFill>
            <a:ln w="28575" algn="ctr">
              <a:solidFill>
                <a:schemeClr val="tx1"/>
              </a:solidFill>
              <a:round/>
              <a:headEnd/>
              <a:tailEnd/>
            </a:ln>
          </p:spPr>
          <p:txBody>
            <a:bodyPr rot="10800000"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28687" name="椭圆 10">
              <a:extLst>
                <a:ext uri="{FF2B5EF4-FFF2-40B4-BE49-F238E27FC236}">
                  <a16:creationId xmlns:a16="http://schemas.microsoft.com/office/drawing/2014/main" id="{C0E327CB-9ECF-4531-AB4F-00D15BB25220}"/>
                </a:ext>
              </a:extLst>
            </p:cNvPr>
            <p:cNvSpPr>
              <a:spLocks noChangeArrowheads="1"/>
            </p:cNvSpPr>
            <p:nvPr/>
          </p:nvSpPr>
          <p:spPr bwMode="auto">
            <a:xfrm>
              <a:off x="1071538" y="1785932"/>
              <a:ext cx="500066" cy="500066"/>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28688" name="TextBox 11">
              <a:extLst>
                <a:ext uri="{FF2B5EF4-FFF2-40B4-BE49-F238E27FC236}">
                  <a16:creationId xmlns:a16="http://schemas.microsoft.com/office/drawing/2014/main" id="{D0C9FBCA-3E22-4ABB-AACD-40D90AE0B850}"/>
                </a:ext>
              </a:extLst>
            </p:cNvPr>
            <p:cNvSpPr txBox="1">
              <a:spLocks noChangeArrowheads="1"/>
            </p:cNvSpPr>
            <p:nvPr/>
          </p:nvSpPr>
          <p:spPr bwMode="auto">
            <a:xfrm>
              <a:off x="1642463" y="1785932"/>
              <a:ext cx="3786779" cy="44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t>信息安全的威胁</a:t>
              </a:r>
            </a:p>
          </p:txBody>
        </p:sp>
      </p:grpSp>
      <p:sp>
        <p:nvSpPr>
          <p:cNvPr id="28678" name="五边形 9">
            <a:extLst>
              <a:ext uri="{FF2B5EF4-FFF2-40B4-BE49-F238E27FC236}">
                <a16:creationId xmlns:a16="http://schemas.microsoft.com/office/drawing/2014/main" id="{BE692009-5D3A-454B-91C5-DE9D2DC3421B}"/>
              </a:ext>
            </a:extLst>
          </p:cNvPr>
          <p:cNvSpPr>
            <a:spLocks noChangeArrowheads="1"/>
          </p:cNvSpPr>
          <p:nvPr/>
        </p:nvSpPr>
        <p:spPr bwMode="auto">
          <a:xfrm rot="10800000">
            <a:off x="2714625" y="3071813"/>
            <a:ext cx="4222750" cy="500062"/>
          </a:xfrm>
          <a:prstGeom prst="homePlate">
            <a:avLst>
              <a:gd name="adj" fmla="val 51879"/>
            </a:avLst>
          </a:prstGeom>
          <a:solidFill>
            <a:schemeClr val="bg1"/>
          </a:solidFill>
          <a:ln w="28575" algn="ctr">
            <a:solidFill>
              <a:schemeClr val="tx1"/>
            </a:solidFill>
            <a:round/>
            <a:headEnd/>
            <a:tailEnd/>
          </a:ln>
        </p:spPr>
        <p:txBody>
          <a:bodyPr rot="10800000"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28679" name="椭圆 10">
            <a:extLst>
              <a:ext uri="{FF2B5EF4-FFF2-40B4-BE49-F238E27FC236}">
                <a16:creationId xmlns:a16="http://schemas.microsoft.com/office/drawing/2014/main" id="{3C6447FC-86C1-4664-BDAD-84831CF8273C}"/>
              </a:ext>
            </a:extLst>
          </p:cNvPr>
          <p:cNvSpPr>
            <a:spLocks noChangeArrowheads="1"/>
          </p:cNvSpPr>
          <p:nvPr/>
        </p:nvSpPr>
        <p:spPr bwMode="auto">
          <a:xfrm>
            <a:off x="2428875" y="3071813"/>
            <a:ext cx="519113" cy="500062"/>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17" name="TextBox 11">
            <a:extLst>
              <a:ext uri="{FF2B5EF4-FFF2-40B4-BE49-F238E27FC236}">
                <a16:creationId xmlns:a16="http://schemas.microsoft.com/office/drawing/2014/main" id="{698329DE-13B9-44AE-B7BA-55630C95FB58}"/>
              </a:ext>
            </a:extLst>
          </p:cNvPr>
          <p:cNvSpPr txBox="1">
            <a:spLocks noChangeArrowheads="1"/>
          </p:cNvSpPr>
          <p:nvPr/>
        </p:nvSpPr>
        <p:spPr bwMode="auto">
          <a:xfrm>
            <a:off x="3000375" y="3071813"/>
            <a:ext cx="3927475"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dirty="0">
                <a:solidFill>
                  <a:srgbClr val="FF0000"/>
                </a:solidFill>
              </a:rPr>
              <a:t>信息安全体系结构</a:t>
            </a:r>
            <a:endParaRPr lang="en-US" altLang="zh-CN" sz="2300" b="1" dirty="0">
              <a:solidFill>
                <a:srgbClr val="FF0000"/>
              </a:solidFill>
            </a:endParaRPr>
          </a:p>
        </p:txBody>
      </p:sp>
      <p:grpSp>
        <p:nvGrpSpPr>
          <p:cNvPr id="28681" name="组合 17">
            <a:extLst>
              <a:ext uri="{FF2B5EF4-FFF2-40B4-BE49-F238E27FC236}">
                <a16:creationId xmlns:a16="http://schemas.microsoft.com/office/drawing/2014/main" id="{35947902-F2C1-4F05-AA14-D709E4A733A7}"/>
              </a:ext>
            </a:extLst>
          </p:cNvPr>
          <p:cNvGrpSpPr>
            <a:grpSpLocks/>
          </p:cNvGrpSpPr>
          <p:nvPr/>
        </p:nvGrpSpPr>
        <p:grpSpPr bwMode="auto">
          <a:xfrm>
            <a:off x="2428875" y="3714750"/>
            <a:ext cx="4519613" cy="500063"/>
            <a:chOff x="1071538" y="1785932"/>
            <a:chExt cx="4357704" cy="500066"/>
          </a:xfrm>
        </p:grpSpPr>
        <p:sp>
          <p:nvSpPr>
            <p:cNvPr id="28683" name="五边形 9">
              <a:extLst>
                <a:ext uri="{FF2B5EF4-FFF2-40B4-BE49-F238E27FC236}">
                  <a16:creationId xmlns:a16="http://schemas.microsoft.com/office/drawing/2014/main" id="{816CEAA6-086F-4188-B210-B5945429E230}"/>
                </a:ext>
              </a:extLst>
            </p:cNvPr>
            <p:cNvSpPr>
              <a:spLocks noChangeArrowheads="1"/>
            </p:cNvSpPr>
            <p:nvPr/>
          </p:nvSpPr>
          <p:spPr bwMode="auto">
            <a:xfrm rot="10800000">
              <a:off x="1357290" y="1785932"/>
              <a:ext cx="4071938" cy="500063"/>
            </a:xfrm>
            <a:prstGeom prst="homePlate">
              <a:avLst>
                <a:gd name="adj" fmla="val 50026"/>
              </a:avLst>
            </a:prstGeom>
            <a:solidFill>
              <a:schemeClr val="bg1"/>
            </a:solidFill>
            <a:ln w="28575" algn="ctr">
              <a:solidFill>
                <a:schemeClr val="tx1"/>
              </a:solidFill>
              <a:round/>
              <a:headEnd/>
              <a:tailEnd/>
            </a:ln>
          </p:spPr>
          <p:txBody>
            <a:bodyPr rot="10800000"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28684" name="椭圆 10">
              <a:extLst>
                <a:ext uri="{FF2B5EF4-FFF2-40B4-BE49-F238E27FC236}">
                  <a16:creationId xmlns:a16="http://schemas.microsoft.com/office/drawing/2014/main" id="{1B82AD1A-FE72-4A03-821A-8B10713A3FFE}"/>
                </a:ext>
              </a:extLst>
            </p:cNvPr>
            <p:cNvSpPr>
              <a:spLocks noChangeArrowheads="1"/>
            </p:cNvSpPr>
            <p:nvPr/>
          </p:nvSpPr>
          <p:spPr bwMode="auto">
            <a:xfrm>
              <a:off x="1071538" y="1785932"/>
              <a:ext cx="500066" cy="500066"/>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28685" name="TextBox 11">
              <a:extLst>
                <a:ext uri="{FF2B5EF4-FFF2-40B4-BE49-F238E27FC236}">
                  <a16:creationId xmlns:a16="http://schemas.microsoft.com/office/drawing/2014/main" id="{D464CC24-8396-4EFB-A57C-EC3829DA29F1}"/>
                </a:ext>
              </a:extLst>
            </p:cNvPr>
            <p:cNvSpPr txBox="1">
              <a:spLocks noChangeArrowheads="1"/>
            </p:cNvSpPr>
            <p:nvPr/>
          </p:nvSpPr>
          <p:spPr bwMode="auto">
            <a:xfrm>
              <a:off x="1642463" y="1785932"/>
              <a:ext cx="3786779" cy="44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t>本章小结</a:t>
              </a:r>
            </a:p>
          </p:txBody>
        </p:sp>
      </p:grpSp>
      <p:sp>
        <p:nvSpPr>
          <p:cNvPr id="18" name="标题 1">
            <a:extLst>
              <a:ext uri="{FF2B5EF4-FFF2-40B4-BE49-F238E27FC236}">
                <a16:creationId xmlns:a16="http://schemas.microsoft.com/office/drawing/2014/main" id="{C034C24B-09A2-43A7-8E96-EFEE0A411098}"/>
              </a:ext>
            </a:extLst>
          </p:cNvPr>
          <p:cNvSpPr txBox="1">
            <a:spLocks/>
          </p:cNvSpPr>
          <p:nvPr/>
        </p:nvSpPr>
        <p:spPr bwMode="auto">
          <a:xfrm>
            <a:off x="1500166" y="785800"/>
            <a:ext cx="6072230" cy="632693"/>
          </a:xfrm>
          <a:prstGeom prst="rect">
            <a:avLst/>
          </a:prstGeom>
          <a:noFill/>
          <a:ln w="9525">
            <a:noFill/>
            <a:miter lim="800000"/>
            <a:headEnd/>
            <a:tailEnd/>
          </a:ln>
        </p:spPr>
        <p:txBody>
          <a:bodyPr anchor="ctr"/>
          <a:lstStyle/>
          <a:p>
            <a:pPr algn="ctr">
              <a:defRPr/>
            </a:pPr>
            <a:r>
              <a:rPr lang="zh-CN" altLang="en-US" sz="3200" b="1" dirty="0">
                <a:solidFill>
                  <a:srgbClr val="C00000"/>
                </a:solidFill>
                <a:effectLst>
                  <a:reflection blurRad="6350" stA="50000" endA="300" endPos="50000" dist="60007" dir="5400000" sy="-100000" algn="bl" rotWithShape="0"/>
                </a:effectLst>
                <a:latin typeface="+mj-ea"/>
                <a:ea typeface="+mj-ea"/>
                <a:cs typeface="+mj-cs"/>
              </a:rPr>
              <a:t>内容提纲</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iterate type="lt">
                                    <p:tmPct val="0"/>
                                  </p:iterate>
                                  <p:childTnLst>
                                    <p:animClr clrSpc="rgb" dir="cw">
                                      <p:cBhvr override="childStyle">
                                        <p:cTn id="6" dur="500" fill="hold"/>
                                        <p:tgtEl>
                                          <p:spTgt spid="17">
                                            <p:txEl>
                                              <p:pRg st="0" end="0"/>
                                            </p:txEl>
                                          </p:spTgt>
                                        </p:tgtEl>
                                        <p:attrNameLst>
                                          <p:attrName>style.color</p:attrName>
                                        </p:attrNameLst>
                                      </p:cBhvr>
                                      <p:to>
                                        <a:srgbClr val="CC0000"/>
                                      </p:to>
                                    </p:animClr>
                                  </p:childTnLst>
                                </p:cTn>
                              </p:par>
                              <p:par>
                                <p:cTn id="7" presetID="15" presetClass="emph" presetSubtype="0" nodeType="withEffect">
                                  <p:stCondLst>
                                    <p:cond delay="0"/>
                                  </p:stCondLst>
                                  <p:iterate type="lt">
                                    <p:tmAbs val="25"/>
                                  </p:iterate>
                                  <p:childTnLst>
                                    <p:set>
                                      <p:cBhvr override="childStyle">
                                        <p:cTn id="8" dur="indefinite"/>
                                        <p:tgtEl>
                                          <p:spTgt spid="17">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3">
            <a:extLst>
              <a:ext uri="{FF2B5EF4-FFF2-40B4-BE49-F238E27FC236}">
                <a16:creationId xmlns:a16="http://schemas.microsoft.com/office/drawing/2014/main" id="{7214A9E5-0392-4D95-8257-57A051DDED2F}"/>
              </a:ext>
            </a:extLst>
          </p:cNvPr>
          <p:cNvSpPr>
            <a:spLocks noGrp="1"/>
          </p:cNvSpPr>
          <p:nvPr>
            <p:ph type="title"/>
          </p:nvPr>
        </p:nvSpPr>
        <p:spPr>
          <a:xfrm>
            <a:off x="2357422" y="714362"/>
            <a:ext cx="4429156" cy="1021556"/>
          </a:xfrm>
        </p:spPr>
        <p:txBody>
          <a:bodyPr/>
          <a:lstStyle/>
          <a:p>
            <a:pPr>
              <a:defRPr/>
            </a:pPr>
            <a:r>
              <a:rPr lang="en-US" dirty="0">
                <a:latin typeface="Cambria Math" pitchFamily="18" charset="0"/>
                <a:ea typeface="Cambria Math" pitchFamily="18" charset="0"/>
              </a:rPr>
              <a:t>3.3   </a:t>
            </a:r>
            <a:r>
              <a:rPr altLang="en-US" dirty="0"/>
              <a:t>信息安全体系结构</a:t>
            </a:r>
          </a:p>
        </p:txBody>
      </p:sp>
      <p:sp>
        <p:nvSpPr>
          <p:cNvPr id="29699" name="矩形 3">
            <a:extLst>
              <a:ext uri="{FF2B5EF4-FFF2-40B4-BE49-F238E27FC236}">
                <a16:creationId xmlns:a16="http://schemas.microsoft.com/office/drawing/2014/main" id="{BD55CA77-39E0-482F-8546-7685C3EEBED0}"/>
              </a:ext>
            </a:extLst>
          </p:cNvPr>
          <p:cNvSpPr>
            <a:spLocks noChangeArrowheads="1"/>
          </p:cNvSpPr>
          <p:nvPr/>
        </p:nvSpPr>
        <p:spPr bwMode="auto">
          <a:xfrm>
            <a:off x="2214563" y="1928813"/>
            <a:ext cx="602932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5113" indent="-265113">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just" eaLnBrk="1" hangingPunct="1">
              <a:buClrTx/>
              <a:buSzPct val="80000"/>
              <a:buFontTx/>
              <a:buNone/>
            </a:pPr>
            <a:r>
              <a:rPr lang="en-US" altLang="zh-CN" sz="2000" b="1">
                <a:latin typeface="Comic Sans MS" panose="030F0702030302020204" pitchFamily="66" charset="0"/>
                <a:ea typeface="黑体" panose="02010609060101010101" pitchFamily="49" charset="-122"/>
                <a:cs typeface="Arial" panose="020B0604020202020204" pitchFamily="34" charset="0"/>
              </a:rPr>
              <a:t>3.3.1  </a:t>
            </a:r>
            <a:r>
              <a:rPr lang="zh-CN" altLang="en-US" sz="2000" b="1">
                <a:latin typeface="Comic Sans MS" panose="030F0702030302020204" pitchFamily="66" charset="0"/>
                <a:ea typeface="黑体" panose="02010609060101010101" pitchFamily="49" charset="-122"/>
                <a:cs typeface="Arial" panose="020B0604020202020204" pitchFamily="34" charset="0"/>
              </a:rPr>
              <a:t>面向</a:t>
            </a:r>
            <a:r>
              <a:rPr lang="zh-CN" altLang="en-US" sz="2000" b="1">
                <a:solidFill>
                  <a:srgbClr val="0033CC"/>
                </a:solidFill>
                <a:latin typeface="Comic Sans MS" panose="030F0702030302020204" pitchFamily="66" charset="0"/>
                <a:ea typeface="黑体" panose="02010609060101010101" pitchFamily="49" charset="-122"/>
                <a:cs typeface="Arial" panose="020B0604020202020204" pitchFamily="34" charset="0"/>
              </a:rPr>
              <a:t>目标的</a:t>
            </a:r>
            <a:r>
              <a:rPr lang="zh-CN" altLang="en-US" sz="2000" b="1">
                <a:latin typeface="Comic Sans MS" panose="030F0702030302020204" pitchFamily="66" charset="0"/>
                <a:ea typeface="黑体" panose="02010609060101010101" pitchFamily="49" charset="-122"/>
                <a:cs typeface="Arial" panose="020B0604020202020204" pitchFamily="34" charset="0"/>
              </a:rPr>
              <a:t>信息安全体系结构</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a:p>
            <a:pPr algn="just" eaLnBrk="1" hangingPunct="1">
              <a:buClrTx/>
              <a:buSzPct val="80000"/>
              <a:buFontTx/>
              <a:buNone/>
            </a:pPr>
            <a:r>
              <a:rPr lang="en-US" altLang="zh-CN" sz="2000" b="1">
                <a:latin typeface="Comic Sans MS" panose="030F0702030302020204" pitchFamily="66" charset="0"/>
                <a:ea typeface="黑体" panose="02010609060101010101" pitchFamily="49" charset="-122"/>
                <a:cs typeface="Arial" panose="020B0604020202020204" pitchFamily="34" charset="0"/>
              </a:rPr>
              <a:t>3.3.2  </a:t>
            </a:r>
            <a:r>
              <a:rPr lang="zh-CN" altLang="en-US" sz="2000" b="1">
                <a:latin typeface="Comic Sans MS" panose="030F0702030302020204" pitchFamily="66" charset="0"/>
                <a:ea typeface="黑体" panose="02010609060101010101" pitchFamily="49" charset="-122"/>
                <a:cs typeface="Arial" panose="020B0604020202020204" pitchFamily="34" charset="0"/>
              </a:rPr>
              <a:t>面向</a:t>
            </a:r>
            <a:r>
              <a:rPr lang="zh-CN" altLang="en-US" sz="2000" b="1">
                <a:solidFill>
                  <a:srgbClr val="0033CC"/>
                </a:solidFill>
                <a:latin typeface="Comic Sans MS" panose="030F0702030302020204" pitchFamily="66" charset="0"/>
                <a:ea typeface="黑体" panose="02010609060101010101" pitchFamily="49" charset="-122"/>
                <a:cs typeface="Arial" panose="020B0604020202020204" pitchFamily="34" charset="0"/>
              </a:rPr>
              <a:t>过程的</a:t>
            </a:r>
            <a:r>
              <a:rPr lang="zh-CN" altLang="en-US" sz="2000" b="1">
                <a:latin typeface="Comic Sans MS" panose="030F0702030302020204" pitchFamily="66" charset="0"/>
                <a:ea typeface="黑体" panose="02010609060101010101" pitchFamily="49" charset="-122"/>
                <a:cs typeface="Arial" panose="020B0604020202020204" pitchFamily="34" charset="0"/>
              </a:rPr>
              <a:t>信息安全保障体系结构</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a:p>
            <a:pPr algn="just" eaLnBrk="1" hangingPunct="1">
              <a:buClrTx/>
              <a:buSzPct val="80000"/>
              <a:buFontTx/>
              <a:buNone/>
            </a:pPr>
            <a:r>
              <a:rPr lang="en-US" altLang="zh-CN" sz="2000" b="1">
                <a:latin typeface="Comic Sans MS" panose="030F0702030302020204" pitchFamily="66" charset="0"/>
                <a:ea typeface="黑体" panose="02010609060101010101" pitchFamily="49" charset="-122"/>
                <a:cs typeface="Arial" panose="020B0604020202020204" pitchFamily="34" charset="0"/>
              </a:rPr>
              <a:t>3.3.3  </a:t>
            </a:r>
            <a:r>
              <a:rPr lang="zh-CN" altLang="en-US" sz="2000" b="1">
                <a:latin typeface="Comic Sans MS" panose="030F0702030302020204" pitchFamily="66" charset="0"/>
                <a:ea typeface="黑体" panose="02010609060101010101" pitchFamily="49" charset="-122"/>
                <a:cs typeface="Arial" panose="020B0604020202020204" pitchFamily="34" charset="0"/>
              </a:rPr>
              <a:t>面向</a:t>
            </a:r>
            <a:r>
              <a:rPr lang="zh-CN" altLang="en-US" sz="2000" b="1">
                <a:solidFill>
                  <a:srgbClr val="0033CC"/>
                </a:solidFill>
                <a:latin typeface="Comic Sans MS" panose="030F0702030302020204" pitchFamily="66" charset="0"/>
                <a:ea typeface="黑体" panose="02010609060101010101" pitchFamily="49" charset="-122"/>
                <a:cs typeface="Arial" panose="020B0604020202020204" pitchFamily="34" charset="0"/>
              </a:rPr>
              <a:t>应用的层次</a:t>
            </a:r>
            <a:r>
              <a:rPr lang="zh-CN" altLang="en-US" sz="2000" b="1">
                <a:latin typeface="Comic Sans MS" panose="030F0702030302020204" pitchFamily="66" charset="0"/>
                <a:ea typeface="黑体" panose="02010609060101010101" pitchFamily="49" charset="-122"/>
                <a:cs typeface="Arial" panose="020B0604020202020204" pitchFamily="34" charset="0"/>
              </a:rPr>
              <a:t>信息安全体系结构</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a:p>
            <a:pPr algn="just" eaLnBrk="1" hangingPunct="1">
              <a:buClrTx/>
              <a:buSzPct val="80000"/>
              <a:buFontTx/>
              <a:buNone/>
            </a:pPr>
            <a:r>
              <a:rPr lang="en-US" altLang="zh-CN" sz="2000" b="1">
                <a:latin typeface="Comic Sans MS" panose="030F0702030302020204" pitchFamily="66" charset="0"/>
                <a:ea typeface="黑体" panose="02010609060101010101" pitchFamily="49" charset="-122"/>
                <a:cs typeface="Arial" panose="020B0604020202020204" pitchFamily="34" charset="0"/>
              </a:rPr>
              <a:t>3.3.4  </a:t>
            </a:r>
            <a:r>
              <a:rPr lang="zh-CN" altLang="en-US" sz="2000" b="1">
                <a:latin typeface="Comic Sans MS" panose="030F0702030302020204" pitchFamily="66" charset="0"/>
                <a:ea typeface="黑体" panose="02010609060101010101" pitchFamily="49" charset="-122"/>
                <a:cs typeface="Arial" panose="020B0604020202020204" pitchFamily="34" charset="0"/>
              </a:rPr>
              <a:t>面向</a:t>
            </a:r>
            <a:r>
              <a:rPr lang="zh-CN" altLang="en-US" sz="2000" b="1">
                <a:solidFill>
                  <a:srgbClr val="0033CC"/>
                </a:solidFill>
                <a:latin typeface="Comic Sans MS" panose="030F0702030302020204" pitchFamily="66" charset="0"/>
                <a:ea typeface="黑体" panose="02010609060101010101" pitchFamily="49" charset="-122"/>
                <a:cs typeface="Arial" panose="020B0604020202020204" pitchFamily="34" charset="0"/>
              </a:rPr>
              <a:t>网络的</a:t>
            </a:r>
            <a:r>
              <a:rPr lang="en-US" altLang="zh-CN" sz="2000" b="1">
                <a:solidFill>
                  <a:srgbClr val="0033CC"/>
                </a:solidFill>
                <a:latin typeface="Comic Sans MS" panose="030F0702030302020204" pitchFamily="66" charset="0"/>
                <a:ea typeface="黑体" panose="02010609060101010101" pitchFamily="49" charset="-122"/>
                <a:cs typeface="Arial" panose="020B0604020202020204" pitchFamily="34" charset="0"/>
              </a:rPr>
              <a:t>OSI</a:t>
            </a:r>
            <a:r>
              <a:rPr lang="zh-CN" altLang="en-US" sz="2000" b="1">
                <a:latin typeface="Comic Sans MS" panose="030F0702030302020204" pitchFamily="66" charset="0"/>
                <a:ea typeface="黑体" panose="02010609060101010101" pitchFamily="49" charset="-122"/>
                <a:cs typeface="Arial" panose="020B0604020202020204" pitchFamily="34" charset="0"/>
              </a:rPr>
              <a:t>信息安全体系结构</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p:txBody>
      </p:sp>
    </p:spTree>
  </p:cSld>
  <p:clrMapOvr>
    <a:masterClrMapping/>
  </p:clrMapOvr>
  <p:transition spd="med">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3">
            <a:extLst>
              <a:ext uri="{FF2B5EF4-FFF2-40B4-BE49-F238E27FC236}">
                <a16:creationId xmlns:a16="http://schemas.microsoft.com/office/drawing/2014/main" id="{5DD3B017-AB5B-4677-B6CE-FB23F53B4469}"/>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5" name="内容占位符 2">
            <a:extLst>
              <a:ext uri="{FF2B5EF4-FFF2-40B4-BE49-F238E27FC236}">
                <a16:creationId xmlns:a16="http://schemas.microsoft.com/office/drawing/2014/main" id="{42DEE93C-A09A-4453-81AB-8AC7E4B6FEBD}"/>
              </a:ext>
            </a:extLst>
          </p:cNvPr>
          <p:cNvSpPr txBox="1">
            <a:spLocks/>
          </p:cNvSpPr>
          <p:nvPr/>
        </p:nvSpPr>
        <p:spPr bwMode="auto">
          <a:xfrm>
            <a:off x="357188" y="785813"/>
            <a:ext cx="8358187" cy="3500437"/>
          </a:xfrm>
          <a:prstGeom prst="rect">
            <a:avLst/>
          </a:prstGeom>
          <a:noFill/>
          <a:ln w="9525">
            <a:noFill/>
            <a:miter lim="800000"/>
            <a:headEnd/>
            <a:tailEnd/>
          </a:ln>
        </p:spPr>
        <p:txBody>
          <a:bodyPr/>
          <a:lstStyle/>
          <a:p>
            <a:pPr marL="342900" indent="-342900">
              <a:lnSpc>
                <a:spcPct val="150000"/>
              </a:lnSpc>
              <a:spcBef>
                <a:spcPts val="600"/>
              </a:spcBef>
              <a:buClr>
                <a:srgbClr val="C00000"/>
              </a:buClr>
              <a:buFont typeface="Wingdings" pitchFamily="2" charset="2"/>
              <a:buChar char="n"/>
              <a:defRPr/>
            </a:pPr>
            <a:r>
              <a:rPr lang="zh-CN" altLang="en-US" sz="1500" kern="0" dirty="0">
                <a:latin typeface="+mj-ea"/>
                <a:ea typeface="+mj-ea"/>
              </a:rPr>
              <a:t>随着信息技术的发展与应用，信息安全的内涵在不断地延伸，从最初的信息机密性发展到信息的完整性、可用性、可控性和不可否认性等等，进而又发展为“攻（攻击）、防（防范）、测（检测）、控（控制）、管（管理）、评（评估）”等方面的基础理论和实施技术。</a:t>
            </a:r>
            <a:endParaRPr lang="en-US" altLang="zh-CN" sz="1500" kern="0" dirty="0">
              <a:latin typeface="+mj-ea"/>
              <a:ea typeface="+mj-ea"/>
            </a:endParaRPr>
          </a:p>
          <a:p>
            <a:pPr marL="342900" indent="-342900">
              <a:lnSpc>
                <a:spcPct val="150000"/>
              </a:lnSpc>
              <a:spcBef>
                <a:spcPts val="600"/>
              </a:spcBef>
              <a:buClr>
                <a:srgbClr val="C00000"/>
              </a:buClr>
              <a:buFont typeface="Wingdings" pitchFamily="2" charset="2"/>
              <a:buChar char="n"/>
              <a:defRPr/>
            </a:pPr>
            <a:r>
              <a:rPr lang="zh-CN" altLang="en-US" sz="1500" kern="0" dirty="0">
                <a:latin typeface="+mj-ea"/>
                <a:ea typeface="+mj-ea"/>
              </a:rPr>
              <a:t>人们借助信息安全体系结构（</a:t>
            </a:r>
            <a:r>
              <a:rPr lang="en-US" altLang="zh-CN" sz="1500" kern="0" dirty="0">
                <a:latin typeface="+mj-ea"/>
                <a:ea typeface="+mj-ea"/>
              </a:rPr>
              <a:t>Information Security Architecture</a:t>
            </a:r>
            <a:r>
              <a:rPr lang="zh-CN" altLang="en-US" sz="1500" kern="0" dirty="0">
                <a:latin typeface="+mj-ea"/>
                <a:ea typeface="+mj-ea"/>
              </a:rPr>
              <a:t>，</a:t>
            </a:r>
            <a:r>
              <a:rPr lang="en-US" altLang="zh-CN" sz="1500" kern="0" dirty="0">
                <a:latin typeface="+mj-ea"/>
                <a:ea typeface="+mj-ea"/>
              </a:rPr>
              <a:t>ISA</a:t>
            </a:r>
            <a:r>
              <a:rPr lang="zh-CN" altLang="en-US" sz="1500" kern="0" dirty="0">
                <a:latin typeface="+mj-ea"/>
                <a:ea typeface="+mj-ea"/>
              </a:rPr>
              <a:t>）能够更清晰地梳理信息系统中所需安全理论和技术的相关知识及其联系、加深理解其内涵。</a:t>
            </a:r>
            <a:endParaRPr lang="en-US" altLang="zh-CN" sz="1500" kern="0" dirty="0">
              <a:latin typeface="+mj-ea"/>
              <a:ea typeface="+mj-ea"/>
            </a:endParaRPr>
          </a:p>
          <a:p>
            <a:pPr marL="342900" indent="-342900">
              <a:lnSpc>
                <a:spcPct val="150000"/>
              </a:lnSpc>
              <a:spcBef>
                <a:spcPts val="600"/>
              </a:spcBef>
              <a:buClr>
                <a:srgbClr val="C00000"/>
              </a:buClr>
              <a:buFont typeface="Wingdings" pitchFamily="2" charset="2"/>
              <a:buChar char="n"/>
              <a:defRPr/>
            </a:pPr>
            <a:r>
              <a:rPr lang="zh-CN" altLang="en-US" sz="1500" kern="0" dirty="0">
                <a:latin typeface="+mj-ea"/>
                <a:ea typeface="+mj-ea"/>
              </a:rPr>
              <a:t>信息安全体系是构成信息系统的组件、环境和人（用户和管理者）的物理安全、运行安全、数据安全、内容安全、应用安全、管理安全与信息资产安全的综合，是一个多维度、多元素、多层次、时变的非线性复杂系统。其最终安全目标是控制信息系统的总风险趋于稳定并达到最小（绝对安全的信息系统是不存在的）。</a:t>
            </a:r>
            <a:endParaRPr lang="en-US" altLang="zh-CN" sz="1500" kern="0" dirty="0">
              <a:latin typeface="+mj-ea"/>
              <a:ea typeface="+mj-ea"/>
            </a:endParaRPr>
          </a:p>
        </p:txBody>
      </p:sp>
    </p:spTree>
  </p:cSld>
  <p:clrMapOvr>
    <a:masterClrMapping/>
  </p:clrMapOvr>
  <p:transition spd="med">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3">
            <a:extLst>
              <a:ext uri="{FF2B5EF4-FFF2-40B4-BE49-F238E27FC236}">
                <a16:creationId xmlns:a16="http://schemas.microsoft.com/office/drawing/2014/main" id="{B1B01346-967E-4E95-BB3C-78811C505E15}"/>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8" name="矩形 3">
            <a:extLst>
              <a:ext uri="{FF2B5EF4-FFF2-40B4-BE49-F238E27FC236}">
                <a16:creationId xmlns:a16="http://schemas.microsoft.com/office/drawing/2014/main" id="{9F5490F8-45DA-47ED-A568-1054FBA931F1}"/>
              </a:ext>
            </a:extLst>
          </p:cNvPr>
          <p:cNvSpPr>
            <a:spLocks noChangeArrowheads="1"/>
          </p:cNvSpPr>
          <p:nvPr/>
        </p:nvSpPr>
        <p:spPr bwMode="auto">
          <a:xfrm>
            <a:off x="214282" y="642924"/>
            <a:ext cx="4219425"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3.3.1 </a:t>
            </a:r>
            <a:r>
              <a:rPr lang="zh-CN" altLang="en-US" sz="2000" b="1" dirty="0">
                <a:solidFill>
                  <a:srgbClr val="C00000"/>
                </a:solidFill>
                <a:effectLst>
                  <a:reflection blurRad="6350" stA="50000" endA="300" endPos="50000" dist="60007" dir="5400000" sy="-100000" algn="bl" rotWithShape="0"/>
                </a:effectLst>
                <a:latin typeface="+mj-ea"/>
                <a:ea typeface="+mj-ea"/>
              </a:rPr>
              <a:t>面向目标的信息安全体系结构</a:t>
            </a:r>
          </a:p>
        </p:txBody>
      </p:sp>
      <p:grpSp>
        <p:nvGrpSpPr>
          <p:cNvPr id="31748" name="组合 45">
            <a:extLst>
              <a:ext uri="{FF2B5EF4-FFF2-40B4-BE49-F238E27FC236}">
                <a16:creationId xmlns:a16="http://schemas.microsoft.com/office/drawing/2014/main" id="{4B88938A-F1E5-4BE1-B70D-C9553E70868C}"/>
              </a:ext>
            </a:extLst>
          </p:cNvPr>
          <p:cNvGrpSpPr>
            <a:grpSpLocks/>
          </p:cNvGrpSpPr>
          <p:nvPr/>
        </p:nvGrpSpPr>
        <p:grpSpPr bwMode="auto">
          <a:xfrm>
            <a:off x="1500188" y="1000124"/>
            <a:ext cx="5786437" cy="3357564"/>
            <a:chOff x="1357290" y="1072345"/>
            <a:chExt cx="5786478" cy="3356793"/>
          </a:xfrm>
        </p:grpSpPr>
        <p:sp>
          <p:nvSpPr>
            <p:cNvPr id="31750" name="椭圆 4">
              <a:extLst>
                <a:ext uri="{FF2B5EF4-FFF2-40B4-BE49-F238E27FC236}">
                  <a16:creationId xmlns:a16="http://schemas.microsoft.com/office/drawing/2014/main" id="{ABEE4BED-F665-41F9-B05B-D6A941564B53}"/>
                </a:ext>
              </a:extLst>
            </p:cNvPr>
            <p:cNvSpPr>
              <a:spLocks noChangeArrowheads="1"/>
            </p:cNvSpPr>
            <p:nvPr/>
          </p:nvSpPr>
          <p:spPr bwMode="auto">
            <a:xfrm>
              <a:off x="3786182" y="2714626"/>
              <a:ext cx="1000132" cy="642942"/>
            </a:xfrm>
            <a:prstGeom prst="ellipse">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lvl="0" algn="ctr" eaLnBrk="1" hangingPunct="1">
                <a:lnSpc>
                  <a:spcPct val="100000"/>
                </a:lnSpc>
                <a:buClrTx/>
                <a:buNone/>
              </a:pPr>
              <a:r>
                <a:rPr lang="zh-CN" altLang="en-US" sz="1400" b="1">
                  <a:solidFill>
                    <a:prstClr val="black"/>
                  </a:solidFill>
                  <a:latin typeface="Arial" panose="020B0604020202020204" pitchFamily="34" charset="0"/>
                  <a:ea typeface="宋体" panose="02010600030101010101" pitchFamily="2" charset="-122"/>
                </a:rPr>
                <a:t>密码学</a:t>
              </a:r>
              <a:endParaRPr lang="en-US" altLang="zh-CN" sz="1400" b="1">
                <a:solidFill>
                  <a:prstClr val="black"/>
                </a:solidFill>
                <a:latin typeface="Arial" panose="020B0604020202020204" pitchFamily="34" charset="0"/>
                <a:ea typeface="宋体" panose="02010600030101010101" pitchFamily="2" charset="-122"/>
              </a:endParaRPr>
            </a:p>
            <a:p>
              <a:pPr lvl="0" algn="ctr" eaLnBrk="1" hangingPunct="1">
                <a:lnSpc>
                  <a:spcPct val="100000"/>
                </a:lnSpc>
                <a:buClrTx/>
                <a:buNone/>
              </a:pPr>
              <a:r>
                <a:rPr lang="zh-CN" altLang="en-US" sz="1400" b="1">
                  <a:solidFill>
                    <a:prstClr val="black"/>
                  </a:solidFill>
                  <a:latin typeface="Arial" panose="020B0604020202020204" pitchFamily="34" charset="0"/>
                  <a:ea typeface="宋体" panose="02010600030101010101" pitchFamily="2" charset="-122"/>
                </a:rPr>
                <a:t>基础</a:t>
              </a:r>
            </a:p>
          </p:txBody>
        </p:sp>
        <p:cxnSp>
          <p:nvCxnSpPr>
            <p:cNvPr id="31751" name="直接连接符 60">
              <a:extLst>
                <a:ext uri="{FF2B5EF4-FFF2-40B4-BE49-F238E27FC236}">
                  <a16:creationId xmlns:a16="http://schemas.microsoft.com/office/drawing/2014/main" id="{F54FDFF3-38D1-4B35-B822-379CEB750F75}"/>
                </a:ext>
              </a:extLst>
            </p:cNvPr>
            <p:cNvCxnSpPr>
              <a:cxnSpLocks noChangeShapeType="1"/>
            </p:cNvCxnSpPr>
            <p:nvPr/>
          </p:nvCxnSpPr>
          <p:spPr bwMode="auto">
            <a:xfrm rot="10800000" flipV="1">
              <a:off x="1714480" y="3143254"/>
              <a:ext cx="2073290" cy="928694"/>
            </a:xfrm>
            <a:prstGeom prst="line">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752" name="直接连接符 60">
              <a:extLst>
                <a:ext uri="{FF2B5EF4-FFF2-40B4-BE49-F238E27FC236}">
                  <a16:creationId xmlns:a16="http://schemas.microsoft.com/office/drawing/2014/main" id="{C4170640-1EBA-4140-A2D3-3792D39F626B}"/>
                </a:ext>
              </a:extLst>
            </p:cNvPr>
            <p:cNvCxnSpPr>
              <a:cxnSpLocks noChangeShapeType="1"/>
            </p:cNvCxnSpPr>
            <p:nvPr/>
          </p:nvCxnSpPr>
          <p:spPr bwMode="auto">
            <a:xfrm>
              <a:off x="4786314" y="3143254"/>
              <a:ext cx="1714512" cy="928694"/>
            </a:xfrm>
            <a:prstGeom prst="line">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753" name="直接连接符 60">
              <a:extLst>
                <a:ext uri="{FF2B5EF4-FFF2-40B4-BE49-F238E27FC236}">
                  <a16:creationId xmlns:a16="http://schemas.microsoft.com/office/drawing/2014/main" id="{9C6645CB-C23C-4DFE-BA2A-3D0BB91E1917}"/>
                </a:ext>
              </a:extLst>
            </p:cNvPr>
            <p:cNvCxnSpPr>
              <a:cxnSpLocks noChangeShapeType="1"/>
            </p:cNvCxnSpPr>
            <p:nvPr/>
          </p:nvCxnSpPr>
          <p:spPr bwMode="auto">
            <a:xfrm rot="5400000" flipH="1" flipV="1">
              <a:off x="3463520" y="1894279"/>
              <a:ext cx="1645456" cy="1588"/>
            </a:xfrm>
            <a:prstGeom prst="line">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54" name="矩形 19">
              <a:extLst>
                <a:ext uri="{FF2B5EF4-FFF2-40B4-BE49-F238E27FC236}">
                  <a16:creationId xmlns:a16="http://schemas.microsoft.com/office/drawing/2014/main" id="{E175C16D-7B13-4CDB-9716-2D954B9E3107}"/>
                </a:ext>
              </a:extLst>
            </p:cNvPr>
            <p:cNvSpPr>
              <a:spLocks noChangeArrowheads="1"/>
            </p:cNvSpPr>
            <p:nvPr/>
          </p:nvSpPr>
          <p:spPr bwMode="auto">
            <a:xfrm>
              <a:off x="3286116" y="2857874"/>
              <a:ext cx="428628" cy="28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en-US" altLang="zh-CN" sz="1400" b="1"/>
                <a:t>SSL</a:t>
              </a:r>
              <a:endParaRPr lang="zh-CN" altLang="en-US" sz="1400" b="1"/>
            </a:p>
          </p:txBody>
        </p:sp>
        <p:sp>
          <p:nvSpPr>
            <p:cNvPr id="31755" name="矩形 20">
              <a:extLst>
                <a:ext uri="{FF2B5EF4-FFF2-40B4-BE49-F238E27FC236}">
                  <a16:creationId xmlns:a16="http://schemas.microsoft.com/office/drawing/2014/main" id="{6C1743A2-56FC-447C-BD04-385A93CC7AC6}"/>
                </a:ext>
              </a:extLst>
            </p:cNvPr>
            <p:cNvSpPr>
              <a:spLocks noChangeArrowheads="1"/>
            </p:cNvSpPr>
            <p:nvPr/>
          </p:nvSpPr>
          <p:spPr bwMode="auto">
            <a:xfrm>
              <a:off x="2571736" y="3072137"/>
              <a:ext cx="714380" cy="28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400" b="1"/>
                <a:t>数字签名</a:t>
              </a:r>
            </a:p>
          </p:txBody>
        </p:sp>
        <p:sp>
          <p:nvSpPr>
            <p:cNvPr id="31756" name="矩形 21">
              <a:extLst>
                <a:ext uri="{FF2B5EF4-FFF2-40B4-BE49-F238E27FC236}">
                  <a16:creationId xmlns:a16="http://schemas.microsoft.com/office/drawing/2014/main" id="{AB4AF6F6-370D-4DE5-84F1-D483B2202A13}"/>
                </a:ext>
              </a:extLst>
            </p:cNvPr>
            <p:cNvSpPr>
              <a:spLocks noChangeArrowheads="1"/>
            </p:cNvSpPr>
            <p:nvPr/>
          </p:nvSpPr>
          <p:spPr bwMode="auto">
            <a:xfrm>
              <a:off x="2285984" y="3429243"/>
              <a:ext cx="428628" cy="28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en-US" altLang="zh-CN" sz="1400" b="1"/>
                <a:t>PKI</a:t>
              </a:r>
              <a:endParaRPr lang="zh-CN" altLang="en-US" sz="1400" b="1"/>
            </a:p>
          </p:txBody>
        </p:sp>
        <p:sp>
          <p:nvSpPr>
            <p:cNvPr id="31757" name="矩形 22">
              <a:extLst>
                <a:ext uri="{FF2B5EF4-FFF2-40B4-BE49-F238E27FC236}">
                  <a16:creationId xmlns:a16="http://schemas.microsoft.com/office/drawing/2014/main" id="{2BD7B0DE-7673-4085-B0AA-D2BAC070AFC2}"/>
                </a:ext>
              </a:extLst>
            </p:cNvPr>
            <p:cNvSpPr>
              <a:spLocks noChangeArrowheads="1"/>
            </p:cNvSpPr>
            <p:nvPr/>
          </p:nvSpPr>
          <p:spPr bwMode="auto">
            <a:xfrm>
              <a:off x="1857356" y="3643505"/>
              <a:ext cx="428628" cy="28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en-US" altLang="zh-CN" sz="1400" b="1"/>
                <a:t>PGP</a:t>
              </a:r>
              <a:endParaRPr lang="zh-CN" altLang="en-US" sz="1400" b="1"/>
            </a:p>
          </p:txBody>
        </p:sp>
        <p:sp>
          <p:nvSpPr>
            <p:cNvPr id="31758" name="矩形 32">
              <a:extLst>
                <a:ext uri="{FF2B5EF4-FFF2-40B4-BE49-F238E27FC236}">
                  <a16:creationId xmlns:a16="http://schemas.microsoft.com/office/drawing/2014/main" id="{96E553D2-8232-4609-B5D0-95AD401440B1}"/>
                </a:ext>
              </a:extLst>
            </p:cNvPr>
            <p:cNvSpPr>
              <a:spLocks noChangeArrowheads="1"/>
            </p:cNvSpPr>
            <p:nvPr/>
          </p:nvSpPr>
          <p:spPr bwMode="auto">
            <a:xfrm>
              <a:off x="1357290" y="4143454"/>
              <a:ext cx="714380" cy="28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400" b="1"/>
                <a:t>完整性</a:t>
              </a:r>
            </a:p>
          </p:txBody>
        </p:sp>
        <p:sp>
          <p:nvSpPr>
            <p:cNvPr id="31759" name="矩形 33">
              <a:extLst>
                <a:ext uri="{FF2B5EF4-FFF2-40B4-BE49-F238E27FC236}">
                  <a16:creationId xmlns:a16="http://schemas.microsoft.com/office/drawing/2014/main" id="{F65E3A6F-C684-4463-B2CE-0289BCF4C9B8}"/>
                </a:ext>
              </a:extLst>
            </p:cNvPr>
            <p:cNvSpPr>
              <a:spLocks noChangeArrowheads="1"/>
            </p:cNvSpPr>
            <p:nvPr/>
          </p:nvSpPr>
          <p:spPr bwMode="auto">
            <a:xfrm>
              <a:off x="1714480" y="3929190"/>
              <a:ext cx="714380" cy="142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en-US" altLang="zh-CN" sz="1400" b="1"/>
                <a:t>……</a:t>
              </a:r>
              <a:endParaRPr lang="zh-CN" altLang="en-US" sz="1400" b="1"/>
            </a:p>
          </p:txBody>
        </p:sp>
        <p:sp>
          <p:nvSpPr>
            <p:cNvPr id="31760" name="矩形 34">
              <a:extLst>
                <a:ext uri="{FF2B5EF4-FFF2-40B4-BE49-F238E27FC236}">
                  <a16:creationId xmlns:a16="http://schemas.microsoft.com/office/drawing/2014/main" id="{4A345891-1EB6-4C40-AE80-1689073185A1}"/>
                </a:ext>
              </a:extLst>
            </p:cNvPr>
            <p:cNvSpPr>
              <a:spLocks noChangeArrowheads="1"/>
            </p:cNvSpPr>
            <p:nvPr/>
          </p:nvSpPr>
          <p:spPr bwMode="auto">
            <a:xfrm>
              <a:off x="4857752" y="2929294"/>
              <a:ext cx="714380" cy="28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400" b="1"/>
                <a:t>访问控制</a:t>
              </a:r>
            </a:p>
          </p:txBody>
        </p:sp>
        <p:sp>
          <p:nvSpPr>
            <p:cNvPr id="31761" name="矩形 35">
              <a:extLst>
                <a:ext uri="{FF2B5EF4-FFF2-40B4-BE49-F238E27FC236}">
                  <a16:creationId xmlns:a16="http://schemas.microsoft.com/office/drawing/2014/main" id="{76178787-A578-45AF-8D3F-67FE6E1A1637}"/>
                </a:ext>
              </a:extLst>
            </p:cNvPr>
            <p:cNvSpPr>
              <a:spLocks noChangeArrowheads="1"/>
            </p:cNvSpPr>
            <p:nvPr/>
          </p:nvSpPr>
          <p:spPr bwMode="auto">
            <a:xfrm>
              <a:off x="5286380" y="3214979"/>
              <a:ext cx="428628" cy="28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en-US" altLang="zh-CN" sz="1400" b="1"/>
                <a:t>IDS</a:t>
              </a:r>
              <a:endParaRPr lang="zh-CN" altLang="en-US" sz="1400" b="1"/>
            </a:p>
          </p:txBody>
        </p:sp>
        <p:sp>
          <p:nvSpPr>
            <p:cNvPr id="31762" name="矩形 36">
              <a:extLst>
                <a:ext uri="{FF2B5EF4-FFF2-40B4-BE49-F238E27FC236}">
                  <a16:creationId xmlns:a16="http://schemas.microsoft.com/office/drawing/2014/main" id="{ACCED1A1-21D5-4F00-BA99-46C01E11CF0F}"/>
                </a:ext>
              </a:extLst>
            </p:cNvPr>
            <p:cNvSpPr>
              <a:spLocks noChangeArrowheads="1"/>
            </p:cNvSpPr>
            <p:nvPr/>
          </p:nvSpPr>
          <p:spPr bwMode="auto">
            <a:xfrm>
              <a:off x="5643570" y="3429243"/>
              <a:ext cx="428628" cy="28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en-US" altLang="zh-CN" sz="1400" b="1"/>
                <a:t>VPN</a:t>
              </a:r>
              <a:endParaRPr lang="zh-CN" altLang="en-US" sz="1400" b="1"/>
            </a:p>
          </p:txBody>
        </p:sp>
        <p:sp>
          <p:nvSpPr>
            <p:cNvPr id="31763" name="矩形 37">
              <a:extLst>
                <a:ext uri="{FF2B5EF4-FFF2-40B4-BE49-F238E27FC236}">
                  <a16:creationId xmlns:a16="http://schemas.microsoft.com/office/drawing/2014/main" id="{3F24311D-47F5-4299-9FBC-3E143165A486}"/>
                </a:ext>
              </a:extLst>
            </p:cNvPr>
            <p:cNvSpPr>
              <a:spLocks noChangeArrowheads="1"/>
            </p:cNvSpPr>
            <p:nvPr/>
          </p:nvSpPr>
          <p:spPr bwMode="auto">
            <a:xfrm>
              <a:off x="6072198" y="3643505"/>
              <a:ext cx="714380" cy="28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400" b="1"/>
                <a:t>病毒防治</a:t>
              </a:r>
            </a:p>
          </p:txBody>
        </p:sp>
        <p:sp>
          <p:nvSpPr>
            <p:cNvPr id="31764" name="矩形 38">
              <a:extLst>
                <a:ext uri="{FF2B5EF4-FFF2-40B4-BE49-F238E27FC236}">
                  <a16:creationId xmlns:a16="http://schemas.microsoft.com/office/drawing/2014/main" id="{E239620D-45FD-4969-9FCF-E9EAD521DEDB}"/>
                </a:ext>
              </a:extLst>
            </p:cNvPr>
            <p:cNvSpPr>
              <a:spLocks noChangeArrowheads="1"/>
            </p:cNvSpPr>
            <p:nvPr/>
          </p:nvSpPr>
          <p:spPr bwMode="auto">
            <a:xfrm>
              <a:off x="6429388" y="3857769"/>
              <a:ext cx="714380" cy="142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en-US" altLang="zh-CN" sz="1400" b="1"/>
                <a:t>……</a:t>
              </a:r>
              <a:endParaRPr lang="zh-CN" altLang="en-US" sz="1400" b="1"/>
            </a:p>
          </p:txBody>
        </p:sp>
        <p:sp>
          <p:nvSpPr>
            <p:cNvPr id="31765" name="矩形 39">
              <a:extLst>
                <a:ext uri="{FF2B5EF4-FFF2-40B4-BE49-F238E27FC236}">
                  <a16:creationId xmlns:a16="http://schemas.microsoft.com/office/drawing/2014/main" id="{6FEE10BE-44B9-4FFC-9CBC-527A51D8565C}"/>
                </a:ext>
              </a:extLst>
            </p:cNvPr>
            <p:cNvSpPr>
              <a:spLocks noChangeArrowheads="1"/>
            </p:cNvSpPr>
            <p:nvPr/>
          </p:nvSpPr>
          <p:spPr bwMode="auto">
            <a:xfrm>
              <a:off x="6143636" y="4072032"/>
              <a:ext cx="714380" cy="28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400" b="1"/>
                <a:t>可用性</a:t>
              </a:r>
            </a:p>
          </p:txBody>
        </p:sp>
        <p:sp>
          <p:nvSpPr>
            <p:cNvPr id="31766" name="矩形 40">
              <a:extLst>
                <a:ext uri="{FF2B5EF4-FFF2-40B4-BE49-F238E27FC236}">
                  <a16:creationId xmlns:a16="http://schemas.microsoft.com/office/drawing/2014/main" id="{D6EF9D47-7025-4B1C-9045-F43239CBAFBA}"/>
                </a:ext>
              </a:extLst>
            </p:cNvPr>
            <p:cNvSpPr>
              <a:spLocks noChangeArrowheads="1"/>
            </p:cNvSpPr>
            <p:nvPr/>
          </p:nvSpPr>
          <p:spPr bwMode="auto">
            <a:xfrm>
              <a:off x="3571868" y="1143768"/>
              <a:ext cx="714380" cy="28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400" b="1"/>
                <a:t>机密性</a:t>
              </a:r>
            </a:p>
          </p:txBody>
        </p:sp>
        <p:sp>
          <p:nvSpPr>
            <p:cNvPr id="31767" name="矩形 42">
              <a:extLst>
                <a:ext uri="{FF2B5EF4-FFF2-40B4-BE49-F238E27FC236}">
                  <a16:creationId xmlns:a16="http://schemas.microsoft.com/office/drawing/2014/main" id="{21154FC2-BD57-4BE4-853E-85163839DC81}"/>
                </a:ext>
              </a:extLst>
            </p:cNvPr>
            <p:cNvSpPr>
              <a:spLocks noChangeArrowheads="1"/>
            </p:cNvSpPr>
            <p:nvPr/>
          </p:nvSpPr>
          <p:spPr bwMode="auto">
            <a:xfrm>
              <a:off x="4143372" y="1215188"/>
              <a:ext cx="714380" cy="142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en-US" altLang="zh-CN" sz="1400" b="1"/>
                <a:t>……</a:t>
              </a:r>
              <a:endParaRPr lang="zh-CN" altLang="en-US" sz="1400" b="1"/>
            </a:p>
          </p:txBody>
        </p:sp>
        <p:sp>
          <p:nvSpPr>
            <p:cNvPr id="31768" name="矩形 43">
              <a:extLst>
                <a:ext uri="{FF2B5EF4-FFF2-40B4-BE49-F238E27FC236}">
                  <a16:creationId xmlns:a16="http://schemas.microsoft.com/office/drawing/2014/main" id="{535B0439-1F2E-449D-A1A9-507F0E7F9B3B}"/>
                </a:ext>
              </a:extLst>
            </p:cNvPr>
            <p:cNvSpPr>
              <a:spLocks noChangeArrowheads="1"/>
            </p:cNvSpPr>
            <p:nvPr/>
          </p:nvSpPr>
          <p:spPr bwMode="auto">
            <a:xfrm>
              <a:off x="4286248" y="1429452"/>
              <a:ext cx="428628" cy="114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ts val="2200"/>
                </a:lnSpc>
                <a:buClrTx/>
                <a:buFontTx/>
                <a:buNone/>
              </a:pPr>
              <a:r>
                <a:rPr lang="en-US" altLang="zh-CN" sz="1400" b="1"/>
                <a:t>PGP</a:t>
              </a:r>
            </a:p>
            <a:p>
              <a:pPr eaLnBrk="1" hangingPunct="1">
                <a:lnSpc>
                  <a:spcPts val="2200"/>
                </a:lnSpc>
                <a:buClrTx/>
                <a:buFontTx/>
                <a:buNone/>
              </a:pPr>
              <a:r>
                <a:rPr lang="en-US" altLang="zh-CN" sz="1400" b="1"/>
                <a:t>VPN</a:t>
              </a:r>
            </a:p>
            <a:p>
              <a:pPr eaLnBrk="1" hangingPunct="1">
                <a:lnSpc>
                  <a:spcPts val="2200"/>
                </a:lnSpc>
                <a:buClrTx/>
                <a:buFontTx/>
                <a:buNone/>
              </a:pPr>
              <a:r>
                <a:rPr lang="en-US" altLang="zh-CN" sz="1400" b="1"/>
                <a:t>SSL</a:t>
              </a:r>
            </a:p>
            <a:p>
              <a:pPr eaLnBrk="1" hangingPunct="1">
                <a:lnSpc>
                  <a:spcPts val="2200"/>
                </a:lnSpc>
                <a:buClrTx/>
                <a:buFontTx/>
                <a:buNone/>
              </a:pPr>
              <a:r>
                <a:rPr lang="en-US" altLang="zh-CN" sz="1400" b="1"/>
                <a:t>IPSEC</a:t>
              </a:r>
              <a:endParaRPr lang="zh-CN" altLang="en-US" sz="1400" b="1"/>
            </a:p>
          </p:txBody>
        </p:sp>
      </p:grpSp>
      <p:sp>
        <p:nvSpPr>
          <p:cNvPr id="47" name="矩形 3">
            <a:extLst>
              <a:ext uri="{FF2B5EF4-FFF2-40B4-BE49-F238E27FC236}">
                <a16:creationId xmlns:a16="http://schemas.microsoft.com/office/drawing/2014/main" id="{D861D0C5-1235-4524-8A1B-7480A5B594DE}"/>
              </a:ext>
            </a:extLst>
          </p:cNvPr>
          <p:cNvSpPr>
            <a:spLocks noChangeArrowheads="1"/>
          </p:cNvSpPr>
          <p:nvPr/>
        </p:nvSpPr>
        <p:spPr bwMode="auto">
          <a:xfrm>
            <a:off x="3297238" y="4000500"/>
            <a:ext cx="2419350" cy="336550"/>
          </a:xfrm>
          <a:prstGeom prst="rect">
            <a:avLst/>
          </a:prstGeom>
          <a:noFill/>
          <a:ln w="9525">
            <a:noFill/>
            <a:miter lim="800000"/>
            <a:headEnd/>
            <a:tailEnd/>
          </a:ln>
        </p:spPr>
        <p:txBody>
          <a:bodyPr wrap="none">
            <a:spAutoFit/>
          </a:bodyPr>
          <a:lstStyle/>
          <a:p>
            <a:pPr algn="ctr" eaLnBrk="1" hangingPunct="1">
              <a:defRPr/>
            </a:pPr>
            <a:r>
              <a:rPr lang="zh-CN" altLang="en-US" sz="1600" b="1" dirty="0">
                <a:latin typeface="+mj-ea"/>
                <a:ea typeface="+mj-ea"/>
              </a:rPr>
              <a:t>面向目标的知识体系结构</a:t>
            </a:r>
          </a:p>
        </p:txBody>
      </p:sp>
    </p:spTree>
  </p:cSld>
  <p:clrMapOvr>
    <a:masterClrMapping/>
  </p:clrMapOvr>
  <p:transition spd="med">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a:extLst>
              <a:ext uri="{FF2B5EF4-FFF2-40B4-BE49-F238E27FC236}">
                <a16:creationId xmlns:a16="http://schemas.microsoft.com/office/drawing/2014/main" id="{DE1CAA7E-8946-4E8A-B605-1ED6293CEEC3}"/>
              </a:ext>
            </a:extLst>
          </p:cNvPr>
          <p:cNvSpPr txBox="1">
            <a:spLocks/>
          </p:cNvSpPr>
          <p:nvPr/>
        </p:nvSpPr>
        <p:spPr bwMode="auto">
          <a:xfrm>
            <a:off x="214313" y="1285875"/>
            <a:ext cx="8572500"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zh-CN" altLang="en-US" b="1"/>
              <a:t>信息安全保障的定义：</a:t>
            </a:r>
            <a:endParaRPr lang="en-US" altLang="zh-CN" b="1"/>
          </a:p>
          <a:p>
            <a:r>
              <a:rPr lang="zh-CN" altLang="en-US"/>
              <a:t>保护和防御信息及信息系统，确保其机密性、完整性、可用性、可认证性、不可否认性等特性，包括信息系统中融入保护、检测、响应功能，并提供信息系统的恢复功能。</a:t>
            </a:r>
            <a:endParaRPr lang="en-US" altLang="zh-CN"/>
          </a:p>
          <a:p>
            <a:pPr>
              <a:spcBef>
                <a:spcPts val="400"/>
              </a:spcBef>
              <a:buFont typeface="Wingdings" panose="05000000000000000000" pitchFamily="2" charset="2"/>
              <a:buChar char="Ø"/>
            </a:pPr>
            <a:r>
              <a:rPr lang="zh-CN" altLang="en-US" sz="1400"/>
              <a:t>这个定义明确了机密性、完整性、可用性、可认证性、不可否认性这五个安全属性，提出了保护（</a:t>
            </a:r>
            <a:r>
              <a:rPr lang="en-US" altLang="zh-CN" sz="1400"/>
              <a:t>Protect</a:t>
            </a:r>
            <a:r>
              <a:rPr lang="zh-CN" altLang="en-US" sz="1400"/>
              <a:t>）、检测（</a:t>
            </a:r>
            <a:r>
              <a:rPr lang="en-US" altLang="zh-CN" sz="1400"/>
              <a:t>Detect</a:t>
            </a:r>
            <a:r>
              <a:rPr lang="zh-CN" altLang="en-US" sz="1400"/>
              <a:t>）、响应（</a:t>
            </a:r>
            <a:r>
              <a:rPr lang="en-US" altLang="zh-CN" sz="1400"/>
              <a:t>React</a:t>
            </a:r>
            <a:r>
              <a:rPr lang="zh-CN" altLang="en-US" sz="1400"/>
              <a:t>）、恢复（</a:t>
            </a:r>
            <a:r>
              <a:rPr lang="en-US" altLang="zh-CN" sz="1400"/>
              <a:t>Restore</a:t>
            </a:r>
            <a:r>
              <a:rPr lang="zh-CN" altLang="en-US" sz="1400"/>
              <a:t>）这四个动态的工作环节，强调了信息安全保障的对象不仅是信息，也包括信息系统，即</a:t>
            </a:r>
            <a:r>
              <a:rPr lang="en-US" altLang="zh-CN" sz="1400"/>
              <a:t>PDRR</a:t>
            </a:r>
            <a:r>
              <a:rPr lang="zh-CN" altLang="en-US" sz="1400"/>
              <a:t>动态安全模型。</a:t>
            </a:r>
            <a:endParaRPr lang="en-US" altLang="zh-CN" sz="1400"/>
          </a:p>
          <a:p>
            <a:endParaRPr lang="en-US" altLang="zh-CN"/>
          </a:p>
        </p:txBody>
      </p:sp>
      <p:sp>
        <p:nvSpPr>
          <p:cNvPr id="5" name="矩形 3">
            <a:extLst>
              <a:ext uri="{FF2B5EF4-FFF2-40B4-BE49-F238E27FC236}">
                <a16:creationId xmlns:a16="http://schemas.microsoft.com/office/drawing/2014/main" id="{F0A15390-E901-4451-B25C-0ADD4E3F14B9}"/>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DAFB1F91-E8AD-4DEC-9D51-AF8DFDAABCE6}"/>
              </a:ext>
            </a:extLst>
          </p:cNvPr>
          <p:cNvSpPr>
            <a:spLocks noChangeArrowheads="1"/>
          </p:cNvSpPr>
          <p:nvPr/>
        </p:nvSpPr>
        <p:spPr bwMode="auto">
          <a:xfrm>
            <a:off x="214282" y="642924"/>
            <a:ext cx="473238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3.3.2 </a:t>
            </a:r>
            <a:r>
              <a:rPr lang="zh-CN" altLang="en-US" sz="2000" b="1" dirty="0">
                <a:solidFill>
                  <a:srgbClr val="C00000"/>
                </a:solidFill>
                <a:effectLst>
                  <a:reflection blurRad="6350" stA="50000" endA="300" endPos="50000" dist="60007" dir="5400000" sy="-100000" algn="bl" rotWithShape="0"/>
                </a:effectLst>
                <a:latin typeface="+mj-ea"/>
                <a:ea typeface="+mj-ea"/>
              </a:rPr>
              <a:t>面向过程的信息安全保障体系结构</a:t>
            </a:r>
          </a:p>
        </p:txBody>
      </p:sp>
    </p:spTree>
  </p:cSld>
  <p:clrMapOvr>
    <a:masterClrMapping/>
  </p:clrMapOvr>
  <p:transition spd="med">
    <p:randomBar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CA0B1B88-A0D9-4853-8536-B152A6AC0871}"/>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CEDA1B8F-6390-4795-88AB-101020A412D3}"/>
              </a:ext>
            </a:extLst>
          </p:cNvPr>
          <p:cNvSpPr>
            <a:spLocks noChangeArrowheads="1"/>
          </p:cNvSpPr>
          <p:nvPr/>
        </p:nvSpPr>
        <p:spPr bwMode="auto">
          <a:xfrm>
            <a:off x="214282" y="642924"/>
            <a:ext cx="473238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3.3.2 </a:t>
            </a:r>
            <a:r>
              <a:rPr lang="zh-CN" altLang="en-US" sz="2000" b="1" dirty="0">
                <a:solidFill>
                  <a:srgbClr val="C00000"/>
                </a:solidFill>
                <a:effectLst>
                  <a:reflection blurRad="6350" stA="50000" endA="300" endPos="50000" dist="60007" dir="5400000" sy="-100000" algn="bl" rotWithShape="0"/>
                </a:effectLst>
                <a:latin typeface="+mj-ea"/>
                <a:ea typeface="+mj-ea"/>
              </a:rPr>
              <a:t>面向过程的信息安全保障体系结构</a:t>
            </a:r>
          </a:p>
        </p:txBody>
      </p:sp>
      <p:grpSp>
        <p:nvGrpSpPr>
          <p:cNvPr id="33796" name="组合 26">
            <a:extLst>
              <a:ext uri="{FF2B5EF4-FFF2-40B4-BE49-F238E27FC236}">
                <a16:creationId xmlns:a16="http://schemas.microsoft.com/office/drawing/2014/main" id="{15D9589F-0FD3-4725-A245-FC56CD66E148}"/>
              </a:ext>
            </a:extLst>
          </p:cNvPr>
          <p:cNvGrpSpPr>
            <a:grpSpLocks/>
          </p:cNvGrpSpPr>
          <p:nvPr/>
        </p:nvGrpSpPr>
        <p:grpSpPr bwMode="auto">
          <a:xfrm>
            <a:off x="2286000" y="500064"/>
            <a:ext cx="4011613" cy="4143375"/>
            <a:chOff x="1123383" y="447365"/>
            <a:chExt cx="4011744" cy="4143005"/>
          </a:xfrm>
        </p:grpSpPr>
        <p:sp>
          <p:nvSpPr>
            <p:cNvPr id="14" name="TextBox 13">
              <a:extLst>
                <a:ext uri="{FF2B5EF4-FFF2-40B4-BE49-F238E27FC236}">
                  <a16:creationId xmlns:a16="http://schemas.microsoft.com/office/drawing/2014/main" id="{232FFB85-AFEC-4860-831B-D2055D3A2455}"/>
                </a:ext>
              </a:extLst>
            </p:cNvPr>
            <p:cNvSpPr txBox="1"/>
            <p:nvPr/>
          </p:nvSpPr>
          <p:spPr>
            <a:xfrm rot="19272369">
              <a:off x="1821490" y="1613890"/>
              <a:ext cx="1260855" cy="850205"/>
            </a:xfrm>
            <a:prstGeom prst="rect">
              <a:avLst/>
            </a:prstGeom>
            <a:noFill/>
            <a:ln>
              <a:noFill/>
            </a:ln>
          </p:spPr>
          <p:txBody>
            <a:bodyPr spcFirstLastPara="1">
              <a:prstTxWarp prst="textArchUp">
                <a:avLst/>
              </a:prstTxWarp>
              <a:spAutoFit/>
            </a:bodyPr>
            <a:lstStyle/>
            <a:p>
              <a:pPr eaLnBrk="1" hangingPunct="1">
                <a:defRPr/>
              </a:pPr>
              <a:r>
                <a:rPr lang="zh-CN" altLang="en-US" sz="1600" dirty="0">
                  <a:latin typeface="+mj-ea"/>
                  <a:ea typeface="+mj-ea"/>
                </a:rPr>
                <a:t>保护（</a:t>
              </a:r>
              <a:r>
                <a:rPr lang="en-US" altLang="zh-CN" sz="1600" dirty="0">
                  <a:latin typeface="+mj-ea"/>
                  <a:ea typeface="+mj-ea"/>
                </a:rPr>
                <a:t>Protect</a:t>
              </a:r>
              <a:r>
                <a:rPr lang="zh-CN" altLang="en-US" sz="1600" dirty="0">
                  <a:latin typeface="+mj-ea"/>
                  <a:ea typeface="+mj-ea"/>
                </a:rPr>
                <a:t>）</a:t>
              </a:r>
            </a:p>
          </p:txBody>
        </p:sp>
        <p:sp>
          <p:nvSpPr>
            <p:cNvPr id="18" name="TextBox 17">
              <a:extLst>
                <a:ext uri="{FF2B5EF4-FFF2-40B4-BE49-F238E27FC236}">
                  <a16:creationId xmlns:a16="http://schemas.microsoft.com/office/drawing/2014/main" id="{6994B877-2040-453C-834D-C24DA8759D99}"/>
                </a:ext>
              </a:extLst>
            </p:cNvPr>
            <p:cNvSpPr txBox="1"/>
            <p:nvPr/>
          </p:nvSpPr>
          <p:spPr>
            <a:xfrm rot="3222180">
              <a:off x="3026840" y="1452882"/>
              <a:ext cx="1199430" cy="850205"/>
            </a:xfrm>
            <a:prstGeom prst="rect">
              <a:avLst/>
            </a:prstGeom>
            <a:noFill/>
            <a:ln>
              <a:noFill/>
            </a:ln>
          </p:spPr>
          <p:txBody>
            <a:bodyPr spcFirstLastPara="1">
              <a:prstTxWarp prst="textArchUp">
                <a:avLst/>
              </a:prstTxWarp>
              <a:spAutoFit/>
            </a:bodyPr>
            <a:lstStyle/>
            <a:p>
              <a:pPr eaLnBrk="1" hangingPunct="1">
                <a:defRPr/>
              </a:pPr>
              <a:r>
                <a:rPr lang="zh-CN" altLang="en-US" sz="1600" dirty="0">
                  <a:latin typeface="+mj-ea"/>
                  <a:ea typeface="+mj-ea"/>
                </a:rPr>
                <a:t>检查（</a:t>
              </a:r>
              <a:r>
                <a:rPr lang="en-US" altLang="zh-CN" sz="1600" dirty="0">
                  <a:latin typeface="+mj-ea"/>
                  <a:ea typeface="+mj-ea"/>
                </a:rPr>
                <a:t>Detect</a:t>
              </a:r>
              <a:r>
                <a:rPr lang="zh-CN" altLang="en-US" sz="1600" dirty="0">
                  <a:latin typeface="+mj-ea"/>
                  <a:ea typeface="+mj-ea"/>
                </a:rPr>
                <a:t>）</a:t>
              </a:r>
            </a:p>
          </p:txBody>
        </p:sp>
        <p:sp>
          <p:nvSpPr>
            <p:cNvPr id="19" name="TextBox 18">
              <a:extLst>
                <a:ext uri="{FF2B5EF4-FFF2-40B4-BE49-F238E27FC236}">
                  <a16:creationId xmlns:a16="http://schemas.microsoft.com/office/drawing/2014/main" id="{EA0EDD55-59E8-435F-B8FD-CD46651FD8E8}"/>
                </a:ext>
              </a:extLst>
            </p:cNvPr>
            <p:cNvSpPr txBox="1"/>
            <p:nvPr/>
          </p:nvSpPr>
          <p:spPr>
            <a:xfrm rot="8664004">
              <a:off x="3128605" y="2649317"/>
              <a:ext cx="1275789" cy="850205"/>
            </a:xfrm>
            <a:prstGeom prst="rect">
              <a:avLst/>
            </a:prstGeom>
            <a:noFill/>
            <a:ln>
              <a:noFill/>
            </a:ln>
          </p:spPr>
          <p:txBody>
            <a:bodyPr spcFirstLastPara="1">
              <a:prstTxWarp prst="textArchUp">
                <a:avLst/>
              </a:prstTxWarp>
              <a:spAutoFit/>
            </a:bodyPr>
            <a:lstStyle/>
            <a:p>
              <a:pPr eaLnBrk="1" hangingPunct="1">
                <a:defRPr/>
              </a:pPr>
              <a:r>
                <a:rPr lang="zh-CN" altLang="en-US" sz="1600" dirty="0">
                  <a:latin typeface="+mj-ea"/>
                  <a:ea typeface="+mj-ea"/>
                </a:rPr>
                <a:t>反应（</a:t>
              </a:r>
              <a:r>
                <a:rPr lang="en-US" altLang="zh-CN" sz="1600" dirty="0">
                  <a:latin typeface="+mj-ea"/>
                  <a:ea typeface="+mj-ea"/>
                </a:rPr>
                <a:t>React</a:t>
              </a:r>
              <a:r>
                <a:rPr lang="zh-CN" altLang="en-US" sz="1600" dirty="0">
                  <a:latin typeface="+mj-ea"/>
                  <a:ea typeface="+mj-ea"/>
                </a:rPr>
                <a:t>）</a:t>
              </a:r>
            </a:p>
          </p:txBody>
        </p:sp>
        <p:sp>
          <p:nvSpPr>
            <p:cNvPr id="20" name="TextBox 19">
              <a:extLst>
                <a:ext uri="{FF2B5EF4-FFF2-40B4-BE49-F238E27FC236}">
                  <a16:creationId xmlns:a16="http://schemas.microsoft.com/office/drawing/2014/main" id="{DAFED9CD-DDE4-4603-8F55-33DA07DB0256}"/>
                </a:ext>
              </a:extLst>
            </p:cNvPr>
            <p:cNvSpPr txBox="1"/>
            <p:nvPr/>
          </p:nvSpPr>
          <p:spPr>
            <a:xfrm rot="1321364">
              <a:off x="1967880" y="2810780"/>
              <a:ext cx="1444312" cy="870543"/>
            </a:xfrm>
            <a:prstGeom prst="rect">
              <a:avLst/>
            </a:prstGeom>
            <a:noFill/>
            <a:ln>
              <a:noFill/>
            </a:ln>
          </p:spPr>
          <p:txBody>
            <a:bodyPr spcFirstLastPara="1">
              <a:prstTxWarp prst="textArchDown">
                <a:avLst>
                  <a:gd name="adj" fmla="val 109206"/>
                </a:avLst>
              </a:prstTxWarp>
              <a:spAutoFit/>
            </a:bodyPr>
            <a:lstStyle/>
            <a:p>
              <a:pPr eaLnBrk="1" hangingPunct="1">
                <a:defRPr/>
              </a:pPr>
              <a:r>
                <a:rPr lang="zh-CN" altLang="en-US" sz="1600" dirty="0">
                  <a:latin typeface="+mj-ea"/>
                  <a:ea typeface="+mj-ea"/>
                </a:rPr>
                <a:t>恢复（</a:t>
              </a:r>
              <a:r>
                <a:rPr lang="en-US" altLang="zh-CN" sz="1600" dirty="0">
                  <a:latin typeface="+mj-ea"/>
                  <a:ea typeface="+mj-ea"/>
                </a:rPr>
                <a:t>Restore</a:t>
              </a:r>
              <a:r>
                <a:rPr lang="zh-CN" altLang="en-US" sz="1600" dirty="0">
                  <a:latin typeface="+mj-ea"/>
                  <a:ea typeface="+mj-ea"/>
                </a:rPr>
                <a:t>）</a:t>
              </a:r>
            </a:p>
          </p:txBody>
        </p:sp>
        <p:sp>
          <p:nvSpPr>
            <p:cNvPr id="22" name="椭圆 21">
              <a:extLst>
                <a:ext uri="{FF2B5EF4-FFF2-40B4-BE49-F238E27FC236}">
                  <a16:creationId xmlns:a16="http://schemas.microsoft.com/office/drawing/2014/main" id="{A7C733E1-A17F-455D-B75A-A5D1844589FA}"/>
                </a:ext>
              </a:extLst>
            </p:cNvPr>
            <p:cNvSpPr/>
            <p:nvPr/>
          </p:nvSpPr>
          <p:spPr bwMode="auto">
            <a:xfrm>
              <a:off x="2214032" y="1642644"/>
              <a:ext cx="1857436" cy="1785779"/>
            </a:xfrm>
            <a:prstGeom prst="ellipse">
              <a:avLst/>
            </a:prstGeom>
            <a:noFill/>
            <a:ln w="9525" cap="flat" cmpd="sng" algn="ctr">
              <a:no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信息保障</a:t>
              </a:r>
              <a:endPar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Information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Assurance</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环形箭头 22">
              <a:extLst>
                <a:ext uri="{FF2B5EF4-FFF2-40B4-BE49-F238E27FC236}">
                  <a16:creationId xmlns:a16="http://schemas.microsoft.com/office/drawing/2014/main" id="{977010A0-8D34-4A07-A67A-CBD711983415}"/>
                </a:ext>
              </a:extLst>
            </p:cNvPr>
            <p:cNvSpPr/>
            <p:nvPr/>
          </p:nvSpPr>
          <p:spPr bwMode="auto">
            <a:xfrm rot="19717513">
              <a:off x="1245625" y="687055"/>
              <a:ext cx="3889502" cy="2142934"/>
            </a:xfrm>
            <a:prstGeom prst="circularArrow">
              <a:avLst>
                <a:gd name="adj1" fmla="val 31339"/>
                <a:gd name="adj2" fmla="val 2081227"/>
                <a:gd name="adj3" fmla="val 13769008"/>
                <a:gd name="adj4" fmla="val 10800000"/>
                <a:gd name="adj5" fmla="val 21247"/>
              </a:avLst>
            </a:prstGeom>
            <a:no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a:ea typeface="微软雅黑" pitchFamily="34" charset="-122"/>
              </a:endParaRPr>
            </a:p>
          </p:txBody>
        </p:sp>
        <p:sp>
          <p:nvSpPr>
            <p:cNvPr id="24" name="环形箭头 23">
              <a:extLst>
                <a:ext uri="{FF2B5EF4-FFF2-40B4-BE49-F238E27FC236}">
                  <a16:creationId xmlns:a16="http://schemas.microsoft.com/office/drawing/2014/main" id="{D6191BD2-AE2B-4F33-A5A4-D7E611DE0C77}"/>
                </a:ext>
              </a:extLst>
            </p:cNvPr>
            <p:cNvSpPr/>
            <p:nvPr/>
          </p:nvSpPr>
          <p:spPr bwMode="auto">
            <a:xfrm rot="3489049">
              <a:off x="2012649" y="1574258"/>
              <a:ext cx="3889028" cy="2143195"/>
            </a:xfrm>
            <a:prstGeom prst="circularArrow">
              <a:avLst>
                <a:gd name="adj1" fmla="val 31339"/>
                <a:gd name="adj2" fmla="val 2081227"/>
                <a:gd name="adj3" fmla="val 13769008"/>
                <a:gd name="adj4" fmla="val 10771202"/>
                <a:gd name="adj5" fmla="val 21247"/>
              </a:avLst>
            </a:prstGeom>
            <a:no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a:ea typeface="微软雅黑" pitchFamily="34" charset="-122"/>
              </a:endParaRPr>
            </a:p>
          </p:txBody>
        </p:sp>
        <p:sp>
          <p:nvSpPr>
            <p:cNvPr id="25" name="环形箭头 24">
              <a:extLst>
                <a:ext uri="{FF2B5EF4-FFF2-40B4-BE49-F238E27FC236}">
                  <a16:creationId xmlns:a16="http://schemas.microsoft.com/office/drawing/2014/main" id="{DCEF2F03-6517-4174-BB25-43AE2D840379}"/>
                </a:ext>
              </a:extLst>
            </p:cNvPr>
            <p:cNvSpPr/>
            <p:nvPr/>
          </p:nvSpPr>
          <p:spPr bwMode="auto">
            <a:xfrm rot="8749349">
              <a:off x="1123383" y="2336320"/>
              <a:ext cx="3889502" cy="2142934"/>
            </a:xfrm>
            <a:prstGeom prst="circularArrow">
              <a:avLst>
                <a:gd name="adj1" fmla="val 31339"/>
                <a:gd name="adj2" fmla="val 2081227"/>
                <a:gd name="adj3" fmla="val 13769008"/>
                <a:gd name="adj4" fmla="val 10800000"/>
                <a:gd name="adj5" fmla="val 21247"/>
              </a:avLst>
            </a:prstGeom>
            <a:no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a:ea typeface="微软雅黑" pitchFamily="34" charset="-122"/>
              </a:endParaRPr>
            </a:p>
          </p:txBody>
        </p:sp>
        <p:sp>
          <p:nvSpPr>
            <p:cNvPr id="26" name="环形箭头 25">
              <a:extLst>
                <a:ext uri="{FF2B5EF4-FFF2-40B4-BE49-F238E27FC236}">
                  <a16:creationId xmlns:a16="http://schemas.microsoft.com/office/drawing/2014/main" id="{5F20D28A-BDB4-4575-BB8C-E351021F61D8}"/>
                </a:ext>
              </a:extLst>
            </p:cNvPr>
            <p:cNvSpPr/>
            <p:nvPr/>
          </p:nvSpPr>
          <p:spPr bwMode="auto">
            <a:xfrm rot="14107486">
              <a:off x="271105" y="1320281"/>
              <a:ext cx="3889027" cy="2143196"/>
            </a:xfrm>
            <a:prstGeom prst="circularArrow">
              <a:avLst>
                <a:gd name="adj1" fmla="val 31339"/>
                <a:gd name="adj2" fmla="val 2081227"/>
                <a:gd name="adj3" fmla="val 13769008"/>
                <a:gd name="adj4" fmla="val 10800000"/>
                <a:gd name="adj5" fmla="val 21247"/>
              </a:avLst>
            </a:prstGeom>
            <a:no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a:ea typeface="微软雅黑" pitchFamily="34" charset="-122"/>
              </a:endParaRPr>
            </a:p>
          </p:txBody>
        </p:sp>
      </p:grpSp>
      <p:sp>
        <p:nvSpPr>
          <p:cNvPr id="28" name="矩形 3">
            <a:extLst>
              <a:ext uri="{FF2B5EF4-FFF2-40B4-BE49-F238E27FC236}">
                <a16:creationId xmlns:a16="http://schemas.microsoft.com/office/drawing/2014/main" id="{C6A4FA31-FB48-4DAD-9166-C072CEBA71B9}"/>
              </a:ext>
            </a:extLst>
          </p:cNvPr>
          <p:cNvSpPr>
            <a:spLocks noChangeArrowheads="1"/>
          </p:cNvSpPr>
          <p:nvPr/>
        </p:nvSpPr>
        <p:spPr bwMode="auto">
          <a:xfrm>
            <a:off x="3857625" y="4143375"/>
            <a:ext cx="1176338" cy="338138"/>
          </a:xfrm>
          <a:prstGeom prst="rect">
            <a:avLst/>
          </a:prstGeom>
          <a:noFill/>
          <a:ln w="9525">
            <a:noFill/>
            <a:miter lim="800000"/>
            <a:headEnd/>
            <a:tailEnd/>
          </a:ln>
        </p:spPr>
        <p:txBody>
          <a:bodyPr wrap="none">
            <a:spAutoFit/>
          </a:bodyPr>
          <a:lstStyle/>
          <a:p>
            <a:pPr algn="ctr" eaLnBrk="1" hangingPunct="1">
              <a:defRPr/>
            </a:pPr>
            <a:r>
              <a:rPr lang="en-US" altLang="zh-CN" sz="1600" b="1" dirty="0">
                <a:latin typeface="+mj-ea"/>
                <a:ea typeface="+mj-ea"/>
              </a:rPr>
              <a:t>PDRR</a:t>
            </a:r>
            <a:r>
              <a:rPr lang="zh-CN" altLang="en-US" sz="1600" b="1" dirty="0">
                <a:latin typeface="+mj-ea"/>
                <a:ea typeface="+mj-ea"/>
              </a:rPr>
              <a:t>模型</a:t>
            </a:r>
          </a:p>
        </p:txBody>
      </p:sp>
      <p:sp>
        <p:nvSpPr>
          <p:cNvPr id="33798" name="内容占位符 2">
            <a:extLst>
              <a:ext uri="{FF2B5EF4-FFF2-40B4-BE49-F238E27FC236}">
                <a16:creationId xmlns:a16="http://schemas.microsoft.com/office/drawing/2014/main" id="{ABA51D3B-8D58-442D-BD70-7B54E34D07E4}"/>
              </a:ext>
            </a:extLst>
          </p:cNvPr>
          <p:cNvSpPr txBox="1">
            <a:spLocks/>
          </p:cNvSpPr>
          <p:nvPr/>
        </p:nvSpPr>
        <p:spPr bwMode="auto">
          <a:xfrm>
            <a:off x="357188" y="1214438"/>
            <a:ext cx="1714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en-US" altLang="zh-CN" b="1"/>
              <a:t>PDRR</a:t>
            </a:r>
            <a:r>
              <a:rPr lang="zh-CN" altLang="en-US" b="1"/>
              <a:t>模型</a:t>
            </a:r>
            <a:endParaRPr lang="en-US" altLang="zh-CN"/>
          </a:p>
        </p:txBody>
      </p:sp>
    </p:spTree>
  </p:cSld>
  <p:clrMapOvr>
    <a:masterClrMapping/>
  </p:clrMapOvr>
  <p:transition spd="med">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5796FDD7-CC40-49B0-A547-E885882BD4DF}"/>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9BA243A8-6FFF-4DD8-80E3-DE1BB5CCA95E}"/>
              </a:ext>
            </a:extLst>
          </p:cNvPr>
          <p:cNvSpPr>
            <a:spLocks noChangeArrowheads="1"/>
          </p:cNvSpPr>
          <p:nvPr/>
        </p:nvSpPr>
        <p:spPr bwMode="auto">
          <a:xfrm>
            <a:off x="214282" y="642924"/>
            <a:ext cx="473238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3.3.2 </a:t>
            </a:r>
            <a:r>
              <a:rPr lang="zh-CN" altLang="en-US" sz="2000" b="1" dirty="0">
                <a:solidFill>
                  <a:srgbClr val="C00000"/>
                </a:solidFill>
                <a:effectLst>
                  <a:reflection blurRad="6350" stA="50000" endA="300" endPos="50000" dist="60007" dir="5400000" sy="-100000" algn="bl" rotWithShape="0"/>
                </a:effectLst>
                <a:latin typeface="+mj-ea"/>
                <a:ea typeface="+mj-ea"/>
              </a:rPr>
              <a:t>面向过程的信息安全保障体系结构</a:t>
            </a:r>
          </a:p>
        </p:txBody>
      </p:sp>
      <p:sp>
        <p:nvSpPr>
          <p:cNvPr id="28" name="矩形 3">
            <a:extLst>
              <a:ext uri="{FF2B5EF4-FFF2-40B4-BE49-F238E27FC236}">
                <a16:creationId xmlns:a16="http://schemas.microsoft.com/office/drawing/2014/main" id="{7FA3C075-A005-4E0F-8C62-AA739497B6EF}"/>
              </a:ext>
            </a:extLst>
          </p:cNvPr>
          <p:cNvSpPr>
            <a:spLocks noChangeArrowheads="1"/>
          </p:cNvSpPr>
          <p:nvPr/>
        </p:nvSpPr>
        <p:spPr bwMode="auto">
          <a:xfrm>
            <a:off x="3071813" y="4143375"/>
            <a:ext cx="3433762" cy="338138"/>
          </a:xfrm>
          <a:prstGeom prst="rect">
            <a:avLst/>
          </a:prstGeom>
          <a:noFill/>
          <a:ln w="9525">
            <a:noFill/>
            <a:miter lim="800000"/>
            <a:headEnd/>
            <a:tailEnd/>
          </a:ln>
        </p:spPr>
        <p:txBody>
          <a:bodyPr wrap="none">
            <a:spAutoFit/>
          </a:bodyPr>
          <a:lstStyle/>
          <a:p>
            <a:pPr algn="ctr" eaLnBrk="1" hangingPunct="1">
              <a:defRPr/>
            </a:pPr>
            <a:r>
              <a:rPr lang="en-US" altLang="zh-CN" sz="1600" b="1" dirty="0">
                <a:latin typeface="+mj-ea"/>
                <a:ea typeface="+mj-ea"/>
              </a:rPr>
              <a:t>PDRR</a:t>
            </a:r>
            <a:r>
              <a:rPr lang="zh-CN" altLang="en-US" sz="1600" b="1" dirty="0">
                <a:latin typeface="+mj-ea"/>
                <a:ea typeface="+mj-ea"/>
              </a:rPr>
              <a:t>模型安全保障动态过程示意图</a:t>
            </a:r>
          </a:p>
        </p:txBody>
      </p:sp>
      <p:sp>
        <p:nvSpPr>
          <p:cNvPr id="34821" name="内容占位符 2">
            <a:extLst>
              <a:ext uri="{FF2B5EF4-FFF2-40B4-BE49-F238E27FC236}">
                <a16:creationId xmlns:a16="http://schemas.microsoft.com/office/drawing/2014/main" id="{5FA9909E-35DD-410D-A654-08FEA1D93FBE}"/>
              </a:ext>
            </a:extLst>
          </p:cNvPr>
          <p:cNvSpPr txBox="1">
            <a:spLocks/>
          </p:cNvSpPr>
          <p:nvPr/>
        </p:nvSpPr>
        <p:spPr bwMode="auto">
          <a:xfrm>
            <a:off x="285750" y="1000125"/>
            <a:ext cx="1714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en-US" altLang="zh-CN" b="1"/>
              <a:t>PDRR</a:t>
            </a:r>
            <a:r>
              <a:rPr lang="zh-CN" altLang="en-US" b="1"/>
              <a:t>模型</a:t>
            </a:r>
            <a:endParaRPr lang="en-US" altLang="zh-CN"/>
          </a:p>
        </p:txBody>
      </p:sp>
      <p:sp>
        <p:nvSpPr>
          <p:cNvPr id="16" name="矩形 15">
            <a:extLst>
              <a:ext uri="{FF2B5EF4-FFF2-40B4-BE49-F238E27FC236}">
                <a16:creationId xmlns:a16="http://schemas.microsoft.com/office/drawing/2014/main" id="{431FBADC-45AA-45CD-813B-E9937C77B01A}"/>
              </a:ext>
            </a:extLst>
          </p:cNvPr>
          <p:cNvSpPr>
            <a:spLocks noChangeArrowheads="1"/>
          </p:cNvSpPr>
          <p:nvPr/>
        </p:nvSpPr>
        <p:spPr bwMode="auto">
          <a:xfrm>
            <a:off x="2643188" y="1857375"/>
            <a:ext cx="357187" cy="1357313"/>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a:latin typeface="Arial" panose="020B0604020202020204" pitchFamily="34" charset="0"/>
              </a:rPr>
              <a:t>保</a:t>
            </a:r>
            <a:endParaRPr lang="en-US" altLang="zh-CN">
              <a:latin typeface="Arial" panose="020B0604020202020204" pitchFamily="34" charset="0"/>
            </a:endParaRPr>
          </a:p>
          <a:p>
            <a:pPr algn="ctr" eaLnBrk="1" hangingPunct="1">
              <a:lnSpc>
                <a:spcPct val="100000"/>
              </a:lnSpc>
              <a:buClrTx/>
              <a:buFontTx/>
              <a:buNone/>
            </a:pPr>
            <a:r>
              <a:rPr lang="zh-CN" altLang="en-US">
                <a:latin typeface="Arial" panose="020B0604020202020204" pitchFamily="34" charset="0"/>
              </a:rPr>
              <a:t>护</a:t>
            </a:r>
          </a:p>
        </p:txBody>
      </p:sp>
      <p:sp>
        <p:nvSpPr>
          <p:cNvPr id="17" name="矩形 16">
            <a:extLst>
              <a:ext uri="{FF2B5EF4-FFF2-40B4-BE49-F238E27FC236}">
                <a16:creationId xmlns:a16="http://schemas.microsoft.com/office/drawing/2014/main" id="{404FE5AC-932D-4290-A863-69343C96A502}"/>
              </a:ext>
            </a:extLst>
          </p:cNvPr>
          <p:cNvSpPr>
            <a:spLocks noChangeArrowheads="1"/>
          </p:cNvSpPr>
          <p:nvPr/>
        </p:nvSpPr>
        <p:spPr bwMode="auto">
          <a:xfrm>
            <a:off x="7643813" y="1857375"/>
            <a:ext cx="357187" cy="1357313"/>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a:latin typeface="Arial" panose="020B0604020202020204" pitchFamily="34" charset="0"/>
              </a:rPr>
              <a:t>恢</a:t>
            </a:r>
            <a:endParaRPr lang="en-US" altLang="zh-CN">
              <a:latin typeface="Arial" panose="020B0604020202020204" pitchFamily="34" charset="0"/>
            </a:endParaRPr>
          </a:p>
          <a:p>
            <a:pPr algn="ctr" eaLnBrk="1" hangingPunct="1">
              <a:lnSpc>
                <a:spcPct val="100000"/>
              </a:lnSpc>
              <a:buClrTx/>
              <a:buFontTx/>
              <a:buNone/>
            </a:pPr>
            <a:r>
              <a:rPr lang="zh-CN" altLang="en-US">
                <a:latin typeface="Arial" panose="020B0604020202020204" pitchFamily="34" charset="0"/>
              </a:rPr>
              <a:t>复</a:t>
            </a:r>
          </a:p>
        </p:txBody>
      </p:sp>
      <p:sp>
        <p:nvSpPr>
          <p:cNvPr id="45" name="矩形 44">
            <a:extLst>
              <a:ext uri="{FF2B5EF4-FFF2-40B4-BE49-F238E27FC236}">
                <a16:creationId xmlns:a16="http://schemas.microsoft.com/office/drawing/2014/main" id="{B40F82A4-F4E6-4B2F-A710-95529D241EB6}"/>
              </a:ext>
            </a:extLst>
          </p:cNvPr>
          <p:cNvSpPr>
            <a:spLocks noChangeArrowheads="1"/>
          </p:cNvSpPr>
          <p:nvPr/>
        </p:nvSpPr>
        <p:spPr bwMode="auto">
          <a:xfrm>
            <a:off x="4429125" y="1357313"/>
            <a:ext cx="357188" cy="1357312"/>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a:latin typeface="Arial" panose="020B0604020202020204" pitchFamily="34" charset="0"/>
              </a:rPr>
              <a:t>监</a:t>
            </a:r>
            <a:endParaRPr lang="en-US" altLang="zh-CN">
              <a:latin typeface="Arial" panose="020B0604020202020204" pitchFamily="34" charset="0"/>
            </a:endParaRPr>
          </a:p>
          <a:p>
            <a:pPr algn="ctr" eaLnBrk="1" hangingPunct="1">
              <a:lnSpc>
                <a:spcPct val="100000"/>
              </a:lnSpc>
              <a:buClrTx/>
              <a:buFontTx/>
              <a:buNone/>
            </a:pPr>
            <a:r>
              <a:rPr lang="zh-CN" altLang="en-US">
                <a:latin typeface="Arial" panose="020B0604020202020204" pitchFamily="34" charset="0"/>
              </a:rPr>
              <a:t>测</a:t>
            </a:r>
          </a:p>
        </p:txBody>
      </p:sp>
      <p:sp>
        <p:nvSpPr>
          <p:cNvPr id="46" name="矩形 45">
            <a:extLst>
              <a:ext uri="{FF2B5EF4-FFF2-40B4-BE49-F238E27FC236}">
                <a16:creationId xmlns:a16="http://schemas.microsoft.com/office/drawing/2014/main" id="{96C793E7-CAE4-447D-AC0B-CD3C4F7FE6A0}"/>
              </a:ext>
            </a:extLst>
          </p:cNvPr>
          <p:cNvSpPr>
            <a:spLocks noChangeArrowheads="1"/>
          </p:cNvSpPr>
          <p:nvPr/>
        </p:nvSpPr>
        <p:spPr bwMode="auto">
          <a:xfrm>
            <a:off x="6286500" y="2428875"/>
            <a:ext cx="357188" cy="1357313"/>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a:latin typeface="Arial" panose="020B0604020202020204" pitchFamily="34" charset="0"/>
              </a:rPr>
              <a:t>反</a:t>
            </a:r>
            <a:endParaRPr lang="en-US" altLang="zh-CN">
              <a:latin typeface="Arial" panose="020B0604020202020204" pitchFamily="34" charset="0"/>
            </a:endParaRPr>
          </a:p>
          <a:p>
            <a:pPr algn="ctr" eaLnBrk="1" hangingPunct="1">
              <a:lnSpc>
                <a:spcPct val="100000"/>
              </a:lnSpc>
              <a:buClrTx/>
              <a:buFontTx/>
              <a:buNone/>
            </a:pPr>
            <a:r>
              <a:rPr lang="zh-CN" altLang="en-US">
                <a:latin typeface="Arial" panose="020B0604020202020204" pitchFamily="34" charset="0"/>
              </a:rPr>
              <a:t>应</a:t>
            </a:r>
          </a:p>
        </p:txBody>
      </p:sp>
      <p:cxnSp>
        <p:nvCxnSpPr>
          <p:cNvPr id="48" name="直接箭头连接符 47">
            <a:extLst>
              <a:ext uri="{FF2B5EF4-FFF2-40B4-BE49-F238E27FC236}">
                <a16:creationId xmlns:a16="http://schemas.microsoft.com/office/drawing/2014/main" id="{0964C18A-7E24-471B-86F9-00E4D2B06120}"/>
              </a:ext>
            </a:extLst>
          </p:cNvPr>
          <p:cNvCxnSpPr>
            <a:cxnSpLocks noChangeShapeType="1"/>
          </p:cNvCxnSpPr>
          <p:nvPr/>
        </p:nvCxnSpPr>
        <p:spPr bwMode="auto">
          <a:xfrm>
            <a:off x="714375" y="2428875"/>
            <a:ext cx="1928813" cy="1588"/>
          </a:xfrm>
          <a:prstGeom prst="straightConnector1">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2" name="任意多边形 51">
            <a:extLst>
              <a:ext uri="{FF2B5EF4-FFF2-40B4-BE49-F238E27FC236}">
                <a16:creationId xmlns:a16="http://schemas.microsoft.com/office/drawing/2014/main" id="{36267AA0-0E89-4AA7-90A6-4C1EA80C722E}"/>
              </a:ext>
            </a:extLst>
          </p:cNvPr>
          <p:cNvSpPr>
            <a:spLocks noChangeArrowheads="1"/>
          </p:cNvSpPr>
          <p:nvPr/>
        </p:nvSpPr>
        <p:spPr bwMode="auto">
          <a:xfrm>
            <a:off x="1357313" y="1857375"/>
            <a:ext cx="1643062" cy="588963"/>
          </a:xfrm>
          <a:custGeom>
            <a:avLst/>
            <a:gdLst>
              <a:gd name="T0" fmla="*/ 20478126 w 936172"/>
              <a:gd name="T1" fmla="*/ 957387 h 534390"/>
              <a:gd name="T2" fmla="*/ 23949019 w 936172"/>
              <a:gd name="T3" fmla="*/ 340404 h 534390"/>
              <a:gd name="T4" fmla="*/ 0 w 936172"/>
              <a:gd name="T5" fmla="*/ 0 h 534390"/>
              <a:gd name="T6" fmla="*/ 0 w 936172"/>
              <a:gd name="T7" fmla="*/ 0 h 534390"/>
              <a:gd name="T8" fmla="*/ 0 60000 65536"/>
              <a:gd name="T9" fmla="*/ 0 60000 65536"/>
              <a:gd name="T10" fmla="*/ 0 60000 65536"/>
              <a:gd name="T11" fmla="*/ 0 60000 65536"/>
              <a:gd name="T12" fmla="*/ 0 w 936172"/>
              <a:gd name="T13" fmla="*/ 0 h 534390"/>
              <a:gd name="T14" fmla="*/ 936172 w 936172"/>
              <a:gd name="T15" fmla="*/ 534390 h 534390"/>
            </a:gdLst>
            <a:ahLst/>
            <a:cxnLst>
              <a:cxn ang="T8">
                <a:pos x="T0" y="T1"/>
              </a:cxn>
              <a:cxn ang="T9">
                <a:pos x="T2" y="T3"/>
              </a:cxn>
              <a:cxn ang="T10">
                <a:pos x="T4" y="T5"/>
              </a:cxn>
              <a:cxn ang="T11">
                <a:pos x="T6" y="T7"/>
              </a:cxn>
            </a:cxnLst>
            <a:rect l="T12" t="T13" r="T14" b="T15"/>
            <a:pathLst>
              <a:path w="936172" h="534390">
                <a:moveTo>
                  <a:pt x="700644" y="534390"/>
                </a:moveTo>
                <a:cubicBezTo>
                  <a:pt x="818408" y="406730"/>
                  <a:pt x="936172" y="279070"/>
                  <a:pt x="819398" y="190005"/>
                </a:cubicBezTo>
                <a:cubicBezTo>
                  <a:pt x="702624" y="100940"/>
                  <a:pt x="0" y="0"/>
                  <a:pt x="0" y="0"/>
                </a:cubicBezTo>
              </a:path>
            </a:pathLst>
          </a:custGeom>
          <a:noFill/>
          <a:ln w="12700"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 name="任意多边形 55">
            <a:extLst>
              <a:ext uri="{FF2B5EF4-FFF2-40B4-BE49-F238E27FC236}">
                <a16:creationId xmlns:a16="http://schemas.microsoft.com/office/drawing/2014/main" id="{8EE156D5-2CD4-49AD-9CA4-082419EA527E}"/>
              </a:ext>
            </a:extLst>
          </p:cNvPr>
          <p:cNvSpPr>
            <a:spLocks noChangeArrowheads="1"/>
          </p:cNvSpPr>
          <p:nvPr/>
        </p:nvSpPr>
        <p:spPr bwMode="auto">
          <a:xfrm rot="21099424">
            <a:off x="2894013" y="1898650"/>
            <a:ext cx="1603375" cy="623888"/>
          </a:xfrm>
          <a:custGeom>
            <a:avLst/>
            <a:gdLst>
              <a:gd name="T0" fmla="*/ 0 w 1603169"/>
              <a:gd name="T1" fmla="*/ 349741 h 676894"/>
              <a:gd name="T2" fmla="*/ 950636 w 1603169"/>
              <a:gd name="T3" fmla="*/ 357028 h 676894"/>
              <a:gd name="T4" fmla="*/ 1604199 w 1603169"/>
              <a:gd name="T5" fmla="*/ 0 h 676894"/>
              <a:gd name="T6" fmla="*/ 1604199 w 1603169"/>
              <a:gd name="T7" fmla="*/ 0 h 676894"/>
              <a:gd name="T8" fmla="*/ 0 60000 65536"/>
              <a:gd name="T9" fmla="*/ 0 60000 65536"/>
              <a:gd name="T10" fmla="*/ 0 60000 65536"/>
              <a:gd name="T11" fmla="*/ 0 60000 65536"/>
              <a:gd name="T12" fmla="*/ 0 w 1603169"/>
              <a:gd name="T13" fmla="*/ 0 h 676894"/>
              <a:gd name="T14" fmla="*/ 1603169 w 1603169"/>
              <a:gd name="T15" fmla="*/ 676894 h 676894"/>
            </a:gdLst>
            <a:ahLst/>
            <a:cxnLst>
              <a:cxn ang="T8">
                <a:pos x="T0" y="T1"/>
              </a:cxn>
              <a:cxn ang="T9">
                <a:pos x="T2" y="T3"/>
              </a:cxn>
              <a:cxn ang="T10">
                <a:pos x="T4" y="T5"/>
              </a:cxn>
              <a:cxn ang="T11">
                <a:pos x="T6" y="T7"/>
              </a:cxn>
            </a:cxnLst>
            <a:rect l="T12" t="T13" r="T14" b="T15"/>
            <a:pathLst>
              <a:path w="1603169" h="676894">
                <a:moveTo>
                  <a:pt x="0" y="570016"/>
                </a:moveTo>
                <a:cubicBezTo>
                  <a:pt x="341415" y="623455"/>
                  <a:pt x="682831" y="676894"/>
                  <a:pt x="950026" y="581891"/>
                </a:cubicBezTo>
                <a:cubicBezTo>
                  <a:pt x="1217221" y="486888"/>
                  <a:pt x="1603169" y="0"/>
                  <a:pt x="1603169" y="0"/>
                </a:cubicBezTo>
              </a:path>
            </a:pathLst>
          </a:custGeom>
          <a:noFill/>
          <a:ln w="12700"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 name="任意多边形 57">
            <a:extLst>
              <a:ext uri="{FF2B5EF4-FFF2-40B4-BE49-F238E27FC236}">
                <a16:creationId xmlns:a16="http://schemas.microsoft.com/office/drawing/2014/main" id="{5E9D364B-8182-4E2B-BB1F-59690940E2C2}"/>
              </a:ext>
            </a:extLst>
          </p:cNvPr>
          <p:cNvSpPr>
            <a:spLocks noChangeArrowheads="1"/>
          </p:cNvSpPr>
          <p:nvPr/>
        </p:nvSpPr>
        <p:spPr bwMode="auto">
          <a:xfrm>
            <a:off x="4691063" y="1389063"/>
            <a:ext cx="2955925" cy="1033462"/>
          </a:xfrm>
          <a:custGeom>
            <a:avLst/>
            <a:gdLst>
              <a:gd name="T0" fmla="*/ 0 w 2956956"/>
              <a:gd name="T1" fmla="*/ 392471 h 1033153"/>
              <a:gd name="T2" fmla="*/ 1055064 w 2956956"/>
              <a:gd name="T3" fmla="*/ 107038 h 1033153"/>
              <a:gd name="T4" fmla="*/ 2951802 w 2956956"/>
              <a:gd name="T5" fmla="*/ 1034698 h 1033153"/>
              <a:gd name="T6" fmla="*/ 0 60000 65536"/>
              <a:gd name="T7" fmla="*/ 0 60000 65536"/>
              <a:gd name="T8" fmla="*/ 0 60000 65536"/>
              <a:gd name="T9" fmla="*/ 0 w 2956956"/>
              <a:gd name="T10" fmla="*/ 0 h 1033153"/>
              <a:gd name="T11" fmla="*/ 2956956 w 2956956"/>
              <a:gd name="T12" fmla="*/ 1033153 h 1033153"/>
            </a:gdLst>
            <a:ahLst/>
            <a:cxnLst>
              <a:cxn ang="T6">
                <a:pos x="T0" y="T1"/>
              </a:cxn>
              <a:cxn ang="T7">
                <a:pos x="T2" y="T3"/>
              </a:cxn>
              <a:cxn ang="T8">
                <a:pos x="T4" y="T5"/>
              </a:cxn>
            </a:cxnLst>
            <a:rect l="T9" t="T10" r="T11" b="T12"/>
            <a:pathLst>
              <a:path w="2956956" h="1033153">
                <a:moveTo>
                  <a:pt x="0" y="391886"/>
                </a:moveTo>
                <a:cubicBezTo>
                  <a:pt x="282039" y="195943"/>
                  <a:pt x="564078" y="0"/>
                  <a:pt x="1056904" y="106878"/>
                </a:cubicBezTo>
                <a:cubicBezTo>
                  <a:pt x="1549730" y="213756"/>
                  <a:pt x="2253343" y="623454"/>
                  <a:pt x="2956956" y="1033153"/>
                </a:cubicBezTo>
              </a:path>
            </a:pathLst>
          </a:custGeom>
          <a:noFill/>
          <a:ln w="12700"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 name="任意多边形 59">
            <a:extLst>
              <a:ext uri="{FF2B5EF4-FFF2-40B4-BE49-F238E27FC236}">
                <a16:creationId xmlns:a16="http://schemas.microsoft.com/office/drawing/2014/main" id="{EFEC4695-BF1C-42C4-86B9-C029286D4E11}"/>
              </a:ext>
            </a:extLst>
          </p:cNvPr>
          <p:cNvSpPr>
            <a:spLocks noChangeArrowheads="1"/>
          </p:cNvSpPr>
          <p:nvPr/>
        </p:nvSpPr>
        <p:spPr bwMode="auto">
          <a:xfrm>
            <a:off x="4595813" y="2327275"/>
            <a:ext cx="1674812" cy="641350"/>
          </a:xfrm>
          <a:custGeom>
            <a:avLst/>
            <a:gdLst>
              <a:gd name="T0" fmla="*/ 0 w 1674420"/>
              <a:gd name="T1" fmla="*/ 0 h 641267"/>
              <a:gd name="T2" fmla="*/ 986807 w 1674420"/>
              <a:gd name="T3" fmla="*/ 118828 h 641267"/>
              <a:gd name="T4" fmla="*/ 1676380 w 1674420"/>
              <a:gd name="T5" fmla="*/ 641682 h 641267"/>
              <a:gd name="T6" fmla="*/ 1676380 w 1674420"/>
              <a:gd name="T7" fmla="*/ 641682 h 641267"/>
              <a:gd name="T8" fmla="*/ 0 60000 65536"/>
              <a:gd name="T9" fmla="*/ 0 60000 65536"/>
              <a:gd name="T10" fmla="*/ 0 60000 65536"/>
              <a:gd name="T11" fmla="*/ 0 60000 65536"/>
              <a:gd name="T12" fmla="*/ 0 w 1674420"/>
              <a:gd name="T13" fmla="*/ 0 h 641267"/>
              <a:gd name="T14" fmla="*/ 1674420 w 1674420"/>
              <a:gd name="T15" fmla="*/ 641267 h 641267"/>
            </a:gdLst>
            <a:ahLst/>
            <a:cxnLst>
              <a:cxn ang="T8">
                <a:pos x="T0" y="T1"/>
              </a:cxn>
              <a:cxn ang="T9">
                <a:pos x="T2" y="T3"/>
              </a:cxn>
              <a:cxn ang="T10">
                <a:pos x="T4" y="T5"/>
              </a:cxn>
              <a:cxn ang="T11">
                <a:pos x="T6" y="T7"/>
              </a:cxn>
            </a:cxnLst>
            <a:rect l="T12" t="T13" r="T14" b="T15"/>
            <a:pathLst>
              <a:path w="1674420" h="641267">
                <a:moveTo>
                  <a:pt x="0" y="0"/>
                </a:moveTo>
                <a:cubicBezTo>
                  <a:pt x="353291" y="5937"/>
                  <a:pt x="706582" y="11875"/>
                  <a:pt x="985652" y="118753"/>
                </a:cubicBezTo>
                <a:cubicBezTo>
                  <a:pt x="1264722" y="225631"/>
                  <a:pt x="1674420" y="641267"/>
                  <a:pt x="1674420" y="641267"/>
                </a:cubicBezTo>
              </a:path>
            </a:pathLst>
          </a:custGeom>
          <a:noFill/>
          <a:ln w="12700"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2" name="任意多边形 61">
            <a:extLst>
              <a:ext uri="{FF2B5EF4-FFF2-40B4-BE49-F238E27FC236}">
                <a16:creationId xmlns:a16="http://schemas.microsoft.com/office/drawing/2014/main" id="{F23559C9-EE9F-4D66-86A6-19466250FA78}"/>
              </a:ext>
            </a:extLst>
          </p:cNvPr>
          <p:cNvSpPr>
            <a:spLocks noChangeArrowheads="1"/>
          </p:cNvSpPr>
          <p:nvPr/>
        </p:nvSpPr>
        <p:spPr bwMode="auto">
          <a:xfrm>
            <a:off x="6519863" y="2613025"/>
            <a:ext cx="1103312" cy="525463"/>
          </a:xfrm>
          <a:custGeom>
            <a:avLst/>
            <a:gdLst>
              <a:gd name="T0" fmla="*/ 0 w 1104405"/>
              <a:gd name="T1" fmla="*/ 517520 h 526473"/>
              <a:gd name="T2" fmla="*/ 838983 w 1104405"/>
              <a:gd name="T3" fmla="*/ 435189 h 526473"/>
              <a:gd name="T4" fmla="*/ 1098950 w 1104405"/>
              <a:gd name="T5" fmla="*/ 0 h 526473"/>
              <a:gd name="T6" fmla="*/ 1098950 w 1104405"/>
              <a:gd name="T7" fmla="*/ 0 h 526473"/>
              <a:gd name="T8" fmla="*/ 0 60000 65536"/>
              <a:gd name="T9" fmla="*/ 0 60000 65536"/>
              <a:gd name="T10" fmla="*/ 0 60000 65536"/>
              <a:gd name="T11" fmla="*/ 0 60000 65536"/>
              <a:gd name="T12" fmla="*/ 0 w 1104405"/>
              <a:gd name="T13" fmla="*/ 0 h 526473"/>
              <a:gd name="T14" fmla="*/ 1104405 w 1104405"/>
              <a:gd name="T15" fmla="*/ 526473 h 526473"/>
            </a:gdLst>
            <a:ahLst/>
            <a:cxnLst>
              <a:cxn ang="T8">
                <a:pos x="T0" y="T1"/>
              </a:cxn>
              <a:cxn ang="T9">
                <a:pos x="T2" y="T3"/>
              </a:cxn>
              <a:cxn ang="T10">
                <a:pos x="T4" y="T5"/>
              </a:cxn>
              <a:cxn ang="T11">
                <a:pos x="T6" y="T7"/>
              </a:cxn>
            </a:cxnLst>
            <a:rect l="T12" t="T13" r="T14" b="T15"/>
            <a:pathLst>
              <a:path w="1104405" h="526473">
                <a:moveTo>
                  <a:pt x="0" y="522515"/>
                </a:moveTo>
                <a:cubicBezTo>
                  <a:pt x="329540" y="524494"/>
                  <a:pt x="659081" y="526473"/>
                  <a:pt x="843148" y="439387"/>
                </a:cubicBezTo>
                <a:cubicBezTo>
                  <a:pt x="1027215" y="352301"/>
                  <a:pt x="1104405" y="0"/>
                  <a:pt x="1104405" y="0"/>
                </a:cubicBezTo>
              </a:path>
            </a:pathLst>
          </a:custGeom>
          <a:noFill/>
          <a:ln w="12700"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4" name="任意多边形 63">
            <a:extLst>
              <a:ext uri="{FF2B5EF4-FFF2-40B4-BE49-F238E27FC236}">
                <a16:creationId xmlns:a16="http://schemas.microsoft.com/office/drawing/2014/main" id="{E434B5C3-AE06-438E-B40C-B06DE8B4B332}"/>
              </a:ext>
            </a:extLst>
          </p:cNvPr>
          <p:cNvSpPr>
            <a:spLocks noChangeArrowheads="1"/>
          </p:cNvSpPr>
          <p:nvPr/>
        </p:nvSpPr>
        <p:spPr bwMode="auto">
          <a:xfrm>
            <a:off x="3146425" y="3143250"/>
            <a:ext cx="3171825" cy="665163"/>
          </a:xfrm>
          <a:custGeom>
            <a:avLst/>
            <a:gdLst>
              <a:gd name="T0" fmla="*/ 3176279 w 3170712"/>
              <a:gd name="T1" fmla="*/ 0 h 554182"/>
              <a:gd name="T2" fmla="*/ 2379237 w 3170712"/>
              <a:gd name="T3" fmla="*/ 1383902 h 554182"/>
              <a:gd name="T4" fmla="*/ 0 w 3170712"/>
              <a:gd name="T5" fmla="*/ 1632295 h 554182"/>
              <a:gd name="T6" fmla="*/ 0 w 3170712"/>
              <a:gd name="T7" fmla="*/ 1632295 h 554182"/>
              <a:gd name="T8" fmla="*/ 0 60000 65536"/>
              <a:gd name="T9" fmla="*/ 0 60000 65536"/>
              <a:gd name="T10" fmla="*/ 0 60000 65536"/>
              <a:gd name="T11" fmla="*/ 0 60000 65536"/>
              <a:gd name="T12" fmla="*/ 0 w 3170712"/>
              <a:gd name="T13" fmla="*/ 0 h 554182"/>
              <a:gd name="T14" fmla="*/ 3170712 w 3170712"/>
              <a:gd name="T15" fmla="*/ 554182 h 554182"/>
            </a:gdLst>
            <a:ahLst/>
            <a:cxnLst>
              <a:cxn ang="T8">
                <a:pos x="T0" y="T1"/>
              </a:cxn>
              <a:cxn ang="T9">
                <a:pos x="T2" y="T3"/>
              </a:cxn>
              <a:cxn ang="T10">
                <a:pos x="T4" y="T5"/>
              </a:cxn>
              <a:cxn ang="T11">
                <a:pos x="T6" y="T7"/>
              </a:cxn>
            </a:cxnLst>
            <a:rect l="T12" t="T13" r="T14" b="T15"/>
            <a:pathLst>
              <a:path w="3170712" h="554182">
                <a:moveTo>
                  <a:pt x="3170712" y="0"/>
                </a:moveTo>
                <a:cubicBezTo>
                  <a:pt x="3037114" y="186047"/>
                  <a:pt x="2903517" y="372094"/>
                  <a:pt x="2375065" y="463138"/>
                </a:cubicBezTo>
                <a:cubicBezTo>
                  <a:pt x="1846613" y="554182"/>
                  <a:pt x="0" y="546265"/>
                  <a:pt x="0" y="546265"/>
                </a:cubicBezTo>
              </a:path>
            </a:pathLst>
          </a:custGeom>
          <a:noFill/>
          <a:ln w="12700"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 name="TextBox 64">
            <a:extLst>
              <a:ext uri="{FF2B5EF4-FFF2-40B4-BE49-F238E27FC236}">
                <a16:creationId xmlns:a16="http://schemas.microsoft.com/office/drawing/2014/main" id="{973C8FC9-DFD9-4405-A51D-25112E256B24}"/>
              </a:ext>
            </a:extLst>
          </p:cNvPr>
          <p:cNvSpPr txBox="1"/>
          <p:nvPr/>
        </p:nvSpPr>
        <p:spPr>
          <a:xfrm>
            <a:off x="785813" y="1571625"/>
            <a:ext cx="642937" cy="584200"/>
          </a:xfrm>
          <a:prstGeom prst="rect">
            <a:avLst/>
          </a:prstGeom>
          <a:noFill/>
        </p:spPr>
        <p:txBody>
          <a:bodyPr>
            <a:spAutoFit/>
          </a:bodyPr>
          <a:lstStyle/>
          <a:p>
            <a:pPr eaLnBrk="1" hangingPunct="1">
              <a:defRPr/>
            </a:pPr>
            <a:r>
              <a:rPr lang="zh-CN" altLang="en-US" sz="1600" dirty="0">
                <a:latin typeface="+mj-ea"/>
                <a:ea typeface="+mj-ea"/>
              </a:rPr>
              <a:t>保护</a:t>
            </a:r>
            <a:endParaRPr lang="en-US" altLang="zh-CN" sz="1600" dirty="0">
              <a:latin typeface="+mj-ea"/>
              <a:ea typeface="+mj-ea"/>
            </a:endParaRPr>
          </a:p>
          <a:p>
            <a:pPr eaLnBrk="1" hangingPunct="1">
              <a:defRPr/>
            </a:pPr>
            <a:r>
              <a:rPr lang="zh-CN" altLang="en-US" sz="1600" dirty="0">
                <a:latin typeface="+mj-ea"/>
                <a:ea typeface="+mj-ea"/>
              </a:rPr>
              <a:t>成功</a:t>
            </a:r>
          </a:p>
        </p:txBody>
      </p:sp>
      <p:sp>
        <p:nvSpPr>
          <p:cNvPr id="66" name="TextBox 65">
            <a:extLst>
              <a:ext uri="{FF2B5EF4-FFF2-40B4-BE49-F238E27FC236}">
                <a16:creationId xmlns:a16="http://schemas.microsoft.com/office/drawing/2014/main" id="{34249BE2-0196-4FAB-AB66-889C0E9F377C}"/>
              </a:ext>
            </a:extLst>
          </p:cNvPr>
          <p:cNvSpPr txBox="1"/>
          <p:nvPr/>
        </p:nvSpPr>
        <p:spPr>
          <a:xfrm>
            <a:off x="1714500" y="2428875"/>
            <a:ext cx="642938" cy="338138"/>
          </a:xfrm>
          <a:prstGeom prst="rect">
            <a:avLst/>
          </a:prstGeom>
          <a:noFill/>
        </p:spPr>
        <p:txBody>
          <a:bodyPr>
            <a:spAutoFit/>
          </a:bodyPr>
          <a:lstStyle/>
          <a:p>
            <a:pPr eaLnBrk="1" hangingPunct="1">
              <a:defRPr/>
            </a:pPr>
            <a:r>
              <a:rPr lang="zh-CN" altLang="en-US" sz="1600" dirty="0">
                <a:latin typeface="+mj-ea"/>
                <a:ea typeface="+mj-ea"/>
              </a:rPr>
              <a:t>攻击</a:t>
            </a:r>
          </a:p>
        </p:txBody>
      </p:sp>
      <p:sp>
        <p:nvSpPr>
          <p:cNvPr id="67" name="TextBox 66">
            <a:extLst>
              <a:ext uri="{FF2B5EF4-FFF2-40B4-BE49-F238E27FC236}">
                <a16:creationId xmlns:a16="http://schemas.microsoft.com/office/drawing/2014/main" id="{5D7B1A8D-C1F6-4B93-9EE8-994BD5086520}"/>
              </a:ext>
            </a:extLst>
          </p:cNvPr>
          <p:cNvSpPr txBox="1"/>
          <p:nvPr/>
        </p:nvSpPr>
        <p:spPr>
          <a:xfrm>
            <a:off x="3071813" y="2571750"/>
            <a:ext cx="1000125" cy="338138"/>
          </a:xfrm>
          <a:prstGeom prst="rect">
            <a:avLst/>
          </a:prstGeom>
          <a:noFill/>
        </p:spPr>
        <p:txBody>
          <a:bodyPr>
            <a:spAutoFit/>
          </a:bodyPr>
          <a:lstStyle/>
          <a:p>
            <a:pPr eaLnBrk="1" hangingPunct="1">
              <a:defRPr/>
            </a:pPr>
            <a:r>
              <a:rPr lang="zh-CN" altLang="en-US" sz="1600" dirty="0">
                <a:latin typeface="+mj-ea"/>
                <a:ea typeface="+mj-ea"/>
              </a:rPr>
              <a:t>保护失败</a:t>
            </a:r>
          </a:p>
        </p:txBody>
      </p:sp>
      <p:sp>
        <p:nvSpPr>
          <p:cNvPr id="68" name="TextBox 67">
            <a:extLst>
              <a:ext uri="{FF2B5EF4-FFF2-40B4-BE49-F238E27FC236}">
                <a16:creationId xmlns:a16="http://schemas.microsoft.com/office/drawing/2014/main" id="{B2739D69-061E-402D-8177-DDE469CB43B4}"/>
              </a:ext>
            </a:extLst>
          </p:cNvPr>
          <p:cNvSpPr txBox="1"/>
          <p:nvPr/>
        </p:nvSpPr>
        <p:spPr>
          <a:xfrm>
            <a:off x="5286375" y="1143000"/>
            <a:ext cx="1000125" cy="338138"/>
          </a:xfrm>
          <a:prstGeom prst="rect">
            <a:avLst/>
          </a:prstGeom>
          <a:noFill/>
        </p:spPr>
        <p:txBody>
          <a:bodyPr>
            <a:spAutoFit/>
          </a:bodyPr>
          <a:lstStyle/>
          <a:p>
            <a:pPr eaLnBrk="1" hangingPunct="1">
              <a:defRPr/>
            </a:pPr>
            <a:r>
              <a:rPr lang="zh-CN" altLang="en-US" sz="1600" dirty="0">
                <a:latin typeface="+mj-ea"/>
                <a:ea typeface="+mj-ea"/>
              </a:rPr>
              <a:t>检测失败</a:t>
            </a:r>
          </a:p>
        </p:txBody>
      </p:sp>
      <p:sp>
        <p:nvSpPr>
          <p:cNvPr id="69" name="TextBox 68">
            <a:extLst>
              <a:ext uri="{FF2B5EF4-FFF2-40B4-BE49-F238E27FC236}">
                <a16:creationId xmlns:a16="http://schemas.microsoft.com/office/drawing/2014/main" id="{C1ADC133-6A6A-442B-A27D-FCE6B41148BB}"/>
              </a:ext>
            </a:extLst>
          </p:cNvPr>
          <p:cNvSpPr txBox="1"/>
          <p:nvPr/>
        </p:nvSpPr>
        <p:spPr>
          <a:xfrm>
            <a:off x="5143500" y="2500313"/>
            <a:ext cx="642938" cy="584200"/>
          </a:xfrm>
          <a:prstGeom prst="rect">
            <a:avLst/>
          </a:prstGeom>
          <a:noFill/>
        </p:spPr>
        <p:txBody>
          <a:bodyPr>
            <a:spAutoFit/>
          </a:bodyPr>
          <a:lstStyle/>
          <a:p>
            <a:pPr eaLnBrk="1" hangingPunct="1">
              <a:defRPr/>
            </a:pPr>
            <a:r>
              <a:rPr lang="zh-CN" altLang="en-US" sz="1600" dirty="0">
                <a:latin typeface="+mj-ea"/>
                <a:ea typeface="+mj-ea"/>
              </a:rPr>
              <a:t>检测成功</a:t>
            </a:r>
          </a:p>
        </p:txBody>
      </p:sp>
      <p:sp>
        <p:nvSpPr>
          <p:cNvPr id="70" name="TextBox 69">
            <a:extLst>
              <a:ext uri="{FF2B5EF4-FFF2-40B4-BE49-F238E27FC236}">
                <a16:creationId xmlns:a16="http://schemas.microsoft.com/office/drawing/2014/main" id="{55F9C506-6642-494F-8972-1A4F333AC4DC}"/>
              </a:ext>
            </a:extLst>
          </p:cNvPr>
          <p:cNvSpPr txBox="1"/>
          <p:nvPr/>
        </p:nvSpPr>
        <p:spPr>
          <a:xfrm>
            <a:off x="3786188" y="3429000"/>
            <a:ext cx="1000125" cy="338138"/>
          </a:xfrm>
          <a:prstGeom prst="rect">
            <a:avLst/>
          </a:prstGeom>
          <a:noFill/>
        </p:spPr>
        <p:txBody>
          <a:bodyPr>
            <a:spAutoFit/>
          </a:bodyPr>
          <a:lstStyle/>
          <a:p>
            <a:pPr eaLnBrk="1" hangingPunct="1">
              <a:defRPr/>
            </a:pPr>
            <a:r>
              <a:rPr lang="zh-CN" altLang="en-US" sz="1600" dirty="0">
                <a:latin typeface="+mj-ea"/>
                <a:ea typeface="+mj-ea"/>
              </a:rPr>
              <a:t>反应成功</a:t>
            </a:r>
          </a:p>
        </p:txBody>
      </p:sp>
      <p:sp>
        <p:nvSpPr>
          <p:cNvPr id="71" name="TextBox 70">
            <a:extLst>
              <a:ext uri="{FF2B5EF4-FFF2-40B4-BE49-F238E27FC236}">
                <a16:creationId xmlns:a16="http://schemas.microsoft.com/office/drawing/2014/main" id="{51B3EE92-4947-4EAF-85B8-1DEADC5BCB71}"/>
              </a:ext>
            </a:extLst>
          </p:cNvPr>
          <p:cNvSpPr txBox="1"/>
          <p:nvPr/>
        </p:nvSpPr>
        <p:spPr>
          <a:xfrm>
            <a:off x="6858000" y="3143250"/>
            <a:ext cx="642938" cy="584200"/>
          </a:xfrm>
          <a:prstGeom prst="rect">
            <a:avLst/>
          </a:prstGeom>
          <a:noFill/>
        </p:spPr>
        <p:txBody>
          <a:bodyPr>
            <a:spAutoFit/>
          </a:bodyPr>
          <a:lstStyle/>
          <a:p>
            <a:pPr eaLnBrk="1" hangingPunct="1">
              <a:defRPr/>
            </a:pPr>
            <a:r>
              <a:rPr lang="zh-CN" altLang="en-US" sz="1600" dirty="0">
                <a:latin typeface="+mj-ea"/>
                <a:ea typeface="+mj-ea"/>
              </a:rPr>
              <a:t>反应失败</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strips(downRight)">
                                      <p:cBhvr>
                                        <p:cTn id="7" dur="500"/>
                                        <p:tgtEl>
                                          <p:spTgt spid="48"/>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66"/>
                                        </p:tgtEl>
                                        <p:attrNameLst>
                                          <p:attrName>style.visibility</p:attrName>
                                        </p:attrNameLst>
                                      </p:cBhvr>
                                      <p:to>
                                        <p:strVal val="visible"/>
                                      </p:to>
                                    </p:set>
                                    <p:animEffect transition="in" filter="strips(downRight)">
                                      <p:cBhvr>
                                        <p:cTn id="10" dur="500"/>
                                        <p:tgtEl>
                                          <p:spTgt spid="6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8" presetClass="entr" presetSubtype="6"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strips(downRight)">
                                      <p:cBhvr>
                                        <p:cTn id="15" dur="500"/>
                                        <p:tgtEl>
                                          <p:spTgt spid="1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ntr" presetSubtype="12" fill="hold" nodeType="click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strips(downLeft)">
                                      <p:cBhvr>
                                        <p:cTn id="20" dur="500"/>
                                        <p:tgtEl>
                                          <p:spTgt spid="52"/>
                                        </p:tgtEl>
                                      </p:cBhvr>
                                    </p:animEffect>
                                  </p:childTnLst>
                                </p:cTn>
                              </p:par>
                            </p:childTnLst>
                          </p:cTn>
                        </p:par>
                        <p:par>
                          <p:cTn id="21" fill="hold" nodeType="afterGroup">
                            <p:stCondLst>
                              <p:cond delay="500"/>
                            </p:stCondLst>
                            <p:childTnLst>
                              <p:par>
                                <p:cTn id="22" presetID="18" presetClass="entr" presetSubtype="12" fill="hold" grpId="0" nodeType="afterEffect">
                                  <p:stCondLst>
                                    <p:cond delay="0"/>
                                  </p:stCondLst>
                                  <p:childTnLst>
                                    <p:set>
                                      <p:cBhvr>
                                        <p:cTn id="23" dur="1" fill="hold">
                                          <p:stCondLst>
                                            <p:cond delay="0"/>
                                          </p:stCondLst>
                                        </p:cTn>
                                        <p:tgtEl>
                                          <p:spTgt spid="65"/>
                                        </p:tgtEl>
                                        <p:attrNameLst>
                                          <p:attrName>style.visibility</p:attrName>
                                        </p:attrNameLst>
                                      </p:cBhvr>
                                      <p:to>
                                        <p:strVal val="visible"/>
                                      </p:to>
                                    </p:set>
                                    <p:animEffect transition="in" filter="strips(downLeft)">
                                      <p:cBhvr>
                                        <p:cTn id="24" dur="500"/>
                                        <p:tgtEl>
                                          <p:spTgt spid="6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8" presetClass="entr" presetSubtype="3" fill="hold" nodeType="click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strips(upRight)">
                                      <p:cBhvr>
                                        <p:cTn id="29" dur="500"/>
                                        <p:tgtEl>
                                          <p:spTgt spid="56"/>
                                        </p:tgtEl>
                                      </p:cBhvr>
                                    </p:animEffect>
                                  </p:childTnLst>
                                </p:cTn>
                              </p:par>
                              <p:par>
                                <p:cTn id="30" presetID="18" presetClass="entr" presetSubtype="3" fill="hold" grpId="0" nodeType="withEffect">
                                  <p:stCondLst>
                                    <p:cond delay="0"/>
                                  </p:stCondLst>
                                  <p:childTnLst>
                                    <p:set>
                                      <p:cBhvr>
                                        <p:cTn id="31" dur="1" fill="hold">
                                          <p:stCondLst>
                                            <p:cond delay="0"/>
                                          </p:stCondLst>
                                        </p:cTn>
                                        <p:tgtEl>
                                          <p:spTgt spid="67"/>
                                        </p:tgtEl>
                                        <p:attrNameLst>
                                          <p:attrName>style.visibility</p:attrName>
                                        </p:attrNameLst>
                                      </p:cBhvr>
                                      <p:to>
                                        <p:strVal val="visible"/>
                                      </p:to>
                                    </p:set>
                                    <p:animEffect transition="in" filter="strips(upRight)">
                                      <p:cBhvr>
                                        <p:cTn id="32" dur="500"/>
                                        <p:tgtEl>
                                          <p:spTgt spid="6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3" fill="hold" grpId="0" nodeType="click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strips(upRight)">
                                      <p:cBhvr>
                                        <p:cTn id="37" dur="500"/>
                                        <p:tgtEl>
                                          <p:spTgt spid="4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nodeType="clickEffect">
                                  <p:stCondLst>
                                    <p:cond delay="0"/>
                                  </p:stCondLst>
                                  <p:childTnLst>
                                    <p:set>
                                      <p:cBhvr>
                                        <p:cTn id="41" dur="1" fill="hold">
                                          <p:stCondLst>
                                            <p:cond delay="0"/>
                                          </p:stCondLst>
                                        </p:cTn>
                                        <p:tgtEl>
                                          <p:spTgt spid="58"/>
                                        </p:tgtEl>
                                        <p:attrNameLst>
                                          <p:attrName>style.visibility</p:attrName>
                                        </p:attrNameLst>
                                      </p:cBhvr>
                                      <p:to>
                                        <p:strVal val="visible"/>
                                      </p:to>
                                    </p:set>
                                    <p:animEffect transition="in" filter="strips(downRight)">
                                      <p:cBhvr>
                                        <p:cTn id="42" dur="500"/>
                                        <p:tgtEl>
                                          <p:spTgt spid="58"/>
                                        </p:tgtEl>
                                      </p:cBhvr>
                                    </p:animEffect>
                                  </p:childTnLst>
                                </p:cTn>
                              </p:par>
                              <p:par>
                                <p:cTn id="43" presetID="18" presetClass="entr" presetSubtype="6" fill="hold" grpId="0" nodeType="withEffect">
                                  <p:stCondLst>
                                    <p:cond delay="0"/>
                                  </p:stCondLst>
                                  <p:childTnLst>
                                    <p:set>
                                      <p:cBhvr>
                                        <p:cTn id="44" dur="1" fill="hold">
                                          <p:stCondLst>
                                            <p:cond delay="0"/>
                                          </p:stCondLst>
                                        </p:cTn>
                                        <p:tgtEl>
                                          <p:spTgt spid="68"/>
                                        </p:tgtEl>
                                        <p:attrNameLst>
                                          <p:attrName>style.visibility</p:attrName>
                                        </p:attrNameLst>
                                      </p:cBhvr>
                                      <p:to>
                                        <p:strVal val="visible"/>
                                      </p:to>
                                    </p:set>
                                    <p:animEffect transition="in" filter="strips(downRight)">
                                      <p:cBhvr>
                                        <p:cTn id="45" dur="500"/>
                                        <p:tgtEl>
                                          <p:spTgt spid="6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8" presetClass="entr" presetSubtype="6"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strips(downRight)">
                                      <p:cBhvr>
                                        <p:cTn id="50" dur="500"/>
                                        <p:tgtEl>
                                          <p:spTgt spid="1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8" presetClass="entr" presetSubtype="6" fill="hold" nodeType="clickEffect">
                                  <p:stCondLst>
                                    <p:cond delay="0"/>
                                  </p:stCondLst>
                                  <p:childTnLst>
                                    <p:set>
                                      <p:cBhvr>
                                        <p:cTn id="54" dur="1" fill="hold">
                                          <p:stCondLst>
                                            <p:cond delay="0"/>
                                          </p:stCondLst>
                                        </p:cTn>
                                        <p:tgtEl>
                                          <p:spTgt spid="60"/>
                                        </p:tgtEl>
                                        <p:attrNameLst>
                                          <p:attrName>style.visibility</p:attrName>
                                        </p:attrNameLst>
                                      </p:cBhvr>
                                      <p:to>
                                        <p:strVal val="visible"/>
                                      </p:to>
                                    </p:set>
                                    <p:animEffect transition="in" filter="strips(downRight)">
                                      <p:cBhvr>
                                        <p:cTn id="55" dur="500"/>
                                        <p:tgtEl>
                                          <p:spTgt spid="60"/>
                                        </p:tgtEl>
                                      </p:cBhvr>
                                    </p:animEffect>
                                  </p:childTnLst>
                                </p:cTn>
                              </p:par>
                              <p:par>
                                <p:cTn id="56" presetID="18" presetClass="entr" presetSubtype="6" fill="hold" grpId="0" nodeType="withEffect">
                                  <p:stCondLst>
                                    <p:cond delay="0"/>
                                  </p:stCondLst>
                                  <p:childTnLst>
                                    <p:set>
                                      <p:cBhvr>
                                        <p:cTn id="57" dur="1" fill="hold">
                                          <p:stCondLst>
                                            <p:cond delay="0"/>
                                          </p:stCondLst>
                                        </p:cTn>
                                        <p:tgtEl>
                                          <p:spTgt spid="69"/>
                                        </p:tgtEl>
                                        <p:attrNameLst>
                                          <p:attrName>style.visibility</p:attrName>
                                        </p:attrNameLst>
                                      </p:cBhvr>
                                      <p:to>
                                        <p:strVal val="visible"/>
                                      </p:to>
                                    </p:set>
                                    <p:animEffect transition="in" filter="strips(downRight)">
                                      <p:cBhvr>
                                        <p:cTn id="58" dur="500"/>
                                        <p:tgtEl>
                                          <p:spTgt spid="6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8" presetClass="entr" presetSubtype="6" fill="hold" grpId="0" nodeType="clickEffect">
                                  <p:stCondLst>
                                    <p:cond delay="0"/>
                                  </p:stCondLst>
                                  <p:childTnLst>
                                    <p:set>
                                      <p:cBhvr>
                                        <p:cTn id="62" dur="1" fill="hold">
                                          <p:stCondLst>
                                            <p:cond delay="0"/>
                                          </p:stCondLst>
                                        </p:cTn>
                                        <p:tgtEl>
                                          <p:spTgt spid="46"/>
                                        </p:tgtEl>
                                        <p:attrNameLst>
                                          <p:attrName>style.visibility</p:attrName>
                                        </p:attrNameLst>
                                      </p:cBhvr>
                                      <p:to>
                                        <p:strVal val="visible"/>
                                      </p:to>
                                    </p:set>
                                    <p:animEffect transition="in" filter="strips(downRight)">
                                      <p:cBhvr>
                                        <p:cTn id="63" dur="500"/>
                                        <p:tgtEl>
                                          <p:spTgt spid="4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8" presetClass="entr" presetSubtype="12" fill="hold" grpId="0" nodeType="clickEffect">
                                  <p:stCondLst>
                                    <p:cond delay="0"/>
                                  </p:stCondLst>
                                  <p:childTnLst>
                                    <p:set>
                                      <p:cBhvr>
                                        <p:cTn id="67" dur="1" fill="hold">
                                          <p:stCondLst>
                                            <p:cond delay="0"/>
                                          </p:stCondLst>
                                        </p:cTn>
                                        <p:tgtEl>
                                          <p:spTgt spid="70"/>
                                        </p:tgtEl>
                                        <p:attrNameLst>
                                          <p:attrName>style.visibility</p:attrName>
                                        </p:attrNameLst>
                                      </p:cBhvr>
                                      <p:to>
                                        <p:strVal val="visible"/>
                                      </p:to>
                                    </p:set>
                                    <p:animEffect transition="in" filter="strips(downLeft)">
                                      <p:cBhvr>
                                        <p:cTn id="68" dur="500"/>
                                        <p:tgtEl>
                                          <p:spTgt spid="70"/>
                                        </p:tgtEl>
                                      </p:cBhvr>
                                    </p:animEffect>
                                  </p:childTnLst>
                                </p:cTn>
                              </p:par>
                              <p:par>
                                <p:cTn id="69" presetID="18" presetClass="entr" presetSubtype="12" fill="hold" nodeType="withEffect">
                                  <p:stCondLst>
                                    <p:cond delay="0"/>
                                  </p:stCondLst>
                                  <p:childTnLst>
                                    <p:set>
                                      <p:cBhvr>
                                        <p:cTn id="70" dur="1" fill="hold">
                                          <p:stCondLst>
                                            <p:cond delay="0"/>
                                          </p:stCondLst>
                                        </p:cTn>
                                        <p:tgtEl>
                                          <p:spTgt spid="64"/>
                                        </p:tgtEl>
                                        <p:attrNameLst>
                                          <p:attrName>style.visibility</p:attrName>
                                        </p:attrNameLst>
                                      </p:cBhvr>
                                      <p:to>
                                        <p:strVal val="visible"/>
                                      </p:to>
                                    </p:set>
                                    <p:animEffect transition="in" filter="strips(downLeft)">
                                      <p:cBhvr>
                                        <p:cTn id="71" dur="500"/>
                                        <p:tgtEl>
                                          <p:spTgt spid="6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8" presetClass="entr" presetSubtype="3" fill="hold" grpId="0" nodeType="clickEffect">
                                  <p:stCondLst>
                                    <p:cond delay="0"/>
                                  </p:stCondLst>
                                  <p:childTnLst>
                                    <p:set>
                                      <p:cBhvr>
                                        <p:cTn id="75" dur="1" fill="hold">
                                          <p:stCondLst>
                                            <p:cond delay="0"/>
                                          </p:stCondLst>
                                        </p:cTn>
                                        <p:tgtEl>
                                          <p:spTgt spid="71"/>
                                        </p:tgtEl>
                                        <p:attrNameLst>
                                          <p:attrName>style.visibility</p:attrName>
                                        </p:attrNameLst>
                                      </p:cBhvr>
                                      <p:to>
                                        <p:strVal val="visible"/>
                                      </p:to>
                                    </p:set>
                                    <p:animEffect transition="in" filter="strips(upRight)">
                                      <p:cBhvr>
                                        <p:cTn id="76" dur="500"/>
                                        <p:tgtEl>
                                          <p:spTgt spid="71"/>
                                        </p:tgtEl>
                                      </p:cBhvr>
                                    </p:animEffect>
                                  </p:childTnLst>
                                </p:cTn>
                              </p:par>
                              <p:par>
                                <p:cTn id="77" presetID="18" presetClass="entr" presetSubtype="3" fill="hold" nodeType="withEffect">
                                  <p:stCondLst>
                                    <p:cond delay="0"/>
                                  </p:stCondLst>
                                  <p:childTnLst>
                                    <p:set>
                                      <p:cBhvr>
                                        <p:cTn id="78" dur="1" fill="hold">
                                          <p:stCondLst>
                                            <p:cond delay="0"/>
                                          </p:stCondLst>
                                        </p:cTn>
                                        <p:tgtEl>
                                          <p:spTgt spid="62"/>
                                        </p:tgtEl>
                                        <p:attrNameLst>
                                          <p:attrName>style.visibility</p:attrName>
                                        </p:attrNameLst>
                                      </p:cBhvr>
                                      <p:to>
                                        <p:strVal val="visible"/>
                                      </p:to>
                                    </p:set>
                                    <p:animEffect transition="in" filter="strips(upRight)">
                                      <p:cBhvr>
                                        <p:cTn id="79"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45" grpId="0" animBg="1"/>
      <p:bldP spid="46" grpId="0" animBg="1"/>
      <p:bldP spid="65" grpId="0"/>
      <p:bldP spid="66" grpId="0"/>
      <p:bldP spid="67" grpId="0"/>
      <p:bldP spid="68" grpId="0"/>
      <p:bldP spid="69" grpId="0"/>
      <p:bldP spid="70" grpId="0"/>
      <p:bldP spid="7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9D379F3E-EFC6-4077-AC6C-01CA69C8D4D8}"/>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B1211A73-BED1-482F-8234-807125F86A18}"/>
              </a:ext>
            </a:extLst>
          </p:cNvPr>
          <p:cNvSpPr>
            <a:spLocks noChangeArrowheads="1"/>
          </p:cNvSpPr>
          <p:nvPr/>
        </p:nvSpPr>
        <p:spPr bwMode="auto">
          <a:xfrm>
            <a:off x="214282" y="642924"/>
            <a:ext cx="473238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3.3.2 </a:t>
            </a:r>
            <a:r>
              <a:rPr lang="zh-CN" altLang="en-US" sz="2000" b="1" dirty="0">
                <a:solidFill>
                  <a:srgbClr val="C00000"/>
                </a:solidFill>
                <a:effectLst>
                  <a:reflection blurRad="6350" stA="50000" endA="300" endPos="50000" dist="60007" dir="5400000" sy="-100000" algn="bl" rotWithShape="0"/>
                </a:effectLst>
                <a:latin typeface="+mj-ea"/>
                <a:ea typeface="+mj-ea"/>
              </a:rPr>
              <a:t>面向过程的信息安全保障体系结构</a:t>
            </a:r>
          </a:p>
        </p:txBody>
      </p:sp>
      <p:sp>
        <p:nvSpPr>
          <p:cNvPr id="35844" name="内容占位符 2">
            <a:extLst>
              <a:ext uri="{FF2B5EF4-FFF2-40B4-BE49-F238E27FC236}">
                <a16:creationId xmlns:a16="http://schemas.microsoft.com/office/drawing/2014/main" id="{BBB23253-A004-4F18-A60D-726C02EF8AA0}"/>
              </a:ext>
            </a:extLst>
          </p:cNvPr>
          <p:cNvSpPr txBox="1">
            <a:spLocks/>
          </p:cNvSpPr>
          <p:nvPr/>
        </p:nvSpPr>
        <p:spPr bwMode="auto">
          <a:xfrm>
            <a:off x="285750" y="1071563"/>
            <a:ext cx="73580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zh-CN" altLang="en-US" b="1"/>
              <a:t>信息保障技术框架（</a:t>
            </a:r>
            <a:r>
              <a:rPr lang="en-US" altLang="zh-CN" b="1"/>
              <a:t>Information Assurance Technical Framework ,IATF</a:t>
            </a:r>
            <a:r>
              <a:rPr lang="zh-CN" altLang="en-US" b="1"/>
              <a:t>）</a:t>
            </a:r>
            <a:endParaRPr lang="en-US" altLang="zh-CN" b="1"/>
          </a:p>
        </p:txBody>
      </p:sp>
      <p:sp>
        <p:nvSpPr>
          <p:cNvPr id="17" name="内容占位符 2">
            <a:extLst>
              <a:ext uri="{FF2B5EF4-FFF2-40B4-BE49-F238E27FC236}">
                <a16:creationId xmlns:a16="http://schemas.microsoft.com/office/drawing/2014/main" id="{6094A8B4-027B-417E-8C24-9052A46DEFCC}"/>
              </a:ext>
            </a:extLst>
          </p:cNvPr>
          <p:cNvSpPr txBox="1">
            <a:spLocks/>
          </p:cNvSpPr>
          <p:nvPr/>
        </p:nvSpPr>
        <p:spPr bwMode="auto">
          <a:xfrm>
            <a:off x="357188" y="1571625"/>
            <a:ext cx="8358187" cy="3000375"/>
          </a:xfrm>
          <a:prstGeom prst="rect">
            <a:avLst/>
          </a:prstGeom>
          <a:noFill/>
          <a:ln w="9525">
            <a:noFill/>
            <a:miter lim="800000"/>
            <a:headEnd/>
            <a:tailEnd/>
          </a:ln>
        </p:spPr>
        <p:txBody>
          <a:bodyPr/>
          <a:lstStyle/>
          <a:p>
            <a:pPr marL="342900" indent="-342900">
              <a:lnSpc>
                <a:spcPct val="150000"/>
              </a:lnSpc>
              <a:spcBef>
                <a:spcPts val="600"/>
              </a:spcBef>
              <a:buClr>
                <a:srgbClr val="C00000"/>
              </a:buClr>
              <a:buFont typeface="Wingdings" pitchFamily="2" charset="2"/>
              <a:buChar char="n"/>
              <a:defRPr/>
            </a:pPr>
            <a:r>
              <a:rPr lang="en-US" altLang="zh-CN" sz="1500" kern="0" dirty="0">
                <a:latin typeface="+mj-ea"/>
                <a:ea typeface="+mj-ea"/>
              </a:rPr>
              <a:t>IATF</a:t>
            </a:r>
            <a:r>
              <a:rPr lang="zh-CN" altLang="en-US" sz="1500" kern="0" dirty="0">
                <a:latin typeface="+mj-ea"/>
                <a:ea typeface="+mj-ea"/>
              </a:rPr>
              <a:t>是由美国国家安全局组织专家编写的一个全面描述信息安全保障体系的框架，它提出了信息保障时代信息基础设施的全套安全需求</a:t>
            </a:r>
            <a:endParaRPr lang="en-US" altLang="zh-CN" sz="1500" kern="0" dirty="0">
              <a:latin typeface="+mj-ea"/>
              <a:ea typeface="+mj-ea"/>
            </a:endParaRPr>
          </a:p>
          <a:p>
            <a:pPr marL="342900" indent="-342900">
              <a:lnSpc>
                <a:spcPct val="150000"/>
              </a:lnSpc>
              <a:spcBef>
                <a:spcPts val="600"/>
              </a:spcBef>
              <a:buClr>
                <a:srgbClr val="C00000"/>
              </a:buClr>
              <a:buFont typeface="Wingdings" pitchFamily="2" charset="2"/>
              <a:buChar char="n"/>
              <a:defRPr/>
            </a:pPr>
            <a:r>
              <a:rPr lang="en-US" altLang="zh-CN" sz="1500" kern="0" dirty="0">
                <a:latin typeface="+mj-ea"/>
                <a:ea typeface="+mj-ea"/>
              </a:rPr>
              <a:t>IATF</a:t>
            </a:r>
            <a:r>
              <a:rPr lang="zh-CN" altLang="en-US" sz="1500" kern="0" dirty="0">
                <a:latin typeface="+mj-ea"/>
                <a:ea typeface="+mj-ea"/>
              </a:rPr>
              <a:t>提出了信息保障依赖于人、操作和技术来共同实现组织职能、业务运作的思想，对技术、信息基础设施的管理也离不开这三个要素。人，借助技术的支持，实施一系列的操作过程，最终实现信息保障目标，此乃</a:t>
            </a:r>
            <a:r>
              <a:rPr lang="en-US" altLang="zh-CN" sz="1500" kern="0" dirty="0">
                <a:latin typeface="+mj-ea"/>
                <a:ea typeface="+mj-ea"/>
              </a:rPr>
              <a:t>IATF</a:t>
            </a:r>
            <a:r>
              <a:rPr lang="zh-CN" altLang="en-US" sz="1500" kern="0" dirty="0">
                <a:latin typeface="+mj-ea"/>
                <a:ea typeface="+mj-ea"/>
              </a:rPr>
              <a:t>最核心的理念。</a:t>
            </a:r>
            <a:endParaRPr lang="en-US" altLang="zh-CN" sz="1500" kern="0" dirty="0">
              <a:latin typeface="+mj-ea"/>
              <a:ea typeface="+mj-ea"/>
            </a:endParaRPr>
          </a:p>
          <a:p>
            <a:pPr marL="342900" indent="-342900">
              <a:lnSpc>
                <a:spcPct val="150000"/>
              </a:lnSpc>
              <a:spcBef>
                <a:spcPts val="600"/>
              </a:spcBef>
              <a:buClr>
                <a:srgbClr val="C00000"/>
              </a:buClr>
              <a:buFont typeface="Wingdings" pitchFamily="2" charset="2"/>
              <a:buChar char="n"/>
              <a:defRPr/>
            </a:pPr>
            <a:r>
              <a:rPr lang="en-US" altLang="zh-CN" sz="1500" kern="0" dirty="0">
                <a:latin typeface="+mj-ea"/>
                <a:ea typeface="+mj-ea"/>
              </a:rPr>
              <a:t>IATF</a:t>
            </a:r>
            <a:r>
              <a:rPr lang="zh-CN" altLang="en-US" sz="1500" kern="0" dirty="0">
                <a:latin typeface="+mj-ea"/>
                <a:ea typeface="+mj-ea"/>
              </a:rPr>
              <a:t>定义了实现信息保障目标的工程过程和信息系统各个方面的安全需求。在此基础上，信息基础设施就可以做到多层防护，这样的防护被称为“纵深防御战略（</a:t>
            </a:r>
            <a:r>
              <a:rPr lang="en-US" altLang="zh-CN" sz="1500" kern="0" dirty="0">
                <a:latin typeface="+mj-ea"/>
                <a:ea typeface="+mj-ea"/>
              </a:rPr>
              <a:t>Defense-in-Depth Strategy</a:t>
            </a:r>
            <a:r>
              <a:rPr lang="zh-CN" altLang="en-US" sz="1500" kern="0" dirty="0">
                <a:latin typeface="+mj-ea"/>
                <a:ea typeface="+mj-ea"/>
              </a:rPr>
              <a:t>）”</a:t>
            </a:r>
            <a:endParaRPr lang="en-US" altLang="zh-CN" sz="1500" kern="0" dirty="0">
              <a:latin typeface="+mj-ea"/>
              <a:ea typeface="+mj-ea"/>
            </a:endParaRPr>
          </a:p>
        </p:txBody>
      </p:sp>
    </p:spTree>
  </p:cSld>
  <p:clrMapOvr>
    <a:masterClrMapping/>
  </p:clrMapOvr>
  <p:transition spd="med">
    <p:randomBar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9ACABF6B-7DEF-4739-B577-EE5741446253}"/>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7DE1B84C-04B6-4DBE-8A2B-494F738546EA}"/>
              </a:ext>
            </a:extLst>
          </p:cNvPr>
          <p:cNvSpPr>
            <a:spLocks noChangeArrowheads="1"/>
          </p:cNvSpPr>
          <p:nvPr/>
        </p:nvSpPr>
        <p:spPr bwMode="auto">
          <a:xfrm>
            <a:off x="214282" y="642924"/>
            <a:ext cx="473238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3.3.2 </a:t>
            </a:r>
            <a:r>
              <a:rPr lang="zh-CN" altLang="en-US" sz="2000" b="1" dirty="0">
                <a:solidFill>
                  <a:srgbClr val="C00000"/>
                </a:solidFill>
                <a:effectLst>
                  <a:reflection blurRad="6350" stA="50000" endA="300" endPos="50000" dist="60007" dir="5400000" sy="-100000" algn="bl" rotWithShape="0"/>
                </a:effectLst>
                <a:latin typeface="+mj-ea"/>
                <a:ea typeface="+mj-ea"/>
              </a:rPr>
              <a:t>面向过程的信息安全保障体系结构</a:t>
            </a:r>
          </a:p>
        </p:txBody>
      </p:sp>
      <p:sp>
        <p:nvSpPr>
          <p:cNvPr id="36868" name="内容占位符 2">
            <a:extLst>
              <a:ext uri="{FF2B5EF4-FFF2-40B4-BE49-F238E27FC236}">
                <a16:creationId xmlns:a16="http://schemas.microsoft.com/office/drawing/2014/main" id="{2817BB2E-BEA7-48CB-A41B-7671032AE962}"/>
              </a:ext>
            </a:extLst>
          </p:cNvPr>
          <p:cNvSpPr txBox="1">
            <a:spLocks/>
          </p:cNvSpPr>
          <p:nvPr/>
        </p:nvSpPr>
        <p:spPr bwMode="auto">
          <a:xfrm>
            <a:off x="214313" y="1000125"/>
            <a:ext cx="735806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buFontTx/>
              <a:buNone/>
            </a:pPr>
            <a:r>
              <a:rPr lang="zh-CN" altLang="en-US" b="1"/>
              <a:t>信息保障技术框架（</a:t>
            </a:r>
            <a:r>
              <a:rPr lang="en-US" altLang="zh-CN" b="1"/>
              <a:t>Information Assurance Technical Framework ,IATF</a:t>
            </a:r>
            <a:r>
              <a:rPr lang="zh-CN" altLang="en-US" b="1"/>
              <a:t>）</a:t>
            </a:r>
            <a:endParaRPr lang="en-US" altLang="zh-CN" b="1"/>
          </a:p>
        </p:txBody>
      </p:sp>
      <p:grpSp>
        <p:nvGrpSpPr>
          <p:cNvPr id="36869" name="组合 39">
            <a:extLst>
              <a:ext uri="{FF2B5EF4-FFF2-40B4-BE49-F238E27FC236}">
                <a16:creationId xmlns:a16="http://schemas.microsoft.com/office/drawing/2014/main" id="{E62BFAAB-BE27-4ABC-B524-19F05A16EA15}"/>
              </a:ext>
            </a:extLst>
          </p:cNvPr>
          <p:cNvGrpSpPr>
            <a:grpSpLocks/>
          </p:cNvGrpSpPr>
          <p:nvPr/>
        </p:nvGrpSpPr>
        <p:grpSpPr bwMode="auto">
          <a:xfrm>
            <a:off x="1643063" y="1500188"/>
            <a:ext cx="5286375" cy="2857500"/>
            <a:chOff x="1571604" y="1428742"/>
            <a:chExt cx="5286412" cy="2857520"/>
          </a:xfrm>
        </p:grpSpPr>
        <p:grpSp>
          <p:nvGrpSpPr>
            <p:cNvPr id="36871" name="组合 36">
              <a:extLst>
                <a:ext uri="{FF2B5EF4-FFF2-40B4-BE49-F238E27FC236}">
                  <a16:creationId xmlns:a16="http://schemas.microsoft.com/office/drawing/2014/main" id="{1F19406E-08B9-4F5C-AA55-91E6014419D2}"/>
                </a:ext>
              </a:extLst>
            </p:cNvPr>
            <p:cNvGrpSpPr>
              <a:grpSpLocks/>
            </p:cNvGrpSpPr>
            <p:nvPr/>
          </p:nvGrpSpPr>
          <p:grpSpPr bwMode="auto">
            <a:xfrm>
              <a:off x="1571604" y="2214560"/>
              <a:ext cx="5286412" cy="2071702"/>
              <a:chOff x="1571604" y="2000246"/>
              <a:chExt cx="5286412" cy="2071702"/>
            </a:xfrm>
          </p:grpSpPr>
          <p:grpSp>
            <p:nvGrpSpPr>
              <p:cNvPr id="36874" name="组合 25">
                <a:extLst>
                  <a:ext uri="{FF2B5EF4-FFF2-40B4-BE49-F238E27FC236}">
                    <a16:creationId xmlns:a16="http://schemas.microsoft.com/office/drawing/2014/main" id="{E1225D94-3D85-419F-8C04-CA2E2516423D}"/>
                  </a:ext>
                </a:extLst>
              </p:cNvPr>
              <p:cNvGrpSpPr>
                <a:grpSpLocks/>
              </p:cNvGrpSpPr>
              <p:nvPr/>
            </p:nvGrpSpPr>
            <p:grpSpPr bwMode="auto">
              <a:xfrm>
                <a:off x="1571604" y="2000246"/>
                <a:ext cx="5286412" cy="2071702"/>
                <a:chOff x="1571604" y="2000246"/>
                <a:chExt cx="5286412" cy="2071702"/>
              </a:xfrm>
            </p:grpSpPr>
            <p:sp>
              <p:nvSpPr>
                <p:cNvPr id="36883" name="矩形 5">
                  <a:extLst>
                    <a:ext uri="{FF2B5EF4-FFF2-40B4-BE49-F238E27FC236}">
                      <a16:creationId xmlns:a16="http://schemas.microsoft.com/office/drawing/2014/main" id="{F16E5F3B-401D-4120-8735-0DA989B14CAE}"/>
                    </a:ext>
                  </a:extLst>
                </p:cNvPr>
                <p:cNvSpPr>
                  <a:spLocks noChangeArrowheads="1"/>
                </p:cNvSpPr>
                <p:nvPr/>
              </p:nvSpPr>
              <p:spPr bwMode="auto">
                <a:xfrm>
                  <a:off x="2071670" y="3500444"/>
                  <a:ext cx="785818" cy="428629"/>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200">
                      <a:latin typeface="Arial" panose="020B0604020202020204" pitchFamily="34" charset="0"/>
                    </a:rPr>
                    <a:t>网络基础</a:t>
                  </a:r>
                  <a:endParaRPr lang="en-US" altLang="zh-CN" sz="1200">
                    <a:latin typeface="Arial" panose="020B0604020202020204" pitchFamily="34" charset="0"/>
                  </a:endParaRPr>
                </a:p>
                <a:p>
                  <a:pPr algn="ctr" eaLnBrk="1" hangingPunct="1">
                    <a:lnSpc>
                      <a:spcPct val="100000"/>
                    </a:lnSpc>
                    <a:buClrTx/>
                    <a:buFontTx/>
                    <a:buNone/>
                  </a:pPr>
                  <a:r>
                    <a:rPr lang="zh-CN" altLang="en-US" sz="1200">
                      <a:latin typeface="Arial" panose="020B0604020202020204" pitchFamily="34" charset="0"/>
                    </a:rPr>
                    <a:t>设施</a:t>
                  </a:r>
                </a:p>
              </p:txBody>
            </p:sp>
            <p:sp>
              <p:nvSpPr>
                <p:cNvPr id="36884" name="矩形 9">
                  <a:extLst>
                    <a:ext uri="{FF2B5EF4-FFF2-40B4-BE49-F238E27FC236}">
                      <a16:creationId xmlns:a16="http://schemas.microsoft.com/office/drawing/2014/main" id="{5AF590DE-FA3C-4727-97FF-7B8A2E061C74}"/>
                    </a:ext>
                  </a:extLst>
                </p:cNvPr>
                <p:cNvSpPr>
                  <a:spLocks noChangeArrowheads="1"/>
                </p:cNvSpPr>
                <p:nvPr/>
              </p:nvSpPr>
              <p:spPr bwMode="auto">
                <a:xfrm>
                  <a:off x="3000364" y="3500444"/>
                  <a:ext cx="785818" cy="428629"/>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200">
                      <a:latin typeface="Arial" panose="020B0604020202020204" pitchFamily="34" charset="0"/>
                    </a:rPr>
                    <a:t>网络边界</a:t>
                  </a:r>
                </a:p>
              </p:txBody>
            </p:sp>
            <p:sp>
              <p:nvSpPr>
                <p:cNvPr id="36885" name="矩形 10">
                  <a:extLst>
                    <a:ext uri="{FF2B5EF4-FFF2-40B4-BE49-F238E27FC236}">
                      <a16:creationId xmlns:a16="http://schemas.microsoft.com/office/drawing/2014/main" id="{BC83F10C-A979-4BDA-B69E-6D742EBC3010}"/>
                    </a:ext>
                  </a:extLst>
                </p:cNvPr>
                <p:cNvSpPr>
                  <a:spLocks noChangeArrowheads="1"/>
                </p:cNvSpPr>
                <p:nvPr/>
              </p:nvSpPr>
              <p:spPr bwMode="auto">
                <a:xfrm>
                  <a:off x="3929058" y="3500444"/>
                  <a:ext cx="785818" cy="428629"/>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200">
                      <a:latin typeface="Arial" panose="020B0604020202020204" pitchFamily="34" charset="0"/>
                    </a:rPr>
                    <a:t>计算环境</a:t>
                  </a:r>
                </a:p>
              </p:txBody>
            </p:sp>
            <p:grpSp>
              <p:nvGrpSpPr>
                <p:cNvPr id="36886" name="组合 17">
                  <a:extLst>
                    <a:ext uri="{FF2B5EF4-FFF2-40B4-BE49-F238E27FC236}">
                      <a16:creationId xmlns:a16="http://schemas.microsoft.com/office/drawing/2014/main" id="{B4069164-ACDB-4C9B-A48A-76C3ADB271BF}"/>
                    </a:ext>
                  </a:extLst>
                </p:cNvPr>
                <p:cNvGrpSpPr>
                  <a:grpSpLocks/>
                </p:cNvGrpSpPr>
                <p:nvPr/>
              </p:nvGrpSpPr>
              <p:grpSpPr bwMode="auto">
                <a:xfrm>
                  <a:off x="4857752" y="3500444"/>
                  <a:ext cx="1428760" cy="428629"/>
                  <a:chOff x="5572132" y="3143254"/>
                  <a:chExt cx="1428760" cy="428629"/>
                </a:xfrm>
              </p:grpSpPr>
              <p:sp>
                <p:nvSpPr>
                  <p:cNvPr id="36893" name="矩形 11">
                    <a:extLst>
                      <a:ext uri="{FF2B5EF4-FFF2-40B4-BE49-F238E27FC236}">
                        <a16:creationId xmlns:a16="http://schemas.microsoft.com/office/drawing/2014/main" id="{B8F6657D-7B08-4D39-8FFC-D03E287490C1}"/>
                      </a:ext>
                    </a:extLst>
                  </p:cNvPr>
                  <p:cNvSpPr>
                    <a:spLocks noChangeArrowheads="1"/>
                  </p:cNvSpPr>
                  <p:nvPr/>
                </p:nvSpPr>
                <p:spPr bwMode="auto">
                  <a:xfrm>
                    <a:off x="5572132" y="3143254"/>
                    <a:ext cx="1428760" cy="428629"/>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100">
                        <a:latin typeface="Arial" panose="020B0604020202020204" pitchFamily="34" charset="0"/>
                      </a:rPr>
                      <a:t>支撑基础设施</a:t>
                    </a:r>
                    <a:endParaRPr lang="en-US" altLang="zh-CN" sz="1100">
                      <a:latin typeface="Arial" panose="020B0604020202020204" pitchFamily="34" charset="0"/>
                    </a:endParaRPr>
                  </a:p>
                  <a:p>
                    <a:pPr algn="ctr" eaLnBrk="1" hangingPunct="1">
                      <a:lnSpc>
                        <a:spcPct val="100000"/>
                      </a:lnSpc>
                      <a:buClrTx/>
                      <a:buFontTx/>
                      <a:buNone/>
                    </a:pPr>
                    <a:endParaRPr lang="zh-CN" altLang="en-US" sz="1200">
                      <a:latin typeface="Arial" panose="020B0604020202020204" pitchFamily="34" charset="0"/>
                    </a:endParaRPr>
                  </a:p>
                </p:txBody>
              </p:sp>
              <p:sp>
                <p:nvSpPr>
                  <p:cNvPr id="36894" name="矩形 12">
                    <a:extLst>
                      <a:ext uri="{FF2B5EF4-FFF2-40B4-BE49-F238E27FC236}">
                        <a16:creationId xmlns:a16="http://schemas.microsoft.com/office/drawing/2014/main" id="{70FFE4C6-3C96-4417-92A6-160AED9BE862}"/>
                      </a:ext>
                    </a:extLst>
                  </p:cNvPr>
                  <p:cNvSpPr>
                    <a:spLocks noChangeArrowheads="1"/>
                  </p:cNvSpPr>
                  <p:nvPr/>
                </p:nvSpPr>
                <p:spPr bwMode="auto">
                  <a:xfrm>
                    <a:off x="5643570" y="3357568"/>
                    <a:ext cx="500066" cy="142875"/>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en-US" altLang="zh-CN" sz="900">
                        <a:latin typeface="Arial" panose="020B0604020202020204" pitchFamily="34" charset="0"/>
                      </a:rPr>
                      <a:t>KMI/PKI</a:t>
                    </a:r>
                    <a:endParaRPr lang="zh-CN" altLang="en-US" sz="900">
                      <a:latin typeface="Arial" panose="020B0604020202020204" pitchFamily="34" charset="0"/>
                    </a:endParaRPr>
                  </a:p>
                </p:txBody>
              </p:sp>
              <p:sp>
                <p:nvSpPr>
                  <p:cNvPr id="36895" name="矩形 14">
                    <a:extLst>
                      <a:ext uri="{FF2B5EF4-FFF2-40B4-BE49-F238E27FC236}">
                        <a16:creationId xmlns:a16="http://schemas.microsoft.com/office/drawing/2014/main" id="{43789DFC-D55C-4F55-B255-32B1124DC8A9}"/>
                      </a:ext>
                    </a:extLst>
                  </p:cNvPr>
                  <p:cNvSpPr>
                    <a:spLocks noChangeArrowheads="1"/>
                  </p:cNvSpPr>
                  <p:nvPr/>
                </p:nvSpPr>
                <p:spPr bwMode="auto">
                  <a:xfrm>
                    <a:off x="6215074" y="3357568"/>
                    <a:ext cx="714380" cy="142875"/>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900">
                        <a:latin typeface="Arial" panose="020B0604020202020204" pitchFamily="34" charset="0"/>
                      </a:rPr>
                      <a:t>检测短响应</a:t>
                    </a:r>
                  </a:p>
                </p:txBody>
              </p:sp>
            </p:grpSp>
            <p:sp>
              <p:nvSpPr>
                <p:cNvPr id="36887" name="矩形 18">
                  <a:extLst>
                    <a:ext uri="{FF2B5EF4-FFF2-40B4-BE49-F238E27FC236}">
                      <a16:creationId xmlns:a16="http://schemas.microsoft.com/office/drawing/2014/main" id="{F211A5FC-6B9F-4431-9FEC-0A08AF4244FE}"/>
                    </a:ext>
                  </a:extLst>
                </p:cNvPr>
                <p:cNvSpPr>
                  <a:spLocks noChangeArrowheads="1"/>
                </p:cNvSpPr>
                <p:nvPr/>
              </p:nvSpPr>
              <p:spPr bwMode="auto">
                <a:xfrm>
                  <a:off x="1928794" y="3000378"/>
                  <a:ext cx="4500594" cy="1000132"/>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endParaRPr lang="zh-CN" altLang="en-US" sz="1200">
                    <a:latin typeface="Arial" panose="020B0604020202020204" pitchFamily="34" charset="0"/>
                  </a:endParaRPr>
                </a:p>
              </p:txBody>
            </p:sp>
            <p:sp>
              <p:nvSpPr>
                <p:cNvPr id="36888" name="圆角矩形 20">
                  <a:extLst>
                    <a:ext uri="{FF2B5EF4-FFF2-40B4-BE49-F238E27FC236}">
                      <a16:creationId xmlns:a16="http://schemas.microsoft.com/office/drawing/2014/main" id="{2F377EE6-CEE8-4B0C-A67D-F57BDCD5CFBD}"/>
                    </a:ext>
                  </a:extLst>
                </p:cNvPr>
                <p:cNvSpPr>
                  <a:spLocks noChangeArrowheads="1"/>
                </p:cNvSpPr>
                <p:nvPr/>
              </p:nvSpPr>
              <p:spPr bwMode="auto">
                <a:xfrm>
                  <a:off x="1571604" y="2000246"/>
                  <a:ext cx="5286412" cy="2071702"/>
                </a:xfrm>
                <a:prstGeom prst="roundRect">
                  <a:avLst>
                    <a:gd name="adj" fmla="val 16667"/>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endParaRPr lang="zh-CN" altLang="en-US" sz="1000">
                    <a:latin typeface="Arial" panose="020B0604020202020204" pitchFamily="34" charset="0"/>
                  </a:endParaRPr>
                </a:p>
              </p:txBody>
            </p:sp>
            <p:sp>
              <p:nvSpPr>
                <p:cNvPr id="22" name="圆角矩形 21">
                  <a:extLst>
                    <a:ext uri="{FF2B5EF4-FFF2-40B4-BE49-F238E27FC236}">
                      <a16:creationId xmlns:a16="http://schemas.microsoft.com/office/drawing/2014/main" id="{54BB8746-7905-4543-8E38-F8F5687800B7}"/>
                    </a:ext>
                  </a:extLst>
                </p:cNvPr>
                <p:cNvSpPr/>
                <p:nvPr/>
              </p:nvSpPr>
              <p:spPr bwMode="auto">
                <a:xfrm>
                  <a:off x="2428860" y="2643187"/>
                  <a:ext cx="1643073" cy="642941"/>
                </a:xfrm>
                <a:prstGeom prst="round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微软雅黑" pitchFamily="34"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微软雅黑" pitchFamily="34" charset="-122"/>
                      <a:cs typeface="+mn-cs"/>
                    </a:rPr>
                    <a:t>技术</a:t>
                  </a:r>
                  <a:endPar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itchFamily="34" charset="-122"/>
                    <a:cs typeface="+mn-cs"/>
                  </a:endParaRPr>
                </a:p>
              </p:txBody>
            </p:sp>
            <p:sp>
              <p:nvSpPr>
                <p:cNvPr id="23" name="圆角矩形 22">
                  <a:extLst>
                    <a:ext uri="{FF2B5EF4-FFF2-40B4-BE49-F238E27FC236}">
                      <a16:creationId xmlns:a16="http://schemas.microsoft.com/office/drawing/2014/main" id="{B9420CA2-7E75-408A-A32F-8C0113709E1B}"/>
                    </a:ext>
                  </a:extLst>
                </p:cNvPr>
                <p:cNvSpPr/>
                <p:nvPr/>
              </p:nvSpPr>
              <p:spPr bwMode="auto">
                <a:xfrm>
                  <a:off x="1928793" y="2428873"/>
                  <a:ext cx="1000132" cy="428628"/>
                </a:xfrm>
                <a:prstGeom prst="round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微软雅黑" pitchFamily="34" charset="-122"/>
                      <a:cs typeface="+mn-cs"/>
                    </a:rPr>
                    <a:t>操作</a:t>
                  </a:r>
                  <a:endPar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itchFamily="34" charset="-122"/>
                    <a:cs typeface="+mn-cs"/>
                  </a:endParaRPr>
                </a:p>
              </p:txBody>
            </p:sp>
            <p:sp>
              <p:nvSpPr>
                <p:cNvPr id="24" name="圆角矩形 23">
                  <a:extLst>
                    <a:ext uri="{FF2B5EF4-FFF2-40B4-BE49-F238E27FC236}">
                      <a16:creationId xmlns:a16="http://schemas.microsoft.com/office/drawing/2014/main" id="{B8A922C5-1CEE-4F3A-B15D-697800A5CA15}"/>
                    </a:ext>
                  </a:extLst>
                </p:cNvPr>
                <p:cNvSpPr/>
                <p:nvPr/>
              </p:nvSpPr>
              <p:spPr bwMode="auto">
                <a:xfrm>
                  <a:off x="2643173" y="2285997"/>
                  <a:ext cx="785819" cy="428628"/>
                </a:xfrm>
                <a:prstGeom prst="round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prstClr val="black"/>
                      </a:solidFill>
                      <a:effectLst/>
                      <a:uLnTx/>
                      <a:uFillTx/>
                      <a:latin typeface="Arial" panose="020B0604020202020204" pitchFamily="34" charset="0"/>
                      <a:ea typeface="微软雅黑" pitchFamily="34" charset="-122"/>
                      <a:cs typeface="+mn-cs"/>
                    </a:rPr>
                    <a:t>人</a:t>
                  </a:r>
                  <a:endPar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微软雅黑" pitchFamily="34" charset="-122"/>
                    <a:cs typeface="+mn-cs"/>
                  </a:endParaRPr>
                </a:p>
              </p:txBody>
            </p:sp>
            <p:sp>
              <p:nvSpPr>
                <p:cNvPr id="36892" name="矩形 24">
                  <a:extLst>
                    <a:ext uri="{FF2B5EF4-FFF2-40B4-BE49-F238E27FC236}">
                      <a16:creationId xmlns:a16="http://schemas.microsoft.com/office/drawing/2014/main" id="{89052BE5-6BD9-43BC-8CDE-0D0EAA4C4094}"/>
                    </a:ext>
                  </a:extLst>
                </p:cNvPr>
                <p:cNvSpPr>
                  <a:spLocks noChangeArrowheads="1"/>
                </p:cNvSpPr>
                <p:nvPr/>
              </p:nvSpPr>
              <p:spPr bwMode="auto">
                <a:xfrm>
                  <a:off x="2500298" y="2000246"/>
                  <a:ext cx="1143008" cy="285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a:tailEnd/>
                    </a14:hiddenLine>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100">
                      <a:latin typeface="Arial" panose="020B0604020202020204" pitchFamily="34" charset="0"/>
                    </a:rPr>
                    <a:t>纵深防御战略</a:t>
                  </a:r>
                </a:p>
              </p:txBody>
            </p:sp>
          </p:grpSp>
          <p:grpSp>
            <p:nvGrpSpPr>
              <p:cNvPr id="36875" name="组合 35">
                <a:extLst>
                  <a:ext uri="{FF2B5EF4-FFF2-40B4-BE49-F238E27FC236}">
                    <a16:creationId xmlns:a16="http://schemas.microsoft.com/office/drawing/2014/main" id="{B9D05889-5312-4963-94B3-4F8419532085}"/>
                  </a:ext>
                </a:extLst>
              </p:cNvPr>
              <p:cNvGrpSpPr>
                <a:grpSpLocks/>
              </p:cNvGrpSpPr>
              <p:nvPr/>
            </p:nvGrpSpPr>
            <p:grpSpPr bwMode="auto">
              <a:xfrm>
                <a:off x="4429124" y="2571750"/>
                <a:ext cx="2143140" cy="419875"/>
                <a:chOff x="4286248" y="2571750"/>
                <a:chExt cx="2143140" cy="419875"/>
              </a:xfrm>
            </p:grpSpPr>
            <p:cxnSp>
              <p:nvCxnSpPr>
                <p:cNvPr id="36876" name="直接箭头连接符 7">
                  <a:extLst>
                    <a:ext uri="{FF2B5EF4-FFF2-40B4-BE49-F238E27FC236}">
                      <a16:creationId xmlns:a16="http://schemas.microsoft.com/office/drawing/2014/main" id="{BE846820-8928-4BEF-9B36-E4AD211F9AE4}"/>
                    </a:ext>
                  </a:extLst>
                </p:cNvPr>
                <p:cNvCxnSpPr>
                  <a:cxnSpLocks noChangeShapeType="1"/>
                </p:cNvCxnSpPr>
                <p:nvPr/>
              </p:nvCxnSpPr>
              <p:spPr bwMode="auto">
                <a:xfrm>
                  <a:off x="4500562" y="2857502"/>
                  <a:ext cx="500066" cy="1588"/>
                </a:xfrm>
                <a:prstGeom prst="straightConnector1">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7" name="TextBox 26">
                  <a:extLst>
                    <a:ext uri="{FF2B5EF4-FFF2-40B4-BE49-F238E27FC236}">
                      <a16:creationId xmlns:a16="http://schemas.microsoft.com/office/drawing/2014/main" id="{90BBDB7D-2033-414B-944F-B65A84D4BF55}"/>
                    </a:ext>
                  </a:extLst>
                </p:cNvPr>
                <p:cNvSpPr txBox="1"/>
                <p:nvPr/>
              </p:nvSpPr>
              <p:spPr>
                <a:xfrm>
                  <a:off x="4286248" y="2714625"/>
                  <a:ext cx="214313" cy="276227"/>
                </a:xfrm>
                <a:prstGeom prst="rect">
                  <a:avLst/>
                </a:prstGeom>
                <a:noFill/>
              </p:spPr>
              <p:txBody>
                <a:bodyPr>
                  <a:spAutoFit/>
                </a:bodyPr>
                <a:lstStyle/>
                <a:p>
                  <a:pPr algn="ctr" eaLnBrk="1" hangingPunct="1">
                    <a:defRPr/>
                  </a:pPr>
                  <a:r>
                    <a:rPr lang="zh-CN" altLang="en-US" sz="1200" dirty="0">
                      <a:latin typeface="+mj-ea"/>
                      <a:ea typeface="+mj-ea"/>
                    </a:rPr>
                    <a:t>人</a:t>
                  </a:r>
                </a:p>
              </p:txBody>
            </p:sp>
            <p:sp>
              <p:nvSpPr>
                <p:cNvPr id="29" name="TextBox 28">
                  <a:extLst>
                    <a:ext uri="{FF2B5EF4-FFF2-40B4-BE49-F238E27FC236}">
                      <a16:creationId xmlns:a16="http://schemas.microsoft.com/office/drawing/2014/main" id="{7790873A-EC45-4FAF-ADAB-C46281B49615}"/>
                    </a:ext>
                  </a:extLst>
                </p:cNvPr>
                <p:cNvSpPr txBox="1"/>
                <p:nvPr/>
              </p:nvSpPr>
              <p:spPr>
                <a:xfrm>
                  <a:off x="4500561" y="2571749"/>
                  <a:ext cx="500067" cy="276227"/>
                </a:xfrm>
                <a:prstGeom prst="rect">
                  <a:avLst/>
                </a:prstGeom>
                <a:noFill/>
              </p:spPr>
              <p:txBody>
                <a:bodyPr>
                  <a:spAutoFit/>
                </a:bodyPr>
                <a:lstStyle/>
                <a:p>
                  <a:pPr algn="ctr" eaLnBrk="1" hangingPunct="1">
                    <a:defRPr/>
                  </a:pPr>
                  <a:r>
                    <a:rPr lang="zh-CN" altLang="en-US" sz="1200" dirty="0">
                      <a:latin typeface="+mj-ea"/>
                      <a:ea typeface="+mj-ea"/>
                    </a:rPr>
                    <a:t>通过</a:t>
                  </a:r>
                </a:p>
              </p:txBody>
            </p:sp>
            <p:sp>
              <p:nvSpPr>
                <p:cNvPr id="32" name="TextBox 31">
                  <a:extLst>
                    <a:ext uri="{FF2B5EF4-FFF2-40B4-BE49-F238E27FC236}">
                      <a16:creationId xmlns:a16="http://schemas.microsoft.com/office/drawing/2014/main" id="{395C1932-72F6-41D0-A8C2-E9E7D972D6FD}"/>
                    </a:ext>
                  </a:extLst>
                </p:cNvPr>
                <p:cNvSpPr txBox="1"/>
                <p:nvPr/>
              </p:nvSpPr>
              <p:spPr>
                <a:xfrm>
                  <a:off x="5000628" y="2714625"/>
                  <a:ext cx="500065" cy="276227"/>
                </a:xfrm>
                <a:prstGeom prst="rect">
                  <a:avLst/>
                </a:prstGeom>
                <a:noFill/>
              </p:spPr>
              <p:txBody>
                <a:bodyPr>
                  <a:spAutoFit/>
                </a:bodyPr>
                <a:lstStyle/>
                <a:p>
                  <a:pPr algn="ctr" eaLnBrk="1" hangingPunct="1">
                    <a:defRPr/>
                  </a:pPr>
                  <a:r>
                    <a:rPr lang="zh-CN" altLang="en-US" sz="1200" dirty="0">
                      <a:latin typeface="+mj-ea"/>
                      <a:ea typeface="+mj-ea"/>
                    </a:rPr>
                    <a:t>技术</a:t>
                  </a:r>
                </a:p>
              </p:txBody>
            </p:sp>
            <p:cxnSp>
              <p:nvCxnSpPr>
                <p:cNvPr id="36880" name="直接箭头连接符 32">
                  <a:extLst>
                    <a:ext uri="{FF2B5EF4-FFF2-40B4-BE49-F238E27FC236}">
                      <a16:creationId xmlns:a16="http://schemas.microsoft.com/office/drawing/2014/main" id="{397E6E0C-09F0-449E-A4D9-43883ED17CD5}"/>
                    </a:ext>
                  </a:extLst>
                </p:cNvPr>
                <p:cNvCxnSpPr>
                  <a:cxnSpLocks noChangeShapeType="1"/>
                </p:cNvCxnSpPr>
                <p:nvPr/>
              </p:nvCxnSpPr>
              <p:spPr bwMode="auto">
                <a:xfrm>
                  <a:off x="5429256" y="2857502"/>
                  <a:ext cx="500066" cy="1588"/>
                </a:xfrm>
                <a:prstGeom prst="straightConnector1">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 name="TextBox 33">
                  <a:extLst>
                    <a:ext uri="{FF2B5EF4-FFF2-40B4-BE49-F238E27FC236}">
                      <a16:creationId xmlns:a16="http://schemas.microsoft.com/office/drawing/2014/main" id="{ED4CD58B-37A9-4F24-876D-384BF9A4D112}"/>
                    </a:ext>
                  </a:extLst>
                </p:cNvPr>
                <p:cNvSpPr txBox="1"/>
                <p:nvPr/>
              </p:nvSpPr>
              <p:spPr>
                <a:xfrm>
                  <a:off x="5929321" y="2714625"/>
                  <a:ext cx="500067" cy="276227"/>
                </a:xfrm>
                <a:prstGeom prst="rect">
                  <a:avLst/>
                </a:prstGeom>
                <a:noFill/>
              </p:spPr>
              <p:txBody>
                <a:bodyPr>
                  <a:spAutoFit/>
                </a:bodyPr>
                <a:lstStyle/>
                <a:p>
                  <a:pPr algn="ctr" eaLnBrk="1" hangingPunct="1">
                    <a:defRPr/>
                  </a:pPr>
                  <a:r>
                    <a:rPr lang="zh-CN" altLang="en-US" sz="1200" dirty="0">
                      <a:latin typeface="+mj-ea"/>
                      <a:ea typeface="+mj-ea"/>
                    </a:rPr>
                    <a:t>操作</a:t>
                  </a:r>
                </a:p>
              </p:txBody>
            </p:sp>
            <p:sp>
              <p:nvSpPr>
                <p:cNvPr id="35" name="TextBox 34">
                  <a:extLst>
                    <a:ext uri="{FF2B5EF4-FFF2-40B4-BE49-F238E27FC236}">
                      <a16:creationId xmlns:a16="http://schemas.microsoft.com/office/drawing/2014/main" id="{EC174238-190D-4D21-A3AE-4C5F1D523DBC}"/>
                    </a:ext>
                  </a:extLst>
                </p:cNvPr>
                <p:cNvSpPr txBox="1"/>
                <p:nvPr/>
              </p:nvSpPr>
              <p:spPr>
                <a:xfrm>
                  <a:off x="5429256" y="2571749"/>
                  <a:ext cx="500065" cy="276227"/>
                </a:xfrm>
                <a:prstGeom prst="rect">
                  <a:avLst/>
                </a:prstGeom>
                <a:noFill/>
              </p:spPr>
              <p:txBody>
                <a:bodyPr>
                  <a:spAutoFit/>
                </a:bodyPr>
                <a:lstStyle/>
                <a:p>
                  <a:pPr algn="ctr" eaLnBrk="1" hangingPunct="1">
                    <a:defRPr/>
                  </a:pPr>
                  <a:r>
                    <a:rPr lang="zh-CN" altLang="en-US" sz="1200" dirty="0">
                      <a:latin typeface="+mj-ea"/>
                      <a:ea typeface="+mj-ea"/>
                    </a:rPr>
                    <a:t>进行</a:t>
                  </a:r>
                </a:p>
              </p:txBody>
            </p:sp>
          </p:grpSp>
        </p:grpSp>
        <p:sp>
          <p:nvSpPr>
            <p:cNvPr id="36872" name="右箭头 37">
              <a:extLst>
                <a:ext uri="{FF2B5EF4-FFF2-40B4-BE49-F238E27FC236}">
                  <a16:creationId xmlns:a16="http://schemas.microsoft.com/office/drawing/2014/main" id="{6C6E7A40-1F43-4C67-83E0-EF56EB062D16}"/>
                </a:ext>
              </a:extLst>
            </p:cNvPr>
            <p:cNvSpPr>
              <a:spLocks noChangeArrowheads="1"/>
            </p:cNvSpPr>
            <p:nvPr/>
          </p:nvSpPr>
          <p:spPr bwMode="auto">
            <a:xfrm>
              <a:off x="2071670" y="1428742"/>
              <a:ext cx="4286280" cy="642942"/>
            </a:xfrm>
            <a:prstGeom prst="rightArrow">
              <a:avLst>
                <a:gd name="adj1" fmla="val 50000"/>
                <a:gd name="adj2" fmla="val 50000"/>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lvl="0" algn="ctr" eaLnBrk="1" hangingPunct="1">
                <a:lnSpc>
                  <a:spcPct val="100000"/>
                </a:lnSpc>
                <a:buClrTx/>
                <a:buNone/>
              </a:pPr>
              <a:r>
                <a:rPr lang="zh-CN" altLang="en-US" sz="1200">
                  <a:solidFill>
                    <a:prstClr val="black"/>
                  </a:solidFill>
                  <a:latin typeface="Arial" panose="020B0604020202020204" pitchFamily="34" charset="0"/>
                  <a:ea typeface="宋体" panose="02010600030101010101" pitchFamily="2" charset="-122"/>
                </a:rPr>
                <a:t>成功的组织功能</a:t>
              </a:r>
            </a:p>
          </p:txBody>
        </p:sp>
        <p:sp>
          <p:nvSpPr>
            <p:cNvPr id="39" name="TextBox 38">
              <a:extLst>
                <a:ext uri="{FF2B5EF4-FFF2-40B4-BE49-F238E27FC236}">
                  <a16:creationId xmlns:a16="http://schemas.microsoft.com/office/drawing/2014/main" id="{D92C5D01-6D2C-4889-ACF7-F70427EAE55F}"/>
                </a:ext>
              </a:extLst>
            </p:cNvPr>
            <p:cNvSpPr txBox="1"/>
            <p:nvPr/>
          </p:nvSpPr>
          <p:spPr>
            <a:xfrm>
              <a:off x="3571868" y="1928807"/>
              <a:ext cx="1214445" cy="276227"/>
            </a:xfrm>
            <a:prstGeom prst="rect">
              <a:avLst/>
            </a:prstGeom>
            <a:noFill/>
          </p:spPr>
          <p:txBody>
            <a:bodyPr>
              <a:spAutoFit/>
            </a:bodyPr>
            <a:lstStyle/>
            <a:p>
              <a:pPr algn="ctr" eaLnBrk="1" hangingPunct="1">
                <a:defRPr/>
              </a:pPr>
              <a:r>
                <a:rPr lang="zh-CN" altLang="en-US" sz="1200" dirty="0">
                  <a:latin typeface="+mj-ea"/>
                  <a:ea typeface="+mj-ea"/>
                </a:rPr>
                <a:t>信息保障</a:t>
              </a:r>
            </a:p>
          </p:txBody>
        </p:sp>
      </p:grpSp>
      <p:sp>
        <p:nvSpPr>
          <p:cNvPr id="41" name="矩形 3">
            <a:extLst>
              <a:ext uri="{FF2B5EF4-FFF2-40B4-BE49-F238E27FC236}">
                <a16:creationId xmlns:a16="http://schemas.microsoft.com/office/drawing/2014/main" id="{AF914233-2293-4001-B05E-F038580E4D99}"/>
              </a:ext>
            </a:extLst>
          </p:cNvPr>
          <p:cNvSpPr>
            <a:spLocks noChangeArrowheads="1"/>
          </p:cNvSpPr>
          <p:nvPr/>
        </p:nvSpPr>
        <p:spPr bwMode="auto">
          <a:xfrm>
            <a:off x="7143750" y="2286000"/>
            <a:ext cx="363538" cy="1816100"/>
          </a:xfrm>
          <a:prstGeom prst="rect">
            <a:avLst/>
          </a:prstGeom>
          <a:noFill/>
          <a:ln w="9525">
            <a:noFill/>
            <a:miter lim="800000"/>
            <a:headEnd/>
            <a:tailEnd/>
          </a:ln>
        </p:spPr>
        <p:txBody>
          <a:bodyPr wrap="none">
            <a:spAutoFit/>
          </a:bodyPr>
          <a:lstStyle/>
          <a:p>
            <a:pPr algn="ctr" eaLnBrk="1" hangingPunct="1">
              <a:defRPr/>
            </a:pPr>
            <a:r>
              <a:rPr lang="zh-CN" altLang="en-US" sz="1400" b="1" dirty="0">
                <a:latin typeface="+mj-ea"/>
                <a:ea typeface="+mj-ea"/>
              </a:rPr>
              <a:t>信</a:t>
            </a:r>
            <a:endParaRPr lang="en-US" altLang="zh-CN" sz="1400" b="1" dirty="0">
              <a:latin typeface="+mj-ea"/>
              <a:ea typeface="+mj-ea"/>
            </a:endParaRPr>
          </a:p>
          <a:p>
            <a:pPr algn="ctr" eaLnBrk="1" hangingPunct="1">
              <a:defRPr/>
            </a:pPr>
            <a:r>
              <a:rPr lang="zh-CN" altLang="en-US" sz="1400" b="1" dirty="0">
                <a:latin typeface="+mj-ea"/>
                <a:ea typeface="+mj-ea"/>
              </a:rPr>
              <a:t>息</a:t>
            </a:r>
            <a:endParaRPr lang="en-US" altLang="zh-CN" sz="1400" b="1" dirty="0">
              <a:latin typeface="+mj-ea"/>
              <a:ea typeface="+mj-ea"/>
            </a:endParaRPr>
          </a:p>
          <a:p>
            <a:pPr algn="ctr" eaLnBrk="1" hangingPunct="1">
              <a:defRPr/>
            </a:pPr>
            <a:r>
              <a:rPr lang="zh-CN" altLang="en-US" sz="1400" b="1" dirty="0">
                <a:latin typeface="+mj-ea"/>
                <a:ea typeface="+mj-ea"/>
              </a:rPr>
              <a:t>保</a:t>
            </a:r>
            <a:endParaRPr lang="en-US" altLang="zh-CN" sz="1400" b="1" dirty="0">
              <a:latin typeface="+mj-ea"/>
              <a:ea typeface="+mj-ea"/>
            </a:endParaRPr>
          </a:p>
          <a:p>
            <a:pPr algn="ctr" eaLnBrk="1" hangingPunct="1">
              <a:defRPr/>
            </a:pPr>
            <a:r>
              <a:rPr lang="zh-CN" altLang="en-US" sz="1400" b="1" dirty="0">
                <a:latin typeface="+mj-ea"/>
                <a:ea typeface="+mj-ea"/>
              </a:rPr>
              <a:t>障</a:t>
            </a:r>
            <a:endParaRPr lang="en-US" altLang="zh-CN" sz="1400" b="1" dirty="0">
              <a:latin typeface="+mj-ea"/>
              <a:ea typeface="+mj-ea"/>
            </a:endParaRPr>
          </a:p>
          <a:p>
            <a:pPr algn="ctr" eaLnBrk="1" hangingPunct="1">
              <a:defRPr/>
            </a:pPr>
            <a:r>
              <a:rPr lang="zh-CN" altLang="en-US" sz="1400" b="1" dirty="0">
                <a:latin typeface="+mj-ea"/>
                <a:ea typeface="+mj-ea"/>
              </a:rPr>
              <a:t>技</a:t>
            </a:r>
            <a:endParaRPr lang="en-US" altLang="zh-CN" sz="1400" b="1" dirty="0">
              <a:latin typeface="+mj-ea"/>
              <a:ea typeface="+mj-ea"/>
            </a:endParaRPr>
          </a:p>
          <a:p>
            <a:pPr algn="ctr" eaLnBrk="1" hangingPunct="1">
              <a:defRPr/>
            </a:pPr>
            <a:r>
              <a:rPr lang="zh-CN" altLang="en-US" sz="1400" b="1" dirty="0">
                <a:latin typeface="+mj-ea"/>
                <a:ea typeface="+mj-ea"/>
              </a:rPr>
              <a:t>术</a:t>
            </a:r>
            <a:endParaRPr lang="en-US" altLang="zh-CN" sz="1400" b="1" dirty="0">
              <a:latin typeface="+mj-ea"/>
              <a:ea typeface="+mj-ea"/>
            </a:endParaRPr>
          </a:p>
          <a:p>
            <a:pPr algn="ctr" eaLnBrk="1" hangingPunct="1">
              <a:defRPr/>
            </a:pPr>
            <a:r>
              <a:rPr lang="zh-CN" altLang="en-US" sz="1400" b="1" dirty="0">
                <a:latin typeface="+mj-ea"/>
                <a:ea typeface="+mj-ea"/>
              </a:rPr>
              <a:t>框</a:t>
            </a:r>
            <a:endParaRPr lang="en-US" altLang="zh-CN" sz="1400" b="1" dirty="0">
              <a:latin typeface="+mj-ea"/>
              <a:ea typeface="+mj-ea"/>
            </a:endParaRPr>
          </a:p>
          <a:p>
            <a:pPr algn="ctr" eaLnBrk="1" hangingPunct="1">
              <a:defRPr/>
            </a:pPr>
            <a:r>
              <a:rPr lang="zh-CN" altLang="en-US" sz="1400" b="1" dirty="0">
                <a:latin typeface="+mj-ea"/>
                <a:ea typeface="+mj-ea"/>
              </a:rPr>
              <a:t>架</a:t>
            </a:r>
          </a:p>
        </p:txBody>
      </p:sp>
    </p:spTree>
  </p:cSld>
  <p:clrMapOvr>
    <a:masterClrMapping/>
  </p:clrMapOvr>
  <p:transition spd="med">
    <p:randomBar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8049D53E-92A1-4C99-A955-F3FE063EDFAC}"/>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3C8808BD-49A7-4C18-A4B9-09CC4F8A362D}"/>
              </a:ext>
            </a:extLst>
          </p:cNvPr>
          <p:cNvSpPr>
            <a:spLocks noChangeArrowheads="1"/>
          </p:cNvSpPr>
          <p:nvPr/>
        </p:nvSpPr>
        <p:spPr bwMode="auto">
          <a:xfrm>
            <a:off x="214282" y="642924"/>
            <a:ext cx="473238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3.3.3 </a:t>
            </a:r>
            <a:r>
              <a:rPr lang="zh-CN" altLang="en-US" sz="2000" b="1" dirty="0">
                <a:solidFill>
                  <a:srgbClr val="C00000"/>
                </a:solidFill>
                <a:effectLst>
                  <a:reflection blurRad="6350" stA="50000" endA="300" endPos="50000" dist="60007" dir="5400000" sy="-100000" algn="bl" rotWithShape="0"/>
                </a:effectLst>
                <a:latin typeface="+mj-ea"/>
                <a:ea typeface="+mj-ea"/>
              </a:rPr>
              <a:t>面向应用的层次信息安全体系结构</a:t>
            </a:r>
          </a:p>
        </p:txBody>
      </p:sp>
      <p:grpSp>
        <p:nvGrpSpPr>
          <p:cNvPr id="37892" name="组合 127">
            <a:extLst>
              <a:ext uri="{FF2B5EF4-FFF2-40B4-BE49-F238E27FC236}">
                <a16:creationId xmlns:a16="http://schemas.microsoft.com/office/drawing/2014/main" id="{C8F6D8C1-44CB-4FCD-A602-26143DD88480}"/>
              </a:ext>
            </a:extLst>
          </p:cNvPr>
          <p:cNvGrpSpPr>
            <a:grpSpLocks/>
          </p:cNvGrpSpPr>
          <p:nvPr/>
        </p:nvGrpSpPr>
        <p:grpSpPr bwMode="auto">
          <a:xfrm>
            <a:off x="2214563" y="1428750"/>
            <a:ext cx="4127500" cy="2357438"/>
            <a:chOff x="2000232" y="1714494"/>
            <a:chExt cx="4128205" cy="2357454"/>
          </a:xfrm>
        </p:grpSpPr>
        <p:cxnSp>
          <p:nvCxnSpPr>
            <p:cNvPr id="37894" name="直接连接符 10">
              <a:extLst>
                <a:ext uri="{FF2B5EF4-FFF2-40B4-BE49-F238E27FC236}">
                  <a16:creationId xmlns:a16="http://schemas.microsoft.com/office/drawing/2014/main" id="{6F08724A-73D8-42FE-9125-75D1DA5DD34A}"/>
                </a:ext>
              </a:extLst>
            </p:cNvPr>
            <p:cNvCxnSpPr>
              <a:cxnSpLocks noChangeShapeType="1"/>
            </p:cNvCxnSpPr>
            <p:nvPr/>
          </p:nvCxnSpPr>
          <p:spPr bwMode="auto">
            <a:xfrm flipV="1">
              <a:off x="2714612" y="1714494"/>
              <a:ext cx="1000132" cy="35719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895" name="直接连接符 12">
              <a:extLst>
                <a:ext uri="{FF2B5EF4-FFF2-40B4-BE49-F238E27FC236}">
                  <a16:creationId xmlns:a16="http://schemas.microsoft.com/office/drawing/2014/main" id="{6B96C4FE-DF1C-48D5-A49A-23104404B133}"/>
                </a:ext>
              </a:extLst>
            </p:cNvPr>
            <p:cNvCxnSpPr>
              <a:cxnSpLocks noChangeShapeType="1"/>
            </p:cNvCxnSpPr>
            <p:nvPr/>
          </p:nvCxnSpPr>
          <p:spPr bwMode="auto">
            <a:xfrm>
              <a:off x="3714744" y="1714494"/>
              <a:ext cx="1143008" cy="214314"/>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896" name="直接连接符 24">
              <a:extLst>
                <a:ext uri="{FF2B5EF4-FFF2-40B4-BE49-F238E27FC236}">
                  <a16:creationId xmlns:a16="http://schemas.microsoft.com/office/drawing/2014/main" id="{D5AD2C93-91B4-4232-B2F5-CBA3EB4FAE6A}"/>
                </a:ext>
              </a:extLst>
            </p:cNvPr>
            <p:cNvCxnSpPr>
              <a:cxnSpLocks noChangeShapeType="1"/>
            </p:cNvCxnSpPr>
            <p:nvPr/>
          </p:nvCxnSpPr>
          <p:spPr bwMode="auto">
            <a:xfrm>
              <a:off x="2714612" y="2071684"/>
              <a:ext cx="1143008" cy="214314"/>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897" name="直接连接符 34">
              <a:extLst>
                <a:ext uri="{FF2B5EF4-FFF2-40B4-BE49-F238E27FC236}">
                  <a16:creationId xmlns:a16="http://schemas.microsoft.com/office/drawing/2014/main" id="{4EC53D76-E14F-4011-8BA0-E00B5B744FBC}"/>
                </a:ext>
              </a:extLst>
            </p:cNvPr>
            <p:cNvCxnSpPr>
              <a:cxnSpLocks noChangeShapeType="1"/>
            </p:cNvCxnSpPr>
            <p:nvPr/>
          </p:nvCxnSpPr>
          <p:spPr bwMode="auto">
            <a:xfrm rot="5400000" flipH="1" flipV="1">
              <a:off x="2857488" y="3071816"/>
              <a:ext cx="1785950" cy="214314"/>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898" name="直接连接符 37">
              <a:extLst>
                <a:ext uri="{FF2B5EF4-FFF2-40B4-BE49-F238E27FC236}">
                  <a16:creationId xmlns:a16="http://schemas.microsoft.com/office/drawing/2014/main" id="{7EFF76E1-0169-49E0-8FCF-643B3B09EFF2}"/>
                </a:ext>
              </a:extLst>
            </p:cNvPr>
            <p:cNvCxnSpPr>
              <a:cxnSpLocks noChangeShapeType="1"/>
            </p:cNvCxnSpPr>
            <p:nvPr/>
          </p:nvCxnSpPr>
          <p:spPr bwMode="auto">
            <a:xfrm rot="16200000" flipV="1">
              <a:off x="4643438" y="2143122"/>
              <a:ext cx="1357322" cy="928694"/>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899" name="直接连接符 55">
              <a:extLst>
                <a:ext uri="{FF2B5EF4-FFF2-40B4-BE49-F238E27FC236}">
                  <a16:creationId xmlns:a16="http://schemas.microsoft.com/office/drawing/2014/main" id="{957C7FA1-7352-49FA-9436-AB28F279E46C}"/>
                </a:ext>
              </a:extLst>
            </p:cNvPr>
            <p:cNvCxnSpPr>
              <a:cxnSpLocks noChangeShapeType="1"/>
            </p:cNvCxnSpPr>
            <p:nvPr/>
          </p:nvCxnSpPr>
          <p:spPr bwMode="auto">
            <a:xfrm flipV="1">
              <a:off x="3857620" y="1928808"/>
              <a:ext cx="1000132" cy="35719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900" name="直接连接符 69">
              <a:extLst>
                <a:ext uri="{FF2B5EF4-FFF2-40B4-BE49-F238E27FC236}">
                  <a16:creationId xmlns:a16="http://schemas.microsoft.com/office/drawing/2014/main" id="{71ABCC7B-DA90-4D75-8E4D-C4D8CA991351}"/>
                </a:ext>
              </a:extLst>
            </p:cNvPr>
            <p:cNvCxnSpPr>
              <a:cxnSpLocks noChangeShapeType="1"/>
            </p:cNvCxnSpPr>
            <p:nvPr/>
          </p:nvCxnSpPr>
          <p:spPr bwMode="auto">
            <a:xfrm flipV="1">
              <a:off x="3786182" y="2214560"/>
              <a:ext cx="1285884" cy="42862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901" name="直接连接符 71">
              <a:extLst>
                <a:ext uri="{FF2B5EF4-FFF2-40B4-BE49-F238E27FC236}">
                  <a16:creationId xmlns:a16="http://schemas.microsoft.com/office/drawing/2014/main" id="{2403CD2D-8C9F-4690-B0CD-63543C9ADC57}"/>
                </a:ext>
              </a:extLst>
            </p:cNvPr>
            <p:cNvCxnSpPr>
              <a:cxnSpLocks noChangeShapeType="1"/>
            </p:cNvCxnSpPr>
            <p:nvPr/>
          </p:nvCxnSpPr>
          <p:spPr bwMode="auto">
            <a:xfrm flipV="1">
              <a:off x="3786182" y="2500312"/>
              <a:ext cx="1500198" cy="500066"/>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902" name="直接连接符 74">
              <a:extLst>
                <a:ext uri="{FF2B5EF4-FFF2-40B4-BE49-F238E27FC236}">
                  <a16:creationId xmlns:a16="http://schemas.microsoft.com/office/drawing/2014/main" id="{BF6FE5AD-7C70-4712-B1C6-DEBF6228B0C1}"/>
                </a:ext>
              </a:extLst>
            </p:cNvPr>
            <p:cNvCxnSpPr>
              <a:cxnSpLocks noChangeShapeType="1"/>
            </p:cNvCxnSpPr>
            <p:nvPr/>
          </p:nvCxnSpPr>
          <p:spPr bwMode="auto">
            <a:xfrm flipV="1">
              <a:off x="3714744" y="2786064"/>
              <a:ext cx="1714512" cy="571504"/>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903" name="直接连接符 75">
              <a:extLst>
                <a:ext uri="{FF2B5EF4-FFF2-40B4-BE49-F238E27FC236}">
                  <a16:creationId xmlns:a16="http://schemas.microsoft.com/office/drawing/2014/main" id="{B9D26E29-B93E-40C7-8202-E2ACCF75B45C}"/>
                </a:ext>
              </a:extLst>
            </p:cNvPr>
            <p:cNvCxnSpPr>
              <a:cxnSpLocks noChangeShapeType="1"/>
            </p:cNvCxnSpPr>
            <p:nvPr/>
          </p:nvCxnSpPr>
          <p:spPr bwMode="auto">
            <a:xfrm flipV="1">
              <a:off x="3714744" y="3071816"/>
              <a:ext cx="1928826" cy="642942"/>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904" name="直接连接符 76">
              <a:extLst>
                <a:ext uri="{FF2B5EF4-FFF2-40B4-BE49-F238E27FC236}">
                  <a16:creationId xmlns:a16="http://schemas.microsoft.com/office/drawing/2014/main" id="{FC657ECF-F16E-4DAE-B3C7-21EC585DE379}"/>
                </a:ext>
              </a:extLst>
            </p:cNvPr>
            <p:cNvCxnSpPr>
              <a:cxnSpLocks noChangeShapeType="1"/>
            </p:cNvCxnSpPr>
            <p:nvPr/>
          </p:nvCxnSpPr>
          <p:spPr bwMode="auto">
            <a:xfrm flipV="1">
              <a:off x="3643306" y="3286130"/>
              <a:ext cx="2143140" cy="78581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905" name="直接连接符 81">
              <a:extLst>
                <a:ext uri="{FF2B5EF4-FFF2-40B4-BE49-F238E27FC236}">
                  <a16:creationId xmlns:a16="http://schemas.microsoft.com/office/drawing/2014/main" id="{D7FDB4FC-3E0E-4091-AF29-E0F8F5530EBB}"/>
                </a:ext>
              </a:extLst>
            </p:cNvPr>
            <p:cNvCxnSpPr>
              <a:cxnSpLocks noChangeShapeType="1"/>
            </p:cNvCxnSpPr>
            <p:nvPr/>
          </p:nvCxnSpPr>
          <p:spPr bwMode="auto">
            <a:xfrm rot="5400000" flipH="1" flipV="1">
              <a:off x="1535886" y="2536031"/>
              <a:ext cx="1643074" cy="71438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906" name="直接连接符 83">
              <a:extLst>
                <a:ext uri="{FF2B5EF4-FFF2-40B4-BE49-F238E27FC236}">
                  <a16:creationId xmlns:a16="http://schemas.microsoft.com/office/drawing/2014/main" id="{7E5D40EC-02EB-4273-BBD3-962630A2A3A5}"/>
                </a:ext>
              </a:extLst>
            </p:cNvPr>
            <p:cNvCxnSpPr>
              <a:cxnSpLocks noChangeShapeType="1"/>
            </p:cNvCxnSpPr>
            <p:nvPr/>
          </p:nvCxnSpPr>
          <p:spPr bwMode="auto">
            <a:xfrm>
              <a:off x="2571736" y="2428874"/>
              <a:ext cx="1214446" cy="214314"/>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907" name="直接连接符 85">
              <a:extLst>
                <a:ext uri="{FF2B5EF4-FFF2-40B4-BE49-F238E27FC236}">
                  <a16:creationId xmlns:a16="http://schemas.microsoft.com/office/drawing/2014/main" id="{FDFCEE4B-CDDD-4A46-8388-A4EC24F30727}"/>
                </a:ext>
              </a:extLst>
            </p:cNvPr>
            <p:cNvCxnSpPr>
              <a:cxnSpLocks noChangeShapeType="1"/>
            </p:cNvCxnSpPr>
            <p:nvPr/>
          </p:nvCxnSpPr>
          <p:spPr bwMode="auto">
            <a:xfrm>
              <a:off x="2285984" y="3071816"/>
              <a:ext cx="1428760" cy="285752"/>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7908" name="直接连接符 93">
              <a:extLst>
                <a:ext uri="{FF2B5EF4-FFF2-40B4-BE49-F238E27FC236}">
                  <a16:creationId xmlns:a16="http://schemas.microsoft.com/office/drawing/2014/main" id="{348F0489-CF96-4916-9757-571A6B65C595}"/>
                </a:ext>
              </a:extLst>
            </p:cNvPr>
            <p:cNvCxnSpPr>
              <a:cxnSpLocks noChangeShapeType="1"/>
            </p:cNvCxnSpPr>
            <p:nvPr/>
          </p:nvCxnSpPr>
          <p:spPr bwMode="auto">
            <a:xfrm>
              <a:off x="2000232" y="3714758"/>
              <a:ext cx="1643074" cy="35719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37909" name="TextBox 97">
              <a:extLst>
                <a:ext uri="{FF2B5EF4-FFF2-40B4-BE49-F238E27FC236}">
                  <a16:creationId xmlns:a16="http://schemas.microsoft.com/office/drawing/2014/main" id="{B1CE8E8C-28F5-494B-B4A8-F48A27B74868}"/>
                </a:ext>
              </a:extLst>
            </p:cNvPr>
            <p:cNvSpPr txBox="1">
              <a:spLocks noChangeArrowheads="1"/>
            </p:cNvSpPr>
            <p:nvPr/>
          </p:nvSpPr>
          <p:spPr bwMode="auto">
            <a:xfrm rot="20489313">
              <a:off x="3881740" y="2147885"/>
              <a:ext cx="928847" cy="29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r>
                <a:rPr lang="zh-CN" altLang="en-US" sz="1300" b="1"/>
                <a:t>管理安全</a:t>
              </a:r>
            </a:p>
          </p:txBody>
        </p:sp>
        <p:sp>
          <p:nvSpPr>
            <p:cNvPr id="37910" name="TextBox 98">
              <a:extLst>
                <a:ext uri="{FF2B5EF4-FFF2-40B4-BE49-F238E27FC236}">
                  <a16:creationId xmlns:a16="http://schemas.microsoft.com/office/drawing/2014/main" id="{810EAAB4-5B89-4FC2-A6CF-ECDF6A886697}"/>
                </a:ext>
              </a:extLst>
            </p:cNvPr>
            <p:cNvSpPr txBox="1">
              <a:spLocks noChangeArrowheads="1"/>
            </p:cNvSpPr>
            <p:nvPr/>
          </p:nvSpPr>
          <p:spPr bwMode="auto">
            <a:xfrm rot="20489313">
              <a:off x="4024640" y="2433637"/>
              <a:ext cx="928847" cy="29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r>
                <a:rPr lang="zh-CN" altLang="en-US" sz="1300" b="1"/>
                <a:t>内容安全</a:t>
              </a:r>
            </a:p>
          </p:txBody>
        </p:sp>
        <p:sp>
          <p:nvSpPr>
            <p:cNvPr id="37911" name="TextBox 100">
              <a:extLst>
                <a:ext uri="{FF2B5EF4-FFF2-40B4-BE49-F238E27FC236}">
                  <a16:creationId xmlns:a16="http://schemas.microsoft.com/office/drawing/2014/main" id="{699895F1-C7A7-4872-B52B-B22D8761347B}"/>
                </a:ext>
              </a:extLst>
            </p:cNvPr>
            <p:cNvSpPr txBox="1">
              <a:spLocks noChangeArrowheads="1"/>
            </p:cNvSpPr>
            <p:nvPr/>
          </p:nvSpPr>
          <p:spPr bwMode="auto">
            <a:xfrm rot="20489313">
              <a:off x="4096090" y="2790826"/>
              <a:ext cx="928846" cy="29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r>
                <a:rPr lang="zh-CN" altLang="en-US" sz="1300" b="1"/>
                <a:t>数据安全</a:t>
              </a:r>
            </a:p>
          </p:txBody>
        </p:sp>
        <p:sp>
          <p:nvSpPr>
            <p:cNvPr id="37912" name="TextBox 101">
              <a:extLst>
                <a:ext uri="{FF2B5EF4-FFF2-40B4-BE49-F238E27FC236}">
                  <a16:creationId xmlns:a16="http://schemas.microsoft.com/office/drawing/2014/main" id="{70397439-53C6-4B3B-8DDB-E7F3B68D24E3}"/>
                </a:ext>
              </a:extLst>
            </p:cNvPr>
            <p:cNvSpPr txBox="1">
              <a:spLocks noChangeArrowheads="1"/>
            </p:cNvSpPr>
            <p:nvPr/>
          </p:nvSpPr>
          <p:spPr bwMode="auto">
            <a:xfrm rot="20489313">
              <a:off x="4167539" y="3076578"/>
              <a:ext cx="928847" cy="29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r>
                <a:rPr lang="zh-CN" altLang="en-US" sz="1300" b="1"/>
                <a:t>运行安全</a:t>
              </a:r>
            </a:p>
          </p:txBody>
        </p:sp>
        <p:sp>
          <p:nvSpPr>
            <p:cNvPr id="37913" name="TextBox 102">
              <a:extLst>
                <a:ext uri="{FF2B5EF4-FFF2-40B4-BE49-F238E27FC236}">
                  <a16:creationId xmlns:a16="http://schemas.microsoft.com/office/drawing/2014/main" id="{ACE7D1C4-3B5D-40EC-ACAB-6818E094C064}"/>
                </a:ext>
              </a:extLst>
            </p:cNvPr>
            <p:cNvSpPr txBox="1">
              <a:spLocks noChangeArrowheads="1"/>
            </p:cNvSpPr>
            <p:nvPr/>
          </p:nvSpPr>
          <p:spPr bwMode="auto">
            <a:xfrm rot="20489313">
              <a:off x="4238989" y="3362330"/>
              <a:ext cx="928846" cy="29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r>
                <a:rPr lang="zh-CN" altLang="en-US" sz="1300" b="1"/>
                <a:t>物理安全</a:t>
              </a:r>
            </a:p>
          </p:txBody>
        </p:sp>
        <p:sp>
          <p:nvSpPr>
            <p:cNvPr id="37914" name="TextBox 117">
              <a:extLst>
                <a:ext uri="{FF2B5EF4-FFF2-40B4-BE49-F238E27FC236}">
                  <a16:creationId xmlns:a16="http://schemas.microsoft.com/office/drawing/2014/main" id="{D3197F81-08B7-43D7-BC01-40DF22A1D828}"/>
                </a:ext>
              </a:extLst>
            </p:cNvPr>
            <p:cNvSpPr txBox="1">
              <a:spLocks noChangeArrowheads="1"/>
            </p:cNvSpPr>
            <p:nvPr/>
          </p:nvSpPr>
          <p:spPr bwMode="auto">
            <a:xfrm rot="19774255">
              <a:off x="5610824" y="2825752"/>
              <a:ext cx="517613" cy="29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300" b="1"/>
                <a:t>基础</a:t>
              </a:r>
            </a:p>
          </p:txBody>
        </p:sp>
        <p:sp>
          <p:nvSpPr>
            <p:cNvPr id="37915" name="TextBox 119">
              <a:extLst>
                <a:ext uri="{FF2B5EF4-FFF2-40B4-BE49-F238E27FC236}">
                  <a16:creationId xmlns:a16="http://schemas.microsoft.com/office/drawing/2014/main" id="{04A1B266-71E9-4AFF-BE4C-3A47A791508F}"/>
                </a:ext>
              </a:extLst>
            </p:cNvPr>
            <p:cNvSpPr txBox="1">
              <a:spLocks noChangeArrowheads="1"/>
            </p:cNvSpPr>
            <p:nvPr/>
          </p:nvSpPr>
          <p:spPr bwMode="auto">
            <a:xfrm rot="602085">
              <a:off x="2590883" y="2722564"/>
              <a:ext cx="927258" cy="29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300" b="1"/>
                <a:t>信息</a:t>
              </a:r>
            </a:p>
          </p:txBody>
        </p:sp>
        <p:sp>
          <p:nvSpPr>
            <p:cNvPr id="37916" name="TextBox 120">
              <a:extLst>
                <a:ext uri="{FF2B5EF4-FFF2-40B4-BE49-F238E27FC236}">
                  <a16:creationId xmlns:a16="http://schemas.microsoft.com/office/drawing/2014/main" id="{01C09431-37EF-4D57-ABCC-369CBD0EC2F7}"/>
                </a:ext>
              </a:extLst>
            </p:cNvPr>
            <p:cNvSpPr txBox="1">
              <a:spLocks noChangeArrowheads="1"/>
            </p:cNvSpPr>
            <p:nvPr/>
          </p:nvSpPr>
          <p:spPr bwMode="auto">
            <a:xfrm rot="602085">
              <a:off x="2447983" y="3365505"/>
              <a:ext cx="927258" cy="29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300" b="1"/>
                <a:t>系统</a:t>
              </a:r>
            </a:p>
          </p:txBody>
        </p:sp>
        <p:cxnSp>
          <p:nvCxnSpPr>
            <p:cNvPr id="37917" name="直接连接符 123">
              <a:extLst>
                <a:ext uri="{FF2B5EF4-FFF2-40B4-BE49-F238E27FC236}">
                  <a16:creationId xmlns:a16="http://schemas.microsoft.com/office/drawing/2014/main" id="{62C1EAFD-71C2-4DBC-BC83-78B5DEA01DEB}"/>
                </a:ext>
              </a:extLst>
            </p:cNvPr>
            <p:cNvCxnSpPr>
              <a:cxnSpLocks noChangeShapeType="1"/>
            </p:cNvCxnSpPr>
            <p:nvPr/>
          </p:nvCxnSpPr>
          <p:spPr bwMode="auto">
            <a:xfrm rot="16200000" flipV="1">
              <a:off x="5107785" y="2178841"/>
              <a:ext cx="714380" cy="500066"/>
            </a:xfrm>
            <a:prstGeom prst="line">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7918" name="TextBox 126">
              <a:extLst>
                <a:ext uri="{FF2B5EF4-FFF2-40B4-BE49-F238E27FC236}">
                  <a16:creationId xmlns:a16="http://schemas.microsoft.com/office/drawing/2014/main" id="{80779987-8DDD-489A-92C5-F619F44E493F}"/>
                </a:ext>
              </a:extLst>
            </p:cNvPr>
            <p:cNvSpPr txBox="1">
              <a:spLocks noChangeArrowheads="1"/>
            </p:cNvSpPr>
            <p:nvPr/>
          </p:nvSpPr>
          <p:spPr bwMode="auto">
            <a:xfrm rot="602085">
              <a:off x="2803644" y="2222497"/>
              <a:ext cx="928846" cy="29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1300" b="1"/>
                <a:t>人员</a:t>
              </a:r>
            </a:p>
          </p:txBody>
        </p:sp>
      </p:grpSp>
      <p:sp>
        <p:nvSpPr>
          <p:cNvPr id="31" name="矩形 3">
            <a:extLst>
              <a:ext uri="{FF2B5EF4-FFF2-40B4-BE49-F238E27FC236}">
                <a16:creationId xmlns:a16="http://schemas.microsoft.com/office/drawing/2014/main" id="{63275401-9BDB-43C9-BF2B-26DB751E5D35}"/>
              </a:ext>
            </a:extLst>
          </p:cNvPr>
          <p:cNvSpPr>
            <a:spLocks noChangeArrowheads="1"/>
          </p:cNvSpPr>
          <p:nvPr/>
        </p:nvSpPr>
        <p:spPr bwMode="auto">
          <a:xfrm>
            <a:off x="3013075" y="3929063"/>
            <a:ext cx="2851150" cy="304800"/>
          </a:xfrm>
          <a:prstGeom prst="rect">
            <a:avLst/>
          </a:prstGeom>
          <a:noFill/>
          <a:ln w="9525">
            <a:noFill/>
            <a:miter lim="800000"/>
            <a:headEnd/>
            <a:tailEnd/>
          </a:ln>
        </p:spPr>
        <p:txBody>
          <a:bodyPr wrap="none">
            <a:spAutoFit/>
          </a:bodyPr>
          <a:lstStyle/>
          <a:p>
            <a:pPr algn="ctr" eaLnBrk="1" hangingPunct="1">
              <a:defRPr/>
            </a:pPr>
            <a:r>
              <a:rPr lang="zh-CN" altLang="en-US" sz="1400" b="1" dirty="0">
                <a:solidFill>
                  <a:srgbClr val="FF0000"/>
                </a:solidFill>
                <a:latin typeface="+mj-ea"/>
                <a:ea typeface="+mj-ea"/>
              </a:rPr>
              <a:t>面向应用的层次信息安全体系结构</a:t>
            </a:r>
          </a:p>
        </p:txBody>
      </p:sp>
    </p:spTree>
  </p:cSld>
  <p:clrMapOvr>
    <a:masterClrMapping/>
  </p:clrMapOvr>
  <p:transition spd="med">
    <p:randomBar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18EF0D8E-3E8F-4444-BB19-F021737EF547}"/>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5EB65A6E-37B4-42FB-A7CC-80FA339A32F6}"/>
              </a:ext>
            </a:extLst>
          </p:cNvPr>
          <p:cNvSpPr>
            <a:spLocks noChangeArrowheads="1"/>
          </p:cNvSpPr>
          <p:nvPr/>
        </p:nvSpPr>
        <p:spPr bwMode="auto">
          <a:xfrm>
            <a:off x="214282" y="642924"/>
            <a:ext cx="473238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3.3.3 </a:t>
            </a:r>
            <a:r>
              <a:rPr lang="zh-CN" altLang="en-US" sz="2000" b="1" dirty="0">
                <a:solidFill>
                  <a:srgbClr val="C00000"/>
                </a:solidFill>
                <a:effectLst>
                  <a:reflection blurRad="6350" stA="50000" endA="300" endPos="50000" dist="60007" dir="5400000" sy="-100000" algn="bl" rotWithShape="0"/>
                </a:effectLst>
                <a:latin typeface="+mj-ea"/>
                <a:ea typeface="+mj-ea"/>
              </a:rPr>
              <a:t>面向应用的层次信息安全体系结构</a:t>
            </a:r>
          </a:p>
        </p:txBody>
      </p:sp>
      <p:sp>
        <p:nvSpPr>
          <p:cNvPr id="33" name="内容占位符 2">
            <a:extLst>
              <a:ext uri="{FF2B5EF4-FFF2-40B4-BE49-F238E27FC236}">
                <a16:creationId xmlns:a16="http://schemas.microsoft.com/office/drawing/2014/main" id="{D109EAF6-7E75-4696-955C-404A692C74F0}"/>
              </a:ext>
            </a:extLst>
          </p:cNvPr>
          <p:cNvSpPr txBox="1">
            <a:spLocks/>
          </p:cNvSpPr>
          <p:nvPr/>
        </p:nvSpPr>
        <p:spPr bwMode="auto">
          <a:xfrm>
            <a:off x="214313" y="1214438"/>
            <a:ext cx="8572500" cy="3071812"/>
          </a:xfrm>
          <a:prstGeom prst="rect">
            <a:avLst/>
          </a:prstGeom>
          <a:noFill/>
          <a:ln w="9525">
            <a:noFill/>
            <a:miter lim="800000"/>
            <a:headEnd/>
            <a:tailEnd/>
          </a:ln>
        </p:spPr>
        <p:txBody>
          <a:bodyPr/>
          <a:lstStyle/>
          <a:p>
            <a:pPr marL="342900" indent="-342900">
              <a:lnSpc>
                <a:spcPct val="150000"/>
              </a:lnSpc>
              <a:buClr>
                <a:srgbClr val="C00000"/>
              </a:buClr>
              <a:buFont typeface="Wingdings" pitchFamily="2" charset="2"/>
              <a:buChar char="n"/>
              <a:defRPr/>
            </a:pPr>
            <a:r>
              <a:rPr lang="zh-CN" altLang="en-US" sz="1600" b="1" kern="0" dirty="0">
                <a:solidFill>
                  <a:srgbClr val="FF0000"/>
                </a:solidFill>
                <a:latin typeface="+mj-ea"/>
                <a:ea typeface="+mj-ea"/>
              </a:rPr>
              <a:t>物理安全</a:t>
            </a:r>
            <a:endParaRPr lang="en-US" altLang="zh-CN" sz="1600" b="1" kern="0" dirty="0">
              <a:solidFill>
                <a:srgbClr val="FF0000"/>
              </a:solidFill>
              <a:latin typeface="+mj-ea"/>
              <a:ea typeface="+mj-ea"/>
            </a:endParaRPr>
          </a:p>
          <a:p>
            <a:pPr marL="576000" indent="-342900">
              <a:lnSpc>
                <a:spcPct val="150000"/>
              </a:lnSpc>
              <a:buClr>
                <a:srgbClr val="C00000"/>
              </a:buClr>
              <a:buFont typeface="Wingdings" pitchFamily="2" charset="2"/>
              <a:buChar char="Ø"/>
              <a:defRPr/>
            </a:pPr>
            <a:r>
              <a:rPr lang="zh-CN" altLang="en-US" sz="1400" kern="0" dirty="0">
                <a:latin typeface="+mj-ea"/>
                <a:ea typeface="+mj-ea"/>
              </a:rPr>
              <a:t>是整个信息系统安全的基础，包括实体安全和环境安全，它们都是研究如何保护网络与信息系统物理设备，主要涉及网络与信息系统的机密性、可用性、完整性等属性。</a:t>
            </a:r>
            <a:endParaRPr lang="en-US" altLang="zh-CN" sz="1400" kern="0" dirty="0">
              <a:latin typeface="+mj-ea"/>
              <a:ea typeface="+mj-ea"/>
            </a:endParaRPr>
          </a:p>
          <a:p>
            <a:pPr marL="576000" indent="-342900">
              <a:lnSpc>
                <a:spcPct val="150000"/>
              </a:lnSpc>
              <a:buClr>
                <a:srgbClr val="C00000"/>
              </a:buClr>
              <a:buFont typeface="Wingdings" pitchFamily="2" charset="2"/>
              <a:buChar char="Ø"/>
              <a:defRPr/>
            </a:pPr>
            <a:r>
              <a:rPr lang="zh-CN" altLang="en-US" sz="1400" kern="0" dirty="0">
                <a:latin typeface="+mj-ea"/>
                <a:ea typeface="+mj-ea"/>
              </a:rPr>
              <a:t>物理安全技术则用来解决两个方面的问题，一方面是针对信息系统实体的保护；另一方面针对可能造成信息泄露的物理问题进行防范。</a:t>
            </a:r>
            <a:endParaRPr lang="en-US" altLang="zh-CN" sz="1400" kern="0" dirty="0">
              <a:latin typeface="+mj-ea"/>
              <a:ea typeface="+mj-ea"/>
            </a:endParaRPr>
          </a:p>
          <a:p>
            <a:pPr marL="576000" indent="-342900">
              <a:lnSpc>
                <a:spcPct val="150000"/>
              </a:lnSpc>
              <a:buClr>
                <a:srgbClr val="C00000"/>
              </a:buClr>
              <a:buFont typeface="Wingdings" pitchFamily="2" charset="2"/>
              <a:buChar char="Ø"/>
              <a:defRPr/>
            </a:pPr>
            <a:r>
              <a:rPr lang="zh-CN" altLang="en-US" sz="1400" kern="0" dirty="0">
                <a:latin typeface="+mj-ea"/>
                <a:ea typeface="+mj-ea"/>
              </a:rPr>
              <a:t>物理安全技术包括防盗、防火、防静电、防雷击、防信息泄露以及物理隔离等安全技术；基于物理环境的容灾技术和物理隔离技术也属于物理安全技术范畴。</a:t>
            </a:r>
            <a:endParaRPr lang="en-US" altLang="zh-CN" sz="1400" kern="0" dirty="0">
              <a:latin typeface="+mj-ea"/>
              <a:ea typeface="+mj-ea"/>
            </a:endParaRPr>
          </a:p>
          <a:p>
            <a:pPr marL="576000" indent="-342900">
              <a:lnSpc>
                <a:spcPct val="150000"/>
              </a:lnSpc>
              <a:buClr>
                <a:srgbClr val="C00000"/>
              </a:buClr>
              <a:buFont typeface="Wingdings" pitchFamily="2" charset="2"/>
              <a:buChar char="Ø"/>
              <a:defRPr/>
            </a:pPr>
            <a:r>
              <a:rPr lang="zh-CN" altLang="en-US" sz="1400" kern="0" dirty="0">
                <a:latin typeface="+mj-ea"/>
                <a:ea typeface="+mj-ea"/>
              </a:rPr>
              <a:t>物理安全是信息安全的必要前提，如果不能保证信息系统的物理安全，其它一切安全内容均没有意义。</a:t>
            </a:r>
            <a:endParaRPr lang="en-US" altLang="zh-CN" sz="1400" kern="0" dirty="0">
              <a:latin typeface="+mj-ea"/>
              <a:ea typeface="+mj-ea"/>
            </a:endParaRPr>
          </a:p>
          <a:p>
            <a:pPr marL="342900" indent="-342900">
              <a:lnSpc>
                <a:spcPct val="150000"/>
              </a:lnSpc>
              <a:buClr>
                <a:srgbClr val="C00000"/>
              </a:buClr>
              <a:buFont typeface="Wingdings" pitchFamily="2" charset="2"/>
              <a:buChar char="n"/>
              <a:defRPr/>
            </a:pPr>
            <a:endParaRPr lang="en-US" altLang="zh-CN" sz="1600" b="1" kern="0" dirty="0">
              <a:latin typeface="+mj-ea"/>
              <a:ea typeface="+mj-ea"/>
            </a:endParaRPr>
          </a:p>
          <a:p>
            <a:pPr marL="342900" indent="-342900">
              <a:lnSpc>
                <a:spcPct val="150000"/>
              </a:lnSpc>
              <a:buClr>
                <a:srgbClr val="C00000"/>
              </a:buClr>
              <a:buFont typeface="Wingdings" pitchFamily="2" charset="2"/>
              <a:buChar char="n"/>
              <a:defRPr/>
            </a:pPr>
            <a:endParaRPr lang="en-US" altLang="zh-CN" sz="1600" b="1" kern="0" dirty="0">
              <a:latin typeface="+mj-ea"/>
              <a:ea typeface="+mj-ea"/>
            </a:endParaRPr>
          </a:p>
          <a:p>
            <a:pPr marL="342900" indent="-342900">
              <a:lnSpc>
                <a:spcPct val="150000"/>
              </a:lnSpc>
              <a:buClr>
                <a:srgbClr val="C00000"/>
              </a:buClr>
              <a:buFont typeface="Wingdings" pitchFamily="2" charset="2"/>
              <a:buChar char="n"/>
              <a:defRPr/>
            </a:pPr>
            <a:endParaRPr lang="en-US" altLang="zh-CN" sz="1600" kern="0" dirty="0">
              <a:latin typeface="+mj-ea"/>
              <a:ea typeface="+mj-ea"/>
            </a:endParaRPr>
          </a:p>
        </p:txBody>
      </p:sp>
    </p:spTree>
  </p:cSld>
  <p:clrMapOvr>
    <a:masterClrMapping/>
  </p:clrMapOvr>
  <p:transition spd="med">
    <p:randomBar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71D441D3-22DE-4131-8059-1E08B04E50EC}"/>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2998E712-4C58-4231-9F65-724C326B0FA3}"/>
              </a:ext>
            </a:extLst>
          </p:cNvPr>
          <p:cNvSpPr>
            <a:spLocks noChangeArrowheads="1"/>
          </p:cNvSpPr>
          <p:nvPr/>
        </p:nvSpPr>
        <p:spPr bwMode="auto">
          <a:xfrm>
            <a:off x="214282" y="642924"/>
            <a:ext cx="473238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3.3.3 </a:t>
            </a:r>
            <a:r>
              <a:rPr lang="zh-CN" altLang="en-US" sz="2000" b="1" dirty="0">
                <a:solidFill>
                  <a:srgbClr val="C00000"/>
                </a:solidFill>
                <a:effectLst>
                  <a:reflection blurRad="6350" stA="50000" endA="300" endPos="50000" dist="60007" dir="5400000" sy="-100000" algn="bl" rotWithShape="0"/>
                </a:effectLst>
                <a:latin typeface="+mj-ea"/>
                <a:ea typeface="+mj-ea"/>
              </a:rPr>
              <a:t>面向应用的层次信息安全体系结构</a:t>
            </a:r>
          </a:p>
        </p:txBody>
      </p:sp>
      <p:sp>
        <p:nvSpPr>
          <p:cNvPr id="33" name="内容占位符 2">
            <a:extLst>
              <a:ext uri="{FF2B5EF4-FFF2-40B4-BE49-F238E27FC236}">
                <a16:creationId xmlns:a16="http://schemas.microsoft.com/office/drawing/2014/main" id="{1CD2A69A-C0E9-40BF-AD36-8CB17132ED6C}"/>
              </a:ext>
            </a:extLst>
          </p:cNvPr>
          <p:cNvSpPr txBox="1">
            <a:spLocks/>
          </p:cNvSpPr>
          <p:nvPr/>
        </p:nvSpPr>
        <p:spPr bwMode="auto">
          <a:xfrm>
            <a:off x="357188" y="1214438"/>
            <a:ext cx="8358187" cy="3071812"/>
          </a:xfrm>
          <a:prstGeom prst="rect">
            <a:avLst/>
          </a:prstGeom>
          <a:noFill/>
          <a:ln w="9525">
            <a:noFill/>
            <a:miter lim="800000"/>
            <a:headEnd/>
            <a:tailEnd/>
          </a:ln>
        </p:spPr>
        <p:txBody>
          <a:bodyPr/>
          <a:lstStyle/>
          <a:p>
            <a:pPr marL="342900" indent="-342900">
              <a:lnSpc>
                <a:spcPct val="150000"/>
              </a:lnSpc>
              <a:buClr>
                <a:srgbClr val="C00000"/>
              </a:buClr>
              <a:buFont typeface="Wingdings" pitchFamily="2" charset="2"/>
              <a:buChar char="n"/>
              <a:defRPr/>
            </a:pPr>
            <a:r>
              <a:rPr lang="zh-CN" altLang="en-US" sz="1600" b="1" kern="0" dirty="0">
                <a:solidFill>
                  <a:srgbClr val="FF0000"/>
                </a:solidFill>
                <a:latin typeface="+mj-ea"/>
                <a:ea typeface="+mj-ea"/>
              </a:rPr>
              <a:t>运行安全</a:t>
            </a:r>
            <a:endParaRPr lang="en-US" altLang="zh-CN" sz="1600" b="1" kern="0" dirty="0">
              <a:solidFill>
                <a:srgbClr val="FF0000"/>
              </a:solidFill>
              <a:latin typeface="+mj-ea"/>
              <a:ea typeface="+mj-ea"/>
            </a:endParaRPr>
          </a:p>
          <a:p>
            <a:pPr marL="576000" indent="-342900">
              <a:lnSpc>
                <a:spcPct val="150000"/>
              </a:lnSpc>
              <a:buClr>
                <a:srgbClr val="C00000"/>
              </a:buClr>
              <a:buFont typeface="Wingdings" pitchFamily="2" charset="2"/>
              <a:buChar char="Ø"/>
              <a:defRPr/>
            </a:pPr>
            <a:r>
              <a:rPr lang="zh-CN" altLang="en-US" sz="1400" kern="0" dirty="0">
                <a:latin typeface="+mj-ea"/>
                <a:ea typeface="+mj-ea"/>
              </a:rPr>
              <a:t>是指网络及信息系统运行过程和运行状态的保护，主要涉及网络与信息系统的真实性、可控性、可用性等。</a:t>
            </a:r>
            <a:endParaRPr lang="en-US" altLang="zh-CN" sz="1400" kern="0" dirty="0">
              <a:latin typeface="+mj-ea"/>
              <a:ea typeface="+mj-ea"/>
            </a:endParaRPr>
          </a:p>
          <a:p>
            <a:pPr marL="576000" indent="-342900">
              <a:lnSpc>
                <a:spcPct val="150000"/>
              </a:lnSpc>
              <a:buClr>
                <a:srgbClr val="C00000"/>
              </a:buClr>
              <a:buFont typeface="Wingdings" pitchFamily="2" charset="2"/>
              <a:buChar char="Ø"/>
              <a:defRPr/>
            </a:pPr>
            <a:r>
              <a:rPr lang="zh-CN" altLang="en-US" sz="1400" kern="0" dirty="0">
                <a:latin typeface="+mj-ea"/>
                <a:ea typeface="+mj-ea"/>
              </a:rPr>
              <a:t>运行安全主要安全技术包括：身份认证、访问控制、防火墙、入侵检测、恶意代码防治、容侵技术、动态隔离、取证技术、安全审计、预警技术以及操作系统安全等等。</a:t>
            </a:r>
            <a:endParaRPr lang="en-US" altLang="zh-CN" sz="1600" kern="0" dirty="0">
              <a:latin typeface="+mj-ea"/>
              <a:ea typeface="+mj-ea"/>
            </a:endParaRPr>
          </a:p>
          <a:p>
            <a:pPr marL="342900" indent="-342900">
              <a:lnSpc>
                <a:spcPct val="150000"/>
              </a:lnSpc>
              <a:buClr>
                <a:srgbClr val="C00000"/>
              </a:buClr>
              <a:buFont typeface="Wingdings" pitchFamily="2" charset="2"/>
              <a:buChar char="n"/>
              <a:defRPr/>
            </a:pPr>
            <a:r>
              <a:rPr lang="zh-CN" altLang="en-US" sz="1600" b="1" kern="0" dirty="0">
                <a:solidFill>
                  <a:srgbClr val="FF0000"/>
                </a:solidFill>
                <a:latin typeface="+mj-ea"/>
                <a:ea typeface="+mj-ea"/>
              </a:rPr>
              <a:t>数据安全</a:t>
            </a:r>
            <a:endParaRPr lang="en-US" altLang="zh-CN" sz="1600" b="1" kern="0" dirty="0">
              <a:solidFill>
                <a:srgbClr val="FF0000"/>
              </a:solidFill>
              <a:latin typeface="+mj-ea"/>
              <a:ea typeface="+mj-ea"/>
            </a:endParaRPr>
          </a:p>
          <a:p>
            <a:pPr marL="576000" indent="-342900">
              <a:lnSpc>
                <a:spcPct val="150000"/>
              </a:lnSpc>
              <a:buClr>
                <a:srgbClr val="C00000"/>
              </a:buClr>
              <a:buFont typeface="Wingdings" pitchFamily="2" charset="2"/>
              <a:buChar char="Ø"/>
              <a:defRPr/>
            </a:pPr>
            <a:r>
              <a:rPr lang="zh-CN" altLang="en-US" sz="1400" kern="0" dirty="0">
                <a:latin typeface="+mj-ea"/>
                <a:ea typeface="+mj-ea"/>
              </a:rPr>
              <a:t>是主要关注信息系统中存储、传输和处理过程中的数据的安全性及数据备份和恢复，避免非法冒充、窃取、篡改、抵赖现象，主要涉及信息的机密性、真实性、完整性、不可否认性等。</a:t>
            </a:r>
            <a:endParaRPr lang="en-US" altLang="zh-CN" sz="1400" kern="0" dirty="0">
              <a:latin typeface="+mj-ea"/>
              <a:ea typeface="+mj-ea"/>
            </a:endParaRPr>
          </a:p>
          <a:p>
            <a:pPr marL="576000" indent="-342900">
              <a:lnSpc>
                <a:spcPct val="150000"/>
              </a:lnSpc>
              <a:buClr>
                <a:srgbClr val="C00000"/>
              </a:buClr>
              <a:buFont typeface="Wingdings" pitchFamily="2" charset="2"/>
              <a:buChar char="Ø"/>
              <a:defRPr/>
            </a:pPr>
            <a:r>
              <a:rPr lang="zh-CN" altLang="en-US" sz="1400" kern="0" dirty="0">
                <a:latin typeface="+mj-ea"/>
                <a:ea typeface="+mj-ea"/>
              </a:rPr>
              <a:t>数据安全技术主要包括：认证、鉴别、完整性检验、数字签名、</a:t>
            </a:r>
            <a:r>
              <a:rPr lang="en-US" altLang="zh-CN" sz="1400" kern="0" dirty="0">
                <a:latin typeface="+mj-ea"/>
                <a:ea typeface="+mj-ea"/>
              </a:rPr>
              <a:t>PKI</a:t>
            </a:r>
            <a:r>
              <a:rPr lang="zh-CN" altLang="en-US" sz="1400" kern="0" dirty="0">
                <a:latin typeface="+mj-ea"/>
                <a:ea typeface="+mj-ea"/>
              </a:rPr>
              <a:t>、安全传输协议即</a:t>
            </a:r>
            <a:r>
              <a:rPr lang="en-US" altLang="zh-CN" sz="1400" kern="0" dirty="0">
                <a:latin typeface="+mj-ea"/>
                <a:ea typeface="+mj-ea"/>
              </a:rPr>
              <a:t>VPN</a:t>
            </a:r>
            <a:r>
              <a:rPr lang="zh-CN" altLang="en-US" sz="1400" kern="0" dirty="0">
                <a:latin typeface="+mj-ea"/>
                <a:ea typeface="+mj-ea"/>
              </a:rPr>
              <a:t>等技术</a:t>
            </a:r>
            <a:endParaRPr lang="en-US" altLang="zh-CN" sz="1400" kern="0" dirty="0">
              <a:latin typeface="+mj-ea"/>
              <a:ea typeface="+mj-ea"/>
            </a:endParaRPr>
          </a:p>
        </p:txBody>
      </p:sp>
    </p:spTree>
  </p:cSld>
  <p:clrMapOvr>
    <a:masterClrMapping/>
  </p:clrMapOvr>
  <p:transition spd="med">
    <p:randomBar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372AB046-E694-4F50-966D-B1B13CAFD9A3}"/>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7227966D-56C4-460C-87DE-FB77DF231DD9}"/>
              </a:ext>
            </a:extLst>
          </p:cNvPr>
          <p:cNvSpPr>
            <a:spLocks noChangeArrowheads="1"/>
          </p:cNvSpPr>
          <p:nvPr/>
        </p:nvSpPr>
        <p:spPr bwMode="auto">
          <a:xfrm>
            <a:off x="214282" y="642924"/>
            <a:ext cx="4732386"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3.3.3 </a:t>
            </a:r>
            <a:r>
              <a:rPr lang="zh-CN" altLang="en-US" sz="2000" b="1" dirty="0">
                <a:solidFill>
                  <a:srgbClr val="C00000"/>
                </a:solidFill>
                <a:effectLst>
                  <a:reflection blurRad="6350" stA="50000" endA="300" endPos="50000" dist="60007" dir="5400000" sy="-100000" algn="bl" rotWithShape="0"/>
                </a:effectLst>
                <a:latin typeface="+mj-ea"/>
                <a:ea typeface="+mj-ea"/>
              </a:rPr>
              <a:t>面向应用的层次信息安全体系结构</a:t>
            </a:r>
          </a:p>
        </p:txBody>
      </p:sp>
      <p:sp>
        <p:nvSpPr>
          <p:cNvPr id="33" name="内容占位符 2">
            <a:extLst>
              <a:ext uri="{FF2B5EF4-FFF2-40B4-BE49-F238E27FC236}">
                <a16:creationId xmlns:a16="http://schemas.microsoft.com/office/drawing/2014/main" id="{DD6AAB55-58EC-45C4-A739-B03278F1336C}"/>
              </a:ext>
            </a:extLst>
          </p:cNvPr>
          <p:cNvSpPr txBox="1">
            <a:spLocks/>
          </p:cNvSpPr>
          <p:nvPr/>
        </p:nvSpPr>
        <p:spPr bwMode="auto">
          <a:xfrm>
            <a:off x="357188" y="1285875"/>
            <a:ext cx="8501062" cy="3071813"/>
          </a:xfrm>
          <a:prstGeom prst="rect">
            <a:avLst/>
          </a:prstGeom>
          <a:noFill/>
          <a:ln w="9525">
            <a:noFill/>
            <a:miter lim="800000"/>
            <a:headEnd/>
            <a:tailEnd/>
          </a:ln>
        </p:spPr>
        <p:txBody>
          <a:bodyPr/>
          <a:lstStyle/>
          <a:p>
            <a:pPr marL="342900" indent="-342900">
              <a:lnSpc>
                <a:spcPct val="150000"/>
              </a:lnSpc>
              <a:buClr>
                <a:srgbClr val="C00000"/>
              </a:buClr>
              <a:buFont typeface="Wingdings" pitchFamily="2" charset="2"/>
              <a:buChar char="n"/>
              <a:defRPr/>
            </a:pPr>
            <a:r>
              <a:rPr lang="zh-CN" altLang="en-US" sz="1600" b="1" kern="0" dirty="0">
                <a:solidFill>
                  <a:srgbClr val="FF0000"/>
                </a:solidFill>
                <a:latin typeface="+mj-ea"/>
                <a:ea typeface="+mj-ea"/>
              </a:rPr>
              <a:t>内容安全</a:t>
            </a:r>
            <a:endParaRPr lang="en-US" altLang="zh-CN" sz="1600" b="1" kern="0" dirty="0">
              <a:solidFill>
                <a:srgbClr val="FF0000"/>
              </a:solidFill>
              <a:latin typeface="+mj-ea"/>
              <a:ea typeface="+mj-ea"/>
            </a:endParaRPr>
          </a:p>
          <a:p>
            <a:pPr marL="576000" indent="-342900">
              <a:lnSpc>
                <a:spcPct val="150000"/>
              </a:lnSpc>
              <a:buClr>
                <a:srgbClr val="C00000"/>
              </a:buClr>
              <a:buFont typeface="Wingdings" pitchFamily="2" charset="2"/>
              <a:buChar char="Ø"/>
              <a:defRPr/>
            </a:pPr>
            <a:r>
              <a:rPr lang="zh-CN" altLang="en-US" sz="1400" kern="0" dirty="0">
                <a:latin typeface="+mj-ea"/>
                <a:ea typeface="+mj-ea"/>
              </a:rPr>
              <a:t>主要包括两方面内容，一方面指合法的信息内容加以安全保护；另一方面是指针对非法信息内容实施监管。</a:t>
            </a:r>
            <a:endParaRPr lang="en-US" altLang="zh-CN" sz="1400" kern="0" dirty="0">
              <a:latin typeface="+mj-ea"/>
              <a:ea typeface="+mj-ea"/>
            </a:endParaRPr>
          </a:p>
          <a:p>
            <a:pPr marL="576000" indent="-342900">
              <a:lnSpc>
                <a:spcPct val="150000"/>
              </a:lnSpc>
              <a:buClr>
                <a:srgbClr val="C00000"/>
              </a:buClr>
              <a:buFont typeface="Wingdings" pitchFamily="2" charset="2"/>
              <a:buChar char="Ø"/>
              <a:defRPr/>
            </a:pPr>
            <a:r>
              <a:rPr lang="zh-CN" altLang="en-US" sz="1400" kern="0" dirty="0">
                <a:latin typeface="+mj-ea"/>
                <a:ea typeface="+mj-ea"/>
              </a:rPr>
              <a:t>内容安全的难点在于如何有效地理解信息内容，甄别其合法性，涉及的主要技术包括文本识别、图像识别、音视频识别、隐写术、数字水印以及内容过滤等。</a:t>
            </a:r>
            <a:endParaRPr lang="en-US" altLang="zh-CN" sz="1600" kern="0" dirty="0">
              <a:latin typeface="+mj-ea"/>
              <a:ea typeface="+mj-ea"/>
            </a:endParaRPr>
          </a:p>
          <a:p>
            <a:pPr marL="342900" indent="-342900">
              <a:lnSpc>
                <a:spcPct val="150000"/>
              </a:lnSpc>
              <a:buClr>
                <a:srgbClr val="C00000"/>
              </a:buClr>
              <a:buFont typeface="Wingdings" pitchFamily="2" charset="2"/>
              <a:buChar char="n"/>
              <a:defRPr/>
            </a:pPr>
            <a:r>
              <a:rPr lang="zh-CN" altLang="en-US" sz="1600" b="1" kern="0" dirty="0">
                <a:solidFill>
                  <a:srgbClr val="FF0000"/>
                </a:solidFill>
                <a:latin typeface="+mj-ea"/>
                <a:ea typeface="+mj-ea"/>
              </a:rPr>
              <a:t>管理安全</a:t>
            </a:r>
            <a:endParaRPr lang="en-US" altLang="zh-CN" sz="1600" b="1" kern="0" dirty="0">
              <a:solidFill>
                <a:srgbClr val="FF0000"/>
              </a:solidFill>
              <a:latin typeface="+mj-ea"/>
              <a:ea typeface="+mj-ea"/>
            </a:endParaRPr>
          </a:p>
          <a:p>
            <a:pPr marL="576000" indent="-342900">
              <a:lnSpc>
                <a:spcPct val="150000"/>
              </a:lnSpc>
              <a:buClr>
                <a:srgbClr val="C00000"/>
              </a:buClr>
              <a:buFont typeface="Wingdings" pitchFamily="2" charset="2"/>
              <a:buChar char="Ø"/>
              <a:defRPr/>
            </a:pPr>
            <a:r>
              <a:rPr lang="zh-CN" altLang="en-US" sz="1400" kern="0" dirty="0">
                <a:latin typeface="+mj-ea"/>
                <a:ea typeface="+mj-ea"/>
              </a:rPr>
              <a:t>指通过对人的信息行为的规范和约束，实现对信息机密性、完整性、可用性及可控性的保护。</a:t>
            </a:r>
            <a:endParaRPr lang="en-US" altLang="zh-CN" sz="1400" kern="0" dirty="0">
              <a:latin typeface="+mj-ea"/>
              <a:ea typeface="+mj-ea"/>
            </a:endParaRPr>
          </a:p>
          <a:p>
            <a:pPr marL="576000" indent="-342900">
              <a:lnSpc>
                <a:spcPct val="150000"/>
              </a:lnSpc>
              <a:buClr>
                <a:srgbClr val="C00000"/>
              </a:buClr>
              <a:buFont typeface="Wingdings" pitchFamily="2" charset="2"/>
              <a:buChar char="Ø"/>
              <a:defRPr/>
            </a:pPr>
            <a:r>
              <a:rPr lang="zh-CN" altLang="en-US" sz="1400" kern="0" dirty="0">
                <a:latin typeface="+mj-ea"/>
                <a:ea typeface="+mj-ea"/>
              </a:rPr>
              <a:t>管理安全主要涉及的内容包括安全策略、法律法规、安全组织、安全教育等。</a:t>
            </a:r>
            <a:endParaRPr lang="en-US" altLang="zh-CN" sz="1400" kern="0" dirty="0">
              <a:latin typeface="+mj-ea"/>
              <a:ea typeface="+mj-ea"/>
            </a:endParaRPr>
          </a:p>
        </p:txBody>
      </p:sp>
    </p:spTree>
  </p:cSld>
  <p:clrMapOvr>
    <a:masterClrMapping/>
  </p:clrMapOvr>
  <p:transition spd="med">
    <p:randomBar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D9950DEF-9870-4E1C-BE04-0FCB5B86FBB6}"/>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3191DE18-A626-4179-9FBB-EC2B0EAB4A16}"/>
              </a:ext>
            </a:extLst>
          </p:cNvPr>
          <p:cNvSpPr>
            <a:spLocks noChangeArrowheads="1"/>
          </p:cNvSpPr>
          <p:nvPr/>
        </p:nvSpPr>
        <p:spPr bwMode="auto">
          <a:xfrm>
            <a:off x="214282" y="571486"/>
            <a:ext cx="4669869"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3.3.3 </a:t>
            </a:r>
            <a:r>
              <a:rPr lang="zh-CN" altLang="en-US" sz="2000" b="1" dirty="0">
                <a:solidFill>
                  <a:srgbClr val="C00000"/>
                </a:solidFill>
                <a:effectLst>
                  <a:reflection blurRad="6350" stA="50000" endA="300" endPos="50000" dist="60007" dir="5400000" sy="-100000" algn="bl" rotWithShape="0"/>
                </a:effectLst>
                <a:latin typeface="+mj-ea"/>
                <a:ea typeface="+mj-ea"/>
              </a:rPr>
              <a:t>面向网络的</a:t>
            </a:r>
            <a:r>
              <a:rPr lang="en-US" altLang="zh-CN" sz="2000" b="1" dirty="0">
                <a:solidFill>
                  <a:srgbClr val="C00000"/>
                </a:solidFill>
                <a:effectLst>
                  <a:reflection blurRad="6350" stA="50000" endA="300" endPos="50000" dist="60007" dir="5400000" sy="-100000" algn="bl" rotWithShape="0"/>
                </a:effectLst>
                <a:latin typeface="+mj-ea"/>
                <a:ea typeface="+mj-ea"/>
              </a:rPr>
              <a:t>OSI</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grpSp>
        <p:nvGrpSpPr>
          <p:cNvPr id="46084" name="组合 108">
            <a:extLst>
              <a:ext uri="{FF2B5EF4-FFF2-40B4-BE49-F238E27FC236}">
                <a16:creationId xmlns:a16="http://schemas.microsoft.com/office/drawing/2014/main" id="{2EDFE21B-5FDF-435B-BB04-0F20218C8B65}"/>
              </a:ext>
            </a:extLst>
          </p:cNvPr>
          <p:cNvGrpSpPr>
            <a:grpSpLocks/>
          </p:cNvGrpSpPr>
          <p:nvPr/>
        </p:nvGrpSpPr>
        <p:grpSpPr bwMode="auto">
          <a:xfrm>
            <a:off x="2214563" y="1071563"/>
            <a:ext cx="4929187" cy="3071812"/>
            <a:chOff x="2214546" y="1071552"/>
            <a:chExt cx="4929222" cy="3071834"/>
          </a:xfrm>
        </p:grpSpPr>
        <p:grpSp>
          <p:nvGrpSpPr>
            <p:cNvPr id="46086" name="组合 92">
              <a:extLst>
                <a:ext uri="{FF2B5EF4-FFF2-40B4-BE49-F238E27FC236}">
                  <a16:creationId xmlns:a16="http://schemas.microsoft.com/office/drawing/2014/main" id="{9EA90E11-31CC-4FB6-848F-7C6ED562EE53}"/>
                </a:ext>
              </a:extLst>
            </p:cNvPr>
            <p:cNvGrpSpPr>
              <a:grpSpLocks/>
            </p:cNvGrpSpPr>
            <p:nvPr/>
          </p:nvGrpSpPr>
          <p:grpSpPr bwMode="auto">
            <a:xfrm>
              <a:off x="2643174" y="1071552"/>
              <a:ext cx="4500594" cy="3071834"/>
              <a:chOff x="2714612" y="1000114"/>
              <a:chExt cx="4500594" cy="3071834"/>
            </a:xfrm>
          </p:grpSpPr>
          <p:grpSp>
            <p:nvGrpSpPr>
              <p:cNvPr id="46098" name="组合 84">
                <a:extLst>
                  <a:ext uri="{FF2B5EF4-FFF2-40B4-BE49-F238E27FC236}">
                    <a16:creationId xmlns:a16="http://schemas.microsoft.com/office/drawing/2014/main" id="{6B6F9C05-A070-42F2-97FD-2D27B53DA88B}"/>
                  </a:ext>
                </a:extLst>
              </p:cNvPr>
              <p:cNvGrpSpPr>
                <a:grpSpLocks/>
              </p:cNvGrpSpPr>
              <p:nvPr/>
            </p:nvGrpSpPr>
            <p:grpSpPr bwMode="auto">
              <a:xfrm>
                <a:off x="2714612" y="1000114"/>
                <a:ext cx="4500594" cy="3071834"/>
                <a:chOff x="2786050" y="1000114"/>
                <a:chExt cx="4500594" cy="3071834"/>
              </a:xfrm>
            </p:grpSpPr>
            <p:cxnSp>
              <p:nvCxnSpPr>
                <p:cNvPr id="46108" name="直接连接符 34">
                  <a:extLst>
                    <a:ext uri="{FF2B5EF4-FFF2-40B4-BE49-F238E27FC236}">
                      <a16:creationId xmlns:a16="http://schemas.microsoft.com/office/drawing/2014/main" id="{68CD294F-4BAD-4B15-A272-CD42DB391980}"/>
                    </a:ext>
                  </a:extLst>
                </p:cNvPr>
                <p:cNvCxnSpPr>
                  <a:cxnSpLocks noChangeShapeType="1"/>
                </p:cNvCxnSpPr>
                <p:nvPr/>
              </p:nvCxnSpPr>
              <p:spPr bwMode="auto">
                <a:xfrm>
                  <a:off x="4429124" y="2571750"/>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109" name="直接连接符 36">
                  <a:extLst>
                    <a:ext uri="{FF2B5EF4-FFF2-40B4-BE49-F238E27FC236}">
                      <a16:creationId xmlns:a16="http://schemas.microsoft.com/office/drawing/2014/main" id="{1C51DA82-15D3-4722-9F3E-2343427337EC}"/>
                    </a:ext>
                  </a:extLst>
                </p:cNvPr>
                <p:cNvCxnSpPr>
                  <a:cxnSpLocks noChangeShapeType="1"/>
                </p:cNvCxnSpPr>
                <p:nvPr/>
              </p:nvCxnSpPr>
              <p:spPr bwMode="auto">
                <a:xfrm>
                  <a:off x="4429124" y="2357436"/>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110" name="直接连接符 37">
                  <a:extLst>
                    <a:ext uri="{FF2B5EF4-FFF2-40B4-BE49-F238E27FC236}">
                      <a16:creationId xmlns:a16="http://schemas.microsoft.com/office/drawing/2014/main" id="{AB058706-5BAE-4A5B-B57C-80A219EC02A6}"/>
                    </a:ext>
                  </a:extLst>
                </p:cNvPr>
                <p:cNvCxnSpPr>
                  <a:cxnSpLocks noChangeShapeType="1"/>
                </p:cNvCxnSpPr>
                <p:nvPr/>
              </p:nvCxnSpPr>
              <p:spPr bwMode="auto">
                <a:xfrm>
                  <a:off x="4429124" y="2143122"/>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111" name="直接连接符 38">
                  <a:extLst>
                    <a:ext uri="{FF2B5EF4-FFF2-40B4-BE49-F238E27FC236}">
                      <a16:creationId xmlns:a16="http://schemas.microsoft.com/office/drawing/2014/main" id="{B6B29053-AE7D-499B-B364-79FEE50AC8FF}"/>
                    </a:ext>
                  </a:extLst>
                </p:cNvPr>
                <p:cNvCxnSpPr>
                  <a:cxnSpLocks noChangeShapeType="1"/>
                </p:cNvCxnSpPr>
                <p:nvPr/>
              </p:nvCxnSpPr>
              <p:spPr bwMode="auto">
                <a:xfrm>
                  <a:off x="4429124" y="1928808"/>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112" name="直接连接符 39">
                  <a:extLst>
                    <a:ext uri="{FF2B5EF4-FFF2-40B4-BE49-F238E27FC236}">
                      <a16:creationId xmlns:a16="http://schemas.microsoft.com/office/drawing/2014/main" id="{F1D8B344-E9D6-4CEA-8147-2C4547C777DB}"/>
                    </a:ext>
                  </a:extLst>
                </p:cNvPr>
                <p:cNvCxnSpPr>
                  <a:cxnSpLocks noChangeShapeType="1"/>
                </p:cNvCxnSpPr>
                <p:nvPr/>
              </p:nvCxnSpPr>
              <p:spPr bwMode="auto">
                <a:xfrm>
                  <a:off x="4429124" y="1714494"/>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113" name="直接连接符 40">
                  <a:extLst>
                    <a:ext uri="{FF2B5EF4-FFF2-40B4-BE49-F238E27FC236}">
                      <a16:creationId xmlns:a16="http://schemas.microsoft.com/office/drawing/2014/main" id="{51A8B527-6F9D-4A64-92A9-C6736E1D7A73}"/>
                    </a:ext>
                  </a:extLst>
                </p:cNvPr>
                <p:cNvCxnSpPr>
                  <a:cxnSpLocks noChangeShapeType="1"/>
                </p:cNvCxnSpPr>
                <p:nvPr/>
              </p:nvCxnSpPr>
              <p:spPr bwMode="auto">
                <a:xfrm>
                  <a:off x="4429124" y="1500180"/>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114" name="直接连接符 41">
                  <a:extLst>
                    <a:ext uri="{FF2B5EF4-FFF2-40B4-BE49-F238E27FC236}">
                      <a16:creationId xmlns:a16="http://schemas.microsoft.com/office/drawing/2014/main" id="{5A848FED-3A5A-472A-9183-003D38D3DFCB}"/>
                    </a:ext>
                  </a:extLst>
                </p:cNvPr>
                <p:cNvCxnSpPr>
                  <a:cxnSpLocks noChangeShapeType="1"/>
                </p:cNvCxnSpPr>
                <p:nvPr/>
              </p:nvCxnSpPr>
              <p:spPr bwMode="auto">
                <a:xfrm>
                  <a:off x="4429124" y="1285866"/>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nvGrpSpPr>
                <p:cNvPr id="46115" name="组合 83">
                  <a:extLst>
                    <a:ext uri="{FF2B5EF4-FFF2-40B4-BE49-F238E27FC236}">
                      <a16:creationId xmlns:a16="http://schemas.microsoft.com/office/drawing/2014/main" id="{2EBC8CB7-2902-4067-9535-7B4BF9BC3051}"/>
                    </a:ext>
                  </a:extLst>
                </p:cNvPr>
                <p:cNvGrpSpPr>
                  <a:grpSpLocks/>
                </p:cNvGrpSpPr>
                <p:nvPr/>
              </p:nvGrpSpPr>
              <p:grpSpPr bwMode="auto">
                <a:xfrm>
                  <a:off x="2786050" y="1000114"/>
                  <a:ext cx="4500594" cy="3071834"/>
                  <a:chOff x="2786050" y="1000114"/>
                  <a:chExt cx="4500594" cy="3071834"/>
                </a:xfrm>
              </p:grpSpPr>
              <p:grpSp>
                <p:nvGrpSpPr>
                  <p:cNvPr id="46116" name="组合 82">
                    <a:extLst>
                      <a:ext uri="{FF2B5EF4-FFF2-40B4-BE49-F238E27FC236}">
                        <a16:creationId xmlns:a16="http://schemas.microsoft.com/office/drawing/2014/main" id="{16A301E2-64A2-4D46-B456-78197D6A15F3}"/>
                      </a:ext>
                    </a:extLst>
                  </p:cNvPr>
                  <p:cNvGrpSpPr>
                    <a:grpSpLocks/>
                  </p:cNvGrpSpPr>
                  <p:nvPr/>
                </p:nvGrpSpPr>
                <p:grpSpPr bwMode="auto">
                  <a:xfrm>
                    <a:off x="2786050" y="1000114"/>
                    <a:ext cx="4500594" cy="3071834"/>
                    <a:chOff x="2786050" y="1000114"/>
                    <a:chExt cx="4500594" cy="3071834"/>
                  </a:xfrm>
                </p:grpSpPr>
                <p:grpSp>
                  <p:nvGrpSpPr>
                    <p:cNvPr id="46125" name="组合 31">
                      <a:extLst>
                        <a:ext uri="{FF2B5EF4-FFF2-40B4-BE49-F238E27FC236}">
                          <a16:creationId xmlns:a16="http://schemas.microsoft.com/office/drawing/2014/main" id="{21B01347-B01F-4953-A635-6E3F2C6B7286}"/>
                        </a:ext>
                      </a:extLst>
                    </p:cNvPr>
                    <p:cNvGrpSpPr>
                      <a:grpSpLocks/>
                    </p:cNvGrpSpPr>
                    <p:nvPr/>
                  </p:nvGrpSpPr>
                  <p:grpSpPr bwMode="auto">
                    <a:xfrm>
                      <a:off x="2786050" y="1000126"/>
                      <a:ext cx="4500594" cy="3071822"/>
                      <a:chOff x="2786050" y="1000126"/>
                      <a:chExt cx="4500594" cy="3071822"/>
                    </a:xfrm>
                  </p:grpSpPr>
                  <p:cxnSp>
                    <p:nvCxnSpPr>
                      <p:cNvPr id="46143" name="直接连接符 60">
                        <a:extLst>
                          <a:ext uri="{FF2B5EF4-FFF2-40B4-BE49-F238E27FC236}">
                            <a16:creationId xmlns:a16="http://schemas.microsoft.com/office/drawing/2014/main" id="{880EF9A6-833B-46D8-A259-0B9AA857D6F3}"/>
                          </a:ext>
                        </a:extLst>
                      </p:cNvPr>
                      <p:cNvCxnSpPr>
                        <a:cxnSpLocks noChangeShapeType="1"/>
                      </p:cNvCxnSpPr>
                      <p:nvPr/>
                    </p:nvCxnSpPr>
                    <p:spPr bwMode="auto">
                      <a:xfrm rot="10800000" flipV="1">
                        <a:off x="2786050" y="2857502"/>
                        <a:ext cx="1644648" cy="1214446"/>
                      </a:xfrm>
                      <a:prstGeom prst="line">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6144" name="直接连接符 60">
                        <a:extLst>
                          <a:ext uri="{FF2B5EF4-FFF2-40B4-BE49-F238E27FC236}">
                            <a16:creationId xmlns:a16="http://schemas.microsoft.com/office/drawing/2014/main" id="{5517E840-E67B-40DE-80E1-98DF7583EA04}"/>
                          </a:ext>
                        </a:extLst>
                      </p:cNvPr>
                      <p:cNvCxnSpPr>
                        <a:cxnSpLocks noChangeShapeType="1"/>
                      </p:cNvCxnSpPr>
                      <p:nvPr/>
                    </p:nvCxnSpPr>
                    <p:spPr bwMode="auto">
                      <a:xfrm>
                        <a:off x="4429124" y="2857502"/>
                        <a:ext cx="2857520" cy="1588"/>
                      </a:xfrm>
                      <a:prstGeom prst="line">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6145" name="直接连接符 60">
                        <a:extLst>
                          <a:ext uri="{FF2B5EF4-FFF2-40B4-BE49-F238E27FC236}">
                            <a16:creationId xmlns:a16="http://schemas.microsoft.com/office/drawing/2014/main" id="{21C12197-C093-4C5C-AAEA-9E64BB5756B0}"/>
                          </a:ext>
                        </a:extLst>
                      </p:cNvPr>
                      <p:cNvCxnSpPr>
                        <a:cxnSpLocks noChangeShapeType="1"/>
                      </p:cNvCxnSpPr>
                      <p:nvPr/>
                    </p:nvCxnSpPr>
                    <p:spPr bwMode="auto">
                      <a:xfrm rot="5400000" flipH="1" flipV="1">
                        <a:off x="3500833" y="1928417"/>
                        <a:ext cx="1857377" cy="795"/>
                      </a:xfrm>
                      <a:prstGeom prst="line">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46126" name="组合 55">
                      <a:extLst>
                        <a:ext uri="{FF2B5EF4-FFF2-40B4-BE49-F238E27FC236}">
                          <a16:creationId xmlns:a16="http://schemas.microsoft.com/office/drawing/2014/main" id="{FEDAFE5F-3B9C-420E-9577-DAEDB5CDC4F7}"/>
                        </a:ext>
                      </a:extLst>
                    </p:cNvPr>
                    <p:cNvGrpSpPr>
                      <a:grpSpLocks/>
                    </p:cNvGrpSpPr>
                    <p:nvPr/>
                  </p:nvGrpSpPr>
                  <p:grpSpPr bwMode="auto">
                    <a:xfrm>
                      <a:off x="4572000" y="1214428"/>
                      <a:ext cx="500066" cy="1428760"/>
                      <a:chOff x="4572000" y="1214428"/>
                      <a:chExt cx="500066" cy="1428760"/>
                    </a:xfrm>
                  </p:grpSpPr>
                  <p:sp>
                    <p:nvSpPr>
                      <p:cNvPr id="24" name="矩形 23">
                        <a:extLst>
                          <a:ext uri="{FF2B5EF4-FFF2-40B4-BE49-F238E27FC236}">
                            <a16:creationId xmlns:a16="http://schemas.microsoft.com/office/drawing/2014/main" id="{0D3F23AC-6E18-4698-9FBE-C22D1F88AEF6}"/>
                          </a:ext>
                        </a:extLst>
                      </p:cNvPr>
                      <p:cNvSpPr/>
                      <p:nvPr/>
                    </p:nvSpPr>
                    <p:spPr bwMode="auto">
                      <a:xfrm>
                        <a:off x="4572000" y="2500312"/>
                        <a:ext cx="500067"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物理层</a:t>
                        </a:r>
                      </a:p>
                    </p:txBody>
                  </p:sp>
                  <p:sp>
                    <p:nvSpPr>
                      <p:cNvPr id="50" name="矩形 49">
                        <a:extLst>
                          <a:ext uri="{FF2B5EF4-FFF2-40B4-BE49-F238E27FC236}">
                            <a16:creationId xmlns:a16="http://schemas.microsoft.com/office/drawing/2014/main" id="{E1486685-4F39-42D0-9E86-4C509AEB8BB9}"/>
                          </a:ext>
                        </a:extLst>
                      </p:cNvPr>
                      <p:cNvSpPr/>
                      <p:nvPr/>
                    </p:nvSpPr>
                    <p:spPr bwMode="auto">
                      <a:xfrm>
                        <a:off x="4572000" y="2285999"/>
                        <a:ext cx="500067"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链路层</a:t>
                        </a:r>
                      </a:p>
                    </p:txBody>
                  </p:sp>
                  <p:sp>
                    <p:nvSpPr>
                      <p:cNvPr id="51" name="矩形 50">
                        <a:extLst>
                          <a:ext uri="{FF2B5EF4-FFF2-40B4-BE49-F238E27FC236}">
                            <a16:creationId xmlns:a16="http://schemas.microsoft.com/office/drawing/2014/main" id="{8A05000A-5CD8-46C0-BA60-583230737819}"/>
                          </a:ext>
                        </a:extLst>
                      </p:cNvPr>
                      <p:cNvSpPr/>
                      <p:nvPr/>
                    </p:nvSpPr>
                    <p:spPr bwMode="auto">
                      <a:xfrm>
                        <a:off x="4572000" y="2071684"/>
                        <a:ext cx="500067"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网络层</a:t>
                        </a:r>
                      </a:p>
                    </p:txBody>
                  </p:sp>
                  <p:sp>
                    <p:nvSpPr>
                      <p:cNvPr id="52" name="矩形 51">
                        <a:extLst>
                          <a:ext uri="{FF2B5EF4-FFF2-40B4-BE49-F238E27FC236}">
                            <a16:creationId xmlns:a16="http://schemas.microsoft.com/office/drawing/2014/main" id="{1DE229D8-8ACB-46D6-904B-DD37ACCE986B}"/>
                          </a:ext>
                        </a:extLst>
                      </p:cNvPr>
                      <p:cNvSpPr/>
                      <p:nvPr/>
                    </p:nvSpPr>
                    <p:spPr bwMode="auto">
                      <a:xfrm>
                        <a:off x="4572000" y="1857371"/>
                        <a:ext cx="500067"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传输层</a:t>
                        </a:r>
                      </a:p>
                    </p:txBody>
                  </p:sp>
                  <p:sp>
                    <p:nvSpPr>
                      <p:cNvPr id="53" name="矩形 52">
                        <a:extLst>
                          <a:ext uri="{FF2B5EF4-FFF2-40B4-BE49-F238E27FC236}">
                            <a16:creationId xmlns:a16="http://schemas.microsoft.com/office/drawing/2014/main" id="{C9B05A8D-30D6-4479-B704-23F84E31CF0E}"/>
                          </a:ext>
                        </a:extLst>
                      </p:cNvPr>
                      <p:cNvSpPr/>
                      <p:nvPr/>
                    </p:nvSpPr>
                    <p:spPr bwMode="auto">
                      <a:xfrm>
                        <a:off x="4572000" y="1643056"/>
                        <a:ext cx="500067"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会话层</a:t>
                        </a:r>
                      </a:p>
                    </p:txBody>
                  </p:sp>
                  <p:sp>
                    <p:nvSpPr>
                      <p:cNvPr id="54" name="矩形 53">
                        <a:extLst>
                          <a:ext uri="{FF2B5EF4-FFF2-40B4-BE49-F238E27FC236}">
                            <a16:creationId xmlns:a16="http://schemas.microsoft.com/office/drawing/2014/main" id="{6374A624-147F-48F9-8EB4-7B1F072DF451}"/>
                          </a:ext>
                        </a:extLst>
                      </p:cNvPr>
                      <p:cNvSpPr/>
                      <p:nvPr/>
                    </p:nvSpPr>
                    <p:spPr bwMode="auto">
                      <a:xfrm>
                        <a:off x="4572000" y="1428743"/>
                        <a:ext cx="500067"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表示层</a:t>
                        </a:r>
                      </a:p>
                    </p:txBody>
                  </p:sp>
                  <p:sp>
                    <p:nvSpPr>
                      <p:cNvPr id="55" name="矩形 54">
                        <a:extLst>
                          <a:ext uri="{FF2B5EF4-FFF2-40B4-BE49-F238E27FC236}">
                            <a16:creationId xmlns:a16="http://schemas.microsoft.com/office/drawing/2014/main" id="{4E556427-411C-4CCC-8021-BB8376D94473}"/>
                          </a:ext>
                        </a:extLst>
                      </p:cNvPr>
                      <p:cNvSpPr/>
                      <p:nvPr/>
                    </p:nvSpPr>
                    <p:spPr bwMode="auto">
                      <a:xfrm>
                        <a:off x="4572000" y="1214428"/>
                        <a:ext cx="500067"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应用层</a:t>
                        </a:r>
                      </a:p>
                    </p:txBody>
                  </p:sp>
                </p:grpSp>
                <p:grpSp>
                  <p:nvGrpSpPr>
                    <p:cNvPr id="46127" name="组合 56">
                      <a:extLst>
                        <a:ext uri="{FF2B5EF4-FFF2-40B4-BE49-F238E27FC236}">
                          <a16:creationId xmlns:a16="http://schemas.microsoft.com/office/drawing/2014/main" id="{29E329D1-B197-4E3A-A641-82A7C27887D2}"/>
                        </a:ext>
                      </a:extLst>
                    </p:cNvPr>
                    <p:cNvGrpSpPr>
                      <a:grpSpLocks/>
                    </p:cNvGrpSpPr>
                    <p:nvPr/>
                  </p:nvGrpSpPr>
                  <p:grpSpPr bwMode="auto">
                    <a:xfrm>
                      <a:off x="4214810" y="1214428"/>
                      <a:ext cx="142876" cy="1428760"/>
                      <a:chOff x="4572000" y="1214428"/>
                      <a:chExt cx="500066" cy="1428760"/>
                    </a:xfrm>
                  </p:grpSpPr>
                  <p:sp>
                    <p:nvSpPr>
                      <p:cNvPr id="58" name="矩形 57">
                        <a:extLst>
                          <a:ext uri="{FF2B5EF4-FFF2-40B4-BE49-F238E27FC236}">
                            <a16:creationId xmlns:a16="http://schemas.microsoft.com/office/drawing/2014/main" id="{7C4BA180-BA92-403A-AEE7-E7B8624100E7}"/>
                          </a:ext>
                        </a:extLst>
                      </p:cNvPr>
                      <p:cNvSpPr/>
                      <p:nvPr/>
                    </p:nvSpPr>
                    <p:spPr bwMode="auto">
                      <a:xfrm>
                        <a:off x="4572000" y="2500312"/>
                        <a:ext cx="500066"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en-US" altLang="zh-CN" sz="1200" dirty="0">
                            <a:latin typeface="+mj-ea"/>
                            <a:ea typeface="+mj-ea"/>
                          </a:rPr>
                          <a:t>1</a:t>
                        </a:r>
                        <a:endParaRPr lang="zh-CN" altLang="en-US" sz="1200" dirty="0">
                          <a:latin typeface="+mj-ea"/>
                          <a:ea typeface="+mj-ea"/>
                        </a:endParaRPr>
                      </a:p>
                    </p:txBody>
                  </p:sp>
                  <p:sp>
                    <p:nvSpPr>
                      <p:cNvPr id="59" name="矩形 58">
                        <a:extLst>
                          <a:ext uri="{FF2B5EF4-FFF2-40B4-BE49-F238E27FC236}">
                            <a16:creationId xmlns:a16="http://schemas.microsoft.com/office/drawing/2014/main" id="{381BC3F5-6F70-4F27-9909-7B87FD40F1B7}"/>
                          </a:ext>
                        </a:extLst>
                      </p:cNvPr>
                      <p:cNvSpPr/>
                      <p:nvPr/>
                    </p:nvSpPr>
                    <p:spPr bwMode="auto">
                      <a:xfrm>
                        <a:off x="4572000" y="2285999"/>
                        <a:ext cx="500066"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en-US" altLang="zh-CN" sz="1200" dirty="0">
                            <a:latin typeface="+mj-ea"/>
                            <a:ea typeface="+mj-ea"/>
                          </a:rPr>
                          <a:t>2</a:t>
                        </a:r>
                        <a:endParaRPr lang="zh-CN" altLang="en-US" sz="1200" dirty="0">
                          <a:latin typeface="+mj-ea"/>
                          <a:ea typeface="+mj-ea"/>
                        </a:endParaRPr>
                      </a:p>
                    </p:txBody>
                  </p:sp>
                  <p:sp>
                    <p:nvSpPr>
                      <p:cNvPr id="60" name="矩形 59">
                        <a:extLst>
                          <a:ext uri="{FF2B5EF4-FFF2-40B4-BE49-F238E27FC236}">
                            <a16:creationId xmlns:a16="http://schemas.microsoft.com/office/drawing/2014/main" id="{DD706716-C9DB-4D50-92E5-FE1788B20F2C}"/>
                          </a:ext>
                        </a:extLst>
                      </p:cNvPr>
                      <p:cNvSpPr/>
                      <p:nvPr/>
                    </p:nvSpPr>
                    <p:spPr bwMode="auto">
                      <a:xfrm>
                        <a:off x="4572000" y="2071684"/>
                        <a:ext cx="500066"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en-US" altLang="zh-CN" sz="1200" dirty="0">
                            <a:latin typeface="+mj-ea"/>
                            <a:ea typeface="+mj-ea"/>
                          </a:rPr>
                          <a:t>3</a:t>
                        </a:r>
                        <a:endParaRPr lang="zh-CN" altLang="en-US" sz="1200" dirty="0">
                          <a:latin typeface="+mj-ea"/>
                          <a:ea typeface="+mj-ea"/>
                        </a:endParaRPr>
                      </a:p>
                    </p:txBody>
                  </p:sp>
                  <p:sp>
                    <p:nvSpPr>
                      <p:cNvPr id="61" name="矩形 60">
                        <a:extLst>
                          <a:ext uri="{FF2B5EF4-FFF2-40B4-BE49-F238E27FC236}">
                            <a16:creationId xmlns:a16="http://schemas.microsoft.com/office/drawing/2014/main" id="{91FD2DAE-B681-4338-91E9-4F2EFC9CF5C9}"/>
                          </a:ext>
                        </a:extLst>
                      </p:cNvPr>
                      <p:cNvSpPr/>
                      <p:nvPr/>
                    </p:nvSpPr>
                    <p:spPr bwMode="auto">
                      <a:xfrm>
                        <a:off x="4572000" y="1857371"/>
                        <a:ext cx="500066"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en-US" altLang="zh-CN" sz="1200" dirty="0">
                            <a:latin typeface="+mj-ea"/>
                            <a:ea typeface="+mj-ea"/>
                          </a:rPr>
                          <a:t>4</a:t>
                        </a:r>
                        <a:endParaRPr lang="zh-CN" altLang="en-US" sz="1200" dirty="0">
                          <a:latin typeface="+mj-ea"/>
                          <a:ea typeface="+mj-ea"/>
                        </a:endParaRPr>
                      </a:p>
                    </p:txBody>
                  </p:sp>
                  <p:sp>
                    <p:nvSpPr>
                      <p:cNvPr id="62" name="矩形 61">
                        <a:extLst>
                          <a:ext uri="{FF2B5EF4-FFF2-40B4-BE49-F238E27FC236}">
                            <a16:creationId xmlns:a16="http://schemas.microsoft.com/office/drawing/2014/main" id="{8182133A-2AE4-4F2C-8F35-57B3332BC46C}"/>
                          </a:ext>
                        </a:extLst>
                      </p:cNvPr>
                      <p:cNvSpPr/>
                      <p:nvPr/>
                    </p:nvSpPr>
                    <p:spPr bwMode="auto">
                      <a:xfrm>
                        <a:off x="4572000" y="1643056"/>
                        <a:ext cx="500066"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en-US" altLang="zh-CN" sz="1200" dirty="0">
                            <a:latin typeface="+mj-ea"/>
                            <a:ea typeface="+mj-ea"/>
                          </a:rPr>
                          <a:t>5</a:t>
                        </a:r>
                        <a:endParaRPr lang="zh-CN" altLang="en-US" sz="1200" dirty="0">
                          <a:latin typeface="+mj-ea"/>
                          <a:ea typeface="+mj-ea"/>
                        </a:endParaRPr>
                      </a:p>
                    </p:txBody>
                  </p:sp>
                  <p:sp>
                    <p:nvSpPr>
                      <p:cNvPr id="63" name="矩形 62">
                        <a:extLst>
                          <a:ext uri="{FF2B5EF4-FFF2-40B4-BE49-F238E27FC236}">
                            <a16:creationId xmlns:a16="http://schemas.microsoft.com/office/drawing/2014/main" id="{1233C058-0B99-431B-9C2A-ED8857F15E40}"/>
                          </a:ext>
                        </a:extLst>
                      </p:cNvPr>
                      <p:cNvSpPr/>
                      <p:nvPr/>
                    </p:nvSpPr>
                    <p:spPr bwMode="auto">
                      <a:xfrm>
                        <a:off x="4572000" y="1428743"/>
                        <a:ext cx="500066"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en-US" altLang="zh-CN" sz="1200" dirty="0">
                            <a:latin typeface="+mj-ea"/>
                            <a:ea typeface="+mj-ea"/>
                          </a:rPr>
                          <a:t>6</a:t>
                        </a:r>
                        <a:endParaRPr lang="zh-CN" altLang="en-US" sz="1200" dirty="0">
                          <a:latin typeface="+mj-ea"/>
                          <a:ea typeface="+mj-ea"/>
                        </a:endParaRPr>
                      </a:p>
                    </p:txBody>
                  </p:sp>
                  <p:sp>
                    <p:nvSpPr>
                      <p:cNvPr id="64" name="矩形 63">
                        <a:extLst>
                          <a:ext uri="{FF2B5EF4-FFF2-40B4-BE49-F238E27FC236}">
                            <a16:creationId xmlns:a16="http://schemas.microsoft.com/office/drawing/2014/main" id="{0F6846BB-1952-4998-AB78-B854FD92140F}"/>
                          </a:ext>
                        </a:extLst>
                      </p:cNvPr>
                      <p:cNvSpPr/>
                      <p:nvPr/>
                    </p:nvSpPr>
                    <p:spPr bwMode="auto">
                      <a:xfrm>
                        <a:off x="4572000" y="1214428"/>
                        <a:ext cx="500066"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en-US" altLang="zh-CN" sz="1200" dirty="0">
                            <a:latin typeface="+mj-ea"/>
                            <a:ea typeface="+mj-ea"/>
                          </a:rPr>
                          <a:t>7</a:t>
                        </a:r>
                        <a:endParaRPr lang="zh-CN" altLang="en-US" sz="1200" dirty="0">
                          <a:latin typeface="+mj-ea"/>
                          <a:ea typeface="+mj-ea"/>
                        </a:endParaRPr>
                      </a:p>
                    </p:txBody>
                  </p:sp>
                </p:grpSp>
                <p:sp>
                  <p:nvSpPr>
                    <p:cNvPr id="65" name="矩形 64">
                      <a:extLst>
                        <a:ext uri="{FF2B5EF4-FFF2-40B4-BE49-F238E27FC236}">
                          <a16:creationId xmlns:a16="http://schemas.microsoft.com/office/drawing/2014/main" id="{026F2C01-D062-4CC8-BD09-AB545DD62769}"/>
                        </a:ext>
                      </a:extLst>
                    </p:cNvPr>
                    <p:cNvSpPr/>
                    <p:nvPr/>
                  </p:nvSpPr>
                  <p:spPr bwMode="auto">
                    <a:xfrm>
                      <a:off x="4500562" y="1000114"/>
                      <a:ext cx="857256"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en-US" altLang="zh-CN" sz="1200" dirty="0">
                          <a:latin typeface="+mj-ea"/>
                          <a:ea typeface="+mj-ea"/>
                        </a:rPr>
                        <a:t>OSI</a:t>
                      </a:r>
                      <a:r>
                        <a:rPr lang="zh-CN" altLang="en-US" sz="1200" dirty="0">
                          <a:latin typeface="+mj-ea"/>
                          <a:ea typeface="+mj-ea"/>
                        </a:rPr>
                        <a:t>参考模型</a:t>
                      </a:r>
                    </a:p>
                  </p:txBody>
                </p:sp>
              </p:grpSp>
              <p:cxnSp>
                <p:nvCxnSpPr>
                  <p:cNvPr id="46117" name="直接连接符 65">
                    <a:extLst>
                      <a:ext uri="{FF2B5EF4-FFF2-40B4-BE49-F238E27FC236}">
                        <a16:creationId xmlns:a16="http://schemas.microsoft.com/office/drawing/2014/main" id="{A8E74008-B6F7-4BFA-9CE4-093AFCFB40DD}"/>
                      </a:ext>
                    </a:extLst>
                  </p:cNvPr>
                  <p:cNvCxnSpPr>
                    <a:cxnSpLocks noChangeShapeType="1"/>
                  </p:cNvCxnSpPr>
                  <p:nvPr/>
                </p:nvCxnSpPr>
                <p:spPr bwMode="auto">
                  <a:xfrm rot="5400000">
                    <a:off x="4644232" y="2928146"/>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118" name="直接连接符 73">
                    <a:extLst>
                      <a:ext uri="{FF2B5EF4-FFF2-40B4-BE49-F238E27FC236}">
                        <a16:creationId xmlns:a16="http://schemas.microsoft.com/office/drawing/2014/main" id="{C2ACC9B1-1B57-4E21-96BF-FD8491E85DD6}"/>
                      </a:ext>
                    </a:extLst>
                  </p:cNvPr>
                  <p:cNvCxnSpPr>
                    <a:cxnSpLocks noChangeShapeType="1"/>
                  </p:cNvCxnSpPr>
                  <p:nvPr/>
                </p:nvCxnSpPr>
                <p:spPr bwMode="auto">
                  <a:xfrm rot="5400000">
                    <a:off x="4929984" y="2928146"/>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119" name="直接连接符 74">
                    <a:extLst>
                      <a:ext uri="{FF2B5EF4-FFF2-40B4-BE49-F238E27FC236}">
                        <a16:creationId xmlns:a16="http://schemas.microsoft.com/office/drawing/2014/main" id="{8B7E7690-CA3F-4AE9-BB7D-FE262BA537D0}"/>
                      </a:ext>
                    </a:extLst>
                  </p:cNvPr>
                  <p:cNvCxnSpPr>
                    <a:cxnSpLocks noChangeShapeType="1"/>
                  </p:cNvCxnSpPr>
                  <p:nvPr/>
                </p:nvCxnSpPr>
                <p:spPr bwMode="auto">
                  <a:xfrm rot="5400000">
                    <a:off x="5215736" y="2928146"/>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120" name="直接连接符 75">
                    <a:extLst>
                      <a:ext uri="{FF2B5EF4-FFF2-40B4-BE49-F238E27FC236}">
                        <a16:creationId xmlns:a16="http://schemas.microsoft.com/office/drawing/2014/main" id="{C119ECAA-0B4F-41C5-AB9F-DD6922893199}"/>
                      </a:ext>
                    </a:extLst>
                  </p:cNvPr>
                  <p:cNvCxnSpPr>
                    <a:cxnSpLocks noChangeShapeType="1"/>
                  </p:cNvCxnSpPr>
                  <p:nvPr/>
                </p:nvCxnSpPr>
                <p:spPr bwMode="auto">
                  <a:xfrm rot="5400000">
                    <a:off x="5501488" y="2928146"/>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121" name="直接连接符 76">
                    <a:extLst>
                      <a:ext uri="{FF2B5EF4-FFF2-40B4-BE49-F238E27FC236}">
                        <a16:creationId xmlns:a16="http://schemas.microsoft.com/office/drawing/2014/main" id="{2489B4B0-8893-493F-91DF-CB6A64466FF8}"/>
                      </a:ext>
                    </a:extLst>
                  </p:cNvPr>
                  <p:cNvCxnSpPr>
                    <a:cxnSpLocks noChangeShapeType="1"/>
                  </p:cNvCxnSpPr>
                  <p:nvPr/>
                </p:nvCxnSpPr>
                <p:spPr bwMode="auto">
                  <a:xfrm rot="5400000">
                    <a:off x="5787240" y="2928146"/>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122" name="直接连接符 77">
                    <a:extLst>
                      <a:ext uri="{FF2B5EF4-FFF2-40B4-BE49-F238E27FC236}">
                        <a16:creationId xmlns:a16="http://schemas.microsoft.com/office/drawing/2014/main" id="{367DCE7B-1A8B-4909-89D0-3DECA529AB7F}"/>
                      </a:ext>
                    </a:extLst>
                  </p:cNvPr>
                  <p:cNvCxnSpPr>
                    <a:cxnSpLocks noChangeShapeType="1"/>
                  </p:cNvCxnSpPr>
                  <p:nvPr/>
                </p:nvCxnSpPr>
                <p:spPr bwMode="auto">
                  <a:xfrm rot="5400000">
                    <a:off x="6072992" y="2928146"/>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123" name="直接连接符 78">
                    <a:extLst>
                      <a:ext uri="{FF2B5EF4-FFF2-40B4-BE49-F238E27FC236}">
                        <a16:creationId xmlns:a16="http://schemas.microsoft.com/office/drawing/2014/main" id="{573FEEB4-8CC9-44F2-BBA6-A4D59A47064F}"/>
                      </a:ext>
                    </a:extLst>
                  </p:cNvPr>
                  <p:cNvCxnSpPr>
                    <a:cxnSpLocks noChangeShapeType="1"/>
                  </p:cNvCxnSpPr>
                  <p:nvPr/>
                </p:nvCxnSpPr>
                <p:spPr bwMode="auto">
                  <a:xfrm rot="5400000">
                    <a:off x="6358744" y="2928146"/>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124" name="直接连接符 79">
                    <a:extLst>
                      <a:ext uri="{FF2B5EF4-FFF2-40B4-BE49-F238E27FC236}">
                        <a16:creationId xmlns:a16="http://schemas.microsoft.com/office/drawing/2014/main" id="{C9A80D1A-EC2F-4E99-8028-00304AD2E059}"/>
                      </a:ext>
                    </a:extLst>
                  </p:cNvPr>
                  <p:cNvCxnSpPr>
                    <a:cxnSpLocks noChangeShapeType="1"/>
                  </p:cNvCxnSpPr>
                  <p:nvPr/>
                </p:nvCxnSpPr>
                <p:spPr bwMode="auto">
                  <a:xfrm rot="5400000">
                    <a:off x="6644496" y="2928146"/>
                    <a:ext cx="142876"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sp>
            <p:nvSpPr>
              <p:cNvPr id="81" name="TextBox 80">
                <a:extLst>
                  <a:ext uri="{FF2B5EF4-FFF2-40B4-BE49-F238E27FC236}">
                    <a16:creationId xmlns:a16="http://schemas.microsoft.com/office/drawing/2014/main" id="{453003A4-113A-4AAB-85BD-15FD064ACB0B}"/>
                  </a:ext>
                </a:extLst>
              </p:cNvPr>
              <p:cNvSpPr txBox="1"/>
              <p:nvPr/>
            </p:nvSpPr>
            <p:spPr>
              <a:xfrm>
                <a:off x="4500562" y="3000378"/>
                <a:ext cx="369891" cy="428628"/>
              </a:xfrm>
              <a:prstGeom prst="rect">
                <a:avLst/>
              </a:prstGeom>
              <a:noFill/>
            </p:spPr>
            <p:txBody>
              <a:bodyPr vert="eaVert">
                <a:spAutoFit/>
              </a:bodyPr>
              <a:lstStyle/>
              <a:p>
                <a:pPr eaLnBrk="1" hangingPunct="1">
                  <a:defRPr/>
                </a:pPr>
                <a:r>
                  <a:rPr lang="zh-CN" altLang="en-US" sz="1200" dirty="0">
                    <a:latin typeface="+mj-ea"/>
                    <a:ea typeface="+mj-ea"/>
                  </a:rPr>
                  <a:t>加密</a:t>
                </a:r>
              </a:p>
            </p:txBody>
          </p:sp>
          <p:sp>
            <p:nvSpPr>
              <p:cNvPr id="82" name="TextBox 81">
                <a:extLst>
                  <a:ext uri="{FF2B5EF4-FFF2-40B4-BE49-F238E27FC236}">
                    <a16:creationId xmlns:a16="http://schemas.microsoft.com/office/drawing/2014/main" id="{67799858-7C49-46D1-953D-111D68C32F0A}"/>
                  </a:ext>
                </a:extLst>
              </p:cNvPr>
              <p:cNvSpPr txBox="1"/>
              <p:nvPr/>
            </p:nvSpPr>
            <p:spPr>
              <a:xfrm>
                <a:off x="4786314" y="3000378"/>
                <a:ext cx="369891" cy="714380"/>
              </a:xfrm>
              <a:prstGeom prst="rect">
                <a:avLst/>
              </a:prstGeom>
              <a:noFill/>
            </p:spPr>
            <p:txBody>
              <a:bodyPr vert="eaVert">
                <a:spAutoFit/>
              </a:bodyPr>
              <a:lstStyle/>
              <a:p>
                <a:pPr eaLnBrk="1" hangingPunct="1">
                  <a:defRPr/>
                </a:pPr>
                <a:r>
                  <a:rPr lang="zh-CN" altLang="en-US" sz="1200" dirty="0">
                    <a:latin typeface="+mj-ea"/>
                    <a:ea typeface="+mj-ea"/>
                  </a:rPr>
                  <a:t>数字签名</a:t>
                </a:r>
              </a:p>
            </p:txBody>
          </p:sp>
          <p:sp>
            <p:nvSpPr>
              <p:cNvPr id="86" name="TextBox 85">
                <a:extLst>
                  <a:ext uri="{FF2B5EF4-FFF2-40B4-BE49-F238E27FC236}">
                    <a16:creationId xmlns:a16="http://schemas.microsoft.com/office/drawing/2014/main" id="{61A13600-8A1B-4C09-BCC3-E46102E7ADEA}"/>
                  </a:ext>
                </a:extLst>
              </p:cNvPr>
              <p:cNvSpPr txBox="1"/>
              <p:nvPr/>
            </p:nvSpPr>
            <p:spPr>
              <a:xfrm>
                <a:off x="5072066" y="3000378"/>
                <a:ext cx="369891" cy="714380"/>
              </a:xfrm>
              <a:prstGeom prst="rect">
                <a:avLst/>
              </a:prstGeom>
              <a:noFill/>
            </p:spPr>
            <p:txBody>
              <a:bodyPr vert="eaVert">
                <a:spAutoFit/>
              </a:bodyPr>
              <a:lstStyle/>
              <a:p>
                <a:pPr eaLnBrk="1" hangingPunct="1">
                  <a:defRPr/>
                </a:pPr>
                <a:r>
                  <a:rPr lang="zh-CN" altLang="en-US" sz="1200" dirty="0">
                    <a:latin typeface="+mj-ea"/>
                    <a:ea typeface="+mj-ea"/>
                  </a:rPr>
                  <a:t>访问控制</a:t>
                </a:r>
              </a:p>
            </p:txBody>
          </p:sp>
          <p:sp>
            <p:nvSpPr>
              <p:cNvPr id="87" name="TextBox 86">
                <a:extLst>
                  <a:ext uri="{FF2B5EF4-FFF2-40B4-BE49-F238E27FC236}">
                    <a16:creationId xmlns:a16="http://schemas.microsoft.com/office/drawing/2014/main" id="{257AEE56-6B05-4AC2-B32B-6697A7C57A79}"/>
                  </a:ext>
                </a:extLst>
              </p:cNvPr>
              <p:cNvSpPr txBox="1"/>
              <p:nvPr/>
            </p:nvSpPr>
            <p:spPr>
              <a:xfrm>
                <a:off x="5357818" y="3000378"/>
                <a:ext cx="369891" cy="857256"/>
              </a:xfrm>
              <a:prstGeom prst="rect">
                <a:avLst/>
              </a:prstGeom>
              <a:noFill/>
            </p:spPr>
            <p:txBody>
              <a:bodyPr vert="eaVert">
                <a:spAutoFit/>
              </a:bodyPr>
              <a:lstStyle/>
              <a:p>
                <a:pPr eaLnBrk="1" hangingPunct="1">
                  <a:defRPr/>
                </a:pPr>
                <a:r>
                  <a:rPr lang="zh-CN" altLang="en-US" sz="1200" dirty="0">
                    <a:latin typeface="+mj-ea"/>
                    <a:ea typeface="+mj-ea"/>
                  </a:rPr>
                  <a:t>数据完整性</a:t>
                </a:r>
              </a:p>
            </p:txBody>
          </p:sp>
          <p:sp>
            <p:nvSpPr>
              <p:cNvPr id="88" name="TextBox 87">
                <a:extLst>
                  <a:ext uri="{FF2B5EF4-FFF2-40B4-BE49-F238E27FC236}">
                    <a16:creationId xmlns:a16="http://schemas.microsoft.com/office/drawing/2014/main" id="{1D778A48-4F5B-4E80-B839-0C3B3E08E537}"/>
                  </a:ext>
                </a:extLst>
              </p:cNvPr>
              <p:cNvSpPr txBox="1"/>
              <p:nvPr/>
            </p:nvSpPr>
            <p:spPr>
              <a:xfrm>
                <a:off x="5643570" y="3000378"/>
                <a:ext cx="369891" cy="714380"/>
              </a:xfrm>
              <a:prstGeom prst="rect">
                <a:avLst/>
              </a:prstGeom>
              <a:noFill/>
            </p:spPr>
            <p:txBody>
              <a:bodyPr vert="eaVert">
                <a:spAutoFit/>
              </a:bodyPr>
              <a:lstStyle/>
              <a:p>
                <a:pPr eaLnBrk="1" hangingPunct="1">
                  <a:defRPr/>
                </a:pPr>
                <a:r>
                  <a:rPr lang="zh-CN" altLang="en-US" sz="1200" dirty="0">
                    <a:latin typeface="+mj-ea"/>
                    <a:ea typeface="+mj-ea"/>
                  </a:rPr>
                  <a:t>数据交换</a:t>
                </a:r>
              </a:p>
            </p:txBody>
          </p:sp>
          <p:sp>
            <p:nvSpPr>
              <p:cNvPr id="89" name="TextBox 88">
                <a:extLst>
                  <a:ext uri="{FF2B5EF4-FFF2-40B4-BE49-F238E27FC236}">
                    <a16:creationId xmlns:a16="http://schemas.microsoft.com/office/drawing/2014/main" id="{D16447A3-313C-437A-B928-D084869CC1A3}"/>
                  </a:ext>
                </a:extLst>
              </p:cNvPr>
              <p:cNvSpPr txBox="1"/>
              <p:nvPr/>
            </p:nvSpPr>
            <p:spPr>
              <a:xfrm>
                <a:off x="5929322" y="3000378"/>
                <a:ext cx="369891" cy="857256"/>
              </a:xfrm>
              <a:prstGeom prst="rect">
                <a:avLst/>
              </a:prstGeom>
              <a:noFill/>
            </p:spPr>
            <p:txBody>
              <a:bodyPr vert="eaVert">
                <a:spAutoFit/>
              </a:bodyPr>
              <a:lstStyle/>
              <a:p>
                <a:pPr eaLnBrk="1" hangingPunct="1">
                  <a:defRPr/>
                </a:pPr>
                <a:r>
                  <a:rPr lang="zh-CN" altLang="en-US" sz="1200" dirty="0">
                    <a:latin typeface="+mj-ea"/>
                    <a:ea typeface="+mj-ea"/>
                  </a:rPr>
                  <a:t>业务流填充</a:t>
                </a:r>
              </a:p>
            </p:txBody>
          </p:sp>
          <p:sp>
            <p:nvSpPr>
              <p:cNvPr id="90" name="TextBox 89">
                <a:extLst>
                  <a:ext uri="{FF2B5EF4-FFF2-40B4-BE49-F238E27FC236}">
                    <a16:creationId xmlns:a16="http://schemas.microsoft.com/office/drawing/2014/main" id="{1F2590F9-5EED-4497-A87B-6E94CDCD95C2}"/>
                  </a:ext>
                </a:extLst>
              </p:cNvPr>
              <p:cNvSpPr txBox="1"/>
              <p:nvPr/>
            </p:nvSpPr>
            <p:spPr>
              <a:xfrm>
                <a:off x="6215074" y="3000378"/>
                <a:ext cx="369891" cy="714380"/>
              </a:xfrm>
              <a:prstGeom prst="rect">
                <a:avLst/>
              </a:prstGeom>
              <a:noFill/>
            </p:spPr>
            <p:txBody>
              <a:bodyPr vert="eaVert">
                <a:spAutoFit/>
              </a:bodyPr>
              <a:lstStyle/>
              <a:p>
                <a:pPr eaLnBrk="1" hangingPunct="1">
                  <a:defRPr/>
                </a:pPr>
                <a:r>
                  <a:rPr lang="zh-CN" altLang="en-US" sz="1200" dirty="0">
                    <a:latin typeface="+mj-ea"/>
                    <a:ea typeface="+mj-ea"/>
                  </a:rPr>
                  <a:t>路由控制</a:t>
                </a:r>
              </a:p>
            </p:txBody>
          </p:sp>
          <p:sp>
            <p:nvSpPr>
              <p:cNvPr id="91" name="TextBox 90">
                <a:extLst>
                  <a:ext uri="{FF2B5EF4-FFF2-40B4-BE49-F238E27FC236}">
                    <a16:creationId xmlns:a16="http://schemas.microsoft.com/office/drawing/2014/main" id="{BBA0F0A5-66CF-4DC6-B649-69275FE21091}"/>
                  </a:ext>
                </a:extLst>
              </p:cNvPr>
              <p:cNvSpPr txBox="1"/>
              <p:nvPr/>
            </p:nvSpPr>
            <p:spPr>
              <a:xfrm>
                <a:off x="6500826" y="3000378"/>
                <a:ext cx="369891" cy="714380"/>
              </a:xfrm>
              <a:prstGeom prst="rect">
                <a:avLst/>
              </a:prstGeom>
              <a:noFill/>
            </p:spPr>
            <p:txBody>
              <a:bodyPr vert="eaVert">
                <a:spAutoFit/>
              </a:bodyPr>
              <a:lstStyle/>
              <a:p>
                <a:pPr eaLnBrk="1" hangingPunct="1">
                  <a:defRPr/>
                </a:pPr>
                <a:r>
                  <a:rPr lang="zh-CN" altLang="en-US" sz="1200" dirty="0">
                    <a:latin typeface="+mj-ea"/>
                    <a:ea typeface="+mj-ea"/>
                  </a:rPr>
                  <a:t>公证</a:t>
                </a:r>
              </a:p>
            </p:txBody>
          </p:sp>
          <p:sp>
            <p:nvSpPr>
              <p:cNvPr id="92" name="矩形 91">
                <a:extLst>
                  <a:ext uri="{FF2B5EF4-FFF2-40B4-BE49-F238E27FC236}">
                    <a16:creationId xmlns:a16="http://schemas.microsoft.com/office/drawing/2014/main" id="{F2B01D1B-5045-4262-A2D9-EAC19AEC152F}"/>
                  </a:ext>
                </a:extLst>
              </p:cNvPr>
              <p:cNvSpPr/>
              <p:nvPr/>
            </p:nvSpPr>
            <p:spPr bwMode="auto">
              <a:xfrm>
                <a:off x="6286512" y="2643188"/>
                <a:ext cx="857256"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安全机制</a:t>
                </a:r>
              </a:p>
            </p:txBody>
          </p:sp>
        </p:grpSp>
        <p:cxnSp>
          <p:nvCxnSpPr>
            <p:cNvPr id="46087" name="直接连接符 93">
              <a:extLst>
                <a:ext uri="{FF2B5EF4-FFF2-40B4-BE49-F238E27FC236}">
                  <a16:creationId xmlns:a16="http://schemas.microsoft.com/office/drawing/2014/main" id="{572D2038-6546-47F8-8A97-0500E49AA5BD}"/>
                </a:ext>
              </a:extLst>
            </p:cNvPr>
            <p:cNvCxnSpPr>
              <a:cxnSpLocks noChangeShapeType="1"/>
            </p:cNvCxnSpPr>
            <p:nvPr/>
          </p:nvCxnSpPr>
          <p:spPr bwMode="auto">
            <a:xfrm>
              <a:off x="3857620" y="3071816"/>
              <a:ext cx="214314"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088" name="直接连接符 95">
              <a:extLst>
                <a:ext uri="{FF2B5EF4-FFF2-40B4-BE49-F238E27FC236}">
                  <a16:creationId xmlns:a16="http://schemas.microsoft.com/office/drawing/2014/main" id="{E6875D9B-076B-4D74-BD70-ACA56FD19490}"/>
                </a:ext>
              </a:extLst>
            </p:cNvPr>
            <p:cNvCxnSpPr>
              <a:cxnSpLocks noChangeShapeType="1"/>
            </p:cNvCxnSpPr>
            <p:nvPr/>
          </p:nvCxnSpPr>
          <p:spPr bwMode="auto">
            <a:xfrm>
              <a:off x="3571868" y="3286130"/>
              <a:ext cx="214314"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089" name="直接连接符 96">
              <a:extLst>
                <a:ext uri="{FF2B5EF4-FFF2-40B4-BE49-F238E27FC236}">
                  <a16:creationId xmlns:a16="http://schemas.microsoft.com/office/drawing/2014/main" id="{5BC15EE5-B9CD-478F-8292-8A4DC685387C}"/>
                </a:ext>
              </a:extLst>
            </p:cNvPr>
            <p:cNvCxnSpPr>
              <a:cxnSpLocks noChangeShapeType="1"/>
            </p:cNvCxnSpPr>
            <p:nvPr/>
          </p:nvCxnSpPr>
          <p:spPr bwMode="auto">
            <a:xfrm>
              <a:off x="3286116" y="3500444"/>
              <a:ext cx="214314"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090" name="直接连接符 97">
              <a:extLst>
                <a:ext uri="{FF2B5EF4-FFF2-40B4-BE49-F238E27FC236}">
                  <a16:creationId xmlns:a16="http://schemas.microsoft.com/office/drawing/2014/main" id="{5C18B194-8FF4-45D6-943D-F1BA146EE991}"/>
                </a:ext>
              </a:extLst>
            </p:cNvPr>
            <p:cNvCxnSpPr>
              <a:cxnSpLocks noChangeShapeType="1"/>
            </p:cNvCxnSpPr>
            <p:nvPr/>
          </p:nvCxnSpPr>
          <p:spPr bwMode="auto">
            <a:xfrm>
              <a:off x="2714612" y="3929072"/>
              <a:ext cx="214314"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6091" name="直接连接符 98">
              <a:extLst>
                <a:ext uri="{FF2B5EF4-FFF2-40B4-BE49-F238E27FC236}">
                  <a16:creationId xmlns:a16="http://schemas.microsoft.com/office/drawing/2014/main" id="{4F7CDF33-1276-47D6-A221-44160BC2C330}"/>
                </a:ext>
              </a:extLst>
            </p:cNvPr>
            <p:cNvCxnSpPr>
              <a:cxnSpLocks noChangeShapeType="1"/>
            </p:cNvCxnSpPr>
            <p:nvPr/>
          </p:nvCxnSpPr>
          <p:spPr bwMode="auto">
            <a:xfrm>
              <a:off x="3000364" y="3714758"/>
              <a:ext cx="214314"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102" name="矩形 101">
              <a:extLst>
                <a:ext uri="{FF2B5EF4-FFF2-40B4-BE49-F238E27FC236}">
                  <a16:creationId xmlns:a16="http://schemas.microsoft.com/office/drawing/2014/main" id="{9582342E-83CB-4B0C-B55E-66640A4388F1}"/>
                </a:ext>
              </a:extLst>
            </p:cNvPr>
            <p:cNvSpPr/>
            <p:nvPr/>
          </p:nvSpPr>
          <p:spPr bwMode="auto">
            <a:xfrm>
              <a:off x="3286116" y="3000378"/>
              <a:ext cx="500067"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鉴别服务</a:t>
              </a:r>
            </a:p>
          </p:txBody>
        </p:sp>
        <p:sp>
          <p:nvSpPr>
            <p:cNvPr id="103" name="矩形 102">
              <a:extLst>
                <a:ext uri="{FF2B5EF4-FFF2-40B4-BE49-F238E27FC236}">
                  <a16:creationId xmlns:a16="http://schemas.microsoft.com/office/drawing/2014/main" id="{926AA9F8-FB29-4523-9A8E-C8DDFD97C6E7}"/>
                </a:ext>
              </a:extLst>
            </p:cNvPr>
            <p:cNvSpPr/>
            <p:nvPr/>
          </p:nvSpPr>
          <p:spPr bwMode="auto">
            <a:xfrm>
              <a:off x="3000364" y="3214692"/>
              <a:ext cx="500067"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访问控制</a:t>
              </a:r>
            </a:p>
          </p:txBody>
        </p:sp>
        <p:sp>
          <p:nvSpPr>
            <p:cNvPr id="104" name="矩形 103">
              <a:extLst>
                <a:ext uri="{FF2B5EF4-FFF2-40B4-BE49-F238E27FC236}">
                  <a16:creationId xmlns:a16="http://schemas.microsoft.com/office/drawing/2014/main" id="{B3B45BF6-B547-43FD-96C0-B081D44C5089}"/>
                </a:ext>
              </a:extLst>
            </p:cNvPr>
            <p:cNvSpPr/>
            <p:nvPr/>
          </p:nvSpPr>
          <p:spPr bwMode="auto">
            <a:xfrm>
              <a:off x="2643174" y="3429006"/>
              <a:ext cx="500066"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数据完整性</a:t>
              </a:r>
            </a:p>
          </p:txBody>
        </p:sp>
        <p:sp>
          <p:nvSpPr>
            <p:cNvPr id="105" name="矩形 104">
              <a:extLst>
                <a:ext uri="{FF2B5EF4-FFF2-40B4-BE49-F238E27FC236}">
                  <a16:creationId xmlns:a16="http://schemas.microsoft.com/office/drawing/2014/main" id="{B18C8A24-2537-413C-9D24-F1E165E613EB}"/>
                </a:ext>
              </a:extLst>
            </p:cNvPr>
            <p:cNvSpPr/>
            <p:nvPr/>
          </p:nvSpPr>
          <p:spPr bwMode="auto">
            <a:xfrm>
              <a:off x="2357422" y="3643320"/>
              <a:ext cx="500066"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数据保密性</a:t>
              </a:r>
            </a:p>
          </p:txBody>
        </p:sp>
        <p:sp>
          <p:nvSpPr>
            <p:cNvPr id="106" name="矩形 105">
              <a:extLst>
                <a:ext uri="{FF2B5EF4-FFF2-40B4-BE49-F238E27FC236}">
                  <a16:creationId xmlns:a16="http://schemas.microsoft.com/office/drawing/2014/main" id="{98991912-2943-4543-B7D5-CE4EB1746328}"/>
                </a:ext>
              </a:extLst>
            </p:cNvPr>
            <p:cNvSpPr/>
            <p:nvPr/>
          </p:nvSpPr>
          <p:spPr bwMode="auto">
            <a:xfrm>
              <a:off x="2214546" y="3857634"/>
              <a:ext cx="500066"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抗抵赖</a:t>
              </a:r>
            </a:p>
          </p:txBody>
        </p:sp>
        <p:sp>
          <p:nvSpPr>
            <p:cNvPr id="108" name="矩形 107">
              <a:extLst>
                <a:ext uri="{FF2B5EF4-FFF2-40B4-BE49-F238E27FC236}">
                  <a16:creationId xmlns:a16="http://schemas.microsoft.com/office/drawing/2014/main" id="{5A1F816C-BCBE-4D67-B763-43846312E3B7}"/>
                </a:ext>
              </a:extLst>
            </p:cNvPr>
            <p:cNvSpPr/>
            <p:nvPr/>
          </p:nvSpPr>
          <p:spPr bwMode="auto">
            <a:xfrm>
              <a:off x="3000364" y="4000510"/>
              <a:ext cx="500067" cy="142876"/>
            </a:xfrm>
            <a:prstGeom prst="rect">
              <a:avLst/>
            </a:prstGeom>
            <a:noFill/>
            <a:ln w="12700" cap="flat" cmpd="sng" algn="ctr">
              <a:noFill/>
              <a:prstDash val="solid"/>
              <a:round/>
              <a:headEnd type="none" w="med" len="med"/>
              <a:tailEnd type="none" w="med" len="med"/>
            </a:ln>
            <a:effectLst/>
          </p:spPr>
          <p:txBody>
            <a:bodyPr wrap="none" anchor="ctr"/>
            <a:lstStyle/>
            <a:p>
              <a:pPr algn="ctr" eaLnBrk="1" hangingPunct="1">
                <a:defRPr/>
              </a:pPr>
              <a:r>
                <a:rPr lang="zh-CN" altLang="en-US" sz="1200" dirty="0">
                  <a:latin typeface="+mj-ea"/>
                  <a:ea typeface="+mj-ea"/>
                </a:rPr>
                <a:t>安全服务</a:t>
              </a:r>
            </a:p>
          </p:txBody>
        </p:sp>
      </p:grpSp>
      <p:sp>
        <p:nvSpPr>
          <p:cNvPr id="110" name="矩形 3">
            <a:extLst>
              <a:ext uri="{FF2B5EF4-FFF2-40B4-BE49-F238E27FC236}">
                <a16:creationId xmlns:a16="http://schemas.microsoft.com/office/drawing/2014/main" id="{A8D43C32-CDBB-4257-A52B-3E10FFD1DEEB}"/>
              </a:ext>
            </a:extLst>
          </p:cNvPr>
          <p:cNvSpPr>
            <a:spLocks noChangeArrowheads="1"/>
          </p:cNvSpPr>
          <p:nvPr/>
        </p:nvSpPr>
        <p:spPr bwMode="auto">
          <a:xfrm>
            <a:off x="3643313" y="4214813"/>
            <a:ext cx="2295525" cy="307975"/>
          </a:xfrm>
          <a:prstGeom prst="rect">
            <a:avLst/>
          </a:prstGeom>
          <a:noFill/>
          <a:ln w="9525">
            <a:noFill/>
            <a:miter lim="800000"/>
            <a:headEnd/>
            <a:tailEnd/>
          </a:ln>
        </p:spPr>
        <p:txBody>
          <a:bodyPr wrap="none">
            <a:spAutoFit/>
          </a:bodyPr>
          <a:lstStyle/>
          <a:p>
            <a:pPr algn="ctr" eaLnBrk="1" hangingPunct="1">
              <a:defRPr/>
            </a:pPr>
            <a:r>
              <a:rPr lang="en-US" altLang="zh-CN" sz="1400" b="1" dirty="0">
                <a:latin typeface="+mj-ea"/>
                <a:ea typeface="+mj-ea"/>
              </a:rPr>
              <a:t>OSI</a:t>
            </a:r>
            <a:r>
              <a:rPr lang="zh-CN" altLang="en-US" sz="1400" b="1" dirty="0">
                <a:latin typeface="+mj-ea"/>
                <a:ea typeface="+mj-ea"/>
              </a:rPr>
              <a:t>开放系统互连安全架构</a:t>
            </a:r>
          </a:p>
        </p:txBody>
      </p:sp>
    </p:spTree>
  </p:cSld>
  <p:clrMapOvr>
    <a:masterClrMapping/>
  </p:clrMapOvr>
  <p:transition spd="med">
    <p:randomBar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C36A5624-4E62-4266-A89C-EEB48945CC7F}"/>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DB4FAB31-EABB-425B-878B-9D12912984F6}"/>
              </a:ext>
            </a:extLst>
          </p:cNvPr>
          <p:cNvSpPr>
            <a:spLocks noChangeArrowheads="1"/>
          </p:cNvSpPr>
          <p:nvPr/>
        </p:nvSpPr>
        <p:spPr bwMode="auto">
          <a:xfrm>
            <a:off x="214282" y="571486"/>
            <a:ext cx="4669869"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3.3.3 </a:t>
            </a:r>
            <a:r>
              <a:rPr lang="zh-CN" altLang="en-US" sz="2000" b="1" dirty="0">
                <a:solidFill>
                  <a:srgbClr val="C00000"/>
                </a:solidFill>
                <a:effectLst>
                  <a:reflection blurRad="6350" stA="50000" endA="300" endPos="50000" dist="60007" dir="5400000" sy="-100000" algn="bl" rotWithShape="0"/>
                </a:effectLst>
                <a:latin typeface="+mj-ea"/>
                <a:ea typeface="+mj-ea"/>
              </a:rPr>
              <a:t>面向网络的</a:t>
            </a:r>
            <a:r>
              <a:rPr lang="en-US" altLang="zh-CN" sz="2000" b="1" dirty="0">
                <a:solidFill>
                  <a:srgbClr val="C00000"/>
                </a:solidFill>
                <a:effectLst>
                  <a:reflection blurRad="6350" stA="50000" endA="300" endPos="50000" dist="60007" dir="5400000" sy="-100000" algn="bl" rotWithShape="0"/>
                </a:effectLst>
                <a:latin typeface="+mj-ea"/>
                <a:ea typeface="+mj-ea"/>
              </a:rPr>
              <a:t>OSI</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67" name="内容占位符 2">
            <a:extLst>
              <a:ext uri="{FF2B5EF4-FFF2-40B4-BE49-F238E27FC236}">
                <a16:creationId xmlns:a16="http://schemas.microsoft.com/office/drawing/2014/main" id="{3C93CE0A-868C-4117-ACED-451812F5AB49}"/>
              </a:ext>
            </a:extLst>
          </p:cNvPr>
          <p:cNvSpPr txBox="1">
            <a:spLocks/>
          </p:cNvSpPr>
          <p:nvPr/>
        </p:nvSpPr>
        <p:spPr bwMode="auto">
          <a:xfrm>
            <a:off x="142875" y="928688"/>
            <a:ext cx="8786813" cy="3714750"/>
          </a:xfrm>
          <a:prstGeom prst="rect">
            <a:avLst/>
          </a:prstGeom>
          <a:noFill/>
          <a:ln w="9525">
            <a:noFill/>
            <a:miter lim="800000"/>
            <a:headEnd/>
            <a:tailEnd/>
          </a:ln>
        </p:spPr>
        <p:txBody>
          <a:bodyPr/>
          <a:lstStyle/>
          <a:p>
            <a:pPr marL="342900" indent="-342900">
              <a:lnSpc>
                <a:spcPct val="150000"/>
              </a:lnSpc>
              <a:buClr>
                <a:srgbClr val="C00000"/>
              </a:buClr>
              <a:defRPr/>
            </a:pPr>
            <a:r>
              <a:rPr lang="en-US" altLang="zh-CN" sz="1600" b="1" kern="0" dirty="0">
                <a:solidFill>
                  <a:schemeClr val="accent6"/>
                </a:solidFill>
                <a:latin typeface="+mj-ea"/>
                <a:ea typeface="+mj-ea"/>
              </a:rPr>
              <a:t>1.</a:t>
            </a:r>
            <a:r>
              <a:rPr lang="zh-CN" altLang="en-US" sz="1600" b="1" kern="0" dirty="0">
                <a:solidFill>
                  <a:schemeClr val="accent6"/>
                </a:solidFill>
                <a:latin typeface="+mj-ea"/>
                <a:ea typeface="+mj-ea"/>
              </a:rPr>
              <a:t>安全服务</a:t>
            </a:r>
            <a:endParaRPr lang="en-US" altLang="zh-CN" sz="1600" b="1" kern="0" dirty="0">
              <a:solidFill>
                <a:schemeClr val="accent6"/>
              </a:solidFill>
              <a:latin typeface="+mj-ea"/>
              <a:ea typeface="+mj-ea"/>
            </a:endParaRPr>
          </a:p>
          <a:p>
            <a:pPr marL="342900" indent="-342900">
              <a:lnSpc>
                <a:spcPts val="2400"/>
              </a:lnSpc>
              <a:buClr>
                <a:srgbClr val="C00000"/>
              </a:buClr>
              <a:buFont typeface="Wingdings" pitchFamily="2" charset="2"/>
              <a:buChar char="n"/>
              <a:defRPr/>
            </a:pPr>
            <a:r>
              <a:rPr lang="zh-CN" altLang="en-US" sz="1600" kern="0" dirty="0">
                <a:latin typeface="+mj-ea"/>
                <a:ea typeface="+mj-ea"/>
              </a:rPr>
              <a:t>安全服务（</a:t>
            </a:r>
            <a:r>
              <a:rPr lang="en-US" altLang="zh-CN" sz="1600" kern="0" dirty="0">
                <a:latin typeface="+mj-ea"/>
                <a:ea typeface="+mj-ea"/>
              </a:rPr>
              <a:t>Security Service</a:t>
            </a:r>
            <a:r>
              <a:rPr lang="zh-CN" altLang="en-US" sz="1600" kern="0" dirty="0">
                <a:latin typeface="+mj-ea"/>
                <a:ea typeface="+mj-ea"/>
              </a:rPr>
              <a:t>）是指计算机网络提供的安全防护措施。国际标准化组织定义得安全服务包括以下五大类：</a:t>
            </a:r>
            <a:endParaRPr lang="en-US" altLang="zh-CN" sz="1600" kern="0" dirty="0">
              <a:latin typeface="+mj-ea"/>
              <a:ea typeface="+mj-ea"/>
            </a:endParaRPr>
          </a:p>
          <a:p>
            <a:pPr marL="468000" indent="-216000">
              <a:lnSpc>
                <a:spcPts val="2400"/>
              </a:lnSpc>
              <a:spcBef>
                <a:spcPts val="400"/>
              </a:spcBef>
              <a:buClr>
                <a:srgbClr val="C00000"/>
              </a:buClr>
              <a:buFont typeface="Wingdings" pitchFamily="2" charset="2"/>
              <a:buChar char="Ø"/>
              <a:defRPr/>
            </a:pPr>
            <a:r>
              <a:rPr lang="zh-CN" altLang="en-US" sz="1400" b="1" kern="0" dirty="0">
                <a:latin typeface="+mj-ea"/>
                <a:ea typeface="+mj-ea"/>
              </a:rPr>
              <a:t>（</a:t>
            </a:r>
            <a:r>
              <a:rPr lang="en-US" altLang="zh-CN" sz="1400" b="1" kern="0" dirty="0">
                <a:latin typeface="+mj-ea"/>
                <a:ea typeface="+mj-ea"/>
              </a:rPr>
              <a:t>1</a:t>
            </a:r>
            <a:r>
              <a:rPr lang="zh-CN" altLang="en-US" sz="1400" b="1" kern="0" dirty="0">
                <a:latin typeface="+mj-ea"/>
                <a:ea typeface="+mj-ea"/>
              </a:rPr>
              <a:t>）鉴别服务：</a:t>
            </a:r>
            <a:r>
              <a:rPr lang="zh-CN" altLang="en-US" sz="1400" kern="0" dirty="0">
                <a:latin typeface="+mj-ea"/>
                <a:ea typeface="+mj-ea"/>
              </a:rPr>
              <a:t>可以鉴别参与通信的对等实体和源；授权控制的基础；提供双向的认证；一般采用高的密码技术进行身份认证</a:t>
            </a:r>
            <a:endParaRPr lang="en-US" altLang="zh-CN" sz="1400" kern="0" dirty="0">
              <a:latin typeface="+mj-ea"/>
              <a:ea typeface="+mj-ea"/>
            </a:endParaRPr>
          </a:p>
          <a:p>
            <a:pPr marL="468000" indent="-216000">
              <a:lnSpc>
                <a:spcPts val="2400"/>
              </a:lnSpc>
              <a:spcBef>
                <a:spcPts val="400"/>
              </a:spcBef>
              <a:buClr>
                <a:srgbClr val="C00000"/>
              </a:buClr>
              <a:buFont typeface="Wingdings" pitchFamily="2" charset="2"/>
              <a:buChar char="Ø"/>
              <a:defRPr/>
            </a:pPr>
            <a:r>
              <a:rPr lang="zh-CN" altLang="en-US" sz="1400" b="1" kern="0" dirty="0">
                <a:latin typeface="+mj-ea"/>
                <a:ea typeface="+mj-ea"/>
              </a:rPr>
              <a:t>（</a:t>
            </a:r>
            <a:r>
              <a:rPr lang="en-US" altLang="zh-CN" sz="1400" b="1" kern="0" dirty="0">
                <a:latin typeface="+mj-ea"/>
                <a:ea typeface="+mj-ea"/>
              </a:rPr>
              <a:t>2</a:t>
            </a:r>
            <a:r>
              <a:rPr lang="zh-CN" altLang="en-US" sz="1400" b="1" kern="0" dirty="0">
                <a:latin typeface="+mj-ea"/>
                <a:ea typeface="+mj-ea"/>
              </a:rPr>
              <a:t>）访问控制：</a:t>
            </a:r>
            <a:r>
              <a:rPr lang="zh-CN" altLang="en-US" sz="1400" kern="0" dirty="0">
                <a:latin typeface="+mj-ea"/>
                <a:ea typeface="+mj-ea"/>
              </a:rPr>
              <a:t>控制不同用户对信息资源访问权限；要求有审计核查功能；尽可能地提供细粒度的控制</a:t>
            </a:r>
            <a:endParaRPr lang="en-US" altLang="zh-CN" sz="1400" kern="0" dirty="0">
              <a:latin typeface="+mj-ea"/>
              <a:ea typeface="+mj-ea"/>
            </a:endParaRPr>
          </a:p>
          <a:p>
            <a:pPr marL="468000" indent="-216000">
              <a:lnSpc>
                <a:spcPts val="2400"/>
              </a:lnSpc>
              <a:spcBef>
                <a:spcPts val="400"/>
              </a:spcBef>
              <a:buClr>
                <a:srgbClr val="C00000"/>
              </a:buClr>
              <a:buFont typeface="Wingdings" pitchFamily="2" charset="2"/>
              <a:buChar char="Ø"/>
              <a:defRPr/>
            </a:pPr>
            <a:r>
              <a:rPr lang="zh-CN" altLang="en-US" sz="1400" b="1" kern="0" dirty="0">
                <a:latin typeface="+mj-ea"/>
                <a:ea typeface="+mj-ea"/>
              </a:rPr>
              <a:t>（</a:t>
            </a:r>
            <a:r>
              <a:rPr lang="en-US" altLang="zh-CN" sz="1400" b="1" kern="0" dirty="0">
                <a:latin typeface="+mj-ea"/>
                <a:ea typeface="+mj-ea"/>
              </a:rPr>
              <a:t>3</a:t>
            </a:r>
            <a:r>
              <a:rPr lang="zh-CN" altLang="en-US" sz="1400" b="1" kern="0" dirty="0">
                <a:latin typeface="+mj-ea"/>
                <a:ea typeface="+mj-ea"/>
              </a:rPr>
              <a:t>）数据完整性：</a:t>
            </a:r>
            <a:r>
              <a:rPr lang="zh-CN" altLang="en-US" sz="1400" kern="0" dirty="0">
                <a:latin typeface="+mj-ea"/>
                <a:ea typeface="+mj-ea"/>
              </a:rPr>
              <a:t>指通过网上传输的数据应防止被修改、删除、插入替换或重发，以保证合法用户接收和使用该数据的真实性；用于对付主动威胁。</a:t>
            </a:r>
            <a:endParaRPr lang="en-US" altLang="zh-CN" sz="1400" kern="0" dirty="0">
              <a:latin typeface="+mj-ea"/>
              <a:ea typeface="+mj-ea"/>
            </a:endParaRPr>
          </a:p>
          <a:p>
            <a:pPr marL="468000" indent="-216000">
              <a:lnSpc>
                <a:spcPts val="2400"/>
              </a:lnSpc>
              <a:spcBef>
                <a:spcPts val="400"/>
              </a:spcBef>
              <a:buClr>
                <a:srgbClr val="C00000"/>
              </a:buClr>
              <a:buFont typeface="Wingdings" pitchFamily="2" charset="2"/>
              <a:buChar char="Ø"/>
              <a:defRPr/>
            </a:pPr>
            <a:r>
              <a:rPr lang="zh-CN" altLang="en-US" sz="1400" b="1" kern="0" dirty="0">
                <a:latin typeface="+mj-ea"/>
                <a:ea typeface="+mj-ea"/>
              </a:rPr>
              <a:t>（</a:t>
            </a:r>
            <a:r>
              <a:rPr lang="en-US" altLang="zh-CN" sz="1400" b="1" kern="0" dirty="0">
                <a:latin typeface="+mj-ea"/>
                <a:ea typeface="+mj-ea"/>
              </a:rPr>
              <a:t>4</a:t>
            </a:r>
            <a:r>
              <a:rPr lang="zh-CN" altLang="en-US" sz="1400" b="1" kern="0" dirty="0">
                <a:latin typeface="+mj-ea"/>
                <a:ea typeface="+mj-ea"/>
              </a:rPr>
              <a:t>）数据保密性：</a:t>
            </a:r>
            <a:r>
              <a:rPr lang="zh-CN" altLang="en-US" sz="1400" kern="0" dirty="0">
                <a:latin typeface="+mj-ea"/>
                <a:ea typeface="+mj-ea"/>
              </a:rPr>
              <a:t>提供保护，防止数据未经授权就泄露，基于对称密钥和非对称密钥加密的算法。</a:t>
            </a:r>
            <a:endParaRPr lang="en-US" altLang="zh-CN" sz="1400" kern="0" dirty="0">
              <a:latin typeface="+mj-ea"/>
              <a:ea typeface="+mj-ea"/>
            </a:endParaRPr>
          </a:p>
          <a:p>
            <a:pPr marL="468000" indent="-216000">
              <a:lnSpc>
                <a:spcPts val="2400"/>
              </a:lnSpc>
              <a:spcBef>
                <a:spcPts val="400"/>
              </a:spcBef>
              <a:buClr>
                <a:srgbClr val="C00000"/>
              </a:buClr>
              <a:buFont typeface="Wingdings" pitchFamily="2" charset="2"/>
              <a:buChar char="Ø"/>
              <a:defRPr/>
            </a:pPr>
            <a:r>
              <a:rPr lang="zh-CN" altLang="en-US" sz="1400" b="1" kern="0" dirty="0">
                <a:latin typeface="+mj-ea"/>
                <a:ea typeface="+mj-ea"/>
              </a:rPr>
              <a:t>（</a:t>
            </a:r>
            <a:r>
              <a:rPr lang="en-US" altLang="zh-CN" sz="1400" b="1" kern="0" dirty="0">
                <a:latin typeface="+mj-ea"/>
                <a:ea typeface="+mj-ea"/>
              </a:rPr>
              <a:t>5</a:t>
            </a:r>
            <a:r>
              <a:rPr lang="zh-CN" altLang="en-US" sz="1400" b="1" kern="0" dirty="0">
                <a:latin typeface="+mj-ea"/>
                <a:ea typeface="+mj-ea"/>
              </a:rPr>
              <a:t>）抗抵赖性：</a:t>
            </a:r>
            <a:r>
              <a:rPr lang="zh-CN" altLang="en-US" sz="1400" kern="0" dirty="0">
                <a:latin typeface="+mj-ea"/>
                <a:ea typeface="+mj-ea"/>
              </a:rPr>
              <a:t>接收方要发送方保证不能否认收到的信息是发送方发出的信息，而不是被他人冒名篡改过的信息；发送方也要求对方不能否认已经收到的信息，防止否认对金融电子化系统很重要。</a:t>
            </a:r>
            <a:endParaRPr lang="en-US" altLang="zh-CN" sz="1400" kern="0" dirty="0">
              <a:latin typeface="+mj-ea"/>
              <a:ea typeface="+mj-ea"/>
            </a:endParaRPr>
          </a:p>
        </p:txBody>
      </p:sp>
    </p:spTree>
  </p:cSld>
  <p:clrMapOvr>
    <a:masterClrMapping/>
  </p:clrMapOvr>
  <p:transition spd="med">
    <p:randomBar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DC2A7B4E-34B7-4FDB-84A9-5A0F784A35E6}"/>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24C5D001-3C45-4C1A-937A-E45323F12E11}"/>
              </a:ext>
            </a:extLst>
          </p:cNvPr>
          <p:cNvSpPr>
            <a:spLocks noChangeArrowheads="1"/>
          </p:cNvSpPr>
          <p:nvPr/>
        </p:nvSpPr>
        <p:spPr bwMode="auto">
          <a:xfrm>
            <a:off x="214282" y="571486"/>
            <a:ext cx="4669869"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3.3.3 </a:t>
            </a:r>
            <a:r>
              <a:rPr lang="zh-CN" altLang="en-US" sz="2000" b="1" dirty="0">
                <a:solidFill>
                  <a:srgbClr val="C00000"/>
                </a:solidFill>
                <a:effectLst>
                  <a:reflection blurRad="6350" stA="50000" endA="300" endPos="50000" dist="60007" dir="5400000" sy="-100000" algn="bl" rotWithShape="0"/>
                </a:effectLst>
                <a:latin typeface="+mj-ea"/>
                <a:ea typeface="+mj-ea"/>
              </a:rPr>
              <a:t>面向网络的</a:t>
            </a:r>
            <a:r>
              <a:rPr lang="en-US" altLang="zh-CN" sz="2000" b="1" dirty="0">
                <a:solidFill>
                  <a:srgbClr val="C00000"/>
                </a:solidFill>
                <a:effectLst>
                  <a:reflection blurRad="6350" stA="50000" endA="300" endPos="50000" dist="60007" dir="5400000" sy="-100000" algn="bl" rotWithShape="0"/>
                </a:effectLst>
                <a:latin typeface="+mj-ea"/>
                <a:ea typeface="+mj-ea"/>
              </a:rPr>
              <a:t>OSI</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67" name="内容占位符 2">
            <a:extLst>
              <a:ext uri="{FF2B5EF4-FFF2-40B4-BE49-F238E27FC236}">
                <a16:creationId xmlns:a16="http://schemas.microsoft.com/office/drawing/2014/main" id="{6DB3BCEB-257D-43FD-B525-346692E405A9}"/>
              </a:ext>
            </a:extLst>
          </p:cNvPr>
          <p:cNvSpPr txBox="1">
            <a:spLocks/>
          </p:cNvSpPr>
          <p:nvPr/>
        </p:nvSpPr>
        <p:spPr bwMode="auto">
          <a:xfrm>
            <a:off x="142875" y="1000125"/>
            <a:ext cx="8786813" cy="3214688"/>
          </a:xfrm>
          <a:prstGeom prst="rect">
            <a:avLst/>
          </a:prstGeom>
          <a:noFill/>
          <a:ln w="9525">
            <a:noFill/>
            <a:miter lim="800000"/>
            <a:headEnd/>
            <a:tailEnd/>
          </a:ln>
        </p:spPr>
        <p:txBody>
          <a:bodyPr/>
          <a:lstStyle/>
          <a:p>
            <a:pPr marL="342900" indent="-342900">
              <a:lnSpc>
                <a:spcPct val="150000"/>
              </a:lnSpc>
              <a:buClr>
                <a:srgbClr val="C00000"/>
              </a:buClr>
              <a:defRPr/>
            </a:pPr>
            <a:r>
              <a:rPr lang="en-US" altLang="zh-CN" sz="1600" b="1" kern="0" dirty="0">
                <a:solidFill>
                  <a:schemeClr val="accent6"/>
                </a:solidFill>
                <a:latin typeface="+mj-ea"/>
                <a:ea typeface="+mj-ea"/>
              </a:rPr>
              <a:t>2.</a:t>
            </a:r>
            <a:r>
              <a:rPr lang="zh-CN" altLang="en-US" sz="1600" b="1" kern="0" dirty="0">
                <a:solidFill>
                  <a:schemeClr val="accent6"/>
                </a:solidFill>
                <a:latin typeface="+mj-ea"/>
                <a:ea typeface="+mj-ea"/>
              </a:rPr>
              <a:t>安全机制</a:t>
            </a:r>
            <a:endParaRPr lang="en-US" altLang="zh-CN" sz="1600" b="1" kern="0" dirty="0">
              <a:solidFill>
                <a:schemeClr val="accent6"/>
              </a:solidFill>
              <a:latin typeface="+mj-ea"/>
              <a:ea typeface="+mj-ea"/>
            </a:endParaRPr>
          </a:p>
          <a:p>
            <a:pPr marL="342900" indent="-342900">
              <a:lnSpc>
                <a:spcPts val="2400"/>
              </a:lnSpc>
              <a:buClr>
                <a:srgbClr val="C00000"/>
              </a:buClr>
              <a:buFont typeface="Wingdings" pitchFamily="2" charset="2"/>
              <a:buChar char="n"/>
              <a:defRPr/>
            </a:pPr>
            <a:r>
              <a:rPr lang="zh-CN" altLang="en-US" sz="1600" kern="0" dirty="0">
                <a:latin typeface="+mj-ea"/>
                <a:ea typeface="+mj-ea"/>
              </a:rPr>
              <a:t>安全机制（</a:t>
            </a:r>
            <a:r>
              <a:rPr lang="en-US" altLang="zh-CN" sz="1600" kern="0" dirty="0">
                <a:latin typeface="+mj-ea"/>
                <a:ea typeface="+mj-ea"/>
              </a:rPr>
              <a:t>Security Mechanism</a:t>
            </a:r>
            <a:r>
              <a:rPr lang="zh-CN" altLang="en-US" sz="1600" kern="0" dirty="0">
                <a:latin typeface="+mj-ea"/>
                <a:ea typeface="+mj-ea"/>
              </a:rPr>
              <a:t>）是用来实施安全服务的机制。安全机制既可以是具体的、特定的，也可以是通用的。国际标准化组织定义的安全机制有：</a:t>
            </a:r>
            <a:endParaRPr lang="en-US" altLang="zh-CN" sz="1600" kern="0" dirty="0">
              <a:latin typeface="+mj-ea"/>
              <a:ea typeface="+mj-ea"/>
            </a:endParaRPr>
          </a:p>
          <a:p>
            <a:pPr marL="468000" indent="-216000">
              <a:lnSpc>
                <a:spcPct val="150000"/>
              </a:lnSpc>
              <a:spcBef>
                <a:spcPts val="400"/>
              </a:spcBef>
              <a:buClr>
                <a:srgbClr val="C00000"/>
              </a:buClr>
              <a:buFont typeface="Wingdings" pitchFamily="2" charset="2"/>
              <a:buChar char="Ø"/>
              <a:defRPr/>
            </a:pPr>
            <a:r>
              <a:rPr lang="zh-CN" altLang="en-US" sz="1400" b="1" kern="0" dirty="0">
                <a:latin typeface="+mj-ea"/>
                <a:ea typeface="+mj-ea"/>
              </a:rPr>
              <a:t>（</a:t>
            </a:r>
            <a:r>
              <a:rPr lang="en-US" altLang="zh-CN" sz="1400" b="1" kern="0" dirty="0">
                <a:latin typeface="+mj-ea"/>
                <a:ea typeface="+mj-ea"/>
              </a:rPr>
              <a:t>1</a:t>
            </a:r>
            <a:r>
              <a:rPr lang="zh-CN" altLang="en-US" sz="1400" b="1" kern="0" dirty="0">
                <a:latin typeface="+mj-ea"/>
                <a:ea typeface="+mj-ea"/>
              </a:rPr>
              <a:t>）数据加密机制：</a:t>
            </a:r>
            <a:r>
              <a:rPr lang="zh-CN" altLang="en-US" sz="1400" kern="0" dirty="0">
                <a:latin typeface="+mj-ea"/>
                <a:ea typeface="+mj-ea"/>
              </a:rPr>
              <a:t>向数据和业务信息流提供保密性，对其他安全机制起补充作用；</a:t>
            </a:r>
            <a:endParaRPr lang="en-US" altLang="zh-CN" sz="1400" kern="0" dirty="0">
              <a:latin typeface="+mj-ea"/>
              <a:ea typeface="+mj-ea"/>
            </a:endParaRPr>
          </a:p>
          <a:p>
            <a:pPr marL="468000" indent="-216000">
              <a:lnSpc>
                <a:spcPct val="150000"/>
              </a:lnSpc>
              <a:spcBef>
                <a:spcPts val="400"/>
              </a:spcBef>
              <a:buClr>
                <a:srgbClr val="C00000"/>
              </a:buClr>
              <a:buFont typeface="Wingdings" pitchFamily="2" charset="2"/>
              <a:buChar char="Ø"/>
              <a:defRPr/>
            </a:pPr>
            <a:r>
              <a:rPr lang="zh-CN" altLang="en-US" sz="1400" b="1" kern="0" dirty="0">
                <a:latin typeface="+mj-ea"/>
                <a:ea typeface="+mj-ea"/>
              </a:rPr>
              <a:t>（</a:t>
            </a:r>
            <a:r>
              <a:rPr lang="en-US" altLang="zh-CN" sz="1400" b="1" kern="0" dirty="0">
                <a:latin typeface="+mj-ea"/>
                <a:ea typeface="+mj-ea"/>
              </a:rPr>
              <a:t>2</a:t>
            </a:r>
            <a:r>
              <a:rPr lang="zh-CN" altLang="en-US" sz="1400" b="1" kern="0" dirty="0">
                <a:latin typeface="+mj-ea"/>
                <a:ea typeface="+mj-ea"/>
              </a:rPr>
              <a:t>）数据签名机制：</a:t>
            </a:r>
            <a:r>
              <a:rPr lang="zh-CN" altLang="en-US" sz="1400" kern="0" dirty="0">
                <a:latin typeface="+mj-ea"/>
                <a:ea typeface="+mj-ea"/>
              </a:rPr>
              <a:t>对数据单元签名和验证，签名只有利用签名者的私有信息才能产生出来；</a:t>
            </a:r>
            <a:endParaRPr lang="en-US" altLang="zh-CN" sz="1400" kern="0" dirty="0">
              <a:latin typeface="+mj-ea"/>
              <a:ea typeface="+mj-ea"/>
            </a:endParaRPr>
          </a:p>
          <a:p>
            <a:pPr marL="468000" indent="-216000">
              <a:lnSpc>
                <a:spcPct val="150000"/>
              </a:lnSpc>
              <a:spcBef>
                <a:spcPts val="400"/>
              </a:spcBef>
              <a:buClr>
                <a:srgbClr val="C00000"/>
              </a:buClr>
              <a:buFont typeface="Wingdings" pitchFamily="2" charset="2"/>
              <a:buChar char="Ø"/>
              <a:defRPr/>
            </a:pPr>
            <a:r>
              <a:rPr lang="zh-CN" altLang="en-US" sz="1400" b="1" kern="0" dirty="0">
                <a:latin typeface="+mj-ea"/>
                <a:ea typeface="+mj-ea"/>
              </a:rPr>
              <a:t>（</a:t>
            </a:r>
            <a:r>
              <a:rPr lang="en-US" altLang="zh-CN" sz="1400" b="1" kern="0" dirty="0">
                <a:latin typeface="+mj-ea"/>
                <a:ea typeface="+mj-ea"/>
              </a:rPr>
              <a:t>3</a:t>
            </a:r>
            <a:r>
              <a:rPr lang="zh-CN" altLang="en-US" sz="1400" b="1" kern="0" dirty="0">
                <a:latin typeface="+mj-ea"/>
                <a:ea typeface="+mj-ea"/>
              </a:rPr>
              <a:t>）访问控制机制：</a:t>
            </a:r>
            <a:r>
              <a:rPr lang="zh-CN" altLang="en-US" sz="1400" kern="0" dirty="0">
                <a:latin typeface="+mj-ea"/>
                <a:ea typeface="+mj-ea"/>
              </a:rPr>
              <a:t>利用某个实体经鉴别的身份或关于该实体的信息或该实体的权标，进行确定并实施实体的访问权；可用于通讯连接的任何一端或用在中间连接的任何位置；</a:t>
            </a:r>
            <a:endParaRPr lang="en-US" altLang="zh-CN" sz="1400" kern="0" dirty="0">
              <a:latin typeface="+mj-ea"/>
              <a:ea typeface="+mj-ea"/>
            </a:endParaRPr>
          </a:p>
          <a:p>
            <a:pPr marL="468000" indent="-216000">
              <a:lnSpc>
                <a:spcPct val="150000"/>
              </a:lnSpc>
              <a:spcBef>
                <a:spcPts val="400"/>
              </a:spcBef>
              <a:buClr>
                <a:srgbClr val="C00000"/>
              </a:buClr>
              <a:buFont typeface="Wingdings" pitchFamily="2" charset="2"/>
              <a:buChar char="Ø"/>
              <a:defRPr/>
            </a:pPr>
            <a:r>
              <a:rPr lang="zh-CN" altLang="en-US" sz="1400" b="1" kern="0" dirty="0">
                <a:latin typeface="+mj-ea"/>
                <a:ea typeface="+mj-ea"/>
              </a:rPr>
              <a:t>（</a:t>
            </a:r>
            <a:r>
              <a:rPr lang="en-US" altLang="zh-CN" sz="1400" b="1" kern="0" dirty="0">
                <a:latin typeface="+mj-ea"/>
                <a:ea typeface="+mj-ea"/>
              </a:rPr>
              <a:t>4</a:t>
            </a:r>
            <a:r>
              <a:rPr lang="zh-CN" altLang="en-US" sz="1400" b="1" kern="0" dirty="0">
                <a:latin typeface="+mj-ea"/>
                <a:ea typeface="+mj-ea"/>
              </a:rPr>
              <a:t>）数据完整性机制：</a:t>
            </a:r>
            <a:r>
              <a:rPr lang="zh-CN" altLang="en-US" sz="1400" kern="0" dirty="0">
                <a:latin typeface="+mj-ea"/>
                <a:ea typeface="+mj-ea"/>
              </a:rPr>
              <a:t>两个方面，单个的数据单元或字段的完整性、数据单元串或字段串的完整性；</a:t>
            </a:r>
            <a:endParaRPr lang="en-US" altLang="zh-CN" sz="1400" kern="0" dirty="0">
              <a:latin typeface="+mj-ea"/>
              <a:ea typeface="+mj-ea"/>
            </a:endParaRPr>
          </a:p>
          <a:p>
            <a:pPr marL="468000" indent="-216000">
              <a:lnSpc>
                <a:spcPct val="150000"/>
              </a:lnSpc>
              <a:spcBef>
                <a:spcPts val="400"/>
              </a:spcBef>
              <a:buClr>
                <a:srgbClr val="C00000"/>
              </a:buClr>
              <a:buFont typeface="Wingdings" pitchFamily="2" charset="2"/>
              <a:buChar char="Ø"/>
              <a:defRPr/>
            </a:pPr>
            <a:r>
              <a:rPr lang="zh-CN" altLang="en-US" sz="1400" b="1" kern="0" dirty="0">
                <a:latin typeface="+mj-ea"/>
                <a:ea typeface="+mj-ea"/>
              </a:rPr>
              <a:t>（</a:t>
            </a:r>
            <a:r>
              <a:rPr lang="en-US" altLang="zh-CN" sz="1400" b="1" kern="0" dirty="0">
                <a:latin typeface="+mj-ea"/>
                <a:ea typeface="+mj-ea"/>
              </a:rPr>
              <a:t>5</a:t>
            </a:r>
            <a:r>
              <a:rPr lang="zh-CN" altLang="en-US" sz="1400" b="1" kern="0" dirty="0">
                <a:latin typeface="+mj-ea"/>
                <a:ea typeface="+mj-ea"/>
              </a:rPr>
              <a:t>）鉴别交换机制：</a:t>
            </a:r>
            <a:r>
              <a:rPr lang="zh-CN" altLang="en-US" sz="1400" kern="0" dirty="0">
                <a:latin typeface="+mj-ea"/>
                <a:ea typeface="+mj-ea"/>
              </a:rPr>
              <a:t>通过信息交换以确保实体身份的机制；</a:t>
            </a:r>
            <a:endParaRPr lang="en-US" altLang="zh-CN" sz="1400" kern="0" dirty="0">
              <a:latin typeface="+mj-ea"/>
              <a:ea typeface="+mj-ea"/>
            </a:endParaRPr>
          </a:p>
        </p:txBody>
      </p:sp>
    </p:spTree>
  </p:cSld>
  <p:clrMapOvr>
    <a:masterClrMapping/>
  </p:clrMapOvr>
  <p:transition spd="med">
    <p:randomBar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0032AEF5-2905-4D4A-A95A-105E91E7C124}"/>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D08C8F7E-E189-45AE-ADBB-3B7A28507BC2}"/>
              </a:ext>
            </a:extLst>
          </p:cNvPr>
          <p:cNvSpPr>
            <a:spLocks noChangeArrowheads="1"/>
          </p:cNvSpPr>
          <p:nvPr/>
        </p:nvSpPr>
        <p:spPr bwMode="auto">
          <a:xfrm>
            <a:off x="214282" y="571486"/>
            <a:ext cx="4669869"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3.3.3 </a:t>
            </a:r>
            <a:r>
              <a:rPr lang="zh-CN" altLang="en-US" sz="2000" b="1" dirty="0">
                <a:solidFill>
                  <a:srgbClr val="C00000"/>
                </a:solidFill>
                <a:effectLst>
                  <a:reflection blurRad="6350" stA="50000" endA="300" endPos="50000" dist="60007" dir="5400000" sy="-100000" algn="bl" rotWithShape="0"/>
                </a:effectLst>
                <a:latin typeface="+mj-ea"/>
                <a:ea typeface="+mj-ea"/>
              </a:rPr>
              <a:t>面向网络的</a:t>
            </a:r>
            <a:r>
              <a:rPr lang="en-US" altLang="zh-CN" sz="2000" b="1" dirty="0">
                <a:solidFill>
                  <a:srgbClr val="C00000"/>
                </a:solidFill>
                <a:effectLst>
                  <a:reflection blurRad="6350" stA="50000" endA="300" endPos="50000" dist="60007" dir="5400000" sy="-100000" algn="bl" rotWithShape="0"/>
                </a:effectLst>
                <a:latin typeface="+mj-ea"/>
                <a:ea typeface="+mj-ea"/>
              </a:rPr>
              <a:t>OSI</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67" name="内容占位符 2">
            <a:extLst>
              <a:ext uri="{FF2B5EF4-FFF2-40B4-BE49-F238E27FC236}">
                <a16:creationId xmlns:a16="http://schemas.microsoft.com/office/drawing/2014/main" id="{8B0EE291-A92E-4709-93F3-026B619FAC5B}"/>
              </a:ext>
            </a:extLst>
          </p:cNvPr>
          <p:cNvSpPr txBox="1">
            <a:spLocks/>
          </p:cNvSpPr>
          <p:nvPr/>
        </p:nvSpPr>
        <p:spPr bwMode="auto">
          <a:xfrm>
            <a:off x="357188" y="1285875"/>
            <a:ext cx="8215312" cy="2786063"/>
          </a:xfrm>
          <a:prstGeom prst="rect">
            <a:avLst/>
          </a:prstGeom>
          <a:noFill/>
          <a:ln w="9525">
            <a:noFill/>
            <a:miter lim="800000"/>
            <a:headEnd/>
            <a:tailEnd/>
          </a:ln>
        </p:spPr>
        <p:txBody>
          <a:bodyPr/>
          <a:lstStyle/>
          <a:p>
            <a:pPr marL="342900" indent="-342900">
              <a:lnSpc>
                <a:spcPts val="2400"/>
              </a:lnSpc>
              <a:buClr>
                <a:srgbClr val="C00000"/>
              </a:buClr>
              <a:buFont typeface="Wingdings" pitchFamily="2" charset="2"/>
              <a:buChar char="n"/>
              <a:defRPr/>
            </a:pPr>
            <a:r>
              <a:rPr lang="zh-CN" altLang="en-US" sz="1600" kern="0" dirty="0">
                <a:latin typeface="+mj-ea"/>
                <a:ea typeface="+mj-ea"/>
              </a:rPr>
              <a:t>国际标准化组织定义的安全机制有：</a:t>
            </a:r>
            <a:endParaRPr lang="en-US" altLang="zh-CN" sz="1600" kern="0" dirty="0">
              <a:latin typeface="+mj-ea"/>
              <a:ea typeface="+mj-ea"/>
            </a:endParaRPr>
          </a:p>
          <a:p>
            <a:pPr marL="468000" indent="-216000">
              <a:lnSpc>
                <a:spcPct val="150000"/>
              </a:lnSpc>
              <a:spcBef>
                <a:spcPts val="400"/>
              </a:spcBef>
              <a:buClr>
                <a:srgbClr val="C00000"/>
              </a:buClr>
              <a:buFont typeface="Wingdings" pitchFamily="2" charset="2"/>
              <a:buChar char="Ø"/>
              <a:defRPr/>
            </a:pPr>
            <a:r>
              <a:rPr lang="zh-CN" altLang="en-US" sz="1400" b="1" kern="0" dirty="0">
                <a:latin typeface="+mj-ea"/>
                <a:ea typeface="+mj-ea"/>
              </a:rPr>
              <a:t>（</a:t>
            </a:r>
            <a:r>
              <a:rPr lang="en-US" altLang="zh-CN" sz="1400" b="1" kern="0" dirty="0">
                <a:latin typeface="+mj-ea"/>
                <a:ea typeface="+mj-ea"/>
              </a:rPr>
              <a:t>6</a:t>
            </a:r>
            <a:r>
              <a:rPr lang="zh-CN" altLang="en-US" sz="1400" b="1" kern="0" dirty="0">
                <a:latin typeface="+mj-ea"/>
                <a:ea typeface="+mj-ea"/>
              </a:rPr>
              <a:t>）业务填充机制：</a:t>
            </a:r>
            <a:r>
              <a:rPr lang="zh-CN" altLang="en-US" sz="1400" kern="0" dirty="0">
                <a:latin typeface="+mj-ea"/>
                <a:ea typeface="+mj-ea"/>
              </a:rPr>
              <a:t>一种制造假的通讯实例、产生欺骗性数据单元或在数据单元中产生假数据的安全机制；提供对各种等级的保护，防止业务分析；只在业务填充受到保密性服务时有效；</a:t>
            </a:r>
            <a:endParaRPr lang="en-US" altLang="zh-CN" sz="1400" kern="0" dirty="0">
              <a:latin typeface="+mj-ea"/>
              <a:ea typeface="+mj-ea"/>
            </a:endParaRPr>
          </a:p>
          <a:p>
            <a:pPr marL="468000" indent="-216000">
              <a:lnSpc>
                <a:spcPct val="150000"/>
              </a:lnSpc>
              <a:spcBef>
                <a:spcPts val="400"/>
              </a:spcBef>
              <a:buClr>
                <a:srgbClr val="C00000"/>
              </a:buClr>
              <a:buFont typeface="Wingdings" pitchFamily="2" charset="2"/>
              <a:buChar char="Ø"/>
              <a:defRPr/>
            </a:pPr>
            <a:r>
              <a:rPr lang="zh-CN" altLang="en-US" sz="1400" b="1" kern="0" dirty="0">
                <a:latin typeface="+mj-ea"/>
                <a:ea typeface="+mj-ea"/>
              </a:rPr>
              <a:t>（</a:t>
            </a:r>
            <a:r>
              <a:rPr lang="en-US" altLang="zh-CN" sz="1400" b="1" kern="0" dirty="0">
                <a:latin typeface="+mj-ea"/>
                <a:ea typeface="+mj-ea"/>
              </a:rPr>
              <a:t>7</a:t>
            </a:r>
            <a:r>
              <a:rPr lang="zh-CN" altLang="en-US" sz="1400" b="1" kern="0" dirty="0">
                <a:latin typeface="+mj-ea"/>
                <a:ea typeface="+mj-ea"/>
              </a:rPr>
              <a:t>）路由控制机制：</a:t>
            </a:r>
            <a:r>
              <a:rPr lang="zh-CN" altLang="en-US" sz="1400" kern="0" dirty="0">
                <a:latin typeface="+mj-ea"/>
                <a:ea typeface="+mj-ea"/>
              </a:rPr>
              <a:t>路由既可以动态选择，也可以事先安排；携带某些安全标签的数据可能被安全策略禁止通过某些子网、中继站或链路；连接的发起者可以请求回避特定的子网、中继站或链路；</a:t>
            </a:r>
            <a:endParaRPr lang="en-US" altLang="zh-CN" sz="1400" kern="0" dirty="0">
              <a:latin typeface="+mj-ea"/>
              <a:ea typeface="+mj-ea"/>
            </a:endParaRPr>
          </a:p>
          <a:p>
            <a:pPr marL="468000" indent="-216000">
              <a:lnSpc>
                <a:spcPct val="150000"/>
              </a:lnSpc>
              <a:spcBef>
                <a:spcPts val="400"/>
              </a:spcBef>
              <a:buClr>
                <a:srgbClr val="C00000"/>
              </a:buClr>
              <a:buFont typeface="Wingdings" pitchFamily="2" charset="2"/>
              <a:buChar char="Ø"/>
              <a:defRPr/>
            </a:pPr>
            <a:r>
              <a:rPr lang="zh-CN" altLang="en-US" sz="1400" b="1" kern="0" dirty="0">
                <a:latin typeface="+mj-ea"/>
                <a:ea typeface="+mj-ea"/>
              </a:rPr>
              <a:t>（</a:t>
            </a:r>
            <a:r>
              <a:rPr lang="en-US" altLang="zh-CN" sz="1400" b="1" kern="0" dirty="0">
                <a:latin typeface="+mj-ea"/>
                <a:ea typeface="+mj-ea"/>
              </a:rPr>
              <a:t>8</a:t>
            </a:r>
            <a:r>
              <a:rPr lang="zh-CN" altLang="en-US" sz="1400" b="1" kern="0" dirty="0">
                <a:latin typeface="+mj-ea"/>
                <a:ea typeface="+mj-ea"/>
              </a:rPr>
              <a:t>）公证机制：</a:t>
            </a:r>
            <a:r>
              <a:rPr lang="zh-CN" altLang="en-US" sz="1400" kern="0" dirty="0">
                <a:latin typeface="+mj-ea"/>
                <a:ea typeface="+mj-ea"/>
              </a:rPr>
              <a:t>关于在两个或三个实体之间进行通选的数据的性能，可由公证机制来保证；保证由第三方提供；第三方得到通讯实体的信任。</a:t>
            </a:r>
            <a:endParaRPr lang="en-US" altLang="zh-CN" sz="1400" kern="0" dirty="0">
              <a:latin typeface="+mj-ea"/>
              <a:ea typeface="+mj-ea"/>
            </a:endParaRPr>
          </a:p>
        </p:txBody>
      </p:sp>
    </p:spTree>
  </p:cSld>
  <p:clrMapOvr>
    <a:masterClrMapping/>
  </p:clrMapOvr>
  <p:transition spd="med">
    <p:randomBar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A713840A-456A-43DA-8EF9-D4109B1EB353}"/>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E4339996-148A-4644-AD39-B452418148E4}"/>
              </a:ext>
            </a:extLst>
          </p:cNvPr>
          <p:cNvSpPr>
            <a:spLocks noChangeArrowheads="1"/>
          </p:cNvSpPr>
          <p:nvPr/>
        </p:nvSpPr>
        <p:spPr bwMode="auto">
          <a:xfrm>
            <a:off x="214282" y="571486"/>
            <a:ext cx="4669869"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3.3.3 </a:t>
            </a:r>
            <a:r>
              <a:rPr lang="zh-CN" altLang="en-US" sz="2000" b="1" dirty="0">
                <a:solidFill>
                  <a:srgbClr val="C00000"/>
                </a:solidFill>
                <a:effectLst>
                  <a:reflection blurRad="6350" stA="50000" endA="300" endPos="50000" dist="60007" dir="5400000" sy="-100000" algn="bl" rotWithShape="0"/>
                </a:effectLst>
                <a:latin typeface="+mj-ea"/>
                <a:ea typeface="+mj-ea"/>
              </a:rPr>
              <a:t>面向网络的</a:t>
            </a:r>
            <a:r>
              <a:rPr lang="en-US" altLang="zh-CN" sz="2000" b="1" dirty="0">
                <a:solidFill>
                  <a:srgbClr val="C00000"/>
                </a:solidFill>
                <a:effectLst>
                  <a:reflection blurRad="6350" stA="50000" endA="300" endPos="50000" dist="60007" dir="5400000" sy="-100000" algn="bl" rotWithShape="0"/>
                </a:effectLst>
                <a:latin typeface="+mj-ea"/>
                <a:ea typeface="+mj-ea"/>
              </a:rPr>
              <a:t>OSI</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graphicFrame>
        <p:nvGraphicFramePr>
          <p:cNvPr id="8" name="表格 7">
            <a:extLst>
              <a:ext uri="{FF2B5EF4-FFF2-40B4-BE49-F238E27FC236}">
                <a16:creationId xmlns:a16="http://schemas.microsoft.com/office/drawing/2014/main" id="{862CFA29-AA50-43EF-A4EA-17B5BEF77503}"/>
              </a:ext>
            </a:extLst>
          </p:cNvPr>
          <p:cNvGraphicFramePr>
            <a:graphicFrameLocks noGrp="1"/>
          </p:cNvGraphicFramePr>
          <p:nvPr/>
        </p:nvGraphicFramePr>
        <p:xfrm>
          <a:off x="1428750" y="1214438"/>
          <a:ext cx="6143626" cy="3419482"/>
        </p:xfrm>
        <a:graphic>
          <a:graphicData uri="http://schemas.openxmlformats.org/drawingml/2006/table">
            <a:tbl>
              <a:tblPr firstRow="1" bandRow="1">
                <a:tableStyleId>{5C22544A-7EE6-4342-B048-85BDC9FD1C3A}</a:tableStyleId>
              </a:tblPr>
              <a:tblGrid>
                <a:gridCol w="785809">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428625">
                  <a:extLst>
                    <a:ext uri="{9D8B030D-6E8A-4147-A177-3AD203B41FA5}">
                      <a16:colId xmlns:a16="http://schemas.microsoft.com/office/drawing/2014/main" val="20002"/>
                    </a:ext>
                  </a:extLst>
                </a:gridCol>
                <a:gridCol w="428625">
                  <a:extLst>
                    <a:ext uri="{9D8B030D-6E8A-4147-A177-3AD203B41FA5}">
                      <a16:colId xmlns:a16="http://schemas.microsoft.com/office/drawing/2014/main" val="20003"/>
                    </a:ext>
                  </a:extLst>
                </a:gridCol>
                <a:gridCol w="500063">
                  <a:extLst>
                    <a:ext uri="{9D8B030D-6E8A-4147-A177-3AD203B41FA5}">
                      <a16:colId xmlns:a16="http://schemas.microsoft.com/office/drawing/2014/main" val="20004"/>
                    </a:ext>
                  </a:extLst>
                </a:gridCol>
                <a:gridCol w="571504">
                  <a:extLst>
                    <a:ext uri="{9D8B030D-6E8A-4147-A177-3AD203B41FA5}">
                      <a16:colId xmlns:a16="http://schemas.microsoft.com/office/drawing/2014/main" val="20005"/>
                    </a:ext>
                  </a:extLst>
                </a:gridCol>
                <a:gridCol w="428625">
                  <a:extLst>
                    <a:ext uri="{9D8B030D-6E8A-4147-A177-3AD203B41FA5}">
                      <a16:colId xmlns:a16="http://schemas.microsoft.com/office/drawing/2014/main" val="20006"/>
                    </a:ext>
                  </a:extLst>
                </a:gridCol>
                <a:gridCol w="428625">
                  <a:extLst>
                    <a:ext uri="{9D8B030D-6E8A-4147-A177-3AD203B41FA5}">
                      <a16:colId xmlns:a16="http://schemas.microsoft.com/office/drawing/2014/main" val="20007"/>
                    </a:ext>
                  </a:extLst>
                </a:gridCol>
                <a:gridCol w="428625">
                  <a:extLst>
                    <a:ext uri="{9D8B030D-6E8A-4147-A177-3AD203B41FA5}">
                      <a16:colId xmlns:a16="http://schemas.microsoft.com/office/drawing/2014/main" val="20008"/>
                    </a:ext>
                  </a:extLst>
                </a:gridCol>
                <a:gridCol w="428625">
                  <a:extLst>
                    <a:ext uri="{9D8B030D-6E8A-4147-A177-3AD203B41FA5}">
                      <a16:colId xmlns:a16="http://schemas.microsoft.com/office/drawing/2014/main" val="20009"/>
                    </a:ext>
                  </a:extLst>
                </a:gridCol>
              </a:tblGrid>
              <a:tr h="201146">
                <a:tc rowSpan="2">
                  <a:txBody>
                    <a:bodyPr/>
                    <a:lstStyle/>
                    <a:p>
                      <a:pPr algn="ctr"/>
                      <a:r>
                        <a:rPr lang="en-US" altLang="zh-CN" sz="1000" dirty="0">
                          <a:solidFill>
                            <a:schemeClr val="tx1"/>
                          </a:solidFill>
                          <a:latin typeface="+mj-ea"/>
                          <a:ea typeface="+mj-ea"/>
                        </a:rPr>
                        <a:t>                                   </a:t>
                      </a:r>
                      <a:endParaRPr lang="zh-CN" altLang="en-US" sz="1000" dirty="0">
                        <a:solidFill>
                          <a:schemeClr val="tx1"/>
                        </a:solidFill>
                        <a:latin typeface="+mj-ea"/>
                        <a:ea typeface="+mj-ea"/>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rowSpan="2">
                  <a:txBody>
                    <a:bodyPr/>
                    <a:lstStyle/>
                    <a:p>
                      <a:pPr algn="l"/>
                      <a:r>
                        <a:rPr lang="en-US" altLang="zh-CN" sz="1000" dirty="0">
                          <a:solidFill>
                            <a:schemeClr val="tx1"/>
                          </a:solidFill>
                          <a:latin typeface="+mj-ea"/>
                          <a:ea typeface="+mj-ea"/>
                        </a:rPr>
                        <a:t>        </a:t>
                      </a:r>
                      <a:r>
                        <a:rPr lang="zh-CN" altLang="en-US" sz="1000" dirty="0">
                          <a:solidFill>
                            <a:schemeClr val="tx1"/>
                          </a:solidFill>
                          <a:latin typeface="+mj-ea"/>
                          <a:ea typeface="+mj-ea"/>
                        </a:rPr>
                        <a:t>安全服务</a:t>
                      </a:r>
                    </a:p>
                  </a:txBody>
                  <a:tcPr marL="8719" marR="8719" marT="4357" marB="4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gridSpan="8">
                  <a:txBody>
                    <a:bodyPr/>
                    <a:lstStyle/>
                    <a:p>
                      <a:pPr algn="ctr"/>
                      <a:r>
                        <a:rPr lang="zh-CN" altLang="en-US" sz="1000" dirty="0">
                          <a:solidFill>
                            <a:schemeClr val="tx1"/>
                          </a:solidFill>
                          <a:latin typeface="+mj-ea"/>
                          <a:ea typeface="+mj-ea"/>
                        </a:rPr>
                        <a:t>安全机制</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CN" altLang="en-US" sz="105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CN" altLang="en-US" sz="105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CN" altLang="en-US" sz="105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01146">
                <a:tc vMerge="1">
                  <a:txBody>
                    <a:bodyPr/>
                    <a:lstStyle/>
                    <a:p>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zh-CN" altLang="en-US" sz="1000" b="1" dirty="0">
                          <a:latin typeface="+mj-ea"/>
                          <a:ea typeface="+mj-ea"/>
                        </a:rPr>
                        <a:t>加密</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zh-CN" altLang="en-US" sz="1000" b="1" dirty="0">
                          <a:latin typeface="+mj-ea"/>
                          <a:ea typeface="+mj-ea"/>
                        </a:rPr>
                        <a:t>数字</a:t>
                      </a:r>
                      <a:endParaRPr lang="en-US" altLang="zh-CN" sz="1000" b="1" dirty="0">
                        <a:latin typeface="+mj-ea"/>
                        <a:ea typeface="+mj-ea"/>
                      </a:endParaRPr>
                    </a:p>
                    <a:p>
                      <a:pPr algn="ctr"/>
                      <a:r>
                        <a:rPr lang="zh-CN" altLang="en-US" sz="1000" b="1" dirty="0">
                          <a:latin typeface="+mj-ea"/>
                          <a:ea typeface="+mj-ea"/>
                        </a:rPr>
                        <a:t>签名</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zh-CN" altLang="en-US" sz="1000" b="1" dirty="0">
                          <a:latin typeface="+mj-ea"/>
                          <a:ea typeface="+mj-ea"/>
                        </a:rPr>
                        <a:t>访问</a:t>
                      </a:r>
                      <a:endParaRPr lang="en-US" altLang="zh-CN" sz="1000" b="1" dirty="0">
                        <a:latin typeface="+mj-ea"/>
                        <a:ea typeface="+mj-ea"/>
                      </a:endParaRPr>
                    </a:p>
                    <a:p>
                      <a:pPr algn="ctr"/>
                      <a:r>
                        <a:rPr lang="zh-CN" altLang="en-US" sz="1000" b="1" dirty="0">
                          <a:latin typeface="+mj-ea"/>
                          <a:ea typeface="+mj-ea"/>
                        </a:rPr>
                        <a:t>控制</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zh-CN" altLang="en-US" sz="1000" b="1" dirty="0">
                          <a:latin typeface="+mj-ea"/>
                          <a:ea typeface="+mj-ea"/>
                        </a:rPr>
                        <a:t>数据</a:t>
                      </a:r>
                      <a:endParaRPr lang="en-US" altLang="zh-CN" sz="1000" b="1" dirty="0">
                        <a:latin typeface="+mj-ea"/>
                        <a:ea typeface="+mj-ea"/>
                      </a:endParaRPr>
                    </a:p>
                    <a:p>
                      <a:pPr algn="ctr"/>
                      <a:r>
                        <a:rPr lang="zh-CN" altLang="en-US" sz="1000" b="1" dirty="0">
                          <a:latin typeface="+mj-ea"/>
                          <a:ea typeface="+mj-ea"/>
                        </a:rPr>
                        <a:t>完整性</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zh-CN" altLang="en-US" sz="1000" b="1" dirty="0">
                          <a:latin typeface="+mj-ea"/>
                          <a:ea typeface="+mj-ea"/>
                        </a:rPr>
                        <a:t>鉴别</a:t>
                      </a:r>
                      <a:endParaRPr lang="en-US" altLang="zh-CN" sz="1000" b="1" dirty="0">
                        <a:latin typeface="+mj-ea"/>
                        <a:ea typeface="+mj-ea"/>
                      </a:endParaRPr>
                    </a:p>
                    <a:p>
                      <a:pPr algn="ctr"/>
                      <a:r>
                        <a:rPr lang="zh-CN" altLang="en-US" sz="1000" b="1" dirty="0">
                          <a:latin typeface="+mj-ea"/>
                          <a:ea typeface="+mj-ea"/>
                        </a:rPr>
                        <a:t>交换</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zh-CN" altLang="en-US" sz="1000" b="1" dirty="0">
                          <a:latin typeface="+mj-ea"/>
                          <a:ea typeface="+mj-ea"/>
                        </a:rPr>
                        <a:t>业务</a:t>
                      </a:r>
                      <a:endParaRPr lang="en-US" altLang="zh-CN" sz="1000" b="1" dirty="0">
                        <a:latin typeface="+mj-ea"/>
                        <a:ea typeface="+mj-ea"/>
                      </a:endParaRPr>
                    </a:p>
                    <a:p>
                      <a:pPr algn="ctr"/>
                      <a:r>
                        <a:rPr lang="zh-CN" altLang="en-US" sz="1000" b="1" dirty="0">
                          <a:latin typeface="+mj-ea"/>
                          <a:ea typeface="+mj-ea"/>
                        </a:rPr>
                        <a:t>填充</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zh-CN" altLang="en-US" sz="1000" b="1" dirty="0">
                          <a:latin typeface="+mj-ea"/>
                          <a:ea typeface="+mj-ea"/>
                        </a:rPr>
                        <a:t>路由</a:t>
                      </a:r>
                      <a:endParaRPr lang="en-US" altLang="zh-CN" sz="1000" b="1" dirty="0">
                        <a:latin typeface="+mj-ea"/>
                        <a:ea typeface="+mj-ea"/>
                      </a:endParaRPr>
                    </a:p>
                    <a:p>
                      <a:pPr algn="ctr"/>
                      <a:r>
                        <a:rPr lang="zh-CN" altLang="en-US" sz="1000" b="1" dirty="0">
                          <a:latin typeface="+mj-ea"/>
                          <a:ea typeface="+mj-ea"/>
                        </a:rPr>
                        <a:t>控制</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zh-CN" altLang="en-US" sz="1000" b="1" dirty="0">
                          <a:latin typeface="+mj-ea"/>
                          <a:ea typeface="+mj-ea"/>
                        </a:rPr>
                        <a:t>公证</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01146">
                <a:tc gridSpan="2">
                  <a:txBody>
                    <a:bodyPr/>
                    <a:lstStyle/>
                    <a:p>
                      <a:endParaRPr lang="zh-CN" altLang="en-US" sz="1000" dirty="0">
                        <a:latin typeface="+mj-ea"/>
                        <a:ea typeface="+mj-ea"/>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05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05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05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05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01146">
                <a:tc rowSpan="2">
                  <a:txBody>
                    <a:bodyPr/>
                    <a:lstStyle/>
                    <a:p>
                      <a:pPr algn="ctr"/>
                      <a:r>
                        <a:rPr lang="zh-CN" altLang="en-US" sz="1000" dirty="0">
                          <a:latin typeface="+mj-ea"/>
                          <a:ea typeface="+mj-ea"/>
                        </a:rPr>
                        <a:t>鉴别服务</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dirty="0">
                          <a:latin typeface="+mj-ea"/>
                          <a:ea typeface="+mj-ea"/>
                        </a:rPr>
                        <a:t>对等实体鉴别</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01146">
                <a:tc vMerge="1">
                  <a:txBody>
                    <a:bodyPr/>
                    <a:lstStyle/>
                    <a:p>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dirty="0">
                          <a:latin typeface="+mj-ea"/>
                          <a:ea typeface="+mj-ea"/>
                        </a:rPr>
                        <a:t>数据源鉴别</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000" kern="1200" dirty="0">
                          <a:solidFill>
                            <a:schemeClr val="dk1"/>
                          </a:solidFill>
                          <a:latin typeface="Times New Roman" pitchFamily="18" charset="0"/>
                          <a:ea typeface="+mn-ea"/>
                          <a:cs typeface="Times New Roman" pitchFamily="18" charset="0"/>
                        </a:rPr>
                        <a:t>Y</a:t>
                      </a:r>
                      <a:endParaRPr lang="zh-CN" altLang="en-US" sz="1000" kern="1200" dirty="0">
                        <a:solidFill>
                          <a:schemeClr val="dk1"/>
                        </a:solidFill>
                        <a:latin typeface="Times New Roman" pitchFamily="18" charset="0"/>
                        <a:ea typeface="+mn-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01146">
                <a:tc>
                  <a:txBody>
                    <a:bodyPr/>
                    <a:lstStyle/>
                    <a:p>
                      <a:pPr algn="ctr"/>
                      <a:r>
                        <a:rPr lang="zh-CN" altLang="en-US" sz="1000" dirty="0">
                          <a:latin typeface="+mj-ea"/>
                          <a:ea typeface="+mj-ea"/>
                        </a:rPr>
                        <a:t>访问控制</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dirty="0">
                          <a:latin typeface="+mj-ea"/>
                          <a:ea typeface="+mj-ea"/>
                        </a:rPr>
                        <a:t>访问控制服务</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01146">
                <a:tc rowSpan="4">
                  <a:txBody>
                    <a:bodyPr/>
                    <a:lstStyle/>
                    <a:p>
                      <a:pPr algn="ctr"/>
                      <a:r>
                        <a:rPr lang="zh-CN" altLang="en-US" sz="1000" dirty="0">
                          <a:latin typeface="+mj-ea"/>
                          <a:ea typeface="+mj-ea"/>
                        </a:rPr>
                        <a:t>数据保密性</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dirty="0">
                          <a:latin typeface="+mj-ea"/>
                          <a:ea typeface="+mj-ea"/>
                        </a:rPr>
                        <a:t>连接保密性</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01146">
                <a:tc vMerge="1">
                  <a:txBody>
                    <a:bodyPr/>
                    <a:lstStyle/>
                    <a:p>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dirty="0">
                          <a:latin typeface="+mj-ea"/>
                          <a:ea typeface="+mj-ea"/>
                        </a:rPr>
                        <a:t>无连接保密性</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01146">
                <a:tc vMerge="1">
                  <a:txBody>
                    <a:bodyPr/>
                    <a:lstStyle/>
                    <a:p>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dirty="0">
                          <a:latin typeface="+mj-ea"/>
                          <a:ea typeface="+mj-ea"/>
                        </a:rPr>
                        <a:t>选择字段保密性</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01146">
                <a:tc vMerge="1">
                  <a:txBody>
                    <a:bodyPr/>
                    <a:lstStyle/>
                    <a:p>
                      <a:endParaRPr lang="zh-CN" altLang="en-US" sz="105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dirty="0">
                          <a:latin typeface="+mj-ea"/>
                          <a:ea typeface="+mj-ea"/>
                        </a:rPr>
                        <a:t>流量保密性</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01146">
                <a:tc rowSpan="5">
                  <a:txBody>
                    <a:bodyPr/>
                    <a:lstStyle/>
                    <a:p>
                      <a:pPr algn="ctr"/>
                      <a:r>
                        <a:rPr lang="zh-CN" altLang="en-US" sz="1000" dirty="0">
                          <a:latin typeface="+mj-ea"/>
                          <a:ea typeface="+mj-ea"/>
                        </a:rPr>
                        <a:t>数据完整性</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dirty="0">
                          <a:latin typeface="+mj-ea"/>
                          <a:ea typeface="+mj-ea"/>
                        </a:rPr>
                        <a:t>有恢复功能的连接完整性</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01146">
                <a:tc vMerge="1">
                  <a:txBody>
                    <a:bodyPr/>
                    <a:lstStyle/>
                    <a:p>
                      <a:endParaRPr lang="zh-CN" altLang="en-US" sz="105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dirty="0">
                          <a:latin typeface="+mj-ea"/>
                          <a:ea typeface="+mj-ea"/>
                        </a:rPr>
                        <a:t>无恢复功能连接完整性</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01146">
                <a:tc vMerge="1">
                  <a:txBody>
                    <a:bodyPr/>
                    <a:lstStyle/>
                    <a:p>
                      <a:endParaRPr lang="zh-CN" altLang="en-US" sz="105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dirty="0">
                          <a:latin typeface="+mj-ea"/>
                          <a:ea typeface="+mj-ea"/>
                        </a:rPr>
                        <a:t>选择字段连接完整性</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01146">
                <a:tc vMerge="1">
                  <a:txBody>
                    <a:bodyPr/>
                    <a:lstStyle/>
                    <a:p>
                      <a:endParaRPr lang="zh-CN" altLang="en-US" sz="105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dirty="0">
                          <a:latin typeface="+mj-ea"/>
                          <a:ea typeface="+mj-ea"/>
                        </a:rPr>
                        <a:t>无连接完整性</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01146">
                <a:tc vMerge="1">
                  <a:txBody>
                    <a:bodyPr/>
                    <a:lstStyle/>
                    <a:p>
                      <a:endParaRPr lang="zh-CN" altLang="en-US" sz="105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dirty="0">
                          <a:latin typeface="+mj-ea"/>
                          <a:ea typeface="+mj-ea"/>
                        </a:rPr>
                        <a:t>选择字段非连接完整性</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01146">
                <a:tc rowSpan="2">
                  <a:txBody>
                    <a:bodyPr/>
                    <a:lstStyle/>
                    <a:p>
                      <a:pPr algn="ctr"/>
                      <a:r>
                        <a:rPr lang="zh-CN" altLang="en-US" sz="1000" dirty="0">
                          <a:latin typeface="+mj-ea"/>
                          <a:ea typeface="+mj-ea"/>
                        </a:rPr>
                        <a:t>抗抵赖性</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zh-CN" altLang="en-US" sz="1000" dirty="0">
                          <a:latin typeface="+mj-ea"/>
                          <a:ea typeface="+mj-ea"/>
                        </a:rPr>
                        <a:t>源发方抗抵赖</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201146">
                <a:tc vMerge="1">
                  <a:txBody>
                    <a:bodyPr/>
                    <a:lstStyle/>
                    <a:p>
                      <a:endParaRPr lang="zh-CN" altLang="en-US" sz="1050" dirty="0">
                        <a:latin typeface="+mj-ea"/>
                        <a:ea typeface="+mj-ea"/>
                      </a:endParaRPr>
                    </a:p>
                  </a:txBody>
                  <a:tcPr marL="8719" marR="8719" marT="4358" marB="43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dirty="0">
                          <a:latin typeface="+mj-ea"/>
                          <a:ea typeface="+mj-ea"/>
                        </a:rPr>
                        <a:t>接收方抗抵赖</a:t>
                      </a: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itchFamily="18" charset="0"/>
                          <a:ea typeface="+mj-ea"/>
                          <a:cs typeface="Times New Roman" pitchFamily="18" charset="0"/>
                        </a:rPr>
                        <a:t>Y</a:t>
                      </a:r>
                      <a:endParaRPr lang="zh-CN" altLang="en-US" sz="1000" dirty="0">
                        <a:latin typeface="Times New Roman" pitchFamily="18" charset="0"/>
                        <a:ea typeface="+mj-ea"/>
                        <a:cs typeface="Times New Roman" pitchFamily="18" charset="0"/>
                      </a:endParaRPr>
                    </a:p>
                  </a:txBody>
                  <a:tcPr marL="8719" marR="8719" marT="4357" marB="43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bl>
          </a:graphicData>
        </a:graphic>
      </p:graphicFrame>
      <p:sp>
        <p:nvSpPr>
          <p:cNvPr id="13" name="矩形 3">
            <a:extLst>
              <a:ext uri="{FF2B5EF4-FFF2-40B4-BE49-F238E27FC236}">
                <a16:creationId xmlns:a16="http://schemas.microsoft.com/office/drawing/2014/main" id="{F4FC36A6-4B43-4C79-BE65-FF2365421365}"/>
              </a:ext>
            </a:extLst>
          </p:cNvPr>
          <p:cNvSpPr>
            <a:spLocks noChangeArrowheads="1"/>
          </p:cNvSpPr>
          <p:nvPr/>
        </p:nvSpPr>
        <p:spPr bwMode="auto">
          <a:xfrm>
            <a:off x="3071813" y="857250"/>
            <a:ext cx="3373437" cy="307975"/>
          </a:xfrm>
          <a:prstGeom prst="rect">
            <a:avLst/>
          </a:prstGeom>
          <a:solidFill>
            <a:schemeClr val="bg1"/>
          </a:solidFill>
          <a:ln w="9525">
            <a:noFill/>
            <a:miter lim="800000"/>
            <a:headEnd/>
            <a:tailEnd/>
          </a:ln>
        </p:spPr>
        <p:txBody>
          <a:bodyPr wrap="none">
            <a:spAutoFit/>
          </a:bodyPr>
          <a:lstStyle/>
          <a:p>
            <a:pPr algn="ctr" eaLnBrk="1" hangingPunct="1">
              <a:defRPr/>
            </a:pPr>
            <a:r>
              <a:rPr lang="en-US" altLang="zh-CN" sz="1400" b="1" dirty="0">
                <a:latin typeface="+mj-ea"/>
                <a:ea typeface="+mj-ea"/>
              </a:rPr>
              <a:t>OSI</a:t>
            </a:r>
            <a:r>
              <a:rPr lang="zh-CN" altLang="en-US" sz="1400" b="1" dirty="0">
                <a:latin typeface="+mj-ea"/>
                <a:ea typeface="+mj-ea"/>
              </a:rPr>
              <a:t>安全服务于安全机制之间的对应关系</a:t>
            </a:r>
          </a:p>
        </p:txBody>
      </p:sp>
    </p:spTree>
  </p:cSld>
  <p:clrMapOvr>
    <a:masterClrMapping/>
  </p:clrMapOvr>
  <p:transition spd="med">
    <p:randomBar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41268271-5543-4178-90E3-6C9169DE764B}"/>
              </a:ext>
            </a:extLst>
          </p:cNvPr>
          <p:cNvSpPr>
            <a:spLocks noChangeArrowheads="1"/>
          </p:cNvSpPr>
          <p:nvPr/>
        </p:nvSpPr>
        <p:spPr bwMode="auto">
          <a:xfrm>
            <a:off x="6286512" y="142858"/>
            <a:ext cx="2704588"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 </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sp>
        <p:nvSpPr>
          <p:cNvPr id="7" name="矩形 3">
            <a:extLst>
              <a:ext uri="{FF2B5EF4-FFF2-40B4-BE49-F238E27FC236}">
                <a16:creationId xmlns:a16="http://schemas.microsoft.com/office/drawing/2014/main" id="{3E3F0009-2FCF-4757-8C48-AA37925F90FB}"/>
              </a:ext>
            </a:extLst>
          </p:cNvPr>
          <p:cNvSpPr>
            <a:spLocks noChangeArrowheads="1"/>
          </p:cNvSpPr>
          <p:nvPr/>
        </p:nvSpPr>
        <p:spPr bwMode="auto">
          <a:xfrm>
            <a:off x="214282" y="571486"/>
            <a:ext cx="4669869" cy="400110"/>
          </a:xfrm>
          <a:prstGeom prst="rect">
            <a:avLst/>
          </a:prstGeom>
          <a:noFill/>
          <a:ln w="9525">
            <a:noFill/>
            <a:miter lim="800000"/>
            <a:headEnd/>
            <a:tailEnd/>
          </a:ln>
        </p:spPr>
        <p:txBody>
          <a:bodyPr wrap="none">
            <a:spAutoFit/>
          </a:bodyPr>
          <a:lstStyle/>
          <a:p>
            <a:pPr algn="ctr" eaLnBrk="1" hangingPunct="1">
              <a:defRPr/>
            </a:pPr>
            <a:r>
              <a:rPr lang="en-US" altLang="zh-CN" sz="2000" b="1" dirty="0">
                <a:solidFill>
                  <a:srgbClr val="C00000"/>
                </a:solidFill>
                <a:effectLst>
                  <a:reflection blurRad="6350" stA="50000" endA="300" endPos="50000" dist="60007" dir="5400000" sy="-100000" algn="bl" rotWithShape="0"/>
                </a:effectLst>
                <a:latin typeface="+mj-ea"/>
                <a:ea typeface="+mj-ea"/>
              </a:rPr>
              <a:t>3.3.3 </a:t>
            </a:r>
            <a:r>
              <a:rPr lang="zh-CN" altLang="en-US" sz="2000" b="1" dirty="0">
                <a:solidFill>
                  <a:srgbClr val="C00000"/>
                </a:solidFill>
                <a:effectLst>
                  <a:reflection blurRad="6350" stA="50000" endA="300" endPos="50000" dist="60007" dir="5400000" sy="-100000" algn="bl" rotWithShape="0"/>
                </a:effectLst>
                <a:latin typeface="+mj-ea"/>
                <a:ea typeface="+mj-ea"/>
              </a:rPr>
              <a:t>面向网络的</a:t>
            </a:r>
            <a:r>
              <a:rPr lang="en-US" altLang="zh-CN" sz="2000" b="1" dirty="0">
                <a:solidFill>
                  <a:srgbClr val="C00000"/>
                </a:solidFill>
                <a:effectLst>
                  <a:reflection blurRad="6350" stA="50000" endA="300" endPos="50000" dist="60007" dir="5400000" sy="-100000" algn="bl" rotWithShape="0"/>
                </a:effectLst>
                <a:latin typeface="+mj-ea"/>
                <a:ea typeface="+mj-ea"/>
              </a:rPr>
              <a:t>OSI</a:t>
            </a:r>
            <a:r>
              <a:rPr lang="zh-CN" altLang="en-US" sz="2000" b="1" dirty="0">
                <a:solidFill>
                  <a:srgbClr val="C00000"/>
                </a:solidFill>
                <a:effectLst>
                  <a:reflection blurRad="6350" stA="50000" endA="300" endPos="50000" dist="60007" dir="5400000" sy="-100000" algn="bl" rotWithShape="0"/>
                </a:effectLst>
                <a:latin typeface="+mj-ea"/>
                <a:ea typeface="+mj-ea"/>
              </a:rPr>
              <a:t>信息安全体系结构</a:t>
            </a:r>
          </a:p>
        </p:txBody>
      </p:sp>
      <p:graphicFrame>
        <p:nvGraphicFramePr>
          <p:cNvPr id="8" name="表格 7">
            <a:extLst>
              <a:ext uri="{FF2B5EF4-FFF2-40B4-BE49-F238E27FC236}">
                <a16:creationId xmlns:a16="http://schemas.microsoft.com/office/drawing/2014/main" id="{3FA669BA-2FE4-4DDA-8C42-F8E75C483A14}"/>
              </a:ext>
            </a:extLst>
          </p:cNvPr>
          <p:cNvGraphicFramePr>
            <a:graphicFrameLocks noGrp="1"/>
          </p:cNvGraphicFramePr>
          <p:nvPr/>
        </p:nvGraphicFramePr>
        <p:xfrm>
          <a:off x="1643063" y="1214438"/>
          <a:ext cx="5572125" cy="3427404"/>
        </p:xfrm>
        <a:graphic>
          <a:graphicData uri="http://schemas.openxmlformats.org/drawingml/2006/table">
            <a:tbl>
              <a:tblPr/>
              <a:tblGrid>
                <a:gridCol w="785812">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428625">
                  <a:extLst>
                    <a:ext uri="{9D8B030D-6E8A-4147-A177-3AD203B41FA5}">
                      <a16:colId xmlns:a16="http://schemas.microsoft.com/office/drawing/2014/main" val="20002"/>
                    </a:ext>
                  </a:extLst>
                </a:gridCol>
                <a:gridCol w="428625">
                  <a:extLst>
                    <a:ext uri="{9D8B030D-6E8A-4147-A177-3AD203B41FA5}">
                      <a16:colId xmlns:a16="http://schemas.microsoft.com/office/drawing/2014/main" val="20003"/>
                    </a:ext>
                  </a:extLst>
                </a:gridCol>
                <a:gridCol w="500063">
                  <a:extLst>
                    <a:ext uri="{9D8B030D-6E8A-4147-A177-3AD203B41FA5}">
                      <a16:colId xmlns:a16="http://schemas.microsoft.com/office/drawing/2014/main" val="20004"/>
                    </a:ext>
                  </a:extLst>
                </a:gridCol>
                <a:gridCol w="428625">
                  <a:extLst>
                    <a:ext uri="{9D8B030D-6E8A-4147-A177-3AD203B41FA5}">
                      <a16:colId xmlns:a16="http://schemas.microsoft.com/office/drawing/2014/main" val="20005"/>
                    </a:ext>
                  </a:extLst>
                </a:gridCol>
                <a:gridCol w="428625">
                  <a:extLst>
                    <a:ext uri="{9D8B030D-6E8A-4147-A177-3AD203B41FA5}">
                      <a16:colId xmlns:a16="http://schemas.microsoft.com/office/drawing/2014/main" val="20006"/>
                    </a:ext>
                  </a:extLst>
                </a:gridCol>
                <a:gridCol w="357187">
                  <a:extLst>
                    <a:ext uri="{9D8B030D-6E8A-4147-A177-3AD203B41FA5}">
                      <a16:colId xmlns:a16="http://schemas.microsoft.com/office/drawing/2014/main" val="20007"/>
                    </a:ext>
                  </a:extLst>
                </a:gridCol>
                <a:gridCol w="500063">
                  <a:extLst>
                    <a:ext uri="{9D8B030D-6E8A-4147-A177-3AD203B41FA5}">
                      <a16:colId xmlns:a16="http://schemas.microsoft.com/office/drawing/2014/main" val="20008"/>
                    </a:ext>
                  </a:extLst>
                </a:gridCol>
              </a:tblGrid>
              <a:tr h="201612">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chemeClr val="tx1"/>
                          </a:solidFill>
                          <a:effectLst/>
                          <a:latin typeface="微软雅黑" pitchFamily="34" charset="-122"/>
                          <a:ea typeface="微软雅黑" pitchFamily="34" charset="-122"/>
                        </a:rPr>
                        <a:t>                                   </a:t>
                      </a:r>
                      <a:endParaRPr kumimoji="0" lang="zh-CN" altLang="en-US" sz="1000" b="1" i="0" u="none" strike="noStrike" cap="none" normalizeH="0" baseline="0">
                        <a:ln>
                          <a:noFill/>
                        </a:ln>
                        <a:solidFill>
                          <a:schemeClr val="tx1"/>
                        </a:solidFill>
                        <a:effectLst/>
                        <a:latin typeface="微软雅黑" pitchFamily="34" charset="-122"/>
                        <a:ea typeface="微软雅黑" pitchFamily="34" charset="-122"/>
                      </a:endParaRPr>
                    </a:p>
                  </a:txBody>
                  <a:tcPr marL="8719" marR="8719" marT="4358" marB="435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chemeClr val="tx1"/>
                          </a:solidFill>
                          <a:effectLst/>
                          <a:latin typeface="微软雅黑" pitchFamily="34" charset="-122"/>
                          <a:ea typeface="微软雅黑" pitchFamily="34" charset="-122"/>
                        </a:rPr>
                        <a:t>   </a:t>
                      </a:r>
                      <a:r>
                        <a:rPr kumimoji="0" lang="zh-CN" altLang="en-US" sz="1000" b="1" i="0" u="none" strike="noStrike" cap="none" normalizeH="0" baseline="0">
                          <a:ln>
                            <a:noFill/>
                          </a:ln>
                          <a:solidFill>
                            <a:schemeClr val="tx1"/>
                          </a:solidFill>
                          <a:effectLst/>
                          <a:latin typeface="微软雅黑" pitchFamily="34" charset="-122"/>
                          <a:ea typeface="微软雅黑" pitchFamily="34" charset="-122"/>
                        </a:rPr>
                        <a:t>安全服务</a:t>
                      </a:r>
                      <a:endParaRPr kumimoji="0" lang="en-US" altLang="zh-CN" sz="1000" b="1" i="0" u="none" strike="noStrike" cap="none" normalizeH="0" baseline="0">
                        <a:ln>
                          <a:noFill/>
                        </a:ln>
                        <a:solidFill>
                          <a:schemeClr val="tx1"/>
                        </a:solidFill>
                        <a:effectLst/>
                        <a:latin typeface="微软雅黑" pitchFamily="34" charset="-122"/>
                        <a:ea typeface="微软雅黑" pitchFamily="34"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000" b="1" i="0" u="none" strike="noStrike" cap="none" normalizeH="0" baseline="0">
                        <a:ln>
                          <a:noFill/>
                        </a:ln>
                        <a:solidFill>
                          <a:schemeClr val="tx1"/>
                        </a:solidFill>
                        <a:effectLst/>
                        <a:latin typeface="微软雅黑" pitchFamily="34" charset="-122"/>
                        <a:ea typeface="微软雅黑" pitchFamily="34" charset="-122"/>
                      </a:endParaRPr>
                    </a:p>
                  </a:txBody>
                  <a:tcPr marL="8719" marR="8719" marT="4358" marB="435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gridSpan="7">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chemeClr val="tx1"/>
                          </a:solidFill>
                          <a:effectLst/>
                          <a:latin typeface="微软雅黑" pitchFamily="34" charset="-122"/>
                          <a:ea typeface="微软雅黑" pitchFamily="34" charset="-122"/>
                        </a:rPr>
                        <a:t>OSI</a:t>
                      </a:r>
                      <a:r>
                        <a:rPr kumimoji="0" lang="zh-CN" altLang="en-US" sz="1000" b="1" i="0" u="none" strike="noStrike" cap="none" normalizeH="0" baseline="0">
                          <a:ln>
                            <a:noFill/>
                          </a:ln>
                          <a:solidFill>
                            <a:schemeClr val="tx1"/>
                          </a:solidFill>
                          <a:effectLst/>
                          <a:latin typeface="微软雅黑" pitchFamily="34" charset="-122"/>
                          <a:ea typeface="微软雅黑" pitchFamily="34" charset="-122"/>
                        </a:rPr>
                        <a:t>协议层</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01612">
                <a:tc vMerge="1">
                  <a:txBody>
                    <a:bodyPr/>
                    <a:lstStyle/>
                    <a:p>
                      <a:endParaRPr lang="zh-CN" altLang="en-US"/>
                    </a:p>
                  </a:txBody>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微软雅黑" pitchFamily="34" charset="-122"/>
                          <a:ea typeface="微软雅黑" pitchFamily="34" charset="-122"/>
                        </a:rPr>
                        <a:t>物理</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微软雅黑" pitchFamily="34" charset="-122"/>
                          <a:ea typeface="微软雅黑" pitchFamily="34" charset="-122"/>
                        </a:rPr>
                        <a:t>链路</a:t>
                      </a:r>
                      <a:endParaRPr kumimoji="0" lang="en-US" altLang="zh-CN" sz="1000" b="1" i="0" u="none" strike="noStrike" cap="none" normalizeH="0" baseline="0">
                        <a:ln>
                          <a:noFill/>
                        </a:ln>
                        <a:solidFill>
                          <a:srgbClr val="000000"/>
                        </a:solidFill>
                        <a:effectLst/>
                        <a:latin typeface="微软雅黑" pitchFamily="34" charset="-122"/>
                        <a:ea typeface="微软雅黑" pitchFamily="34" charset="-122"/>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微软雅黑" pitchFamily="34" charset="-122"/>
                          <a:ea typeface="微软雅黑" pitchFamily="34" charset="-122"/>
                        </a:rPr>
                        <a:t>网络</a:t>
                      </a:r>
                      <a:endParaRPr kumimoji="0" lang="en-US" altLang="zh-CN" sz="1000" b="1" i="0" u="none" strike="noStrike" cap="none" normalizeH="0" baseline="0">
                        <a:ln>
                          <a:noFill/>
                        </a:ln>
                        <a:solidFill>
                          <a:srgbClr val="000000"/>
                        </a:solidFill>
                        <a:effectLst/>
                        <a:latin typeface="微软雅黑" pitchFamily="34" charset="-122"/>
                        <a:ea typeface="微软雅黑" pitchFamily="34" charset="-122"/>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微软雅黑" pitchFamily="34" charset="-122"/>
                          <a:ea typeface="微软雅黑" pitchFamily="34" charset="-122"/>
                        </a:rPr>
                        <a:t>传输</a:t>
                      </a:r>
                      <a:endParaRPr kumimoji="0" lang="en-US" altLang="zh-CN" sz="1000" b="1" i="0" u="none" strike="noStrike" cap="none" normalizeH="0" baseline="0">
                        <a:ln>
                          <a:noFill/>
                        </a:ln>
                        <a:solidFill>
                          <a:srgbClr val="000000"/>
                        </a:solidFill>
                        <a:effectLst/>
                        <a:latin typeface="微软雅黑" pitchFamily="34" charset="-122"/>
                        <a:ea typeface="微软雅黑" pitchFamily="34" charset="-122"/>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微软雅黑" pitchFamily="34" charset="-122"/>
                          <a:ea typeface="微软雅黑" pitchFamily="34" charset="-122"/>
                        </a:rPr>
                        <a:t>会话</a:t>
                      </a:r>
                      <a:endParaRPr kumimoji="0" lang="en-US" altLang="zh-CN" sz="1000" b="1" i="0" u="none" strike="noStrike" cap="none" normalizeH="0" baseline="0">
                        <a:ln>
                          <a:noFill/>
                        </a:ln>
                        <a:solidFill>
                          <a:srgbClr val="000000"/>
                        </a:solidFill>
                        <a:effectLst/>
                        <a:latin typeface="微软雅黑" pitchFamily="34" charset="-122"/>
                        <a:ea typeface="微软雅黑" pitchFamily="34" charset="-122"/>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微软雅黑" pitchFamily="34" charset="-122"/>
                          <a:ea typeface="微软雅黑" pitchFamily="34" charset="-122"/>
                        </a:rPr>
                        <a:t>表示</a:t>
                      </a:r>
                      <a:endParaRPr kumimoji="0" lang="en-US" altLang="zh-CN" sz="1000" b="1" i="0" u="none" strike="noStrike" cap="none" normalizeH="0" baseline="0">
                        <a:ln>
                          <a:noFill/>
                        </a:ln>
                        <a:solidFill>
                          <a:srgbClr val="000000"/>
                        </a:solidFill>
                        <a:effectLst/>
                        <a:latin typeface="微软雅黑" pitchFamily="34" charset="-122"/>
                        <a:ea typeface="微软雅黑" pitchFamily="34" charset="-122"/>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微软雅黑" pitchFamily="34" charset="-122"/>
                          <a:ea typeface="微软雅黑" pitchFamily="34" charset="-122"/>
                        </a:rPr>
                        <a:t>应用</a:t>
                      </a:r>
                      <a:endParaRPr kumimoji="0" lang="en-US" altLang="zh-CN" sz="1000" b="1" i="0" u="none" strike="noStrike" cap="none" normalizeH="0" baseline="0">
                        <a:ln>
                          <a:noFill/>
                        </a:ln>
                        <a:solidFill>
                          <a:srgbClr val="000000"/>
                        </a:solidFill>
                        <a:effectLst/>
                        <a:latin typeface="微软雅黑" pitchFamily="34" charset="-122"/>
                        <a:ea typeface="微软雅黑" pitchFamily="34" charset="-122"/>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1612">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微软雅黑" pitchFamily="34" charset="-122"/>
                        <a:ea typeface="微软雅黑" pitchFamily="34" charset="-122"/>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201612">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鉴别</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对等实体鉴别</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微软雅黑" pitchFamily="34"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微软雅黑" pitchFamily="34"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微软雅黑" pitchFamily="34"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1612">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数据源鉴别</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1612">
                <a:tc row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访问控制</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访问控制服务</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1612">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连接机密性</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1612">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无连接机密性</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1612">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选择字段机密性</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1612">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流量机密性</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01612">
                <a:tc row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数据完整性</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有恢复功能的连接机密性</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01612">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无恢复功能连接机密性</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01612">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选择字段连接完整性</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01612">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无连接完整性</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01612">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选择字段非连接完整性</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微软雅黑" pitchFamily="34" charset="-122"/>
                          <a:ea typeface="黑体" pitchFamily="49" charset="-122"/>
                          <a:cs typeface="Times New Roman" pitchFamily="18" charset="0"/>
                        </a:rPr>
                        <a:t>—</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01612">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抗抵赖性</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源发方抗抵赖</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01612">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rgbClr val="000000"/>
                          </a:solidFill>
                          <a:effectLst/>
                          <a:latin typeface="微软雅黑" pitchFamily="34" charset="-122"/>
                          <a:ea typeface="微软雅黑" pitchFamily="34" charset="-122"/>
                        </a:rPr>
                        <a:t>接收方抗抵赖</a:t>
                      </a: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rgbClr val="000000"/>
                        </a:solidFill>
                        <a:effectLst/>
                        <a:latin typeface="Times New Roman" pitchFamily="18" charset="0"/>
                        <a:ea typeface="微软雅黑" pitchFamily="34"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Y</a:t>
                      </a:r>
                      <a:endParaRPr kumimoji="0" lang="zh-CN" altLang="en-US" sz="1000" b="0"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endParaRPr>
                    </a:p>
                  </a:txBody>
                  <a:tcPr marL="8719" marR="8719" marT="4358" marB="43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bl>
          </a:graphicData>
        </a:graphic>
      </p:graphicFrame>
      <p:sp>
        <p:nvSpPr>
          <p:cNvPr id="13" name="矩形 3">
            <a:extLst>
              <a:ext uri="{FF2B5EF4-FFF2-40B4-BE49-F238E27FC236}">
                <a16:creationId xmlns:a16="http://schemas.microsoft.com/office/drawing/2014/main" id="{6FCF3D0E-F0A2-4960-9570-AA6B6E161C27}"/>
              </a:ext>
            </a:extLst>
          </p:cNvPr>
          <p:cNvSpPr>
            <a:spLocks noChangeArrowheads="1"/>
          </p:cNvSpPr>
          <p:nvPr/>
        </p:nvSpPr>
        <p:spPr bwMode="auto">
          <a:xfrm>
            <a:off x="2857500" y="857250"/>
            <a:ext cx="3373438" cy="307975"/>
          </a:xfrm>
          <a:prstGeom prst="rect">
            <a:avLst/>
          </a:prstGeom>
          <a:solidFill>
            <a:schemeClr val="bg1"/>
          </a:solidFill>
          <a:ln w="9525">
            <a:noFill/>
            <a:miter lim="800000"/>
            <a:headEnd/>
            <a:tailEnd/>
          </a:ln>
        </p:spPr>
        <p:txBody>
          <a:bodyPr wrap="none">
            <a:spAutoFit/>
          </a:bodyPr>
          <a:lstStyle/>
          <a:p>
            <a:pPr algn="ctr" eaLnBrk="1" hangingPunct="1">
              <a:defRPr/>
            </a:pPr>
            <a:r>
              <a:rPr lang="zh-CN" altLang="en-US" sz="1400" b="1" dirty="0">
                <a:latin typeface="+mj-ea"/>
                <a:ea typeface="+mj-ea"/>
              </a:rPr>
              <a:t>安全服务与</a:t>
            </a:r>
            <a:r>
              <a:rPr lang="en-US" altLang="zh-CN" sz="1400" b="1" dirty="0">
                <a:latin typeface="+mj-ea"/>
                <a:ea typeface="+mj-ea"/>
              </a:rPr>
              <a:t>OSI</a:t>
            </a:r>
            <a:r>
              <a:rPr lang="zh-CN" altLang="en-US" sz="1400" b="1" dirty="0">
                <a:latin typeface="+mj-ea"/>
                <a:ea typeface="+mj-ea"/>
              </a:rPr>
              <a:t>各协议层之间的配置关系</a:t>
            </a:r>
          </a:p>
        </p:txBody>
      </p:sp>
      <p:cxnSp>
        <p:nvCxnSpPr>
          <p:cNvPr id="56480" name="直接连接符 9">
            <a:extLst>
              <a:ext uri="{FF2B5EF4-FFF2-40B4-BE49-F238E27FC236}">
                <a16:creationId xmlns:a16="http://schemas.microsoft.com/office/drawing/2014/main" id="{C56CC3FC-F9C7-4F7A-A0AE-69BD6B5636B5}"/>
              </a:ext>
            </a:extLst>
          </p:cNvPr>
          <p:cNvCxnSpPr>
            <a:cxnSpLocks noChangeShapeType="1"/>
          </p:cNvCxnSpPr>
          <p:nvPr/>
        </p:nvCxnSpPr>
        <p:spPr bwMode="auto">
          <a:xfrm rot="10800000">
            <a:off x="1643063" y="1428750"/>
            <a:ext cx="2500312"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12" name="TextBox 11">
            <a:extLst>
              <a:ext uri="{FF2B5EF4-FFF2-40B4-BE49-F238E27FC236}">
                <a16:creationId xmlns:a16="http://schemas.microsoft.com/office/drawing/2014/main" id="{BBAE2A34-D6A5-4076-B41C-6469C5CBD3B6}"/>
              </a:ext>
            </a:extLst>
          </p:cNvPr>
          <p:cNvSpPr txBox="1"/>
          <p:nvPr/>
        </p:nvSpPr>
        <p:spPr>
          <a:xfrm>
            <a:off x="2500313" y="1500188"/>
            <a:ext cx="714375" cy="254000"/>
          </a:xfrm>
          <a:prstGeom prst="rect">
            <a:avLst/>
          </a:prstGeom>
          <a:noFill/>
        </p:spPr>
        <p:txBody>
          <a:bodyPr>
            <a:spAutoFit/>
          </a:bodyPr>
          <a:lstStyle/>
          <a:p>
            <a:pPr eaLnBrk="1" hangingPunct="1">
              <a:defRPr/>
            </a:pPr>
            <a:r>
              <a:rPr lang="zh-CN" altLang="en-US" sz="1050" b="1" dirty="0">
                <a:latin typeface="+mj-ea"/>
                <a:ea typeface="+mj-ea"/>
              </a:rPr>
              <a:t>五大类</a:t>
            </a:r>
          </a:p>
        </p:txBody>
      </p:sp>
    </p:spTree>
  </p:cSld>
  <p:clrMapOvr>
    <a:masterClrMapping/>
  </p:clrMapOvr>
  <p:transition spd="med">
    <p:randomBar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五边形 9">
            <a:extLst>
              <a:ext uri="{FF2B5EF4-FFF2-40B4-BE49-F238E27FC236}">
                <a16:creationId xmlns:a16="http://schemas.microsoft.com/office/drawing/2014/main" id="{B530FCAB-D411-4482-A7BB-8C7B3021447A}"/>
              </a:ext>
            </a:extLst>
          </p:cNvPr>
          <p:cNvSpPr>
            <a:spLocks noChangeArrowheads="1"/>
          </p:cNvSpPr>
          <p:nvPr/>
        </p:nvSpPr>
        <p:spPr bwMode="auto">
          <a:xfrm rot="10800000">
            <a:off x="2714625" y="1643063"/>
            <a:ext cx="4071938" cy="500062"/>
          </a:xfrm>
          <a:prstGeom prst="homePlate">
            <a:avLst>
              <a:gd name="adj" fmla="val 50026"/>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58371" name="椭圆 10">
            <a:extLst>
              <a:ext uri="{FF2B5EF4-FFF2-40B4-BE49-F238E27FC236}">
                <a16:creationId xmlns:a16="http://schemas.microsoft.com/office/drawing/2014/main" id="{D6B33B4D-D45E-4862-AB86-BA5D5CA937DD}"/>
              </a:ext>
            </a:extLst>
          </p:cNvPr>
          <p:cNvSpPr>
            <a:spLocks noChangeArrowheads="1"/>
          </p:cNvSpPr>
          <p:nvPr/>
        </p:nvSpPr>
        <p:spPr bwMode="auto">
          <a:xfrm>
            <a:off x="2428875" y="1643063"/>
            <a:ext cx="500063" cy="500062"/>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58372" name="TextBox 11">
            <a:extLst>
              <a:ext uri="{FF2B5EF4-FFF2-40B4-BE49-F238E27FC236}">
                <a16:creationId xmlns:a16="http://schemas.microsoft.com/office/drawing/2014/main" id="{0EC315D1-48C9-49CB-95B8-0A7E0BA5C968}"/>
              </a:ext>
            </a:extLst>
          </p:cNvPr>
          <p:cNvSpPr txBox="1">
            <a:spLocks noChangeArrowheads="1"/>
          </p:cNvSpPr>
          <p:nvPr/>
        </p:nvSpPr>
        <p:spPr bwMode="auto">
          <a:xfrm>
            <a:off x="3000375" y="1643063"/>
            <a:ext cx="3786188"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t>信息安全概述</a:t>
            </a:r>
          </a:p>
        </p:txBody>
      </p:sp>
      <p:grpSp>
        <p:nvGrpSpPr>
          <p:cNvPr id="58373" name="组合 9">
            <a:extLst>
              <a:ext uri="{FF2B5EF4-FFF2-40B4-BE49-F238E27FC236}">
                <a16:creationId xmlns:a16="http://schemas.microsoft.com/office/drawing/2014/main" id="{F4BA9430-0E59-4CB2-9897-0B519AE04B0D}"/>
              </a:ext>
            </a:extLst>
          </p:cNvPr>
          <p:cNvGrpSpPr>
            <a:grpSpLocks/>
          </p:cNvGrpSpPr>
          <p:nvPr/>
        </p:nvGrpSpPr>
        <p:grpSpPr bwMode="auto">
          <a:xfrm>
            <a:off x="2428875" y="2357438"/>
            <a:ext cx="4357688" cy="500062"/>
            <a:chOff x="1071538" y="1785932"/>
            <a:chExt cx="4357704" cy="500066"/>
          </a:xfrm>
        </p:grpSpPr>
        <p:sp>
          <p:nvSpPr>
            <p:cNvPr id="58382" name="五边形 9">
              <a:extLst>
                <a:ext uri="{FF2B5EF4-FFF2-40B4-BE49-F238E27FC236}">
                  <a16:creationId xmlns:a16="http://schemas.microsoft.com/office/drawing/2014/main" id="{E15C0C76-6E5A-43A1-B99D-46E318E13254}"/>
                </a:ext>
              </a:extLst>
            </p:cNvPr>
            <p:cNvSpPr>
              <a:spLocks noChangeArrowheads="1"/>
            </p:cNvSpPr>
            <p:nvPr/>
          </p:nvSpPr>
          <p:spPr bwMode="auto">
            <a:xfrm rot="10800000">
              <a:off x="1357290" y="1785932"/>
              <a:ext cx="4071938" cy="500063"/>
            </a:xfrm>
            <a:prstGeom prst="homePlate">
              <a:avLst>
                <a:gd name="adj" fmla="val 50026"/>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58383" name="椭圆 10">
              <a:extLst>
                <a:ext uri="{FF2B5EF4-FFF2-40B4-BE49-F238E27FC236}">
                  <a16:creationId xmlns:a16="http://schemas.microsoft.com/office/drawing/2014/main" id="{1C97E869-81BE-4E06-9571-BDC9C5898E3C}"/>
                </a:ext>
              </a:extLst>
            </p:cNvPr>
            <p:cNvSpPr>
              <a:spLocks noChangeArrowheads="1"/>
            </p:cNvSpPr>
            <p:nvPr/>
          </p:nvSpPr>
          <p:spPr bwMode="auto">
            <a:xfrm>
              <a:off x="1071538" y="1785932"/>
              <a:ext cx="500066" cy="500066"/>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58384" name="TextBox 11">
              <a:extLst>
                <a:ext uri="{FF2B5EF4-FFF2-40B4-BE49-F238E27FC236}">
                  <a16:creationId xmlns:a16="http://schemas.microsoft.com/office/drawing/2014/main" id="{0AA1DEEC-BD2F-4E27-B142-7F35499FA07B}"/>
                </a:ext>
              </a:extLst>
            </p:cNvPr>
            <p:cNvSpPr txBox="1">
              <a:spLocks noChangeArrowheads="1"/>
            </p:cNvSpPr>
            <p:nvPr/>
          </p:nvSpPr>
          <p:spPr bwMode="auto">
            <a:xfrm>
              <a:off x="1643040" y="1785932"/>
              <a:ext cx="3786202" cy="44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t>信息安全的威胁</a:t>
              </a:r>
            </a:p>
          </p:txBody>
        </p:sp>
      </p:grpSp>
      <p:grpSp>
        <p:nvGrpSpPr>
          <p:cNvPr id="58374" name="组合 13">
            <a:extLst>
              <a:ext uri="{FF2B5EF4-FFF2-40B4-BE49-F238E27FC236}">
                <a16:creationId xmlns:a16="http://schemas.microsoft.com/office/drawing/2014/main" id="{202FD35D-6CD6-4FF9-9E91-C028BD8B4C77}"/>
              </a:ext>
            </a:extLst>
          </p:cNvPr>
          <p:cNvGrpSpPr>
            <a:grpSpLocks/>
          </p:cNvGrpSpPr>
          <p:nvPr/>
        </p:nvGrpSpPr>
        <p:grpSpPr bwMode="auto">
          <a:xfrm>
            <a:off x="2428875" y="3071813"/>
            <a:ext cx="4357688" cy="500062"/>
            <a:chOff x="1071538" y="1785932"/>
            <a:chExt cx="4357704" cy="500066"/>
          </a:xfrm>
        </p:grpSpPr>
        <p:sp>
          <p:nvSpPr>
            <p:cNvPr id="58379" name="五边形 9">
              <a:extLst>
                <a:ext uri="{FF2B5EF4-FFF2-40B4-BE49-F238E27FC236}">
                  <a16:creationId xmlns:a16="http://schemas.microsoft.com/office/drawing/2014/main" id="{A22BFDBF-53D0-4847-B82F-6456DB5878C7}"/>
                </a:ext>
              </a:extLst>
            </p:cNvPr>
            <p:cNvSpPr>
              <a:spLocks noChangeArrowheads="1"/>
            </p:cNvSpPr>
            <p:nvPr/>
          </p:nvSpPr>
          <p:spPr bwMode="auto">
            <a:xfrm rot="10800000">
              <a:off x="1357290" y="1785932"/>
              <a:ext cx="4071938" cy="500063"/>
            </a:xfrm>
            <a:prstGeom prst="homePlate">
              <a:avLst>
                <a:gd name="adj" fmla="val 50026"/>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58380" name="椭圆 10">
              <a:extLst>
                <a:ext uri="{FF2B5EF4-FFF2-40B4-BE49-F238E27FC236}">
                  <a16:creationId xmlns:a16="http://schemas.microsoft.com/office/drawing/2014/main" id="{B4C86DEF-7D73-4ECF-811B-15A20A30365F}"/>
                </a:ext>
              </a:extLst>
            </p:cNvPr>
            <p:cNvSpPr>
              <a:spLocks noChangeArrowheads="1"/>
            </p:cNvSpPr>
            <p:nvPr/>
          </p:nvSpPr>
          <p:spPr bwMode="auto">
            <a:xfrm>
              <a:off x="1071538" y="1785932"/>
              <a:ext cx="500066" cy="500066"/>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58381" name="TextBox 11">
              <a:extLst>
                <a:ext uri="{FF2B5EF4-FFF2-40B4-BE49-F238E27FC236}">
                  <a16:creationId xmlns:a16="http://schemas.microsoft.com/office/drawing/2014/main" id="{52D02B38-3F6E-49AA-BCDF-511F8052F311}"/>
                </a:ext>
              </a:extLst>
            </p:cNvPr>
            <p:cNvSpPr txBox="1">
              <a:spLocks noChangeArrowheads="1"/>
            </p:cNvSpPr>
            <p:nvPr/>
          </p:nvSpPr>
          <p:spPr bwMode="auto">
            <a:xfrm>
              <a:off x="1643040" y="1785932"/>
              <a:ext cx="3786202" cy="44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t>信息安全体系结构</a:t>
              </a:r>
            </a:p>
          </p:txBody>
        </p:sp>
      </p:grpSp>
      <p:sp>
        <p:nvSpPr>
          <p:cNvPr id="58375" name="五边形 9">
            <a:extLst>
              <a:ext uri="{FF2B5EF4-FFF2-40B4-BE49-F238E27FC236}">
                <a16:creationId xmlns:a16="http://schemas.microsoft.com/office/drawing/2014/main" id="{D254DDFD-E467-4DA0-B689-075F33D91137}"/>
              </a:ext>
            </a:extLst>
          </p:cNvPr>
          <p:cNvSpPr>
            <a:spLocks noChangeArrowheads="1"/>
          </p:cNvSpPr>
          <p:nvPr/>
        </p:nvSpPr>
        <p:spPr bwMode="auto">
          <a:xfrm rot="10800000">
            <a:off x="2714625" y="3714750"/>
            <a:ext cx="4071938" cy="500063"/>
          </a:xfrm>
          <a:prstGeom prst="homePlate">
            <a:avLst>
              <a:gd name="adj" fmla="val 50026"/>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58376" name="椭圆 10">
            <a:extLst>
              <a:ext uri="{FF2B5EF4-FFF2-40B4-BE49-F238E27FC236}">
                <a16:creationId xmlns:a16="http://schemas.microsoft.com/office/drawing/2014/main" id="{D24846E1-BC37-416C-999D-CCBE301DE4B8}"/>
              </a:ext>
            </a:extLst>
          </p:cNvPr>
          <p:cNvSpPr>
            <a:spLocks noChangeArrowheads="1"/>
          </p:cNvSpPr>
          <p:nvPr/>
        </p:nvSpPr>
        <p:spPr bwMode="auto">
          <a:xfrm>
            <a:off x="2428875" y="3714750"/>
            <a:ext cx="500063" cy="500063"/>
          </a:xfrm>
          <a:prstGeom prst="ellipse">
            <a:avLst/>
          </a:prstGeom>
          <a:solidFill>
            <a:schemeClr val="bg1"/>
          </a:solidFill>
          <a:ln w="28575" algn="ctr">
            <a:solidFill>
              <a:schemeClr val="tx1"/>
            </a:solidFill>
            <a:round/>
            <a:headEnd/>
            <a:tailEnd/>
          </a:ln>
        </p:spPr>
        <p:txBody>
          <a:bodyPr wrap="none" anchor="ct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endParaRPr lang="zh-CN" altLang="en-US" sz="1000" b="1">
              <a:latin typeface="Arial" panose="020B0604020202020204" pitchFamily="34" charset="0"/>
              <a:ea typeface="宋体" panose="02010600030101010101" pitchFamily="2" charset="-122"/>
            </a:endParaRPr>
          </a:p>
        </p:txBody>
      </p:sp>
      <p:sp>
        <p:nvSpPr>
          <p:cNvPr id="21" name="TextBox 11">
            <a:extLst>
              <a:ext uri="{FF2B5EF4-FFF2-40B4-BE49-F238E27FC236}">
                <a16:creationId xmlns:a16="http://schemas.microsoft.com/office/drawing/2014/main" id="{CA3BC9D2-AC08-4ABF-8548-8BA57559F064}"/>
              </a:ext>
            </a:extLst>
          </p:cNvPr>
          <p:cNvSpPr txBox="1">
            <a:spLocks noChangeArrowheads="1"/>
          </p:cNvSpPr>
          <p:nvPr/>
        </p:nvSpPr>
        <p:spPr bwMode="auto">
          <a:xfrm>
            <a:off x="3000375" y="3714750"/>
            <a:ext cx="37861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buClrTx/>
              <a:buFontTx/>
              <a:buNone/>
            </a:pPr>
            <a:r>
              <a:rPr lang="zh-CN" altLang="en-US" sz="2300" b="1">
                <a:solidFill>
                  <a:srgbClr val="FF0000"/>
                </a:solidFill>
              </a:rPr>
              <a:t>本章小结</a:t>
            </a:r>
          </a:p>
        </p:txBody>
      </p:sp>
      <p:sp>
        <p:nvSpPr>
          <p:cNvPr id="18" name="标题 1">
            <a:extLst>
              <a:ext uri="{FF2B5EF4-FFF2-40B4-BE49-F238E27FC236}">
                <a16:creationId xmlns:a16="http://schemas.microsoft.com/office/drawing/2014/main" id="{FB8C0397-39A0-4298-A1B2-D009D1B84D24}"/>
              </a:ext>
            </a:extLst>
          </p:cNvPr>
          <p:cNvSpPr txBox="1">
            <a:spLocks/>
          </p:cNvSpPr>
          <p:nvPr/>
        </p:nvSpPr>
        <p:spPr bwMode="auto">
          <a:xfrm>
            <a:off x="1500166" y="785800"/>
            <a:ext cx="6072230" cy="632693"/>
          </a:xfrm>
          <a:prstGeom prst="rect">
            <a:avLst/>
          </a:prstGeom>
          <a:noFill/>
          <a:ln w="9525">
            <a:noFill/>
            <a:miter lim="800000"/>
            <a:headEnd/>
            <a:tailEnd/>
          </a:ln>
        </p:spPr>
        <p:txBody>
          <a:bodyPr anchor="ctr"/>
          <a:lstStyle/>
          <a:p>
            <a:pPr algn="ctr">
              <a:defRPr/>
            </a:pPr>
            <a:r>
              <a:rPr lang="zh-CN" altLang="en-US" sz="3200" b="1" dirty="0">
                <a:solidFill>
                  <a:srgbClr val="C00000"/>
                </a:solidFill>
                <a:effectLst>
                  <a:reflection blurRad="6350" stA="50000" endA="300" endPos="50000" dist="60007" dir="5400000" sy="-100000" algn="bl" rotWithShape="0"/>
                </a:effectLst>
                <a:latin typeface="+mj-ea"/>
                <a:ea typeface="+mj-ea"/>
                <a:cs typeface="+mj-cs"/>
              </a:rPr>
              <a:t>内容提纲</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iterate type="lt">
                                    <p:tmPct val="0"/>
                                  </p:iterate>
                                  <p:childTnLst>
                                    <p:animClr clrSpc="rgb" dir="cw">
                                      <p:cBhvr override="childStyle">
                                        <p:cTn id="6" dur="500" fill="hold"/>
                                        <p:tgtEl>
                                          <p:spTgt spid="21">
                                            <p:txEl>
                                              <p:pRg st="0" end="0"/>
                                            </p:txEl>
                                          </p:spTgt>
                                        </p:tgtEl>
                                        <p:attrNameLst>
                                          <p:attrName>style.color</p:attrName>
                                        </p:attrNameLst>
                                      </p:cBhvr>
                                      <p:to>
                                        <a:srgbClr val="CC0000"/>
                                      </p:to>
                                    </p:animClr>
                                  </p:childTnLst>
                                </p:cTn>
                              </p:par>
                              <p:par>
                                <p:cTn id="7" presetID="15" presetClass="emph" presetSubtype="0" nodeType="withEffect">
                                  <p:stCondLst>
                                    <p:cond delay="0"/>
                                  </p:stCondLst>
                                  <p:iterate type="lt">
                                    <p:tmAbs val="25"/>
                                  </p:iterate>
                                  <p:childTnLst>
                                    <p:set>
                                      <p:cBhvr override="childStyle">
                                        <p:cTn id="8" dur="indefinite"/>
                                        <p:tgtEl>
                                          <p:spTgt spid="21">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3"/>
          <p:cNvSpPr>
            <a:spLocks noGrp="1"/>
          </p:cNvSpPr>
          <p:nvPr>
            <p:ph type="title"/>
          </p:nvPr>
        </p:nvSpPr>
        <p:spPr>
          <a:xfrm>
            <a:off x="2214546" y="500048"/>
            <a:ext cx="4429156" cy="1021556"/>
          </a:xfrm>
        </p:spPr>
        <p:txBody>
          <a:bodyPr/>
          <a:lstStyle/>
          <a:p>
            <a:pPr>
              <a:defRPr/>
            </a:pPr>
            <a:r>
              <a:rPr lang="en-US" dirty="0">
                <a:latin typeface="Cambria Math" panose="02040503050406030204" pitchFamily="18" charset="0"/>
                <a:ea typeface="Cambria Math" panose="02040503050406030204" pitchFamily="18" charset="0"/>
              </a:rPr>
              <a:t>3.4   </a:t>
            </a:r>
            <a:r>
              <a:rPr altLang="en-US" dirty="0"/>
              <a:t>本章小结</a:t>
            </a:r>
          </a:p>
        </p:txBody>
      </p:sp>
      <p:sp>
        <p:nvSpPr>
          <p:cNvPr id="4" name="内容占位符 2"/>
          <p:cNvSpPr txBox="1"/>
          <p:nvPr/>
        </p:nvSpPr>
        <p:spPr bwMode="auto">
          <a:xfrm>
            <a:off x="285750" y="1441871"/>
            <a:ext cx="8501063"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buClr>
                <a:srgbClr val="C00000"/>
              </a:buClr>
              <a:buFont typeface="Wingdings" panose="05000000000000000000" pitchFamily="2" charset="2"/>
              <a:buChar char="n"/>
              <a:defRPr sz="1600">
                <a:solidFill>
                  <a:schemeClr val="tx1"/>
                </a:solidFill>
                <a:latin typeface="微软雅黑" panose="020B0503020204020204" pitchFamily="34" charset="-122"/>
                <a:ea typeface="微软雅黑" panose="020B0503020204020204" pitchFamily="34" charset="-122"/>
              </a:defRPr>
            </a:lvl1pPr>
            <a:lvl2pPr marL="742950" indent="-285750">
              <a:lnSpc>
                <a:spcPct val="150000"/>
              </a:lnSpc>
              <a:buClr>
                <a:srgbClr val="C00000"/>
              </a:buClr>
              <a:buFont typeface="Wingdings" panose="05000000000000000000" pitchFamily="2" charset="2"/>
              <a:buChar char="Ø"/>
              <a:defRPr sz="1600">
                <a:solidFill>
                  <a:schemeClr val="tx1"/>
                </a:solidFill>
                <a:latin typeface="微软雅黑" panose="020B0503020204020204" pitchFamily="34" charset="-122"/>
                <a:ea typeface="微软雅黑" panose="020B0503020204020204" pitchFamily="34" charset="-122"/>
              </a:defRPr>
            </a:lvl2pPr>
            <a:lvl3pPr marL="1143000" indent="-228600">
              <a:lnSpc>
                <a:spcPct val="150000"/>
              </a:lnSpc>
              <a:buClr>
                <a:srgbClr val="C00000"/>
              </a:buClr>
              <a:buFont typeface="Wingdings" panose="05000000000000000000" pitchFamily="2" charset="2"/>
              <a:buChar char="ü"/>
              <a:defRPr sz="1600">
                <a:solidFill>
                  <a:schemeClr val="tx1"/>
                </a:solidFill>
                <a:latin typeface="微软雅黑" panose="020B0503020204020204" pitchFamily="34" charset="-122"/>
                <a:ea typeface="微软雅黑" panose="020B0503020204020204" pitchFamily="34" charset="-122"/>
              </a:defRPr>
            </a:lvl3pPr>
            <a:lvl4pPr marL="16002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4pPr>
            <a:lvl5pPr marL="2057400" indent="-228600">
              <a:lnSpc>
                <a:spcPct val="150000"/>
              </a:lnSpc>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微软雅黑" panose="020B0503020204020204" pitchFamily="34" charset="-122"/>
                <a:ea typeface="微软雅黑" panose="020B0503020204020204" pitchFamily="34" charset="-122"/>
              </a:defRPr>
            </a:lvl9pPr>
          </a:lstStyle>
          <a:p>
            <a:pPr>
              <a:lnSpc>
                <a:spcPts val="2400"/>
              </a:lnSpc>
            </a:pPr>
            <a:r>
              <a:rPr lang="zh-CN" altLang="en-US" b="1" dirty="0"/>
              <a:t>随着互联网的发展和信息技术的普及，网络和信息技术已经渗入到日常生活和工作中。然而，社会信息化和信息网络化的同时，</a:t>
            </a:r>
            <a:r>
              <a:rPr lang="zh-CN" altLang="en-US" b="1" dirty="0">
                <a:solidFill>
                  <a:srgbClr val="FF0000"/>
                </a:solidFill>
              </a:rPr>
              <a:t>信息安全问题</a:t>
            </a:r>
            <a:r>
              <a:rPr lang="zh-CN" altLang="en-US" b="1" dirty="0">
                <a:solidFill>
                  <a:srgbClr val="0033CC"/>
                </a:solidFill>
              </a:rPr>
              <a:t>成为</a:t>
            </a:r>
            <a:r>
              <a:rPr lang="zh-CN" altLang="en-US" b="1" dirty="0">
                <a:solidFill>
                  <a:srgbClr val="FF0000"/>
                </a:solidFill>
              </a:rPr>
              <a:t>影响国家安全、经济发展、社会稳定、公民利益的重要问题</a:t>
            </a:r>
            <a:r>
              <a:rPr lang="zh-CN" altLang="en-US" b="1" dirty="0"/>
              <a:t>。特别是在云计算和大数据时代信息安全面临新的挑战。</a:t>
            </a:r>
          </a:p>
          <a:p>
            <a:pPr>
              <a:lnSpc>
                <a:spcPts val="2400"/>
              </a:lnSpc>
            </a:pPr>
            <a:r>
              <a:rPr lang="en-US" altLang="zh-CN" b="1" dirty="0"/>
              <a:t>2014</a:t>
            </a:r>
            <a:r>
              <a:rPr lang="zh-CN" altLang="en-US" b="1" dirty="0"/>
              <a:t>年</a:t>
            </a:r>
            <a:r>
              <a:rPr lang="en-US" altLang="zh-CN" b="1" dirty="0"/>
              <a:t>2</a:t>
            </a:r>
            <a:r>
              <a:rPr lang="zh-CN" altLang="en-US" b="1" dirty="0"/>
              <a:t>月</a:t>
            </a:r>
            <a:r>
              <a:rPr lang="en-US" altLang="zh-CN" b="1" dirty="0"/>
              <a:t>27</a:t>
            </a:r>
            <a:r>
              <a:rPr lang="zh-CN" altLang="en-US" b="1" dirty="0"/>
              <a:t>日，</a:t>
            </a:r>
            <a:r>
              <a:rPr lang="zh-CN" altLang="en-US" b="1" dirty="0">
                <a:solidFill>
                  <a:srgbClr val="FF0000"/>
                </a:solidFill>
              </a:rPr>
              <a:t>中央网络安全和信息化领导小组</a:t>
            </a:r>
            <a:r>
              <a:rPr lang="zh-CN" altLang="en-US" b="1" dirty="0"/>
              <a:t>宣告成立，既表明了网络信息安全目前面临的形势任务复杂和所处地位的重要，也标志着中国已把信息化和网络信息安全列入了国家发展的最高战略方向之一。因此，学习并掌握信息安全的理论与技术对于建立安全的网络应用环境具有重要的意义。</a:t>
            </a:r>
          </a:p>
          <a:p>
            <a:pPr>
              <a:lnSpc>
                <a:spcPts val="2400"/>
              </a:lnSpc>
            </a:pPr>
            <a:r>
              <a:rPr lang="zh-CN" altLang="en-US" b="1" dirty="0">
                <a:solidFill>
                  <a:srgbClr val="FF0000"/>
                </a:solidFill>
              </a:rPr>
              <a:t>国家网络安全宣传周活动，已经在武汉举行多届（</a:t>
            </a:r>
            <a:r>
              <a:rPr lang="en-US" altLang="zh-CN" b="1" dirty="0">
                <a:solidFill>
                  <a:srgbClr val="FF0000"/>
                </a:solidFill>
              </a:rPr>
              <a:t>2025</a:t>
            </a:r>
            <a:r>
              <a:rPr lang="zh-CN" altLang="en-US" b="1" dirty="0">
                <a:solidFill>
                  <a:srgbClr val="FF0000"/>
                </a:solidFill>
              </a:rPr>
              <a:t>年</a:t>
            </a:r>
            <a:r>
              <a:rPr lang="en-US" altLang="zh-CN" b="1" dirty="0">
                <a:solidFill>
                  <a:srgbClr val="FF0000"/>
                </a:solidFill>
              </a:rPr>
              <a:t>9</a:t>
            </a:r>
            <a:r>
              <a:rPr lang="zh-CN" altLang="en-US" b="1" dirty="0">
                <a:solidFill>
                  <a:srgbClr val="FF0000"/>
                </a:solidFill>
              </a:rPr>
              <a:t>月</a:t>
            </a:r>
            <a:r>
              <a:rPr lang="en-US" altLang="zh-CN" b="1" dirty="0">
                <a:solidFill>
                  <a:srgbClr val="FF0000"/>
                </a:solidFill>
              </a:rPr>
              <a:t>15~21</a:t>
            </a:r>
            <a:r>
              <a:rPr lang="zh-CN" altLang="en-US" b="1" dirty="0">
                <a:solidFill>
                  <a:srgbClr val="FF0000"/>
                </a:solidFill>
              </a:rPr>
              <a:t>日将在昆明举行，加入“警惕人工智能网络安全风险”）</a:t>
            </a:r>
            <a:r>
              <a:rPr lang="zh-CN" altLang="en-US" b="1" dirty="0"/>
              <a:t>。</a:t>
            </a:r>
            <a:endParaRPr lang="en-US" altLang="zh-CN" b="1" dirty="0"/>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1_Office 主题">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000" b="0" i="0" u="none" strike="noStrike" cap="none" normalizeH="0" baseline="0" smtClean="0">
            <a:ln>
              <a:noFill/>
            </a:ln>
            <a:solidFill>
              <a:schemeClr val="tx1"/>
            </a:solidFill>
            <a:effectLst/>
            <a:latin typeface="Arial" pitchFamily="34" charset="0"/>
            <a:ea typeface="微软雅黑"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000" b="0" i="0" u="none" strike="noStrike" cap="none" normalizeH="0" baseline="0" smtClean="0">
            <a:ln>
              <a:noFill/>
            </a:ln>
            <a:solidFill>
              <a:schemeClr val="tx1"/>
            </a:solidFill>
            <a:effectLst/>
            <a:latin typeface="Arial" pitchFamily="34" charset="0"/>
            <a:ea typeface="微软雅黑" pitchFamily="34" charset="-122"/>
          </a:defRPr>
        </a:defPPr>
      </a:lstStyle>
    </a:lnDef>
  </a:objectDefaults>
  <a:extraClrSchemeLst>
    <a:extraClrScheme>
      <a:clrScheme name="1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4641</TotalTime>
  <Pages>0</Pages>
  <Words>5457</Words>
  <Characters>0</Characters>
  <Application>Microsoft Office PowerPoint</Application>
  <DocSecurity>0</DocSecurity>
  <PresentationFormat>全屏显示(16:9)</PresentationFormat>
  <Lines>0</Lines>
  <Paragraphs>612</Paragraphs>
  <Slides>48</Slides>
  <Notes>10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48</vt:i4>
      </vt:variant>
    </vt:vector>
  </HeadingPairs>
  <TitlesOfParts>
    <vt:vector size="57" baseType="lpstr">
      <vt:lpstr>黑体</vt:lpstr>
      <vt:lpstr>微软雅黑</vt:lpstr>
      <vt:lpstr>Arial</vt:lpstr>
      <vt:lpstr>Calibri</vt:lpstr>
      <vt:lpstr>Cambria Math</vt:lpstr>
      <vt:lpstr>Comic Sans MS</vt:lpstr>
      <vt:lpstr>Times New Roman</vt:lpstr>
      <vt:lpstr>Wingdings</vt:lpstr>
      <vt:lpstr>1_Office 主题</vt:lpstr>
      <vt:lpstr>信息安全导论  Introduction to Information Security</vt:lpstr>
      <vt:lpstr>PowerPoint 演示文稿</vt:lpstr>
      <vt:lpstr>PowerPoint 演示文稿</vt:lpstr>
      <vt:lpstr>PowerPoint 演示文稿</vt:lpstr>
      <vt:lpstr>3.1   信息安全概述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3.2   信息安全的威胁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   信息安全体系结构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3.4   本章小结</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P51</dc:creator>
  <cp:lastModifiedBy>Eric Xu</cp:lastModifiedBy>
  <cp:revision>909</cp:revision>
  <cp:lastPrinted>1899-12-30T00:00:00Z</cp:lastPrinted>
  <dcterms:created xsi:type="dcterms:W3CDTF">2009-12-06T10:38:01Z</dcterms:created>
  <dcterms:modified xsi:type="dcterms:W3CDTF">2025-09-08T07:34:13Z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2052-8.1.0.3035</vt:lpwstr>
  </property>
</Properties>
</file>