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9"/>
  </p:notesMasterIdLst>
  <p:handoutMasterIdLst>
    <p:handoutMasterId r:id="rId110"/>
  </p:handoutMasterIdLst>
  <p:sldIdLst>
    <p:sldId id="256" r:id="rId2"/>
    <p:sldId id="329" r:id="rId3"/>
    <p:sldId id="477" r:id="rId4"/>
    <p:sldId id="472" r:id="rId5"/>
    <p:sldId id="330" r:id="rId6"/>
    <p:sldId id="508" r:id="rId7"/>
    <p:sldId id="479" r:id="rId8"/>
    <p:sldId id="406" r:id="rId9"/>
    <p:sldId id="505" r:id="rId10"/>
    <p:sldId id="408" r:id="rId11"/>
    <p:sldId id="410" r:id="rId12"/>
    <p:sldId id="409" r:id="rId13"/>
    <p:sldId id="411" r:id="rId14"/>
    <p:sldId id="483" r:id="rId15"/>
    <p:sldId id="484" r:id="rId16"/>
    <p:sldId id="414" r:id="rId17"/>
    <p:sldId id="415" r:id="rId18"/>
    <p:sldId id="485" r:id="rId19"/>
    <p:sldId id="416" r:id="rId20"/>
    <p:sldId id="486" r:id="rId21"/>
    <p:sldId id="417" r:id="rId22"/>
    <p:sldId id="418" r:id="rId23"/>
    <p:sldId id="487" r:id="rId24"/>
    <p:sldId id="419" r:id="rId25"/>
    <p:sldId id="488" r:id="rId26"/>
    <p:sldId id="490" r:id="rId27"/>
    <p:sldId id="489" r:id="rId28"/>
    <p:sldId id="478" r:id="rId29"/>
    <p:sldId id="506" r:id="rId30"/>
    <p:sldId id="473" r:id="rId31"/>
    <p:sldId id="474" r:id="rId32"/>
    <p:sldId id="475" r:id="rId33"/>
    <p:sldId id="476" r:id="rId34"/>
    <p:sldId id="423" r:id="rId35"/>
    <p:sldId id="504" r:id="rId36"/>
    <p:sldId id="424" r:id="rId37"/>
    <p:sldId id="425" r:id="rId38"/>
    <p:sldId id="426" r:id="rId39"/>
    <p:sldId id="427" r:id="rId40"/>
    <p:sldId id="428" r:id="rId41"/>
    <p:sldId id="429" r:id="rId42"/>
    <p:sldId id="430" r:id="rId43"/>
    <p:sldId id="480" r:id="rId44"/>
    <p:sldId id="507" r:id="rId45"/>
    <p:sldId id="433" r:id="rId46"/>
    <p:sldId id="434" r:id="rId47"/>
    <p:sldId id="435" r:id="rId48"/>
    <p:sldId id="436" r:id="rId49"/>
    <p:sldId id="437" r:id="rId50"/>
    <p:sldId id="439" r:id="rId51"/>
    <p:sldId id="438" r:id="rId52"/>
    <p:sldId id="440" r:id="rId53"/>
    <p:sldId id="441" r:id="rId54"/>
    <p:sldId id="442" r:id="rId55"/>
    <p:sldId id="443" r:id="rId56"/>
    <p:sldId id="444" r:id="rId57"/>
    <p:sldId id="445" r:id="rId58"/>
    <p:sldId id="446" r:id="rId59"/>
    <p:sldId id="447" r:id="rId60"/>
    <p:sldId id="515" r:id="rId61"/>
    <p:sldId id="516" r:id="rId62"/>
    <p:sldId id="448" r:id="rId63"/>
    <p:sldId id="491" r:id="rId64"/>
    <p:sldId id="449" r:id="rId65"/>
    <p:sldId id="450" r:id="rId66"/>
    <p:sldId id="451" r:id="rId67"/>
    <p:sldId id="452" r:id="rId68"/>
    <p:sldId id="458" r:id="rId69"/>
    <p:sldId id="509" r:id="rId70"/>
    <p:sldId id="510" r:id="rId71"/>
    <p:sldId id="517" r:id="rId72"/>
    <p:sldId id="518" r:id="rId73"/>
    <p:sldId id="453" r:id="rId74"/>
    <p:sldId id="608" r:id="rId75"/>
    <p:sldId id="609" r:id="rId76"/>
    <p:sldId id="610" r:id="rId77"/>
    <p:sldId id="454" r:id="rId78"/>
    <p:sldId id="455" r:id="rId79"/>
    <p:sldId id="456" r:id="rId80"/>
    <p:sldId id="457" r:id="rId81"/>
    <p:sldId id="460" r:id="rId82"/>
    <p:sldId id="461" r:id="rId83"/>
    <p:sldId id="462" r:id="rId84"/>
    <p:sldId id="492" r:id="rId85"/>
    <p:sldId id="513" r:id="rId86"/>
    <p:sldId id="519" r:id="rId87"/>
    <p:sldId id="463" r:id="rId88"/>
    <p:sldId id="464" r:id="rId89"/>
    <p:sldId id="465" r:id="rId90"/>
    <p:sldId id="466" r:id="rId91"/>
    <p:sldId id="520" r:id="rId92"/>
    <p:sldId id="521" r:id="rId93"/>
    <p:sldId id="522" r:id="rId94"/>
    <p:sldId id="523" r:id="rId95"/>
    <p:sldId id="524" r:id="rId96"/>
    <p:sldId id="525" r:id="rId97"/>
    <p:sldId id="467" r:id="rId98"/>
    <p:sldId id="498" r:id="rId99"/>
    <p:sldId id="503" r:id="rId100"/>
    <p:sldId id="502" r:id="rId101"/>
    <p:sldId id="501" r:id="rId102"/>
    <p:sldId id="500" r:id="rId103"/>
    <p:sldId id="499" r:id="rId104"/>
    <p:sldId id="471" r:id="rId105"/>
    <p:sldId id="511" r:id="rId106"/>
    <p:sldId id="481" r:id="rId107"/>
    <p:sldId id="402" r:id="rId108"/>
  </p:sldIdLst>
  <p:sldSz cx="9144000" cy="5143500" type="screen16x9"/>
  <p:notesSz cx="6858000" cy="9144000"/>
  <p:defaultTextStyle>
    <a:defPPr>
      <a:defRPr lang="zh-CN"/>
    </a:defPPr>
    <a:lvl1pPr algn="l" rtl="0" eaLnBrk="0" fontAlgn="base" hangingPunct="0">
      <a:spcBef>
        <a:spcPct val="0"/>
      </a:spcBef>
      <a:spcAft>
        <a:spcPct val="0"/>
      </a:spcAft>
      <a:defRPr sz="1000"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sz="1000"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sz="1000"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sz="1000"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sz="1000"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sz="1000"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sz="1000"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sz="1000"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sz="1000"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1579" userDrawn="1">
          <p15:clr>
            <a:srgbClr val="A4A3A4"/>
          </p15:clr>
        </p15:guide>
        <p15:guide id="2" pos="283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FF0000"/>
    <a:srgbClr val="FFFF00"/>
    <a:srgbClr val="E46C0A"/>
    <a:srgbClr val="CC0000"/>
    <a:srgbClr val="898989"/>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94" autoAdjust="0"/>
    <p:restoredTop sz="93412" autoAdjust="0"/>
  </p:normalViewPr>
  <p:slideViewPr>
    <p:cSldViewPr showGuides="1">
      <p:cViewPr varScale="1">
        <p:scale>
          <a:sx n="85" d="100"/>
          <a:sy n="85" d="100"/>
        </p:scale>
        <p:origin x="676" y="48"/>
      </p:cViewPr>
      <p:guideLst>
        <p:guide orient="horz" pos="1579"/>
        <p:guide pos="2839"/>
      </p:guideLst>
    </p:cSldViewPr>
  </p:slideViewPr>
  <p:outlineViewPr>
    <p:cViewPr>
      <p:scale>
        <a:sx n="33" d="100"/>
        <a:sy n="33" d="100"/>
      </p:scale>
      <p:origin x="0" y="16098"/>
    </p:cViewPr>
  </p:outlineViewPr>
  <p:notesTextViewPr>
    <p:cViewPr>
      <p:scale>
        <a:sx n="75" d="100"/>
        <a:sy n="75" d="100"/>
      </p:scale>
      <p:origin x="0" y="0"/>
    </p:cViewPr>
  </p:notesTextViewPr>
  <p:notesViewPr>
    <p:cSldViewPr>
      <p:cViewPr varScale="1">
        <p:scale>
          <a:sx n="53" d="100"/>
          <a:sy n="53" d="100"/>
        </p:scale>
        <p:origin x="-295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pPr>
              <a:defRPr/>
            </a:pPr>
            <a:fld id="{CEDC8A84-4B43-4C9E-9BEA-6CCC4CCA4658}" type="datetimeFigureOut">
              <a:rPr lang="zh-CN" altLang="en-US"/>
              <a:t>2025/11/13</a:t>
            </a:fld>
            <a:endParaRPr lang="zh-CN" altLang="en-US" dirty="0"/>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6575ABD3-E3C4-4EE0-95B6-B5D11F10A85A}"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页眉占位符 1"/>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algn="l" eaLnBrk="1" hangingPunct="1">
              <a:defRPr sz="1200">
                <a:latin typeface="Calibri" panose="020F0502020204030204" pitchFamily="34" charset="0"/>
                <a:ea typeface="宋体" panose="02010600030101010101" pitchFamily="2" charset="-122"/>
              </a:defRPr>
            </a:lvl1pPr>
          </a:lstStyle>
          <a:p>
            <a:pPr>
              <a:defRPr/>
            </a:pPr>
            <a:endParaRPr lang="zh-CN" altLang="en-US"/>
          </a:p>
        </p:txBody>
      </p:sp>
      <p:sp>
        <p:nvSpPr>
          <p:cNvPr id="3075" name="日期占位符 2"/>
          <p:cNvSpPr>
            <a:spLocks noGrp="1" noChangeArrowheads="1"/>
          </p:cNvSpPr>
          <p:nvPr>
            <p:ph type="dt" idx="1"/>
          </p:nvPr>
        </p:nvSpPr>
        <p:spPr bwMode="auto">
          <a:xfrm>
            <a:off x="3884613"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defRPr sz="1200">
                <a:latin typeface="Calibri" panose="020F0502020204030204" pitchFamily="34" charset="0"/>
                <a:ea typeface="宋体" panose="02010600030101010101" pitchFamily="2" charset="-122"/>
              </a:defRPr>
            </a:lvl1pPr>
          </a:lstStyle>
          <a:p>
            <a:pPr>
              <a:defRPr/>
            </a:pPr>
            <a:fld id="{23A92CB4-74CD-40BA-9A5C-3129DAC3D56A}" type="datetimeFigureOut">
              <a:rPr lang="zh-CN" altLang="en-US"/>
              <a:t>2025/11/13</a:t>
            </a:fld>
            <a:endParaRPr lang="zh-CN" altLang="en-US"/>
          </a:p>
        </p:txBody>
      </p:sp>
      <p:sp>
        <p:nvSpPr>
          <p:cNvPr id="97284" name="幻灯片图像占位符 3"/>
          <p:cNvSpPr>
            <a:spLocks noGrp="1" noRot="1" noChangeAspect="1" noChangeArrowheads="1"/>
          </p:cNvSpPr>
          <p:nvPr>
            <p:ph type="sldImg" idx="2"/>
          </p:nvPr>
        </p:nvSpPr>
        <p:spPr bwMode="auto">
          <a:xfrm>
            <a:off x="381000" y="685800"/>
            <a:ext cx="6096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备注占位符 4"/>
          <p:cNvSpPr>
            <a:spLocks noGrp="1" noChangeArrowheads="1"/>
          </p:cNvSpPr>
          <p:nvPr>
            <p:ph type="body" sz="quarter" idx="3"/>
          </p:nvPr>
        </p:nvSpPr>
        <p:spPr bwMode="auto">
          <a:xfrm>
            <a:off x="685800" y="4343400"/>
            <a:ext cx="5486400" cy="4114800"/>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8" name="页脚占位符 5"/>
          <p:cNvSpPr>
            <a:spLocks noGrp="1" noChangeArrowheads="1"/>
          </p:cNvSpPr>
          <p:nvPr>
            <p:ph type="ftr" sz="quarter" idx="4"/>
          </p:nvPr>
        </p:nvSpPr>
        <p:spPr bwMode="auto">
          <a:xfrm>
            <a:off x="0" y="8685213"/>
            <a:ext cx="2971800" cy="457200"/>
          </a:xfrm>
          <a:prstGeom prst="rect">
            <a:avLst/>
          </a:prstGeom>
          <a:noFill/>
          <a:ln w="9525">
            <a:noFill/>
            <a:miter lim="800000"/>
          </a:ln>
        </p:spPr>
        <p:txBody>
          <a:bodyPr vert="horz" wrap="square" lIns="91440" tIns="45720" rIns="91440" bIns="45720" numCol="1" anchor="b" anchorCtr="0" compatLnSpc="1"/>
          <a:lstStyle>
            <a:lvl1pPr algn="l" eaLnBrk="1" hangingPunct="1">
              <a:defRPr sz="1200">
                <a:latin typeface="Calibri" panose="020F0502020204030204" pitchFamily="34" charset="0"/>
                <a:ea typeface="宋体" panose="02010600030101010101" pitchFamily="2" charset="-122"/>
              </a:defRPr>
            </a:lvl1pPr>
          </a:lstStyle>
          <a:p>
            <a:pPr>
              <a:defRPr/>
            </a:pPr>
            <a:endParaRPr lang="zh-CN" altLang="en-US"/>
          </a:p>
        </p:txBody>
      </p:sp>
      <p:sp>
        <p:nvSpPr>
          <p:cNvPr id="3079" name="灯片编号占位符 6"/>
          <p:cNvSpPr>
            <a:spLocks noGrp="1" noChangeArrowheads="1"/>
          </p:cNvSpPr>
          <p:nvPr>
            <p:ph type="sldNum" sz="quarter" idx="5"/>
          </p:nvPr>
        </p:nvSpPr>
        <p:spPr bwMode="auto">
          <a:xfrm>
            <a:off x="3884613" y="8685213"/>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defRPr sz="1200">
                <a:latin typeface="Calibri" panose="020F0502020204030204" pitchFamily="34" charset="0"/>
                <a:ea typeface="宋体" panose="02010600030101010101" pitchFamily="2" charset="-122"/>
              </a:defRPr>
            </a:lvl1pPr>
          </a:lstStyle>
          <a:p>
            <a:fld id="{FBDE7D21-2081-4912-812B-A7982905045E}"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p:sp>
      <p:sp>
        <p:nvSpPr>
          <p:cNvPr id="983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83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D3704962-28B2-4CF8-A767-936F4D600DCB}" type="slidenum">
              <a:rPr lang="zh-CN" altLang="en-US" sz="1200">
                <a:latin typeface="Calibri" panose="020F0502020204030204" pitchFamily="34" charset="0"/>
                <a:ea typeface="宋体" panose="02010600030101010101" pitchFamily="2" charset="-122"/>
              </a:rPr>
              <a:t>3</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p:sp>
      <p:sp>
        <p:nvSpPr>
          <p:cNvPr id="993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93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17BF725B-E6ED-4EB5-805F-1428E818A059}" type="slidenum">
              <a:rPr lang="zh-CN" altLang="en-US" sz="1200">
                <a:latin typeface="Calibri" panose="020F0502020204030204" pitchFamily="34" charset="0"/>
                <a:ea typeface="宋体" panose="02010600030101010101" pitchFamily="2" charset="-122"/>
              </a:rPr>
              <a:t>7</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p:sp>
      <p:sp>
        <p:nvSpPr>
          <p:cNvPr id="1003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03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F01A8094-65A8-4BDC-A917-258CD9BF9473}" type="slidenum">
              <a:rPr lang="zh-CN" altLang="en-US" sz="1200">
                <a:latin typeface="Calibri" panose="020F0502020204030204" pitchFamily="34" charset="0"/>
                <a:ea typeface="宋体" panose="02010600030101010101" pitchFamily="2" charset="-122"/>
              </a:rPr>
              <a:t>28</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p:sp>
      <p:sp>
        <p:nvSpPr>
          <p:cNvPr id="10137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138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2AF0B8C6-3281-4E19-93AA-598CAF19DCDF}" type="slidenum">
              <a:rPr lang="zh-CN" altLang="en-US" sz="1200">
                <a:latin typeface="Calibri" panose="020F0502020204030204" pitchFamily="34" charset="0"/>
                <a:ea typeface="宋体" panose="02010600030101010101" pitchFamily="2" charset="-122"/>
              </a:rPr>
              <a:t>43</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p:sp>
      <p:sp>
        <p:nvSpPr>
          <p:cNvPr id="1024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4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6B6AB688-549C-45C5-84BC-6E27F9C13485}" type="slidenum">
              <a:rPr lang="zh-CN" altLang="en-US" sz="1200">
                <a:latin typeface="Calibri" panose="020F0502020204030204" pitchFamily="34" charset="0"/>
                <a:ea typeface="宋体" panose="02010600030101010101" pitchFamily="2" charset="-122"/>
              </a:rPr>
              <a:t>47</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p:sp>
      <p:sp>
        <p:nvSpPr>
          <p:cNvPr id="1034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4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D2D3BD56-3FBD-4E97-B1DE-34B88218C015}" type="slidenum">
              <a:rPr lang="zh-CN" altLang="en-US" sz="1200">
                <a:latin typeface="Calibri" panose="020F0502020204030204" pitchFamily="34" charset="0"/>
                <a:ea typeface="宋体" panose="02010600030101010101" pitchFamily="2" charset="-122"/>
              </a:rPr>
              <a:t>62</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p:sp>
      <p:sp>
        <p:nvSpPr>
          <p:cNvPr id="1044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44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21F4E06E-4895-4C9D-B0E0-F6B66CD29FAA}" type="slidenum">
              <a:rPr lang="zh-CN" altLang="en-US" sz="1200">
                <a:latin typeface="Calibri" panose="020F0502020204030204" pitchFamily="34" charset="0"/>
                <a:ea typeface="宋体" panose="02010600030101010101" pitchFamily="2" charset="-122"/>
              </a:rPr>
              <a:t>63</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p:sp>
      <p:sp>
        <p:nvSpPr>
          <p:cNvPr id="10547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547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D7175D1B-7431-4F01-BE0B-6E16462D963A}" type="slidenum">
              <a:rPr lang="zh-CN" altLang="en-US" sz="1200">
                <a:latin typeface="Calibri" panose="020F0502020204030204" pitchFamily="34" charset="0"/>
                <a:ea typeface="宋体" panose="02010600030101010101" pitchFamily="2" charset="-122"/>
              </a:rPr>
              <a:t>64</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p:sp>
      <p:sp>
        <p:nvSpPr>
          <p:cNvPr id="1064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5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E6AC8919-DC6F-45DF-B479-F7FB042447CE}" type="slidenum">
              <a:rPr lang="zh-CN" altLang="en-US" sz="1200">
                <a:latin typeface="Calibri" panose="020F0502020204030204" pitchFamily="34" charset="0"/>
                <a:ea typeface="宋体" panose="02010600030101010101" pitchFamily="2" charset="-122"/>
              </a:rPr>
              <a:t>65</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p:sp>
      <p:sp>
        <p:nvSpPr>
          <p:cNvPr id="1075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75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FA45EEA2-7113-4AF2-9D1A-1807CC98FDAD}" type="slidenum">
              <a:rPr lang="zh-CN" altLang="en-US" sz="1200">
                <a:latin typeface="Calibri" panose="020F0502020204030204" pitchFamily="34" charset="0"/>
                <a:ea typeface="宋体" panose="02010600030101010101" pitchFamily="2" charset="-122"/>
              </a:rPr>
              <a:t>66</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p:cNvSpPr>
            <a:spLocks noGrp="1" noRot="1" noChangeAspect="1" noTextEdit="1"/>
          </p:cNvSpPr>
          <p:nvPr>
            <p:ph type="sldImg"/>
          </p:nvPr>
        </p:nvSpPr>
        <p:spPr/>
      </p:sp>
      <p:sp>
        <p:nvSpPr>
          <p:cNvPr id="1085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85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96BF9A63-A628-485D-B07A-A3511DF4CCD0}" type="slidenum">
              <a:rPr lang="zh-CN" altLang="en-US" sz="1200">
                <a:latin typeface="Calibri" panose="020F0502020204030204" pitchFamily="34" charset="0"/>
                <a:ea typeface="宋体" panose="02010600030101010101" pitchFamily="2" charset="-122"/>
              </a:rPr>
              <a:t>67</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p:sp>
      <p:sp>
        <p:nvSpPr>
          <p:cNvPr id="1167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7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AD90D1C9-953E-455D-8A95-9A42EF760796}" type="slidenum">
              <a:rPr lang="zh-CN" altLang="en-US" sz="1200">
                <a:latin typeface="Calibri" panose="020F0502020204030204" pitchFamily="34" charset="0"/>
                <a:ea typeface="宋体" panose="02010600030101010101" pitchFamily="2" charset="-122"/>
              </a:rPr>
              <a:t>68</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p:sp>
      <p:sp>
        <p:nvSpPr>
          <p:cNvPr id="1095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95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FCC2B219-5D73-4207-B7BD-F10C649ED2BF}" type="slidenum">
              <a:rPr lang="zh-CN" altLang="en-US" sz="1200">
                <a:latin typeface="Calibri" panose="020F0502020204030204" pitchFamily="34" charset="0"/>
                <a:ea typeface="宋体" panose="02010600030101010101" pitchFamily="2" charset="-122"/>
              </a:rPr>
              <a:t>69</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p:sp>
      <p:sp>
        <p:nvSpPr>
          <p:cNvPr id="1105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05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0203A18D-8ADA-4EA9-AA7F-98D408186A65}" type="slidenum">
              <a:rPr lang="zh-CN" altLang="en-US" sz="1200">
                <a:latin typeface="Calibri" panose="020F0502020204030204" pitchFamily="34" charset="0"/>
                <a:ea typeface="宋体" panose="02010600030101010101" pitchFamily="2" charset="-122"/>
              </a:rPr>
              <a:t>70</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p:sp>
      <p:sp>
        <p:nvSpPr>
          <p:cNvPr id="1105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05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0203A18D-8ADA-4EA9-AA7F-98D408186A65}" type="slidenum">
              <a:rPr lang="zh-CN" altLang="en-US" sz="1200">
                <a:latin typeface="Calibri" panose="020F0502020204030204" pitchFamily="34" charset="0"/>
                <a:ea typeface="宋体" panose="02010600030101010101" pitchFamily="2" charset="-122"/>
              </a:rPr>
              <a:t>71</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p:sp>
      <p:sp>
        <p:nvSpPr>
          <p:cNvPr id="1105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05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0203A18D-8ADA-4EA9-AA7F-98D408186A65}" type="slidenum">
              <a:rPr lang="zh-CN" altLang="en-US" sz="1200">
                <a:latin typeface="Calibri" panose="020F0502020204030204" pitchFamily="34" charset="0"/>
                <a:ea typeface="宋体" panose="02010600030101010101" pitchFamily="2" charset="-122"/>
              </a:rPr>
              <a:t>72</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p:sp>
      <p:sp>
        <p:nvSpPr>
          <p:cNvPr id="1116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16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054AFBF5-C7A4-4437-830B-C90A440CB98D}" type="slidenum">
              <a:rPr lang="zh-CN" altLang="en-US" sz="1200">
                <a:latin typeface="Calibri" panose="020F0502020204030204" pitchFamily="34" charset="0"/>
                <a:ea typeface="宋体" panose="02010600030101010101" pitchFamily="2" charset="-122"/>
              </a:rPr>
              <a:t>73</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p:sp>
      <p:sp>
        <p:nvSpPr>
          <p:cNvPr id="1208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72891B81-2178-4130-BECC-A689028CBF46}" type="slidenum">
              <a:rPr lang="zh-CN" altLang="en-US" sz="1200">
                <a:latin typeface="Calibri" panose="020F0502020204030204" pitchFamily="34" charset="0"/>
                <a:ea typeface="宋体" panose="02010600030101010101" pitchFamily="2" charset="-122"/>
              </a:rPr>
              <a:t>74</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E6CF9-876A-CD54-66A8-5669636CDDF9}"/>
            </a:ext>
          </a:extLst>
        </p:cNvPr>
        <p:cNvGrpSpPr/>
        <p:nvPr/>
      </p:nvGrpSpPr>
      <p:grpSpPr>
        <a:xfrm>
          <a:off x="0" y="0"/>
          <a:ext cx="0" cy="0"/>
          <a:chOff x="0" y="0"/>
          <a:chExt cx="0" cy="0"/>
        </a:xfrm>
      </p:grpSpPr>
      <p:sp>
        <p:nvSpPr>
          <p:cNvPr id="120834" name="幻灯片图像占位符 1">
            <a:extLst>
              <a:ext uri="{FF2B5EF4-FFF2-40B4-BE49-F238E27FC236}">
                <a16:creationId xmlns:a16="http://schemas.microsoft.com/office/drawing/2014/main" id="{904E794E-7C59-D4E8-C074-FB2D15CB0C57}"/>
              </a:ext>
            </a:extLst>
          </p:cNvPr>
          <p:cNvSpPr>
            <a:spLocks noGrp="1" noRot="1" noChangeAspect="1" noTextEdit="1"/>
          </p:cNvSpPr>
          <p:nvPr>
            <p:ph type="sldImg"/>
          </p:nvPr>
        </p:nvSpPr>
        <p:spPr/>
      </p:sp>
      <p:sp>
        <p:nvSpPr>
          <p:cNvPr id="120835" name="备注占位符 2">
            <a:extLst>
              <a:ext uri="{FF2B5EF4-FFF2-40B4-BE49-F238E27FC236}">
                <a16:creationId xmlns:a16="http://schemas.microsoft.com/office/drawing/2014/main" id="{CCEF3AC2-54DD-0C2E-296E-AA3C37C89536}"/>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灯片编号占位符 3">
            <a:extLst>
              <a:ext uri="{FF2B5EF4-FFF2-40B4-BE49-F238E27FC236}">
                <a16:creationId xmlns:a16="http://schemas.microsoft.com/office/drawing/2014/main" id="{A9FF10AA-B1C8-3D27-6182-94904DCA66F9}"/>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72891B81-2178-4130-BECC-A689028CBF46}" type="slidenum">
              <a:rPr lang="zh-CN" altLang="en-US" sz="1200">
                <a:latin typeface="Calibri" panose="020F0502020204030204" pitchFamily="34" charset="0"/>
                <a:ea typeface="宋体" panose="02010600030101010101" pitchFamily="2" charset="-122"/>
              </a:rPr>
              <a:t>75</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5059387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4B3DF-D10E-388E-B235-B47C3098B764}"/>
            </a:ext>
          </a:extLst>
        </p:cNvPr>
        <p:cNvGrpSpPr/>
        <p:nvPr/>
      </p:nvGrpSpPr>
      <p:grpSpPr>
        <a:xfrm>
          <a:off x="0" y="0"/>
          <a:ext cx="0" cy="0"/>
          <a:chOff x="0" y="0"/>
          <a:chExt cx="0" cy="0"/>
        </a:xfrm>
      </p:grpSpPr>
      <p:sp>
        <p:nvSpPr>
          <p:cNvPr id="120834" name="幻灯片图像占位符 1">
            <a:extLst>
              <a:ext uri="{FF2B5EF4-FFF2-40B4-BE49-F238E27FC236}">
                <a16:creationId xmlns:a16="http://schemas.microsoft.com/office/drawing/2014/main" id="{4D82F613-57F5-B2AD-6BD0-BDADD972DA7F}"/>
              </a:ext>
            </a:extLst>
          </p:cNvPr>
          <p:cNvSpPr>
            <a:spLocks noGrp="1" noRot="1" noChangeAspect="1" noTextEdit="1"/>
          </p:cNvSpPr>
          <p:nvPr>
            <p:ph type="sldImg"/>
          </p:nvPr>
        </p:nvSpPr>
        <p:spPr/>
      </p:sp>
      <p:sp>
        <p:nvSpPr>
          <p:cNvPr id="120835" name="备注占位符 2">
            <a:extLst>
              <a:ext uri="{FF2B5EF4-FFF2-40B4-BE49-F238E27FC236}">
                <a16:creationId xmlns:a16="http://schemas.microsoft.com/office/drawing/2014/main" id="{DA1E2C88-42D7-6012-B636-BBE116148E49}"/>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灯片编号占位符 3">
            <a:extLst>
              <a:ext uri="{FF2B5EF4-FFF2-40B4-BE49-F238E27FC236}">
                <a16:creationId xmlns:a16="http://schemas.microsoft.com/office/drawing/2014/main" id="{73CF9A7E-2101-C39F-20E7-6FF75838AD5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72891B81-2178-4130-BECC-A689028CBF46}" type="slidenum">
              <a:rPr lang="zh-CN" altLang="en-US" sz="1200">
                <a:latin typeface="Calibri" panose="020F0502020204030204" pitchFamily="34" charset="0"/>
                <a:ea typeface="宋体" panose="02010600030101010101" pitchFamily="2" charset="-122"/>
              </a:rPr>
              <a:t>76</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41033249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p:sp>
      <p:sp>
        <p:nvSpPr>
          <p:cNvPr id="1126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26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CBB99BD5-9D77-4BDD-AB21-6E03FBFAB43F}" type="slidenum">
              <a:rPr lang="zh-CN" altLang="en-US" sz="1200">
                <a:latin typeface="Calibri" panose="020F0502020204030204" pitchFamily="34" charset="0"/>
                <a:ea typeface="宋体" panose="02010600030101010101" pitchFamily="2" charset="-122"/>
              </a:rPr>
              <a:t>77</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p:sp>
      <p:sp>
        <p:nvSpPr>
          <p:cNvPr id="1136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36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BA46C60F-8535-464C-A3B8-9CD4FE41250C}" type="slidenum">
              <a:rPr lang="zh-CN" altLang="en-US" sz="1200">
                <a:latin typeface="Calibri" panose="020F0502020204030204" pitchFamily="34" charset="0"/>
                <a:ea typeface="宋体" panose="02010600030101010101" pitchFamily="2" charset="-122"/>
              </a:rPr>
              <a:t>78</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p:sp>
      <p:sp>
        <p:nvSpPr>
          <p:cNvPr id="1146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46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EF282E92-6E95-4BA5-9314-E29219A523EF}" type="slidenum">
              <a:rPr lang="zh-CN" altLang="en-US" sz="1200">
                <a:latin typeface="Calibri" panose="020F0502020204030204" pitchFamily="34" charset="0"/>
                <a:ea typeface="宋体" panose="02010600030101010101" pitchFamily="2" charset="-122"/>
              </a:rPr>
              <a:t>79</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p:sp>
      <p:sp>
        <p:nvSpPr>
          <p:cNvPr id="1157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57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09D60494-E222-46E6-B748-56016A79FCF1}" type="slidenum">
              <a:rPr lang="zh-CN" altLang="en-US" sz="1200">
                <a:latin typeface="Calibri" panose="020F0502020204030204" pitchFamily="34" charset="0"/>
                <a:ea typeface="宋体" panose="02010600030101010101" pitchFamily="2" charset="-122"/>
              </a:rPr>
              <a:t>80</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p:sp>
      <p:sp>
        <p:nvSpPr>
          <p:cNvPr id="1177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7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C4D693CF-524E-446F-905A-D009116CA9BD}" type="slidenum">
              <a:rPr lang="zh-CN" altLang="en-US" sz="1200">
                <a:latin typeface="Calibri" panose="020F0502020204030204" pitchFamily="34" charset="0"/>
                <a:ea typeface="宋体" panose="02010600030101010101" pitchFamily="2" charset="-122"/>
              </a:rPr>
              <a:t>81</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p:sp>
      <p:sp>
        <p:nvSpPr>
          <p:cNvPr id="1187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87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0EE0F982-8EE4-43F1-A058-308C381E55DF}" type="slidenum">
              <a:rPr lang="zh-CN" altLang="en-US" sz="1200">
                <a:latin typeface="Calibri" panose="020F0502020204030204" pitchFamily="34" charset="0"/>
                <a:ea typeface="宋体" panose="02010600030101010101" pitchFamily="2" charset="-122"/>
              </a:rPr>
              <a:t>82</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p:sp>
      <p:sp>
        <p:nvSpPr>
          <p:cNvPr id="1198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981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767670AF-C945-454D-A953-827F1853487B}" type="slidenum">
              <a:rPr lang="zh-CN" altLang="en-US" sz="1200">
                <a:latin typeface="Calibri" panose="020F0502020204030204" pitchFamily="34" charset="0"/>
                <a:ea typeface="宋体" panose="02010600030101010101" pitchFamily="2" charset="-122"/>
              </a:rPr>
              <a:t>83</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p:sp>
      <p:sp>
        <p:nvSpPr>
          <p:cNvPr id="1208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72891B81-2178-4130-BECC-A689028CBF46}" type="slidenum">
              <a:rPr lang="zh-CN" altLang="en-US" sz="1200">
                <a:latin typeface="Calibri" panose="020F0502020204030204" pitchFamily="34" charset="0"/>
                <a:ea typeface="宋体" panose="02010600030101010101" pitchFamily="2" charset="-122"/>
              </a:rPr>
              <a:t>84</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p:sp>
      <p:sp>
        <p:nvSpPr>
          <p:cNvPr id="1208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72891B81-2178-4130-BECC-A689028CBF46}" type="slidenum">
              <a:rPr lang="zh-CN" altLang="en-US" sz="1200">
                <a:latin typeface="Calibri" panose="020F0502020204030204" pitchFamily="34" charset="0"/>
                <a:ea typeface="宋体" panose="02010600030101010101" pitchFamily="2" charset="-122"/>
              </a:rPr>
              <a:t>85</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p:sp>
      <p:sp>
        <p:nvSpPr>
          <p:cNvPr id="1208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72891B81-2178-4130-BECC-A689028CBF46}" type="slidenum">
              <a:rPr lang="zh-CN" altLang="en-US" sz="1200">
                <a:latin typeface="Calibri" panose="020F0502020204030204" pitchFamily="34" charset="0"/>
                <a:ea typeface="宋体" panose="02010600030101010101" pitchFamily="2" charset="-122"/>
              </a:rPr>
              <a:t>86</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p:sp>
      <p:sp>
        <p:nvSpPr>
          <p:cNvPr id="1218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18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5BFB8C63-E3E7-473F-B636-0A13A44753AC}" type="slidenum">
              <a:rPr lang="zh-CN" altLang="en-US" sz="1200">
                <a:latin typeface="Calibri" panose="020F0502020204030204" pitchFamily="34" charset="0"/>
                <a:ea typeface="宋体" panose="02010600030101010101" pitchFamily="2" charset="-122"/>
              </a:rPr>
              <a:t>87</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p:sp>
      <p:sp>
        <p:nvSpPr>
          <p:cNvPr id="1228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288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2FABEE09-6520-4990-AB91-85C353070696}" type="slidenum">
              <a:rPr lang="zh-CN" altLang="en-US" sz="1200">
                <a:latin typeface="Calibri" panose="020F0502020204030204" pitchFamily="34" charset="0"/>
                <a:ea typeface="宋体" panose="02010600030101010101" pitchFamily="2" charset="-122"/>
              </a:rPr>
              <a:t>88</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p:sp>
      <p:sp>
        <p:nvSpPr>
          <p:cNvPr id="1239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39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5FFC96B9-65EE-422C-94E4-F6143ED1E719}" type="slidenum">
              <a:rPr lang="zh-CN" altLang="en-US" sz="1200">
                <a:latin typeface="Calibri" panose="020F0502020204030204" pitchFamily="34" charset="0"/>
                <a:ea typeface="宋体" panose="02010600030101010101" pitchFamily="2" charset="-122"/>
              </a:rPr>
              <a:t>89</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p:sp>
      <p:sp>
        <p:nvSpPr>
          <p:cNvPr id="1249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49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AAB1029B-902D-42FE-AD7F-1E5A563FCB60}" type="slidenum">
              <a:rPr lang="zh-CN" altLang="en-US" sz="1200">
                <a:latin typeface="Calibri" panose="020F0502020204030204" pitchFamily="34" charset="0"/>
                <a:ea typeface="宋体" panose="02010600030101010101" pitchFamily="2" charset="-122"/>
              </a:rPr>
              <a:t>90</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p:sp>
      <p:sp>
        <p:nvSpPr>
          <p:cNvPr id="1249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49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AAB1029B-902D-42FE-AD7F-1E5A563FCB60}" type="slidenum">
              <a:rPr lang="zh-CN" altLang="en-US" sz="1200">
                <a:latin typeface="Calibri" panose="020F0502020204030204" pitchFamily="34" charset="0"/>
                <a:ea typeface="宋体" panose="02010600030101010101" pitchFamily="2" charset="-122"/>
              </a:rPr>
              <a:t>91</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p:sp>
      <p:sp>
        <p:nvSpPr>
          <p:cNvPr id="1249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49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AAB1029B-902D-42FE-AD7F-1E5A563FCB60}" type="slidenum">
              <a:rPr lang="zh-CN" altLang="en-US" sz="1200">
                <a:latin typeface="Calibri" panose="020F0502020204030204" pitchFamily="34" charset="0"/>
                <a:ea typeface="宋体" panose="02010600030101010101" pitchFamily="2" charset="-122"/>
              </a:rPr>
              <a:t>92</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p:sp>
      <p:sp>
        <p:nvSpPr>
          <p:cNvPr id="1249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49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AAB1029B-902D-42FE-AD7F-1E5A563FCB60}" type="slidenum">
              <a:rPr lang="zh-CN" altLang="en-US" sz="1200">
                <a:latin typeface="Calibri" panose="020F0502020204030204" pitchFamily="34" charset="0"/>
                <a:ea typeface="宋体" panose="02010600030101010101" pitchFamily="2" charset="-122"/>
              </a:rPr>
              <a:t>93</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p:sp>
      <p:sp>
        <p:nvSpPr>
          <p:cNvPr id="1249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49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AAB1029B-902D-42FE-AD7F-1E5A563FCB60}" type="slidenum">
              <a:rPr lang="zh-CN" altLang="en-US" sz="1200">
                <a:latin typeface="Calibri" panose="020F0502020204030204" pitchFamily="34" charset="0"/>
                <a:ea typeface="宋体" panose="02010600030101010101" pitchFamily="2" charset="-122"/>
              </a:rPr>
              <a:t>94</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p:sp>
      <p:sp>
        <p:nvSpPr>
          <p:cNvPr id="1249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49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AAB1029B-902D-42FE-AD7F-1E5A563FCB60}" type="slidenum">
              <a:rPr lang="zh-CN" altLang="en-US" sz="1200">
                <a:latin typeface="Calibri" panose="020F0502020204030204" pitchFamily="34" charset="0"/>
                <a:ea typeface="宋体" panose="02010600030101010101" pitchFamily="2" charset="-122"/>
              </a:rPr>
              <a:t>95</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p:sp>
      <p:sp>
        <p:nvSpPr>
          <p:cNvPr id="1249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49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AAB1029B-902D-42FE-AD7F-1E5A563FCB60}" type="slidenum">
              <a:rPr lang="zh-CN" altLang="en-US" sz="1200">
                <a:latin typeface="Calibri" panose="020F0502020204030204" pitchFamily="34" charset="0"/>
                <a:ea typeface="宋体" panose="02010600030101010101" pitchFamily="2" charset="-122"/>
              </a:rPr>
              <a:t>96</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p:sp>
      <p:sp>
        <p:nvSpPr>
          <p:cNvPr id="1259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59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DE08C3D8-058F-4FE3-AB19-B6F7E4537A8D}" type="slidenum">
              <a:rPr lang="zh-CN" altLang="en-US" sz="1200">
                <a:latin typeface="Calibri" panose="020F0502020204030204" pitchFamily="34" charset="0"/>
                <a:ea typeface="宋体" panose="02010600030101010101" pitchFamily="2" charset="-122"/>
              </a:rPr>
              <a:t>97</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p:sp>
      <p:sp>
        <p:nvSpPr>
          <p:cNvPr id="12697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698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EABA6033-D1FC-4628-8109-3477AD79F59A}" type="slidenum">
              <a:rPr lang="zh-CN" altLang="en-US" sz="1200">
                <a:latin typeface="Calibri" panose="020F0502020204030204" pitchFamily="34" charset="0"/>
                <a:ea typeface="宋体" panose="02010600030101010101" pitchFamily="2" charset="-122"/>
              </a:rPr>
              <a:t>98</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p:sp>
      <p:sp>
        <p:nvSpPr>
          <p:cNvPr id="1280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80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E38BC6CF-CFD3-47E4-9981-A3526A9BE52B}" type="slidenum">
              <a:rPr lang="zh-CN" altLang="en-US" sz="1200">
                <a:latin typeface="Calibri" panose="020F0502020204030204" pitchFamily="34" charset="0"/>
                <a:ea typeface="宋体" panose="02010600030101010101" pitchFamily="2" charset="-122"/>
              </a:rPr>
              <a:t>99</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p:sp>
      <p:sp>
        <p:nvSpPr>
          <p:cNvPr id="1290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90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5FF9D20A-5307-4695-B7BE-BCA561C5D52B}" type="slidenum">
              <a:rPr lang="zh-CN" altLang="en-US" sz="1200">
                <a:latin typeface="Calibri" panose="020F0502020204030204" pitchFamily="34" charset="0"/>
                <a:ea typeface="宋体" panose="02010600030101010101" pitchFamily="2" charset="-122"/>
              </a:rPr>
              <a:t>100</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p:sp>
      <p:sp>
        <p:nvSpPr>
          <p:cNvPr id="1300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00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63AB7B80-B781-4D76-9F21-C4152EFCD1B6}" type="slidenum">
              <a:rPr lang="zh-CN" altLang="en-US" sz="1200">
                <a:latin typeface="Calibri" panose="020F0502020204030204" pitchFamily="34" charset="0"/>
                <a:ea typeface="宋体" panose="02010600030101010101" pitchFamily="2" charset="-122"/>
              </a:rPr>
              <a:t>101</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p:sp>
      <p:sp>
        <p:nvSpPr>
          <p:cNvPr id="13107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107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7E832728-7BA4-4F9E-A249-FF9594666925}" type="slidenum">
              <a:rPr lang="zh-CN" altLang="en-US" sz="1200">
                <a:latin typeface="Calibri" panose="020F0502020204030204" pitchFamily="34" charset="0"/>
                <a:ea typeface="宋体" panose="02010600030101010101" pitchFamily="2" charset="-122"/>
              </a:rPr>
              <a:t>102</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p:sp>
      <p:sp>
        <p:nvSpPr>
          <p:cNvPr id="1320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21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0A1005B8-6C2D-41A0-95D9-FCD8E6868AA5}" type="slidenum">
              <a:rPr lang="zh-CN" altLang="en-US" sz="1200">
                <a:latin typeface="Calibri" panose="020F0502020204030204" pitchFamily="34" charset="0"/>
                <a:ea typeface="宋体" panose="02010600030101010101" pitchFamily="2" charset="-122"/>
              </a:rPr>
              <a:t>103</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p:sp>
      <p:sp>
        <p:nvSpPr>
          <p:cNvPr id="1331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31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444E55F3-CC0C-460E-BF55-5B4CA91360E9}" type="slidenum">
              <a:rPr lang="zh-CN" altLang="en-US" sz="1200">
                <a:latin typeface="Calibri" panose="020F0502020204030204" pitchFamily="34" charset="0"/>
                <a:ea typeface="宋体" panose="02010600030101010101" pitchFamily="2" charset="-122"/>
              </a:rPr>
              <a:t>104</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p:sp>
      <p:sp>
        <p:nvSpPr>
          <p:cNvPr id="1351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51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335F4B1A-87A2-443B-8700-A2727369B060}" type="slidenum">
              <a:rPr lang="zh-CN" altLang="en-US" sz="1200">
                <a:latin typeface="Calibri" panose="020F0502020204030204" pitchFamily="34" charset="0"/>
                <a:ea typeface="宋体" panose="02010600030101010101" pitchFamily="2" charset="-122"/>
              </a:rPr>
              <a:t>105</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p:sp>
      <p:sp>
        <p:nvSpPr>
          <p:cNvPr id="1341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41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fld id="{83EA43D8-5CED-4A28-9894-712E33C3F074}" type="slidenum">
              <a:rPr lang="zh-CN" altLang="en-US" sz="1200">
                <a:latin typeface="Calibri" panose="020F0502020204030204" pitchFamily="34" charset="0"/>
                <a:ea typeface="宋体" panose="02010600030101010101" pitchFamily="2" charset="-122"/>
              </a:rPr>
              <a:t>106</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343"/>
            <a:ext cx="7772400" cy="1102995"/>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transition spd="med">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200" b="1">
                <a:solidFill>
                  <a:srgbClr val="C00000"/>
                </a:solidFill>
                <a:latin typeface="+mj-ea"/>
                <a:ea typeface="+mj-ea"/>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transition spd="med">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4699"/>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274"/>
            <a:ext cx="7772400" cy="112442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med">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28625" y="1478759"/>
            <a:ext cx="4038600" cy="31161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9625" y="1478759"/>
            <a:ext cx="4038600" cy="31161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740"/>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573"/>
            <a:ext cx="4040188" cy="48006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633"/>
            <a:ext cx="4040188" cy="29632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9" y="1151573"/>
            <a:ext cx="4041775" cy="48006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9" y="1631633"/>
            <a:ext cx="4041775" cy="29632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Tree>
  </p:cSld>
  <p:clrMapOvr>
    <a:masterClrMapping/>
  </p:clrMapOvr>
  <p:transition spd="med">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4" y="204313"/>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312"/>
            <a:ext cx="5111750" cy="439054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4" y="1075849"/>
            <a:ext cx="3008313" cy="35190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76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60058"/>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6219"/>
            <a:ext cx="5486400" cy="6029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0825" y="514350"/>
            <a:ext cx="2057400" cy="408051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28625" y="514350"/>
            <a:ext cx="6019800" cy="408051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1928813" y="835025"/>
            <a:ext cx="5614987" cy="857250"/>
          </a:xfrm>
          <a:prstGeom prst="rect">
            <a:avLst/>
          </a:prstGeom>
          <a:noFill/>
          <a:ln w="9525">
            <a:noFill/>
            <a:miter lim="800000"/>
          </a:ln>
        </p:spPr>
        <p:txBody>
          <a:bodyPr vert="horz" wrap="square" lIns="91440" tIns="45720" rIns="91440" bIns="45720" numCol="1" anchor="ctr" anchorCtr="0" compatLnSpc="1"/>
          <a:lstStyle/>
          <a:p>
            <a:pPr lvl="0"/>
            <a:r>
              <a:rPr lang="zh-CN" dirty="0"/>
              <a:t>单击此处编辑母版标题样式</a:t>
            </a:r>
          </a:p>
        </p:txBody>
      </p:sp>
      <p:sp>
        <p:nvSpPr>
          <p:cNvPr id="2051" name="文本占位符 2"/>
          <p:cNvSpPr>
            <a:spLocks noGrp="1" noChangeArrowheads="1"/>
          </p:cNvSpPr>
          <p:nvPr>
            <p:ph type="body" idx="1"/>
          </p:nvPr>
        </p:nvSpPr>
        <p:spPr bwMode="auto">
          <a:xfrm>
            <a:off x="428625" y="1800225"/>
            <a:ext cx="8229600"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randomBar dir="vert"/>
  </p:transition>
  <p:txStyles>
    <p:titleStyle>
      <a:lvl1pPr algn="ctr" rtl="0" eaLnBrk="0" fontAlgn="base" hangingPunct="0">
        <a:spcBef>
          <a:spcPct val="0"/>
        </a:spcBef>
        <a:spcAft>
          <a:spcPct val="0"/>
        </a:spcAft>
        <a:defRPr lang="zh-CN" altLang="zh-CN" sz="3000" b="1" kern="1200" dirty="0">
          <a:solidFill>
            <a:srgbClr val="C00000"/>
          </a:solidFill>
          <a:effectLst>
            <a:reflection blurRad="6350" stA="50000" endA="300" endPos="50000" dist="60007" dir="5400000" sy="-100000" algn="bl" rotWithShape="0"/>
          </a:effectLst>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lnSpc>
          <a:spcPct val="150000"/>
        </a:lnSpc>
        <a:spcBef>
          <a:spcPct val="0"/>
        </a:spcBef>
        <a:spcAft>
          <a:spcPct val="0"/>
        </a:spcAft>
        <a:buClr>
          <a:srgbClr val="C00000"/>
        </a:buClr>
        <a:buFont typeface="Wingdings" panose="05000000000000000000" pitchFamily="2" charset="2"/>
        <a:buChar char="n"/>
        <a:defRPr sz="1600">
          <a:solidFill>
            <a:schemeClr val="tx1"/>
          </a:solidFill>
          <a:latin typeface="+mj-ea"/>
          <a:ea typeface="+mj-ea"/>
          <a:cs typeface="+mn-cs"/>
        </a:defRPr>
      </a:lvl1pPr>
      <a:lvl2pPr marL="742950" indent="-285750" algn="l" rtl="0" eaLnBrk="0" fontAlgn="base" hangingPunct="0">
        <a:lnSpc>
          <a:spcPct val="150000"/>
        </a:lnSpc>
        <a:spcBef>
          <a:spcPct val="0"/>
        </a:spcBef>
        <a:spcAft>
          <a:spcPct val="0"/>
        </a:spcAft>
        <a:buClr>
          <a:srgbClr val="C00000"/>
        </a:buClr>
        <a:buFont typeface="Wingdings" panose="05000000000000000000" pitchFamily="2" charset="2"/>
        <a:buChar char="Ø"/>
        <a:defRPr sz="1600">
          <a:solidFill>
            <a:schemeClr val="tx1"/>
          </a:solidFill>
          <a:latin typeface="+mj-ea"/>
          <a:ea typeface="+mj-ea"/>
        </a:defRPr>
      </a:lvl2pPr>
      <a:lvl3pPr marL="1143000" indent="-228600" algn="l" rtl="0" eaLnBrk="0" fontAlgn="base" hangingPunct="0">
        <a:lnSpc>
          <a:spcPct val="150000"/>
        </a:lnSpc>
        <a:spcBef>
          <a:spcPct val="0"/>
        </a:spcBef>
        <a:spcAft>
          <a:spcPct val="0"/>
        </a:spcAft>
        <a:buClr>
          <a:srgbClr val="C00000"/>
        </a:buClr>
        <a:buFont typeface="Wingdings" panose="05000000000000000000" pitchFamily="2" charset="2"/>
        <a:buChar char="ü"/>
        <a:defRPr sz="1600">
          <a:solidFill>
            <a:schemeClr val="tx1"/>
          </a:solidFill>
          <a:latin typeface="+mj-ea"/>
          <a:ea typeface="+mj-ea"/>
        </a:defRPr>
      </a:lvl3pPr>
      <a:lvl4pPr marL="16002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4pPr>
      <a:lvl5pPr marL="20574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5pPr>
      <a:lvl6pPr marL="25146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6pPr>
      <a:lvl7pPr marL="29718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7pPr>
      <a:lvl8pPr marL="34290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8pPr>
      <a:lvl9pPr marL="38862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3.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9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357305"/>
            <a:ext cx="7772400" cy="1103313"/>
          </a:xfrm>
        </p:spPr>
        <p:txBody>
          <a:bodyPr/>
          <a:lstStyle/>
          <a:p>
            <a:pPr>
              <a:defRPr/>
            </a:pPr>
            <a:r>
              <a:rPr altLang="en-US"/>
              <a:t>信息安全导论</a:t>
            </a:r>
            <a:br>
              <a:rPr altLang="en-US"/>
            </a:br>
            <a:r>
              <a:rPr altLang="en-US"/>
              <a:t> </a:t>
            </a:r>
            <a:r>
              <a:rPr lang="en-US" altLang="en-US"/>
              <a:t>Introduction to Information Security</a:t>
            </a:r>
            <a:endParaRPr altLang="en-US"/>
          </a:p>
        </p:txBody>
      </p:sp>
      <p:sp>
        <p:nvSpPr>
          <p:cNvPr id="3075" name="副标题 2"/>
          <p:cNvSpPr>
            <a:spLocks noGrp="1"/>
          </p:cNvSpPr>
          <p:nvPr>
            <p:ph type="subTitle" idx="1"/>
          </p:nvPr>
        </p:nvSpPr>
        <p:spPr>
          <a:xfrm>
            <a:off x="0" y="2786063"/>
            <a:ext cx="9144000" cy="1314450"/>
          </a:xfrm>
        </p:spPr>
        <p:txBody>
          <a:bodyPr/>
          <a:lstStyle/>
          <a:p>
            <a:r>
              <a:rPr lang="zh-CN" altLang="en-US" sz="1800" b="1"/>
              <a:t>华中农业大学信息学院</a:t>
            </a:r>
            <a:endParaRPr lang="en-US" altLang="zh-CN" sz="1800" b="1"/>
          </a:p>
          <a:p>
            <a:r>
              <a:rPr lang="zh-CN" altLang="en-US" sz="1800" b="1"/>
              <a:t>授课老师：徐士伟</a:t>
            </a:r>
          </a:p>
          <a:p>
            <a:endParaRPr lang="zh-CN" altLang="en-US" sz="1800" b="1"/>
          </a:p>
        </p:txBody>
      </p:sp>
    </p:spTree>
  </p:cSld>
  <p:clrMapOvr>
    <a:masterClrMapping/>
  </p:clrMapOvr>
  <p:transition spd="med">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内容占位符 2"/>
          <p:cNvSpPr>
            <a:spLocks noGrp="1"/>
          </p:cNvSpPr>
          <p:nvPr>
            <p:ph idx="1"/>
          </p:nvPr>
        </p:nvSpPr>
        <p:spPr>
          <a:xfrm>
            <a:off x="428625" y="1800225"/>
            <a:ext cx="8247831" cy="2343150"/>
          </a:xfrm>
        </p:spPr>
        <p:txBody>
          <a:bodyPr/>
          <a:lstStyle/>
          <a:p>
            <a:pPr>
              <a:defRPr/>
            </a:pPr>
            <a:r>
              <a:rPr lang="zh-CN" altLang="zh-CN" sz="2000" b="1" dirty="0"/>
              <a:t>本章学习要点：</a:t>
            </a:r>
          </a:p>
          <a:p>
            <a:pPr indent="-215900">
              <a:buFont typeface="Wingdings" panose="05000000000000000000" pitchFamily="2" charset="2"/>
              <a:buChar char="Ø"/>
              <a:defRPr/>
            </a:pPr>
            <a:r>
              <a:rPr lang="zh-CN" altLang="zh-CN" b="1" dirty="0">
                <a:solidFill>
                  <a:srgbClr val="FF0000"/>
                </a:solidFill>
              </a:rPr>
              <a:t>了解</a:t>
            </a:r>
            <a:r>
              <a:rPr lang="zh-CN" altLang="zh-CN" b="1" dirty="0"/>
              <a:t>软件安全的概念以及当前软件安全威胁的主要来源；</a:t>
            </a:r>
          </a:p>
          <a:p>
            <a:pPr indent="-215900">
              <a:buFont typeface="Wingdings" panose="05000000000000000000" pitchFamily="2" charset="2"/>
              <a:buChar char="Ø"/>
              <a:defRPr/>
            </a:pPr>
            <a:r>
              <a:rPr lang="zh-CN" altLang="en-US" b="1" dirty="0">
                <a:solidFill>
                  <a:srgbClr val="FF0000"/>
                </a:solidFill>
              </a:rPr>
              <a:t>了解</a:t>
            </a:r>
            <a:r>
              <a:rPr lang="zh-CN" altLang="zh-CN" b="1" dirty="0"/>
              <a:t>软件安全风险分析的过程，微软</a:t>
            </a:r>
            <a:r>
              <a:rPr lang="en-US" altLang="zh-CN" b="1" dirty="0"/>
              <a:t>STRIDE</a:t>
            </a:r>
            <a:r>
              <a:rPr lang="zh-CN" altLang="zh-CN" b="1" dirty="0"/>
              <a:t>威胁建模方法；</a:t>
            </a:r>
            <a:r>
              <a:rPr lang="en-US" altLang="zh-CN" b="1" u="sng" dirty="0">
                <a:solidFill>
                  <a:srgbClr val="FF0000"/>
                </a:solidFill>
              </a:rPr>
              <a:t> </a:t>
            </a:r>
            <a:endParaRPr lang="zh-CN" altLang="zh-CN" b="1" dirty="0"/>
          </a:p>
          <a:p>
            <a:pPr indent="-215900">
              <a:buFont typeface="Wingdings" panose="05000000000000000000" pitchFamily="2" charset="2"/>
              <a:buChar char="Ø"/>
              <a:defRPr/>
            </a:pPr>
            <a:r>
              <a:rPr lang="zh-CN" altLang="zh-CN" b="1" dirty="0">
                <a:solidFill>
                  <a:srgbClr val="FF0000"/>
                </a:solidFill>
              </a:rPr>
              <a:t>了解</a:t>
            </a:r>
            <a:r>
              <a:rPr lang="zh-CN" altLang="zh-CN" b="1" dirty="0"/>
              <a:t>安全软件开发生命周期的构成方式以及主要步骤；</a:t>
            </a:r>
          </a:p>
          <a:p>
            <a:pPr indent="-215900">
              <a:buFont typeface="Wingdings" panose="05000000000000000000" pitchFamily="2" charset="2"/>
              <a:buChar char="Ø"/>
              <a:defRPr/>
            </a:pPr>
            <a:r>
              <a:rPr lang="zh-CN" altLang="zh-CN" b="1" dirty="0">
                <a:solidFill>
                  <a:srgbClr val="FF0000"/>
                </a:solidFill>
              </a:rPr>
              <a:t>理解并掌握</a:t>
            </a:r>
            <a:r>
              <a:rPr lang="zh-CN" altLang="zh-CN" b="1" dirty="0"/>
              <a:t>恶意软件的定义，特别是病毒，蠕虫和木马三者的</a:t>
            </a:r>
            <a:r>
              <a:rPr lang="zh-CN" altLang="en-US" b="1" dirty="0"/>
              <a:t>区别、</a:t>
            </a:r>
            <a:r>
              <a:rPr lang="zh-CN" altLang="zh-CN" b="1" dirty="0"/>
              <a:t>机理与防治技术。</a:t>
            </a:r>
            <a:r>
              <a:rPr lang="en-US" altLang="zh-CN" b="1" u="sng" dirty="0">
                <a:solidFill>
                  <a:srgbClr val="FF0000"/>
                </a:solidFill>
              </a:rPr>
              <a:t> (</a:t>
            </a:r>
            <a:r>
              <a:rPr lang="zh-CN" altLang="en-US" b="1" u="sng" dirty="0">
                <a:solidFill>
                  <a:srgbClr val="FF0000"/>
                </a:solidFill>
              </a:rPr>
              <a:t>重点</a:t>
            </a:r>
            <a:r>
              <a:rPr lang="en-US" altLang="zh-CN" b="1" u="sng" dirty="0">
                <a:solidFill>
                  <a:srgbClr val="FF0000"/>
                </a:solidFill>
              </a:rPr>
              <a:t>)</a:t>
            </a:r>
            <a:endParaRPr lang="zh-CN" altLang="zh-CN" b="1" dirty="0"/>
          </a:p>
          <a:p>
            <a:pPr>
              <a:defRPr/>
            </a:pPr>
            <a:endParaRPr lang="zh-CN" altLang="en-US" b="1" dirty="0"/>
          </a:p>
        </p:txBody>
      </p:sp>
      <p:sp>
        <p:nvSpPr>
          <p:cNvPr id="5" name="标题 1"/>
          <p:cNvSpPr txBox="1"/>
          <p:nvPr/>
        </p:nvSpPr>
        <p:spPr bwMode="auto">
          <a:xfrm>
            <a:off x="0" y="714362"/>
            <a:ext cx="9144000" cy="857250"/>
          </a:xfrm>
          <a:prstGeom prst="rect">
            <a:avLst/>
          </a:prstGeom>
          <a:noFill/>
          <a:ln w="9525">
            <a:noFill/>
            <a:miter lim="800000"/>
          </a:ln>
        </p:spPr>
        <p:txBody>
          <a:bodyPr anchor="ctr"/>
          <a:lstStyle/>
          <a:p>
            <a:pPr algn="ctr">
              <a:defRPr/>
            </a:pPr>
            <a:r>
              <a:rPr lang="zh-CN" altLang="en-US" sz="3200" b="1" dirty="0">
                <a:solidFill>
                  <a:srgbClr val="C00000"/>
                </a:solidFill>
                <a:effectLst>
                  <a:reflection blurRad="6350" stA="50000" endA="300" endPos="50000" dist="60007" dir="5400000" sy="-100000" algn="bl" rotWithShape="0"/>
                </a:effectLst>
                <a:latin typeface="+mj-ea"/>
                <a:ea typeface="+mj-ea"/>
                <a:cs typeface="+mj-cs"/>
              </a:rPr>
              <a:t>第</a:t>
            </a:r>
            <a:r>
              <a:rPr lang="en-US" altLang="zh-CN" sz="3200" b="1" dirty="0">
                <a:solidFill>
                  <a:srgbClr val="C00000"/>
                </a:solidFill>
                <a:effectLst>
                  <a:reflection blurRad="6350" stA="50000" endA="300" endPos="50000" dist="60007" dir="5400000" sy="-100000" algn="bl" rotWithShape="0"/>
                </a:effectLst>
                <a:latin typeface="+mj-ea"/>
                <a:ea typeface="+mj-ea"/>
                <a:cs typeface="+mj-cs"/>
              </a:rPr>
              <a:t>9</a:t>
            </a:r>
            <a:r>
              <a:rPr lang="zh-CN" altLang="en-US" sz="3200" b="1" dirty="0">
                <a:solidFill>
                  <a:srgbClr val="C00000"/>
                </a:solidFill>
                <a:effectLst>
                  <a:reflection blurRad="6350" stA="50000" endA="300" endPos="50000" dist="60007" dir="5400000" sy="-100000" algn="bl" rotWithShape="0"/>
                </a:effectLst>
                <a:latin typeface="+mj-ea"/>
                <a:ea typeface="+mj-ea"/>
                <a:cs typeface="+mj-cs"/>
              </a:rPr>
              <a:t>章 软件安全与恶意代码</a:t>
            </a:r>
          </a:p>
        </p:txBody>
      </p:sp>
    </p:spTree>
  </p:cSld>
  <p:clrMapOvr>
    <a:masterClrMapping/>
  </p:clrMapOvr>
  <p:transition spd="med">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0169" y="500048"/>
            <a:ext cx="5614987" cy="857250"/>
          </a:xfrm>
        </p:spPr>
        <p:txBody>
          <a:bodyPr/>
          <a:lstStyle/>
          <a:p>
            <a:pPr>
              <a:defRPr/>
            </a:pPr>
            <a:r>
              <a:rPr altLang="en-US" sz="2800" dirty="0"/>
              <a:t>内容提纲</a:t>
            </a:r>
          </a:p>
        </p:txBody>
      </p:sp>
      <p:sp>
        <p:nvSpPr>
          <p:cNvPr id="5123" name="五边形 3"/>
          <p:cNvSpPr>
            <a:spLocks noChangeArrowheads="1"/>
          </p:cNvSpPr>
          <p:nvPr/>
        </p:nvSpPr>
        <p:spPr bwMode="auto">
          <a:xfrm rot="10800000">
            <a:off x="2286000" y="1500188"/>
            <a:ext cx="4071938" cy="428625"/>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5124" name="椭圆 4"/>
          <p:cNvSpPr>
            <a:spLocks noChangeArrowheads="1"/>
          </p:cNvSpPr>
          <p:nvPr/>
        </p:nvSpPr>
        <p:spPr bwMode="auto">
          <a:xfrm>
            <a:off x="2071688" y="1500188"/>
            <a:ext cx="428625" cy="428625"/>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5125" name="TextBox 6"/>
          <p:cNvSpPr txBox="1">
            <a:spLocks noChangeArrowheads="1"/>
          </p:cNvSpPr>
          <p:nvPr/>
        </p:nvSpPr>
        <p:spPr bwMode="auto">
          <a:xfrm>
            <a:off x="3214688" y="1500188"/>
            <a:ext cx="2152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solidFill>
                  <a:srgbClr val="FF0000"/>
                </a:solidFill>
                <a:latin typeface="黑体" panose="02010609060101010101" pitchFamily="49" charset="-122"/>
                <a:ea typeface="黑体" panose="02010609060101010101" pitchFamily="49" charset="-122"/>
              </a:rPr>
              <a:t>软件安全概述</a:t>
            </a:r>
          </a:p>
        </p:txBody>
      </p:sp>
      <p:grpSp>
        <p:nvGrpSpPr>
          <p:cNvPr id="5126" name="组合 8"/>
          <p:cNvGrpSpPr/>
          <p:nvPr/>
        </p:nvGrpSpPr>
        <p:grpSpPr bwMode="auto">
          <a:xfrm>
            <a:off x="2071688" y="2143125"/>
            <a:ext cx="4286250" cy="428625"/>
            <a:chOff x="571472" y="1142990"/>
            <a:chExt cx="4286280" cy="428628"/>
          </a:xfrm>
        </p:grpSpPr>
        <p:sp>
          <p:nvSpPr>
            <p:cNvPr id="5139" name="五边形 9"/>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5140" name="椭圆 10"/>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5141" name="TextBox 11"/>
            <p:cNvSpPr txBox="1">
              <a:spLocks noChangeArrowheads="1"/>
            </p:cNvSpPr>
            <p:nvPr/>
          </p:nvSpPr>
          <p:spPr bwMode="auto">
            <a:xfrm>
              <a:off x="1714480" y="1142990"/>
              <a:ext cx="2152664"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黑体" panose="02010609060101010101" pitchFamily="49" charset="-122"/>
                  <a:ea typeface="黑体" panose="02010609060101010101" pitchFamily="49" charset="-122"/>
                </a:rPr>
                <a:t>软件体系安全分析</a:t>
              </a:r>
            </a:p>
          </p:txBody>
        </p:sp>
      </p:grpSp>
      <p:grpSp>
        <p:nvGrpSpPr>
          <p:cNvPr id="5127" name="组合 12"/>
          <p:cNvGrpSpPr/>
          <p:nvPr/>
        </p:nvGrpSpPr>
        <p:grpSpPr bwMode="auto">
          <a:xfrm>
            <a:off x="2071688" y="2786063"/>
            <a:ext cx="4286250" cy="428625"/>
            <a:chOff x="571472" y="1142990"/>
            <a:chExt cx="4286280" cy="428628"/>
          </a:xfrm>
        </p:grpSpPr>
        <p:sp>
          <p:nvSpPr>
            <p:cNvPr id="5136" name="五边形 13"/>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5137" name="椭圆 14"/>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5138" name="TextBox 15"/>
            <p:cNvSpPr txBox="1">
              <a:spLocks noChangeArrowheads="1"/>
            </p:cNvSpPr>
            <p:nvPr/>
          </p:nvSpPr>
          <p:spPr bwMode="auto">
            <a:xfrm>
              <a:off x="1500154" y="1142991"/>
              <a:ext cx="2714653"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黑体" panose="02010609060101010101" pitchFamily="49" charset="-122"/>
                  <a:ea typeface="黑体" panose="02010609060101010101" pitchFamily="49" charset="-122"/>
                </a:rPr>
                <a:t>安全软件开发生命周期</a:t>
              </a:r>
            </a:p>
          </p:txBody>
        </p:sp>
      </p:grpSp>
      <p:grpSp>
        <p:nvGrpSpPr>
          <p:cNvPr id="5128" name="组合 16"/>
          <p:cNvGrpSpPr/>
          <p:nvPr/>
        </p:nvGrpSpPr>
        <p:grpSpPr bwMode="auto">
          <a:xfrm>
            <a:off x="2071688" y="3357563"/>
            <a:ext cx="4286250" cy="428625"/>
            <a:chOff x="571472" y="1142990"/>
            <a:chExt cx="4286280" cy="428628"/>
          </a:xfrm>
        </p:grpSpPr>
        <p:sp>
          <p:nvSpPr>
            <p:cNvPr id="5133" name="五边形 17"/>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5134" name="椭圆 18"/>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5135" name="TextBox 19"/>
            <p:cNvSpPr txBox="1">
              <a:spLocks noChangeArrowheads="1"/>
            </p:cNvSpPr>
            <p:nvPr/>
          </p:nvSpPr>
          <p:spPr bwMode="auto">
            <a:xfrm>
              <a:off x="1714480" y="1142990"/>
              <a:ext cx="2152664"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黑体" panose="02010609060101010101" pitchFamily="49" charset="-122"/>
                  <a:ea typeface="黑体" panose="02010609060101010101" pitchFamily="49" charset="-122"/>
                </a:rPr>
                <a:t>恶意代码分析</a:t>
              </a:r>
            </a:p>
          </p:txBody>
        </p:sp>
      </p:grpSp>
      <p:grpSp>
        <p:nvGrpSpPr>
          <p:cNvPr id="5129" name="组合 20"/>
          <p:cNvGrpSpPr/>
          <p:nvPr/>
        </p:nvGrpSpPr>
        <p:grpSpPr bwMode="auto">
          <a:xfrm>
            <a:off x="2071688" y="3929063"/>
            <a:ext cx="4286250" cy="428625"/>
            <a:chOff x="571472" y="1142990"/>
            <a:chExt cx="4286280" cy="428628"/>
          </a:xfrm>
        </p:grpSpPr>
        <p:sp>
          <p:nvSpPr>
            <p:cNvPr id="5130" name="五边形 21"/>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5131" name="椭圆 22"/>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5132" name="TextBox 23"/>
            <p:cNvSpPr txBox="1">
              <a:spLocks noChangeArrowheads="1"/>
            </p:cNvSpPr>
            <p:nvPr/>
          </p:nvSpPr>
          <p:spPr bwMode="auto">
            <a:xfrm>
              <a:off x="1714480" y="1142990"/>
              <a:ext cx="2152664"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黑体" panose="02010609060101010101" pitchFamily="49" charset="-122"/>
                  <a:ea typeface="黑体" panose="02010609060101010101" pitchFamily="49" charset="-122"/>
                </a:rPr>
                <a:t>本章小结</a:t>
              </a:r>
            </a:p>
          </p:txBody>
        </p:sp>
      </p:grpSp>
    </p:spTree>
  </p:cSld>
  <p:clrMapOvr>
    <a:masterClrMapping/>
  </p:clrMapOvr>
  <p:transition spd="med">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642924"/>
            <a:ext cx="2928936" cy="665155"/>
          </a:xfrm>
        </p:spPr>
        <p:txBody>
          <a:bodyPr/>
          <a:lstStyle/>
          <a:p>
            <a:pPr>
              <a:defRPr/>
            </a:pPr>
            <a:r>
              <a:rPr altLang="en-US" sz="2400" dirty="0"/>
              <a:t>软件的重要性</a:t>
            </a:r>
          </a:p>
        </p:txBody>
      </p:sp>
      <p:sp>
        <p:nvSpPr>
          <p:cNvPr id="6147" name="内容占位符 2"/>
          <p:cNvSpPr>
            <a:spLocks noGrp="1"/>
          </p:cNvSpPr>
          <p:nvPr>
            <p:ph idx="1"/>
          </p:nvPr>
        </p:nvSpPr>
        <p:spPr>
          <a:xfrm>
            <a:off x="428625" y="1500188"/>
            <a:ext cx="8229600" cy="2794000"/>
          </a:xfrm>
        </p:spPr>
        <p:txBody>
          <a:bodyPr/>
          <a:lstStyle/>
          <a:p>
            <a:r>
              <a:rPr lang="zh-CN" altLang="en-US" b="1"/>
              <a:t>软件定义网络（</a:t>
            </a:r>
            <a:r>
              <a:rPr lang="en-US" altLang="zh-CN" b="1"/>
              <a:t>Software Defined Network</a:t>
            </a:r>
            <a:r>
              <a:rPr lang="zh-CN" altLang="en-US" b="1"/>
              <a:t>，</a:t>
            </a:r>
            <a:r>
              <a:rPr lang="en-US" altLang="zh-CN" b="1"/>
              <a:t>SDN</a:t>
            </a:r>
            <a:r>
              <a:rPr lang="zh-CN" altLang="en-US" b="1"/>
              <a:t>）</a:t>
            </a:r>
            <a:endParaRPr lang="en-US" altLang="zh-CN" b="1"/>
          </a:p>
          <a:p>
            <a:r>
              <a:rPr lang="zh-CN" altLang="en-US" b="1"/>
              <a:t>软件定义世界（</a:t>
            </a:r>
            <a:r>
              <a:rPr lang="en-US" altLang="zh-CN" b="1"/>
              <a:t>SDX</a:t>
            </a:r>
            <a:r>
              <a:rPr lang="zh-CN" altLang="en-US" b="1"/>
              <a:t>）</a:t>
            </a:r>
            <a:endParaRPr lang="en-US" altLang="zh-CN" b="1"/>
          </a:p>
          <a:p>
            <a:pPr lvl="1"/>
            <a:r>
              <a:rPr lang="zh-CN" altLang="en-US" b="1"/>
              <a:t>软件定义存储（</a:t>
            </a:r>
            <a:r>
              <a:rPr lang="en-US" altLang="zh-CN" b="1"/>
              <a:t>SDS</a:t>
            </a:r>
            <a:r>
              <a:rPr lang="zh-CN" altLang="en-US" b="1"/>
              <a:t>）</a:t>
            </a:r>
            <a:endParaRPr lang="en-US" altLang="zh-CN" b="1"/>
          </a:p>
          <a:p>
            <a:pPr lvl="1"/>
            <a:r>
              <a:rPr lang="zh-CN" altLang="en-US" b="1"/>
              <a:t>软件定义计算（</a:t>
            </a:r>
            <a:r>
              <a:rPr lang="en-US" altLang="zh-CN" b="1"/>
              <a:t>SDC</a:t>
            </a:r>
            <a:r>
              <a:rPr lang="zh-CN" altLang="en-US" b="1"/>
              <a:t>）</a:t>
            </a:r>
            <a:endParaRPr lang="en-US" altLang="zh-CN" b="1"/>
          </a:p>
          <a:p>
            <a:pPr lvl="1"/>
            <a:r>
              <a:rPr lang="zh-CN" altLang="en-US" b="1"/>
              <a:t>软件定义数据中心（</a:t>
            </a:r>
            <a:r>
              <a:rPr lang="en-US" altLang="zh-CN" b="1"/>
              <a:t>SDDC</a:t>
            </a:r>
            <a:r>
              <a:rPr lang="zh-CN" altLang="en-US" b="1"/>
              <a:t>）</a:t>
            </a:r>
          </a:p>
          <a:p>
            <a:r>
              <a:rPr lang="zh-CN" altLang="en-US" b="1"/>
              <a:t>软件定义</a:t>
            </a:r>
            <a:r>
              <a:rPr lang="en-US" altLang="zh-CN" b="1"/>
              <a:t>Everything</a:t>
            </a:r>
          </a:p>
          <a:p>
            <a:endParaRPr lang="en-US" altLang="zh-CN" b="1"/>
          </a:p>
        </p:txBody>
      </p:sp>
    </p:spTree>
  </p:cSld>
  <p:clrMapOvr>
    <a:masterClrMapping/>
  </p:clrMapOvr>
  <p:transition spd="med">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内容占位符 2"/>
          <p:cNvSpPr>
            <a:spLocks noGrp="1"/>
          </p:cNvSpPr>
          <p:nvPr>
            <p:ph idx="1"/>
          </p:nvPr>
        </p:nvSpPr>
        <p:spPr>
          <a:xfrm>
            <a:off x="251521" y="1071563"/>
            <a:ext cx="8784530" cy="3444875"/>
          </a:xfrm>
        </p:spPr>
        <p:txBody>
          <a:bodyPr/>
          <a:lstStyle/>
          <a:p>
            <a:pPr>
              <a:spcBef>
                <a:spcPts val="600"/>
              </a:spcBef>
            </a:pPr>
            <a:r>
              <a:rPr lang="zh-CN" altLang="zh-CN" sz="2000" b="1" dirty="0">
                <a:solidFill>
                  <a:srgbClr val="FF0000"/>
                </a:solidFill>
              </a:rPr>
              <a:t>软件安全是指：</a:t>
            </a:r>
            <a:r>
              <a:rPr lang="zh-CN" altLang="zh-CN" sz="1800" b="1" dirty="0"/>
              <a:t>采取工程的方法使得软件在敌对攻击的情况下仍继续正常工作。</a:t>
            </a:r>
            <a:r>
              <a:rPr lang="en-US" altLang="zh-CN" sz="1800" b="1" dirty="0">
                <a:solidFill>
                  <a:srgbClr val="FF0000"/>
                </a:solidFill>
                <a:sym typeface="Wingdings" panose="05000000000000000000" pitchFamily="2" charset="2"/>
              </a:rPr>
              <a:t></a:t>
            </a:r>
            <a:r>
              <a:rPr lang="en-US" altLang="zh-CN" sz="1800" b="1" dirty="0">
                <a:sym typeface="Wingdings" panose="05000000000000000000" pitchFamily="2" charset="2"/>
              </a:rPr>
              <a:t> </a:t>
            </a:r>
            <a:r>
              <a:rPr lang="zh-CN" altLang="en-US" sz="1800" b="1" dirty="0">
                <a:sym typeface="Wingdings" panose="05000000000000000000" pitchFamily="2" charset="2"/>
              </a:rPr>
              <a:t>一方面：</a:t>
            </a:r>
            <a:r>
              <a:rPr lang="zh-CN" altLang="en-US" sz="1800" b="1" dirty="0">
                <a:solidFill>
                  <a:srgbClr val="0033CC"/>
                </a:solidFill>
                <a:sym typeface="Wingdings" panose="05000000000000000000" pitchFamily="2" charset="2"/>
              </a:rPr>
              <a:t>如何构造安全的软件系统</a:t>
            </a:r>
            <a:r>
              <a:rPr lang="zh-CN" altLang="en-US" sz="1800" b="1" dirty="0">
                <a:sym typeface="Wingdings" panose="05000000000000000000" pitchFamily="2" charset="2"/>
              </a:rPr>
              <a:t>，另一方面：</a:t>
            </a:r>
            <a:r>
              <a:rPr lang="zh-CN" altLang="en-US" sz="1800" b="1" dirty="0">
                <a:solidFill>
                  <a:srgbClr val="0033CC"/>
                </a:solidFill>
                <a:sym typeface="Wingdings" panose="05000000000000000000" pitchFamily="2" charset="2"/>
              </a:rPr>
              <a:t>软件自身的安全性和恶意软件</a:t>
            </a:r>
            <a:endParaRPr lang="en-US" altLang="zh-CN" sz="1800" b="1" dirty="0">
              <a:solidFill>
                <a:srgbClr val="0033CC"/>
              </a:solidFill>
              <a:sym typeface="Wingdings" panose="05000000000000000000" pitchFamily="2" charset="2"/>
            </a:endParaRPr>
          </a:p>
          <a:p>
            <a:pPr>
              <a:spcBef>
                <a:spcPts val="600"/>
              </a:spcBef>
              <a:buFont typeface="Wingdings" panose="05000000000000000000" pitchFamily="2" charset="2"/>
              <a:buChar char="Ø"/>
            </a:pPr>
            <a:r>
              <a:rPr lang="zh-CN" altLang="en-US" sz="1800" b="1" u="sng" dirty="0">
                <a:solidFill>
                  <a:srgbClr val="FF0000"/>
                </a:solidFill>
              </a:rPr>
              <a:t>在</a:t>
            </a:r>
            <a:r>
              <a:rPr lang="zh-CN" altLang="en-US" sz="1800" b="1" u="sng" dirty="0">
                <a:solidFill>
                  <a:srgbClr val="0033CC"/>
                </a:solidFill>
              </a:rPr>
              <a:t>如何构造安全的软件系统</a:t>
            </a:r>
            <a:r>
              <a:rPr lang="zh-CN" altLang="en-US" sz="1800" b="1" u="sng" dirty="0">
                <a:solidFill>
                  <a:srgbClr val="FF0000"/>
                </a:solidFill>
              </a:rPr>
              <a:t>方面</a:t>
            </a:r>
            <a:r>
              <a:rPr lang="zh-CN" altLang="en-US" sz="1800" b="1" dirty="0">
                <a:solidFill>
                  <a:srgbClr val="0033CC"/>
                </a:solidFill>
              </a:rPr>
              <a:t>：</a:t>
            </a:r>
            <a:endParaRPr lang="en-US" altLang="zh-CN" sz="1800" b="1" dirty="0">
              <a:solidFill>
                <a:srgbClr val="0033CC"/>
              </a:solidFill>
            </a:endParaRPr>
          </a:p>
          <a:p>
            <a:pPr lvl="1">
              <a:spcBef>
                <a:spcPts val="600"/>
              </a:spcBef>
            </a:pPr>
            <a:r>
              <a:rPr lang="zh-CN" altLang="en-US" sz="1800" b="1" dirty="0"/>
              <a:t>软件安全是计算机安全问题中的一个关键问题。软件的缺陷，包括实现中的错误，以及设计中的错误，已经出现很多年了。</a:t>
            </a:r>
            <a:endParaRPr lang="en-US" altLang="zh-CN" sz="1800" b="1" dirty="0"/>
          </a:p>
          <a:p>
            <a:pPr lvl="1">
              <a:spcBef>
                <a:spcPts val="600"/>
              </a:spcBef>
            </a:pPr>
            <a:r>
              <a:rPr lang="zh-CN" altLang="en-US" sz="1800" b="1" dirty="0"/>
              <a:t>同时随着软件系统的不断增加和越来越复杂 </a:t>
            </a:r>
            <a:r>
              <a:rPr lang="en-US" altLang="zh-CN" sz="1800" b="1" dirty="0">
                <a:sym typeface="Wingdings" panose="05000000000000000000" pitchFamily="2" charset="2"/>
              </a:rPr>
              <a:t> </a:t>
            </a:r>
            <a:r>
              <a:rPr lang="zh-CN" altLang="en-US" sz="1800" b="1" dirty="0"/>
              <a:t>使得安全隐患也不断增多。</a:t>
            </a:r>
            <a:endParaRPr lang="en-US" altLang="zh-CN" sz="1800" b="1" dirty="0"/>
          </a:p>
          <a:p>
            <a:pPr lvl="1">
              <a:spcBef>
                <a:spcPts val="600"/>
              </a:spcBef>
            </a:pPr>
            <a:r>
              <a:rPr lang="zh-CN" altLang="en-US" sz="1800" b="1" dirty="0"/>
              <a:t>方法：</a:t>
            </a:r>
            <a:r>
              <a:rPr lang="zh-CN" altLang="zh-CN" sz="1800" b="1" dirty="0">
                <a:solidFill>
                  <a:srgbClr val="FF0000"/>
                </a:solidFill>
              </a:rPr>
              <a:t>采用</a:t>
            </a:r>
            <a:r>
              <a:rPr lang="zh-CN" altLang="zh-CN" sz="1800" b="1" dirty="0">
                <a:solidFill>
                  <a:srgbClr val="0033CC"/>
                </a:solidFill>
              </a:rPr>
              <a:t>系统化</a:t>
            </a:r>
            <a:r>
              <a:rPr lang="zh-CN" altLang="zh-CN" sz="1800" b="1" dirty="0">
                <a:solidFill>
                  <a:schemeClr val="accent1"/>
                </a:solidFill>
              </a:rPr>
              <a:t>、</a:t>
            </a:r>
            <a:r>
              <a:rPr lang="zh-CN" altLang="zh-CN" sz="1800" b="1" dirty="0">
                <a:solidFill>
                  <a:srgbClr val="0033CC"/>
                </a:solidFill>
              </a:rPr>
              <a:t>规范化</a:t>
            </a:r>
            <a:r>
              <a:rPr lang="zh-CN" altLang="zh-CN" sz="1800" b="1" dirty="0">
                <a:solidFill>
                  <a:schemeClr val="accent1"/>
                </a:solidFill>
              </a:rPr>
              <a:t>、</a:t>
            </a:r>
            <a:r>
              <a:rPr lang="zh-CN" altLang="zh-CN" sz="1800" b="1" dirty="0">
                <a:solidFill>
                  <a:srgbClr val="0033CC"/>
                </a:solidFill>
              </a:rPr>
              <a:t>数量化</a:t>
            </a:r>
            <a:r>
              <a:rPr lang="zh-CN" altLang="zh-CN" sz="1800" b="1" dirty="0"/>
              <a:t>的</a:t>
            </a:r>
            <a:r>
              <a:rPr lang="zh-CN" altLang="zh-CN" sz="1800" b="1" dirty="0">
                <a:solidFill>
                  <a:srgbClr val="0033CC"/>
                </a:solidFill>
              </a:rPr>
              <a:t>方法</a:t>
            </a:r>
            <a:r>
              <a:rPr lang="zh-CN" altLang="zh-CN" sz="1800" b="1" dirty="0"/>
              <a:t>来</a:t>
            </a:r>
            <a:r>
              <a:rPr lang="zh-CN" altLang="zh-CN" sz="1800" b="1" dirty="0">
                <a:solidFill>
                  <a:srgbClr val="FF0000"/>
                </a:solidFill>
              </a:rPr>
              <a:t>指导构建</a:t>
            </a:r>
            <a:r>
              <a:rPr lang="zh-CN" altLang="zh-CN" sz="1800" b="1" dirty="0">
                <a:solidFill>
                  <a:srgbClr val="0033CC"/>
                </a:solidFill>
              </a:rPr>
              <a:t>安全的软件</a:t>
            </a:r>
            <a:r>
              <a:rPr lang="zh-CN" altLang="zh-CN" sz="1800" b="1" dirty="0"/>
              <a:t>。</a:t>
            </a:r>
          </a:p>
          <a:p>
            <a:pPr lvl="1">
              <a:spcBef>
                <a:spcPts val="600"/>
              </a:spcBef>
            </a:pPr>
            <a:endParaRPr lang="zh-CN" altLang="en-US" sz="1800" b="1" dirty="0"/>
          </a:p>
        </p:txBody>
      </p:sp>
      <p:sp>
        <p:nvSpPr>
          <p:cNvPr id="5" name="标题 1"/>
          <p:cNvSpPr txBox="1"/>
          <p:nvPr/>
        </p:nvSpPr>
        <p:spPr bwMode="auto">
          <a:xfrm>
            <a:off x="6643702" y="142858"/>
            <a:ext cx="2280392" cy="560706"/>
          </a:xfrm>
          <a:prstGeom prst="rect">
            <a:avLst/>
          </a:prstGeom>
          <a:noFill/>
          <a:ln w="9525">
            <a:noFill/>
            <a:miter lim="800000"/>
          </a:ln>
        </p:spPr>
        <p:txBody>
          <a:bodyPr anchor="ctr"/>
          <a:lstStyle/>
          <a:p>
            <a:pPr algn="ctr">
              <a:defRPr/>
            </a:pPr>
            <a:r>
              <a:rPr lang="en-US" altLang="zh-CN" sz="2000" b="1" dirty="0">
                <a:solidFill>
                  <a:srgbClr val="C00000"/>
                </a:solidFill>
                <a:effectLst>
                  <a:reflection blurRad="6350" stA="50000" endA="300" endPos="50000" dist="60007" dir="5400000" sy="-100000" algn="bl" rotWithShape="0"/>
                </a:effectLst>
                <a:latin typeface="+mj-ea"/>
                <a:ea typeface="+mj-ea"/>
                <a:cs typeface="+mj-cs"/>
              </a:rPr>
              <a:t>9.1 </a:t>
            </a:r>
            <a:r>
              <a:rPr lang="zh-CN" altLang="zh-CN" sz="2000" b="1" dirty="0">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dirty="0">
                <a:solidFill>
                  <a:srgbClr val="C00000"/>
                </a:solidFill>
                <a:effectLst>
                  <a:reflection blurRad="6350" stA="50000" endA="300" endPos="50000" dist="60007" dir="5400000" sy="-100000" algn="bl" rotWithShape="0"/>
                </a:effectLst>
                <a:latin typeface="+mj-ea"/>
                <a:ea typeface="+mj-ea"/>
                <a:cs typeface="+mj-cs"/>
              </a:rPr>
              <a:t>安全概述</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Tree>
  </p:cSld>
  <p:clrMapOvr>
    <a:masterClrMapping/>
  </p:clrMapOvr>
  <p:transition spd="med">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内容占位符 2"/>
          <p:cNvSpPr>
            <a:spLocks noGrp="1"/>
          </p:cNvSpPr>
          <p:nvPr>
            <p:ph idx="1"/>
          </p:nvPr>
        </p:nvSpPr>
        <p:spPr>
          <a:xfrm>
            <a:off x="428625" y="1071563"/>
            <a:ext cx="8072438" cy="2786062"/>
          </a:xfrm>
        </p:spPr>
        <p:txBody>
          <a:bodyPr/>
          <a:lstStyle/>
          <a:p>
            <a:pPr>
              <a:spcBef>
                <a:spcPts val="600"/>
              </a:spcBef>
            </a:pPr>
            <a:r>
              <a:rPr lang="zh-CN" altLang="en-US" sz="2000" b="1" u="sng" dirty="0">
                <a:solidFill>
                  <a:srgbClr val="FF0000"/>
                </a:solidFill>
              </a:rPr>
              <a:t>在</a:t>
            </a:r>
            <a:r>
              <a:rPr lang="zh-CN" altLang="zh-CN" sz="2000" b="1" u="sng" dirty="0">
                <a:solidFill>
                  <a:srgbClr val="0033CC"/>
                </a:solidFill>
              </a:rPr>
              <a:t>软件</a:t>
            </a:r>
            <a:r>
              <a:rPr lang="zh-CN" altLang="en-US" sz="2000" b="1" u="sng" dirty="0">
                <a:solidFill>
                  <a:srgbClr val="0033CC"/>
                </a:solidFill>
              </a:rPr>
              <a:t>自身的</a:t>
            </a:r>
            <a:r>
              <a:rPr lang="zh-CN" altLang="zh-CN" sz="2000" b="1" u="sng" dirty="0">
                <a:solidFill>
                  <a:srgbClr val="0033CC"/>
                </a:solidFill>
              </a:rPr>
              <a:t>安全</a:t>
            </a:r>
            <a:r>
              <a:rPr lang="zh-CN" altLang="en-US" sz="2000" b="1" u="sng" dirty="0">
                <a:solidFill>
                  <a:srgbClr val="0033CC"/>
                </a:solidFill>
              </a:rPr>
              <a:t>性和恶意软件</a:t>
            </a:r>
            <a:r>
              <a:rPr lang="zh-CN" altLang="en-US" sz="2000" b="1" u="sng" dirty="0">
                <a:solidFill>
                  <a:srgbClr val="FF0000"/>
                </a:solidFill>
              </a:rPr>
              <a:t>方面</a:t>
            </a:r>
            <a:r>
              <a:rPr lang="zh-CN" altLang="en-US" sz="1400" b="1" dirty="0"/>
              <a:t>（可能面临的安全威胁和攻击）</a:t>
            </a:r>
            <a:r>
              <a:rPr lang="zh-CN" altLang="zh-CN" sz="2000" b="1" dirty="0"/>
              <a:t>：</a:t>
            </a:r>
            <a:endParaRPr lang="en-US" altLang="zh-CN" sz="2000" b="1" dirty="0"/>
          </a:p>
          <a:p>
            <a:pPr lvl="1">
              <a:spcBef>
                <a:spcPts val="600"/>
              </a:spcBef>
            </a:pPr>
            <a:r>
              <a:rPr lang="zh-CN" altLang="en-US" b="1" dirty="0"/>
              <a:t>因为软件的缺陷、设计和实现中的漏洞，黑客通过漏洞入侵。</a:t>
            </a:r>
            <a:endParaRPr lang="en-US" altLang="zh-CN" b="1" dirty="0"/>
          </a:p>
          <a:p>
            <a:pPr lvl="1">
              <a:spcBef>
                <a:spcPts val="600"/>
              </a:spcBef>
            </a:pPr>
            <a:r>
              <a:rPr lang="zh-CN" altLang="en-US" b="1" dirty="0"/>
              <a:t>恶意软件</a:t>
            </a:r>
            <a:r>
              <a:rPr lang="zh-CN" altLang="en-US" b="1" u="sng" dirty="0"/>
              <a:t>非法使用修改软件行为</a:t>
            </a:r>
            <a:r>
              <a:rPr lang="zh-CN" altLang="en-US" b="1" dirty="0"/>
              <a:t>，</a:t>
            </a:r>
            <a:r>
              <a:rPr lang="zh-CN" altLang="en-US" b="1" u="sng" dirty="0"/>
              <a:t>破坏软件功能的完整性</a:t>
            </a:r>
            <a:r>
              <a:rPr lang="zh-CN" altLang="en-US" b="1" dirty="0"/>
              <a:t>；</a:t>
            </a:r>
            <a:endParaRPr lang="en-US" altLang="zh-CN" b="1" dirty="0"/>
          </a:p>
          <a:p>
            <a:pPr lvl="1">
              <a:spcBef>
                <a:spcPts val="600"/>
              </a:spcBef>
            </a:pPr>
            <a:r>
              <a:rPr lang="zh-CN" altLang="en-US" b="1" dirty="0"/>
              <a:t>恶意软件</a:t>
            </a:r>
            <a:r>
              <a:rPr lang="zh-CN" altLang="en-US" b="1" u="sng" dirty="0"/>
              <a:t>非法使用软件中的智力成果、知识产权（软件盗版，软件逆向等）</a:t>
            </a:r>
            <a:r>
              <a:rPr lang="zh-CN" altLang="en-US" b="1" dirty="0"/>
              <a:t>，</a:t>
            </a:r>
            <a:r>
              <a:rPr lang="zh-CN" altLang="en-US" b="1" u="sng" dirty="0"/>
              <a:t>破坏软件的机密性</a:t>
            </a:r>
            <a:r>
              <a:rPr lang="zh-CN" altLang="en-US" b="1" dirty="0"/>
              <a:t>。</a:t>
            </a:r>
            <a:endParaRPr lang="en-US" altLang="zh-CN" b="1" dirty="0"/>
          </a:p>
        </p:txBody>
      </p:sp>
      <p:sp>
        <p:nvSpPr>
          <p:cNvPr id="5" name="标题 1"/>
          <p:cNvSpPr txBox="1"/>
          <p:nvPr/>
        </p:nvSpPr>
        <p:spPr bwMode="auto">
          <a:xfrm>
            <a:off x="6643702" y="142858"/>
            <a:ext cx="2280392" cy="560706"/>
          </a:xfrm>
          <a:prstGeom prst="rect">
            <a:avLst/>
          </a:prstGeom>
          <a:noFill/>
          <a:ln w="9525">
            <a:noFill/>
            <a:miter lim="800000"/>
          </a:ln>
        </p:spPr>
        <p:txBody>
          <a:bodyPr anchor="ctr"/>
          <a:lstStyle/>
          <a:p>
            <a:pPr algn="ctr">
              <a:defRPr/>
            </a:pPr>
            <a:r>
              <a:rPr lang="en-US" altLang="zh-CN" sz="2000" b="1" dirty="0">
                <a:solidFill>
                  <a:srgbClr val="C00000"/>
                </a:solidFill>
                <a:effectLst>
                  <a:reflection blurRad="6350" stA="50000" endA="300" endPos="50000" dist="60007" dir="5400000" sy="-100000" algn="bl" rotWithShape="0"/>
                </a:effectLst>
                <a:latin typeface="+mj-ea"/>
                <a:ea typeface="+mj-ea"/>
                <a:cs typeface="+mj-cs"/>
              </a:rPr>
              <a:t>9.1 </a:t>
            </a:r>
            <a:r>
              <a:rPr lang="zh-CN" altLang="zh-CN" sz="2000" b="1" dirty="0">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dirty="0">
                <a:solidFill>
                  <a:srgbClr val="C00000"/>
                </a:solidFill>
                <a:effectLst>
                  <a:reflection blurRad="6350" stA="50000" endA="300" endPos="50000" dist="60007" dir="5400000" sy="-100000" algn="bl" rotWithShape="0"/>
                </a:effectLst>
                <a:latin typeface="+mj-ea"/>
                <a:ea typeface="+mj-ea"/>
                <a:cs typeface="+mj-cs"/>
              </a:rPr>
              <a:t>安全概述</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Tree>
  </p:cSld>
  <p:clrMapOvr>
    <a:masterClrMapping/>
  </p:clrMapOvr>
  <p:transition spd="med">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0169" y="571486"/>
            <a:ext cx="5614987" cy="857250"/>
          </a:xfrm>
        </p:spPr>
        <p:txBody>
          <a:bodyPr/>
          <a:lstStyle/>
          <a:p>
            <a:pPr>
              <a:defRPr/>
            </a:pPr>
            <a:r>
              <a:rPr altLang="en-US" sz="2800" dirty="0"/>
              <a:t>内容提纲</a:t>
            </a:r>
          </a:p>
        </p:txBody>
      </p:sp>
      <p:sp>
        <p:nvSpPr>
          <p:cNvPr id="9219" name="五边形 3"/>
          <p:cNvSpPr>
            <a:spLocks noChangeArrowheads="1"/>
          </p:cNvSpPr>
          <p:nvPr/>
        </p:nvSpPr>
        <p:spPr bwMode="auto">
          <a:xfrm rot="10800000">
            <a:off x="2286000" y="2214563"/>
            <a:ext cx="4071938" cy="428625"/>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220" name="椭圆 4"/>
          <p:cNvSpPr>
            <a:spLocks noChangeArrowheads="1"/>
          </p:cNvSpPr>
          <p:nvPr/>
        </p:nvSpPr>
        <p:spPr bwMode="auto">
          <a:xfrm>
            <a:off x="2071688" y="2214563"/>
            <a:ext cx="428625" cy="428625"/>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221" name="TextBox 6"/>
          <p:cNvSpPr txBox="1">
            <a:spLocks noChangeArrowheads="1"/>
          </p:cNvSpPr>
          <p:nvPr/>
        </p:nvSpPr>
        <p:spPr bwMode="auto">
          <a:xfrm>
            <a:off x="3214688" y="2214563"/>
            <a:ext cx="2152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solidFill>
                  <a:srgbClr val="FF0000"/>
                </a:solidFill>
                <a:latin typeface="黑体" panose="02010609060101010101" pitchFamily="49" charset="-122"/>
                <a:ea typeface="黑体" panose="02010609060101010101" pitchFamily="49" charset="-122"/>
              </a:rPr>
              <a:t>软件体系安全分析</a:t>
            </a:r>
          </a:p>
        </p:txBody>
      </p:sp>
      <p:grpSp>
        <p:nvGrpSpPr>
          <p:cNvPr id="9222" name="组合 8"/>
          <p:cNvGrpSpPr/>
          <p:nvPr/>
        </p:nvGrpSpPr>
        <p:grpSpPr bwMode="auto">
          <a:xfrm>
            <a:off x="2071688" y="1643063"/>
            <a:ext cx="4286250" cy="428625"/>
            <a:chOff x="571472" y="1142990"/>
            <a:chExt cx="4286280" cy="428628"/>
          </a:xfrm>
        </p:grpSpPr>
        <p:sp>
          <p:nvSpPr>
            <p:cNvPr id="9239" name="五边形 9"/>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240" name="椭圆 10"/>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241" name="TextBox 11"/>
            <p:cNvSpPr txBox="1">
              <a:spLocks noChangeArrowheads="1"/>
            </p:cNvSpPr>
            <p:nvPr/>
          </p:nvSpPr>
          <p:spPr bwMode="auto">
            <a:xfrm>
              <a:off x="1714480" y="1142990"/>
              <a:ext cx="2152664"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黑体" panose="02010609060101010101" pitchFamily="49" charset="-122"/>
                  <a:ea typeface="黑体" panose="02010609060101010101" pitchFamily="49" charset="-122"/>
                </a:rPr>
                <a:t>软件安全概述</a:t>
              </a:r>
            </a:p>
          </p:txBody>
        </p:sp>
      </p:grpSp>
      <p:grpSp>
        <p:nvGrpSpPr>
          <p:cNvPr id="9223" name="组合 12"/>
          <p:cNvGrpSpPr/>
          <p:nvPr/>
        </p:nvGrpSpPr>
        <p:grpSpPr bwMode="auto">
          <a:xfrm>
            <a:off x="2071688" y="2786063"/>
            <a:ext cx="4286250" cy="428625"/>
            <a:chOff x="571472" y="1142990"/>
            <a:chExt cx="4286280" cy="428628"/>
          </a:xfrm>
        </p:grpSpPr>
        <p:sp>
          <p:nvSpPr>
            <p:cNvPr id="9236" name="五边形 13"/>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237" name="椭圆 14"/>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238" name="TextBox 15"/>
            <p:cNvSpPr txBox="1">
              <a:spLocks noChangeArrowheads="1"/>
            </p:cNvSpPr>
            <p:nvPr/>
          </p:nvSpPr>
          <p:spPr bwMode="auto">
            <a:xfrm>
              <a:off x="1500154" y="1142991"/>
              <a:ext cx="2714653"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黑体" panose="02010609060101010101" pitchFamily="49" charset="-122"/>
                  <a:ea typeface="黑体" panose="02010609060101010101" pitchFamily="49" charset="-122"/>
                </a:rPr>
                <a:t>安全软件开发生命周期</a:t>
              </a:r>
            </a:p>
          </p:txBody>
        </p:sp>
      </p:grpSp>
      <p:grpSp>
        <p:nvGrpSpPr>
          <p:cNvPr id="9224" name="组合 16"/>
          <p:cNvGrpSpPr/>
          <p:nvPr/>
        </p:nvGrpSpPr>
        <p:grpSpPr bwMode="auto">
          <a:xfrm>
            <a:off x="2071688" y="3357563"/>
            <a:ext cx="4286250" cy="428625"/>
            <a:chOff x="571472" y="1142990"/>
            <a:chExt cx="4286280" cy="428628"/>
          </a:xfrm>
        </p:grpSpPr>
        <p:sp>
          <p:nvSpPr>
            <p:cNvPr id="9233" name="五边形 17"/>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234" name="椭圆 18"/>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235" name="TextBox 19"/>
            <p:cNvSpPr txBox="1">
              <a:spLocks noChangeArrowheads="1"/>
            </p:cNvSpPr>
            <p:nvPr/>
          </p:nvSpPr>
          <p:spPr bwMode="auto">
            <a:xfrm>
              <a:off x="1714480" y="1142990"/>
              <a:ext cx="2152664"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黑体" panose="02010609060101010101" pitchFamily="49" charset="-122"/>
                  <a:ea typeface="黑体" panose="02010609060101010101" pitchFamily="49" charset="-122"/>
                </a:rPr>
                <a:t>恶意代码分析</a:t>
              </a:r>
            </a:p>
          </p:txBody>
        </p:sp>
      </p:grpSp>
      <p:grpSp>
        <p:nvGrpSpPr>
          <p:cNvPr id="9225" name="组合 20"/>
          <p:cNvGrpSpPr/>
          <p:nvPr/>
        </p:nvGrpSpPr>
        <p:grpSpPr bwMode="auto">
          <a:xfrm>
            <a:off x="2071688" y="3929063"/>
            <a:ext cx="4286250" cy="428625"/>
            <a:chOff x="571472" y="1142990"/>
            <a:chExt cx="4286280" cy="428628"/>
          </a:xfrm>
        </p:grpSpPr>
        <p:sp>
          <p:nvSpPr>
            <p:cNvPr id="9230" name="五边形 21"/>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231" name="椭圆 22"/>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232" name="TextBox 23"/>
            <p:cNvSpPr txBox="1">
              <a:spLocks noChangeArrowheads="1"/>
            </p:cNvSpPr>
            <p:nvPr/>
          </p:nvSpPr>
          <p:spPr bwMode="auto">
            <a:xfrm>
              <a:off x="1714480" y="1142990"/>
              <a:ext cx="2152664"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黑体" panose="02010609060101010101" pitchFamily="49" charset="-122"/>
                  <a:ea typeface="黑体" panose="02010609060101010101" pitchFamily="49" charset="-122"/>
                </a:rPr>
                <a:t>本章小结</a:t>
              </a:r>
            </a:p>
          </p:txBody>
        </p:sp>
      </p:grpSp>
      <p:sp>
        <p:nvSpPr>
          <p:cNvPr id="22" name="右大括号 21"/>
          <p:cNvSpPr/>
          <p:nvPr/>
        </p:nvSpPr>
        <p:spPr bwMode="auto">
          <a:xfrm>
            <a:off x="6443663" y="2284413"/>
            <a:ext cx="144462" cy="935037"/>
          </a:xfrm>
          <a:prstGeom prst="rightBrace">
            <a:avLst/>
          </a:prstGeom>
          <a:ln w="38100">
            <a:solidFill>
              <a:srgbClr val="FF0000"/>
            </a:solidFill>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wrap="none" anchor="ctr"/>
          <a:lstStyle/>
          <a:p>
            <a:pPr algn="ctr" eaLnBrk="1" hangingPunct="1">
              <a:defRPr/>
            </a:pPr>
            <a:endParaRPr lang="zh-CN" altLang="en-US" b="1" dirty="0">
              <a:latin typeface="Arial" panose="020B0604020202020204" pitchFamily="34" charset="0"/>
              <a:ea typeface="微软雅黑" panose="020B0503020204020204" pitchFamily="34" charset="-122"/>
            </a:endParaRPr>
          </a:p>
        </p:txBody>
      </p:sp>
      <p:sp>
        <p:nvSpPr>
          <p:cNvPr id="23" name="右大括号 22"/>
          <p:cNvSpPr/>
          <p:nvPr/>
        </p:nvSpPr>
        <p:spPr bwMode="auto">
          <a:xfrm>
            <a:off x="6443663" y="3406775"/>
            <a:ext cx="144462" cy="358775"/>
          </a:xfrm>
          <a:prstGeom prst="rightBrace">
            <a:avLst/>
          </a:prstGeom>
          <a:ln w="38100">
            <a:solidFill>
              <a:srgbClr val="FF0000"/>
            </a:solidFill>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wrap="none" anchor="ctr"/>
          <a:lstStyle/>
          <a:p>
            <a:pPr algn="ctr" eaLnBrk="1" hangingPunct="1">
              <a:defRPr/>
            </a:pPr>
            <a:endParaRPr lang="zh-CN" altLang="en-US" b="1" dirty="0">
              <a:latin typeface="Arial" panose="020B0604020202020204" pitchFamily="34" charset="0"/>
              <a:ea typeface="微软雅黑" panose="020B0503020204020204" pitchFamily="34" charset="-122"/>
            </a:endParaRPr>
          </a:p>
        </p:txBody>
      </p:sp>
      <p:sp>
        <p:nvSpPr>
          <p:cNvPr id="9228" name="矩形 23"/>
          <p:cNvSpPr>
            <a:spLocks noChangeArrowheads="1"/>
          </p:cNvSpPr>
          <p:nvPr/>
        </p:nvSpPr>
        <p:spPr bwMode="auto">
          <a:xfrm>
            <a:off x="6588125" y="2571750"/>
            <a:ext cx="1441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solidFill>
                  <a:srgbClr val="0033CC"/>
                </a:solidFill>
              </a:rPr>
              <a:t>构造安全的软件</a:t>
            </a:r>
            <a:endParaRPr lang="zh-CN" altLang="en-US" sz="1400"/>
          </a:p>
        </p:txBody>
      </p:sp>
      <p:sp>
        <p:nvSpPr>
          <p:cNvPr id="9229" name="矩形 24"/>
          <p:cNvSpPr>
            <a:spLocks noChangeArrowheads="1"/>
          </p:cNvSpPr>
          <p:nvPr/>
        </p:nvSpPr>
        <p:spPr bwMode="auto">
          <a:xfrm>
            <a:off x="6588125" y="3435350"/>
            <a:ext cx="2519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33CC"/>
                </a:solidFill>
              </a:rPr>
              <a:t>软件</a:t>
            </a:r>
            <a:r>
              <a:rPr lang="zh-CN" altLang="en-US" sz="1400" b="1">
                <a:solidFill>
                  <a:srgbClr val="0033CC"/>
                </a:solidFill>
              </a:rPr>
              <a:t>自身的</a:t>
            </a:r>
            <a:r>
              <a:rPr lang="zh-CN" altLang="zh-CN" sz="1400" b="1">
                <a:solidFill>
                  <a:srgbClr val="0033CC"/>
                </a:solidFill>
              </a:rPr>
              <a:t>安全</a:t>
            </a:r>
            <a:r>
              <a:rPr lang="zh-CN" altLang="en-US" sz="1400" b="1">
                <a:solidFill>
                  <a:srgbClr val="0033CC"/>
                </a:solidFill>
              </a:rPr>
              <a:t>性和恶意软件</a:t>
            </a:r>
            <a:endParaRPr lang="zh-CN" altLang="en-US" sz="1400"/>
          </a:p>
        </p:txBody>
      </p:sp>
    </p:spTree>
  </p:cSld>
  <p:clrMapOvr>
    <a:masterClrMapping/>
  </p:clrMapOvr>
  <p:transition spd="med">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71670" y="1142990"/>
            <a:ext cx="4572032" cy="560706"/>
          </a:xfrm>
        </p:spPr>
        <p:txBody>
          <a:bodyPr/>
          <a:lstStyle/>
          <a:p>
            <a:pPr>
              <a:defRPr/>
            </a:pPr>
            <a:r>
              <a:rPr lang="en-US" dirty="0">
                <a:latin typeface="Cambria Math" panose="02040503050406030204" pitchFamily="18" charset="0"/>
                <a:ea typeface="Cambria Math" panose="02040503050406030204" pitchFamily="18" charset="0"/>
              </a:rPr>
              <a:t>9.2</a:t>
            </a:r>
            <a:r>
              <a:rPr lang="en-US" dirty="0"/>
              <a:t>   </a:t>
            </a:r>
            <a:r>
              <a:rPr dirty="0"/>
              <a:t>软件</a:t>
            </a:r>
            <a:r>
              <a:rPr altLang="en-US" dirty="0"/>
              <a:t>体系</a:t>
            </a:r>
            <a:r>
              <a:rPr dirty="0"/>
              <a:t>安全</a:t>
            </a:r>
            <a:r>
              <a:rPr altLang="en-US" dirty="0"/>
              <a:t>分析</a:t>
            </a:r>
            <a:endParaRPr dirty="0"/>
          </a:p>
        </p:txBody>
      </p:sp>
      <p:sp>
        <p:nvSpPr>
          <p:cNvPr id="10243" name="矩形 11"/>
          <p:cNvSpPr>
            <a:spLocks noChangeArrowheads="1"/>
          </p:cNvSpPr>
          <p:nvPr/>
        </p:nvSpPr>
        <p:spPr bwMode="auto">
          <a:xfrm>
            <a:off x="2714625" y="1928813"/>
            <a:ext cx="3429000"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5430" indent="-265430">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just">
              <a:lnSpc>
                <a:spcPct val="200000"/>
              </a:lnSpc>
              <a:buSzPct val="80000"/>
            </a:pPr>
            <a:r>
              <a:rPr lang="en-US" altLang="zh-CN" sz="2000" b="1">
                <a:latin typeface="Comic Sans MS" panose="030F0702030302020204" pitchFamily="66" charset="0"/>
                <a:ea typeface="黑体" panose="02010609060101010101" pitchFamily="49" charset="-122"/>
                <a:cs typeface="Arial" panose="020B0604020202020204" pitchFamily="34" charset="0"/>
              </a:rPr>
              <a:t>9.2.1  </a:t>
            </a:r>
            <a:r>
              <a:rPr lang="zh-CN" altLang="en-US" sz="2000" b="1">
                <a:latin typeface="Comic Sans MS" panose="030F0702030302020204" pitchFamily="66" charset="0"/>
                <a:ea typeface="黑体" panose="02010609060101010101" pitchFamily="49" charset="-122"/>
                <a:cs typeface="Arial" panose="020B0604020202020204" pitchFamily="34" charset="0"/>
              </a:rPr>
              <a:t>基于标准的风险分析</a:t>
            </a:r>
            <a:endParaRPr lang="en-US" altLang="zh-CN" sz="2000" b="1">
              <a:latin typeface="Comic Sans MS" panose="030F0702030302020204" pitchFamily="66" charset="0"/>
              <a:ea typeface="黑体" panose="02010609060101010101" pitchFamily="49" charset="-122"/>
              <a:cs typeface="Arial" panose="020B0604020202020204" pitchFamily="34" charset="0"/>
            </a:endParaRPr>
          </a:p>
          <a:p>
            <a:pPr algn="just">
              <a:lnSpc>
                <a:spcPct val="200000"/>
              </a:lnSpc>
              <a:buSzPct val="80000"/>
            </a:pPr>
            <a:r>
              <a:rPr lang="en-US" altLang="zh-CN" sz="2000" b="1">
                <a:latin typeface="Comic Sans MS" panose="030F0702030302020204" pitchFamily="66" charset="0"/>
                <a:ea typeface="黑体" panose="02010609060101010101" pitchFamily="49" charset="-122"/>
                <a:cs typeface="Arial" panose="020B0604020202020204" pitchFamily="34" charset="0"/>
              </a:rPr>
              <a:t>9.2.2  STRIDE</a:t>
            </a:r>
            <a:r>
              <a:rPr lang="zh-CN" altLang="en-US" sz="2000" b="1">
                <a:latin typeface="Comic Sans MS" panose="030F0702030302020204" pitchFamily="66" charset="0"/>
                <a:ea typeface="黑体" panose="02010609060101010101" pitchFamily="49" charset="-122"/>
                <a:cs typeface="Arial" panose="020B0604020202020204" pitchFamily="34" charset="0"/>
              </a:rPr>
              <a:t>威胁建模</a:t>
            </a:r>
            <a:endParaRPr lang="en-US" altLang="zh-CN" sz="2000" b="1">
              <a:latin typeface="Comic Sans MS" panose="030F0702030302020204" pitchFamily="66" charset="0"/>
              <a:ea typeface="黑体" panose="02010609060101010101" pitchFamily="49" charset="-122"/>
              <a:cs typeface="Arial" panose="020B0604020202020204" pitchFamily="34" charset="0"/>
            </a:endParaRPr>
          </a:p>
        </p:txBody>
      </p:sp>
    </p:spTree>
  </p:cSld>
  <p:clrMapOvr>
    <a:masterClrMapping/>
  </p:clrMapOvr>
  <p:transition spd="med">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43636" y="142858"/>
            <a:ext cx="2780458" cy="560706"/>
          </a:xfrm>
        </p:spPr>
        <p:txBody>
          <a:bodyPr/>
          <a:lstStyle/>
          <a:p>
            <a:pPr>
              <a:defRPr/>
            </a:pPr>
            <a:r>
              <a:rPr lang="en-US" sz="2000" dirty="0"/>
              <a:t>9.2 </a:t>
            </a:r>
            <a:r>
              <a:rPr sz="2000" dirty="0"/>
              <a:t>软件</a:t>
            </a:r>
            <a:r>
              <a:rPr altLang="en-US" sz="2000" dirty="0"/>
              <a:t>体系</a:t>
            </a:r>
            <a:r>
              <a:rPr sz="2000" dirty="0"/>
              <a:t>安全</a:t>
            </a:r>
            <a:r>
              <a:rPr altLang="en-US" sz="2000" dirty="0"/>
              <a:t>分析</a:t>
            </a:r>
            <a:endParaRPr sz="2000" dirty="0"/>
          </a:p>
        </p:txBody>
      </p:sp>
      <p:sp>
        <p:nvSpPr>
          <p:cNvPr id="7171" name="内容占位符 2"/>
          <p:cNvSpPr>
            <a:spLocks noGrp="1"/>
          </p:cNvSpPr>
          <p:nvPr>
            <p:ph idx="1"/>
          </p:nvPr>
        </p:nvSpPr>
        <p:spPr>
          <a:xfrm>
            <a:off x="755650" y="776288"/>
            <a:ext cx="7704138" cy="1152525"/>
          </a:xfrm>
        </p:spPr>
        <p:txBody>
          <a:bodyPr/>
          <a:lstStyle/>
          <a:p>
            <a:pPr>
              <a:buFont typeface="Wingdings" panose="05000000000000000000" pitchFamily="2" charset="2"/>
              <a:buChar char="Ø"/>
              <a:defRPr/>
            </a:pPr>
            <a:r>
              <a:rPr lang="zh-CN" altLang="zh-CN" b="1" dirty="0">
                <a:solidFill>
                  <a:srgbClr val="0033CC"/>
                </a:solidFill>
              </a:rPr>
              <a:t>安全软件开发的体系安全</a:t>
            </a:r>
            <a:r>
              <a:rPr lang="zh-CN" altLang="zh-CN" b="1" dirty="0">
                <a:solidFill>
                  <a:srgbClr val="FF0000"/>
                </a:solidFill>
              </a:rPr>
              <a:t>需要考虑</a:t>
            </a:r>
            <a:r>
              <a:rPr lang="zh-CN" altLang="zh-CN" b="1" dirty="0">
                <a:solidFill>
                  <a:srgbClr val="0033CC"/>
                </a:solidFill>
              </a:rPr>
              <a:t>安全风险分析</a:t>
            </a:r>
            <a:r>
              <a:rPr lang="zh-CN" altLang="en-US" sz="1200" b="1" dirty="0"/>
              <a:t>（确定风险和对风险进行评级）</a:t>
            </a:r>
            <a:r>
              <a:rPr lang="zh-CN" altLang="zh-CN" b="1" dirty="0">
                <a:solidFill>
                  <a:schemeClr val="bg2">
                    <a:lumMod val="25000"/>
                  </a:schemeClr>
                </a:solidFill>
              </a:rPr>
              <a:t>、</a:t>
            </a:r>
            <a:r>
              <a:rPr lang="zh-CN" altLang="zh-CN" b="1" dirty="0">
                <a:solidFill>
                  <a:srgbClr val="0033CC"/>
                </a:solidFill>
              </a:rPr>
              <a:t>威胁建模</a:t>
            </a:r>
            <a:r>
              <a:rPr lang="zh-CN" altLang="en-US" sz="1200" b="1" dirty="0"/>
              <a:t>（明确</a:t>
            </a:r>
            <a:r>
              <a:rPr lang="zh-CN" altLang="en-US" sz="1200" b="1" u="sng" dirty="0">
                <a:effectLst>
                  <a:outerShdw blurRad="38100" dist="38100" dir="2700000" algn="tl">
                    <a:srgbClr val="000000">
                      <a:alpha val="43137"/>
                    </a:srgbClr>
                  </a:outerShdw>
                </a:effectLst>
              </a:rPr>
              <a:t>设计级的</a:t>
            </a:r>
            <a:r>
              <a:rPr lang="zh-CN" altLang="en-US" sz="1200" b="1" dirty="0"/>
              <a:t>安全错误）</a:t>
            </a:r>
            <a:r>
              <a:rPr lang="zh-CN" altLang="zh-CN" b="1" dirty="0">
                <a:solidFill>
                  <a:schemeClr val="bg2">
                    <a:lumMod val="25000"/>
                  </a:schemeClr>
                </a:solidFill>
              </a:rPr>
              <a:t>、</a:t>
            </a:r>
            <a:r>
              <a:rPr lang="zh-CN" altLang="zh-CN" b="1" dirty="0">
                <a:solidFill>
                  <a:srgbClr val="0033CC"/>
                </a:solidFill>
              </a:rPr>
              <a:t>安全风险管理</a:t>
            </a:r>
            <a:r>
              <a:rPr lang="zh-CN" altLang="en-US" sz="1200" b="1" dirty="0"/>
              <a:t>（在整个开发过程中追踪风险和错误）</a:t>
            </a:r>
            <a:r>
              <a:rPr lang="en-US" altLang="zh-CN" b="1" dirty="0"/>
              <a:t>3</a:t>
            </a:r>
            <a:r>
              <a:rPr lang="zh-CN" altLang="zh-CN" b="1" dirty="0"/>
              <a:t>个方面</a:t>
            </a:r>
            <a:r>
              <a:rPr lang="en-US" altLang="zh-CN" b="1" dirty="0"/>
              <a:t>.</a:t>
            </a:r>
          </a:p>
          <a:p>
            <a:pPr>
              <a:buFont typeface="Wingdings" panose="05000000000000000000" pitchFamily="2" charset="2"/>
              <a:buChar char="Ø"/>
              <a:defRPr/>
            </a:pPr>
            <a:r>
              <a:rPr lang="zh-CN" altLang="en-US" b="1" dirty="0">
                <a:solidFill>
                  <a:srgbClr val="0033CC"/>
                </a:solidFill>
              </a:rPr>
              <a:t>软件体系安全分析方法</a:t>
            </a:r>
            <a:r>
              <a:rPr lang="zh-CN" altLang="en-US" b="1" dirty="0">
                <a:solidFill>
                  <a:srgbClr val="FF0000"/>
                </a:solidFill>
              </a:rPr>
              <a:t>主要有</a:t>
            </a:r>
            <a:r>
              <a:rPr lang="en-US" altLang="zh-CN" b="1" dirty="0">
                <a:solidFill>
                  <a:srgbClr val="FF0000"/>
                </a:solidFill>
              </a:rPr>
              <a:t>3</a:t>
            </a:r>
            <a:r>
              <a:rPr lang="zh-CN" altLang="en-US" b="1" dirty="0">
                <a:solidFill>
                  <a:srgbClr val="FF0000"/>
                </a:solidFill>
              </a:rPr>
              <a:t>个关键步骤</a:t>
            </a:r>
            <a:r>
              <a:rPr lang="zh-CN" altLang="en-US" b="1" dirty="0"/>
              <a:t>，即</a:t>
            </a:r>
          </a:p>
          <a:p>
            <a:pPr>
              <a:buFont typeface="Wingdings" panose="05000000000000000000" pitchFamily="2" charset="2"/>
              <a:buChar char="Ø"/>
              <a:defRPr/>
            </a:pPr>
            <a:endParaRPr lang="zh-CN" altLang="zh-CN" b="1" dirty="0"/>
          </a:p>
        </p:txBody>
      </p:sp>
      <p:sp>
        <p:nvSpPr>
          <p:cNvPr id="11268" name="左大括号 4"/>
          <p:cNvSpPr/>
          <p:nvPr/>
        </p:nvSpPr>
        <p:spPr bwMode="auto">
          <a:xfrm>
            <a:off x="1000125" y="2282825"/>
            <a:ext cx="373063" cy="1920875"/>
          </a:xfrm>
          <a:prstGeom prst="leftBrace">
            <a:avLst>
              <a:gd name="adj1" fmla="val 35065"/>
              <a:gd name="adj2" fmla="val 50000"/>
            </a:avLst>
          </a:prstGeom>
          <a:noFill/>
          <a:ln w="19050" algn="ctr">
            <a:solidFill>
              <a:srgbClr val="C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11269" name="TextBox 6"/>
          <p:cNvSpPr txBox="1">
            <a:spLocks noChangeArrowheads="1"/>
          </p:cNvSpPr>
          <p:nvPr/>
        </p:nvSpPr>
        <p:spPr bwMode="auto">
          <a:xfrm>
            <a:off x="1285875" y="2282825"/>
            <a:ext cx="13573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600" b="1">
                <a:solidFill>
                  <a:srgbClr val="0033CC"/>
                </a:solidFill>
              </a:rPr>
              <a:t>抗攻击分析</a:t>
            </a:r>
          </a:p>
        </p:txBody>
      </p:sp>
      <p:sp>
        <p:nvSpPr>
          <p:cNvPr id="11270" name="TextBox 6"/>
          <p:cNvSpPr txBox="1">
            <a:spLocks noChangeArrowheads="1"/>
          </p:cNvSpPr>
          <p:nvPr/>
        </p:nvSpPr>
        <p:spPr bwMode="auto">
          <a:xfrm>
            <a:off x="1143000" y="3140075"/>
            <a:ext cx="15001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600" b="1">
                <a:solidFill>
                  <a:srgbClr val="0033CC"/>
                </a:solidFill>
              </a:rPr>
              <a:t>不确定性分析</a:t>
            </a:r>
          </a:p>
        </p:txBody>
      </p:sp>
      <p:sp>
        <p:nvSpPr>
          <p:cNvPr id="11271" name="TextBox 7"/>
          <p:cNvSpPr txBox="1">
            <a:spLocks noChangeArrowheads="1"/>
          </p:cNvSpPr>
          <p:nvPr/>
        </p:nvSpPr>
        <p:spPr bwMode="auto">
          <a:xfrm>
            <a:off x="1214438" y="3925888"/>
            <a:ext cx="12144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600" b="1">
                <a:solidFill>
                  <a:srgbClr val="0033CC"/>
                </a:solidFill>
              </a:rPr>
              <a:t>弱点分析</a:t>
            </a:r>
          </a:p>
        </p:txBody>
      </p:sp>
      <p:sp>
        <p:nvSpPr>
          <p:cNvPr id="11272" name="TextBox 6"/>
          <p:cNvSpPr txBox="1">
            <a:spLocks noChangeArrowheads="1"/>
          </p:cNvSpPr>
          <p:nvPr/>
        </p:nvSpPr>
        <p:spPr bwMode="auto">
          <a:xfrm>
            <a:off x="2571750" y="2211388"/>
            <a:ext cx="5357813" cy="584200"/>
          </a:xfrm>
          <a:prstGeom prst="rect">
            <a:avLst/>
          </a:prstGeom>
          <a:noFill/>
          <a:ln w="28575">
            <a:solidFill>
              <a:schemeClr val="accent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600" b="1"/>
              <a:t>主要分析对已知的攻击、攻击模式和弱点的抗攻击能力，通常采用清单的方式。</a:t>
            </a:r>
          </a:p>
        </p:txBody>
      </p:sp>
      <p:sp>
        <p:nvSpPr>
          <p:cNvPr id="11273" name="TextBox 6"/>
          <p:cNvSpPr txBox="1">
            <a:spLocks noChangeArrowheads="1"/>
          </p:cNvSpPr>
          <p:nvPr/>
        </p:nvSpPr>
        <p:spPr bwMode="auto">
          <a:xfrm>
            <a:off x="2571750" y="3068638"/>
            <a:ext cx="5357813" cy="584200"/>
          </a:xfrm>
          <a:prstGeom prst="rect">
            <a:avLst/>
          </a:prstGeom>
          <a:noFill/>
          <a:ln w="28575">
            <a:solidFill>
              <a:schemeClr val="accent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600" b="1"/>
              <a:t>主要针对发现新的风险，创造性要求较高，需要有经验的分析人员参与。</a:t>
            </a:r>
          </a:p>
        </p:txBody>
      </p:sp>
      <p:sp>
        <p:nvSpPr>
          <p:cNvPr id="11274" name="TextBox 6"/>
          <p:cNvSpPr txBox="1">
            <a:spLocks noChangeArrowheads="1"/>
          </p:cNvSpPr>
          <p:nvPr/>
        </p:nvSpPr>
        <p:spPr bwMode="auto">
          <a:xfrm>
            <a:off x="2571750" y="3925888"/>
            <a:ext cx="5357813" cy="338137"/>
          </a:xfrm>
          <a:prstGeom prst="rect">
            <a:avLst/>
          </a:prstGeom>
          <a:noFill/>
          <a:ln w="28575">
            <a:solidFill>
              <a:schemeClr val="accent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600" b="1"/>
              <a:t>是指分析软件所依赖的外部软件的弱点。</a:t>
            </a:r>
          </a:p>
        </p:txBody>
      </p:sp>
    </p:spTree>
  </p:cSld>
  <p:clrMapOvr>
    <a:masterClrMapping/>
  </p:clrMapOvr>
  <p:transition spd="med">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0" y="1071563"/>
            <a:ext cx="9144000" cy="3817937"/>
          </a:xfrm>
        </p:spPr>
        <p:txBody>
          <a:bodyPr/>
          <a:lstStyle/>
          <a:p>
            <a:pPr>
              <a:buFont typeface="Wingdings" panose="05000000000000000000" pitchFamily="2" charset="2"/>
              <a:buNone/>
              <a:defRPr/>
            </a:pPr>
            <a:r>
              <a:rPr lang="en-US" altLang="zh-CN" sz="2000" b="1" dirty="0"/>
              <a:t>1. NIST</a:t>
            </a:r>
            <a:r>
              <a:rPr lang="zh-CN" altLang="zh-CN" sz="2000" b="1" dirty="0"/>
              <a:t>的</a:t>
            </a:r>
            <a:r>
              <a:rPr lang="en-US" altLang="zh-CN" sz="2000" b="1" dirty="0"/>
              <a:t>ASSET</a:t>
            </a:r>
            <a:endParaRPr lang="zh-CN" altLang="zh-CN" sz="2000" b="1" dirty="0"/>
          </a:p>
          <a:p>
            <a:pPr>
              <a:buFont typeface="Wingdings" panose="05000000000000000000" pitchFamily="2" charset="2"/>
              <a:buChar char="Ø"/>
              <a:defRPr/>
            </a:pPr>
            <a:r>
              <a:rPr lang="zh-CN" altLang="zh-CN" b="1" dirty="0"/>
              <a:t>自动安全自评估工具</a:t>
            </a:r>
            <a:r>
              <a:rPr lang="en-US" altLang="zh-CN" b="1" dirty="0"/>
              <a:t>ASSET</a:t>
            </a:r>
            <a:r>
              <a:rPr lang="zh-CN" altLang="zh-CN" b="1" dirty="0"/>
              <a:t>由</a:t>
            </a:r>
            <a:r>
              <a:rPr lang="en-US" altLang="zh-CN" b="1" dirty="0"/>
              <a:t>NIST</a:t>
            </a:r>
            <a:r>
              <a:rPr lang="zh-CN" altLang="zh-CN" b="1" dirty="0"/>
              <a:t>提出。</a:t>
            </a:r>
            <a:r>
              <a:rPr lang="en-US" altLang="zh-CN" b="1" dirty="0"/>
              <a:t>ASSET</a:t>
            </a:r>
            <a:r>
              <a:rPr lang="zh-CN" altLang="zh-CN" b="1" dirty="0"/>
              <a:t>能自动完成信息系统安全自我评估指南中包含的调查表，调查表的结果提供了一种评价特定系统安全的方法。通过对调查表的解释，用户可以评估组织内的信息系统安全，以及组织安全项目规划的安全性。</a:t>
            </a:r>
          </a:p>
          <a:p>
            <a:pPr>
              <a:buFont typeface="Wingdings" panose="05000000000000000000" pitchFamily="2" charset="2"/>
              <a:buChar char="Ø"/>
              <a:defRPr/>
            </a:pPr>
            <a:r>
              <a:rPr lang="en-US" altLang="zh-CN" b="1" dirty="0"/>
              <a:t>ASSET</a:t>
            </a:r>
            <a:r>
              <a:rPr lang="zh-CN" altLang="zh-CN" b="1" dirty="0"/>
              <a:t>包含两种工具</a:t>
            </a:r>
            <a:r>
              <a:rPr lang="zh-CN" altLang="en-US" b="1" dirty="0"/>
              <a:t>：</a:t>
            </a:r>
            <a:r>
              <a:rPr lang="en-US" altLang="zh-CN" b="1" u="sng" dirty="0"/>
              <a:t>ASSET</a:t>
            </a:r>
            <a:r>
              <a:rPr lang="zh-CN" altLang="en-US" b="1" u="sng" dirty="0"/>
              <a:t>系统</a:t>
            </a:r>
            <a:r>
              <a:rPr lang="zh-CN" altLang="en-US" b="1" dirty="0"/>
              <a:t>和</a:t>
            </a:r>
            <a:r>
              <a:rPr lang="en-US" altLang="zh-CN" b="1" u="sng" dirty="0"/>
              <a:t>ASSET</a:t>
            </a:r>
            <a:r>
              <a:rPr lang="zh-CN" altLang="en-US" b="1" u="sng" dirty="0"/>
              <a:t>管理者</a:t>
            </a:r>
            <a:r>
              <a:rPr lang="zh-CN" altLang="en-US" b="1" dirty="0">
                <a:solidFill>
                  <a:schemeClr val="bg2">
                    <a:lumMod val="25000"/>
                  </a:schemeClr>
                </a:solidFill>
              </a:rPr>
              <a:t>。</a:t>
            </a:r>
            <a:endParaRPr lang="zh-CN" altLang="en-US" b="1" dirty="0"/>
          </a:p>
          <a:p>
            <a:pPr>
              <a:buFont typeface="Arial" panose="020B0604020202020204" pitchFamily="34" charset="0"/>
              <a:buChar char="•"/>
              <a:defRPr/>
            </a:pPr>
            <a:endParaRPr lang="zh-CN" altLang="en-US" b="1" dirty="0"/>
          </a:p>
          <a:p>
            <a:pPr>
              <a:buFont typeface="Arial" panose="020B0604020202020204" pitchFamily="34" charset="0"/>
              <a:buChar char="•"/>
              <a:defRPr/>
            </a:pPr>
            <a:endParaRPr lang="zh-CN" altLang="en-US" b="1" dirty="0"/>
          </a:p>
          <a:p>
            <a:pPr>
              <a:buFont typeface="Arial" panose="020B0604020202020204" pitchFamily="34" charset="0"/>
              <a:buChar char="•"/>
              <a:defRPr/>
            </a:pPr>
            <a:endParaRPr lang="zh-CN" altLang="zh-CN" b="1" dirty="0"/>
          </a:p>
        </p:txBody>
      </p:sp>
      <p:sp>
        <p:nvSpPr>
          <p:cNvPr id="6"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dirty="0">
                <a:solidFill>
                  <a:srgbClr val="C00000"/>
                </a:solidFill>
                <a:effectLst>
                  <a:reflection blurRad="6350" stA="50000" endA="300" endPos="50000" dist="60007" dir="5400000" sy="-100000" algn="bl" rotWithShape="0"/>
                </a:effectLst>
                <a:latin typeface="+mj-ea"/>
                <a:ea typeface="+mj-ea"/>
                <a:cs typeface="+mj-cs"/>
              </a:rPr>
              <a:t>9.2 </a:t>
            </a:r>
            <a:r>
              <a:rPr lang="zh-CN" altLang="zh-CN" sz="2000" b="1" dirty="0">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dirty="0">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dirty="0">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dirty="0">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352529"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9.2.1 </a:t>
            </a:r>
            <a:r>
              <a:rPr altLang="en-US" sz="2000" dirty="0"/>
              <a:t>基于标准的风险分析</a:t>
            </a:r>
          </a:p>
        </p:txBody>
      </p:sp>
      <p:grpSp>
        <p:nvGrpSpPr>
          <p:cNvPr id="12293" name="组合 22"/>
          <p:cNvGrpSpPr/>
          <p:nvPr/>
        </p:nvGrpSpPr>
        <p:grpSpPr bwMode="auto">
          <a:xfrm>
            <a:off x="179388" y="3143250"/>
            <a:ext cx="4929187" cy="1409700"/>
            <a:chOff x="642910" y="3214692"/>
            <a:chExt cx="4929222" cy="1410124"/>
          </a:xfrm>
        </p:grpSpPr>
        <p:sp>
          <p:nvSpPr>
            <p:cNvPr id="9" name="TextBox 6"/>
            <p:cNvSpPr txBox="1">
              <a:spLocks noChangeArrowheads="1"/>
            </p:cNvSpPr>
            <p:nvPr/>
          </p:nvSpPr>
          <p:spPr bwMode="auto">
            <a:xfrm>
              <a:off x="642910" y="3643446"/>
              <a:ext cx="1714512" cy="584376"/>
            </a:xfrm>
            <a:prstGeom prst="rect">
              <a:avLst/>
            </a:prstGeom>
            <a:noFill/>
            <a:ln w="9525">
              <a:noFill/>
              <a:miter lim="800000"/>
            </a:ln>
          </p:spPr>
          <p:txBody>
            <a:bodyPr>
              <a:spAutoFit/>
            </a:bodyPr>
            <a:lstStyle/>
            <a:p>
              <a:pPr algn="ctr">
                <a:defRPr/>
              </a:pPr>
              <a:r>
                <a:rPr lang="en-US" altLang="zh-CN" sz="1600" b="1" u="sng" dirty="0">
                  <a:latin typeface="Arial" panose="020B0604020202020204" pitchFamily="34" charset="0"/>
                </a:rPr>
                <a:t>ASSET</a:t>
              </a:r>
              <a:r>
                <a:rPr lang="zh-CN" altLang="en-US" sz="1600" b="1" u="sng" dirty="0">
                  <a:latin typeface="Arial" panose="020B0604020202020204" pitchFamily="34" charset="0"/>
                </a:rPr>
                <a:t>系统提供</a:t>
              </a:r>
              <a:r>
                <a:rPr lang="en-US" altLang="zh-CN" sz="1600" b="1" u="sng" dirty="0">
                  <a:latin typeface="Arial" panose="020B0604020202020204" pitchFamily="34" charset="0"/>
                </a:rPr>
                <a:t>4</a:t>
              </a:r>
              <a:r>
                <a:rPr lang="zh-CN" altLang="en-US" sz="1600" b="1" u="sng" dirty="0">
                  <a:latin typeface="Arial" panose="020B0604020202020204" pitchFamily="34" charset="0"/>
                </a:rPr>
                <a:t>种报告的能力</a:t>
              </a:r>
            </a:p>
          </p:txBody>
        </p:sp>
        <p:grpSp>
          <p:nvGrpSpPr>
            <p:cNvPr id="12303" name="组合 19"/>
            <p:cNvGrpSpPr/>
            <p:nvPr/>
          </p:nvGrpSpPr>
          <p:grpSpPr bwMode="auto">
            <a:xfrm>
              <a:off x="2285984" y="3214692"/>
              <a:ext cx="3286148" cy="1410124"/>
              <a:chOff x="3500430" y="2928940"/>
              <a:chExt cx="3286148" cy="1410124"/>
            </a:xfrm>
          </p:grpSpPr>
          <p:sp>
            <p:nvSpPr>
              <p:cNvPr id="12304" name="TextBox 6"/>
              <p:cNvSpPr txBox="1">
                <a:spLocks noChangeArrowheads="1"/>
              </p:cNvSpPr>
              <p:nvPr/>
            </p:nvSpPr>
            <p:spPr bwMode="auto">
              <a:xfrm>
                <a:off x="3643306" y="2928940"/>
                <a:ext cx="31432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zh-CN" sz="1600" b="1"/>
                  <a:t>根据有效性进行主题领域的总结</a:t>
                </a:r>
                <a:endParaRPr lang="zh-CN" altLang="en-US" sz="1600" b="1"/>
              </a:p>
            </p:txBody>
          </p:sp>
          <p:sp>
            <p:nvSpPr>
              <p:cNvPr id="12305" name="TextBox 6"/>
              <p:cNvSpPr txBox="1">
                <a:spLocks noChangeArrowheads="1"/>
              </p:cNvSpPr>
              <p:nvPr/>
            </p:nvSpPr>
            <p:spPr bwMode="auto">
              <a:xfrm>
                <a:off x="3643306" y="3286130"/>
                <a:ext cx="18573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zh-CN" sz="1600" b="1"/>
                  <a:t>非可应用问题列表</a:t>
                </a:r>
                <a:endParaRPr lang="zh-CN" altLang="en-US" sz="1600" b="1"/>
              </a:p>
            </p:txBody>
          </p:sp>
          <p:sp>
            <p:nvSpPr>
              <p:cNvPr id="12306" name="矩形 12"/>
              <p:cNvSpPr>
                <a:spLocks noChangeArrowheads="1"/>
              </p:cNvSpPr>
              <p:nvPr/>
            </p:nvSpPr>
            <p:spPr bwMode="auto">
              <a:xfrm>
                <a:off x="3643306" y="3643320"/>
                <a:ext cx="2031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600" b="1"/>
                  <a:t>基于风险的决策列表</a:t>
                </a:r>
                <a:endParaRPr lang="zh-CN" altLang="en-US" sz="1600" b="1"/>
              </a:p>
            </p:txBody>
          </p:sp>
          <p:sp>
            <p:nvSpPr>
              <p:cNvPr id="12307" name="TextBox 6"/>
              <p:cNvSpPr txBox="1">
                <a:spLocks noChangeArrowheads="1"/>
              </p:cNvSpPr>
              <p:nvPr/>
            </p:nvSpPr>
            <p:spPr bwMode="auto">
              <a:xfrm>
                <a:off x="3643306" y="4000510"/>
                <a:ext cx="14287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zh-CN" sz="1600" b="1"/>
                  <a:t>系统总结报告</a:t>
                </a:r>
                <a:endParaRPr lang="zh-CN" altLang="en-US" sz="1600" b="1"/>
              </a:p>
            </p:txBody>
          </p:sp>
          <p:sp>
            <p:nvSpPr>
              <p:cNvPr id="12308" name="左大括号 4"/>
              <p:cNvSpPr/>
              <p:nvPr/>
            </p:nvSpPr>
            <p:spPr bwMode="auto">
              <a:xfrm>
                <a:off x="3500430" y="3071816"/>
                <a:ext cx="214314" cy="1143008"/>
              </a:xfrm>
              <a:prstGeom prst="leftBrace">
                <a:avLst>
                  <a:gd name="adj1" fmla="val 35111"/>
                  <a:gd name="adj2" fmla="val 50000"/>
                </a:avLst>
              </a:prstGeom>
              <a:noFill/>
              <a:ln w="19050" algn="ctr">
                <a:solidFill>
                  <a:srgbClr val="C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grpSp>
      </p:grpSp>
      <p:grpSp>
        <p:nvGrpSpPr>
          <p:cNvPr id="12294" name="组合 23"/>
          <p:cNvGrpSpPr/>
          <p:nvPr/>
        </p:nvGrpSpPr>
        <p:grpSpPr bwMode="auto">
          <a:xfrm>
            <a:off x="4932363" y="3143250"/>
            <a:ext cx="3929062" cy="1409700"/>
            <a:chOff x="3500430" y="3214692"/>
            <a:chExt cx="3929122" cy="1410124"/>
          </a:xfrm>
        </p:grpSpPr>
        <p:sp>
          <p:nvSpPr>
            <p:cNvPr id="10" name="TextBox 9"/>
            <p:cNvSpPr txBox="1">
              <a:spLocks noChangeArrowheads="1"/>
            </p:cNvSpPr>
            <p:nvPr/>
          </p:nvSpPr>
          <p:spPr bwMode="auto">
            <a:xfrm>
              <a:off x="3500430" y="3643446"/>
              <a:ext cx="1643087" cy="584376"/>
            </a:xfrm>
            <a:prstGeom prst="rect">
              <a:avLst/>
            </a:prstGeom>
            <a:noFill/>
            <a:ln w="9525">
              <a:noFill/>
              <a:miter lim="800000"/>
            </a:ln>
          </p:spPr>
          <p:txBody>
            <a:bodyPr>
              <a:spAutoFit/>
            </a:bodyPr>
            <a:lstStyle/>
            <a:p>
              <a:pPr algn="ctr">
                <a:defRPr/>
              </a:pPr>
              <a:r>
                <a:rPr lang="en-US" altLang="zh-CN" sz="1600" b="1" u="sng" dirty="0">
                  <a:latin typeface="Arial" panose="020B0604020202020204" pitchFamily="34" charset="0"/>
                </a:rPr>
                <a:t>ASSET</a:t>
              </a:r>
              <a:r>
                <a:rPr lang="zh-CN" altLang="en-US" sz="1600" b="1" u="sng" dirty="0">
                  <a:latin typeface="Arial" panose="020B0604020202020204" pitchFamily="34" charset="0"/>
                </a:rPr>
                <a:t>管理者也提供</a:t>
              </a:r>
              <a:r>
                <a:rPr lang="en-US" altLang="zh-CN" sz="1600" b="1" u="sng" dirty="0">
                  <a:latin typeface="Arial" panose="020B0604020202020204" pitchFamily="34" charset="0"/>
                </a:rPr>
                <a:t>4</a:t>
              </a:r>
              <a:r>
                <a:rPr lang="zh-CN" altLang="en-US" sz="1600" b="1" u="sng" dirty="0">
                  <a:latin typeface="Arial" panose="020B0604020202020204" pitchFamily="34" charset="0"/>
                </a:rPr>
                <a:t>种报告</a:t>
              </a:r>
            </a:p>
          </p:txBody>
        </p:sp>
        <p:grpSp>
          <p:nvGrpSpPr>
            <p:cNvPr id="12296" name="组合 21"/>
            <p:cNvGrpSpPr/>
            <p:nvPr/>
          </p:nvGrpSpPr>
          <p:grpSpPr bwMode="auto">
            <a:xfrm>
              <a:off x="5072066" y="3214692"/>
              <a:ext cx="2357486" cy="1410124"/>
              <a:chOff x="5072066" y="3214692"/>
              <a:chExt cx="2357486" cy="1410124"/>
            </a:xfrm>
          </p:grpSpPr>
          <p:sp>
            <p:nvSpPr>
              <p:cNvPr id="12297" name="TextBox 6"/>
              <p:cNvSpPr txBox="1">
                <a:spLocks noChangeArrowheads="1"/>
              </p:cNvSpPr>
              <p:nvPr/>
            </p:nvSpPr>
            <p:spPr bwMode="auto">
              <a:xfrm>
                <a:off x="5143504" y="3214692"/>
                <a:ext cx="171451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zh-CN" sz="1600" b="1"/>
                  <a:t>所有系统的总结</a:t>
                </a:r>
                <a:endParaRPr lang="zh-CN" altLang="en-US" sz="1600" b="1"/>
              </a:p>
            </p:txBody>
          </p:sp>
          <p:sp>
            <p:nvSpPr>
              <p:cNvPr id="12298" name="TextBox 6"/>
              <p:cNvSpPr txBox="1">
                <a:spLocks noChangeArrowheads="1"/>
              </p:cNvSpPr>
              <p:nvPr/>
            </p:nvSpPr>
            <p:spPr bwMode="auto">
              <a:xfrm>
                <a:off x="5143504" y="3571882"/>
                <a:ext cx="228604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zh-CN" sz="1600" b="1"/>
                  <a:t>根据类型进行系统列表</a:t>
                </a:r>
                <a:endParaRPr lang="zh-CN" altLang="en-US" sz="1600" b="1"/>
              </a:p>
            </p:txBody>
          </p:sp>
          <p:sp>
            <p:nvSpPr>
              <p:cNvPr id="12299" name="TextBox 6"/>
              <p:cNvSpPr txBox="1">
                <a:spLocks noChangeArrowheads="1"/>
              </p:cNvSpPr>
              <p:nvPr/>
            </p:nvSpPr>
            <p:spPr bwMode="auto">
              <a:xfrm>
                <a:off x="5143504" y="3929072"/>
                <a:ext cx="18573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zh-CN" sz="1600" b="1"/>
                  <a:t>系统敏感程度列表</a:t>
                </a:r>
                <a:endParaRPr lang="zh-CN" altLang="en-US" sz="1600" b="1"/>
              </a:p>
            </p:txBody>
          </p:sp>
          <p:sp>
            <p:nvSpPr>
              <p:cNvPr id="12300" name="TextBox 6"/>
              <p:cNvSpPr txBox="1">
                <a:spLocks noChangeArrowheads="1"/>
              </p:cNvSpPr>
              <p:nvPr/>
            </p:nvSpPr>
            <p:spPr bwMode="auto">
              <a:xfrm>
                <a:off x="5214942" y="4286262"/>
                <a:ext cx="107157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zh-CN" sz="1600" b="1"/>
                  <a:t>组织总结</a:t>
                </a:r>
                <a:endParaRPr lang="zh-CN" altLang="en-US" sz="1600" b="1"/>
              </a:p>
            </p:txBody>
          </p:sp>
          <p:sp>
            <p:nvSpPr>
              <p:cNvPr id="12301" name="左大括号 4"/>
              <p:cNvSpPr/>
              <p:nvPr/>
            </p:nvSpPr>
            <p:spPr bwMode="auto">
              <a:xfrm>
                <a:off x="5072066" y="3357568"/>
                <a:ext cx="214314" cy="1143008"/>
              </a:xfrm>
              <a:prstGeom prst="leftBrace">
                <a:avLst>
                  <a:gd name="adj1" fmla="val 35111"/>
                  <a:gd name="adj2" fmla="val 50000"/>
                </a:avLst>
              </a:prstGeom>
              <a:noFill/>
              <a:ln w="19050" algn="ctr">
                <a:solidFill>
                  <a:srgbClr val="C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grpSp>
      </p:grpSp>
    </p:spTree>
  </p:cSld>
  <p:clrMapOvr>
    <a:masterClrMapping/>
  </p:clrMapOvr>
  <p:transition spd="med">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内容占位符 2"/>
          <p:cNvSpPr>
            <a:spLocks noGrp="1"/>
          </p:cNvSpPr>
          <p:nvPr>
            <p:ph idx="1"/>
          </p:nvPr>
        </p:nvSpPr>
        <p:spPr>
          <a:xfrm>
            <a:off x="214313" y="1071563"/>
            <a:ext cx="8929687" cy="3429000"/>
          </a:xfrm>
        </p:spPr>
        <p:txBody>
          <a:bodyPr/>
          <a:lstStyle/>
          <a:p>
            <a:pPr>
              <a:buFont typeface="Wingdings" panose="05000000000000000000" pitchFamily="2" charset="2"/>
              <a:buNone/>
            </a:pPr>
            <a:r>
              <a:rPr lang="en-US" altLang="zh-CN" sz="2000" b="1" dirty="0"/>
              <a:t>2. CMU SEI</a:t>
            </a:r>
            <a:r>
              <a:rPr lang="zh-CN" altLang="zh-CN" sz="2000" b="1" dirty="0"/>
              <a:t>的</a:t>
            </a:r>
            <a:r>
              <a:rPr lang="en-US" altLang="zh-CN" sz="2000" b="1" dirty="0"/>
              <a:t>OCTAVE</a:t>
            </a:r>
            <a:endParaRPr lang="zh-CN" altLang="zh-CN" sz="2000" b="1" dirty="0"/>
          </a:p>
          <a:p>
            <a:r>
              <a:rPr lang="en-US" altLang="zh-CN" sz="1800" b="1" u="sng" dirty="0"/>
              <a:t>CMU SEI</a:t>
            </a:r>
            <a:r>
              <a:rPr lang="zh-CN" altLang="zh-CN" sz="1800" b="1" u="sng" dirty="0"/>
              <a:t>提出的操作型关键威胁，评级以及漏洞评估系统</a:t>
            </a:r>
            <a:r>
              <a:rPr lang="zh-CN" altLang="zh-CN" sz="1800" b="1" dirty="0"/>
              <a:t>。它是一个标识和管理信息安全风险的框架，由一套基于风险的信息安全策略评价和规划工具、技术和方法组成。</a:t>
            </a:r>
            <a:r>
              <a:rPr lang="zh-CN" altLang="en-US" sz="1800" b="1" dirty="0"/>
              <a:t>同时</a:t>
            </a:r>
            <a:r>
              <a:rPr lang="zh-CN" altLang="zh-CN" sz="1800" b="1" dirty="0"/>
              <a:t>它定义了一种允许组织标识信息资产的综合评估方法从而设计和实现保护策略来减少信息资产的整体风险。</a:t>
            </a:r>
          </a:p>
          <a:p>
            <a:r>
              <a:rPr lang="en-US" altLang="zh-CN" sz="1800" b="1" dirty="0"/>
              <a:t>OCTAVE</a:t>
            </a:r>
            <a:r>
              <a:rPr lang="zh-CN" altLang="zh-CN" sz="1800" b="1" dirty="0"/>
              <a:t>方法使用三阶段方法来检查组织和技术问题。这种方法并主要关注：</a:t>
            </a:r>
            <a:r>
              <a:rPr lang="zh-CN" altLang="zh-CN" sz="1800" b="1" u="sng" dirty="0"/>
              <a:t>发现关键的评估标准以及对这些评估的威胁</a:t>
            </a:r>
            <a:r>
              <a:rPr lang="zh-CN" altLang="zh-CN" sz="1800" b="1" dirty="0"/>
              <a:t>；</a:t>
            </a:r>
            <a:r>
              <a:rPr lang="zh-CN" altLang="zh-CN" sz="1800" b="1" u="sng" dirty="0"/>
              <a:t>发现人员组织上和技术上的弱点，面临的威胁、风险</a:t>
            </a:r>
            <a:r>
              <a:rPr lang="zh-CN" altLang="zh-CN" sz="1800" b="1" dirty="0"/>
              <a:t>。</a:t>
            </a:r>
            <a:r>
              <a:rPr lang="zh-CN" altLang="zh-CN" sz="1800" b="1" u="sng" dirty="0"/>
              <a:t>开发基于实践的保护策略，抵御风险的规划，优先级</a:t>
            </a:r>
            <a:r>
              <a:rPr lang="zh-CN" altLang="zh-CN" sz="1800" b="1" dirty="0"/>
              <a:t>等。</a:t>
            </a:r>
          </a:p>
          <a:p>
            <a:pPr>
              <a:buFont typeface="Arial" panose="020B0604020202020204" pitchFamily="34" charset="0"/>
              <a:buChar char="•"/>
            </a:pPr>
            <a:endParaRPr lang="zh-CN" altLang="en-US" b="1" dirty="0"/>
          </a:p>
          <a:p>
            <a:pPr>
              <a:buFont typeface="Arial" panose="020B0604020202020204" pitchFamily="34" charset="0"/>
              <a:buChar char="•"/>
            </a:pPr>
            <a:endParaRPr lang="zh-CN" altLang="zh-CN" b="1" dirty="0"/>
          </a:p>
        </p:txBody>
      </p:sp>
      <p:sp>
        <p:nvSpPr>
          <p:cNvPr id="6"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9.2 </a:t>
            </a:r>
            <a:r>
              <a:rPr lang="zh-CN" altLang="zh-CN" sz="2000" b="1">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352529"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9.2.1 </a:t>
            </a:r>
            <a:r>
              <a:rPr altLang="en-US" sz="2000" dirty="0"/>
              <a:t>基于标准的风险分析</a:t>
            </a:r>
          </a:p>
        </p:txBody>
      </p:sp>
    </p:spTree>
  </p:cSld>
  <p:clrMapOvr>
    <a:masterClrMapping/>
  </p:clrMapOvr>
  <p:transition spd="med">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0" y="771525"/>
            <a:ext cx="9144000" cy="4032250"/>
          </a:xfrm>
        </p:spPr>
        <p:txBody>
          <a:bodyPr/>
          <a:lstStyle/>
          <a:p>
            <a:pPr marL="0" indent="0">
              <a:buFont typeface="Wingdings" panose="05000000000000000000" pitchFamily="2" charset="2"/>
              <a:buNone/>
              <a:defRPr/>
            </a:pPr>
            <a:endParaRPr lang="en-US" altLang="zh-CN" sz="1800" b="1" dirty="0"/>
          </a:p>
          <a:p>
            <a:pPr>
              <a:buFont typeface="Wingdings" panose="05000000000000000000" pitchFamily="2" charset="2"/>
              <a:buNone/>
              <a:defRPr/>
            </a:pPr>
            <a:r>
              <a:rPr lang="en-US" altLang="zh-CN" sz="2000" b="1" dirty="0">
                <a:solidFill>
                  <a:schemeClr val="accent6"/>
                </a:solidFill>
              </a:rPr>
              <a:t>1. STRIDE</a:t>
            </a:r>
            <a:r>
              <a:rPr lang="zh-CN" altLang="zh-CN" sz="2000" b="1" dirty="0">
                <a:solidFill>
                  <a:schemeClr val="accent6"/>
                </a:solidFill>
              </a:rPr>
              <a:t>威胁模型</a:t>
            </a:r>
          </a:p>
          <a:p>
            <a:pPr>
              <a:defRPr/>
            </a:pPr>
            <a:r>
              <a:rPr lang="en-US" altLang="zh-CN" sz="1800" b="1" dirty="0">
                <a:solidFill>
                  <a:srgbClr val="0033CC"/>
                </a:solidFill>
              </a:rPr>
              <a:t>STRIDE</a:t>
            </a:r>
            <a:r>
              <a:rPr lang="zh-CN" altLang="zh-CN" sz="1800" b="1" dirty="0">
                <a:solidFill>
                  <a:srgbClr val="0033CC"/>
                </a:solidFill>
              </a:rPr>
              <a:t>建模方法</a:t>
            </a:r>
            <a:r>
              <a:rPr lang="zh-CN" altLang="zh-CN" sz="1800" b="1" dirty="0"/>
              <a:t>由</a:t>
            </a:r>
            <a:r>
              <a:rPr lang="zh-CN" altLang="en-US" sz="1800" b="1" u="sng" dirty="0"/>
              <a:t>微软</a:t>
            </a:r>
            <a:r>
              <a:rPr lang="zh-CN" altLang="zh-CN" sz="1800" b="1" dirty="0"/>
              <a:t>提出，该方法</a:t>
            </a:r>
            <a:r>
              <a:rPr lang="zh-CN" altLang="zh-CN" sz="1800" b="1" dirty="0">
                <a:solidFill>
                  <a:srgbClr val="FF0000"/>
                </a:solidFill>
              </a:rPr>
              <a:t>通过</a:t>
            </a:r>
            <a:r>
              <a:rPr lang="zh-CN" altLang="zh-CN" sz="1800" b="1" u="sng" dirty="0">
                <a:solidFill>
                  <a:srgbClr val="FF0000"/>
                </a:solidFill>
              </a:rPr>
              <a:t>审查</a:t>
            </a:r>
            <a:r>
              <a:rPr lang="zh-CN" altLang="zh-CN" sz="1800" b="1" u="sng" dirty="0">
                <a:solidFill>
                  <a:srgbClr val="0033CC"/>
                </a:solidFill>
              </a:rPr>
              <a:t>系统设计或架构</a:t>
            </a:r>
            <a:r>
              <a:rPr lang="zh-CN" altLang="zh-CN" sz="1800" b="1" dirty="0">
                <a:solidFill>
                  <a:srgbClr val="FF0000"/>
                </a:solidFill>
              </a:rPr>
              <a:t>来发现或纠正</a:t>
            </a:r>
            <a:r>
              <a:rPr lang="zh-CN" altLang="zh-CN" sz="1800" b="1" u="sng" dirty="0">
                <a:solidFill>
                  <a:srgbClr val="0033CC"/>
                </a:solidFill>
              </a:rPr>
              <a:t>设计级的安全问题</a:t>
            </a:r>
            <a:r>
              <a:rPr lang="zh-CN" altLang="zh-CN" sz="1800" b="1" dirty="0"/>
              <a:t>。</a:t>
            </a:r>
            <a:endParaRPr lang="en-US" altLang="zh-CN" sz="1800" b="1" dirty="0"/>
          </a:p>
          <a:p>
            <a:pPr>
              <a:defRPr/>
            </a:pPr>
            <a:r>
              <a:rPr lang="zh-CN" altLang="zh-CN" sz="1800" b="1" u="sng" dirty="0"/>
              <a:t>软件开发人员</a:t>
            </a:r>
            <a:r>
              <a:rPr lang="zh-CN" altLang="zh-CN" sz="1800" b="1" dirty="0"/>
              <a:t>认为安全主要是指代码质量，</a:t>
            </a:r>
            <a:r>
              <a:rPr lang="zh-CN" altLang="zh-CN" sz="1800" b="1" u="sng" dirty="0"/>
              <a:t>网络管理员</a:t>
            </a:r>
            <a:r>
              <a:rPr lang="zh-CN" altLang="zh-CN" sz="1800" b="1" dirty="0"/>
              <a:t>认为安全主要是防火墙、以及系统管理。</a:t>
            </a:r>
            <a:r>
              <a:rPr lang="zh-CN" altLang="zh-CN" sz="1800" b="1" u="sng" dirty="0"/>
              <a:t>学术界</a:t>
            </a:r>
            <a:r>
              <a:rPr lang="zh-CN" altLang="zh-CN" sz="1800" b="1" dirty="0"/>
              <a:t>认为安全是指</a:t>
            </a:r>
            <a:r>
              <a:rPr lang="en-US" altLang="zh-CN" sz="1800" b="1" dirty="0" err="1"/>
              <a:t>Saltzer</a:t>
            </a:r>
            <a:r>
              <a:rPr lang="zh-CN" altLang="zh-CN" sz="1800" b="1" dirty="0"/>
              <a:t>和</a:t>
            </a:r>
            <a:r>
              <a:rPr lang="en-US" altLang="zh-CN" sz="1800" b="1" dirty="0"/>
              <a:t>Schroeder</a:t>
            </a:r>
            <a:r>
              <a:rPr lang="zh-CN" altLang="zh-CN" sz="1800" b="1" dirty="0"/>
              <a:t>原则</a:t>
            </a:r>
            <a:r>
              <a:rPr lang="zh-CN" altLang="en-US" sz="1200" b="1" dirty="0"/>
              <a:t>（最小特权，独立权限</a:t>
            </a:r>
            <a:r>
              <a:rPr lang="en-US" altLang="zh-CN" sz="1200" b="1" dirty="0"/>
              <a:t>…</a:t>
            </a:r>
            <a:r>
              <a:rPr lang="zh-CN" altLang="en-US" sz="1200" b="1" dirty="0"/>
              <a:t>）</a:t>
            </a:r>
            <a:r>
              <a:rPr lang="zh-CN" altLang="zh-CN" sz="1800" b="1" dirty="0"/>
              <a:t>。</a:t>
            </a:r>
            <a:endParaRPr lang="en-US" altLang="zh-CN" sz="1800" b="1" dirty="0"/>
          </a:p>
          <a:p>
            <a:pPr>
              <a:defRPr/>
            </a:pPr>
            <a:r>
              <a:rPr lang="en-US" altLang="zh-CN" sz="1800" b="1" dirty="0"/>
              <a:t>STRIDE</a:t>
            </a:r>
            <a:r>
              <a:rPr lang="zh-CN" altLang="en-US" sz="1800" b="1" dirty="0"/>
              <a:t>：</a:t>
            </a:r>
            <a:r>
              <a:rPr lang="zh-CN" altLang="zh-CN" sz="1800" b="1" dirty="0"/>
              <a:t>安全的含义包括</a:t>
            </a:r>
            <a:r>
              <a:rPr lang="zh-CN" altLang="zh-CN" sz="1800" b="1" dirty="0">
                <a:solidFill>
                  <a:srgbClr val="E46C0A"/>
                </a:solidFill>
              </a:rPr>
              <a:t>机密性、完整性、可用性、</a:t>
            </a:r>
            <a:r>
              <a:rPr lang="zh-CN" altLang="zh-CN" sz="1800" b="1" dirty="0"/>
              <a:t>对用户正确进行</a:t>
            </a:r>
            <a:r>
              <a:rPr lang="zh-CN" altLang="zh-CN" sz="1800" b="1" dirty="0">
                <a:solidFill>
                  <a:srgbClr val="E46C0A"/>
                </a:solidFill>
              </a:rPr>
              <a:t>身份验证和授权、以及</a:t>
            </a:r>
            <a:r>
              <a:rPr lang="zh-CN" altLang="zh-CN" sz="1800" b="1" dirty="0"/>
              <a:t>事务处理</a:t>
            </a:r>
            <a:r>
              <a:rPr lang="zh-CN" altLang="zh-CN" sz="1800" b="1" dirty="0">
                <a:solidFill>
                  <a:srgbClr val="E46C0A"/>
                </a:solidFill>
              </a:rPr>
              <a:t>不可否认等</a:t>
            </a:r>
            <a:r>
              <a:rPr lang="zh-CN" altLang="zh-CN" sz="1800" b="1" dirty="0"/>
              <a:t>，</a:t>
            </a:r>
            <a:r>
              <a:rPr lang="zh-CN" altLang="en-US" sz="1800" b="1" dirty="0"/>
              <a:t>下</a:t>
            </a:r>
            <a:r>
              <a:rPr lang="zh-CN" altLang="zh-CN" sz="1800" b="1" dirty="0"/>
              <a:t>表介绍了每个属性。</a:t>
            </a:r>
          </a:p>
          <a:p>
            <a:pPr>
              <a:buFont typeface="Arial" panose="020B0604020202020204" pitchFamily="34" charset="0"/>
              <a:buChar char="•"/>
              <a:defRPr/>
            </a:pPr>
            <a:endParaRPr lang="zh-CN" altLang="en-US" b="1" dirty="0"/>
          </a:p>
          <a:p>
            <a:pPr>
              <a:buFont typeface="Arial" panose="020B0604020202020204" pitchFamily="34" charset="0"/>
              <a:buChar char="•"/>
              <a:defRPr/>
            </a:pPr>
            <a:endParaRPr lang="zh-CN" altLang="zh-CN" b="1" dirty="0"/>
          </a:p>
        </p:txBody>
      </p:sp>
      <p:sp>
        <p:nvSpPr>
          <p:cNvPr id="6"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9.2 </a:t>
            </a:r>
            <a:r>
              <a:rPr lang="zh-CN" altLang="zh-CN" sz="2000" b="1">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000396"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9.2.2 </a:t>
            </a:r>
            <a:r>
              <a:rPr lang="en-US" altLang="en-US" sz="2000" dirty="0"/>
              <a:t>STRIDE</a:t>
            </a:r>
            <a:r>
              <a:rPr altLang="en-US" sz="2000" dirty="0"/>
              <a:t>威胁建模</a:t>
            </a:r>
          </a:p>
        </p:txBody>
      </p:sp>
    </p:spTree>
  </p:cSld>
  <p:clrMapOvr>
    <a:masterClrMapping/>
  </p:clrMapOvr>
  <p:transition spd="med">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0" y="411163"/>
            <a:ext cx="9144000" cy="4392612"/>
          </a:xfrm>
        </p:spPr>
        <p:txBody>
          <a:bodyPr/>
          <a:lstStyle/>
          <a:p>
            <a:pPr marL="0" indent="0">
              <a:buFont typeface="Wingdings" panose="05000000000000000000" pitchFamily="2" charset="2"/>
              <a:buNone/>
              <a:defRPr/>
            </a:pPr>
            <a:endParaRPr lang="en-US" altLang="zh-CN" sz="1800" b="1" dirty="0"/>
          </a:p>
          <a:p>
            <a:pPr>
              <a:buFont typeface="Arial" panose="020B0604020202020204" pitchFamily="34" charset="0"/>
              <a:buChar char="•"/>
              <a:defRPr/>
            </a:pPr>
            <a:endParaRPr lang="zh-CN" altLang="en-US" dirty="0"/>
          </a:p>
          <a:p>
            <a:pPr>
              <a:buFont typeface="Arial" panose="020B0604020202020204" pitchFamily="34" charset="0"/>
              <a:buChar char="•"/>
              <a:defRPr/>
            </a:pPr>
            <a:endParaRPr lang="zh-CN" altLang="zh-CN" dirty="0"/>
          </a:p>
        </p:txBody>
      </p:sp>
      <p:pic>
        <p:nvPicPr>
          <p:cNvPr id="15363"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4775" y="1236663"/>
            <a:ext cx="8931275" cy="327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9.2 </a:t>
            </a:r>
            <a:r>
              <a:rPr lang="zh-CN" altLang="zh-CN" sz="2000" b="1">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8" name="标题 1"/>
          <p:cNvSpPr txBox="1"/>
          <p:nvPr/>
        </p:nvSpPr>
        <p:spPr bwMode="auto">
          <a:xfrm>
            <a:off x="214282" y="571486"/>
            <a:ext cx="3000396"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9.2.2 </a:t>
            </a:r>
            <a:r>
              <a:rPr lang="en-US" altLang="en-US" sz="2000" dirty="0"/>
              <a:t>STRIDE</a:t>
            </a:r>
            <a:r>
              <a:rPr altLang="en-US" sz="2000" dirty="0"/>
              <a:t>威胁建模</a:t>
            </a:r>
          </a:p>
        </p:txBody>
      </p:sp>
      <p:sp>
        <p:nvSpPr>
          <p:cNvPr id="15366" name="矩形 5"/>
          <p:cNvSpPr>
            <a:spLocks noChangeArrowheads="1"/>
          </p:cNvSpPr>
          <p:nvPr/>
        </p:nvSpPr>
        <p:spPr bwMode="auto">
          <a:xfrm>
            <a:off x="395288" y="1924050"/>
            <a:ext cx="8353425" cy="1152525"/>
          </a:xfrm>
          <a:prstGeom prst="rect">
            <a:avLst/>
          </a:prstGeom>
          <a:noFill/>
          <a:ln w="38100"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a:p>
        </p:txBody>
      </p:sp>
      <p:sp>
        <p:nvSpPr>
          <p:cNvPr id="15367" name="矩形 8"/>
          <p:cNvSpPr>
            <a:spLocks noChangeArrowheads="1"/>
          </p:cNvSpPr>
          <p:nvPr/>
        </p:nvSpPr>
        <p:spPr bwMode="auto">
          <a:xfrm>
            <a:off x="395288" y="3111500"/>
            <a:ext cx="8353425" cy="1044575"/>
          </a:xfrm>
          <a:prstGeom prst="rect">
            <a:avLst/>
          </a:prstGeom>
          <a:noFill/>
          <a:ln w="38100" algn="ctr">
            <a:solidFill>
              <a:srgbClr val="0033CC"/>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a:p>
        </p:txBody>
      </p:sp>
    </p:spTree>
  </p:cSld>
  <p:clrMapOvr>
    <a:masterClrMapping/>
  </p:clrMapOvr>
  <p:transition spd="med">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内容占位符 2"/>
          <p:cNvSpPr>
            <a:spLocks noGrp="1"/>
          </p:cNvSpPr>
          <p:nvPr>
            <p:ph idx="1"/>
          </p:nvPr>
        </p:nvSpPr>
        <p:spPr>
          <a:xfrm>
            <a:off x="214313" y="1214438"/>
            <a:ext cx="8643937" cy="714375"/>
          </a:xfrm>
        </p:spPr>
        <p:txBody>
          <a:bodyPr/>
          <a:lstStyle/>
          <a:p>
            <a:r>
              <a:rPr lang="zh-CN" altLang="en-US" b="1"/>
              <a:t>针对这些安全属性，给出</a:t>
            </a:r>
            <a:r>
              <a:rPr lang="en-US" altLang="zh-CN" b="1"/>
              <a:t>STRIDE</a:t>
            </a:r>
            <a:r>
              <a:rPr lang="zh-CN" altLang="en-US" b="1"/>
              <a:t>威胁模型，</a:t>
            </a:r>
            <a:r>
              <a:rPr lang="en-US" altLang="zh-CN" b="1"/>
              <a:t>STRIDE</a:t>
            </a:r>
            <a:r>
              <a:rPr lang="zh-CN" altLang="en-US" b="1"/>
              <a:t>是</a:t>
            </a:r>
            <a:r>
              <a:rPr lang="en-US" altLang="zh-CN" b="1"/>
              <a:t>6</a:t>
            </a:r>
            <a:r>
              <a:rPr lang="zh-CN" altLang="en-US" b="1"/>
              <a:t>种威胁类型的英文首字母缩缩写，这</a:t>
            </a:r>
            <a:r>
              <a:rPr lang="en-US" altLang="zh-CN" b="1"/>
              <a:t>6</a:t>
            </a:r>
            <a:r>
              <a:rPr lang="zh-CN" altLang="en-US" b="1"/>
              <a:t>种威胁如下：</a:t>
            </a:r>
          </a:p>
        </p:txBody>
      </p:sp>
      <p:sp>
        <p:nvSpPr>
          <p:cNvPr id="6"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9.2 </a:t>
            </a:r>
            <a:r>
              <a:rPr lang="zh-CN" altLang="zh-CN" sz="2000" b="1">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000396"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9.2.2 </a:t>
            </a:r>
            <a:r>
              <a:rPr lang="en-US" altLang="en-US" sz="2000" dirty="0"/>
              <a:t>STRIDE</a:t>
            </a:r>
            <a:r>
              <a:rPr altLang="en-US" sz="2000" dirty="0"/>
              <a:t>威胁建模</a:t>
            </a:r>
          </a:p>
        </p:txBody>
      </p:sp>
      <p:sp>
        <p:nvSpPr>
          <p:cNvPr id="8" name="TextBox 6"/>
          <p:cNvSpPr txBox="1">
            <a:spLocks noChangeArrowheads="1"/>
          </p:cNvSpPr>
          <p:nvPr/>
        </p:nvSpPr>
        <p:spPr bwMode="auto">
          <a:xfrm>
            <a:off x="1143000" y="2071688"/>
            <a:ext cx="2000250" cy="584200"/>
          </a:xfrm>
          <a:prstGeom prst="rect">
            <a:avLst/>
          </a:prstGeom>
          <a:noFill/>
          <a:ln w="9525">
            <a:noFill/>
            <a:miter lim="800000"/>
          </a:ln>
        </p:spPr>
        <p:txBody>
          <a:bodyPr>
            <a:spAutoFit/>
          </a:bodyPr>
          <a:lstStyle/>
          <a:p>
            <a:pPr algn="ctr">
              <a:defRPr/>
            </a:pPr>
            <a:r>
              <a:rPr lang="zh-CN" altLang="en-US" sz="1600" b="1" dirty="0">
                <a:solidFill>
                  <a:schemeClr val="bg2">
                    <a:lumMod val="25000"/>
                  </a:schemeClr>
                </a:solidFill>
                <a:latin typeface="Arial" panose="020B0604020202020204" pitchFamily="34" charset="0"/>
              </a:rPr>
              <a:t>欺骗证识</a:t>
            </a:r>
            <a:endParaRPr lang="en-US" altLang="zh-CN" sz="1600" b="1" dirty="0">
              <a:solidFill>
                <a:schemeClr val="bg2">
                  <a:lumMod val="25000"/>
                </a:schemeClr>
              </a:solidFill>
              <a:latin typeface="Arial" panose="020B0604020202020204" pitchFamily="34" charset="0"/>
            </a:endParaRPr>
          </a:p>
          <a:p>
            <a:pPr algn="ctr">
              <a:defRPr/>
            </a:pPr>
            <a:r>
              <a:rPr lang="en-US" altLang="zh-CN" sz="1600" b="1" dirty="0">
                <a:latin typeface="Arial" panose="020B0604020202020204" pitchFamily="34" charset="0"/>
              </a:rPr>
              <a:t>(</a:t>
            </a:r>
            <a:r>
              <a:rPr lang="en-US" altLang="zh-CN" sz="1600" b="1" dirty="0">
                <a:solidFill>
                  <a:srgbClr val="FF0000"/>
                </a:solidFill>
                <a:latin typeface="Arial" panose="020B0604020202020204" pitchFamily="34" charset="0"/>
              </a:rPr>
              <a:t>S</a:t>
            </a:r>
            <a:r>
              <a:rPr lang="en-US" altLang="zh-CN" sz="1600" b="1" dirty="0">
                <a:latin typeface="Arial" panose="020B0604020202020204" pitchFamily="34" charset="0"/>
              </a:rPr>
              <a:t>poofing identity)</a:t>
            </a:r>
            <a:endParaRPr lang="zh-CN" altLang="en-US" sz="1600" b="1" dirty="0">
              <a:latin typeface="Arial" panose="020B0604020202020204" pitchFamily="34" charset="0"/>
            </a:endParaRPr>
          </a:p>
        </p:txBody>
      </p:sp>
      <p:sp>
        <p:nvSpPr>
          <p:cNvPr id="16390" name="左大括号 4"/>
          <p:cNvSpPr/>
          <p:nvPr/>
        </p:nvSpPr>
        <p:spPr bwMode="auto">
          <a:xfrm>
            <a:off x="928688" y="2143125"/>
            <a:ext cx="214312" cy="2286000"/>
          </a:xfrm>
          <a:prstGeom prst="leftBrace">
            <a:avLst>
              <a:gd name="adj1" fmla="val 35111"/>
              <a:gd name="adj2" fmla="val 50000"/>
            </a:avLst>
          </a:prstGeom>
          <a:noFill/>
          <a:ln w="28575" algn="ctr">
            <a:solidFill>
              <a:srgbClr val="C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10" name="TextBox 6"/>
          <p:cNvSpPr txBox="1">
            <a:spLocks noChangeArrowheads="1"/>
          </p:cNvSpPr>
          <p:nvPr/>
        </p:nvSpPr>
        <p:spPr bwMode="auto">
          <a:xfrm>
            <a:off x="1000125" y="3000375"/>
            <a:ext cx="2286000" cy="584200"/>
          </a:xfrm>
          <a:prstGeom prst="rect">
            <a:avLst/>
          </a:prstGeom>
          <a:noFill/>
          <a:ln w="9525">
            <a:noFill/>
            <a:miter lim="800000"/>
          </a:ln>
        </p:spPr>
        <p:txBody>
          <a:bodyPr>
            <a:spAutoFit/>
          </a:bodyPr>
          <a:lstStyle/>
          <a:p>
            <a:pPr algn="ctr">
              <a:defRPr/>
            </a:pPr>
            <a:r>
              <a:rPr lang="zh-CN" altLang="en-US" sz="1600" b="1" dirty="0">
                <a:solidFill>
                  <a:schemeClr val="bg2">
                    <a:lumMod val="25000"/>
                  </a:schemeClr>
                </a:solidFill>
                <a:latin typeface="Arial" panose="020B0604020202020204" pitchFamily="34" charset="0"/>
              </a:rPr>
              <a:t>篡改数据</a:t>
            </a:r>
            <a:endParaRPr lang="en-US" altLang="zh-CN" sz="1600" b="1" dirty="0">
              <a:solidFill>
                <a:schemeClr val="bg2">
                  <a:lumMod val="25000"/>
                </a:schemeClr>
              </a:solidFill>
              <a:latin typeface="Arial" panose="020B0604020202020204" pitchFamily="34" charset="0"/>
            </a:endParaRPr>
          </a:p>
          <a:p>
            <a:pPr algn="ctr">
              <a:defRPr/>
            </a:pPr>
            <a:r>
              <a:rPr lang="en-US" altLang="zh-CN" sz="1600" b="1" dirty="0">
                <a:latin typeface="Arial" panose="020B0604020202020204" pitchFamily="34" charset="0"/>
              </a:rPr>
              <a:t>(</a:t>
            </a:r>
            <a:r>
              <a:rPr lang="en-US" altLang="zh-CN" sz="1600" b="1" dirty="0">
                <a:solidFill>
                  <a:srgbClr val="FF0000"/>
                </a:solidFill>
                <a:latin typeface="Arial" panose="020B0604020202020204" pitchFamily="34" charset="0"/>
              </a:rPr>
              <a:t>T</a:t>
            </a:r>
            <a:r>
              <a:rPr lang="en-US" altLang="zh-CN" sz="1600" b="1" dirty="0">
                <a:latin typeface="Arial" panose="020B0604020202020204" pitchFamily="34" charset="0"/>
              </a:rPr>
              <a:t>ampering with data)</a:t>
            </a:r>
            <a:endParaRPr lang="zh-CN" altLang="en-US" sz="1600" b="1" dirty="0">
              <a:latin typeface="Arial" panose="020B0604020202020204" pitchFamily="34" charset="0"/>
            </a:endParaRPr>
          </a:p>
        </p:txBody>
      </p:sp>
      <p:sp>
        <p:nvSpPr>
          <p:cNvPr id="11" name="TextBox 6"/>
          <p:cNvSpPr txBox="1">
            <a:spLocks noChangeArrowheads="1"/>
          </p:cNvSpPr>
          <p:nvPr/>
        </p:nvSpPr>
        <p:spPr bwMode="auto">
          <a:xfrm>
            <a:off x="1357313" y="3857625"/>
            <a:ext cx="1571625" cy="584200"/>
          </a:xfrm>
          <a:prstGeom prst="rect">
            <a:avLst/>
          </a:prstGeom>
          <a:noFill/>
          <a:ln w="9525">
            <a:noFill/>
            <a:miter lim="800000"/>
          </a:ln>
        </p:spPr>
        <p:txBody>
          <a:bodyPr>
            <a:spAutoFit/>
          </a:bodyPr>
          <a:lstStyle/>
          <a:p>
            <a:pPr algn="ctr">
              <a:defRPr/>
            </a:pPr>
            <a:r>
              <a:rPr lang="zh-CN" altLang="en-US" sz="1600" b="1" dirty="0">
                <a:solidFill>
                  <a:schemeClr val="bg2">
                    <a:lumMod val="25000"/>
                  </a:schemeClr>
                </a:solidFill>
                <a:latin typeface="Arial" panose="020B0604020202020204" pitchFamily="34" charset="0"/>
              </a:rPr>
              <a:t>可抵赖</a:t>
            </a:r>
            <a:endParaRPr lang="en-US" altLang="zh-CN" sz="1600" b="1" dirty="0">
              <a:solidFill>
                <a:schemeClr val="bg2">
                  <a:lumMod val="25000"/>
                </a:schemeClr>
              </a:solidFill>
              <a:latin typeface="Arial" panose="020B0604020202020204" pitchFamily="34" charset="0"/>
            </a:endParaRPr>
          </a:p>
          <a:p>
            <a:pPr algn="ctr">
              <a:defRPr/>
            </a:pPr>
            <a:r>
              <a:rPr lang="en-US" altLang="zh-CN" sz="1600" b="1" dirty="0">
                <a:latin typeface="Arial" panose="020B0604020202020204" pitchFamily="34" charset="0"/>
              </a:rPr>
              <a:t>(</a:t>
            </a:r>
            <a:r>
              <a:rPr lang="en-US" altLang="zh-CN" sz="1600" b="1" dirty="0">
                <a:solidFill>
                  <a:srgbClr val="FF0000"/>
                </a:solidFill>
                <a:latin typeface="Arial" panose="020B0604020202020204" pitchFamily="34" charset="0"/>
              </a:rPr>
              <a:t>R</a:t>
            </a:r>
            <a:r>
              <a:rPr lang="en-US" altLang="zh-CN" sz="1600" b="1" dirty="0">
                <a:latin typeface="Arial" panose="020B0604020202020204" pitchFamily="34" charset="0"/>
              </a:rPr>
              <a:t>epudiation)</a:t>
            </a:r>
            <a:endParaRPr lang="zh-CN" altLang="en-US" sz="1600" b="1" dirty="0">
              <a:latin typeface="Arial" panose="020B0604020202020204" pitchFamily="34" charset="0"/>
            </a:endParaRPr>
          </a:p>
        </p:txBody>
      </p:sp>
      <p:sp>
        <p:nvSpPr>
          <p:cNvPr id="13" name="TextBox 6"/>
          <p:cNvSpPr txBox="1">
            <a:spLocks noChangeArrowheads="1"/>
          </p:cNvSpPr>
          <p:nvPr/>
        </p:nvSpPr>
        <p:spPr bwMode="auto">
          <a:xfrm>
            <a:off x="3286125" y="2000250"/>
            <a:ext cx="5357813" cy="523875"/>
          </a:xfrm>
          <a:prstGeom prst="rect">
            <a:avLst/>
          </a:prstGeom>
          <a:noFill/>
          <a:ln w="9525">
            <a:solidFill>
              <a:srgbClr val="C00000"/>
            </a:solidFill>
            <a:miter lim="800000"/>
          </a:ln>
        </p:spPr>
        <p:txBody>
          <a:bodyPr>
            <a:spAutoFit/>
          </a:bodyPr>
          <a:lstStyle/>
          <a:p>
            <a:pPr>
              <a:defRPr/>
            </a:pPr>
            <a:r>
              <a:rPr lang="zh-CN" altLang="en-US" sz="1400" b="1" dirty="0">
                <a:latin typeface="Arial" panose="020B0604020202020204" pitchFamily="34" charset="0"/>
              </a:rPr>
              <a:t>典型的例子是使用其他用户的认证信息进行非法访问。例如利用用户名和口令等认证信息进行非法访问。</a:t>
            </a:r>
            <a:endParaRPr lang="zh-CN" altLang="en-US" sz="1400" b="1" dirty="0">
              <a:solidFill>
                <a:schemeClr val="bg2">
                  <a:lumMod val="25000"/>
                </a:schemeClr>
              </a:solidFill>
              <a:latin typeface="Arial" panose="020B0604020202020204" pitchFamily="34" charset="0"/>
            </a:endParaRPr>
          </a:p>
        </p:txBody>
      </p:sp>
      <p:sp>
        <p:nvSpPr>
          <p:cNvPr id="14" name="TextBox 6"/>
          <p:cNvSpPr txBox="1">
            <a:spLocks noChangeArrowheads="1"/>
          </p:cNvSpPr>
          <p:nvPr/>
        </p:nvSpPr>
        <p:spPr bwMode="auto">
          <a:xfrm>
            <a:off x="3286125" y="3000375"/>
            <a:ext cx="5357813" cy="523875"/>
          </a:xfrm>
          <a:prstGeom prst="rect">
            <a:avLst/>
          </a:prstGeom>
          <a:noFill/>
          <a:ln w="9525">
            <a:solidFill>
              <a:srgbClr val="C00000"/>
            </a:solidFill>
            <a:miter lim="800000"/>
          </a:ln>
        </p:spPr>
        <p:txBody>
          <a:bodyPr>
            <a:spAutoFit/>
          </a:bodyPr>
          <a:lstStyle/>
          <a:p>
            <a:pPr>
              <a:defRPr/>
            </a:pPr>
            <a:r>
              <a:rPr lang="zh-CN" altLang="en-US" sz="1400" b="1" dirty="0">
                <a:latin typeface="Arial" panose="020B0604020202020204" pitchFamily="34" charset="0"/>
              </a:rPr>
              <a:t>在未授权的情况下恶意地修改数据。这种修改可能是在数据库中保存的数据，也可能是在网络中传输的数据。</a:t>
            </a:r>
            <a:endParaRPr lang="zh-CN" altLang="en-US" sz="1400" b="1" dirty="0">
              <a:solidFill>
                <a:schemeClr val="bg2">
                  <a:lumMod val="25000"/>
                </a:schemeClr>
              </a:solidFill>
              <a:latin typeface="Arial" panose="020B0604020202020204" pitchFamily="34" charset="0"/>
            </a:endParaRPr>
          </a:p>
        </p:txBody>
      </p:sp>
      <p:sp>
        <p:nvSpPr>
          <p:cNvPr id="15" name="TextBox 6"/>
          <p:cNvSpPr txBox="1">
            <a:spLocks noChangeArrowheads="1"/>
          </p:cNvSpPr>
          <p:nvPr/>
        </p:nvSpPr>
        <p:spPr bwMode="auto">
          <a:xfrm>
            <a:off x="3286125" y="3786188"/>
            <a:ext cx="5429250" cy="738187"/>
          </a:xfrm>
          <a:prstGeom prst="rect">
            <a:avLst/>
          </a:prstGeom>
          <a:noFill/>
          <a:ln w="9525">
            <a:solidFill>
              <a:srgbClr val="C00000"/>
            </a:solidFill>
            <a:miter lim="800000"/>
          </a:ln>
        </p:spPr>
        <p:txBody>
          <a:bodyPr>
            <a:spAutoFit/>
          </a:bodyPr>
          <a:lstStyle/>
          <a:p>
            <a:pPr>
              <a:defRPr/>
            </a:pPr>
            <a:r>
              <a:rPr lang="zh-CN" altLang="en-US" sz="1400" b="1" dirty="0">
                <a:latin typeface="Arial" panose="020B0604020202020204" pitchFamily="34" charset="0"/>
              </a:rPr>
              <a:t>用户从事一项非法操作，但该用户拒绝承认，且没有方法可以证明他是在抵赖。例如某用户从事一项非法操作，但系统又缺乏跟踪非法操作的功能。</a:t>
            </a:r>
            <a:endParaRPr lang="zh-CN" altLang="en-US" sz="1400" b="1" dirty="0">
              <a:solidFill>
                <a:schemeClr val="bg2">
                  <a:lumMod val="25000"/>
                </a:schemeClr>
              </a:solidFill>
              <a:latin typeface="Arial" panose="020B0604020202020204" pitchFamily="34" charset="0"/>
            </a:endParaRPr>
          </a:p>
        </p:txBody>
      </p:sp>
      <p:sp>
        <p:nvSpPr>
          <p:cNvPr id="16396" name="右箭头 17"/>
          <p:cNvSpPr>
            <a:spLocks noChangeArrowheads="1"/>
          </p:cNvSpPr>
          <p:nvPr/>
        </p:nvSpPr>
        <p:spPr bwMode="auto">
          <a:xfrm>
            <a:off x="2643188" y="3929063"/>
            <a:ext cx="642937" cy="214312"/>
          </a:xfrm>
          <a:prstGeom prst="rightArrow">
            <a:avLst>
              <a:gd name="adj1" fmla="val 50000"/>
              <a:gd name="adj2" fmla="val 50000"/>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b="1"/>
          </a:p>
        </p:txBody>
      </p:sp>
      <p:sp>
        <p:nvSpPr>
          <p:cNvPr id="16397" name="右箭头 18"/>
          <p:cNvSpPr>
            <a:spLocks noChangeArrowheads="1"/>
          </p:cNvSpPr>
          <p:nvPr/>
        </p:nvSpPr>
        <p:spPr bwMode="auto">
          <a:xfrm>
            <a:off x="2643188" y="2143125"/>
            <a:ext cx="642937" cy="214313"/>
          </a:xfrm>
          <a:prstGeom prst="rightArrow">
            <a:avLst>
              <a:gd name="adj1" fmla="val 50000"/>
              <a:gd name="adj2" fmla="val 50000"/>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b="1"/>
          </a:p>
        </p:txBody>
      </p:sp>
      <p:sp>
        <p:nvSpPr>
          <p:cNvPr id="16398" name="右箭头 19"/>
          <p:cNvSpPr>
            <a:spLocks noChangeArrowheads="1"/>
          </p:cNvSpPr>
          <p:nvPr/>
        </p:nvSpPr>
        <p:spPr bwMode="auto">
          <a:xfrm>
            <a:off x="2643188" y="3143250"/>
            <a:ext cx="642937" cy="214313"/>
          </a:xfrm>
          <a:prstGeom prst="rightArrow">
            <a:avLst>
              <a:gd name="adj1" fmla="val 50000"/>
              <a:gd name="adj2" fmla="val 50000"/>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b="1"/>
          </a:p>
        </p:txBody>
      </p:sp>
    </p:spTree>
  </p:cSld>
  <p:clrMapOvr>
    <a:masterClrMapping/>
  </p:clrMapOvr>
  <p:transition spd="med">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内容占位符 2"/>
          <p:cNvSpPr>
            <a:spLocks noGrp="1"/>
          </p:cNvSpPr>
          <p:nvPr>
            <p:ph idx="1"/>
          </p:nvPr>
        </p:nvSpPr>
        <p:spPr>
          <a:xfrm>
            <a:off x="214313" y="1214438"/>
            <a:ext cx="8643937" cy="714375"/>
          </a:xfrm>
        </p:spPr>
        <p:txBody>
          <a:bodyPr/>
          <a:lstStyle/>
          <a:p>
            <a:r>
              <a:rPr lang="zh-CN" altLang="en-US" b="1"/>
              <a:t>针对这些安全属性，给出</a:t>
            </a:r>
            <a:r>
              <a:rPr lang="en-US" altLang="zh-CN" b="1"/>
              <a:t>STRIDE</a:t>
            </a:r>
            <a:r>
              <a:rPr lang="zh-CN" altLang="en-US" b="1"/>
              <a:t>威胁模型，</a:t>
            </a:r>
            <a:r>
              <a:rPr lang="en-US" altLang="zh-CN" b="1"/>
              <a:t>STRIDE</a:t>
            </a:r>
            <a:r>
              <a:rPr lang="zh-CN" altLang="en-US" b="1"/>
              <a:t>是</a:t>
            </a:r>
            <a:r>
              <a:rPr lang="en-US" altLang="zh-CN" b="1"/>
              <a:t>6</a:t>
            </a:r>
            <a:r>
              <a:rPr lang="zh-CN" altLang="en-US" b="1"/>
              <a:t>种威胁类型的英文首字母缩缩写，这</a:t>
            </a:r>
            <a:r>
              <a:rPr lang="en-US" altLang="zh-CN" b="1"/>
              <a:t>6</a:t>
            </a:r>
            <a:r>
              <a:rPr lang="zh-CN" altLang="en-US" b="1"/>
              <a:t>种威胁如下：</a:t>
            </a:r>
          </a:p>
        </p:txBody>
      </p:sp>
      <p:sp>
        <p:nvSpPr>
          <p:cNvPr id="6"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9.2 </a:t>
            </a:r>
            <a:r>
              <a:rPr lang="zh-CN" altLang="zh-CN" sz="2000" b="1">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000396"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9.2.2 </a:t>
            </a:r>
            <a:r>
              <a:rPr lang="en-US" altLang="en-US" sz="2000" dirty="0"/>
              <a:t>STRIDE</a:t>
            </a:r>
            <a:r>
              <a:rPr altLang="en-US" sz="2000" dirty="0"/>
              <a:t>威胁建模</a:t>
            </a:r>
          </a:p>
        </p:txBody>
      </p:sp>
      <p:sp>
        <p:nvSpPr>
          <p:cNvPr id="17413" name="左大括号 4"/>
          <p:cNvSpPr/>
          <p:nvPr/>
        </p:nvSpPr>
        <p:spPr bwMode="auto">
          <a:xfrm>
            <a:off x="928688" y="2143125"/>
            <a:ext cx="214312" cy="2286000"/>
          </a:xfrm>
          <a:prstGeom prst="leftBrace">
            <a:avLst>
              <a:gd name="adj1" fmla="val 35111"/>
              <a:gd name="adj2" fmla="val 50000"/>
            </a:avLst>
          </a:prstGeom>
          <a:noFill/>
          <a:ln w="28575" algn="ctr">
            <a:solidFill>
              <a:srgbClr val="C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10" name="TextBox 6"/>
          <p:cNvSpPr txBox="1">
            <a:spLocks noChangeArrowheads="1"/>
          </p:cNvSpPr>
          <p:nvPr/>
        </p:nvSpPr>
        <p:spPr bwMode="auto">
          <a:xfrm>
            <a:off x="1214438" y="3000375"/>
            <a:ext cx="2071687" cy="584200"/>
          </a:xfrm>
          <a:prstGeom prst="rect">
            <a:avLst/>
          </a:prstGeom>
          <a:noFill/>
          <a:ln w="9525">
            <a:noFill/>
            <a:miter lim="800000"/>
          </a:ln>
        </p:spPr>
        <p:txBody>
          <a:bodyPr>
            <a:spAutoFit/>
          </a:bodyPr>
          <a:lstStyle/>
          <a:p>
            <a:pPr algn="ctr">
              <a:defRPr/>
            </a:pPr>
            <a:r>
              <a:rPr lang="zh-CN" altLang="en-US" sz="1600" b="1" dirty="0">
                <a:solidFill>
                  <a:schemeClr val="bg2">
                    <a:lumMod val="25000"/>
                  </a:schemeClr>
                </a:solidFill>
                <a:latin typeface="Arial" panose="020B0604020202020204" pitchFamily="34" charset="0"/>
              </a:rPr>
              <a:t>拒绝服务</a:t>
            </a:r>
            <a:endParaRPr lang="en-US" altLang="zh-CN" sz="1600" b="1" dirty="0">
              <a:solidFill>
                <a:schemeClr val="bg2">
                  <a:lumMod val="25000"/>
                </a:schemeClr>
              </a:solidFill>
              <a:latin typeface="Arial" panose="020B0604020202020204" pitchFamily="34" charset="0"/>
            </a:endParaRPr>
          </a:p>
          <a:p>
            <a:pPr algn="ctr">
              <a:defRPr/>
            </a:pPr>
            <a:r>
              <a:rPr lang="en-US" altLang="zh-CN" sz="1600" b="1" dirty="0">
                <a:latin typeface="Arial" panose="020B0604020202020204" pitchFamily="34" charset="0"/>
              </a:rPr>
              <a:t>(</a:t>
            </a:r>
            <a:r>
              <a:rPr lang="en-US" altLang="zh-CN" sz="1600" b="1" dirty="0">
                <a:solidFill>
                  <a:srgbClr val="FF0000"/>
                </a:solidFill>
                <a:latin typeface="Arial" panose="020B0604020202020204" pitchFamily="34" charset="0"/>
              </a:rPr>
              <a:t>D</a:t>
            </a:r>
            <a:r>
              <a:rPr lang="en-US" altLang="zh-CN" sz="1600" b="1" dirty="0">
                <a:latin typeface="Arial" panose="020B0604020202020204" pitchFamily="34" charset="0"/>
              </a:rPr>
              <a:t>enial of Service)</a:t>
            </a:r>
            <a:endParaRPr lang="zh-CN" altLang="en-US" sz="1600" b="1" dirty="0">
              <a:latin typeface="Arial" panose="020B0604020202020204" pitchFamily="34" charset="0"/>
            </a:endParaRPr>
          </a:p>
        </p:txBody>
      </p:sp>
      <p:sp>
        <p:nvSpPr>
          <p:cNvPr id="11" name="TextBox 6"/>
          <p:cNvSpPr txBox="1">
            <a:spLocks noChangeArrowheads="1"/>
          </p:cNvSpPr>
          <p:nvPr/>
        </p:nvSpPr>
        <p:spPr bwMode="auto">
          <a:xfrm>
            <a:off x="1000125" y="3786188"/>
            <a:ext cx="2500313" cy="584200"/>
          </a:xfrm>
          <a:prstGeom prst="rect">
            <a:avLst/>
          </a:prstGeom>
          <a:noFill/>
          <a:ln w="9525">
            <a:noFill/>
            <a:miter lim="800000"/>
          </a:ln>
        </p:spPr>
        <p:txBody>
          <a:bodyPr>
            <a:spAutoFit/>
          </a:bodyPr>
          <a:lstStyle/>
          <a:p>
            <a:pPr algn="ctr">
              <a:defRPr/>
            </a:pPr>
            <a:r>
              <a:rPr lang="zh-CN" altLang="en-US" sz="1600" b="1" dirty="0">
                <a:solidFill>
                  <a:schemeClr val="bg2">
                    <a:lumMod val="25000"/>
                  </a:schemeClr>
                </a:solidFill>
                <a:latin typeface="Arial" panose="020B0604020202020204" pitchFamily="34" charset="0"/>
              </a:rPr>
              <a:t>权限提升</a:t>
            </a:r>
            <a:endParaRPr lang="en-US" altLang="zh-CN" sz="1600" b="1" dirty="0">
              <a:solidFill>
                <a:schemeClr val="bg2">
                  <a:lumMod val="25000"/>
                </a:schemeClr>
              </a:solidFill>
              <a:latin typeface="Arial" panose="020B0604020202020204" pitchFamily="34" charset="0"/>
            </a:endParaRPr>
          </a:p>
          <a:p>
            <a:pPr algn="ctr">
              <a:defRPr/>
            </a:pPr>
            <a:r>
              <a:rPr lang="en-US" altLang="zh-CN" sz="1600" b="1" dirty="0">
                <a:latin typeface="Arial" panose="020B0604020202020204" pitchFamily="34" charset="0"/>
              </a:rPr>
              <a:t>(</a:t>
            </a:r>
            <a:r>
              <a:rPr lang="en-US" altLang="zh-CN" sz="1600" b="1" dirty="0">
                <a:solidFill>
                  <a:srgbClr val="FF0000"/>
                </a:solidFill>
                <a:latin typeface="Arial" panose="020B0604020202020204" pitchFamily="34" charset="0"/>
              </a:rPr>
              <a:t>E</a:t>
            </a:r>
            <a:r>
              <a:rPr lang="en-US" altLang="zh-CN" sz="1600" b="1" dirty="0">
                <a:latin typeface="Arial" panose="020B0604020202020204" pitchFamily="34" charset="0"/>
              </a:rPr>
              <a:t>scalation of privilege)</a:t>
            </a:r>
            <a:endParaRPr lang="zh-CN" altLang="en-US" sz="1600" b="1" dirty="0">
              <a:latin typeface="Arial" panose="020B0604020202020204" pitchFamily="34" charset="0"/>
            </a:endParaRPr>
          </a:p>
        </p:txBody>
      </p:sp>
      <p:sp>
        <p:nvSpPr>
          <p:cNvPr id="12" name="TextBox 6"/>
          <p:cNvSpPr txBox="1">
            <a:spLocks noChangeArrowheads="1"/>
          </p:cNvSpPr>
          <p:nvPr/>
        </p:nvSpPr>
        <p:spPr bwMode="auto">
          <a:xfrm>
            <a:off x="1000125" y="2143125"/>
            <a:ext cx="2571750" cy="584200"/>
          </a:xfrm>
          <a:prstGeom prst="rect">
            <a:avLst/>
          </a:prstGeom>
          <a:noFill/>
          <a:ln w="9525">
            <a:noFill/>
            <a:miter lim="800000"/>
          </a:ln>
        </p:spPr>
        <p:txBody>
          <a:bodyPr>
            <a:spAutoFit/>
          </a:bodyPr>
          <a:lstStyle/>
          <a:p>
            <a:pPr algn="ctr">
              <a:defRPr/>
            </a:pPr>
            <a:r>
              <a:rPr lang="zh-CN" altLang="en-US" sz="1600" b="1" dirty="0">
                <a:solidFill>
                  <a:schemeClr val="bg2">
                    <a:lumMod val="25000"/>
                  </a:schemeClr>
                </a:solidFill>
                <a:latin typeface="Arial" panose="020B0604020202020204" pitchFamily="34" charset="0"/>
              </a:rPr>
              <a:t>信息泄露</a:t>
            </a:r>
            <a:endParaRPr lang="en-US" altLang="zh-CN" sz="1600" b="1" dirty="0">
              <a:solidFill>
                <a:schemeClr val="bg2">
                  <a:lumMod val="25000"/>
                </a:schemeClr>
              </a:solidFill>
              <a:latin typeface="Arial" panose="020B0604020202020204" pitchFamily="34" charset="0"/>
            </a:endParaRPr>
          </a:p>
          <a:p>
            <a:pPr algn="ctr">
              <a:defRPr/>
            </a:pPr>
            <a:r>
              <a:rPr lang="en-US" altLang="zh-CN" sz="1600" b="1" dirty="0">
                <a:latin typeface="Arial" panose="020B0604020202020204" pitchFamily="34" charset="0"/>
              </a:rPr>
              <a:t>(</a:t>
            </a:r>
            <a:r>
              <a:rPr lang="en-US" altLang="zh-CN" sz="1600" b="1" dirty="0">
                <a:solidFill>
                  <a:srgbClr val="FF0000"/>
                </a:solidFill>
                <a:latin typeface="Arial" panose="020B0604020202020204" pitchFamily="34" charset="0"/>
              </a:rPr>
              <a:t>I</a:t>
            </a:r>
            <a:r>
              <a:rPr lang="en-US" altLang="zh-CN" sz="1600" b="1" dirty="0">
                <a:latin typeface="Arial" panose="020B0604020202020204" pitchFamily="34" charset="0"/>
              </a:rPr>
              <a:t>nformation disclosure)</a:t>
            </a:r>
            <a:endParaRPr lang="zh-CN" altLang="en-US" sz="1600" b="1" dirty="0">
              <a:latin typeface="Arial" panose="020B0604020202020204" pitchFamily="34" charset="0"/>
            </a:endParaRPr>
          </a:p>
        </p:txBody>
      </p:sp>
      <p:sp>
        <p:nvSpPr>
          <p:cNvPr id="14" name="TextBox 6"/>
          <p:cNvSpPr txBox="1">
            <a:spLocks noChangeArrowheads="1"/>
          </p:cNvSpPr>
          <p:nvPr/>
        </p:nvSpPr>
        <p:spPr bwMode="auto">
          <a:xfrm>
            <a:off x="3714750" y="2928938"/>
            <a:ext cx="5429250" cy="523875"/>
          </a:xfrm>
          <a:prstGeom prst="rect">
            <a:avLst/>
          </a:prstGeom>
          <a:noFill/>
          <a:ln w="9525">
            <a:solidFill>
              <a:srgbClr val="C00000"/>
            </a:solidFill>
            <a:miter lim="800000"/>
          </a:ln>
        </p:spPr>
        <p:txBody>
          <a:bodyPr>
            <a:spAutoFit/>
          </a:bodyPr>
          <a:lstStyle/>
          <a:p>
            <a:pPr>
              <a:defRPr/>
            </a:pPr>
            <a:r>
              <a:rPr lang="zh-CN" altLang="en-US" sz="1400" b="1" dirty="0">
                <a:latin typeface="Arial" panose="020B0604020202020204" pitchFamily="34" charset="0"/>
              </a:rPr>
              <a:t>拒绝对正当用户的服务。例如</a:t>
            </a:r>
            <a:r>
              <a:rPr lang="en-US" altLang="zh-CN" sz="1400" b="1" dirty="0">
                <a:latin typeface="Arial" panose="020B0604020202020204" pitchFamily="34" charset="0"/>
              </a:rPr>
              <a:t>Web</a:t>
            </a:r>
            <a:r>
              <a:rPr lang="zh-CN" altLang="en-US" sz="1400" b="1" dirty="0">
                <a:latin typeface="Arial" panose="020B0604020202020204" pitchFamily="34" charset="0"/>
              </a:rPr>
              <a:t>服务器短时间不可以访问，可能是遭到拒绝服务攻击，因此需要提高系统的可用性和可靠性。</a:t>
            </a:r>
            <a:endParaRPr lang="zh-CN" altLang="en-US" sz="1400" b="1" dirty="0">
              <a:solidFill>
                <a:schemeClr val="bg2">
                  <a:lumMod val="25000"/>
                </a:schemeClr>
              </a:solidFill>
              <a:latin typeface="Arial" panose="020B0604020202020204" pitchFamily="34" charset="0"/>
            </a:endParaRPr>
          </a:p>
        </p:txBody>
      </p:sp>
      <p:sp>
        <p:nvSpPr>
          <p:cNvPr id="15" name="TextBox 6"/>
          <p:cNvSpPr txBox="1">
            <a:spLocks noChangeArrowheads="1"/>
          </p:cNvSpPr>
          <p:nvPr/>
        </p:nvSpPr>
        <p:spPr bwMode="auto">
          <a:xfrm>
            <a:off x="3714750" y="3786188"/>
            <a:ext cx="5429250" cy="523875"/>
          </a:xfrm>
          <a:prstGeom prst="rect">
            <a:avLst/>
          </a:prstGeom>
          <a:noFill/>
          <a:ln w="9525">
            <a:solidFill>
              <a:srgbClr val="C00000"/>
            </a:solidFill>
            <a:miter lim="800000"/>
          </a:ln>
        </p:spPr>
        <p:txBody>
          <a:bodyPr>
            <a:spAutoFit/>
          </a:bodyPr>
          <a:lstStyle/>
          <a:p>
            <a:pPr>
              <a:defRPr/>
            </a:pPr>
            <a:r>
              <a:rPr lang="zh-CN" altLang="en-US" sz="1400" b="1" dirty="0">
                <a:latin typeface="Arial" panose="020B0604020202020204" pitchFamily="34" charset="0"/>
              </a:rPr>
              <a:t>一个没有特权的用户获得访问特权，从而有足够的权限做出摧毁整个系统的事情。</a:t>
            </a:r>
            <a:endParaRPr lang="zh-CN" altLang="en-US" sz="1400" b="1" dirty="0">
              <a:solidFill>
                <a:schemeClr val="bg2">
                  <a:lumMod val="25000"/>
                </a:schemeClr>
              </a:solidFill>
              <a:latin typeface="Arial" panose="020B0604020202020204" pitchFamily="34" charset="0"/>
            </a:endParaRPr>
          </a:p>
        </p:txBody>
      </p:sp>
      <p:sp>
        <p:nvSpPr>
          <p:cNvPr id="16" name="TextBox 6"/>
          <p:cNvSpPr txBox="1">
            <a:spLocks noChangeArrowheads="1"/>
          </p:cNvSpPr>
          <p:nvPr/>
        </p:nvSpPr>
        <p:spPr bwMode="auto">
          <a:xfrm>
            <a:off x="3714750" y="2071688"/>
            <a:ext cx="5429250" cy="523875"/>
          </a:xfrm>
          <a:prstGeom prst="rect">
            <a:avLst/>
          </a:prstGeom>
          <a:noFill/>
          <a:ln w="9525">
            <a:solidFill>
              <a:srgbClr val="C00000"/>
            </a:solidFill>
            <a:miter lim="800000"/>
          </a:ln>
        </p:spPr>
        <p:txBody>
          <a:bodyPr>
            <a:spAutoFit/>
          </a:bodyPr>
          <a:lstStyle/>
          <a:p>
            <a:pPr>
              <a:defRPr/>
            </a:pPr>
            <a:r>
              <a:rPr lang="zh-CN" altLang="en-US" sz="1400" b="1" dirty="0">
                <a:latin typeface="Arial" panose="020B0604020202020204" pitchFamily="34" charset="0"/>
              </a:rPr>
              <a:t>信息暴露给不允许对它访问的人。例如用户读到没有给他赋予访问权限的文件的内容，信息在网络中传递时内容被泄密。</a:t>
            </a:r>
            <a:endParaRPr lang="zh-CN" altLang="en-US" sz="1400" b="1" dirty="0">
              <a:solidFill>
                <a:schemeClr val="bg2">
                  <a:lumMod val="25000"/>
                </a:schemeClr>
              </a:solidFill>
              <a:latin typeface="Arial" panose="020B0604020202020204" pitchFamily="34" charset="0"/>
            </a:endParaRPr>
          </a:p>
        </p:txBody>
      </p:sp>
      <p:sp>
        <p:nvSpPr>
          <p:cNvPr id="17420" name="右箭头 17"/>
          <p:cNvSpPr>
            <a:spLocks noChangeArrowheads="1"/>
          </p:cNvSpPr>
          <p:nvPr/>
        </p:nvSpPr>
        <p:spPr bwMode="auto">
          <a:xfrm>
            <a:off x="3071813" y="3929063"/>
            <a:ext cx="642937" cy="214312"/>
          </a:xfrm>
          <a:prstGeom prst="rightArrow">
            <a:avLst>
              <a:gd name="adj1" fmla="val 50000"/>
              <a:gd name="adj2" fmla="val 50000"/>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b="1"/>
          </a:p>
        </p:txBody>
      </p:sp>
      <p:sp>
        <p:nvSpPr>
          <p:cNvPr id="17421" name="右箭头 18"/>
          <p:cNvSpPr>
            <a:spLocks noChangeArrowheads="1"/>
          </p:cNvSpPr>
          <p:nvPr/>
        </p:nvSpPr>
        <p:spPr bwMode="auto">
          <a:xfrm>
            <a:off x="3071813" y="2286000"/>
            <a:ext cx="642937" cy="214313"/>
          </a:xfrm>
          <a:prstGeom prst="rightArrow">
            <a:avLst>
              <a:gd name="adj1" fmla="val 50000"/>
              <a:gd name="adj2" fmla="val 50000"/>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b="1"/>
          </a:p>
        </p:txBody>
      </p:sp>
      <p:sp>
        <p:nvSpPr>
          <p:cNvPr id="17422" name="右箭头 19"/>
          <p:cNvSpPr>
            <a:spLocks noChangeArrowheads="1"/>
          </p:cNvSpPr>
          <p:nvPr/>
        </p:nvSpPr>
        <p:spPr bwMode="auto">
          <a:xfrm>
            <a:off x="3071813" y="3071813"/>
            <a:ext cx="642937" cy="214312"/>
          </a:xfrm>
          <a:prstGeom prst="rightArrow">
            <a:avLst>
              <a:gd name="adj1" fmla="val 50000"/>
              <a:gd name="adj2" fmla="val 50000"/>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b="1"/>
          </a:p>
        </p:txBody>
      </p:sp>
    </p:spTree>
  </p:cSld>
  <p:clrMapOvr>
    <a:masterClrMapping/>
  </p:clrMapOvr>
  <p:transition spd="med">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7188" y="1643063"/>
            <a:ext cx="8281987"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9.2 </a:t>
            </a:r>
            <a:r>
              <a:rPr lang="zh-CN" altLang="zh-CN" sz="2000" b="1">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8" name="标题 1"/>
          <p:cNvSpPr txBox="1"/>
          <p:nvPr/>
        </p:nvSpPr>
        <p:spPr bwMode="auto">
          <a:xfrm>
            <a:off x="214282" y="500048"/>
            <a:ext cx="3000396"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9.2.2 </a:t>
            </a:r>
            <a:r>
              <a:rPr lang="en-US" altLang="en-US" sz="2000" dirty="0"/>
              <a:t>STRIDE</a:t>
            </a:r>
            <a:r>
              <a:rPr altLang="en-US" sz="2000" dirty="0"/>
              <a:t>威胁建模</a:t>
            </a:r>
          </a:p>
        </p:txBody>
      </p:sp>
      <p:sp>
        <p:nvSpPr>
          <p:cNvPr id="18437" name="内容占位符 2"/>
          <p:cNvSpPr>
            <a:spLocks noGrp="1"/>
          </p:cNvSpPr>
          <p:nvPr>
            <p:ph idx="1"/>
          </p:nvPr>
        </p:nvSpPr>
        <p:spPr>
          <a:xfrm>
            <a:off x="357188" y="1143000"/>
            <a:ext cx="4143375" cy="428625"/>
          </a:xfrm>
        </p:spPr>
        <p:txBody>
          <a:bodyPr/>
          <a:lstStyle/>
          <a:p>
            <a:r>
              <a:rPr lang="zh-CN" altLang="en-US" b="1"/>
              <a:t>下表将</a:t>
            </a:r>
            <a:r>
              <a:rPr lang="en-US" altLang="zh-CN" b="1"/>
              <a:t>STRIDE</a:t>
            </a:r>
            <a:r>
              <a:rPr lang="zh-CN" altLang="en-US" b="1"/>
              <a:t>映射到每个安全属性上。</a:t>
            </a:r>
          </a:p>
        </p:txBody>
      </p:sp>
    </p:spTree>
  </p:cSld>
  <p:clrMapOvr>
    <a:masterClrMapping/>
  </p:clrMapOvr>
  <p:transition spd="med">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2"/>
          <p:cNvSpPr>
            <a:spLocks noGrp="1"/>
          </p:cNvSpPr>
          <p:nvPr>
            <p:ph idx="1"/>
          </p:nvPr>
        </p:nvSpPr>
        <p:spPr>
          <a:xfrm>
            <a:off x="428625" y="1000125"/>
            <a:ext cx="4643438" cy="1000125"/>
          </a:xfrm>
        </p:spPr>
        <p:txBody>
          <a:bodyPr/>
          <a:lstStyle/>
          <a:p>
            <a:pPr>
              <a:buFont typeface="Wingdings" panose="05000000000000000000" pitchFamily="2" charset="2"/>
              <a:buNone/>
            </a:pPr>
            <a:r>
              <a:rPr lang="en-US" altLang="zh-CN" sz="2000" b="1">
                <a:solidFill>
                  <a:srgbClr val="FF0000"/>
                </a:solidFill>
              </a:rPr>
              <a:t>2. </a:t>
            </a:r>
            <a:r>
              <a:rPr lang="zh-CN" altLang="zh-CN" sz="2000" b="1">
                <a:solidFill>
                  <a:srgbClr val="FF0000"/>
                </a:solidFill>
              </a:rPr>
              <a:t>威胁建模的过程</a:t>
            </a:r>
          </a:p>
          <a:p>
            <a:r>
              <a:rPr lang="zh-CN" altLang="zh-CN" sz="1800" b="1">
                <a:solidFill>
                  <a:srgbClr val="0033CC"/>
                </a:solidFill>
              </a:rPr>
              <a:t>威胁建模的过程</a:t>
            </a:r>
            <a:r>
              <a:rPr lang="zh-CN" altLang="zh-CN" sz="1800" b="1">
                <a:solidFill>
                  <a:srgbClr val="FF0000"/>
                </a:solidFill>
              </a:rPr>
              <a:t>主要有</a:t>
            </a:r>
            <a:r>
              <a:rPr lang="en-US" altLang="zh-CN" sz="1800" b="1">
                <a:solidFill>
                  <a:srgbClr val="0033CC"/>
                </a:solidFill>
              </a:rPr>
              <a:t>4</a:t>
            </a:r>
            <a:r>
              <a:rPr lang="zh-CN" altLang="zh-CN" sz="1800" b="1">
                <a:solidFill>
                  <a:srgbClr val="0033CC"/>
                </a:solidFill>
              </a:rPr>
              <a:t>个方面</a:t>
            </a:r>
            <a:r>
              <a:rPr lang="zh-CN" altLang="zh-CN" sz="1800" b="1"/>
              <a:t>。</a:t>
            </a:r>
            <a:endParaRPr lang="en-US" altLang="zh-CN" sz="1800" b="1"/>
          </a:p>
        </p:txBody>
      </p:sp>
      <p:sp>
        <p:nvSpPr>
          <p:cNvPr id="6"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9.2 </a:t>
            </a:r>
            <a:r>
              <a:rPr lang="zh-CN" altLang="zh-CN" sz="2000" b="1">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00048"/>
            <a:ext cx="3000396"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9.2.2 </a:t>
            </a:r>
            <a:r>
              <a:rPr lang="en-US" altLang="en-US" sz="2000" dirty="0"/>
              <a:t>STRIDE</a:t>
            </a:r>
            <a:r>
              <a:rPr altLang="en-US" sz="2000" dirty="0"/>
              <a:t>威胁建模</a:t>
            </a:r>
          </a:p>
        </p:txBody>
      </p:sp>
      <p:sp>
        <p:nvSpPr>
          <p:cNvPr id="19461" name="左大括号 4"/>
          <p:cNvSpPr/>
          <p:nvPr/>
        </p:nvSpPr>
        <p:spPr bwMode="auto">
          <a:xfrm>
            <a:off x="2571750" y="2214563"/>
            <a:ext cx="285750" cy="1714500"/>
          </a:xfrm>
          <a:prstGeom prst="leftBrace">
            <a:avLst>
              <a:gd name="adj1" fmla="val 35111"/>
              <a:gd name="adj2" fmla="val 50000"/>
            </a:avLst>
          </a:prstGeom>
          <a:noFill/>
          <a:ln w="28575" algn="ctr">
            <a:solidFill>
              <a:srgbClr val="C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solidFill>
                <a:srgbClr val="0033CC"/>
              </a:solidFill>
            </a:endParaRPr>
          </a:p>
        </p:txBody>
      </p:sp>
      <p:sp>
        <p:nvSpPr>
          <p:cNvPr id="9" name="TextBox 6"/>
          <p:cNvSpPr txBox="1">
            <a:spLocks noChangeArrowheads="1"/>
          </p:cNvSpPr>
          <p:nvPr/>
        </p:nvSpPr>
        <p:spPr bwMode="auto">
          <a:xfrm>
            <a:off x="2786063" y="2143125"/>
            <a:ext cx="3730625" cy="369888"/>
          </a:xfrm>
          <a:prstGeom prst="rect">
            <a:avLst/>
          </a:prstGeom>
          <a:noFill/>
          <a:ln w="9525">
            <a:noFill/>
            <a:miter lim="800000"/>
          </a:ln>
        </p:spPr>
        <p:txBody>
          <a:bodyPr>
            <a:spAutoFit/>
          </a:bodyPr>
          <a:lstStyle/>
          <a:p>
            <a:pPr>
              <a:defRPr/>
            </a:pPr>
            <a:r>
              <a:rPr lang="en-US" altLang="zh-CN" sz="1800" b="1" u="sng" dirty="0">
                <a:solidFill>
                  <a:srgbClr val="0033CC"/>
                </a:solidFill>
                <a:effectLst>
                  <a:outerShdw blurRad="38100" dist="38100" dir="2700000" algn="tl">
                    <a:srgbClr val="000000">
                      <a:alpha val="43137"/>
                    </a:srgbClr>
                  </a:outerShdw>
                </a:effectLst>
                <a:latin typeface="Arial" panose="020B0604020202020204" pitchFamily="34" charset="0"/>
              </a:rPr>
              <a:t>(1)</a:t>
            </a:r>
            <a:r>
              <a:rPr lang="zh-CN" altLang="zh-CN" sz="1800" b="1" u="sng" dirty="0">
                <a:solidFill>
                  <a:srgbClr val="0033CC"/>
                </a:solidFill>
                <a:effectLst>
                  <a:outerShdw blurRad="38100" dist="38100" dir="2700000" algn="tl">
                    <a:srgbClr val="000000">
                      <a:alpha val="43137"/>
                    </a:srgbClr>
                  </a:outerShdw>
                </a:effectLst>
                <a:latin typeface="Arial" panose="020B0604020202020204" pitchFamily="34" charset="0"/>
              </a:rPr>
              <a:t>发现已知的对系统的威胁</a:t>
            </a:r>
          </a:p>
        </p:txBody>
      </p:sp>
      <p:sp>
        <p:nvSpPr>
          <p:cNvPr id="19463" name="TextBox 6"/>
          <p:cNvSpPr txBox="1">
            <a:spLocks noChangeArrowheads="1"/>
          </p:cNvSpPr>
          <p:nvPr/>
        </p:nvSpPr>
        <p:spPr bwMode="auto">
          <a:xfrm>
            <a:off x="2786063" y="2643188"/>
            <a:ext cx="3730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en-US" altLang="zh-CN" sz="1800" b="1">
                <a:solidFill>
                  <a:srgbClr val="0033CC"/>
                </a:solidFill>
              </a:rPr>
              <a:t>(2)</a:t>
            </a:r>
            <a:r>
              <a:rPr lang="zh-CN" altLang="zh-CN" sz="1800" b="1">
                <a:solidFill>
                  <a:srgbClr val="0033CC"/>
                </a:solidFill>
              </a:rPr>
              <a:t>将威胁以风险从高到低排序</a:t>
            </a:r>
          </a:p>
        </p:txBody>
      </p:sp>
      <p:sp>
        <p:nvSpPr>
          <p:cNvPr id="19464" name="TextBox 6"/>
          <p:cNvSpPr txBox="1">
            <a:spLocks noChangeArrowheads="1"/>
          </p:cNvSpPr>
          <p:nvPr/>
        </p:nvSpPr>
        <p:spPr bwMode="auto">
          <a:xfrm>
            <a:off x="2786063" y="3143250"/>
            <a:ext cx="3730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en-US" altLang="zh-CN" sz="1800" b="1">
                <a:solidFill>
                  <a:srgbClr val="0033CC"/>
                </a:solidFill>
              </a:rPr>
              <a:t>(3)</a:t>
            </a:r>
            <a:r>
              <a:rPr lang="zh-CN" altLang="zh-CN" sz="1800" b="1">
                <a:solidFill>
                  <a:srgbClr val="0033CC"/>
                </a:solidFill>
              </a:rPr>
              <a:t>确定减少威胁的技术</a:t>
            </a:r>
          </a:p>
        </p:txBody>
      </p:sp>
      <p:sp>
        <p:nvSpPr>
          <p:cNvPr id="19465" name="TextBox 6"/>
          <p:cNvSpPr txBox="1">
            <a:spLocks noChangeArrowheads="1"/>
          </p:cNvSpPr>
          <p:nvPr/>
        </p:nvSpPr>
        <p:spPr bwMode="auto">
          <a:xfrm>
            <a:off x="2786063" y="3643313"/>
            <a:ext cx="3730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en-US" altLang="zh-CN" sz="1800" b="1">
                <a:solidFill>
                  <a:srgbClr val="0033CC"/>
                </a:solidFill>
              </a:rPr>
              <a:t>(4)</a:t>
            </a:r>
            <a:r>
              <a:rPr lang="zh-CN" altLang="zh-CN" sz="1800" b="1">
                <a:solidFill>
                  <a:srgbClr val="0033CC"/>
                </a:solidFill>
              </a:rPr>
              <a:t>选择合适的技术</a:t>
            </a:r>
          </a:p>
        </p:txBody>
      </p:sp>
      <p:sp>
        <p:nvSpPr>
          <p:cNvPr id="13" name="内容占位符 2"/>
          <p:cNvSpPr txBox="1"/>
          <p:nvPr/>
        </p:nvSpPr>
        <p:spPr bwMode="auto">
          <a:xfrm>
            <a:off x="500063" y="4071938"/>
            <a:ext cx="8072437" cy="357187"/>
          </a:xfrm>
          <a:prstGeom prst="rect">
            <a:avLst/>
          </a:prstGeom>
          <a:noFill/>
          <a:ln w="9525">
            <a:noFill/>
            <a:miter lim="800000"/>
          </a:ln>
        </p:spPr>
        <p:txBody>
          <a:bodyPr/>
          <a:lstStyle/>
          <a:p>
            <a:pPr marL="342900" indent="-342900">
              <a:lnSpc>
                <a:spcPct val="150000"/>
              </a:lnSpc>
              <a:buClr>
                <a:srgbClr val="E46C0A"/>
              </a:buClr>
              <a:defRPr/>
            </a:pPr>
            <a:r>
              <a:rPr lang="zh-CN" altLang="zh-CN" sz="1800" b="1" kern="0" dirty="0">
                <a:solidFill>
                  <a:srgbClr val="FF0000"/>
                </a:solidFill>
                <a:latin typeface="+mj-ea"/>
                <a:ea typeface="+mj-ea"/>
              </a:rPr>
              <a:t>以上过程可能反复进行多次</a:t>
            </a:r>
            <a:r>
              <a:rPr lang="zh-CN" altLang="zh-CN" sz="1800" b="1" kern="0" dirty="0">
                <a:latin typeface="+mj-ea"/>
                <a:ea typeface="+mj-ea"/>
              </a:rPr>
              <a:t>，因为一次标识所有可能的威胁是很困难的。</a:t>
            </a:r>
            <a:endParaRPr lang="en-US" altLang="zh-CN" sz="1800" b="1" kern="0" dirty="0">
              <a:latin typeface="+mj-ea"/>
              <a:ea typeface="+mj-ea"/>
            </a:endParaRPr>
          </a:p>
        </p:txBody>
      </p:sp>
    </p:spTree>
  </p:cSld>
  <p:clrMapOvr>
    <a:masterClrMapping/>
  </p:clrMapOvr>
  <p:transition spd="med">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428625" y="1571625"/>
            <a:ext cx="8358188" cy="1571625"/>
          </a:xfrm>
        </p:spPr>
        <p:txBody>
          <a:bodyPr/>
          <a:lstStyle/>
          <a:p>
            <a:pPr marL="0" indent="0">
              <a:buFont typeface="Wingdings" panose="05000000000000000000" pitchFamily="2" charset="2"/>
              <a:buNone/>
              <a:defRPr/>
            </a:pPr>
            <a:endParaRPr lang="en-US" altLang="zh-CN" sz="1400" b="1" dirty="0"/>
          </a:p>
          <a:p>
            <a:pPr>
              <a:buFont typeface="Wingdings" panose="05000000000000000000" pitchFamily="2" charset="2"/>
              <a:buNone/>
              <a:defRPr/>
            </a:pPr>
            <a:r>
              <a:rPr lang="en-US" altLang="zh-CN" sz="1800" b="1" u="sng" dirty="0">
                <a:solidFill>
                  <a:srgbClr val="0033CC"/>
                </a:solidFill>
                <a:effectLst>
                  <a:outerShdw blurRad="38100" dist="38100" dir="2700000" algn="tl">
                    <a:srgbClr val="000000">
                      <a:alpha val="43137"/>
                    </a:srgbClr>
                  </a:outerShdw>
                </a:effectLst>
              </a:rPr>
              <a:t>(1) </a:t>
            </a:r>
            <a:r>
              <a:rPr lang="zh-CN" altLang="en-US" sz="1800" b="1" u="sng" dirty="0">
                <a:solidFill>
                  <a:srgbClr val="0033CC"/>
                </a:solidFill>
                <a:effectLst>
                  <a:outerShdw blurRad="38100" dist="38100" dir="2700000" algn="tl">
                    <a:srgbClr val="000000">
                      <a:alpha val="43137"/>
                    </a:srgbClr>
                  </a:outerShdw>
                </a:effectLst>
              </a:rPr>
              <a:t>发现已知的对系统的威胁</a:t>
            </a:r>
            <a:r>
              <a:rPr lang="zh-CN" altLang="en-US" b="1" u="sng" dirty="0">
                <a:solidFill>
                  <a:srgbClr val="0033CC"/>
                </a:solidFill>
                <a:effectLst>
                  <a:outerShdw blurRad="38100" dist="38100" dir="2700000" algn="tl">
                    <a:srgbClr val="000000">
                      <a:alpha val="43137"/>
                    </a:srgbClr>
                  </a:outerShdw>
                </a:effectLst>
              </a:rPr>
              <a:t>。</a:t>
            </a:r>
            <a:r>
              <a:rPr lang="zh-CN" altLang="en-US" b="1" dirty="0"/>
              <a:t>观察应用程序的每一部分，为组件或进程判断是否有任何</a:t>
            </a:r>
            <a:r>
              <a:rPr lang="en-US" altLang="zh-CN" b="1" dirty="0"/>
              <a:t>S</a:t>
            </a:r>
            <a:r>
              <a:rPr lang="zh-CN" altLang="en-US" b="1" dirty="0"/>
              <a:t>、</a:t>
            </a:r>
            <a:r>
              <a:rPr lang="en-US" altLang="zh-CN" b="1" dirty="0"/>
              <a:t>T</a:t>
            </a:r>
            <a:r>
              <a:rPr lang="zh-CN" altLang="en-US" b="1" dirty="0"/>
              <a:t>、</a:t>
            </a:r>
            <a:r>
              <a:rPr lang="en-US" altLang="zh-CN" b="1" dirty="0"/>
              <a:t>R</a:t>
            </a:r>
            <a:r>
              <a:rPr lang="zh-CN" altLang="en-US" b="1" dirty="0"/>
              <a:t>、</a:t>
            </a:r>
            <a:r>
              <a:rPr lang="en-US" altLang="zh-CN" b="1" dirty="0"/>
              <a:t>I</a:t>
            </a:r>
            <a:r>
              <a:rPr lang="zh-CN" altLang="en-US" b="1" dirty="0"/>
              <a:t>、</a:t>
            </a:r>
            <a:r>
              <a:rPr lang="en-US" altLang="zh-CN" b="1" dirty="0"/>
              <a:t>D</a:t>
            </a:r>
            <a:r>
              <a:rPr lang="zh-CN" altLang="en-US" b="1" dirty="0"/>
              <a:t>或者</a:t>
            </a:r>
            <a:r>
              <a:rPr lang="en-US" altLang="zh-CN" b="1" dirty="0"/>
              <a:t>E</a:t>
            </a:r>
            <a:r>
              <a:rPr lang="zh-CN" altLang="en-US" b="1" dirty="0"/>
              <a:t>威胁存在。大部分都会存在许多威胁，将它们都记录下来是很重要的。</a:t>
            </a:r>
            <a:endParaRPr lang="en-US" altLang="zh-CN" b="1" dirty="0"/>
          </a:p>
        </p:txBody>
      </p:sp>
      <p:sp>
        <p:nvSpPr>
          <p:cNvPr id="6"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9.2 </a:t>
            </a:r>
            <a:r>
              <a:rPr lang="zh-CN" altLang="zh-CN" sz="2000" b="1">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00048"/>
            <a:ext cx="3000396"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9.2.2 </a:t>
            </a:r>
            <a:r>
              <a:rPr lang="en-US" altLang="en-US" sz="2000" dirty="0"/>
              <a:t>STRIDE</a:t>
            </a:r>
            <a:r>
              <a:rPr altLang="en-US" sz="2000" dirty="0"/>
              <a:t>威胁建模</a:t>
            </a:r>
          </a:p>
        </p:txBody>
      </p:sp>
    </p:spTree>
  </p:cSld>
  <p:clrMapOvr>
    <a:masterClrMapping/>
  </p:clrMapOvr>
  <p:transition spd="med">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20638" y="536575"/>
            <a:ext cx="9144001" cy="4392613"/>
          </a:xfrm>
        </p:spPr>
        <p:txBody>
          <a:bodyPr/>
          <a:lstStyle/>
          <a:p>
            <a:pPr marL="0" indent="0">
              <a:buFont typeface="Wingdings" panose="05000000000000000000" pitchFamily="2" charset="2"/>
              <a:buNone/>
              <a:defRPr/>
            </a:pPr>
            <a:endParaRPr lang="en-US" altLang="zh-CN" sz="1400" b="1" dirty="0"/>
          </a:p>
          <a:p>
            <a:pPr>
              <a:buFont typeface="Wingdings" panose="05000000000000000000" pitchFamily="2" charset="2"/>
              <a:buChar char="l"/>
              <a:defRPr/>
            </a:pPr>
            <a:r>
              <a:rPr lang="zh-CN" altLang="zh-CN" b="1" dirty="0">
                <a:solidFill>
                  <a:srgbClr val="0033CC"/>
                </a:solidFill>
              </a:rPr>
              <a:t>对基于</a:t>
            </a:r>
            <a:r>
              <a:rPr lang="en-US" altLang="zh-CN" b="1" dirty="0">
                <a:solidFill>
                  <a:srgbClr val="0033CC"/>
                </a:solidFill>
              </a:rPr>
              <a:t>Web</a:t>
            </a:r>
            <a:r>
              <a:rPr lang="zh-CN" altLang="zh-CN" b="1" dirty="0">
                <a:solidFill>
                  <a:srgbClr val="0033CC"/>
                </a:solidFill>
              </a:rPr>
              <a:t>的工资应用程序的一些威胁</a:t>
            </a:r>
            <a:r>
              <a:rPr lang="zh-CN" altLang="zh-CN" b="1" dirty="0"/>
              <a:t>，</a:t>
            </a:r>
            <a:r>
              <a:rPr lang="zh-CN" altLang="zh-CN" b="1" dirty="0">
                <a:solidFill>
                  <a:srgbClr val="FF0000"/>
                </a:solidFill>
              </a:rPr>
              <a:t>包括如下几方面</a:t>
            </a:r>
            <a:r>
              <a:rPr lang="zh-CN" altLang="zh-CN" b="1" dirty="0"/>
              <a:t>。</a:t>
            </a:r>
          </a:p>
          <a:p>
            <a:pPr>
              <a:buFont typeface="Wingdings" panose="05000000000000000000" pitchFamily="2" charset="2"/>
              <a:buChar char="Ø"/>
              <a:defRPr/>
            </a:pPr>
            <a:r>
              <a:rPr lang="zh-CN" altLang="zh-CN" sz="1400" b="1" dirty="0">
                <a:solidFill>
                  <a:srgbClr val="0033CC"/>
                </a:solidFill>
              </a:rPr>
              <a:t>威胁</a:t>
            </a:r>
            <a:r>
              <a:rPr lang="en-US" altLang="zh-CN" sz="1400" b="1" dirty="0">
                <a:solidFill>
                  <a:srgbClr val="0033CC"/>
                </a:solidFill>
              </a:rPr>
              <a:t>1</a:t>
            </a:r>
            <a:r>
              <a:rPr lang="zh-CN" altLang="zh-CN" sz="1400" b="1" dirty="0"/>
              <a:t>：一个恶意用户，在从</a:t>
            </a:r>
            <a:r>
              <a:rPr lang="en-US" altLang="zh-CN" sz="1400" b="1" dirty="0"/>
              <a:t>Web</a:t>
            </a:r>
            <a:r>
              <a:rPr lang="zh-CN" altLang="zh-CN" sz="1400" b="1" dirty="0"/>
              <a:t>服务器到客户端的途中，或在从客户端到</a:t>
            </a:r>
            <a:r>
              <a:rPr lang="en-US" altLang="zh-CN" sz="1400" b="1" dirty="0"/>
              <a:t>Web</a:t>
            </a:r>
            <a:r>
              <a:rPr lang="zh-CN" altLang="zh-CN" sz="1400" b="1" dirty="0"/>
              <a:t>服务器的途中，查看或者篡改个人工资数据。</a:t>
            </a:r>
            <a:endParaRPr lang="en-US" altLang="zh-CN" sz="1400" b="1" dirty="0"/>
          </a:p>
          <a:p>
            <a:pPr>
              <a:buFont typeface="Wingdings" panose="05000000000000000000" pitchFamily="2" charset="2"/>
              <a:buChar char="Ø"/>
              <a:defRPr/>
            </a:pPr>
            <a:r>
              <a:rPr lang="zh-CN" altLang="zh-CN" sz="1400" b="1" dirty="0">
                <a:solidFill>
                  <a:srgbClr val="0033CC"/>
                </a:solidFill>
              </a:rPr>
              <a:t>威胁</a:t>
            </a:r>
            <a:r>
              <a:rPr lang="en-US" altLang="zh-CN" sz="1400" b="1" dirty="0">
                <a:solidFill>
                  <a:srgbClr val="0033CC"/>
                </a:solidFill>
              </a:rPr>
              <a:t>2</a:t>
            </a:r>
            <a:r>
              <a:rPr lang="zh-CN" altLang="zh-CN" sz="1400" b="1" dirty="0"/>
              <a:t>：一个恶意用户，在从</a:t>
            </a:r>
            <a:r>
              <a:rPr lang="en-US" altLang="zh-CN" sz="1400" b="1" dirty="0"/>
              <a:t>Web</a:t>
            </a:r>
            <a:r>
              <a:rPr lang="zh-CN" altLang="zh-CN" sz="1400" b="1" dirty="0"/>
              <a:t>服务器到</a:t>
            </a:r>
            <a:r>
              <a:rPr lang="en-US" altLang="zh-CN" sz="1400" b="1" dirty="0"/>
              <a:t>COM</a:t>
            </a:r>
            <a:r>
              <a:rPr lang="zh-CN" altLang="zh-CN" sz="1400" b="1" dirty="0"/>
              <a:t>组件的途中，或在从</a:t>
            </a:r>
            <a:r>
              <a:rPr lang="en-US" altLang="zh-CN" sz="1400" b="1" dirty="0"/>
              <a:t>COM</a:t>
            </a:r>
            <a:r>
              <a:rPr lang="zh-CN" altLang="zh-CN" sz="1400" b="1" dirty="0"/>
              <a:t>组件到</a:t>
            </a:r>
            <a:r>
              <a:rPr lang="en-US" altLang="zh-CN" sz="1400" b="1" dirty="0"/>
              <a:t>Web</a:t>
            </a:r>
            <a:r>
              <a:rPr lang="zh-CN" altLang="zh-CN" sz="1400" b="1" dirty="0"/>
              <a:t>服务器的途中，查看或篡改个人工资数据</a:t>
            </a:r>
            <a:r>
              <a:rPr lang="zh-CN" altLang="en-US" sz="1400" b="1" dirty="0"/>
              <a:t>。</a:t>
            </a:r>
            <a:endParaRPr lang="en-US" altLang="zh-CN" sz="1400" b="1" dirty="0"/>
          </a:p>
          <a:p>
            <a:pPr>
              <a:buFont typeface="Wingdings" panose="05000000000000000000" pitchFamily="2" charset="2"/>
              <a:buChar char="Ø"/>
              <a:defRPr/>
            </a:pPr>
            <a:r>
              <a:rPr lang="zh-CN" altLang="zh-CN" sz="1400" b="1" dirty="0">
                <a:solidFill>
                  <a:srgbClr val="0033CC"/>
                </a:solidFill>
              </a:rPr>
              <a:t>威胁</a:t>
            </a:r>
            <a:r>
              <a:rPr lang="en-US" altLang="zh-CN" sz="1400" b="1" dirty="0">
                <a:solidFill>
                  <a:srgbClr val="0033CC"/>
                </a:solidFill>
              </a:rPr>
              <a:t>3</a:t>
            </a:r>
            <a:r>
              <a:rPr lang="zh-CN" altLang="zh-CN" sz="1400" b="1" dirty="0"/>
              <a:t>：一个恶意用户，直接在数据库中访问或篡改工资数据。</a:t>
            </a:r>
            <a:endParaRPr lang="en-US" altLang="zh-CN" sz="1400" b="1" dirty="0"/>
          </a:p>
          <a:p>
            <a:pPr>
              <a:buFont typeface="Wingdings" panose="05000000000000000000" pitchFamily="2" charset="2"/>
              <a:buChar char="Ø"/>
              <a:defRPr/>
            </a:pPr>
            <a:r>
              <a:rPr lang="zh-CN" altLang="zh-CN" sz="1400" b="1" dirty="0">
                <a:solidFill>
                  <a:srgbClr val="0033CC"/>
                </a:solidFill>
              </a:rPr>
              <a:t>威胁</a:t>
            </a:r>
            <a:r>
              <a:rPr lang="en-US" altLang="zh-CN" sz="1400" b="1" dirty="0">
                <a:solidFill>
                  <a:srgbClr val="0033CC"/>
                </a:solidFill>
              </a:rPr>
              <a:t>4</a:t>
            </a:r>
            <a:r>
              <a:rPr lang="zh-CN" altLang="zh-CN" sz="1400" b="1" dirty="0"/>
              <a:t>：一个恶意用户，查看</a:t>
            </a:r>
            <a:r>
              <a:rPr lang="en-US" altLang="zh-CN" sz="1400" b="1" dirty="0"/>
              <a:t>LDAP</a:t>
            </a:r>
            <a:r>
              <a:rPr lang="zh-CN" altLang="zh-CN" sz="1400" b="1" dirty="0"/>
              <a:t>认证包，并学习如何恢复它们，以便他能够冒充别的用户。</a:t>
            </a:r>
            <a:endParaRPr lang="en-US" altLang="zh-CN" sz="1400" b="1" dirty="0"/>
          </a:p>
          <a:p>
            <a:pPr>
              <a:buFont typeface="Wingdings" panose="05000000000000000000" pitchFamily="2" charset="2"/>
              <a:buChar char="Ø"/>
              <a:defRPr/>
            </a:pPr>
            <a:r>
              <a:rPr lang="zh-CN" altLang="zh-CN" sz="1400" b="1" dirty="0">
                <a:solidFill>
                  <a:srgbClr val="0033CC"/>
                </a:solidFill>
              </a:rPr>
              <a:t>威胁</a:t>
            </a:r>
            <a:r>
              <a:rPr lang="en-US" altLang="zh-CN" sz="1400" b="1" dirty="0">
                <a:solidFill>
                  <a:srgbClr val="0033CC"/>
                </a:solidFill>
              </a:rPr>
              <a:t>5</a:t>
            </a:r>
            <a:r>
              <a:rPr lang="zh-CN" altLang="zh-CN" sz="1400" b="1" dirty="0"/>
              <a:t>：一个恶意用户，通过改变一个或多个</a:t>
            </a:r>
            <a:r>
              <a:rPr lang="en-US" altLang="zh-CN" sz="1400" b="1" dirty="0"/>
              <a:t>Web</a:t>
            </a:r>
            <a:r>
              <a:rPr lang="zh-CN" altLang="zh-CN" sz="1400" b="1" dirty="0"/>
              <a:t>页，来丑化</a:t>
            </a:r>
            <a:r>
              <a:rPr lang="en-US" altLang="zh-CN" sz="1400" b="1" dirty="0"/>
              <a:t>Web</a:t>
            </a:r>
            <a:r>
              <a:rPr lang="zh-CN" altLang="zh-CN" sz="1400" b="1" dirty="0"/>
              <a:t>服务器。</a:t>
            </a:r>
            <a:endParaRPr lang="en-US" altLang="zh-CN" sz="1400" b="1" dirty="0"/>
          </a:p>
          <a:p>
            <a:pPr>
              <a:buFont typeface="Wingdings" panose="05000000000000000000" pitchFamily="2" charset="2"/>
              <a:buChar char="Ø"/>
              <a:defRPr/>
            </a:pPr>
            <a:r>
              <a:rPr lang="zh-CN" altLang="zh-CN" sz="1400" b="1" dirty="0">
                <a:solidFill>
                  <a:srgbClr val="0033CC"/>
                </a:solidFill>
              </a:rPr>
              <a:t>威胁</a:t>
            </a:r>
            <a:r>
              <a:rPr lang="en-US" altLang="zh-CN" sz="1400" b="1" dirty="0">
                <a:solidFill>
                  <a:srgbClr val="0033CC"/>
                </a:solidFill>
              </a:rPr>
              <a:t>6</a:t>
            </a:r>
            <a:r>
              <a:rPr lang="zh-CN" altLang="zh-CN" sz="1400" b="1" dirty="0"/>
              <a:t>：一名攻击者通过发送大量的</a:t>
            </a:r>
            <a:r>
              <a:rPr lang="en-US" altLang="zh-CN" sz="1400" b="1" dirty="0"/>
              <a:t>TCP/IP</a:t>
            </a:r>
            <a:r>
              <a:rPr lang="zh-CN" altLang="zh-CN" sz="1400" b="1" dirty="0"/>
              <a:t>包，使工资数据库服务器计算机拒绝访问。</a:t>
            </a:r>
            <a:endParaRPr lang="en-US" altLang="zh-CN" sz="1400" b="1" dirty="0"/>
          </a:p>
          <a:p>
            <a:pPr>
              <a:buFont typeface="Wingdings" panose="05000000000000000000" pitchFamily="2" charset="2"/>
              <a:buChar char="Ø"/>
              <a:defRPr/>
            </a:pPr>
            <a:r>
              <a:rPr lang="zh-CN" altLang="zh-CN" sz="1400" b="1" dirty="0">
                <a:solidFill>
                  <a:srgbClr val="0033CC"/>
                </a:solidFill>
              </a:rPr>
              <a:t>威胁</a:t>
            </a:r>
            <a:r>
              <a:rPr lang="en-US" altLang="zh-CN" sz="1400" b="1" dirty="0">
                <a:solidFill>
                  <a:srgbClr val="0033CC"/>
                </a:solidFill>
              </a:rPr>
              <a:t>7</a:t>
            </a:r>
            <a:r>
              <a:rPr lang="zh-CN" altLang="zh-CN" sz="1400" b="1" dirty="0"/>
              <a:t>：一名攻击者删除或者修改审核日志。</a:t>
            </a:r>
            <a:endParaRPr lang="en-US" altLang="zh-CN" sz="1400" b="1" dirty="0"/>
          </a:p>
          <a:p>
            <a:pPr>
              <a:buFont typeface="Wingdings" panose="05000000000000000000" pitchFamily="2" charset="2"/>
              <a:buChar char="Ø"/>
              <a:defRPr/>
            </a:pPr>
            <a:r>
              <a:rPr lang="zh-CN" altLang="zh-CN" sz="1400" b="1" dirty="0">
                <a:solidFill>
                  <a:srgbClr val="0033CC"/>
                </a:solidFill>
              </a:rPr>
              <a:t>威胁</a:t>
            </a:r>
            <a:r>
              <a:rPr lang="en-US" altLang="zh-CN" sz="1400" b="1" dirty="0">
                <a:solidFill>
                  <a:srgbClr val="0033CC"/>
                </a:solidFill>
              </a:rPr>
              <a:t>8</a:t>
            </a:r>
            <a:r>
              <a:rPr lang="zh-CN" altLang="zh-CN" sz="1400" b="1" dirty="0"/>
              <a:t>：一名攻击者使用分布式</a:t>
            </a:r>
            <a:r>
              <a:rPr lang="en-US" altLang="zh-CN" sz="1400" b="1" dirty="0" err="1"/>
              <a:t>DoS</a:t>
            </a:r>
            <a:r>
              <a:rPr lang="zh-CN" altLang="zh-CN" sz="1400" b="1" dirty="0"/>
              <a:t>攻击，杀死真正的工资服务器后，将他自己的工资</a:t>
            </a:r>
            <a:r>
              <a:rPr lang="en-US" altLang="zh-CN" sz="1400" b="1" dirty="0"/>
              <a:t>Web</a:t>
            </a:r>
            <a:r>
              <a:rPr lang="zh-CN" altLang="zh-CN" sz="1400" b="1" dirty="0"/>
              <a:t>服务器放在网络上</a:t>
            </a:r>
          </a:p>
          <a:p>
            <a:pPr>
              <a:buFont typeface="Wingdings" panose="05000000000000000000" pitchFamily="2" charset="2"/>
              <a:buChar char="l"/>
              <a:defRPr/>
            </a:pPr>
            <a:endParaRPr lang="en-US" altLang="zh-CN" b="1" dirty="0"/>
          </a:p>
        </p:txBody>
      </p:sp>
      <p:sp>
        <p:nvSpPr>
          <p:cNvPr id="6"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9.2 </a:t>
            </a:r>
            <a:r>
              <a:rPr lang="zh-CN" altLang="zh-CN" sz="2000" b="1">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00048"/>
            <a:ext cx="3000396"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9.2.2 </a:t>
            </a:r>
            <a:r>
              <a:rPr lang="en-US" altLang="en-US" sz="2000" dirty="0"/>
              <a:t>STRIDE</a:t>
            </a:r>
            <a:r>
              <a:rPr altLang="en-US" sz="2000" dirty="0"/>
              <a:t>威胁建模</a:t>
            </a:r>
          </a:p>
        </p:txBody>
      </p:sp>
    </p:spTree>
  </p:cSld>
  <p:clrMapOvr>
    <a:masterClrMapping/>
  </p:clrMapOvr>
  <p:transition spd="med">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2"/>
          <p:cNvSpPr>
            <a:spLocks noGrp="1"/>
          </p:cNvSpPr>
          <p:nvPr>
            <p:ph idx="1"/>
          </p:nvPr>
        </p:nvSpPr>
        <p:spPr>
          <a:xfrm>
            <a:off x="428625" y="1000125"/>
            <a:ext cx="4643438" cy="1000125"/>
          </a:xfrm>
        </p:spPr>
        <p:txBody>
          <a:bodyPr/>
          <a:lstStyle/>
          <a:p>
            <a:pPr>
              <a:buFont typeface="Wingdings" panose="05000000000000000000" pitchFamily="2" charset="2"/>
              <a:buNone/>
            </a:pPr>
            <a:r>
              <a:rPr lang="en-US" altLang="zh-CN" sz="2000" b="1">
                <a:solidFill>
                  <a:srgbClr val="FF0000"/>
                </a:solidFill>
              </a:rPr>
              <a:t>2.</a:t>
            </a:r>
            <a:r>
              <a:rPr lang="zh-CN" altLang="zh-CN" sz="2000" b="1">
                <a:solidFill>
                  <a:srgbClr val="FF0000"/>
                </a:solidFill>
              </a:rPr>
              <a:t>威胁建模的过程</a:t>
            </a:r>
          </a:p>
          <a:p>
            <a:r>
              <a:rPr lang="zh-CN" altLang="zh-CN" sz="1800" b="1"/>
              <a:t>威胁建模的过程主要有</a:t>
            </a:r>
            <a:r>
              <a:rPr lang="en-US" altLang="zh-CN" sz="1800" b="1"/>
              <a:t>4</a:t>
            </a:r>
            <a:r>
              <a:rPr lang="zh-CN" altLang="zh-CN" sz="1800" b="1"/>
              <a:t>个方面。</a:t>
            </a:r>
            <a:endParaRPr lang="en-US" altLang="zh-CN" sz="1800" b="1"/>
          </a:p>
        </p:txBody>
      </p:sp>
      <p:sp>
        <p:nvSpPr>
          <p:cNvPr id="6"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9.2 </a:t>
            </a:r>
            <a:r>
              <a:rPr lang="zh-CN" altLang="zh-CN" sz="2000" b="1">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00048"/>
            <a:ext cx="3000396"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9.2.2 </a:t>
            </a:r>
            <a:r>
              <a:rPr lang="en-US" altLang="en-US" sz="2000" dirty="0"/>
              <a:t>STRIDE</a:t>
            </a:r>
            <a:r>
              <a:rPr altLang="en-US" sz="2000" dirty="0"/>
              <a:t>威胁建模</a:t>
            </a:r>
          </a:p>
        </p:txBody>
      </p:sp>
      <p:sp>
        <p:nvSpPr>
          <p:cNvPr id="13" name="内容占位符 2"/>
          <p:cNvSpPr txBox="1"/>
          <p:nvPr/>
        </p:nvSpPr>
        <p:spPr bwMode="auto">
          <a:xfrm>
            <a:off x="500063" y="4071938"/>
            <a:ext cx="8072437" cy="357187"/>
          </a:xfrm>
          <a:prstGeom prst="rect">
            <a:avLst/>
          </a:prstGeom>
          <a:noFill/>
          <a:ln w="9525">
            <a:noFill/>
            <a:miter lim="800000"/>
          </a:ln>
        </p:spPr>
        <p:txBody>
          <a:bodyPr/>
          <a:lstStyle/>
          <a:p>
            <a:pPr marL="342900" indent="-342900">
              <a:lnSpc>
                <a:spcPct val="150000"/>
              </a:lnSpc>
              <a:buClr>
                <a:srgbClr val="E46C0A"/>
              </a:buClr>
              <a:defRPr/>
            </a:pPr>
            <a:r>
              <a:rPr lang="zh-CN" altLang="zh-CN" sz="1800" b="1" kern="0" dirty="0">
                <a:latin typeface="+mj-ea"/>
                <a:ea typeface="+mj-ea"/>
              </a:rPr>
              <a:t>以上过程可能反复进行多次，因为一次标识所有可能的威胁是很困难的。</a:t>
            </a:r>
            <a:endParaRPr lang="en-US" altLang="zh-CN" sz="1800" b="1" kern="0" dirty="0">
              <a:latin typeface="+mj-ea"/>
              <a:ea typeface="+mj-ea"/>
            </a:endParaRPr>
          </a:p>
        </p:txBody>
      </p:sp>
      <p:sp>
        <p:nvSpPr>
          <p:cNvPr id="22534" name="左大括号 4"/>
          <p:cNvSpPr/>
          <p:nvPr/>
        </p:nvSpPr>
        <p:spPr bwMode="auto">
          <a:xfrm>
            <a:off x="2571750" y="2214563"/>
            <a:ext cx="285750" cy="1714500"/>
          </a:xfrm>
          <a:prstGeom prst="leftBrace">
            <a:avLst>
              <a:gd name="adj1" fmla="val 35111"/>
              <a:gd name="adj2" fmla="val 50000"/>
            </a:avLst>
          </a:prstGeom>
          <a:noFill/>
          <a:ln w="28575" algn="ctr">
            <a:solidFill>
              <a:srgbClr val="C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solidFill>
                <a:srgbClr val="0033CC"/>
              </a:solidFill>
            </a:endParaRPr>
          </a:p>
        </p:txBody>
      </p:sp>
      <p:sp>
        <p:nvSpPr>
          <p:cNvPr id="22535" name="TextBox 6"/>
          <p:cNvSpPr txBox="1">
            <a:spLocks noChangeArrowheads="1"/>
          </p:cNvSpPr>
          <p:nvPr/>
        </p:nvSpPr>
        <p:spPr bwMode="auto">
          <a:xfrm>
            <a:off x="2786063" y="2143125"/>
            <a:ext cx="3730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en-US" altLang="zh-CN" sz="1800" b="1">
                <a:solidFill>
                  <a:srgbClr val="0033CC"/>
                </a:solidFill>
              </a:rPr>
              <a:t>(1)</a:t>
            </a:r>
            <a:r>
              <a:rPr lang="zh-CN" altLang="zh-CN" sz="1800" b="1">
                <a:solidFill>
                  <a:srgbClr val="0033CC"/>
                </a:solidFill>
              </a:rPr>
              <a:t>发现已知的对系统的威胁</a:t>
            </a:r>
          </a:p>
        </p:txBody>
      </p:sp>
      <p:sp>
        <p:nvSpPr>
          <p:cNvPr id="16" name="TextBox 6"/>
          <p:cNvSpPr txBox="1">
            <a:spLocks noChangeArrowheads="1"/>
          </p:cNvSpPr>
          <p:nvPr/>
        </p:nvSpPr>
        <p:spPr bwMode="auto">
          <a:xfrm>
            <a:off x="2786063" y="2643188"/>
            <a:ext cx="3730625" cy="369887"/>
          </a:xfrm>
          <a:prstGeom prst="rect">
            <a:avLst/>
          </a:prstGeom>
          <a:noFill/>
          <a:ln w="9525">
            <a:noFill/>
            <a:miter lim="800000"/>
          </a:ln>
        </p:spPr>
        <p:txBody>
          <a:bodyPr>
            <a:spAutoFit/>
          </a:bodyPr>
          <a:lstStyle/>
          <a:p>
            <a:pPr>
              <a:defRPr/>
            </a:pPr>
            <a:r>
              <a:rPr lang="en-US" altLang="zh-CN" sz="1800" b="1" u="sng" dirty="0">
                <a:solidFill>
                  <a:srgbClr val="0033CC"/>
                </a:solidFill>
                <a:effectLst>
                  <a:outerShdw blurRad="38100" dist="38100" dir="2700000" algn="tl">
                    <a:srgbClr val="000000">
                      <a:alpha val="43137"/>
                    </a:srgbClr>
                  </a:outerShdw>
                </a:effectLst>
                <a:latin typeface="Arial" panose="020B0604020202020204" pitchFamily="34" charset="0"/>
              </a:rPr>
              <a:t>(2)</a:t>
            </a:r>
            <a:r>
              <a:rPr lang="zh-CN" altLang="zh-CN" sz="1800" b="1" u="sng" dirty="0">
                <a:solidFill>
                  <a:srgbClr val="0033CC"/>
                </a:solidFill>
                <a:effectLst>
                  <a:outerShdw blurRad="38100" dist="38100" dir="2700000" algn="tl">
                    <a:srgbClr val="000000">
                      <a:alpha val="43137"/>
                    </a:srgbClr>
                  </a:outerShdw>
                </a:effectLst>
                <a:latin typeface="Arial" panose="020B0604020202020204" pitchFamily="34" charset="0"/>
              </a:rPr>
              <a:t>将威胁以风险从高到低排序</a:t>
            </a:r>
          </a:p>
        </p:txBody>
      </p:sp>
      <p:sp>
        <p:nvSpPr>
          <p:cNvPr id="22537" name="TextBox 6"/>
          <p:cNvSpPr txBox="1">
            <a:spLocks noChangeArrowheads="1"/>
          </p:cNvSpPr>
          <p:nvPr/>
        </p:nvSpPr>
        <p:spPr bwMode="auto">
          <a:xfrm>
            <a:off x="2786063" y="3143250"/>
            <a:ext cx="3730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en-US" altLang="zh-CN" sz="1800" b="1">
                <a:solidFill>
                  <a:srgbClr val="0033CC"/>
                </a:solidFill>
              </a:rPr>
              <a:t>(3)</a:t>
            </a:r>
            <a:r>
              <a:rPr lang="zh-CN" altLang="zh-CN" sz="1800" b="1">
                <a:solidFill>
                  <a:srgbClr val="0033CC"/>
                </a:solidFill>
              </a:rPr>
              <a:t>确定减少威胁的技术</a:t>
            </a:r>
          </a:p>
        </p:txBody>
      </p:sp>
      <p:sp>
        <p:nvSpPr>
          <p:cNvPr id="22538" name="TextBox 6"/>
          <p:cNvSpPr txBox="1">
            <a:spLocks noChangeArrowheads="1"/>
          </p:cNvSpPr>
          <p:nvPr/>
        </p:nvSpPr>
        <p:spPr bwMode="auto">
          <a:xfrm>
            <a:off x="2786063" y="3643313"/>
            <a:ext cx="3730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en-US" altLang="zh-CN" sz="1800" b="1">
                <a:solidFill>
                  <a:srgbClr val="0033CC"/>
                </a:solidFill>
              </a:rPr>
              <a:t>(4)</a:t>
            </a:r>
            <a:r>
              <a:rPr lang="zh-CN" altLang="zh-CN" sz="1800" b="1">
                <a:solidFill>
                  <a:srgbClr val="0033CC"/>
                </a:solidFill>
              </a:rPr>
              <a:t>选择合适的技术</a:t>
            </a:r>
          </a:p>
        </p:txBody>
      </p:sp>
    </p:spTree>
  </p:cSld>
  <p:clrMapOvr>
    <a:masterClrMapping/>
  </p:clrMapOvr>
  <p:transition spd="med">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428625" y="1357313"/>
            <a:ext cx="8715375" cy="2873375"/>
          </a:xfrm>
        </p:spPr>
        <p:txBody>
          <a:bodyPr/>
          <a:lstStyle/>
          <a:p>
            <a:pPr>
              <a:buFont typeface="Wingdings" panose="05000000000000000000" pitchFamily="2" charset="2"/>
              <a:buNone/>
              <a:defRPr/>
            </a:pPr>
            <a:r>
              <a:rPr lang="en-US" altLang="zh-CN" sz="1800" b="1" u="sng" dirty="0">
                <a:solidFill>
                  <a:srgbClr val="0033CC"/>
                </a:solidFill>
                <a:effectLst>
                  <a:outerShdw blurRad="38100" dist="38100" dir="2700000" algn="tl">
                    <a:srgbClr val="000000">
                      <a:alpha val="43137"/>
                    </a:srgbClr>
                  </a:outerShdw>
                </a:effectLst>
              </a:rPr>
              <a:t>(2)</a:t>
            </a:r>
            <a:r>
              <a:rPr lang="zh-CN" altLang="zh-CN" sz="1800" b="1" u="sng" dirty="0">
                <a:solidFill>
                  <a:srgbClr val="0033CC"/>
                </a:solidFill>
                <a:effectLst>
                  <a:outerShdw blurRad="38100" dist="38100" dir="2700000" algn="tl">
                    <a:srgbClr val="000000">
                      <a:alpha val="43137"/>
                    </a:srgbClr>
                  </a:outerShdw>
                </a:effectLst>
              </a:rPr>
              <a:t>将风险从高到低排序。</a:t>
            </a:r>
            <a:r>
              <a:rPr lang="zh-CN" altLang="zh-CN" b="1" dirty="0"/>
              <a:t>对每个服务器中的资产，通过以下方式决定优先级别：攻击发生的概率，即需要多少努力、代价、时间来发起攻击，</a:t>
            </a:r>
            <a:r>
              <a:rPr lang="en-US" altLang="zh-CN" b="1" dirty="0"/>
              <a:t>1 = </a:t>
            </a:r>
            <a:r>
              <a:rPr lang="zh-CN" altLang="zh-CN" b="1" dirty="0"/>
              <a:t>高概率，</a:t>
            </a:r>
            <a:r>
              <a:rPr lang="en-US" altLang="zh-CN" b="1" dirty="0"/>
              <a:t>10 =</a:t>
            </a:r>
            <a:r>
              <a:rPr lang="zh-CN" altLang="zh-CN" b="1" dirty="0"/>
              <a:t>低概率一旦攻击发生，将会带来什么破坏和损失？</a:t>
            </a:r>
            <a:r>
              <a:rPr lang="en-US" altLang="zh-CN" b="1" dirty="0"/>
              <a:t>1 = </a:t>
            </a:r>
            <a:r>
              <a:rPr lang="zh-CN" altLang="zh-CN" b="1" dirty="0"/>
              <a:t>小损失，</a:t>
            </a:r>
            <a:r>
              <a:rPr lang="en-US" altLang="zh-CN" b="1" dirty="0"/>
              <a:t>10 = </a:t>
            </a:r>
            <a:r>
              <a:rPr lang="zh-CN" altLang="zh-CN" b="1" dirty="0"/>
              <a:t>大损失风险</a:t>
            </a:r>
            <a:r>
              <a:rPr lang="en-US" altLang="zh-CN" b="1" dirty="0"/>
              <a:t> = </a:t>
            </a:r>
            <a:r>
              <a:rPr lang="zh-CN" altLang="zh-CN" b="1" dirty="0"/>
              <a:t>攻击发生后的损失</a:t>
            </a:r>
            <a:r>
              <a:rPr lang="en-US" altLang="zh-CN" b="1" dirty="0"/>
              <a:t>/</a:t>
            </a:r>
            <a:r>
              <a:rPr lang="zh-CN" altLang="zh-CN" b="1" dirty="0"/>
              <a:t>攻击的概率</a:t>
            </a:r>
            <a:r>
              <a:rPr lang="en-US" altLang="zh-CN" b="1" dirty="0"/>
              <a:t>  1 = </a:t>
            </a:r>
            <a:r>
              <a:rPr lang="zh-CN" altLang="zh-CN" b="1" dirty="0"/>
              <a:t>小风险，</a:t>
            </a:r>
            <a:r>
              <a:rPr lang="en-US" altLang="zh-CN" b="1" dirty="0"/>
              <a:t>10 = </a:t>
            </a:r>
            <a:r>
              <a:rPr lang="zh-CN" altLang="zh-CN" b="1" dirty="0"/>
              <a:t>大风险为了减少风险，通常首先处理高风险的项目，</a:t>
            </a:r>
            <a:r>
              <a:rPr lang="zh-CN" altLang="en-US" b="1" dirty="0"/>
              <a:t>下表</a:t>
            </a:r>
            <a:r>
              <a:rPr lang="zh-CN" altLang="zh-CN" b="1" dirty="0"/>
              <a:t>中给出的比例可以作为参考。</a:t>
            </a:r>
          </a:p>
          <a:p>
            <a:pPr marL="0" indent="0">
              <a:buFont typeface="Wingdings" panose="05000000000000000000" pitchFamily="2" charset="2"/>
              <a:buNone/>
              <a:defRPr/>
            </a:pPr>
            <a:endParaRPr lang="en-US" altLang="zh-CN" b="1" dirty="0"/>
          </a:p>
        </p:txBody>
      </p:sp>
      <p:sp>
        <p:nvSpPr>
          <p:cNvPr id="6"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9.2 </a:t>
            </a:r>
            <a:r>
              <a:rPr lang="zh-CN" altLang="zh-CN" sz="2000" b="1">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00048"/>
            <a:ext cx="3000396"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9.2.2 </a:t>
            </a:r>
            <a:r>
              <a:rPr lang="en-US" altLang="en-US" sz="2000" dirty="0"/>
              <a:t>STRIDE</a:t>
            </a:r>
            <a:r>
              <a:rPr altLang="en-US" sz="2000" dirty="0"/>
              <a:t>威胁建模</a:t>
            </a:r>
          </a:p>
        </p:txBody>
      </p:sp>
      <p:sp>
        <p:nvSpPr>
          <p:cNvPr id="2" name="文本框 1"/>
          <p:cNvSpPr txBox="1"/>
          <p:nvPr/>
        </p:nvSpPr>
        <p:spPr>
          <a:xfrm>
            <a:off x="9722485" y="2799080"/>
            <a:ext cx="3048000" cy="245110"/>
          </a:xfrm>
          <a:prstGeom prst="rect">
            <a:avLst/>
          </a:prstGeom>
          <a:noFill/>
        </p:spPr>
        <p:txBody>
          <a:bodyPr wrap="square" rtlCol="0">
            <a:spAutoFit/>
          </a:bodyPr>
          <a:lstStyle/>
          <a:p>
            <a:endParaRPr lang="zh-CN" altLang="en-US"/>
          </a:p>
        </p:txBody>
      </p:sp>
    </p:spTree>
  </p:cSld>
  <p:clrMapOvr>
    <a:masterClrMapping/>
  </p:clrMapOvr>
  <p:transition spd="med">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内容占位符 2"/>
          <p:cNvSpPr>
            <a:spLocks noGrp="1"/>
          </p:cNvSpPr>
          <p:nvPr>
            <p:ph idx="1"/>
          </p:nvPr>
        </p:nvSpPr>
        <p:spPr>
          <a:xfrm>
            <a:off x="-20638" y="536575"/>
            <a:ext cx="9144001" cy="4392613"/>
          </a:xfrm>
        </p:spPr>
        <p:txBody>
          <a:bodyPr/>
          <a:lstStyle/>
          <a:p>
            <a:pPr marL="0" indent="0">
              <a:buFont typeface="Wingdings" panose="05000000000000000000" pitchFamily="2" charset="2"/>
              <a:buNone/>
            </a:pPr>
            <a:endParaRPr lang="en-US" altLang="zh-CN" sz="1400" b="1"/>
          </a:p>
          <a:p>
            <a:pPr marL="0" indent="0">
              <a:buFont typeface="Wingdings" panose="05000000000000000000" pitchFamily="2" charset="2"/>
              <a:buNone/>
            </a:pPr>
            <a:endParaRPr lang="en-US" altLang="zh-CN" b="1"/>
          </a:p>
        </p:txBody>
      </p:sp>
      <p:sp>
        <p:nvSpPr>
          <p:cNvPr id="7"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9.2 </a:t>
            </a:r>
            <a:r>
              <a:rPr lang="zh-CN" altLang="zh-CN" sz="2000" b="1">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8" name="标题 1"/>
          <p:cNvSpPr txBox="1"/>
          <p:nvPr/>
        </p:nvSpPr>
        <p:spPr bwMode="auto">
          <a:xfrm>
            <a:off x="214282" y="500048"/>
            <a:ext cx="3000396"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9.2.2 </a:t>
            </a:r>
            <a:r>
              <a:rPr lang="en-US" altLang="en-US" sz="2000" dirty="0"/>
              <a:t>STRIDE</a:t>
            </a:r>
            <a:r>
              <a:rPr altLang="en-US" sz="2000" dirty="0"/>
              <a:t>威胁建模</a:t>
            </a:r>
          </a:p>
        </p:txBody>
      </p:sp>
      <p:grpSp>
        <p:nvGrpSpPr>
          <p:cNvPr id="24581" name="Group 8"/>
          <p:cNvGrpSpPr>
            <a:grpSpLocks noChangeAspect="1"/>
          </p:cNvGrpSpPr>
          <p:nvPr/>
        </p:nvGrpSpPr>
        <p:grpSpPr bwMode="auto">
          <a:xfrm>
            <a:off x="762000" y="1314450"/>
            <a:ext cx="8091488" cy="3128963"/>
            <a:chOff x="480" y="828"/>
            <a:chExt cx="5097" cy="1971"/>
          </a:xfrm>
        </p:grpSpPr>
        <p:sp>
          <p:nvSpPr>
            <p:cNvPr id="24582" name="AutoShape 7"/>
            <p:cNvSpPr>
              <a:spLocks noChangeAspect="1" noChangeArrowheads="1" noTextEdit="1"/>
            </p:cNvSpPr>
            <p:nvPr/>
          </p:nvSpPr>
          <p:spPr bwMode="auto">
            <a:xfrm>
              <a:off x="480" y="828"/>
              <a:ext cx="5097" cy="1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583" name="Rectangle 9"/>
            <p:cNvSpPr>
              <a:spLocks noChangeArrowheads="1"/>
            </p:cNvSpPr>
            <p:nvPr/>
          </p:nvSpPr>
          <p:spPr bwMode="auto">
            <a:xfrm>
              <a:off x="1932" y="860"/>
              <a:ext cx="2197"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600" b="1">
                  <a:solidFill>
                    <a:srgbClr val="000000"/>
                  </a:solidFill>
                  <a:latin typeface="宋体" panose="02010600030101010101" pitchFamily="2" charset="-122"/>
                </a:rPr>
                <a:t>主要威胁导致的弱点在攻击中占的比例</a:t>
              </a:r>
              <a:endParaRPr lang="zh-CN" altLang="en-US" b="1"/>
            </a:p>
          </p:txBody>
        </p:sp>
        <p:sp>
          <p:nvSpPr>
            <p:cNvPr id="24584" name="Rectangle 10"/>
            <p:cNvSpPr>
              <a:spLocks noChangeArrowheads="1"/>
            </p:cNvSpPr>
            <p:nvPr/>
          </p:nvSpPr>
          <p:spPr bwMode="auto">
            <a:xfrm>
              <a:off x="4123" y="855"/>
              <a:ext cx="3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600" b="1">
                  <a:solidFill>
                    <a:srgbClr val="000000"/>
                  </a:solidFill>
                  <a:latin typeface="Times New Roman" panose="02020603050405020304" pitchFamily="18" charset="0"/>
                </a:rPr>
                <a:t> </a:t>
              </a:r>
              <a:endParaRPr lang="zh-CN" altLang="zh-CN" b="1"/>
            </a:p>
          </p:txBody>
        </p:sp>
        <p:sp>
          <p:nvSpPr>
            <p:cNvPr id="24585" name="Rectangle 11"/>
            <p:cNvSpPr>
              <a:spLocks noChangeArrowheads="1"/>
            </p:cNvSpPr>
            <p:nvPr/>
          </p:nvSpPr>
          <p:spPr bwMode="auto">
            <a:xfrm>
              <a:off x="2365" y="1066"/>
              <a:ext cx="11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solidFill>
                    <a:srgbClr val="000000"/>
                  </a:solidFill>
                  <a:latin typeface="宋体" panose="02010600030101010101" pitchFamily="2" charset="-122"/>
                </a:rPr>
                <a:t>弱</a:t>
              </a:r>
              <a:endParaRPr lang="zh-CN" altLang="en-US" b="1"/>
            </a:p>
          </p:txBody>
        </p:sp>
        <p:sp>
          <p:nvSpPr>
            <p:cNvPr id="24586" name="Rectangle 12"/>
            <p:cNvSpPr>
              <a:spLocks noChangeArrowheads="1"/>
            </p:cNvSpPr>
            <p:nvPr/>
          </p:nvSpPr>
          <p:spPr bwMode="auto">
            <a:xfrm>
              <a:off x="2477" y="1058"/>
              <a:ext cx="5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  </a:t>
              </a:r>
              <a:endParaRPr lang="zh-CN" altLang="zh-CN" b="1"/>
            </a:p>
          </p:txBody>
        </p:sp>
        <p:sp>
          <p:nvSpPr>
            <p:cNvPr id="24587" name="Rectangle 13"/>
            <p:cNvSpPr>
              <a:spLocks noChangeArrowheads="1"/>
            </p:cNvSpPr>
            <p:nvPr/>
          </p:nvSpPr>
          <p:spPr bwMode="auto">
            <a:xfrm>
              <a:off x="2587" y="1066"/>
              <a:ext cx="11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solidFill>
                    <a:srgbClr val="000000"/>
                  </a:solidFill>
                  <a:latin typeface="宋体" panose="02010600030101010101" pitchFamily="2" charset="-122"/>
                </a:rPr>
                <a:t>点</a:t>
              </a:r>
              <a:endParaRPr lang="zh-CN" altLang="en-US" b="1"/>
            </a:p>
          </p:txBody>
        </p:sp>
        <p:sp>
          <p:nvSpPr>
            <p:cNvPr id="24588" name="Rectangle 14"/>
            <p:cNvSpPr>
              <a:spLocks noChangeArrowheads="1"/>
            </p:cNvSpPr>
            <p:nvPr/>
          </p:nvSpPr>
          <p:spPr bwMode="auto">
            <a:xfrm>
              <a:off x="2698" y="1058"/>
              <a:ext cx="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 </a:t>
              </a:r>
              <a:endParaRPr lang="zh-CN" altLang="zh-CN" b="1"/>
            </a:p>
          </p:txBody>
        </p:sp>
        <p:sp>
          <p:nvSpPr>
            <p:cNvPr id="24589" name="Rectangle 15"/>
            <p:cNvSpPr>
              <a:spLocks noChangeArrowheads="1"/>
            </p:cNvSpPr>
            <p:nvPr/>
          </p:nvSpPr>
          <p:spPr bwMode="auto">
            <a:xfrm>
              <a:off x="3978" y="1066"/>
              <a:ext cx="67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solidFill>
                    <a:srgbClr val="000000"/>
                  </a:solidFill>
                  <a:latin typeface="宋体" panose="02010600030101010101" pitchFamily="2" charset="-122"/>
                </a:rPr>
                <a:t>占攻击的比例</a:t>
              </a:r>
              <a:endParaRPr lang="zh-CN" altLang="en-US" b="1"/>
            </a:p>
          </p:txBody>
        </p:sp>
        <p:sp>
          <p:nvSpPr>
            <p:cNvPr id="24590" name="Rectangle 16"/>
            <p:cNvSpPr>
              <a:spLocks noChangeArrowheads="1"/>
            </p:cNvSpPr>
            <p:nvPr/>
          </p:nvSpPr>
          <p:spPr bwMode="auto">
            <a:xfrm>
              <a:off x="4643" y="1058"/>
              <a:ext cx="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 </a:t>
              </a:r>
              <a:endParaRPr lang="zh-CN" altLang="zh-CN" b="1"/>
            </a:p>
          </p:txBody>
        </p:sp>
        <p:sp>
          <p:nvSpPr>
            <p:cNvPr id="24591" name="Rectangle 17"/>
            <p:cNvSpPr>
              <a:spLocks noChangeArrowheads="1"/>
            </p:cNvSpPr>
            <p:nvPr/>
          </p:nvSpPr>
          <p:spPr bwMode="auto">
            <a:xfrm>
              <a:off x="1246" y="1020"/>
              <a:ext cx="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592" name="Rectangle 18"/>
            <p:cNvSpPr>
              <a:spLocks noChangeArrowheads="1"/>
            </p:cNvSpPr>
            <p:nvPr/>
          </p:nvSpPr>
          <p:spPr bwMode="auto">
            <a:xfrm>
              <a:off x="1246" y="1020"/>
              <a:ext cx="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593" name="Rectangle 19"/>
            <p:cNvSpPr>
              <a:spLocks noChangeArrowheads="1"/>
            </p:cNvSpPr>
            <p:nvPr/>
          </p:nvSpPr>
          <p:spPr bwMode="auto">
            <a:xfrm>
              <a:off x="1252" y="1020"/>
              <a:ext cx="255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594" name="Rectangle 20"/>
            <p:cNvSpPr>
              <a:spLocks noChangeArrowheads="1"/>
            </p:cNvSpPr>
            <p:nvPr/>
          </p:nvSpPr>
          <p:spPr bwMode="auto">
            <a:xfrm>
              <a:off x="3811" y="1020"/>
              <a:ext cx="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595" name="Rectangle 21"/>
            <p:cNvSpPr>
              <a:spLocks noChangeArrowheads="1"/>
            </p:cNvSpPr>
            <p:nvPr/>
          </p:nvSpPr>
          <p:spPr bwMode="auto">
            <a:xfrm>
              <a:off x="3817" y="1020"/>
              <a:ext cx="98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596" name="Rectangle 22"/>
            <p:cNvSpPr>
              <a:spLocks noChangeArrowheads="1"/>
            </p:cNvSpPr>
            <p:nvPr/>
          </p:nvSpPr>
          <p:spPr bwMode="auto">
            <a:xfrm>
              <a:off x="4805" y="1020"/>
              <a:ext cx="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597" name="Rectangle 23"/>
            <p:cNvSpPr>
              <a:spLocks noChangeArrowheads="1"/>
            </p:cNvSpPr>
            <p:nvPr/>
          </p:nvSpPr>
          <p:spPr bwMode="auto">
            <a:xfrm>
              <a:off x="4805" y="1020"/>
              <a:ext cx="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598" name="Rectangle 24"/>
            <p:cNvSpPr>
              <a:spLocks noChangeArrowheads="1"/>
            </p:cNvSpPr>
            <p:nvPr/>
          </p:nvSpPr>
          <p:spPr bwMode="auto">
            <a:xfrm>
              <a:off x="1246" y="1025"/>
              <a:ext cx="6" cy="19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599" name="Rectangle 25"/>
            <p:cNvSpPr>
              <a:spLocks noChangeArrowheads="1"/>
            </p:cNvSpPr>
            <p:nvPr/>
          </p:nvSpPr>
          <p:spPr bwMode="auto">
            <a:xfrm>
              <a:off x="3811" y="1025"/>
              <a:ext cx="6" cy="19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00" name="Rectangle 26"/>
            <p:cNvSpPr>
              <a:spLocks noChangeArrowheads="1"/>
            </p:cNvSpPr>
            <p:nvPr/>
          </p:nvSpPr>
          <p:spPr bwMode="auto">
            <a:xfrm>
              <a:off x="4805" y="1025"/>
              <a:ext cx="6" cy="19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01" name="Rectangle 27"/>
            <p:cNvSpPr>
              <a:spLocks noChangeArrowheads="1"/>
            </p:cNvSpPr>
            <p:nvPr/>
          </p:nvSpPr>
          <p:spPr bwMode="auto">
            <a:xfrm>
              <a:off x="1315" y="1263"/>
              <a:ext cx="67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solidFill>
                    <a:srgbClr val="000000"/>
                  </a:solidFill>
                  <a:latin typeface="宋体" panose="02010600030101010101" pitchFamily="2" charset="-122"/>
                </a:rPr>
                <a:t>可旁路的限制</a:t>
              </a:r>
              <a:endParaRPr lang="zh-CN" altLang="en-US" b="1"/>
            </a:p>
          </p:txBody>
        </p:sp>
        <p:sp>
          <p:nvSpPr>
            <p:cNvPr id="24602" name="Rectangle 28"/>
            <p:cNvSpPr>
              <a:spLocks noChangeArrowheads="1"/>
            </p:cNvSpPr>
            <p:nvPr/>
          </p:nvSpPr>
          <p:spPr bwMode="auto">
            <a:xfrm>
              <a:off x="1978" y="1258"/>
              <a:ext cx="61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(restrictions </a:t>
              </a:r>
              <a:endParaRPr lang="zh-CN" altLang="zh-CN" b="1"/>
            </a:p>
          </p:txBody>
        </p:sp>
        <p:sp>
          <p:nvSpPr>
            <p:cNvPr id="24603" name="Rectangle 29"/>
            <p:cNvSpPr>
              <a:spLocks noChangeArrowheads="1"/>
            </p:cNvSpPr>
            <p:nvPr/>
          </p:nvSpPr>
          <p:spPr bwMode="auto">
            <a:xfrm>
              <a:off x="2534" y="1258"/>
              <a:ext cx="103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that can be bypassed)</a:t>
              </a:r>
              <a:endParaRPr lang="zh-CN" altLang="zh-CN" b="1"/>
            </a:p>
          </p:txBody>
        </p:sp>
        <p:sp>
          <p:nvSpPr>
            <p:cNvPr id="24604" name="Rectangle 30"/>
            <p:cNvSpPr>
              <a:spLocks noChangeArrowheads="1"/>
            </p:cNvSpPr>
            <p:nvPr/>
          </p:nvSpPr>
          <p:spPr bwMode="auto">
            <a:xfrm>
              <a:off x="3481" y="1258"/>
              <a:ext cx="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 </a:t>
              </a:r>
              <a:endParaRPr lang="zh-CN" altLang="zh-CN" b="1"/>
            </a:p>
          </p:txBody>
        </p:sp>
        <p:sp>
          <p:nvSpPr>
            <p:cNvPr id="24605" name="Rectangle 31"/>
            <p:cNvSpPr>
              <a:spLocks noChangeArrowheads="1"/>
            </p:cNvSpPr>
            <p:nvPr/>
          </p:nvSpPr>
          <p:spPr bwMode="auto">
            <a:xfrm>
              <a:off x="3880" y="1263"/>
              <a:ext cx="5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宋体" panose="02010600030101010101" pitchFamily="2" charset="-122"/>
                </a:rPr>
                <a:t> </a:t>
              </a:r>
              <a:endParaRPr lang="zh-CN" altLang="zh-CN" b="1"/>
            </a:p>
          </p:txBody>
        </p:sp>
        <p:sp>
          <p:nvSpPr>
            <p:cNvPr id="24606" name="Rectangle 32"/>
            <p:cNvSpPr>
              <a:spLocks noChangeArrowheads="1"/>
            </p:cNvSpPr>
            <p:nvPr/>
          </p:nvSpPr>
          <p:spPr bwMode="auto">
            <a:xfrm>
              <a:off x="3991" y="1258"/>
              <a:ext cx="22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20%</a:t>
              </a:r>
              <a:endParaRPr lang="zh-CN" altLang="zh-CN" b="1"/>
            </a:p>
          </p:txBody>
        </p:sp>
        <p:sp>
          <p:nvSpPr>
            <p:cNvPr id="24607" name="Rectangle 33"/>
            <p:cNvSpPr>
              <a:spLocks noChangeArrowheads="1"/>
            </p:cNvSpPr>
            <p:nvPr/>
          </p:nvSpPr>
          <p:spPr bwMode="auto">
            <a:xfrm>
              <a:off x="4193" y="1258"/>
              <a:ext cx="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 </a:t>
              </a:r>
              <a:endParaRPr lang="zh-CN" altLang="zh-CN" b="1"/>
            </a:p>
          </p:txBody>
        </p:sp>
        <p:sp>
          <p:nvSpPr>
            <p:cNvPr id="24608" name="Rectangle 34"/>
            <p:cNvSpPr>
              <a:spLocks noChangeArrowheads="1"/>
            </p:cNvSpPr>
            <p:nvPr/>
          </p:nvSpPr>
          <p:spPr bwMode="auto">
            <a:xfrm>
              <a:off x="1246" y="121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09" name="Rectangle 35"/>
            <p:cNvSpPr>
              <a:spLocks noChangeArrowheads="1"/>
            </p:cNvSpPr>
            <p:nvPr/>
          </p:nvSpPr>
          <p:spPr bwMode="auto">
            <a:xfrm>
              <a:off x="1252" y="1217"/>
              <a:ext cx="2559"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10" name="Rectangle 36"/>
            <p:cNvSpPr>
              <a:spLocks noChangeArrowheads="1"/>
            </p:cNvSpPr>
            <p:nvPr/>
          </p:nvSpPr>
          <p:spPr bwMode="auto">
            <a:xfrm>
              <a:off x="3811" y="121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11" name="Rectangle 37"/>
            <p:cNvSpPr>
              <a:spLocks noChangeArrowheads="1"/>
            </p:cNvSpPr>
            <p:nvPr/>
          </p:nvSpPr>
          <p:spPr bwMode="auto">
            <a:xfrm>
              <a:off x="3817" y="1217"/>
              <a:ext cx="98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12" name="Rectangle 38"/>
            <p:cNvSpPr>
              <a:spLocks noChangeArrowheads="1"/>
            </p:cNvSpPr>
            <p:nvPr/>
          </p:nvSpPr>
          <p:spPr bwMode="auto">
            <a:xfrm>
              <a:off x="4805" y="1217"/>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13" name="Rectangle 39"/>
            <p:cNvSpPr>
              <a:spLocks noChangeArrowheads="1"/>
            </p:cNvSpPr>
            <p:nvPr/>
          </p:nvSpPr>
          <p:spPr bwMode="auto">
            <a:xfrm>
              <a:off x="1246" y="1223"/>
              <a:ext cx="6" cy="19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14" name="Rectangle 40"/>
            <p:cNvSpPr>
              <a:spLocks noChangeArrowheads="1"/>
            </p:cNvSpPr>
            <p:nvPr/>
          </p:nvSpPr>
          <p:spPr bwMode="auto">
            <a:xfrm>
              <a:off x="3811" y="1223"/>
              <a:ext cx="6" cy="19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15" name="Rectangle 41"/>
            <p:cNvSpPr>
              <a:spLocks noChangeArrowheads="1"/>
            </p:cNvSpPr>
            <p:nvPr/>
          </p:nvSpPr>
          <p:spPr bwMode="auto">
            <a:xfrm>
              <a:off x="4805" y="1223"/>
              <a:ext cx="6" cy="19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16" name="Rectangle 42"/>
            <p:cNvSpPr>
              <a:spLocks noChangeArrowheads="1"/>
            </p:cNvSpPr>
            <p:nvPr/>
          </p:nvSpPr>
          <p:spPr bwMode="auto">
            <a:xfrm>
              <a:off x="1315" y="1460"/>
              <a:ext cx="45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solidFill>
                    <a:srgbClr val="000000"/>
                  </a:solidFill>
                  <a:latin typeface="宋体" panose="02010600030101010101" pitchFamily="2" charset="-122"/>
                </a:rPr>
                <a:t>参数检查</a:t>
              </a:r>
              <a:endParaRPr lang="zh-CN" altLang="en-US" b="1"/>
            </a:p>
          </p:txBody>
        </p:sp>
        <p:sp>
          <p:nvSpPr>
            <p:cNvPr id="24617" name="Rectangle 43"/>
            <p:cNvSpPr>
              <a:spLocks noChangeArrowheads="1"/>
            </p:cNvSpPr>
            <p:nvPr/>
          </p:nvSpPr>
          <p:spPr bwMode="auto">
            <a:xfrm>
              <a:off x="1757" y="1455"/>
              <a:ext cx="100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(argument checking)</a:t>
              </a:r>
              <a:endParaRPr lang="zh-CN" altLang="zh-CN" b="1"/>
            </a:p>
          </p:txBody>
        </p:sp>
        <p:sp>
          <p:nvSpPr>
            <p:cNvPr id="24618" name="Rectangle 44"/>
            <p:cNvSpPr>
              <a:spLocks noChangeArrowheads="1"/>
            </p:cNvSpPr>
            <p:nvPr/>
          </p:nvSpPr>
          <p:spPr bwMode="auto">
            <a:xfrm>
              <a:off x="2674" y="1455"/>
              <a:ext cx="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 </a:t>
              </a:r>
              <a:endParaRPr lang="zh-CN" altLang="zh-CN" b="1"/>
            </a:p>
          </p:txBody>
        </p:sp>
        <p:sp>
          <p:nvSpPr>
            <p:cNvPr id="24619" name="Rectangle 45"/>
            <p:cNvSpPr>
              <a:spLocks noChangeArrowheads="1"/>
            </p:cNvSpPr>
            <p:nvPr/>
          </p:nvSpPr>
          <p:spPr bwMode="auto">
            <a:xfrm>
              <a:off x="3880" y="1460"/>
              <a:ext cx="5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宋体" panose="02010600030101010101" pitchFamily="2" charset="-122"/>
                </a:rPr>
                <a:t> </a:t>
              </a:r>
              <a:endParaRPr lang="zh-CN" altLang="zh-CN" b="1"/>
            </a:p>
          </p:txBody>
        </p:sp>
        <p:sp>
          <p:nvSpPr>
            <p:cNvPr id="24620" name="Rectangle 46"/>
            <p:cNvSpPr>
              <a:spLocks noChangeArrowheads="1"/>
            </p:cNvSpPr>
            <p:nvPr/>
          </p:nvSpPr>
          <p:spPr bwMode="auto">
            <a:xfrm>
              <a:off x="3991" y="1455"/>
              <a:ext cx="22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19%</a:t>
              </a:r>
              <a:endParaRPr lang="zh-CN" altLang="zh-CN" b="1"/>
            </a:p>
          </p:txBody>
        </p:sp>
        <p:sp>
          <p:nvSpPr>
            <p:cNvPr id="24621" name="Rectangle 47"/>
            <p:cNvSpPr>
              <a:spLocks noChangeArrowheads="1"/>
            </p:cNvSpPr>
            <p:nvPr/>
          </p:nvSpPr>
          <p:spPr bwMode="auto">
            <a:xfrm>
              <a:off x="4193" y="1455"/>
              <a:ext cx="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 </a:t>
              </a:r>
              <a:endParaRPr lang="zh-CN" altLang="zh-CN" b="1"/>
            </a:p>
          </p:txBody>
        </p:sp>
        <p:sp>
          <p:nvSpPr>
            <p:cNvPr id="24622" name="Rectangle 48"/>
            <p:cNvSpPr>
              <a:spLocks noChangeArrowheads="1"/>
            </p:cNvSpPr>
            <p:nvPr/>
          </p:nvSpPr>
          <p:spPr bwMode="auto">
            <a:xfrm>
              <a:off x="1246" y="1414"/>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23" name="Rectangle 49"/>
            <p:cNvSpPr>
              <a:spLocks noChangeArrowheads="1"/>
            </p:cNvSpPr>
            <p:nvPr/>
          </p:nvSpPr>
          <p:spPr bwMode="auto">
            <a:xfrm>
              <a:off x="1252" y="1414"/>
              <a:ext cx="2559"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24" name="Rectangle 50"/>
            <p:cNvSpPr>
              <a:spLocks noChangeArrowheads="1"/>
            </p:cNvSpPr>
            <p:nvPr/>
          </p:nvSpPr>
          <p:spPr bwMode="auto">
            <a:xfrm>
              <a:off x="3811" y="1414"/>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25" name="Rectangle 51"/>
            <p:cNvSpPr>
              <a:spLocks noChangeArrowheads="1"/>
            </p:cNvSpPr>
            <p:nvPr/>
          </p:nvSpPr>
          <p:spPr bwMode="auto">
            <a:xfrm>
              <a:off x="3817" y="1414"/>
              <a:ext cx="98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26" name="Rectangle 52"/>
            <p:cNvSpPr>
              <a:spLocks noChangeArrowheads="1"/>
            </p:cNvSpPr>
            <p:nvPr/>
          </p:nvSpPr>
          <p:spPr bwMode="auto">
            <a:xfrm>
              <a:off x="4805" y="1414"/>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27" name="Rectangle 53"/>
            <p:cNvSpPr>
              <a:spLocks noChangeArrowheads="1"/>
            </p:cNvSpPr>
            <p:nvPr/>
          </p:nvSpPr>
          <p:spPr bwMode="auto">
            <a:xfrm>
              <a:off x="1246" y="1420"/>
              <a:ext cx="6" cy="19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28" name="Rectangle 54"/>
            <p:cNvSpPr>
              <a:spLocks noChangeArrowheads="1"/>
            </p:cNvSpPr>
            <p:nvPr/>
          </p:nvSpPr>
          <p:spPr bwMode="auto">
            <a:xfrm>
              <a:off x="3811" y="1420"/>
              <a:ext cx="6" cy="19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29" name="Rectangle 55"/>
            <p:cNvSpPr>
              <a:spLocks noChangeArrowheads="1"/>
            </p:cNvSpPr>
            <p:nvPr/>
          </p:nvSpPr>
          <p:spPr bwMode="auto">
            <a:xfrm>
              <a:off x="4805" y="1420"/>
              <a:ext cx="6" cy="19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30" name="Rectangle 56"/>
            <p:cNvSpPr>
              <a:spLocks noChangeArrowheads="1"/>
            </p:cNvSpPr>
            <p:nvPr/>
          </p:nvSpPr>
          <p:spPr bwMode="auto">
            <a:xfrm>
              <a:off x="1315" y="1659"/>
              <a:ext cx="90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solidFill>
                    <a:srgbClr val="000000"/>
                  </a:solidFill>
                  <a:latin typeface="宋体" panose="02010600030101010101" pitchFamily="2" charset="-122"/>
                </a:rPr>
                <a:t>没有检查的缓冲区</a:t>
              </a:r>
              <a:endParaRPr lang="zh-CN" altLang="en-US" b="1"/>
            </a:p>
          </p:txBody>
        </p:sp>
        <p:sp>
          <p:nvSpPr>
            <p:cNvPr id="24631" name="Rectangle 57"/>
            <p:cNvSpPr>
              <a:spLocks noChangeArrowheads="1"/>
            </p:cNvSpPr>
            <p:nvPr/>
          </p:nvSpPr>
          <p:spPr bwMode="auto">
            <a:xfrm>
              <a:off x="2199" y="1654"/>
              <a:ext cx="91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(unchecked buffer)</a:t>
              </a:r>
              <a:endParaRPr lang="zh-CN" altLang="zh-CN" b="1"/>
            </a:p>
          </p:txBody>
        </p:sp>
        <p:sp>
          <p:nvSpPr>
            <p:cNvPr id="24632" name="Rectangle 58"/>
            <p:cNvSpPr>
              <a:spLocks noChangeArrowheads="1"/>
            </p:cNvSpPr>
            <p:nvPr/>
          </p:nvSpPr>
          <p:spPr bwMode="auto">
            <a:xfrm>
              <a:off x="3042" y="1654"/>
              <a:ext cx="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 </a:t>
              </a:r>
              <a:endParaRPr lang="zh-CN" altLang="zh-CN" b="1"/>
            </a:p>
          </p:txBody>
        </p:sp>
        <p:sp>
          <p:nvSpPr>
            <p:cNvPr id="24633" name="Rectangle 59"/>
            <p:cNvSpPr>
              <a:spLocks noChangeArrowheads="1"/>
            </p:cNvSpPr>
            <p:nvPr/>
          </p:nvSpPr>
          <p:spPr bwMode="auto">
            <a:xfrm>
              <a:off x="3880" y="1659"/>
              <a:ext cx="5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宋体" panose="02010600030101010101" pitchFamily="2" charset="-122"/>
                </a:rPr>
                <a:t> </a:t>
              </a:r>
              <a:endParaRPr lang="zh-CN" altLang="zh-CN" b="1"/>
            </a:p>
          </p:txBody>
        </p:sp>
        <p:sp>
          <p:nvSpPr>
            <p:cNvPr id="24634" name="Rectangle 60"/>
            <p:cNvSpPr>
              <a:spLocks noChangeArrowheads="1"/>
            </p:cNvSpPr>
            <p:nvPr/>
          </p:nvSpPr>
          <p:spPr bwMode="auto">
            <a:xfrm>
              <a:off x="3991" y="1654"/>
              <a:ext cx="22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18%</a:t>
              </a:r>
              <a:endParaRPr lang="zh-CN" altLang="zh-CN" b="1"/>
            </a:p>
          </p:txBody>
        </p:sp>
        <p:sp>
          <p:nvSpPr>
            <p:cNvPr id="24635" name="Rectangle 61"/>
            <p:cNvSpPr>
              <a:spLocks noChangeArrowheads="1"/>
            </p:cNvSpPr>
            <p:nvPr/>
          </p:nvSpPr>
          <p:spPr bwMode="auto">
            <a:xfrm>
              <a:off x="4193" y="1654"/>
              <a:ext cx="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 </a:t>
              </a:r>
              <a:endParaRPr lang="zh-CN" altLang="zh-CN" b="1"/>
            </a:p>
          </p:txBody>
        </p:sp>
        <p:sp>
          <p:nvSpPr>
            <p:cNvPr id="24636" name="Rectangle 62"/>
            <p:cNvSpPr>
              <a:spLocks noChangeArrowheads="1"/>
            </p:cNvSpPr>
            <p:nvPr/>
          </p:nvSpPr>
          <p:spPr bwMode="auto">
            <a:xfrm>
              <a:off x="1246" y="1612"/>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37" name="Rectangle 63"/>
            <p:cNvSpPr>
              <a:spLocks noChangeArrowheads="1"/>
            </p:cNvSpPr>
            <p:nvPr/>
          </p:nvSpPr>
          <p:spPr bwMode="auto">
            <a:xfrm>
              <a:off x="1252" y="1612"/>
              <a:ext cx="2559"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38" name="Rectangle 64"/>
            <p:cNvSpPr>
              <a:spLocks noChangeArrowheads="1"/>
            </p:cNvSpPr>
            <p:nvPr/>
          </p:nvSpPr>
          <p:spPr bwMode="auto">
            <a:xfrm>
              <a:off x="3811" y="1612"/>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39" name="Rectangle 65"/>
            <p:cNvSpPr>
              <a:spLocks noChangeArrowheads="1"/>
            </p:cNvSpPr>
            <p:nvPr/>
          </p:nvSpPr>
          <p:spPr bwMode="auto">
            <a:xfrm>
              <a:off x="3817" y="1612"/>
              <a:ext cx="98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40" name="Rectangle 66"/>
            <p:cNvSpPr>
              <a:spLocks noChangeArrowheads="1"/>
            </p:cNvSpPr>
            <p:nvPr/>
          </p:nvSpPr>
          <p:spPr bwMode="auto">
            <a:xfrm>
              <a:off x="4805" y="1612"/>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41" name="Rectangle 67"/>
            <p:cNvSpPr>
              <a:spLocks noChangeArrowheads="1"/>
            </p:cNvSpPr>
            <p:nvPr/>
          </p:nvSpPr>
          <p:spPr bwMode="auto">
            <a:xfrm>
              <a:off x="1246" y="1618"/>
              <a:ext cx="6" cy="19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42" name="Rectangle 68"/>
            <p:cNvSpPr>
              <a:spLocks noChangeArrowheads="1"/>
            </p:cNvSpPr>
            <p:nvPr/>
          </p:nvSpPr>
          <p:spPr bwMode="auto">
            <a:xfrm>
              <a:off x="3811" y="1618"/>
              <a:ext cx="6" cy="19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43" name="Rectangle 69"/>
            <p:cNvSpPr>
              <a:spLocks noChangeArrowheads="1"/>
            </p:cNvSpPr>
            <p:nvPr/>
          </p:nvSpPr>
          <p:spPr bwMode="auto">
            <a:xfrm>
              <a:off x="4805" y="1618"/>
              <a:ext cx="6" cy="19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44" name="Rectangle 70"/>
            <p:cNvSpPr>
              <a:spLocks noChangeArrowheads="1"/>
            </p:cNvSpPr>
            <p:nvPr/>
          </p:nvSpPr>
          <p:spPr bwMode="auto">
            <a:xfrm>
              <a:off x="1315" y="1857"/>
              <a:ext cx="90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solidFill>
                    <a:srgbClr val="000000"/>
                  </a:solidFill>
                  <a:latin typeface="宋体" panose="02010600030101010101" pitchFamily="2" charset="-122"/>
                </a:rPr>
                <a:t>不正确的控制标记</a:t>
              </a:r>
              <a:endParaRPr lang="zh-CN" altLang="en-US" b="1"/>
            </a:p>
          </p:txBody>
        </p:sp>
        <p:sp>
          <p:nvSpPr>
            <p:cNvPr id="24645" name="Rectangle 71"/>
            <p:cNvSpPr>
              <a:spLocks noChangeArrowheads="1"/>
            </p:cNvSpPr>
            <p:nvPr/>
          </p:nvSpPr>
          <p:spPr bwMode="auto">
            <a:xfrm>
              <a:off x="2199" y="1852"/>
              <a:ext cx="132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(incorrect control marking)</a:t>
              </a:r>
              <a:endParaRPr lang="zh-CN" altLang="zh-CN" b="1"/>
            </a:p>
          </p:txBody>
        </p:sp>
        <p:sp>
          <p:nvSpPr>
            <p:cNvPr id="24646" name="Rectangle 72"/>
            <p:cNvSpPr>
              <a:spLocks noChangeArrowheads="1"/>
            </p:cNvSpPr>
            <p:nvPr/>
          </p:nvSpPr>
          <p:spPr bwMode="auto">
            <a:xfrm>
              <a:off x="3402" y="1852"/>
              <a:ext cx="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 </a:t>
              </a:r>
              <a:endParaRPr lang="zh-CN" altLang="zh-CN" b="1"/>
            </a:p>
          </p:txBody>
        </p:sp>
        <p:sp>
          <p:nvSpPr>
            <p:cNvPr id="24647" name="Rectangle 73"/>
            <p:cNvSpPr>
              <a:spLocks noChangeArrowheads="1"/>
            </p:cNvSpPr>
            <p:nvPr/>
          </p:nvSpPr>
          <p:spPr bwMode="auto">
            <a:xfrm>
              <a:off x="3880" y="1857"/>
              <a:ext cx="5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宋体" panose="02010600030101010101" pitchFamily="2" charset="-122"/>
                </a:rPr>
                <a:t> </a:t>
              </a:r>
              <a:endParaRPr lang="zh-CN" altLang="zh-CN" b="1"/>
            </a:p>
          </p:txBody>
        </p:sp>
        <p:sp>
          <p:nvSpPr>
            <p:cNvPr id="24648" name="Rectangle 74"/>
            <p:cNvSpPr>
              <a:spLocks noChangeArrowheads="1"/>
            </p:cNvSpPr>
            <p:nvPr/>
          </p:nvSpPr>
          <p:spPr bwMode="auto">
            <a:xfrm>
              <a:off x="3991" y="1852"/>
              <a:ext cx="22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10%</a:t>
              </a:r>
              <a:endParaRPr lang="zh-CN" altLang="zh-CN" b="1"/>
            </a:p>
          </p:txBody>
        </p:sp>
        <p:sp>
          <p:nvSpPr>
            <p:cNvPr id="24649" name="Rectangle 75"/>
            <p:cNvSpPr>
              <a:spLocks noChangeArrowheads="1"/>
            </p:cNvSpPr>
            <p:nvPr/>
          </p:nvSpPr>
          <p:spPr bwMode="auto">
            <a:xfrm>
              <a:off x="4193" y="1852"/>
              <a:ext cx="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 </a:t>
              </a:r>
              <a:endParaRPr lang="zh-CN" altLang="zh-CN" b="1"/>
            </a:p>
          </p:txBody>
        </p:sp>
        <p:sp>
          <p:nvSpPr>
            <p:cNvPr id="24650" name="Rectangle 76"/>
            <p:cNvSpPr>
              <a:spLocks noChangeArrowheads="1"/>
            </p:cNvSpPr>
            <p:nvPr/>
          </p:nvSpPr>
          <p:spPr bwMode="auto">
            <a:xfrm>
              <a:off x="1246" y="1811"/>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51" name="Rectangle 77"/>
            <p:cNvSpPr>
              <a:spLocks noChangeArrowheads="1"/>
            </p:cNvSpPr>
            <p:nvPr/>
          </p:nvSpPr>
          <p:spPr bwMode="auto">
            <a:xfrm>
              <a:off x="1252" y="1811"/>
              <a:ext cx="2559"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52" name="Rectangle 78"/>
            <p:cNvSpPr>
              <a:spLocks noChangeArrowheads="1"/>
            </p:cNvSpPr>
            <p:nvPr/>
          </p:nvSpPr>
          <p:spPr bwMode="auto">
            <a:xfrm>
              <a:off x="3811" y="1811"/>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53" name="Rectangle 79"/>
            <p:cNvSpPr>
              <a:spLocks noChangeArrowheads="1"/>
            </p:cNvSpPr>
            <p:nvPr/>
          </p:nvSpPr>
          <p:spPr bwMode="auto">
            <a:xfrm>
              <a:off x="3817" y="1811"/>
              <a:ext cx="98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54" name="Rectangle 80"/>
            <p:cNvSpPr>
              <a:spLocks noChangeArrowheads="1"/>
            </p:cNvSpPr>
            <p:nvPr/>
          </p:nvSpPr>
          <p:spPr bwMode="auto">
            <a:xfrm>
              <a:off x="4805" y="1811"/>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55" name="Rectangle 81"/>
            <p:cNvSpPr>
              <a:spLocks noChangeArrowheads="1"/>
            </p:cNvSpPr>
            <p:nvPr/>
          </p:nvSpPr>
          <p:spPr bwMode="auto">
            <a:xfrm>
              <a:off x="1246" y="1817"/>
              <a:ext cx="6" cy="19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56" name="Rectangle 82"/>
            <p:cNvSpPr>
              <a:spLocks noChangeArrowheads="1"/>
            </p:cNvSpPr>
            <p:nvPr/>
          </p:nvSpPr>
          <p:spPr bwMode="auto">
            <a:xfrm>
              <a:off x="3811" y="1817"/>
              <a:ext cx="6" cy="19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57" name="Rectangle 83"/>
            <p:cNvSpPr>
              <a:spLocks noChangeArrowheads="1"/>
            </p:cNvSpPr>
            <p:nvPr/>
          </p:nvSpPr>
          <p:spPr bwMode="auto">
            <a:xfrm>
              <a:off x="4805" y="1817"/>
              <a:ext cx="6" cy="19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58" name="Rectangle 84"/>
            <p:cNvSpPr>
              <a:spLocks noChangeArrowheads="1"/>
            </p:cNvSpPr>
            <p:nvPr/>
          </p:nvSpPr>
          <p:spPr bwMode="auto">
            <a:xfrm>
              <a:off x="1315" y="2054"/>
              <a:ext cx="67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solidFill>
                    <a:srgbClr val="000000"/>
                  </a:solidFill>
                  <a:latin typeface="宋体" panose="02010600030101010101" pitchFamily="2" charset="-122"/>
                </a:rPr>
                <a:t>不正确的许可</a:t>
              </a:r>
              <a:endParaRPr lang="zh-CN" altLang="en-US" b="1"/>
            </a:p>
          </p:txBody>
        </p:sp>
        <p:sp>
          <p:nvSpPr>
            <p:cNvPr id="24659" name="Rectangle 85"/>
            <p:cNvSpPr>
              <a:spLocks noChangeArrowheads="1"/>
            </p:cNvSpPr>
            <p:nvPr/>
          </p:nvSpPr>
          <p:spPr bwMode="auto">
            <a:xfrm>
              <a:off x="1978" y="2049"/>
              <a:ext cx="111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(incorrect permissions)</a:t>
              </a:r>
              <a:endParaRPr lang="zh-CN" altLang="zh-CN" b="1"/>
            </a:p>
          </p:txBody>
        </p:sp>
        <p:sp>
          <p:nvSpPr>
            <p:cNvPr id="24660" name="Rectangle 86"/>
            <p:cNvSpPr>
              <a:spLocks noChangeArrowheads="1"/>
            </p:cNvSpPr>
            <p:nvPr/>
          </p:nvSpPr>
          <p:spPr bwMode="auto">
            <a:xfrm>
              <a:off x="2998" y="2049"/>
              <a:ext cx="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 </a:t>
              </a:r>
              <a:endParaRPr lang="zh-CN" altLang="zh-CN" b="1"/>
            </a:p>
          </p:txBody>
        </p:sp>
        <p:sp>
          <p:nvSpPr>
            <p:cNvPr id="24661" name="Rectangle 87"/>
            <p:cNvSpPr>
              <a:spLocks noChangeArrowheads="1"/>
            </p:cNvSpPr>
            <p:nvPr/>
          </p:nvSpPr>
          <p:spPr bwMode="auto">
            <a:xfrm>
              <a:off x="3880" y="2054"/>
              <a:ext cx="5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宋体" panose="02010600030101010101" pitchFamily="2" charset="-122"/>
                </a:rPr>
                <a:t> </a:t>
              </a:r>
              <a:endParaRPr lang="zh-CN" altLang="zh-CN" b="1"/>
            </a:p>
          </p:txBody>
        </p:sp>
        <p:sp>
          <p:nvSpPr>
            <p:cNvPr id="24662" name="Rectangle 88"/>
            <p:cNvSpPr>
              <a:spLocks noChangeArrowheads="1"/>
            </p:cNvSpPr>
            <p:nvPr/>
          </p:nvSpPr>
          <p:spPr bwMode="auto">
            <a:xfrm>
              <a:off x="3991" y="2049"/>
              <a:ext cx="17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9%</a:t>
              </a:r>
              <a:endParaRPr lang="zh-CN" altLang="zh-CN" b="1"/>
            </a:p>
          </p:txBody>
        </p:sp>
        <p:sp>
          <p:nvSpPr>
            <p:cNvPr id="24663" name="Rectangle 89"/>
            <p:cNvSpPr>
              <a:spLocks noChangeArrowheads="1"/>
            </p:cNvSpPr>
            <p:nvPr/>
          </p:nvSpPr>
          <p:spPr bwMode="auto">
            <a:xfrm>
              <a:off x="4138" y="2049"/>
              <a:ext cx="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 </a:t>
              </a:r>
              <a:endParaRPr lang="zh-CN" altLang="zh-CN" b="1"/>
            </a:p>
          </p:txBody>
        </p:sp>
        <p:sp>
          <p:nvSpPr>
            <p:cNvPr id="24664" name="Rectangle 90"/>
            <p:cNvSpPr>
              <a:spLocks noChangeArrowheads="1"/>
            </p:cNvSpPr>
            <p:nvPr/>
          </p:nvSpPr>
          <p:spPr bwMode="auto">
            <a:xfrm>
              <a:off x="1246" y="200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65" name="Rectangle 91"/>
            <p:cNvSpPr>
              <a:spLocks noChangeArrowheads="1"/>
            </p:cNvSpPr>
            <p:nvPr/>
          </p:nvSpPr>
          <p:spPr bwMode="auto">
            <a:xfrm>
              <a:off x="1252" y="2008"/>
              <a:ext cx="2559"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66" name="Rectangle 92"/>
            <p:cNvSpPr>
              <a:spLocks noChangeArrowheads="1"/>
            </p:cNvSpPr>
            <p:nvPr/>
          </p:nvSpPr>
          <p:spPr bwMode="auto">
            <a:xfrm>
              <a:off x="3811" y="200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67" name="Rectangle 93"/>
            <p:cNvSpPr>
              <a:spLocks noChangeArrowheads="1"/>
            </p:cNvSpPr>
            <p:nvPr/>
          </p:nvSpPr>
          <p:spPr bwMode="auto">
            <a:xfrm>
              <a:off x="3817" y="2008"/>
              <a:ext cx="98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68" name="Rectangle 94"/>
            <p:cNvSpPr>
              <a:spLocks noChangeArrowheads="1"/>
            </p:cNvSpPr>
            <p:nvPr/>
          </p:nvSpPr>
          <p:spPr bwMode="auto">
            <a:xfrm>
              <a:off x="4805" y="2008"/>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69" name="Rectangle 95"/>
            <p:cNvSpPr>
              <a:spLocks noChangeArrowheads="1"/>
            </p:cNvSpPr>
            <p:nvPr/>
          </p:nvSpPr>
          <p:spPr bwMode="auto">
            <a:xfrm>
              <a:off x="1246" y="2014"/>
              <a:ext cx="6" cy="19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70" name="Rectangle 96"/>
            <p:cNvSpPr>
              <a:spLocks noChangeArrowheads="1"/>
            </p:cNvSpPr>
            <p:nvPr/>
          </p:nvSpPr>
          <p:spPr bwMode="auto">
            <a:xfrm>
              <a:off x="3811" y="2014"/>
              <a:ext cx="6" cy="19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71" name="Rectangle 97"/>
            <p:cNvSpPr>
              <a:spLocks noChangeArrowheads="1"/>
            </p:cNvSpPr>
            <p:nvPr/>
          </p:nvSpPr>
          <p:spPr bwMode="auto">
            <a:xfrm>
              <a:off x="4805" y="2014"/>
              <a:ext cx="6" cy="19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72" name="Rectangle 98"/>
            <p:cNvSpPr>
              <a:spLocks noChangeArrowheads="1"/>
            </p:cNvSpPr>
            <p:nvPr/>
          </p:nvSpPr>
          <p:spPr bwMode="auto">
            <a:xfrm>
              <a:off x="1315" y="2252"/>
              <a:ext cx="45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solidFill>
                    <a:srgbClr val="000000"/>
                  </a:solidFill>
                  <a:latin typeface="宋体" panose="02010600030101010101" pitchFamily="2" charset="-122"/>
                </a:rPr>
                <a:t>架构错误</a:t>
              </a:r>
              <a:endParaRPr lang="zh-CN" altLang="en-US" b="1"/>
            </a:p>
          </p:txBody>
        </p:sp>
        <p:sp>
          <p:nvSpPr>
            <p:cNvPr id="24673" name="Rectangle 99"/>
            <p:cNvSpPr>
              <a:spLocks noChangeArrowheads="1"/>
            </p:cNvSpPr>
            <p:nvPr/>
          </p:nvSpPr>
          <p:spPr bwMode="auto">
            <a:xfrm>
              <a:off x="1757" y="2247"/>
              <a:ext cx="98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(architectural error)</a:t>
              </a:r>
              <a:endParaRPr lang="zh-CN" altLang="zh-CN" b="1"/>
            </a:p>
          </p:txBody>
        </p:sp>
        <p:sp>
          <p:nvSpPr>
            <p:cNvPr id="24674" name="Rectangle 100"/>
            <p:cNvSpPr>
              <a:spLocks noChangeArrowheads="1"/>
            </p:cNvSpPr>
            <p:nvPr/>
          </p:nvSpPr>
          <p:spPr bwMode="auto">
            <a:xfrm>
              <a:off x="2624" y="2247"/>
              <a:ext cx="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 </a:t>
              </a:r>
              <a:endParaRPr lang="zh-CN" altLang="zh-CN" b="1"/>
            </a:p>
          </p:txBody>
        </p:sp>
        <p:sp>
          <p:nvSpPr>
            <p:cNvPr id="24675" name="Rectangle 101"/>
            <p:cNvSpPr>
              <a:spLocks noChangeArrowheads="1"/>
            </p:cNvSpPr>
            <p:nvPr/>
          </p:nvSpPr>
          <p:spPr bwMode="auto">
            <a:xfrm>
              <a:off x="3880" y="2252"/>
              <a:ext cx="5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宋体" panose="02010600030101010101" pitchFamily="2" charset="-122"/>
                </a:rPr>
                <a:t> </a:t>
              </a:r>
              <a:endParaRPr lang="zh-CN" altLang="zh-CN" b="1"/>
            </a:p>
          </p:txBody>
        </p:sp>
        <p:sp>
          <p:nvSpPr>
            <p:cNvPr id="24676" name="Rectangle 102"/>
            <p:cNvSpPr>
              <a:spLocks noChangeArrowheads="1"/>
            </p:cNvSpPr>
            <p:nvPr/>
          </p:nvSpPr>
          <p:spPr bwMode="auto">
            <a:xfrm>
              <a:off x="3991" y="2247"/>
              <a:ext cx="17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6%</a:t>
              </a:r>
              <a:endParaRPr lang="zh-CN" altLang="zh-CN" b="1"/>
            </a:p>
          </p:txBody>
        </p:sp>
        <p:sp>
          <p:nvSpPr>
            <p:cNvPr id="24677" name="Rectangle 103"/>
            <p:cNvSpPr>
              <a:spLocks noChangeArrowheads="1"/>
            </p:cNvSpPr>
            <p:nvPr/>
          </p:nvSpPr>
          <p:spPr bwMode="auto">
            <a:xfrm>
              <a:off x="4138" y="2247"/>
              <a:ext cx="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 </a:t>
              </a:r>
              <a:endParaRPr lang="zh-CN" altLang="zh-CN" b="1"/>
            </a:p>
          </p:txBody>
        </p:sp>
        <p:sp>
          <p:nvSpPr>
            <p:cNvPr id="24678" name="Rectangle 104"/>
            <p:cNvSpPr>
              <a:spLocks noChangeArrowheads="1"/>
            </p:cNvSpPr>
            <p:nvPr/>
          </p:nvSpPr>
          <p:spPr bwMode="auto">
            <a:xfrm>
              <a:off x="1246" y="2206"/>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79" name="Rectangle 105"/>
            <p:cNvSpPr>
              <a:spLocks noChangeArrowheads="1"/>
            </p:cNvSpPr>
            <p:nvPr/>
          </p:nvSpPr>
          <p:spPr bwMode="auto">
            <a:xfrm>
              <a:off x="1252" y="2206"/>
              <a:ext cx="2559"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80" name="Rectangle 106"/>
            <p:cNvSpPr>
              <a:spLocks noChangeArrowheads="1"/>
            </p:cNvSpPr>
            <p:nvPr/>
          </p:nvSpPr>
          <p:spPr bwMode="auto">
            <a:xfrm>
              <a:off x="3811" y="2206"/>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81" name="Rectangle 107"/>
            <p:cNvSpPr>
              <a:spLocks noChangeArrowheads="1"/>
            </p:cNvSpPr>
            <p:nvPr/>
          </p:nvSpPr>
          <p:spPr bwMode="auto">
            <a:xfrm>
              <a:off x="3817" y="2206"/>
              <a:ext cx="98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82" name="Rectangle 108"/>
            <p:cNvSpPr>
              <a:spLocks noChangeArrowheads="1"/>
            </p:cNvSpPr>
            <p:nvPr/>
          </p:nvSpPr>
          <p:spPr bwMode="auto">
            <a:xfrm>
              <a:off x="4805" y="2206"/>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83" name="Rectangle 109"/>
            <p:cNvSpPr>
              <a:spLocks noChangeArrowheads="1"/>
            </p:cNvSpPr>
            <p:nvPr/>
          </p:nvSpPr>
          <p:spPr bwMode="auto">
            <a:xfrm>
              <a:off x="1246" y="2212"/>
              <a:ext cx="6" cy="19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84" name="Rectangle 110"/>
            <p:cNvSpPr>
              <a:spLocks noChangeArrowheads="1"/>
            </p:cNvSpPr>
            <p:nvPr/>
          </p:nvSpPr>
          <p:spPr bwMode="auto">
            <a:xfrm>
              <a:off x="3811" y="2212"/>
              <a:ext cx="6" cy="19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85" name="Rectangle 111"/>
            <p:cNvSpPr>
              <a:spLocks noChangeArrowheads="1"/>
            </p:cNvSpPr>
            <p:nvPr/>
          </p:nvSpPr>
          <p:spPr bwMode="auto">
            <a:xfrm>
              <a:off x="4805" y="2212"/>
              <a:ext cx="6" cy="19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86" name="Rectangle 112"/>
            <p:cNvSpPr>
              <a:spLocks noChangeArrowheads="1"/>
            </p:cNvSpPr>
            <p:nvPr/>
          </p:nvSpPr>
          <p:spPr bwMode="auto">
            <a:xfrm>
              <a:off x="1315" y="2449"/>
              <a:ext cx="45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solidFill>
                    <a:srgbClr val="000000"/>
                  </a:solidFill>
                  <a:latin typeface="宋体" panose="02010600030101010101" pitchFamily="2" charset="-122"/>
                </a:rPr>
                <a:t>实现错误</a:t>
              </a:r>
              <a:endParaRPr lang="zh-CN" altLang="en-US" b="1"/>
            </a:p>
          </p:txBody>
        </p:sp>
        <p:sp>
          <p:nvSpPr>
            <p:cNvPr id="24687" name="Rectangle 113"/>
            <p:cNvSpPr>
              <a:spLocks noChangeArrowheads="1"/>
            </p:cNvSpPr>
            <p:nvPr/>
          </p:nvSpPr>
          <p:spPr bwMode="auto">
            <a:xfrm>
              <a:off x="1757" y="2444"/>
              <a:ext cx="140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(other implementation error)</a:t>
              </a:r>
              <a:endParaRPr lang="zh-CN" altLang="zh-CN" b="1"/>
            </a:p>
          </p:txBody>
        </p:sp>
        <p:sp>
          <p:nvSpPr>
            <p:cNvPr id="24688" name="Rectangle 114"/>
            <p:cNvSpPr>
              <a:spLocks noChangeArrowheads="1"/>
            </p:cNvSpPr>
            <p:nvPr/>
          </p:nvSpPr>
          <p:spPr bwMode="auto">
            <a:xfrm>
              <a:off x="3020" y="2444"/>
              <a:ext cx="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 </a:t>
              </a:r>
              <a:endParaRPr lang="zh-CN" altLang="zh-CN" b="1"/>
            </a:p>
          </p:txBody>
        </p:sp>
        <p:sp>
          <p:nvSpPr>
            <p:cNvPr id="24689" name="Rectangle 115"/>
            <p:cNvSpPr>
              <a:spLocks noChangeArrowheads="1"/>
            </p:cNvSpPr>
            <p:nvPr/>
          </p:nvSpPr>
          <p:spPr bwMode="auto">
            <a:xfrm>
              <a:off x="3880" y="2449"/>
              <a:ext cx="5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宋体" panose="02010600030101010101" pitchFamily="2" charset="-122"/>
                </a:rPr>
                <a:t> </a:t>
              </a:r>
              <a:endParaRPr lang="zh-CN" altLang="zh-CN" b="1"/>
            </a:p>
          </p:txBody>
        </p:sp>
        <p:sp>
          <p:nvSpPr>
            <p:cNvPr id="24690" name="Rectangle 116"/>
            <p:cNvSpPr>
              <a:spLocks noChangeArrowheads="1"/>
            </p:cNvSpPr>
            <p:nvPr/>
          </p:nvSpPr>
          <p:spPr bwMode="auto">
            <a:xfrm>
              <a:off x="3991" y="2444"/>
              <a:ext cx="22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18%</a:t>
              </a:r>
              <a:endParaRPr lang="zh-CN" altLang="zh-CN" b="1"/>
            </a:p>
          </p:txBody>
        </p:sp>
        <p:sp>
          <p:nvSpPr>
            <p:cNvPr id="24691" name="Rectangle 117"/>
            <p:cNvSpPr>
              <a:spLocks noChangeArrowheads="1"/>
            </p:cNvSpPr>
            <p:nvPr/>
          </p:nvSpPr>
          <p:spPr bwMode="auto">
            <a:xfrm>
              <a:off x="4193" y="2444"/>
              <a:ext cx="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Times New Roman" panose="02020603050405020304" pitchFamily="18" charset="0"/>
                </a:rPr>
                <a:t> </a:t>
              </a:r>
              <a:endParaRPr lang="zh-CN" altLang="zh-CN" b="1"/>
            </a:p>
          </p:txBody>
        </p:sp>
        <p:sp>
          <p:nvSpPr>
            <p:cNvPr id="24692" name="Rectangle 118"/>
            <p:cNvSpPr>
              <a:spLocks noChangeArrowheads="1"/>
            </p:cNvSpPr>
            <p:nvPr/>
          </p:nvSpPr>
          <p:spPr bwMode="auto">
            <a:xfrm>
              <a:off x="1246" y="240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93" name="Rectangle 119"/>
            <p:cNvSpPr>
              <a:spLocks noChangeArrowheads="1"/>
            </p:cNvSpPr>
            <p:nvPr/>
          </p:nvSpPr>
          <p:spPr bwMode="auto">
            <a:xfrm>
              <a:off x="1252" y="2403"/>
              <a:ext cx="2559"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94" name="Rectangle 120"/>
            <p:cNvSpPr>
              <a:spLocks noChangeArrowheads="1"/>
            </p:cNvSpPr>
            <p:nvPr/>
          </p:nvSpPr>
          <p:spPr bwMode="auto">
            <a:xfrm>
              <a:off x="3811" y="240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95" name="Rectangle 121"/>
            <p:cNvSpPr>
              <a:spLocks noChangeArrowheads="1"/>
            </p:cNvSpPr>
            <p:nvPr/>
          </p:nvSpPr>
          <p:spPr bwMode="auto">
            <a:xfrm>
              <a:off x="3817" y="2403"/>
              <a:ext cx="98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96" name="Rectangle 122"/>
            <p:cNvSpPr>
              <a:spLocks noChangeArrowheads="1"/>
            </p:cNvSpPr>
            <p:nvPr/>
          </p:nvSpPr>
          <p:spPr bwMode="auto">
            <a:xfrm>
              <a:off x="4805" y="2403"/>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97" name="Rectangle 123"/>
            <p:cNvSpPr>
              <a:spLocks noChangeArrowheads="1"/>
            </p:cNvSpPr>
            <p:nvPr/>
          </p:nvSpPr>
          <p:spPr bwMode="auto">
            <a:xfrm>
              <a:off x="1246" y="2409"/>
              <a:ext cx="6" cy="19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98" name="Rectangle 124"/>
            <p:cNvSpPr>
              <a:spLocks noChangeArrowheads="1"/>
            </p:cNvSpPr>
            <p:nvPr/>
          </p:nvSpPr>
          <p:spPr bwMode="auto">
            <a:xfrm>
              <a:off x="1246" y="2601"/>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699" name="Rectangle 125"/>
            <p:cNvSpPr>
              <a:spLocks noChangeArrowheads="1"/>
            </p:cNvSpPr>
            <p:nvPr/>
          </p:nvSpPr>
          <p:spPr bwMode="auto">
            <a:xfrm>
              <a:off x="1246" y="2601"/>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700" name="Rectangle 126"/>
            <p:cNvSpPr>
              <a:spLocks noChangeArrowheads="1"/>
            </p:cNvSpPr>
            <p:nvPr/>
          </p:nvSpPr>
          <p:spPr bwMode="auto">
            <a:xfrm>
              <a:off x="1252" y="2601"/>
              <a:ext cx="2559"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701" name="Rectangle 127"/>
            <p:cNvSpPr>
              <a:spLocks noChangeArrowheads="1"/>
            </p:cNvSpPr>
            <p:nvPr/>
          </p:nvSpPr>
          <p:spPr bwMode="auto">
            <a:xfrm>
              <a:off x="3811" y="2409"/>
              <a:ext cx="6" cy="19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702" name="Rectangle 128"/>
            <p:cNvSpPr>
              <a:spLocks noChangeArrowheads="1"/>
            </p:cNvSpPr>
            <p:nvPr/>
          </p:nvSpPr>
          <p:spPr bwMode="auto">
            <a:xfrm>
              <a:off x="3811" y="2601"/>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703" name="Rectangle 129"/>
            <p:cNvSpPr>
              <a:spLocks noChangeArrowheads="1"/>
            </p:cNvSpPr>
            <p:nvPr/>
          </p:nvSpPr>
          <p:spPr bwMode="auto">
            <a:xfrm>
              <a:off x="3817" y="2601"/>
              <a:ext cx="98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704" name="Rectangle 130"/>
            <p:cNvSpPr>
              <a:spLocks noChangeArrowheads="1"/>
            </p:cNvSpPr>
            <p:nvPr/>
          </p:nvSpPr>
          <p:spPr bwMode="auto">
            <a:xfrm>
              <a:off x="4805" y="2409"/>
              <a:ext cx="6" cy="19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705" name="Rectangle 131"/>
            <p:cNvSpPr>
              <a:spLocks noChangeArrowheads="1"/>
            </p:cNvSpPr>
            <p:nvPr/>
          </p:nvSpPr>
          <p:spPr bwMode="auto">
            <a:xfrm>
              <a:off x="4805" y="2601"/>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706" name="Rectangle 132"/>
            <p:cNvSpPr>
              <a:spLocks noChangeArrowheads="1"/>
            </p:cNvSpPr>
            <p:nvPr/>
          </p:nvSpPr>
          <p:spPr bwMode="auto">
            <a:xfrm>
              <a:off x="4805" y="2601"/>
              <a:ext cx="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24707" name="Rectangle 133"/>
            <p:cNvSpPr>
              <a:spLocks noChangeArrowheads="1"/>
            </p:cNvSpPr>
            <p:nvPr/>
          </p:nvSpPr>
          <p:spPr bwMode="auto">
            <a:xfrm>
              <a:off x="480" y="2632"/>
              <a:ext cx="3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600" b="1">
                  <a:solidFill>
                    <a:srgbClr val="000000"/>
                  </a:solidFill>
                  <a:latin typeface="Times New Roman" panose="02020603050405020304" pitchFamily="18" charset="0"/>
                </a:rPr>
                <a:t> </a:t>
              </a:r>
              <a:endParaRPr lang="zh-CN" altLang="zh-CN" b="1"/>
            </a:p>
          </p:txBody>
        </p:sp>
      </p:grpSp>
    </p:spTree>
  </p:cSld>
  <p:clrMapOvr>
    <a:masterClrMapping/>
  </p:clrMapOvr>
  <p:transition spd="med">
    <p:randomBar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428625" y="1000125"/>
            <a:ext cx="4643438" cy="1000125"/>
          </a:xfrm>
        </p:spPr>
        <p:txBody>
          <a:bodyPr/>
          <a:lstStyle/>
          <a:p>
            <a:pPr>
              <a:buFont typeface="Wingdings" panose="05000000000000000000" pitchFamily="2" charset="2"/>
              <a:buNone/>
              <a:defRPr/>
            </a:pPr>
            <a:r>
              <a:rPr lang="en-US" altLang="zh-CN" sz="2000" b="1" dirty="0">
                <a:solidFill>
                  <a:schemeClr val="accent6"/>
                </a:solidFill>
              </a:rPr>
              <a:t>2. </a:t>
            </a:r>
            <a:r>
              <a:rPr lang="zh-CN" altLang="zh-CN" sz="2000" b="1" dirty="0">
                <a:solidFill>
                  <a:schemeClr val="accent6"/>
                </a:solidFill>
              </a:rPr>
              <a:t>威胁建模的过程</a:t>
            </a:r>
          </a:p>
          <a:p>
            <a:pPr>
              <a:defRPr/>
            </a:pPr>
            <a:r>
              <a:rPr lang="zh-CN" altLang="zh-CN" sz="1800" b="1" dirty="0"/>
              <a:t>威胁建模的过程主要有</a:t>
            </a:r>
            <a:r>
              <a:rPr lang="en-US" altLang="zh-CN" sz="1800" b="1" dirty="0"/>
              <a:t>4</a:t>
            </a:r>
            <a:r>
              <a:rPr lang="zh-CN" altLang="zh-CN" sz="1800" b="1" dirty="0"/>
              <a:t>个方面。</a:t>
            </a:r>
            <a:endParaRPr lang="en-US" altLang="zh-CN" sz="1800" b="1" dirty="0"/>
          </a:p>
        </p:txBody>
      </p:sp>
      <p:sp>
        <p:nvSpPr>
          <p:cNvPr id="6"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9.2 </a:t>
            </a:r>
            <a:r>
              <a:rPr lang="zh-CN" altLang="zh-CN" sz="2000" b="1">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00048"/>
            <a:ext cx="3000396"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9.2.2 </a:t>
            </a:r>
            <a:r>
              <a:rPr lang="en-US" altLang="en-US" sz="2000" dirty="0"/>
              <a:t>STRIDE</a:t>
            </a:r>
            <a:r>
              <a:rPr altLang="en-US" sz="2000" dirty="0"/>
              <a:t>威胁建模</a:t>
            </a:r>
          </a:p>
        </p:txBody>
      </p:sp>
      <p:sp>
        <p:nvSpPr>
          <p:cNvPr id="13" name="内容占位符 2"/>
          <p:cNvSpPr txBox="1"/>
          <p:nvPr/>
        </p:nvSpPr>
        <p:spPr bwMode="auto">
          <a:xfrm>
            <a:off x="500063" y="4071938"/>
            <a:ext cx="8072437" cy="357187"/>
          </a:xfrm>
          <a:prstGeom prst="rect">
            <a:avLst/>
          </a:prstGeom>
          <a:noFill/>
          <a:ln w="9525">
            <a:noFill/>
            <a:miter lim="800000"/>
          </a:ln>
        </p:spPr>
        <p:txBody>
          <a:bodyPr/>
          <a:lstStyle/>
          <a:p>
            <a:pPr marL="342900" indent="-342900">
              <a:lnSpc>
                <a:spcPct val="150000"/>
              </a:lnSpc>
              <a:buClr>
                <a:srgbClr val="E46C0A"/>
              </a:buClr>
              <a:defRPr/>
            </a:pPr>
            <a:r>
              <a:rPr lang="zh-CN" altLang="zh-CN" sz="1800" b="1" kern="0" dirty="0">
                <a:latin typeface="+mj-ea"/>
                <a:ea typeface="+mj-ea"/>
              </a:rPr>
              <a:t>以上过程可能反复进行多次，因为一次标识所有可能的威胁是很困难的。</a:t>
            </a:r>
            <a:endParaRPr lang="en-US" altLang="zh-CN" sz="1800" b="1" kern="0" dirty="0">
              <a:latin typeface="+mj-ea"/>
              <a:ea typeface="+mj-ea"/>
            </a:endParaRPr>
          </a:p>
        </p:txBody>
      </p:sp>
      <p:sp>
        <p:nvSpPr>
          <p:cNvPr id="25606" name="左大括号 4"/>
          <p:cNvSpPr/>
          <p:nvPr/>
        </p:nvSpPr>
        <p:spPr bwMode="auto">
          <a:xfrm>
            <a:off x="2571750" y="2214563"/>
            <a:ext cx="285750" cy="1714500"/>
          </a:xfrm>
          <a:prstGeom prst="leftBrace">
            <a:avLst>
              <a:gd name="adj1" fmla="val 35111"/>
              <a:gd name="adj2" fmla="val 50000"/>
            </a:avLst>
          </a:prstGeom>
          <a:noFill/>
          <a:ln w="28575" algn="ctr">
            <a:solidFill>
              <a:srgbClr val="C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solidFill>
                <a:srgbClr val="0033CC"/>
              </a:solidFill>
            </a:endParaRPr>
          </a:p>
        </p:txBody>
      </p:sp>
      <p:sp>
        <p:nvSpPr>
          <p:cNvPr id="25607" name="TextBox 6"/>
          <p:cNvSpPr txBox="1">
            <a:spLocks noChangeArrowheads="1"/>
          </p:cNvSpPr>
          <p:nvPr/>
        </p:nvSpPr>
        <p:spPr bwMode="auto">
          <a:xfrm>
            <a:off x="2786063" y="2143125"/>
            <a:ext cx="3730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en-US" altLang="zh-CN" sz="1800" b="1">
                <a:solidFill>
                  <a:srgbClr val="0033CC"/>
                </a:solidFill>
              </a:rPr>
              <a:t>(1)</a:t>
            </a:r>
            <a:r>
              <a:rPr lang="zh-CN" altLang="zh-CN" sz="1800" b="1">
                <a:solidFill>
                  <a:srgbClr val="0033CC"/>
                </a:solidFill>
              </a:rPr>
              <a:t>发现已知的对系统的威胁</a:t>
            </a:r>
          </a:p>
        </p:txBody>
      </p:sp>
      <p:sp>
        <p:nvSpPr>
          <p:cNvPr id="25608" name="TextBox 6"/>
          <p:cNvSpPr txBox="1">
            <a:spLocks noChangeArrowheads="1"/>
          </p:cNvSpPr>
          <p:nvPr/>
        </p:nvSpPr>
        <p:spPr bwMode="auto">
          <a:xfrm>
            <a:off x="2786063" y="2643188"/>
            <a:ext cx="3730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en-US" altLang="zh-CN" sz="1800" b="1">
                <a:solidFill>
                  <a:srgbClr val="0033CC"/>
                </a:solidFill>
              </a:rPr>
              <a:t>(2)</a:t>
            </a:r>
            <a:r>
              <a:rPr lang="zh-CN" altLang="zh-CN" sz="1800" b="1">
                <a:solidFill>
                  <a:srgbClr val="0033CC"/>
                </a:solidFill>
              </a:rPr>
              <a:t>将威胁以风险从高到低排序</a:t>
            </a:r>
          </a:p>
        </p:txBody>
      </p:sp>
      <p:sp>
        <p:nvSpPr>
          <p:cNvPr id="17" name="TextBox 6"/>
          <p:cNvSpPr txBox="1">
            <a:spLocks noChangeArrowheads="1"/>
          </p:cNvSpPr>
          <p:nvPr/>
        </p:nvSpPr>
        <p:spPr bwMode="auto">
          <a:xfrm>
            <a:off x="2786063" y="3143250"/>
            <a:ext cx="3730625" cy="369888"/>
          </a:xfrm>
          <a:prstGeom prst="rect">
            <a:avLst/>
          </a:prstGeom>
          <a:noFill/>
          <a:ln w="9525">
            <a:noFill/>
            <a:miter lim="800000"/>
          </a:ln>
        </p:spPr>
        <p:txBody>
          <a:bodyPr>
            <a:spAutoFit/>
          </a:bodyPr>
          <a:lstStyle/>
          <a:p>
            <a:pPr>
              <a:defRPr/>
            </a:pPr>
            <a:r>
              <a:rPr lang="en-US" altLang="zh-CN" sz="1800" b="1" u="sng" dirty="0">
                <a:solidFill>
                  <a:srgbClr val="0033CC"/>
                </a:solidFill>
                <a:effectLst>
                  <a:outerShdw blurRad="38100" dist="38100" dir="2700000" algn="tl">
                    <a:srgbClr val="000000">
                      <a:alpha val="43137"/>
                    </a:srgbClr>
                  </a:outerShdw>
                </a:effectLst>
                <a:latin typeface="Arial" panose="020B0604020202020204" pitchFamily="34" charset="0"/>
              </a:rPr>
              <a:t>(3)</a:t>
            </a:r>
            <a:r>
              <a:rPr lang="zh-CN" altLang="zh-CN" sz="1800" b="1" u="sng" dirty="0">
                <a:solidFill>
                  <a:srgbClr val="0033CC"/>
                </a:solidFill>
                <a:effectLst>
                  <a:outerShdw blurRad="38100" dist="38100" dir="2700000" algn="tl">
                    <a:srgbClr val="000000">
                      <a:alpha val="43137"/>
                    </a:srgbClr>
                  </a:outerShdw>
                </a:effectLst>
                <a:latin typeface="Arial" panose="020B0604020202020204" pitchFamily="34" charset="0"/>
              </a:rPr>
              <a:t>确定减少威胁的技术</a:t>
            </a:r>
          </a:p>
        </p:txBody>
      </p:sp>
      <p:sp>
        <p:nvSpPr>
          <p:cNvPr id="25610" name="TextBox 6"/>
          <p:cNvSpPr txBox="1">
            <a:spLocks noChangeArrowheads="1"/>
          </p:cNvSpPr>
          <p:nvPr/>
        </p:nvSpPr>
        <p:spPr bwMode="auto">
          <a:xfrm>
            <a:off x="2786063" y="3643313"/>
            <a:ext cx="3730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en-US" altLang="zh-CN" sz="1800" b="1">
                <a:solidFill>
                  <a:srgbClr val="0033CC"/>
                </a:solidFill>
              </a:rPr>
              <a:t>(4)</a:t>
            </a:r>
            <a:r>
              <a:rPr lang="zh-CN" altLang="zh-CN" sz="1800" b="1">
                <a:solidFill>
                  <a:srgbClr val="0033CC"/>
                </a:solidFill>
              </a:rPr>
              <a:t>选择合适的技术</a:t>
            </a:r>
          </a:p>
        </p:txBody>
      </p:sp>
    </p:spTree>
  </p:cSld>
  <p:clrMapOvr>
    <a:masterClrMapping/>
  </p:clrMapOvr>
  <p:transition spd="med">
    <p:randomBar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142875" y="571500"/>
            <a:ext cx="9144000" cy="868363"/>
          </a:xfrm>
        </p:spPr>
        <p:txBody>
          <a:bodyPr/>
          <a:lstStyle/>
          <a:p>
            <a:pPr marL="0" indent="0">
              <a:buFont typeface="Wingdings" panose="05000000000000000000" pitchFamily="2" charset="2"/>
              <a:buNone/>
              <a:defRPr/>
            </a:pPr>
            <a:endParaRPr lang="en-US" altLang="zh-CN" sz="1400" b="1" dirty="0"/>
          </a:p>
          <a:p>
            <a:pPr>
              <a:buFont typeface="Wingdings" panose="05000000000000000000" pitchFamily="2" charset="2"/>
              <a:buNone/>
              <a:defRPr/>
            </a:pPr>
            <a:r>
              <a:rPr lang="en-US" altLang="zh-CN" sz="1800" b="1" u="sng" dirty="0">
                <a:solidFill>
                  <a:srgbClr val="0033CC"/>
                </a:solidFill>
                <a:effectLst>
                  <a:outerShdw blurRad="38100" dist="38100" dir="2700000" algn="tl">
                    <a:srgbClr val="000000">
                      <a:alpha val="43137"/>
                    </a:srgbClr>
                  </a:outerShdw>
                </a:effectLst>
              </a:rPr>
              <a:t>(3) </a:t>
            </a:r>
            <a:r>
              <a:rPr lang="zh-CN" altLang="en-US" sz="1800" b="1" u="sng" dirty="0">
                <a:solidFill>
                  <a:srgbClr val="0033CC"/>
                </a:solidFill>
                <a:effectLst>
                  <a:outerShdw blurRad="38100" dist="38100" dir="2700000" algn="tl">
                    <a:srgbClr val="000000">
                      <a:alpha val="43137"/>
                    </a:srgbClr>
                  </a:outerShdw>
                </a:effectLst>
              </a:rPr>
              <a:t>确定防御威胁的相关技术</a:t>
            </a:r>
            <a:r>
              <a:rPr lang="zh-CN" altLang="en-US" sz="1800" b="1" dirty="0"/>
              <a:t>，下表给出了与威胁相关的防御技术。</a:t>
            </a:r>
            <a:endParaRPr lang="en-US" altLang="zh-CN" sz="2000" dirty="0"/>
          </a:p>
        </p:txBody>
      </p:sp>
      <p:sp>
        <p:nvSpPr>
          <p:cNvPr id="7"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9.2 </a:t>
            </a:r>
            <a:r>
              <a:rPr lang="zh-CN" altLang="zh-CN" sz="2000" b="1">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8" name="标题 1"/>
          <p:cNvSpPr txBox="1"/>
          <p:nvPr/>
        </p:nvSpPr>
        <p:spPr bwMode="auto">
          <a:xfrm>
            <a:off x="214282" y="500048"/>
            <a:ext cx="3000396"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9.2.2 </a:t>
            </a:r>
            <a:r>
              <a:rPr lang="en-US" altLang="en-US" sz="2000" dirty="0"/>
              <a:t>STRIDE</a:t>
            </a:r>
            <a:r>
              <a:rPr altLang="en-US" sz="2000" dirty="0"/>
              <a:t>威胁建模</a:t>
            </a:r>
          </a:p>
        </p:txBody>
      </p:sp>
      <p:grpSp>
        <p:nvGrpSpPr>
          <p:cNvPr id="26629" name="Group 105"/>
          <p:cNvGrpSpPr>
            <a:grpSpLocks noChangeAspect="1"/>
          </p:cNvGrpSpPr>
          <p:nvPr/>
        </p:nvGrpSpPr>
        <p:grpSpPr bwMode="auto">
          <a:xfrm>
            <a:off x="638547" y="1308001"/>
            <a:ext cx="7704460" cy="3676650"/>
            <a:chOff x="675" y="810"/>
            <a:chExt cx="4000" cy="2316"/>
          </a:xfrm>
        </p:grpSpPr>
        <p:sp>
          <p:nvSpPr>
            <p:cNvPr id="26632" name="AutoShape 104"/>
            <p:cNvSpPr>
              <a:spLocks noChangeAspect="1" noChangeArrowheads="1" noTextEdit="1"/>
            </p:cNvSpPr>
            <p:nvPr/>
          </p:nvSpPr>
          <p:spPr bwMode="auto">
            <a:xfrm>
              <a:off x="675" y="810"/>
              <a:ext cx="4000" cy="2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latin typeface="+mj-ea"/>
                <a:ea typeface="+mj-ea"/>
              </a:endParaRPr>
            </a:p>
          </p:txBody>
        </p:sp>
        <p:sp>
          <p:nvSpPr>
            <p:cNvPr id="26633" name="Rectangle 106"/>
            <p:cNvSpPr>
              <a:spLocks noChangeArrowheads="1"/>
            </p:cNvSpPr>
            <p:nvPr/>
          </p:nvSpPr>
          <p:spPr bwMode="auto">
            <a:xfrm>
              <a:off x="2247" y="830"/>
              <a:ext cx="101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solidFill>
                    <a:srgbClr val="000000"/>
                  </a:solidFill>
                  <a:latin typeface="+mj-ea"/>
                  <a:ea typeface="+mj-ea"/>
                </a:rPr>
                <a:t>防御各个威胁的技术</a:t>
              </a:r>
              <a:endParaRPr lang="zh-CN" altLang="en-US" b="1">
                <a:latin typeface="+mj-ea"/>
                <a:ea typeface="+mj-ea"/>
              </a:endParaRPr>
            </a:p>
          </p:txBody>
        </p:sp>
        <p:sp>
          <p:nvSpPr>
            <p:cNvPr id="26634" name="Rectangle 107"/>
            <p:cNvSpPr>
              <a:spLocks noChangeArrowheads="1"/>
            </p:cNvSpPr>
            <p:nvPr/>
          </p:nvSpPr>
          <p:spPr bwMode="auto">
            <a:xfrm>
              <a:off x="3158" y="827"/>
              <a:ext cx="3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mj-ea"/>
                  <a:ea typeface="+mj-ea"/>
                </a:rPr>
                <a:t> </a:t>
              </a:r>
              <a:endParaRPr lang="zh-CN" altLang="zh-CN" b="1">
                <a:latin typeface="+mj-ea"/>
                <a:ea typeface="+mj-ea"/>
              </a:endParaRPr>
            </a:p>
          </p:txBody>
        </p:sp>
        <p:sp>
          <p:nvSpPr>
            <p:cNvPr id="26635" name="Rectangle 108"/>
            <p:cNvSpPr>
              <a:spLocks noChangeArrowheads="1"/>
            </p:cNvSpPr>
            <p:nvPr/>
          </p:nvSpPr>
          <p:spPr bwMode="auto">
            <a:xfrm>
              <a:off x="1522" y="1006"/>
              <a:ext cx="38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威胁类型</a:t>
              </a:r>
              <a:endParaRPr lang="zh-CN" altLang="en-US" b="1">
                <a:latin typeface="+mj-ea"/>
                <a:ea typeface="+mj-ea"/>
              </a:endParaRPr>
            </a:p>
          </p:txBody>
        </p:sp>
        <p:sp>
          <p:nvSpPr>
            <p:cNvPr id="26636" name="Rectangle 109"/>
            <p:cNvSpPr>
              <a:spLocks noChangeArrowheads="1"/>
            </p:cNvSpPr>
            <p:nvPr/>
          </p:nvSpPr>
          <p:spPr bwMode="auto">
            <a:xfrm>
              <a:off x="1870" y="1001"/>
              <a:ext cx="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6637" name="Rectangle 110"/>
            <p:cNvSpPr>
              <a:spLocks noChangeArrowheads="1"/>
            </p:cNvSpPr>
            <p:nvPr/>
          </p:nvSpPr>
          <p:spPr bwMode="auto">
            <a:xfrm>
              <a:off x="3356" y="1006"/>
              <a:ext cx="38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防御技术</a:t>
              </a:r>
              <a:endParaRPr lang="zh-CN" altLang="en-US" b="1">
                <a:latin typeface="+mj-ea"/>
                <a:ea typeface="+mj-ea"/>
              </a:endParaRPr>
            </a:p>
          </p:txBody>
        </p:sp>
        <p:sp>
          <p:nvSpPr>
            <p:cNvPr id="26638" name="Rectangle 111"/>
            <p:cNvSpPr>
              <a:spLocks noChangeArrowheads="1"/>
            </p:cNvSpPr>
            <p:nvPr/>
          </p:nvSpPr>
          <p:spPr bwMode="auto">
            <a:xfrm>
              <a:off x="3704" y="1001"/>
              <a:ext cx="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6639" name="Rectangle 112"/>
            <p:cNvSpPr>
              <a:spLocks noChangeArrowheads="1"/>
            </p:cNvSpPr>
            <p:nvPr/>
          </p:nvSpPr>
          <p:spPr bwMode="auto">
            <a:xfrm>
              <a:off x="866" y="968"/>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40" name="Rectangle 113"/>
            <p:cNvSpPr>
              <a:spLocks noChangeArrowheads="1"/>
            </p:cNvSpPr>
            <p:nvPr/>
          </p:nvSpPr>
          <p:spPr bwMode="auto">
            <a:xfrm>
              <a:off x="866" y="968"/>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41" name="Rectangle 114"/>
            <p:cNvSpPr>
              <a:spLocks noChangeArrowheads="1"/>
            </p:cNvSpPr>
            <p:nvPr/>
          </p:nvSpPr>
          <p:spPr bwMode="auto">
            <a:xfrm>
              <a:off x="871" y="968"/>
              <a:ext cx="165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42" name="Rectangle 115"/>
            <p:cNvSpPr>
              <a:spLocks noChangeArrowheads="1"/>
            </p:cNvSpPr>
            <p:nvPr/>
          </p:nvSpPr>
          <p:spPr bwMode="auto">
            <a:xfrm>
              <a:off x="2522" y="968"/>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43" name="Rectangle 116"/>
            <p:cNvSpPr>
              <a:spLocks noChangeArrowheads="1"/>
            </p:cNvSpPr>
            <p:nvPr/>
          </p:nvSpPr>
          <p:spPr bwMode="auto">
            <a:xfrm>
              <a:off x="2527" y="968"/>
              <a:ext cx="200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44" name="Rectangle 117"/>
            <p:cNvSpPr>
              <a:spLocks noChangeArrowheads="1"/>
            </p:cNvSpPr>
            <p:nvPr/>
          </p:nvSpPr>
          <p:spPr bwMode="auto">
            <a:xfrm>
              <a:off x="4535" y="968"/>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45" name="Rectangle 118"/>
            <p:cNvSpPr>
              <a:spLocks noChangeArrowheads="1"/>
            </p:cNvSpPr>
            <p:nvPr/>
          </p:nvSpPr>
          <p:spPr bwMode="auto">
            <a:xfrm>
              <a:off x="4535" y="968"/>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46" name="Rectangle 122"/>
            <p:cNvSpPr>
              <a:spLocks noChangeArrowheads="1"/>
            </p:cNvSpPr>
            <p:nvPr/>
          </p:nvSpPr>
          <p:spPr bwMode="auto">
            <a:xfrm>
              <a:off x="920" y="1350"/>
              <a:ext cx="115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身份假冒</a:t>
              </a:r>
              <a:r>
                <a:rPr lang="en-US" altLang="zh-CN" sz="1200" b="1">
                  <a:solidFill>
                    <a:srgbClr val="000000"/>
                  </a:solidFill>
                  <a:latin typeface="+mj-ea"/>
                  <a:ea typeface="+mj-ea"/>
                  <a:cs typeface="Times New Roman" panose="02020603050405020304" pitchFamily="18" charset="0"/>
                </a:rPr>
                <a:t>(spoofing identity)</a:t>
              </a:r>
              <a:endParaRPr lang="zh-CN" altLang="zh-CN" b="1">
                <a:latin typeface="+mj-ea"/>
                <a:ea typeface="+mj-ea"/>
                <a:cs typeface="Times New Roman" panose="02020603050405020304" pitchFamily="18" charset="0"/>
              </a:endParaRPr>
            </a:p>
          </p:txBody>
        </p:sp>
        <p:sp>
          <p:nvSpPr>
            <p:cNvPr id="26647" name="Rectangle 124"/>
            <p:cNvSpPr>
              <a:spLocks noChangeArrowheads="1"/>
            </p:cNvSpPr>
            <p:nvPr/>
          </p:nvSpPr>
          <p:spPr bwMode="auto">
            <a:xfrm>
              <a:off x="1914" y="1335"/>
              <a:ext cx="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18557" name="Rectangle 125"/>
            <p:cNvSpPr>
              <a:spLocks noChangeArrowheads="1"/>
            </p:cNvSpPr>
            <p:nvPr/>
          </p:nvSpPr>
          <p:spPr bwMode="auto">
            <a:xfrm>
              <a:off x="2565" y="1215"/>
              <a:ext cx="889" cy="233"/>
            </a:xfrm>
            <a:prstGeom prst="rect">
              <a:avLst/>
            </a:prstGeom>
            <a:noFill/>
            <a:ln w="9525">
              <a:noFill/>
              <a:miter lim="800000"/>
            </a:ln>
          </p:spPr>
          <p:txBody>
            <a:bodyPr lIns="0" tIns="0" rIns="0" bIns="0">
              <a:spAutoFit/>
            </a:bodyPr>
            <a:lstStyle/>
            <a:p>
              <a:pPr>
                <a:defRPr/>
              </a:pPr>
              <a:r>
                <a:rPr lang="zh-CN" sz="1200" b="1" dirty="0">
                  <a:solidFill>
                    <a:srgbClr val="000000"/>
                  </a:solidFill>
                  <a:latin typeface="+mj-ea"/>
                  <a:ea typeface="+mj-ea"/>
                </a:rPr>
                <a:t>认证</a:t>
              </a:r>
              <a:r>
                <a:rPr lang="zh-CN" altLang="zh-CN" sz="1200" b="1" dirty="0">
                  <a:solidFill>
                    <a:srgbClr val="000000"/>
                  </a:solidFill>
                  <a:latin typeface="+mj-ea"/>
                  <a:ea typeface="+mj-ea"/>
                </a:rPr>
                <a:t>(authentication)</a:t>
              </a:r>
              <a:endParaRPr lang="zh-CN" altLang="zh-CN" sz="1050" b="1" dirty="0">
                <a:latin typeface="+mj-ea"/>
                <a:ea typeface="+mj-ea"/>
              </a:endParaRPr>
            </a:p>
          </p:txBody>
        </p:sp>
        <p:sp>
          <p:nvSpPr>
            <p:cNvPr id="26649" name="Rectangle 127"/>
            <p:cNvSpPr>
              <a:spLocks noChangeArrowheads="1"/>
            </p:cNvSpPr>
            <p:nvPr/>
          </p:nvSpPr>
          <p:spPr bwMode="auto">
            <a:xfrm>
              <a:off x="3299" y="1172"/>
              <a:ext cx="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6650" name="Rectangle 128"/>
            <p:cNvSpPr>
              <a:spLocks noChangeArrowheads="1"/>
            </p:cNvSpPr>
            <p:nvPr/>
          </p:nvSpPr>
          <p:spPr bwMode="auto">
            <a:xfrm>
              <a:off x="2565" y="1350"/>
              <a:ext cx="129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保护秘密</a:t>
              </a:r>
              <a:r>
                <a:rPr lang="zh-CN" altLang="zh-CN" sz="1200" b="1">
                  <a:solidFill>
                    <a:srgbClr val="000000"/>
                  </a:solidFill>
                  <a:latin typeface="+mj-ea"/>
                  <a:ea typeface="+mj-ea"/>
                </a:rPr>
                <a:t>(protect secrets)</a:t>
              </a:r>
              <a:endParaRPr lang="zh-CN" altLang="zh-CN" sz="800" b="1">
                <a:latin typeface="+mj-ea"/>
                <a:ea typeface="+mj-ea"/>
              </a:endParaRPr>
            </a:p>
          </p:txBody>
        </p:sp>
        <p:sp>
          <p:nvSpPr>
            <p:cNvPr id="18563" name="Rectangle 131"/>
            <p:cNvSpPr>
              <a:spLocks noChangeArrowheads="1"/>
            </p:cNvSpPr>
            <p:nvPr/>
          </p:nvSpPr>
          <p:spPr bwMode="auto">
            <a:xfrm>
              <a:off x="2565" y="1485"/>
              <a:ext cx="1339" cy="233"/>
            </a:xfrm>
            <a:prstGeom prst="rect">
              <a:avLst/>
            </a:prstGeom>
            <a:noFill/>
            <a:ln w="9525">
              <a:noFill/>
              <a:miter lim="800000"/>
            </a:ln>
          </p:spPr>
          <p:txBody>
            <a:bodyPr lIns="0" tIns="0" rIns="0" bIns="0">
              <a:spAutoFit/>
            </a:bodyPr>
            <a:lstStyle/>
            <a:p>
              <a:pPr>
                <a:defRPr/>
              </a:pPr>
              <a:r>
                <a:rPr lang="zh-CN" sz="1200" b="1" dirty="0">
                  <a:solidFill>
                    <a:srgbClr val="000000"/>
                  </a:solidFill>
                  <a:latin typeface="+mj-ea"/>
                  <a:ea typeface="+mj-ea"/>
                </a:rPr>
                <a:t>不保存秘密</a:t>
              </a:r>
              <a:r>
                <a:rPr lang="zh-CN" altLang="zh-CN" sz="1200" b="1" dirty="0">
                  <a:solidFill>
                    <a:srgbClr val="000000"/>
                  </a:solidFill>
                  <a:latin typeface="+mj-ea"/>
                  <a:ea typeface="+mj-ea"/>
                </a:rPr>
                <a:t>(do not store secrets)</a:t>
              </a:r>
              <a:endParaRPr lang="zh-CN" altLang="zh-CN" sz="1050" b="1" dirty="0">
                <a:latin typeface="+mj-ea"/>
                <a:ea typeface="+mj-ea"/>
              </a:endParaRPr>
            </a:p>
          </p:txBody>
        </p:sp>
        <p:sp>
          <p:nvSpPr>
            <p:cNvPr id="26652" name="Rectangle 134"/>
            <p:cNvSpPr>
              <a:spLocks noChangeArrowheads="1"/>
            </p:cNvSpPr>
            <p:nvPr/>
          </p:nvSpPr>
          <p:spPr bwMode="auto">
            <a:xfrm>
              <a:off x="866" y="1136"/>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53" name="Rectangle 135"/>
            <p:cNvSpPr>
              <a:spLocks noChangeArrowheads="1"/>
            </p:cNvSpPr>
            <p:nvPr/>
          </p:nvSpPr>
          <p:spPr bwMode="auto">
            <a:xfrm>
              <a:off x="871" y="1136"/>
              <a:ext cx="165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54" name="Rectangle 136"/>
            <p:cNvSpPr>
              <a:spLocks noChangeArrowheads="1"/>
            </p:cNvSpPr>
            <p:nvPr/>
          </p:nvSpPr>
          <p:spPr bwMode="auto">
            <a:xfrm>
              <a:off x="2522" y="1136"/>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55" name="Rectangle 137"/>
            <p:cNvSpPr>
              <a:spLocks noChangeArrowheads="1"/>
            </p:cNvSpPr>
            <p:nvPr/>
          </p:nvSpPr>
          <p:spPr bwMode="auto">
            <a:xfrm>
              <a:off x="2527" y="1136"/>
              <a:ext cx="200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56" name="Rectangle 138"/>
            <p:cNvSpPr>
              <a:spLocks noChangeArrowheads="1"/>
            </p:cNvSpPr>
            <p:nvPr/>
          </p:nvSpPr>
          <p:spPr bwMode="auto">
            <a:xfrm>
              <a:off x="4535" y="1136"/>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57" name="Rectangle 142"/>
            <p:cNvSpPr>
              <a:spLocks noChangeArrowheads="1"/>
            </p:cNvSpPr>
            <p:nvPr/>
          </p:nvSpPr>
          <p:spPr bwMode="auto">
            <a:xfrm>
              <a:off x="920" y="1980"/>
              <a:ext cx="128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篡改数据</a:t>
              </a:r>
              <a:r>
                <a:rPr lang="zh-CN" altLang="zh-CN" sz="1200" b="1">
                  <a:solidFill>
                    <a:srgbClr val="000000"/>
                  </a:solidFill>
                  <a:latin typeface="+mj-ea"/>
                  <a:ea typeface="+mj-ea"/>
                </a:rPr>
                <a:t>(tampering with data)</a:t>
              </a:r>
              <a:endParaRPr lang="zh-CN" altLang="zh-CN" sz="800" b="1">
                <a:latin typeface="+mj-ea"/>
                <a:ea typeface="+mj-ea"/>
              </a:endParaRPr>
            </a:p>
          </p:txBody>
        </p:sp>
        <p:sp>
          <p:nvSpPr>
            <p:cNvPr id="26658" name="Rectangle 144"/>
            <p:cNvSpPr>
              <a:spLocks noChangeArrowheads="1"/>
            </p:cNvSpPr>
            <p:nvPr/>
          </p:nvSpPr>
          <p:spPr bwMode="auto">
            <a:xfrm>
              <a:off x="2018" y="1994"/>
              <a:ext cx="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6659" name="Rectangle 145"/>
            <p:cNvSpPr>
              <a:spLocks noChangeArrowheads="1"/>
            </p:cNvSpPr>
            <p:nvPr/>
          </p:nvSpPr>
          <p:spPr bwMode="auto">
            <a:xfrm>
              <a:off x="2576" y="1665"/>
              <a:ext cx="84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授权</a:t>
              </a:r>
              <a:r>
                <a:rPr lang="en-US" altLang="zh-CN" sz="1200" b="1">
                  <a:solidFill>
                    <a:srgbClr val="000000"/>
                  </a:solidFill>
                  <a:latin typeface="+mj-ea"/>
                  <a:ea typeface="+mj-ea"/>
                  <a:cs typeface="Times New Roman" panose="02020603050405020304" pitchFamily="18" charset="0"/>
                </a:rPr>
                <a:t>(</a:t>
              </a:r>
              <a:r>
                <a:rPr lang="zh-CN" altLang="zh-CN" sz="1200" b="1">
                  <a:solidFill>
                    <a:srgbClr val="000000"/>
                  </a:solidFill>
                  <a:latin typeface="+mj-ea"/>
                  <a:ea typeface="+mj-ea"/>
                  <a:cs typeface="Times New Roman" panose="02020603050405020304" pitchFamily="18" charset="0"/>
                </a:rPr>
                <a:t>authorization</a:t>
              </a:r>
              <a:r>
                <a:rPr lang="en-US" altLang="zh-CN" sz="1200" b="1">
                  <a:solidFill>
                    <a:srgbClr val="000000"/>
                  </a:solidFill>
                  <a:latin typeface="+mj-ea"/>
                  <a:ea typeface="+mj-ea"/>
                  <a:cs typeface="Times New Roman" panose="02020603050405020304" pitchFamily="18" charset="0"/>
                </a:rPr>
                <a:t>)</a:t>
              </a:r>
              <a:endParaRPr lang="zh-CN" altLang="zh-CN" sz="1200" b="1">
                <a:latin typeface="+mj-ea"/>
                <a:ea typeface="+mj-ea"/>
                <a:cs typeface="Times New Roman" panose="02020603050405020304" pitchFamily="18" charset="0"/>
              </a:endParaRPr>
            </a:p>
          </p:txBody>
        </p:sp>
        <p:sp>
          <p:nvSpPr>
            <p:cNvPr id="26660" name="Rectangle 147"/>
            <p:cNvSpPr>
              <a:spLocks noChangeArrowheads="1"/>
            </p:cNvSpPr>
            <p:nvPr/>
          </p:nvSpPr>
          <p:spPr bwMode="auto">
            <a:xfrm>
              <a:off x="3265" y="1667"/>
              <a:ext cx="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6661" name="Rectangle 148"/>
            <p:cNvSpPr>
              <a:spLocks noChangeArrowheads="1"/>
            </p:cNvSpPr>
            <p:nvPr/>
          </p:nvSpPr>
          <p:spPr bwMode="auto">
            <a:xfrm>
              <a:off x="2565" y="1800"/>
              <a:ext cx="76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哈希函数</a:t>
              </a:r>
              <a:r>
                <a:rPr lang="zh-CN" altLang="zh-CN" sz="1200" b="1">
                  <a:solidFill>
                    <a:srgbClr val="000000"/>
                  </a:solidFill>
                  <a:latin typeface="+mj-ea"/>
                  <a:ea typeface="+mj-ea"/>
                  <a:cs typeface="Times New Roman" panose="02020603050405020304" pitchFamily="18" charset="0"/>
                </a:rPr>
                <a:t>(hashes)</a:t>
              </a:r>
              <a:endParaRPr lang="zh-CN" altLang="zh-CN" sz="800" b="1">
                <a:latin typeface="+mj-ea"/>
                <a:ea typeface="+mj-ea"/>
                <a:cs typeface="Times New Roman" panose="02020603050405020304" pitchFamily="18" charset="0"/>
              </a:endParaRPr>
            </a:p>
          </p:txBody>
        </p:sp>
        <p:sp>
          <p:nvSpPr>
            <p:cNvPr id="26662" name="Rectangle 151"/>
            <p:cNvSpPr>
              <a:spLocks noChangeArrowheads="1"/>
            </p:cNvSpPr>
            <p:nvPr/>
          </p:nvSpPr>
          <p:spPr bwMode="auto">
            <a:xfrm>
              <a:off x="2565" y="1935"/>
              <a:ext cx="174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消息认证码</a:t>
              </a:r>
              <a:r>
                <a:rPr lang="zh-CN" altLang="zh-CN" sz="1200" b="1">
                  <a:solidFill>
                    <a:srgbClr val="000000"/>
                  </a:solidFill>
                  <a:latin typeface="+mj-ea"/>
                  <a:ea typeface="+mj-ea"/>
                  <a:cs typeface="Times New Roman" panose="02020603050405020304" pitchFamily="18" charset="0"/>
                </a:rPr>
                <a:t>(message authentication codes)</a:t>
              </a:r>
              <a:endParaRPr lang="zh-CN" altLang="zh-CN" sz="800" b="1">
                <a:latin typeface="+mj-ea"/>
                <a:ea typeface="+mj-ea"/>
                <a:cs typeface="Times New Roman" panose="02020603050405020304" pitchFamily="18" charset="0"/>
              </a:endParaRPr>
            </a:p>
          </p:txBody>
        </p:sp>
        <p:sp>
          <p:nvSpPr>
            <p:cNvPr id="26663" name="Rectangle 153"/>
            <p:cNvSpPr>
              <a:spLocks noChangeArrowheads="1"/>
            </p:cNvSpPr>
            <p:nvPr/>
          </p:nvSpPr>
          <p:spPr bwMode="auto">
            <a:xfrm>
              <a:off x="4094" y="1994"/>
              <a:ext cx="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6664" name="Rectangle 154"/>
            <p:cNvSpPr>
              <a:spLocks noChangeArrowheads="1"/>
            </p:cNvSpPr>
            <p:nvPr/>
          </p:nvSpPr>
          <p:spPr bwMode="auto">
            <a:xfrm>
              <a:off x="2565" y="2070"/>
              <a:ext cx="120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数字签名</a:t>
              </a:r>
              <a:r>
                <a:rPr lang="zh-CN" altLang="zh-CN" sz="1200" b="1">
                  <a:solidFill>
                    <a:srgbClr val="000000"/>
                  </a:solidFill>
                  <a:latin typeface="+mj-ea"/>
                  <a:ea typeface="+mj-ea"/>
                  <a:cs typeface="Times New Roman" panose="02020603050405020304" pitchFamily="18" charset="0"/>
                </a:rPr>
                <a:t>(digital sig</a:t>
              </a:r>
              <a:r>
                <a:rPr lang="en-US" altLang="zh-CN" sz="1200" b="1">
                  <a:solidFill>
                    <a:srgbClr val="000000"/>
                  </a:solidFill>
                  <a:latin typeface="+mj-ea"/>
                  <a:ea typeface="+mj-ea"/>
                  <a:cs typeface="Times New Roman" panose="02020603050405020304" pitchFamily="18" charset="0"/>
                </a:rPr>
                <a:t>natures)</a:t>
              </a:r>
              <a:endParaRPr lang="zh-CN" altLang="zh-CN" sz="800" b="1">
                <a:latin typeface="+mj-ea"/>
                <a:ea typeface="+mj-ea"/>
                <a:cs typeface="Times New Roman" panose="02020603050405020304" pitchFamily="18" charset="0"/>
              </a:endParaRPr>
            </a:p>
          </p:txBody>
        </p:sp>
        <p:sp>
          <p:nvSpPr>
            <p:cNvPr id="26665" name="Rectangle 158"/>
            <p:cNvSpPr>
              <a:spLocks noChangeArrowheads="1"/>
            </p:cNvSpPr>
            <p:nvPr/>
          </p:nvSpPr>
          <p:spPr bwMode="auto">
            <a:xfrm>
              <a:off x="2565" y="2205"/>
              <a:ext cx="156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防篡改协议</a:t>
              </a:r>
              <a:r>
                <a:rPr lang="en-US" altLang="zh-CN" sz="1200" b="1">
                  <a:solidFill>
                    <a:srgbClr val="000000"/>
                  </a:solidFill>
                  <a:latin typeface="+mj-ea"/>
                  <a:ea typeface="+mj-ea"/>
                  <a:cs typeface="Times New Roman" panose="02020603050405020304" pitchFamily="18" charset="0"/>
                </a:rPr>
                <a:t>(tamper-resistant protocols)</a:t>
              </a:r>
              <a:endParaRPr lang="zh-CN" altLang="zh-CN" b="1">
                <a:latin typeface="+mj-ea"/>
                <a:ea typeface="+mj-ea"/>
                <a:cs typeface="Times New Roman" panose="02020603050405020304" pitchFamily="18" charset="0"/>
              </a:endParaRPr>
            </a:p>
          </p:txBody>
        </p:sp>
        <p:sp>
          <p:nvSpPr>
            <p:cNvPr id="26666" name="Rectangle 162"/>
            <p:cNvSpPr>
              <a:spLocks noChangeArrowheads="1"/>
            </p:cNvSpPr>
            <p:nvPr/>
          </p:nvSpPr>
          <p:spPr bwMode="auto">
            <a:xfrm>
              <a:off x="3970" y="2322"/>
              <a:ext cx="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6667" name="Rectangle 163"/>
            <p:cNvSpPr>
              <a:spLocks noChangeArrowheads="1"/>
            </p:cNvSpPr>
            <p:nvPr/>
          </p:nvSpPr>
          <p:spPr bwMode="auto">
            <a:xfrm>
              <a:off x="866" y="163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68" name="Rectangle 164"/>
            <p:cNvSpPr>
              <a:spLocks noChangeArrowheads="1"/>
            </p:cNvSpPr>
            <p:nvPr/>
          </p:nvSpPr>
          <p:spPr bwMode="auto">
            <a:xfrm>
              <a:off x="871" y="1632"/>
              <a:ext cx="165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69" name="Rectangle 165"/>
            <p:cNvSpPr>
              <a:spLocks noChangeArrowheads="1"/>
            </p:cNvSpPr>
            <p:nvPr/>
          </p:nvSpPr>
          <p:spPr bwMode="auto">
            <a:xfrm>
              <a:off x="2522" y="163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70" name="Rectangle 166"/>
            <p:cNvSpPr>
              <a:spLocks noChangeArrowheads="1"/>
            </p:cNvSpPr>
            <p:nvPr/>
          </p:nvSpPr>
          <p:spPr bwMode="auto">
            <a:xfrm>
              <a:off x="2527" y="1632"/>
              <a:ext cx="200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71" name="Rectangle 167"/>
            <p:cNvSpPr>
              <a:spLocks noChangeArrowheads="1"/>
            </p:cNvSpPr>
            <p:nvPr/>
          </p:nvSpPr>
          <p:spPr bwMode="auto">
            <a:xfrm>
              <a:off x="4535" y="163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72" name="Rectangle 171"/>
            <p:cNvSpPr>
              <a:spLocks noChangeArrowheads="1"/>
            </p:cNvSpPr>
            <p:nvPr/>
          </p:nvSpPr>
          <p:spPr bwMode="auto">
            <a:xfrm>
              <a:off x="900" y="2520"/>
              <a:ext cx="88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否认</a:t>
              </a:r>
              <a:r>
                <a:rPr lang="zh-CN" altLang="zh-CN" sz="1200" b="1">
                  <a:solidFill>
                    <a:srgbClr val="000000"/>
                  </a:solidFill>
                  <a:latin typeface="+mj-ea"/>
                  <a:ea typeface="+mj-ea"/>
                  <a:cs typeface="Times New Roman" panose="02020603050405020304" pitchFamily="18" charset="0"/>
                </a:rPr>
                <a:t>(repudiation)</a:t>
              </a:r>
              <a:endParaRPr lang="zh-CN" altLang="zh-CN" sz="800" b="1">
                <a:latin typeface="+mj-ea"/>
                <a:ea typeface="+mj-ea"/>
                <a:cs typeface="Times New Roman" panose="02020603050405020304" pitchFamily="18" charset="0"/>
              </a:endParaRPr>
            </a:p>
          </p:txBody>
        </p:sp>
        <p:sp>
          <p:nvSpPr>
            <p:cNvPr id="26673" name="Rectangle 174"/>
            <p:cNvSpPr>
              <a:spLocks noChangeArrowheads="1"/>
            </p:cNvSpPr>
            <p:nvPr/>
          </p:nvSpPr>
          <p:spPr bwMode="auto">
            <a:xfrm>
              <a:off x="2565" y="2430"/>
              <a:ext cx="97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签名</a:t>
              </a:r>
              <a:r>
                <a:rPr lang="zh-CN" altLang="zh-CN" sz="1200" b="1">
                  <a:solidFill>
                    <a:srgbClr val="000000"/>
                  </a:solidFill>
                  <a:latin typeface="+mj-ea"/>
                  <a:ea typeface="+mj-ea"/>
                  <a:cs typeface="Times New Roman" panose="02020603050405020304" pitchFamily="18" charset="0"/>
                </a:rPr>
                <a:t>(digital signatures)</a:t>
              </a:r>
              <a:endParaRPr lang="zh-CN" altLang="zh-CN" sz="800" b="1">
                <a:latin typeface="+mj-ea"/>
                <a:ea typeface="+mj-ea"/>
                <a:cs typeface="Times New Roman" panose="02020603050405020304" pitchFamily="18" charset="0"/>
              </a:endParaRPr>
            </a:p>
          </p:txBody>
        </p:sp>
        <p:sp>
          <p:nvSpPr>
            <p:cNvPr id="26674" name="Rectangle 177"/>
            <p:cNvSpPr>
              <a:spLocks noChangeArrowheads="1"/>
            </p:cNvSpPr>
            <p:nvPr/>
          </p:nvSpPr>
          <p:spPr bwMode="auto">
            <a:xfrm>
              <a:off x="2565" y="2565"/>
              <a:ext cx="84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时间戳</a:t>
              </a:r>
              <a:r>
                <a:rPr lang="zh-CN" altLang="zh-CN" sz="1200" b="1">
                  <a:solidFill>
                    <a:srgbClr val="000000"/>
                  </a:solidFill>
                  <a:latin typeface="+mj-ea"/>
                  <a:ea typeface="+mj-ea"/>
                  <a:cs typeface="Times New Roman" panose="02020603050405020304" pitchFamily="18" charset="0"/>
                </a:rPr>
                <a:t>(timestamps)</a:t>
              </a:r>
              <a:endParaRPr lang="zh-CN" altLang="zh-CN" sz="800" b="1">
                <a:latin typeface="+mj-ea"/>
                <a:ea typeface="+mj-ea"/>
                <a:cs typeface="Times New Roman" panose="02020603050405020304" pitchFamily="18" charset="0"/>
              </a:endParaRPr>
            </a:p>
          </p:txBody>
        </p:sp>
        <p:sp>
          <p:nvSpPr>
            <p:cNvPr id="26675" name="Rectangle 179"/>
            <p:cNvSpPr>
              <a:spLocks noChangeArrowheads="1"/>
            </p:cNvSpPr>
            <p:nvPr/>
          </p:nvSpPr>
          <p:spPr bwMode="auto">
            <a:xfrm>
              <a:off x="3289" y="2655"/>
              <a:ext cx="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6676" name="Rectangle 181"/>
            <p:cNvSpPr>
              <a:spLocks noChangeArrowheads="1"/>
            </p:cNvSpPr>
            <p:nvPr/>
          </p:nvSpPr>
          <p:spPr bwMode="auto">
            <a:xfrm>
              <a:off x="2565" y="2700"/>
              <a:ext cx="91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审计跟踪</a:t>
              </a:r>
              <a:r>
                <a:rPr lang="zh-CN" altLang="zh-CN" sz="1200" b="1">
                  <a:solidFill>
                    <a:srgbClr val="000000"/>
                  </a:solidFill>
                  <a:latin typeface="+mj-ea"/>
                  <a:ea typeface="+mj-ea"/>
                  <a:cs typeface="Times New Roman" panose="02020603050405020304" pitchFamily="18" charset="0"/>
                </a:rPr>
                <a:t>(audit trails)</a:t>
              </a:r>
              <a:endParaRPr lang="zh-CN" altLang="zh-CN" sz="800" b="1">
                <a:latin typeface="+mj-ea"/>
                <a:ea typeface="+mj-ea"/>
                <a:cs typeface="Times New Roman" panose="02020603050405020304" pitchFamily="18" charset="0"/>
              </a:endParaRPr>
            </a:p>
          </p:txBody>
        </p:sp>
        <p:sp>
          <p:nvSpPr>
            <p:cNvPr id="26677" name="Rectangle 183"/>
            <p:cNvSpPr>
              <a:spLocks noChangeArrowheads="1"/>
            </p:cNvSpPr>
            <p:nvPr/>
          </p:nvSpPr>
          <p:spPr bwMode="auto">
            <a:xfrm>
              <a:off x="3367" y="2818"/>
              <a:ext cx="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6678" name="Rectangle 184"/>
            <p:cNvSpPr>
              <a:spLocks noChangeArrowheads="1"/>
            </p:cNvSpPr>
            <p:nvPr/>
          </p:nvSpPr>
          <p:spPr bwMode="auto">
            <a:xfrm>
              <a:off x="866" y="245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79" name="Rectangle 185"/>
            <p:cNvSpPr>
              <a:spLocks noChangeArrowheads="1"/>
            </p:cNvSpPr>
            <p:nvPr/>
          </p:nvSpPr>
          <p:spPr bwMode="auto">
            <a:xfrm>
              <a:off x="900" y="2340"/>
              <a:ext cx="165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80" name="Rectangle 186"/>
            <p:cNvSpPr>
              <a:spLocks noChangeArrowheads="1"/>
            </p:cNvSpPr>
            <p:nvPr/>
          </p:nvSpPr>
          <p:spPr bwMode="auto">
            <a:xfrm>
              <a:off x="2522" y="245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81" name="Rectangle 187"/>
            <p:cNvSpPr>
              <a:spLocks noChangeArrowheads="1"/>
            </p:cNvSpPr>
            <p:nvPr/>
          </p:nvSpPr>
          <p:spPr bwMode="auto">
            <a:xfrm>
              <a:off x="2520" y="2340"/>
              <a:ext cx="200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82" name="Rectangle 188"/>
            <p:cNvSpPr>
              <a:spLocks noChangeArrowheads="1"/>
            </p:cNvSpPr>
            <p:nvPr/>
          </p:nvSpPr>
          <p:spPr bwMode="auto">
            <a:xfrm>
              <a:off x="4535" y="245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83" name="Rectangle 190"/>
            <p:cNvSpPr>
              <a:spLocks noChangeArrowheads="1"/>
            </p:cNvSpPr>
            <p:nvPr/>
          </p:nvSpPr>
          <p:spPr bwMode="auto">
            <a:xfrm>
              <a:off x="866" y="295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84" name="Rectangle 191"/>
            <p:cNvSpPr>
              <a:spLocks noChangeArrowheads="1"/>
            </p:cNvSpPr>
            <p:nvPr/>
          </p:nvSpPr>
          <p:spPr bwMode="auto">
            <a:xfrm>
              <a:off x="866" y="295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85" name="Rectangle 192"/>
            <p:cNvSpPr>
              <a:spLocks noChangeArrowheads="1"/>
            </p:cNvSpPr>
            <p:nvPr/>
          </p:nvSpPr>
          <p:spPr bwMode="auto">
            <a:xfrm>
              <a:off x="855" y="2835"/>
              <a:ext cx="165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86" name="Rectangle 194"/>
            <p:cNvSpPr>
              <a:spLocks noChangeArrowheads="1"/>
            </p:cNvSpPr>
            <p:nvPr/>
          </p:nvSpPr>
          <p:spPr bwMode="auto">
            <a:xfrm>
              <a:off x="2522" y="295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87" name="Rectangle 195"/>
            <p:cNvSpPr>
              <a:spLocks noChangeArrowheads="1"/>
            </p:cNvSpPr>
            <p:nvPr/>
          </p:nvSpPr>
          <p:spPr bwMode="auto">
            <a:xfrm>
              <a:off x="2520" y="2835"/>
              <a:ext cx="200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88" name="Rectangle 197"/>
            <p:cNvSpPr>
              <a:spLocks noChangeArrowheads="1"/>
            </p:cNvSpPr>
            <p:nvPr/>
          </p:nvSpPr>
          <p:spPr bwMode="auto">
            <a:xfrm>
              <a:off x="4535" y="295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89" name="Rectangle 198"/>
            <p:cNvSpPr>
              <a:spLocks noChangeArrowheads="1"/>
            </p:cNvSpPr>
            <p:nvPr/>
          </p:nvSpPr>
          <p:spPr bwMode="auto">
            <a:xfrm>
              <a:off x="4535" y="295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6690" name="Rectangle 199"/>
            <p:cNvSpPr>
              <a:spLocks noChangeArrowheads="1"/>
            </p:cNvSpPr>
            <p:nvPr/>
          </p:nvSpPr>
          <p:spPr bwMode="auto">
            <a:xfrm>
              <a:off x="703" y="2978"/>
              <a:ext cx="3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mj-ea"/>
                  <a:ea typeface="+mj-ea"/>
                </a:rPr>
                <a:t> </a:t>
              </a:r>
              <a:endParaRPr lang="zh-CN" altLang="zh-CN" b="1">
                <a:latin typeface="+mj-ea"/>
                <a:ea typeface="+mj-ea"/>
              </a:endParaRPr>
            </a:p>
          </p:txBody>
        </p:sp>
      </p:grpSp>
      <p:cxnSp>
        <p:nvCxnSpPr>
          <p:cNvPr id="26630" name="直接连接符 202"/>
          <p:cNvCxnSpPr>
            <a:cxnSpLocks noChangeShapeType="1"/>
            <a:stCxn id="26641" idx="3"/>
            <a:endCxn id="26685" idx="3"/>
          </p:cNvCxnSpPr>
          <p:nvPr/>
        </p:nvCxnSpPr>
        <p:spPr bwMode="auto">
          <a:xfrm flipH="1">
            <a:off x="4165264" y="1562795"/>
            <a:ext cx="30818" cy="2963863"/>
          </a:xfrm>
          <a:prstGeom prst="line">
            <a:avLst/>
          </a:prstGeom>
          <a:noFill/>
          <a:ln w="11430" algn="ctr">
            <a:solidFill>
              <a:schemeClr val="tx1"/>
            </a:solidFill>
            <a:round/>
          </a:ln>
          <a:extLst>
            <a:ext uri="{909E8E84-426E-40DD-AFC4-6F175D3DCCD1}">
              <a14:hiddenFill xmlns:a14="http://schemas.microsoft.com/office/drawing/2010/main">
                <a:noFill/>
              </a14:hiddenFill>
            </a:ext>
          </a:extLst>
        </p:spPr>
      </p:cxnSp>
      <p:sp>
        <p:nvSpPr>
          <p:cNvPr id="26631" name="AutoShape 6"/>
          <p:cNvSpPr>
            <a:spLocks noChangeAspect="1" noChangeArrowheads="1"/>
          </p:cNvSpPr>
          <p:nvPr/>
        </p:nvSpPr>
        <p:spPr bwMode="auto">
          <a:xfrm>
            <a:off x="611560" y="1487388"/>
            <a:ext cx="7704460"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Tree>
  </p:cSld>
  <p:clrMapOvr>
    <a:masterClrMapping/>
  </p:clrMapOvr>
  <p:transition spd="med">
    <p:randomBa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11113" y="560388"/>
            <a:ext cx="9144001" cy="4392612"/>
          </a:xfrm>
        </p:spPr>
        <p:txBody>
          <a:bodyPr/>
          <a:lstStyle/>
          <a:p>
            <a:pPr marL="0" indent="0">
              <a:buFont typeface="Wingdings" panose="05000000000000000000" pitchFamily="2" charset="2"/>
              <a:buNone/>
              <a:defRPr/>
            </a:pPr>
            <a:endParaRPr lang="en-US" altLang="zh-CN" sz="1400" b="1" dirty="0"/>
          </a:p>
          <a:p>
            <a:pPr>
              <a:buFont typeface="Wingdings" panose="05000000000000000000" pitchFamily="2" charset="2"/>
              <a:buNone/>
              <a:defRPr/>
            </a:pPr>
            <a:r>
              <a:rPr lang="en-US" altLang="zh-CN" sz="1800" b="1" u="sng" dirty="0">
                <a:solidFill>
                  <a:srgbClr val="0033CC"/>
                </a:solidFill>
                <a:effectLst>
                  <a:outerShdw blurRad="38100" dist="38100" dir="2700000" algn="tl">
                    <a:srgbClr val="000000">
                      <a:alpha val="43137"/>
                    </a:srgbClr>
                  </a:outerShdw>
                </a:effectLst>
              </a:rPr>
              <a:t>(3) </a:t>
            </a:r>
            <a:r>
              <a:rPr lang="zh-CN" altLang="en-US" sz="1800" b="1" u="sng" dirty="0">
                <a:solidFill>
                  <a:srgbClr val="0033CC"/>
                </a:solidFill>
                <a:effectLst>
                  <a:outerShdw blurRad="38100" dist="38100" dir="2700000" algn="tl">
                    <a:srgbClr val="000000">
                      <a:alpha val="43137"/>
                    </a:srgbClr>
                  </a:outerShdw>
                </a:effectLst>
              </a:rPr>
              <a:t>确定防御威胁的相关技术</a:t>
            </a:r>
            <a:r>
              <a:rPr lang="zh-CN" altLang="en-US" sz="1800" b="1" dirty="0"/>
              <a:t>，下表给出了与威胁相关的防御技术。</a:t>
            </a:r>
            <a:endParaRPr lang="en-US" altLang="zh-CN" sz="2000" dirty="0"/>
          </a:p>
        </p:txBody>
      </p:sp>
      <p:sp>
        <p:nvSpPr>
          <p:cNvPr id="7"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9.2 </a:t>
            </a:r>
            <a:r>
              <a:rPr lang="zh-CN" altLang="zh-CN" sz="2000" b="1">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8" name="标题 1"/>
          <p:cNvSpPr txBox="1"/>
          <p:nvPr/>
        </p:nvSpPr>
        <p:spPr bwMode="auto">
          <a:xfrm>
            <a:off x="214282" y="500048"/>
            <a:ext cx="3000396"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9.2.2 </a:t>
            </a:r>
            <a:r>
              <a:rPr lang="en-US" altLang="en-US" sz="2000" dirty="0"/>
              <a:t>STRIDE</a:t>
            </a:r>
            <a:r>
              <a:rPr altLang="en-US" sz="2000" dirty="0"/>
              <a:t>威胁建模</a:t>
            </a:r>
          </a:p>
        </p:txBody>
      </p:sp>
      <p:grpSp>
        <p:nvGrpSpPr>
          <p:cNvPr id="27653" name="Group 105"/>
          <p:cNvGrpSpPr>
            <a:grpSpLocks noChangeAspect="1"/>
          </p:cNvGrpSpPr>
          <p:nvPr/>
        </p:nvGrpSpPr>
        <p:grpSpPr bwMode="auto">
          <a:xfrm>
            <a:off x="755576" y="1347614"/>
            <a:ext cx="7416427" cy="3676650"/>
            <a:chOff x="630" y="817"/>
            <a:chExt cx="4000" cy="2316"/>
          </a:xfrm>
        </p:grpSpPr>
        <p:sp>
          <p:nvSpPr>
            <p:cNvPr id="27656" name="AutoShape 104"/>
            <p:cNvSpPr>
              <a:spLocks noChangeAspect="1" noChangeArrowheads="1" noTextEdit="1"/>
            </p:cNvSpPr>
            <p:nvPr/>
          </p:nvSpPr>
          <p:spPr bwMode="auto">
            <a:xfrm>
              <a:off x="630" y="817"/>
              <a:ext cx="4000" cy="2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latin typeface="+mj-ea"/>
                <a:ea typeface="+mj-ea"/>
              </a:endParaRPr>
            </a:p>
          </p:txBody>
        </p:sp>
        <p:sp>
          <p:nvSpPr>
            <p:cNvPr id="27657" name="Rectangle 106"/>
            <p:cNvSpPr>
              <a:spLocks noChangeArrowheads="1"/>
            </p:cNvSpPr>
            <p:nvPr/>
          </p:nvSpPr>
          <p:spPr bwMode="auto">
            <a:xfrm>
              <a:off x="2247" y="830"/>
              <a:ext cx="87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dirty="0">
                  <a:solidFill>
                    <a:srgbClr val="000000"/>
                  </a:solidFill>
                  <a:latin typeface="+mj-ea"/>
                  <a:ea typeface="+mj-ea"/>
                </a:rPr>
                <a:t>防御各个威胁的技术</a:t>
              </a:r>
              <a:endParaRPr lang="zh-CN" altLang="en-US" b="1" dirty="0">
                <a:latin typeface="+mj-ea"/>
                <a:ea typeface="+mj-ea"/>
              </a:endParaRPr>
            </a:p>
          </p:txBody>
        </p:sp>
        <p:sp>
          <p:nvSpPr>
            <p:cNvPr id="27658" name="Rectangle 107"/>
            <p:cNvSpPr>
              <a:spLocks noChangeArrowheads="1"/>
            </p:cNvSpPr>
            <p:nvPr/>
          </p:nvSpPr>
          <p:spPr bwMode="auto">
            <a:xfrm>
              <a:off x="3158" y="827"/>
              <a:ext cx="2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mj-ea"/>
                  <a:ea typeface="+mj-ea"/>
                </a:rPr>
                <a:t> </a:t>
              </a:r>
              <a:endParaRPr lang="zh-CN" altLang="zh-CN" b="1">
                <a:latin typeface="+mj-ea"/>
                <a:ea typeface="+mj-ea"/>
              </a:endParaRPr>
            </a:p>
          </p:txBody>
        </p:sp>
        <p:sp>
          <p:nvSpPr>
            <p:cNvPr id="27659" name="Rectangle 108"/>
            <p:cNvSpPr>
              <a:spLocks noChangeArrowheads="1"/>
            </p:cNvSpPr>
            <p:nvPr/>
          </p:nvSpPr>
          <p:spPr bwMode="auto">
            <a:xfrm>
              <a:off x="1522" y="1006"/>
              <a:ext cx="33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威胁类型</a:t>
              </a:r>
              <a:endParaRPr lang="zh-CN" altLang="en-US" b="1">
                <a:latin typeface="+mj-ea"/>
                <a:ea typeface="+mj-ea"/>
              </a:endParaRPr>
            </a:p>
          </p:txBody>
        </p:sp>
        <p:sp>
          <p:nvSpPr>
            <p:cNvPr id="27660" name="Rectangle 109"/>
            <p:cNvSpPr>
              <a:spLocks noChangeArrowheads="1"/>
            </p:cNvSpPr>
            <p:nvPr/>
          </p:nvSpPr>
          <p:spPr bwMode="auto">
            <a:xfrm>
              <a:off x="1870" y="1001"/>
              <a:ext cx="2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7661" name="Rectangle 110"/>
            <p:cNvSpPr>
              <a:spLocks noChangeArrowheads="1"/>
            </p:cNvSpPr>
            <p:nvPr/>
          </p:nvSpPr>
          <p:spPr bwMode="auto">
            <a:xfrm>
              <a:off x="3356" y="1006"/>
              <a:ext cx="33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防御技术</a:t>
              </a:r>
              <a:endParaRPr lang="zh-CN" altLang="en-US" b="1">
                <a:latin typeface="+mj-ea"/>
                <a:ea typeface="+mj-ea"/>
              </a:endParaRPr>
            </a:p>
          </p:txBody>
        </p:sp>
        <p:sp>
          <p:nvSpPr>
            <p:cNvPr id="27662" name="Rectangle 111"/>
            <p:cNvSpPr>
              <a:spLocks noChangeArrowheads="1"/>
            </p:cNvSpPr>
            <p:nvPr/>
          </p:nvSpPr>
          <p:spPr bwMode="auto">
            <a:xfrm>
              <a:off x="3704" y="1001"/>
              <a:ext cx="2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7663" name="Rectangle 112"/>
            <p:cNvSpPr>
              <a:spLocks noChangeArrowheads="1"/>
            </p:cNvSpPr>
            <p:nvPr/>
          </p:nvSpPr>
          <p:spPr bwMode="auto">
            <a:xfrm>
              <a:off x="866" y="968"/>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664" name="Rectangle 113"/>
            <p:cNvSpPr>
              <a:spLocks noChangeArrowheads="1"/>
            </p:cNvSpPr>
            <p:nvPr/>
          </p:nvSpPr>
          <p:spPr bwMode="auto">
            <a:xfrm>
              <a:off x="866" y="968"/>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665" name="Rectangle 114"/>
            <p:cNvSpPr>
              <a:spLocks noChangeArrowheads="1"/>
            </p:cNvSpPr>
            <p:nvPr/>
          </p:nvSpPr>
          <p:spPr bwMode="auto">
            <a:xfrm>
              <a:off x="871" y="968"/>
              <a:ext cx="165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666" name="Rectangle 115"/>
            <p:cNvSpPr>
              <a:spLocks noChangeArrowheads="1"/>
            </p:cNvSpPr>
            <p:nvPr/>
          </p:nvSpPr>
          <p:spPr bwMode="auto">
            <a:xfrm>
              <a:off x="2522" y="968"/>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667" name="Rectangle 116"/>
            <p:cNvSpPr>
              <a:spLocks noChangeArrowheads="1"/>
            </p:cNvSpPr>
            <p:nvPr/>
          </p:nvSpPr>
          <p:spPr bwMode="auto">
            <a:xfrm>
              <a:off x="2527" y="968"/>
              <a:ext cx="200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668" name="Rectangle 117"/>
            <p:cNvSpPr>
              <a:spLocks noChangeArrowheads="1"/>
            </p:cNvSpPr>
            <p:nvPr/>
          </p:nvSpPr>
          <p:spPr bwMode="auto">
            <a:xfrm>
              <a:off x="4535" y="968"/>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669" name="Rectangle 118"/>
            <p:cNvSpPr>
              <a:spLocks noChangeArrowheads="1"/>
            </p:cNvSpPr>
            <p:nvPr/>
          </p:nvSpPr>
          <p:spPr bwMode="auto">
            <a:xfrm>
              <a:off x="4535" y="968"/>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670" name="Rectangle 122"/>
            <p:cNvSpPr>
              <a:spLocks noChangeArrowheads="1"/>
            </p:cNvSpPr>
            <p:nvPr/>
          </p:nvSpPr>
          <p:spPr bwMode="auto">
            <a:xfrm>
              <a:off x="900" y="1468"/>
              <a:ext cx="133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cs typeface="Times New Roman" panose="02020603050405020304" pitchFamily="18" charset="0"/>
                </a:rPr>
                <a:t>信息泄露</a:t>
              </a:r>
              <a:r>
                <a:rPr lang="en-US" altLang="zh-CN" sz="1200" b="1" dirty="0">
                  <a:solidFill>
                    <a:srgbClr val="000000"/>
                  </a:solidFill>
                  <a:latin typeface="+mj-ea"/>
                  <a:ea typeface="+mj-ea"/>
                  <a:cs typeface="Times New Roman" panose="02020603050405020304" pitchFamily="18" charset="0"/>
                </a:rPr>
                <a:t>(information disclosure)</a:t>
              </a:r>
              <a:endParaRPr lang="zh-CN" altLang="zh-CN" b="1" dirty="0">
                <a:latin typeface="+mj-ea"/>
                <a:ea typeface="+mj-ea"/>
                <a:cs typeface="Times New Roman" panose="02020603050405020304" pitchFamily="18" charset="0"/>
              </a:endParaRPr>
            </a:p>
          </p:txBody>
        </p:sp>
        <p:sp>
          <p:nvSpPr>
            <p:cNvPr id="27671" name="Rectangle 124"/>
            <p:cNvSpPr>
              <a:spLocks noChangeArrowheads="1"/>
            </p:cNvSpPr>
            <p:nvPr/>
          </p:nvSpPr>
          <p:spPr bwMode="auto">
            <a:xfrm>
              <a:off x="1914" y="1335"/>
              <a:ext cx="2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5" name="Rectangle 125"/>
            <p:cNvSpPr>
              <a:spLocks noChangeArrowheads="1"/>
            </p:cNvSpPr>
            <p:nvPr/>
          </p:nvSpPr>
          <p:spPr bwMode="auto">
            <a:xfrm>
              <a:off x="2565" y="1215"/>
              <a:ext cx="889" cy="116"/>
            </a:xfrm>
            <a:prstGeom prst="rect">
              <a:avLst/>
            </a:prstGeom>
            <a:noFill/>
            <a:ln w="9525">
              <a:noFill/>
              <a:miter lim="800000"/>
            </a:ln>
          </p:spPr>
          <p:txBody>
            <a:bodyPr lIns="0" tIns="0" rIns="0" bIns="0">
              <a:spAutoFit/>
            </a:bodyPr>
            <a:lstStyle/>
            <a:p>
              <a:pPr>
                <a:defRPr/>
              </a:pPr>
              <a:r>
                <a:rPr lang="zh-CN" altLang="en-US" sz="1200" b="1" dirty="0">
                  <a:solidFill>
                    <a:srgbClr val="000000"/>
                  </a:solidFill>
                  <a:latin typeface="+mj-ea"/>
                  <a:ea typeface="+mj-ea"/>
                </a:rPr>
                <a:t>授权</a:t>
              </a:r>
              <a:r>
                <a:rPr lang="zh-CN" altLang="zh-CN" sz="1200" b="1" dirty="0">
                  <a:solidFill>
                    <a:srgbClr val="000000"/>
                  </a:solidFill>
                  <a:latin typeface="+mj-ea"/>
                  <a:ea typeface="+mj-ea"/>
                </a:rPr>
                <a:t>(</a:t>
              </a:r>
              <a:r>
                <a:rPr lang="en-US" altLang="zh-CN" sz="1200" b="1" dirty="0">
                  <a:solidFill>
                    <a:srgbClr val="000000"/>
                  </a:solidFill>
                  <a:latin typeface="+mj-ea"/>
                  <a:ea typeface="+mj-ea"/>
                </a:rPr>
                <a:t>authorization</a:t>
              </a:r>
              <a:r>
                <a:rPr lang="zh-CN" altLang="zh-CN" sz="1200" b="1" dirty="0">
                  <a:solidFill>
                    <a:srgbClr val="000000"/>
                  </a:solidFill>
                  <a:latin typeface="+mj-ea"/>
                  <a:ea typeface="+mj-ea"/>
                </a:rPr>
                <a:t>)</a:t>
              </a:r>
              <a:endParaRPr lang="zh-CN" altLang="zh-CN" sz="1050" b="1" dirty="0">
                <a:latin typeface="+mj-ea"/>
                <a:ea typeface="+mj-ea"/>
              </a:endParaRPr>
            </a:p>
          </p:txBody>
        </p:sp>
        <p:sp>
          <p:nvSpPr>
            <p:cNvPr id="27673" name="Rectangle 128"/>
            <p:cNvSpPr>
              <a:spLocks noChangeArrowheads="1"/>
            </p:cNvSpPr>
            <p:nvPr/>
          </p:nvSpPr>
          <p:spPr bwMode="auto">
            <a:xfrm>
              <a:off x="2565" y="1333"/>
              <a:ext cx="180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隐私保护协议</a:t>
              </a:r>
              <a:r>
                <a:rPr lang="zh-CN" altLang="zh-CN" sz="1200" b="1">
                  <a:solidFill>
                    <a:srgbClr val="000000"/>
                  </a:solidFill>
                  <a:latin typeface="+mj-ea"/>
                  <a:ea typeface="+mj-ea"/>
                </a:rPr>
                <a:t>(pr</a:t>
              </a:r>
              <a:r>
                <a:rPr lang="en-US" altLang="zh-CN" sz="1200" b="1">
                  <a:solidFill>
                    <a:srgbClr val="000000"/>
                  </a:solidFill>
                  <a:latin typeface="+mj-ea"/>
                  <a:ea typeface="+mj-ea"/>
                </a:rPr>
                <a:t>ivacy-enhanced protocols</a:t>
              </a:r>
              <a:r>
                <a:rPr lang="zh-CN" altLang="zh-CN" sz="1200" b="1">
                  <a:solidFill>
                    <a:srgbClr val="000000"/>
                  </a:solidFill>
                  <a:latin typeface="+mj-ea"/>
                  <a:ea typeface="+mj-ea"/>
                </a:rPr>
                <a:t>)</a:t>
              </a:r>
              <a:endParaRPr lang="zh-CN" altLang="zh-CN" sz="800" b="1">
                <a:latin typeface="+mj-ea"/>
                <a:ea typeface="+mj-ea"/>
              </a:endParaRPr>
            </a:p>
          </p:txBody>
        </p:sp>
        <p:sp>
          <p:nvSpPr>
            <p:cNvPr id="28" name="Rectangle 131"/>
            <p:cNvSpPr>
              <a:spLocks noChangeArrowheads="1"/>
            </p:cNvSpPr>
            <p:nvPr/>
          </p:nvSpPr>
          <p:spPr bwMode="auto">
            <a:xfrm>
              <a:off x="2565" y="1468"/>
              <a:ext cx="1339" cy="116"/>
            </a:xfrm>
            <a:prstGeom prst="rect">
              <a:avLst/>
            </a:prstGeom>
            <a:noFill/>
            <a:ln w="9525">
              <a:noFill/>
              <a:miter lim="800000"/>
            </a:ln>
          </p:spPr>
          <p:txBody>
            <a:bodyPr lIns="0" tIns="0" rIns="0" bIns="0">
              <a:spAutoFit/>
            </a:bodyPr>
            <a:lstStyle/>
            <a:p>
              <a:pPr>
                <a:defRPr/>
              </a:pPr>
              <a:r>
                <a:rPr lang="zh-CN" altLang="en-US" sz="1200" b="1" dirty="0">
                  <a:solidFill>
                    <a:srgbClr val="000000"/>
                  </a:solidFill>
                  <a:latin typeface="+mj-ea"/>
                  <a:ea typeface="+mj-ea"/>
                </a:rPr>
                <a:t>加密</a:t>
              </a:r>
              <a:r>
                <a:rPr lang="zh-CN" altLang="zh-CN" sz="1200" b="1" dirty="0">
                  <a:solidFill>
                    <a:srgbClr val="000000"/>
                  </a:solidFill>
                  <a:latin typeface="+mj-ea"/>
                  <a:ea typeface="+mj-ea"/>
                </a:rPr>
                <a:t>(</a:t>
              </a:r>
              <a:r>
                <a:rPr lang="en-US" altLang="zh-CN" sz="1200" b="1" dirty="0">
                  <a:solidFill>
                    <a:srgbClr val="000000"/>
                  </a:solidFill>
                  <a:latin typeface="+mj-ea"/>
                  <a:ea typeface="+mj-ea"/>
                </a:rPr>
                <a:t>encryption</a:t>
              </a:r>
              <a:r>
                <a:rPr lang="zh-CN" altLang="zh-CN" sz="1200" b="1" dirty="0">
                  <a:solidFill>
                    <a:srgbClr val="000000"/>
                  </a:solidFill>
                  <a:latin typeface="+mj-ea"/>
                  <a:ea typeface="+mj-ea"/>
                </a:rPr>
                <a:t>)</a:t>
              </a:r>
              <a:endParaRPr lang="zh-CN" altLang="zh-CN" sz="1050" b="1" dirty="0">
                <a:latin typeface="+mj-ea"/>
                <a:ea typeface="+mj-ea"/>
              </a:endParaRPr>
            </a:p>
          </p:txBody>
        </p:sp>
        <p:sp>
          <p:nvSpPr>
            <p:cNvPr id="27675" name="Rectangle 134"/>
            <p:cNvSpPr>
              <a:spLocks noChangeArrowheads="1"/>
            </p:cNvSpPr>
            <p:nvPr/>
          </p:nvSpPr>
          <p:spPr bwMode="auto">
            <a:xfrm>
              <a:off x="866" y="1136"/>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676" name="Rectangle 135"/>
            <p:cNvSpPr>
              <a:spLocks noChangeArrowheads="1"/>
            </p:cNvSpPr>
            <p:nvPr/>
          </p:nvSpPr>
          <p:spPr bwMode="auto">
            <a:xfrm>
              <a:off x="871" y="1136"/>
              <a:ext cx="165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677" name="Rectangle 136"/>
            <p:cNvSpPr>
              <a:spLocks noChangeArrowheads="1"/>
            </p:cNvSpPr>
            <p:nvPr/>
          </p:nvSpPr>
          <p:spPr bwMode="auto">
            <a:xfrm>
              <a:off x="2522" y="1136"/>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678" name="Rectangle 137"/>
            <p:cNvSpPr>
              <a:spLocks noChangeArrowheads="1"/>
            </p:cNvSpPr>
            <p:nvPr/>
          </p:nvSpPr>
          <p:spPr bwMode="auto">
            <a:xfrm>
              <a:off x="2527" y="1136"/>
              <a:ext cx="200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679" name="Rectangle 138"/>
            <p:cNvSpPr>
              <a:spLocks noChangeArrowheads="1"/>
            </p:cNvSpPr>
            <p:nvPr/>
          </p:nvSpPr>
          <p:spPr bwMode="auto">
            <a:xfrm>
              <a:off x="4535" y="1136"/>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680" name="Rectangle 142"/>
            <p:cNvSpPr>
              <a:spLocks noChangeArrowheads="1"/>
            </p:cNvSpPr>
            <p:nvPr/>
          </p:nvSpPr>
          <p:spPr bwMode="auto">
            <a:xfrm>
              <a:off x="900" y="2143"/>
              <a:ext cx="128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拒绝服务攻击</a:t>
              </a:r>
              <a:r>
                <a:rPr lang="zh-CN" altLang="zh-CN" sz="1200" b="1">
                  <a:solidFill>
                    <a:srgbClr val="000000"/>
                  </a:solidFill>
                  <a:latin typeface="+mj-ea"/>
                  <a:ea typeface="+mj-ea"/>
                </a:rPr>
                <a:t>(</a:t>
              </a:r>
              <a:r>
                <a:rPr lang="en-US" altLang="zh-CN" sz="1200" b="1">
                  <a:solidFill>
                    <a:srgbClr val="000000"/>
                  </a:solidFill>
                  <a:latin typeface="+mj-ea"/>
                  <a:ea typeface="+mj-ea"/>
                </a:rPr>
                <a:t>denial of service</a:t>
              </a:r>
              <a:r>
                <a:rPr lang="zh-CN" altLang="zh-CN" sz="1200" b="1">
                  <a:solidFill>
                    <a:srgbClr val="000000"/>
                  </a:solidFill>
                  <a:latin typeface="+mj-ea"/>
                  <a:ea typeface="+mj-ea"/>
                </a:rPr>
                <a:t>)</a:t>
              </a:r>
              <a:endParaRPr lang="zh-CN" altLang="zh-CN" sz="800" b="1">
                <a:latin typeface="+mj-ea"/>
                <a:ea typeface="+mj-ea"/>
              </a:endParaRPr>
            </a:p>
          </p:txBody>
        </p:sp>
        <p:sp>
          <p:nvSpPr>
            <p:cNvPr id="27681" name="Rectangle 144"/>
            <p:cNvSpPr>
              <a:spLocks noChangeArrowheads="1"/>
            </p:cNvSpPr>
            <p:nvPr/>
          </p:nvSpPr>
          <p:spPr bwMode="auto">
            <a:xfrm>
              <a:off x="2018" y="1994"/>
              <a:ext cx="2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7682" name="Rectangle 145"/>
            <p:cNvSpPr>
              <a:spLocks noChangeArrowheads="1"/>
            </p:cNvSpPr>
            <p:nvPr/>
          </p:nvSpPr>
          <p:spPr bwMode="auto">
            <a:xfrm>
              <a:off x="2565" y="1603"/>
              <a:ext cx="138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cs typeface="Times New Roman" panose="02020603050405020304" pitchFamily="18" charset="0"/>
                </a:rPr>
                <a:t>保护秘密</a:t>
              </a:r>
              <a:r>
                <a:rPr lang="en-US" altLang="zh-CN" sz="1200" b="1">
                  <a:solidFill>
                    <a:srgbClr val="000000"/>
                  </a:solidFill>
                  <a:latin typeface="+mj-ea"/>
                  <a:ea typeface="+mj-ea"/>
                  <a:cs typeface="Times New Roman" panose="02020603050405020304" pitchFamily="18" charset="0"/>
                </a:rPr>
                <a:t>(protect secrets)</a:t>
              </a:r>
              <a:endParaRPr lang="zh-CN" altLang="zh-CN" sz="1200" b="1">
                <a:latin typeface="+mj-ea"/>
                <a:ea typeface="+mj-ea"/>
                <a:cs typeface="Times New Roman" panose="02020603050405020304" pitchFamily="18" charset="0"/>
              </a:endParaRPr>
            </a:p>
          </p:txBody>
        </p:sp>
        <p:sp>
          <p:nvSpPr>
            <p:cNvPr id="27683" name="Rectangle 147"/>
            <p:cNvSpPr>
              <a:spLocks noChangeArrowheads="1"/>
            </p:cNvSpPr>
            <p:nvPr/>
          </p:nvSpPr>
          <p:spPr bwMode="auto">
            <a:xfrm>
              <a:off x="3265" y="1667"/>
              <a:ext cx="2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7684" name="Rectangle 148"/>
            <p:cNvSpPr>
              <a:spLocks noChangeArrowheads="1"/>
            </p:cNvSpPr>
            <p:nvPr/>
          </p:nvSpPr>
          <p:spPr bwMode="auto">
            <a:xfrm>
              <a:off x="2565" y="1738"/>
              <a:ext cx="139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不保存秘密</a:t>
              </a:r>
              <a:r>
                <a:rPr lang="zh-CN" altLang="zh-CN" sz="1200" b="1">
                  <a:solidFill>
                    <a:srgbClr val="000000"/>
                  </a:solidFill>
                  <a:latin typeface="+mj-ea"/>
                  <a:ea typeface="+mj-ea"/>
                  <a:cs typeface="Times New Roman" panose="02020603050405020304" pitchFamily="18" charset="0"/>
                </a:rPr>
                <a:t>(</a:t>
              </a:r>
              <a:r>
                <a:rPr lang="en-US" altLang="zh-CN" sz="1200" b="1">
                  <a:solidFill>
                    <a:srgbClr val="000000"/>
                  </a:solidFill>
                  <a:latin typeface="+mj-ea"/>
                  <a:ea typeface="+mj-ea"/>
                  <a:cs typeface="Times New Roman" panose="02020603050405020304" pitchFamily="18" charset="0"/>
                </a:rPr>
                <a:t>do not store secrets</a:t>
              </a:r>
              <a:r>
                <a:rPr lang="zh-CN" altLang="zh-CN" sz="1200" b="1">
                  <a:solidFill>
                    <a:srgbClr val="000000"/>
                  </a:solidFill>
                  <a:latin typeface="+mj-ea"/>
                  <a:ea typeface="+mj-ea"/>
                  <a:cs typeface="Times New Roman" panose="02020603050405020304" pitchFamily="18" charset="0"/>
                </a:rPr>
                <a:t>)</a:t>
              </a:r>
              <a:endParaRPr lang="zh-CN" altLang="zh-CN" sz="800" b="1">
                <a:latin typeface="+mj-ea"/>
                <a:ea typeface="+mj-ea"/>
                <a:cs typeface="Times New Roman" panose="02020603050405020304" pitchFamily="18" charset="0"/>
              </a:endParaRPr>
            </a:p>
          </p:txBody>
        </p:sp>
        <p:sp>
          <p:nvSpPr>
            <p:cNvPr id="27685" name="Rectangle 151"/>
            <p:cNvSpPr>
              <a:spLocks noChangeArrowheads="1"/>
            </p:cNvSpPr>
            <p:nvPr/>
          </p:nvSpPr>
          <p:spPr bwMode="auto">
            <a:xfrm>
              <a:off x="2565" y="1918"/>
              <a:ext cx="94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rPr>
                <a:t>认证</a:t>
              </a:r>
              <a:r>
                <a:rPr lang="zh-CN" altLang="zh-CN" sz="1200" b="1">
                  <a:solidFill>
                    <a:srgbClr val="000000"/>
                  </a:solidFill>
                  <a:latin typeface="+mj-ea"/>
                  <a:ea typeface="+mj-ea"/>
                  <a:cs typeface="Times New Roman" panose="02020603050405020304" pitchFamily="18" charset="0"/>
                </a:rPr>
                <a:t>(</a:t>
              </a:r>
              <a:r>
                <a:rPr lang="en-US" altLang="zh-CN" sz="1200" b="1">
                  <a:solidFill>
                    <a:srgbClr val="000000"/>
                  </a:solidFill>
                  <a:latin typeface="+mj-ea"/>
                  <a:ea typeface="+mj-ea"/>
                  <a:cs typeface="Times New Roman" panose="02020603050405020304" pitchFamily="18" charset="0"/>
                </a:rPr>
                <a:t>authentication</a:t>
              </a:r>
              <a:r>
                <a:rPr lang="zh-CN" altLang="zh-CN" sz="1200" b="1">
                  <a:solidFill>
                    <a:srgbClr val="000000"/>
                  </a:solidFill>
                  <a:latin typeface="+mj-ea"/>
                  <a:ea typeface="+mj-ea"/>
                  <a:cs typeface="Times New Roman" panose="02020603050405020304" pitchFamily="18" charset="0"/>
                </a:rPr>
                <a:t>)</a:t>
              </a:r>
              <a:endParaRPr lang="zh-CN" altLang="zh-CN" sz="800" b="1">
                <a:latin typeface="+mj-ea"/>
                <a:ea typeface="+mj-ea"/>
                <a:cs typeface="Times New Roman" panose="02020603050405020304" pitchFamily="18" charset="0"/>
              </a:endParaRPr>
            </a:p>
          </p:txBody>
        </p:sp>
        <p:sp>
          <p:nvSpPr>
            <p:cNvPr id="27686" name="Rectangle 153"/>
            <p:cNvSpPr>
              <a:spLocks noChangeArrowheads="1"/>
            </p:cNvSpPr>
            <p:nvPr/>
          </p:nvSpPr>
          <p:spPr bwMode="auto">
            <a:xfrm>
              <a:off x="4094" y="1994"/>
              <a:ext cx="2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7687" name="Rectangle 154"/>
            <p:cNvSpPr>
              <a:spLocks noChangeArrowheads="1"/>
            </p:cNvSpPr>
            <p:nvPr/>
          </p:nvSpPr>
          <p:spPr bwMode="auto">
            <a:xfrm>
              <a:off x="2565" y="2070"/>
              <a:ext cx="120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cs typeface="Times New Roman" panose="02020603050405020304" pitchFamily="18" charset="0"/>
                </a:rPr>
                <a:t>授权</a:t>
              </a:r>
              <a:r>
                <a:rPr lang="zh-CN" altLang="zh-CN" sz="1200" b="1">
                  <a:solidFill>
                    <a:srgbClr val="000000"/>
                  </a:solidFill>
                  <a:latin typeface="+mj-ea"/>
                  <a:ea typeface="+mj-ea"/>
                  <a:cs typeface="Times New Roman" panose="02020603050405020304" pitchFamily="18" charset="0"/>
                </a:rPr>
                <a:t>(</a:t>
              </a:r>
              <a:r>
                <a:rPr lang="en-US" altLang="zh-CN" sz="1200" b="1">
                  <a:solidFill>
                    <a:srgbClr val="000000"/>
                  </a:solidFill>
                  <a:latin typeface="+mj-ea"/>
                  <a:ea typeface="+mj-ea"/>
                  <a:cs typeface="Times New Roman" panose="02020603050405020304" pitchFamily="18" charset="0"/>
                </a:rPr>
                <a:t>authorization)</a:t>
              </a:r>
              <a:endParaRPr lang="zh-CN" altLang="zh-CN" sz="800" b="1">
                <a:latin typeface="+mj-ea"/>
                <a:ea typeface="+mj-ea"/>
                <a:cs typeface="Times New Roman" panose="02020603050405020304" pitchFamily="18" charset="0"/>
              </a:endParaRPr>
            </a:p>
          </p:txBody>
        </p:sp>
        <p:sp>
          <p:nvSpPr>
            <p:cNvPr id="27688" name="Rectangle 158"/>
            <p:cNvSpPr>
              <a:spLocks noChangeArrowheads="1"/>
            </p:cNvSpPr>
            <p:nvPr/>
          </p:nvSpPr>
          <p:spPr bwMode="auto">
            <a:xfrm>
              <a:off x="2565" y="2205"/>
              <a:ext cx="156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cs typeface="Times New Roman" panose="02020603050405020304" pitchFamily="18" charset="0"/>
                </a:rPr>
                <a:t>过滤</a:t>
              </a:r>
              <a:r>
                <a:rPr lang="en-US" altLang="zh-CN" sz="1200" b="1">
                  <a:solidFill>
                    <a:srgbClr val="000000"/>
                  </a:solidFill>
                  <a:latin typeface="+mj-ea"/>
                  <a:ea typeface="+mj-ea"/>
                  <a:cs typeface="Times New Roman" panose="02020603050405020304" pitchFamily="18" charset="0"/>
                </a:rPr>
                <a:t>(filtering)</a:t>
              </a:r>
              <a:endParaRPr lang="zh-CN" altLang="zh-CN" b="1">
                <a:latin typeface="+mj-ea"/>
                <a:ea typeface="+mj-ea"/>
                <a:cs typeface="Times New Roman" panose="02020603050405020304" pitchFamily="18" charset="0"/>
              </a:endParaRPr>
            </a:p>
          </p:txBody>
        </p:sp>
        <p:sp>
          <p:nvSpPr>
            <p:cNvPr id="27689" name="Rectangle 162"/>
            <p:cNvSpPr>
              <a:spLocks noChangeArrowheads="1"/>
            </p:cNvSpPr>
            <p:nvPr/>
          </p:nvSpPr>
          <p:spPr bwMode="auto">
            <a:xfrm>
              <a:off x="3970" y="2322"/>
              <a:ext cx="2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7690" name="Rectangle 163"/>
            <p:cNvSpPr>
              <a:spLocks noChangeArrowheads="1"/>
            </p:cNvSpPr>
            <p:nvPr/>
          </p:nvSpPr>
          <p:spPr bwMode="auto">
            <a:xfrm>
              <a:off x="866" y="163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691" name="Rectangle 164"/>
            <p:cNvSpPr>
              <a:spLocks noChangeArrowheads="1"/>
            </p:cNvSpPr>
            <p:nvPr/>
          </p:nvSpPr>
          <p:spPr bwMode="auto">
            <a:xfrm>
              <a:off x="855" y="1873"/>
              <a:ext cx="165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692" name="Rectangle 165"/>
            <p:cNvSpPr>
              <a:spLocks noChangeArrowheads="1"/>
            </p:cNvSpPr>
            <p:nvPr/>
          </p:nvSpPr>
          <p:spPr bwMode="auto">
            <a:xfrm>
              <a:off x="2522" y="163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693" name="Rectangle 166"/>
            <p:cNvSpPr>
              <a:spLocks noChangeArrowheads="1"/>
            </p:cNvSpPr>
            <p:nvPr/>
          </p:nvSpPr>
          <p:spPr bwMode="auto">
            <a:xfrm>
              <a:off x="2520" y="1873"/>
              <a:ext cx="200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694" name="Rectangle 167"/>
            <p:cNvSpPr>
              <a:spLocks noChangeArrowheads="1"/>
            </p:cNvSpPr>
            <p:nvPr/>
          </p:nvSpPr>
          <p:spPr bwMode="auto">
            <a:xfrm>
              <a:off x="4535" y="163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695" name="Rectangle 171"/>
            <p:cNvSpPr>
              <a:spLocks noChangeArrowheads="1"/>
            </p:cNvSpPr>
            <p:nvPr/>
          </p:nvSpPr>
          <p:spPr bwMode="auto">
            <a:xfrm>
              <a:off x="900" y="2638"/>
              <a:ext cx="130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cs typeface="Times New Roman" panose="02020603050405020304" pitchFamily="18" charset="0"/>
                </a:rPr>
                <a:t>权限提升</a:t>
              </a:r>
              <a:r>
                <a:rPr lang="zh-CN" altLang="zh-CN" sz="1200" b="1">
                  <a:solidFill>
                    <a:srgbClr val="000000"/>
                  </a:solidFill>
                  <a:latin typeface="+mj-ea"/>
                  <a:ea typeface="+mj-ea"/>
                  <a:cs typeface="Times New Roman" panose="02020603050405020304" pitchFamily="18" charset="0"/>
                </a:rPr>
                <a:t>(</a:t>
              </a:r>
              <a:r>
                <a:rPr lang="en-US" altLang="zh-CN" sz="1200" b="1">
                  <a:solidFill>
                    <a:srgbClr val="000000"/>
                  </a:solidFill>
                  <a:latin typeface="+mj-ea"/>
                  <a:ea typeface="+mj-ea"/>
                  <a:cs typeface="Times New Roman" panose="02020603050405020304" pitchFamily="18" charset="0"/>
                </a:rPr>
                <a:t>elevation of privilege</a:t>
              </a:r>
              <a:r>
                <a:rPr lang="zh-CN" altLang="zh-CN" sz="1200" b="1">
                  <a:solidFill>
                    <a:srgbClr val="000000"/>
                  </a:solidFill>
                  <a:latin typeface="+mj-ea"/>
                  <a:ea typeface="+mj-ea"/>
                  <a:cs typeface="Times New Roman" panose="02020603050405020304" pitchFamily="18" charset="0"/>
                </a:rPr>
                <a:t>)</a:t>
              </a:r>
              <a:endParaRPr lang="zh-CN" altLang="zh-CN" sz="800" b="1">
                <a:latin typeface="+mj-ea"/>
                <a:ea typeface="+mj-ea"/>
                <a:cs typeface="Times New Roman" panose="02020603050405020304" pitchFamily="18" charset="0"/>
              </a:endParaRPr>
            </a:p>
          </p:txBody>
        </p:sp>
        <p:sp>
          <p:nvSpPr>
            <p:cNvPr id="27696" name="Rectangle 174"/>
            <p:cNvSpPr>
              <a:spLocks noChangeArrowheads="1"/>
            </p:cNvSpPr>
            <p:nvPr/>
          </p:nvSpPr>
          <p:spPr bwMode="auto">
            <a:xfrm>
              <a:off x="2565" y="2323"/>
              <a:ext cx="135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cs typeface="Times New Roman" panose="02020603050405020304" pitchFamily="18" charset="0"/>
                </a:rPr>
                <a:t>流量控制</a:t>
              </a:r>
              <a:r>
                <a:rPr lang="zh-CN" altLang="zh-CN" sz="1200" b="1">
                  <a:solidFill>
                    <a:srgbClr val="000000"/>
                  </a:solidFill>
                  <a:latin typeface="+mj-ea"/>
                  <a:ea typeface="+mj-ea"/>
                  <a:cs typeface="Times New Roman" panose="02020603050405020304" pitchFamily="18" charset="0"/>
                </a:rPr>
                <a:t>(</a:t>
              </a:r>
              <a:r>
                <a:rPr lang="en-US" altLang="zh-CN" sz="1200" b="1">
                  <a:solidFill>
                    <a:srgbClr val="000000"/>
                  </a:solidFill>
                  <a:latin typeface="+mj-ea"/>
                  <a:ea typeface="+mj-ea"/>
                  <a:cs typeface="Times New Roman" panose="02020603050405020304" pitchFamily="18" charset="0"/>
                </a:rPr>
                <a:t>throttling</a:t>
              </a:r>
              <a:r>
                <a:rPr lang="zh-CN" altLang="zh-CN" sz="1200" b="1">
                  <a:solidFill>
                    <a:srgbClr val="000000"/>
                  </a:solidFill>
                  <a:latin typeface="+mj-ea"/>
                  <a:ea typeface="+mj-ea"/>
                  <a:cs typeface="Times New Roman" panose="02020603050405020304" pitchFamily="18" charset="0"/>
                </a:rPr>
                <a:t>)</a:t>
              </a:r>
              <a:endParaRPr lang="zh-CN" altLang="zh-CN" sz="800" b="1">
                <a:latin typeface="+mj-ea"/>
                <a:ea typeface="+mj-ea"/>
                <a:cs typeface="Times New Roman" panose="02020603050405020304" pitchFamily="18" charset="0"/>
              </a:endParaRPr>
            </a:p>
          </p:txBody>
        </p:sp>
        <p:sp>
          <p:nvSpPr>
            <p:cNvPr id="27697" name="Rectangle 177"/>
            <p:cNvSpPr>
              <a:spLocks noChangeArrowheads="1"/>
            </p:cNvSpPr>
            <p:nvPr/>
          </p:nvSpPr>
          <p:spPr bwMode="auto">
            <a:xfrm>
              <a:off x="2565" y="2458"/>
              <a:ext cx="130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cs typeface="Times New Roman" panose="02020603050405020304" pitchFamily="18" charset="0"/>
                </a:rPr>
                <a:t>服务质量</a:t>
              </a:r>
              <a:r>
                <a:rPr lang="zh-CN" altLang="zh-CN" sz="1200" b="1">
                  <a:solidFill>
                    <a:srgbClr val="000000"/>
                  </a:solidFill>
                  <a:latin typeface="+mj-ea"/>
                  <a:ea typeface="+mj-ea"/>
                  <a:cs typeface="Times New Roman" panose="02020603050405020304" pitchFamily="18" charset="0"/>
                </a:rPr>
                <a:t>(</a:t>
              </a:r>
              <a:r>
                <a:rPr lang="en-US" altLang="zh-CN" sz="1200" b="1">
                  <a:solidFill>
                    <a:srgbClr val="000000"/>
                  </a:solidFill>
                  <a:latin typeface="+mj-ea"/>
                  <a:ea typeface="+mj-ea"/>
                  <a:cs typeface="Times New Roman" panose="02020603050405020304" pitchFamily="18" charset="0"/>
                </a:rPr>
                <a:t>quality of service</a:t>
              </a:r>
              <a:r>
                <a:rPr lang="zh-CN" altLang="zh-CN" sz="1200" b="1">
                  <a:solidFill>
                    <a:srgbClr val="000000"/>
                  </a:solidFill>
                  <a:latin typeface="+mj-ea"/>
                  <a:ea typeface="+mj-ea"/>
                  <a:cs typeface="Times New Roman" panose="02020603050405020304" pitchFamily="18" charset="0"/>
                </a:rPr>
                <a:t>)</a:t>
              </a:r>
              <a:endParaRPr lang="zh-CN" altLang="zh-CN" sz="800" b="1">
                <a:latin typeface="+mj-ea"/>
                <a:ea typeface="+mj-ea"/>
                <a:cs typeface="Times New Roman" panose="02020603050405020304" pitchFamily="18" charset="0"/>
              </a:endParaRPr>
            </a:p>
          </p:txBody>
        </p:sp>
        <p:sp>
          <p:nvSpPr>
            <p:cNvPr id="27698" name="Rectangle 179"/>
            <p:cNvSpPr>
              <a:spLocks noChangeArrowheads="1"/>
            </p:cNvSpPr>
            <p:nvPr/>
          </p:nvSpPr>
          <p:spPr bwMode="auto">
            <a:xfrm>
              <a:off x="3289" y="2655"/>
              <a:ext cx="2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7699" name="Rectangle 181"/>
            <p:cNvSpPr>
              <a:spLocks noChangeArrowheads="1"/>
            </p:cNvSpPr>
            <p:nvPr/>
          </p:nvSpPr>
          <p:spPr bwMode="auto">
            <a:xfrm>
              <a:off x="2565" y="2638"/>
              <a:ext cx="162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solidFill>
                    <a:srgbClr val="000000"/>
                  </a:solidFill>
                  <a:latin typeface="+mj-ea"/>
                  <a:ea typeface="+mj-ea"/>
                  <a:cs typeface="Times New Roman" panose="02020603050405020304" pitchFamily="18" charset="0"/>
                </a:rPr>
                <a:t>最小权限运行</a:t>
              </a:r>
              <a:r>
                <a:rPr lang="zh-CN" altLang="zh-CN" sz="1200" b="1">
                  <a:solidFill>
                    <a:srgbClr val="000000"/>
                  </a:solidFill>
                  <a:latin typeface="+mj-ea"/>
                  <a:ea typeface="+mj-ea"/>
                  <a:cs typeface="Times New Roman" panose="02020603050405020304" pitchFamily="18" charset="0"/>
                </a:rPr>
                <a:t>(</a:t>
              </a:r>
              <a:r>
                <a:rPr lang="en-US" altLang="zh-CN" sz="1200" b="1">
                  <a:solidFill>
                    <a:srgbClr val="000000"/>
                  </a:solidFill>
                  <a:latin typeface="+mj-ea"/>
                  <a:ea typeface="+mj-ea"/>
                  <a:cs typeface="Times New Roman" panose="02020603050405020304" pitchFamily="18" charset="0"/>
                </a:rPr>
                <a:t>run with least privilege</a:t>
              </a:r>
              <a:r>
                <a:rPr lang="zh-CN" altLang="zh-CN" sz="1200" b="1">
                  <a:solidFill>
                    <a:srgbClr val="000000"/>
                  </a:solidFill>
                  <a:latin typeface="+mj-ea"/>
                  <a:ea typeface="+mj-ea"/>
                  <a:cs typeface="Times New Roman" panose="02020603050405020304" pitchFamily="18" charset="0"/>
                </a:rPr>
                <a:t>)</a:t>
              </a:r>
              <a:endParaRPr lang="zh-CN" altLang="zh-CN" sz="800" b="1">
                <a:latin typeface="+mj-ea"/>
                <a:ea typeface="+mj-ea"/>
                <a:cs typeface="Times New Roman" panose="02020603050405020304" pitchFamily="18" charset="0"/>
              </a:endParaRPr>
            </a:p>
          </p:txBody>
        </p:sp>
        <p:sp>
          <p:nvSpPr>
            <p:cNvPr id="27700" name="Rectangle 183"/>
            <p:cNvSpPr>
              <a:spLocks noChangeArrowheads="1"/>
            </p:cNvSpPr>
            <p:nvPr/>
          </p:nvSpPr>
          <p:spPr bwMode="auto">
            <a:xfrm>
              <a:off x="3367" y="2818"/>
              <a:ext cx="2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200" b="1">
                  <a:solidFill>
                    <a:srgbClr val="000000"/>
                  </a:solidFill>
                  <a:latin typeface="+mj-ea"/>
                  <a:ea typeface="+mj-ea"/>
                </a:rPr>
                <a:t> </a:t>
              </a:r>
              <a:endParaRPr lang="zh-CN" altLang="zh-CN" b="1">
                <a:latin typeface="+mj-ea"/>
                <a:ea typeface="+mj-ea"/>
              </a:endParaRPr>
            </a:p>
          </p:txBody>
        </p:sp>
        <p:sp>
          <p:nvSpPr>
            <p:cNvPr id="27701" name="Rectangle 184"/>
            <p:cNvSpPr>
              <a:spLocks noChangeArrowheads="1"/>
            </p:cNvSpPr>
            <p:nvPr/>
          </p:nvSpPr>
          <p:spPr bwMode="auto">
            <a:xfrm>
              <a:off x="866" y="245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702" name="Rectangle 185"/>
            <p:cNvSpPr>
              <a:spLocks noChangeArrowheads="1"/>
            </p:cNvSpPr>
            <p:nvPr/>
          </p:nvSpPr>
          <p:spPr bwMode="auto">
            <a:xfrm>
              <a:off x="855" y="2593"/>
              <a:ext cx="165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703" name="Rectangle 186"/>
            <p:cNvSpPr>
              <a:spLocks noChangeArrowheads="1"/>
            </p:cNvSpPr>
            <p:nvPr/>
          </p:nvSpPr>
          <p:spPr bwMode="auto">
            <a:xfrm>
              <a:off x="2522" y="245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704" name="Rectangle 187"/>
            <p:cNvSpPr>
              <a:spLocks noChangeArrowheads="1"/>
            </p:cNvSpPr>
            <p:nvPr/>
          </p:nvSpPr>
          <p:spPr bwMode="auto">
            <a:xfrm>
              <a:off x="2520" y="2593"/>
              <a:ext cx="200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705" name="Rectangle 188"/>
            <p:cNvSpPr>
              <a:spLocks noChangeArrowheads="1"/>
            </p:cNvSpPr>
            <p:nvPr/>
          </p:nvSpPr>
          <p:spPr bwMode="auto">
            <a:xfrm>
              <a:off x="4535" y="245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706" name="Rectangle 190"/>
            <p:cNvSpPr>
              <a:spLocks noChangeArrowheads="1"/>
            </p:cNvSpPr>
            <p:nvPr/>
          </p:nvSpPr>
          <p:spPr bwMode="auto">
            <a:xfrm>
              <a:off x="866" y="295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707" name="Rectangle 191"/>
            <p:cNvSpPr>
              <a:spLocks noChangeArrowheads="1"/>
            </p:cNvSpPr>
            <p:nvPr/>
          </p:nvSpPr>
          <p:spPr bwMode="auto">
            <a:xfrm>
              <a:off x="866" y="295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708" name="Rectangle 192"/>
            <p:cNvSpPr>
              <a:spLocks noChangeArrowheads="1"/>
            </p:cNvSpPr>
            <p:nvPr/>
          </p:nvSpPr>
          <p:spPr bwMode="auto">
            <a:xfrm>
              <a:off x="900" y="2773"/>
              <a:ext cx="165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709" name="Rectangle 194"/>
            <p:cNvSpPr>
              <a:spLocks noChangeArrowheads="1"/>
            </p:cNvSpPr>
            <p:nvPr/>
          </p:nvSpPr>
          <p:spPr bwMode="auto">
            <a:xfrm>
              <a:off x="2522" y="295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710" name="Rectangle 195"/>
            <p:cNvSpPr>
              <a:spLocks noChangeArrowheads="1"/>
            </p:cNvSpPr>
            <p:nvPr/>
          </p:nvSpPr>
          <p:spPr bwMode="auto">
            <a:xfrm>
              <a:off x="2520" y="2773"/>
              <a:ext cx="200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711" name="Rectangle 197"/>
            <p:cNvSpPr>
              <a:spLocks noChangeArrowheads="1"/>
            </p:cNvSpPr>
            <p:nvPr/>
          </p:nvSpPr>
          <p:spPr bwMode="auto">
            <a:xfrm>
              <a:off x="4535" y="295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712" name="Rectangle 198"/>
            <p:cNvSpPr>
              <a:spLocks noChangeArrowheads="1"/>
            </p:cNvSpPr>
            <p:nvPr/>
          </p:nvSpPr>
          <p:spPr bwMode="auto">
            <a:xfrm>
              <a:off x="4535" y="295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
          <p:nvSpPr>
            <p:cNvPr id="27713" name="Rectangle 199"/>
            <p:cNvSpPr>
              <a:spLocks noChangeArrowheads="1"/>
            </p:cNvSpPr>
            <p:nvPr/>
          </p:nvSpPr>
          <p:spPr bwMode="auto">
            <a:xfrm>
              <a:off x="703" y="2978"/>
              <a:ext cx="2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0000"/>
                  </a:solidFill>
                  <a:latin typeface="+mj-ea"/>
                  <a:ea typeface="+mj-ea"/>
                </a:rPr>
                <a:t> </a:t>
              </a:r>
              <a:endParaRPr lang="zh-CN" altLang="zh-CN" b="1">
                <a:latin typeface="+mj-ea"/>
                <a:ea typeface="+mj-ea"/>
              </a:endParaRPr>
            </a:p>
          </p:txBody>
        </p:sp>
      </p:grpSp>
      <p:cxnSp>
        <p:nvCxnSpPr>
          <p:cNvPr id="27654" name="直接连接符 67"/>
          <p:cNvCxnSpPr>
            <a:cxnSpLocks noChangeShapeType="1"/>
          </p:cNvCxnSpPr>
          <p:nvPr/>
        </p:nvCxnSpPr>
        <p:spPr bwMode="auto">
          <a:xfrm>
            <a:off x="3759128" y="1589162"/>
            <a:ext cx="0" cy="2871540"/>
          </a:xfrm>
          <a:prstGeom prst="line">
            <a:avLst/>
          </a:prstGeom>
          <a:noFill/>
          <a:ln w="11430" algn="ctr">
            <a:solidFill>
              <a:schemeClr val="tx1"/>
            </a:solidFill>
            <a:round/>
          </a:ln>
          <a:extLst>
            <a:ext uri="{909E8E84-426E-40DD-AFC4-6F175D3DCCD1}">
              <a14:hiddenFill xmlns:a14="http://schemas.microsoft.com/office/drawing/2010/main">
                <a:noFill/>
              </a14:hiddenFill>
            </a:ext>
          </a:extLst>
        </p:spPr>
      </p:cxnSp>
      <p:sp>
        <p:nvSpPr>
          <p:cNvPr id="27655" name="AutoShape 2"/>
          <p:cNvSpPr>
            <a:spLocks noChangeAspect="1" noChangeArrowheads="1"/>
          </p:cNvSpPr>
          <p:nvPr/>
        </p:nvSpPr>
        <p:spPr bwMode="auto">
          <a:xfrm>
            <a:off x="800026" y="987574"/>
            <a:ext cx="7416427"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latin typeface="+mj-ea"/>
              <a:ea typeface="+mj-ea"/>
            </a:endParaRPr>
          </a:p>
        </p:txBody>
      </p:sp>
    </p:spTree>
  </p:cSld>
  <p:clrMapOvr>
    <a:masterClrMapping/>
  </p:clrMapOvr>
  <p:transition spd="med">
    <p:randomBar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428625" y="1000125"/>
            <a:ext cx="4643438" cy="1000125"/>
          </a:xfrm>
        </p:spPr>
        <p:txBody>
          <a:bodyPr/>
          <a:lstStyle/>
          <a:p>
            <a:pPr>
              <a:buFont typeface="Wingdings" panose="05000000000000000000" pitchFamily="2" charset="2"/>
              <a:buNone/>
              <a:defRPr/>
            </a:pPr>
            <a:r>
              <a:rPr lang="en-US" altLang="zh-CN" sz="2000" b="1" dirty="0">
                <a:solidFill>
                  <a:schemeClr val="accent6"/>
                </a:solidFill>
              </a:rPr>
              <a:t>2. </a:t>
            </a:r>
            <a:r>
              <a:rPr lang="zh-CN" altLang="zh-CN" sz="2000" b="1" dirty="0">
                <a:solidFill>
                  <a:schemeClr val="accent6"/>
                </a:solidFill>
              </a:rPr>
              <a:t>威胁建模的过程</a:t>
            </a:r>
          </a:p>
          <a:p>
            <a:pPr>
              <a:defRPr/>
            </a:pPr>
            <a:r>
              <a:rPr lang="zh-CN" altLang="zh-CN" sz="1800" b="1" dirty="0"/>
              <a:t>威胁建模的过程主要有</a:t>
            </a:r>
            <a:r>
              <a:rPr lang="en-US" altLang="zh-CN" sz="1800" b="1" dirty="0"/>
              <a:t>4</a:t>
            </a:r>
            <a:r>
              <a:rPr lang="zh-CN" altLang="zh-CN" sz="1800" b="1" dirty="0"/>
              <a:t>个方面。</a:t>
            </a:r>
            <a:endParaRPr lang="en-US" altLang="zh-CN" sz="1800" b="1" dirty="0"/>
          </a:p>
        </p:txBody>
      </p:sp>
      <p:sp>
        <p:nvSpPr>
          <p:cNvPr id="6"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9.2 </a:t>
            </a:r>
            <a:r>
              <a:rPr lang="zh-CN" altLang="zh-CN" sz="2000" b="1">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00048"/>
            <a:ext cx="3000396"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9.2.2 </a:t>
            </a:r>
            <a:r>
              <a:rPr lang="en-US" altLang="en-US" sz="2000" dirty="0"/>
              <a:t>STRIDE</a:t>
            </a:r>
            <a:r>
              <a:rPr altLang="en-US" sz="2000" dirty="0"/>
              <a:t>威胁建模</a:t>
            </a:r>
          </a:p>
        </p:txBody>
      </p:sp>
      <p:sp>
        <p:nvSpPr>
          <p:cNvPr id="13" name="内容占位符 2"/>
          <p:cNvSpPr txBox="1"/>
          <p:nvPr/>
        </p:nvSpPr>
        <p:spPr bwMode="auto">
          <a:xfrm>
            <a:off x="500063" y="4071938"/>
            <a:ext cx="8072437" cy="357187"/>
          </a:xfrm>
          <a:prstGeom prst="rect">
            <a:avLst/>
          </a:prstGeom>
          <a:noFill/>
          <a:ln w="9525">
            <a:noFill/>
            <a:miter lim="800000"/>
          </a:ln>
        </p:spPr>
        <p:txBody>
          <a:bodyPr/>
          <a:lstStyle/>
          <a:p>
            <a:pPr marL="342900" indent="-342900">
              <a:lnSpc>
                <a:spcPct val="150000"/>
              </a:lnSpc>
              <a:buClr>
                <a:srgbClr val="E46C0A"/>
              </a:buClr>
              <a:defRPr/>
            </a:pPr>
            <a:r>
              <a:rPr lang="zh-CN" altLang="zh-CN" sz="1800" b="1" kern="0" dirty="0">
                <a:latin typeface="+mj-ea"/>
                <a:ea typeface="+mj-ea"/>
              </a:rPr>
              <a:t>以上过程可能反复进行多次，因为一次标识所有可能的威胁是很困难的。</a:t>
            </a:r>
            <a:endParaRPr lang="en-US" altLang="zh-CN" sz="1800" b="1" kern="0" dirty="0">
              <a:latin typeface="+mj-ea"/>
              <a:ea typeface="+mj-ea"/>
            </a:endParaRPr>
          </a:p>
        </p:txBody>
      </p:sp>
      <p:sp>
        <p:nvSpPr>
          <p:cNvPr id="28678" name="左大括号 4"/>
          <p:cNvSpPr/>
          <p:nvPr/>
        </p:nvSpPr>
        <p:spPr bwMode="auto">
          <a:xfrm>
            <a:off x="2571750" y="2214563"/>
            <a:ext cx="285750" cy="1714500"/>
          </a:xfrm>
          <a:prstGeom prst="leftBrace">
            <a:avLst>
              <a:gd name="adj1" fmla="val 35111"/>
              <a:gd name="adj2" fmla="val 50000"/>
            </a:avLst>
          </a:prstGeom>
          <a:noFill/>
          <a:ln w="28575" algn="ctr">
            <a:solidFill>
              <a:srgbClr val="C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solidFill>
                <a:srgbClr val="0033CC"/>
              </a:solidFill>
            </a:endParaRPr>
          </a:p>
        </p:txBody>
      </p:sp>
      <p:sp>
        <p:nvSpPr>
          <p:cNvPr id="28679" name="TextBox 6"/>
          <p:cNvSpPr txBox="1">
            <a:spLocks noChangeArrowheads="1"/>
          </p:cNvSpPr>
          <p:nvPr/>
        </p:nvSpPr>
        <p:spPr bwMode="auto">
          <a:xfrm>
            <a:off x="2786063" y="2143125"/>
            <a:ext cx="3730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en-US" altLang="zh-CN" sz="1800" b="1">
                <a:solidFill>
                  <a:srgbClr val="0033CC"/>
                </a:solidFill>
              </a:rPr>
              <a:t>(1)</a:t>
            </a:r>
            <a:r>
              <a:rPr lang="zh-CN" altLang="zh-CN" sz="1800" b="1">
                <a:solidFill>
                  <a:srgbClr val="0033CC"/>
                </a:solidFill>
              </a:rPr>
              <a:t>发现已知的对系统的威胁</a:t>
            </a:r>
          </a:p>
        </p:txBody>
      </p:sp>
      <p:sp>
        <p:nvSpPr>
          <p:cNvPr id="28680" name="TextBox 6"/>
          <p:cNvSpPr txBox="1">
            <a:spLocks noChangeArrowheads="1"/>
          </p:cNvSpPr>
          <p:nvPr/>
        </p:nvSpPr>
        <p:spPr bwMode="auto">
          <a:xfrm>
            <a:off x="2786063" y="2643188"/>
            <a:ext cx="3730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en-US" altLang="zh-CN" sz="1800" b="1">
                <a:solidFill>
                  <a:srgbClr val="0033CC"/>
                </a:solidFill>
              </a:rPr>
              <a:t>(2)</a:t>
            </a:r>
            <a:r>
              <a:rPr lang="zh-CN" altLang="zh-CN" sz="1800" b="1">
                <a:solidFill>
                  <a:srgbClr val="0033CC"/>
                </a:solidFill>
              </a:rPr>
              <a:t>将威胁以风险从高到低排序</a:t>
            </a:r>
          </a:p>
        </p:txBody>
      </p:sp>
      <p:sp>
        <p:nvSpPr>
          <p:cNvPr id="28681" name="TextBox 6"/>
          <p:cNvSpPr txBox="1">
            <a:spLocks noChangeArrowheads="1"/>
          </p:cNvSpPr>
          <p:nvPr/>
        </p:nvSpPr>
        <p:spPr bwMode="auto">
          <a:xfrm>
            <a:off x="2786063" y="3143250"/>
            <a:ext cx="3730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en-US" altLang="zh-CN" sz="1800" b="1">
                <a:solidFill>
                  <a:srgbClr val="0033CC"/>
                </a:solidFill>
              </a:rPr>
              <a:t>(3)</a:t>
            </a:r>
            <a:r>
              <a:rPr lang="zh-CN" altLang="zh-CN" sz="1800" b="1">
                <a:solidFill>
                  <a:srgbClr val="0033CC"/>
                </a:solidFill>
              </a:rPr>
              <a:t>确定减少威胁的技术</a:t>
            </a:r>
          </a:p>
        </p:txBody>
      </p:sp>
      <p:sp>
        <p:nvSpPr>
          <p:cNvPr id="18" name="TextBox 6"/>
          <p:cNvSpPr txBox="1">
            <a:spLocks noChangeArrowheads="1"/>
          </p:cNvSpPr>
          <p:nvPr/>
        </p:nvSpPr>
        <p:spPr bwMode="auto">
          <a:xfrm>
            <a:off x="2786063" y="3643313"/>
            <a:ext cx="3730625" cy="369887"/>
          </a:xfrm>
          <a:prstGeom prst="rect">
            <a:avLst/>
          </a:prstGeom>
          <a:noFill/>
          <a:ln w="9525">
            <a:noFill/>
            <a:miter lim="800000"/>
          </a:ln>
        </p:spPr>
        <p:txBody>
          <a:bodyPr>
            <a:spAutoFit/>
          </a:bodyPr>
          <a:lstStyle/>
          <a:p>
            <a:pPr>
              <a:defRPr/>
            </a:pPr>
            <a:r>
              <a:rPr lang="en-US" altLang="zh-CN" sz="1800" b="1" u="sng" dirty="0">
                <a:solidFill>
                  <a:srgbClr val="0033CC"/>
                </a:solidFill>
                <a:effectLst>
                  <a:outerShdw blurRad="38100" dist="38100" dir="2700000" algn="tl">
                    <a:srgbClr val="000000">
                      <a:alpha val="43137"/>
                    </a:srgbClr>
                  </a:outerShdw>
                </a:effectLst>
                <a:latin typeface="Arial" panose="020B0604020202020204" pitchFamily="34" charset="0"/>
              </a:rPr>
              <a:t>(4)</a:t>
            </a:r>
            <a:r>
              <a:rPr lang="zh-CN" altLang="zh-CN" sz="1800" b="1" u="sng" dirty="0">
                <a:solidFill>
                  <a:srgbClr val="0033CC"/>
                </a:solidFill>
                <a:effectLst>
                  <a:outerShdw blurRad="38100" dist="38100" dir="2700000" algn="tl">
                    <a:srgbClr val="000000">
                      <a:alpha val="43137"/>
                    </a:srgbClr>
                  </a:outerShdw>
                </a:effectLst>
                <a:latin typeface="Arial" panose="020B0604020202020204" pitchFamily="34" charset="0"/>
              </a:rPr>
              <a:t>选择合适的</a:t>
            </a:r>
            <a:r>
              <a:rPr lang="zh-CN" altLang="en-US" sz="1800" b="1" u="sng" dirty="0">
                <a:solidFill>
                  <a:srgbClr val="0033CC"/>
                </a:solidFill>
                <a:effectLst>
                  <a:outerShdw blurRad="38100" dist="38100" dir="2700000" algn="tl">
                    <a:srgbClr val="000000">
                      <a:alpha val="43137"/>
                    </a:srgbClr>
                  </a:outerShdw>
                </a:effectLst>
                <a:latin typeface="Arial" panose="020B0604020202020204" pitchFamily="34" charset="0"/>
              </a:rPr>
              <a:t>安全防御</a:t>
            </a:r>
            <a:r>
              <a:rPr lang="zh-CN" altLang="zh-CN" sz="1800" b="1" u="sng" dirty="0">
                <a:solidFill>
                  <a:srgbClr val="0033CC"/>
                </a:solidFill>
                <a:effectLst>
                  <a:outerShdw blurRad="38100" dist="38100" dir="2700000" algn="tl">
                    <a:srgbClr val="000000">
                      <a:alpha val="43137"/>
                    </a:srgbClr>
                  </a:outerShdw>
                </a:effectLst>
                <a:latin typeface="Arial" panose="020B0604020202020204" pitchFamily="34" charset="0"/>
              </a:rPr>
              <a:t>技术</a:t>
            </a:r>
          </a:p>
        </p:txBody>
      </p:sp>
    </p:spTree>
  </p:cSld>
  <p:clrMapOvr>
    <a:masterClrMapping/>
  </p:clrMapOvr>
  <p:transition spd="med">
    <p:randomBar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0" y="1143000"/>
            <a:ext cx="9143999" cy="3300958"/>
          </a:xfrm>
        </p:spPr>
        <p:txBody>
          <a:bodyPr/>
          <a:lstStyle/>
          <a:p>
            <a:pPr marL="0" indent="0">
              <a:buFont typeface="Wingdings" panose="05000000000000000000" pitchFamily="2" charset="2"/>
              <a:buNone/>
              <a:defRPr/>
            </a:pPr>
            <a:endParaRPr lang="en-US" altLang="zh-CN" sz="1400" b="1" dirty="0"/>
          </a:p>
          <a:p>
            <a:pPr>
              <a:buFont typeface="Wingdings" panose="05000000000000000000" pitchFamily="2" charset="2"/>
              <a:buNone/>
              <a:defRPr/>
            </a:pPr>
            <a:r>
              <a:rPr lang="en-US" altLang="zh-CN" sz="1800" b="1" u="sng" dirty="0">
                <a:solidFill>
                  <a:srgbClr val="0033CC"/>
                </a:solidFill>
                <a:effectLst>
                  <a:outerShdw blurRad="38100" dist="38100" dir="2700000" algn="tl">
                    <a:srgbClr val="000000">
                      <a:alpha val="43137"/>
                    </a:srgbClr>
                  </a:outerShdw>
                </a:effectLst>
              </a:rPr>
              <a:t>(4) </a:t>
            </a:r>
            <a:r>
              <a:rPr lang="zh-CN" altLang="en-US" sz="1800" b="1" u="sng" dirty="0">
                <a:solidFill>
                  <a:srgbClr val="0033CC"/>
                </a:solidFill>
                <a:effectLst>
                  <a:outerShdw blurRad="38100" dist="38100" dir="2700000" algn="tl">
                    <a:srgbClr val="000000">
                      <a:alpha val="43137"/>
                    </a:srgbClr>
                  </a:outerShdw>
                </a:effectLst>
              </a:rPr>
              <a:t>选择合适的安全防御技术。</a:t>
            </a:r>
            <a:endParaRPr lang="en-US" altLang="zh-CN" sz="1800" b="1" u="sng" dirty="0">
              <a:solidFill>
                <a:srgbClr val="0033CC"/>
              </a:solidFill>
              <a:effectLst>
                <a:outerShdw blurRad="38100" dist="38100" dir="2700000" algn="tl">
                  <a:srgbClr val="000000">
                    <a:alpha val="43137"/>
                  </a:srgbClr>
                </a:outerShdw>
              </a:effectLst>
            </a:endParaRPr>
          </a:p>
          <a:p>
            <a:pPr marL="612140">
              <a:defRPr/>
            </a:pPr>
            <a:r>
              <a:rPr lang="zh-CN" altLang="en-US" b="1" dirty="0"/>
              <a:t>例如使用</a:t>
            </a:r>
            <a:r>
              <a:rPr lang="en-US" altLang="zh-CN" b="1" dirty="0">
                <a:cs typeface="Times New Roman" panose="02020603050405020304" pitchFamily="18" charset="0"/>
              </a:rPr>
              <a:t>Windows</a:t>
            </a:r>
            <a:r>
              <a:rPr lang="zh-CN" altLang="en-US" b="1" dirty="0"/>
              <a:t>集成的安全技术</a:t>
            </a:r>
            <a:endParaRPr lang="en-GB" altLang="zh-CN" b="1" dirty="0"/>
          </a:p>
          <a:p>
            <a:pPr marL="1012190" lvl="1">
              <a:defRPr/>
            </a:pPr>
            <a:r>
              <a:rPr lang="en-US" altLang="zh-CN" b="1" dirty="0">
                <a:cs typeface="Times New Roman" panose="02020603050405020304" pitchFamily="18" charset="0"/>
              </a:rPr>
              <a:t>Kerberos				</a:t>
            </a:r>
            <a:r>
              <a:rPr lang="en-US" altLang="zh-CN" b="1" dirty="0">
                <a:cs typeface="Times New Roman" panose="02020603050405020304" pitchFamily="18" charset="0"/>
                <a:sym typeface="Wingdings" panose="05000000000000000000" pitchFamily="2" charset="2"/>
              </a:rPr>
              <a:t></a:t>
            </a:r>
            <a:r>
              <a:rPr lang="zh-CN" altLang="en-US" b="1" dirty="0">
                <a:cs typeface="Times New Roman" panose="02020603050405020304" pitchFamily="18" charset="0"/>
                <a:sym typeface="Wingdings" panose="05000000000000000000" pitchFamily="2" charset="2"/>
              </a:rPr>
              <a:t>计算机网络授权协议</a:t>
            </a:r>
            <a:endParaRPr lang="en-GB" altLang="zh-CN" b="1" dirty="0"/>
          </a:p>
          <a:p>
            <a:pPr marL="1012190" lvl="1">
              <a:defRPr/>
            </a:pPr>
            <a:r>
              <a:rPr lang="zh-CN" altLang="en-US" b="1" dirty="0"/>
              <a:t>访问控制列表</a:t>
            </a:r>
            <a:r>
              <a:rPr lang="en-US" altLang="zh-CN" b="1" dirty="0">
                <a:cs typeface="Times New Roman" panose="02020603050405020304" pitchFamily="18" charset="0"/>
              </a:rPr>
              <a:t>(Access Control List, ACL)	</a:t>
            </a:r>
            <a:r>
              <a:rPr lang="en-US" altLang="zh-CN" b="1" dirty="0">
                <a:cs typeface="Times New Roman" panose="02020603050405020304" pitchFamily="18" charset="0"/>
                <a:sym typeface="Wingdings" panose="05000000000000000000" pitchFamily="2" charset="2"/>
              </a:rPr>
              <a:t></a:t>
            </a:r>
            <a:r>
              <a:rPr lang="zh-CN" altLang="en-US" b="1" dirty="0">
                <a:cs typeface="Times New Roman" panose="02020603050405020304" pitchFamily="18" charset="0"/>
                <a:sym typeface="Wingdings" panose="05000000000000000000" pitchFamily="2" charset="2"/>
              </a:rPr>
              <a:t>访问控制</a:t>
            </a:r>
            <a:endParaRPr lang="en-US" altLang="zh-CN" b="1" dirty="0"/>
          </a:p>
          <a:p>
            <a:pPr marL="1012190" lvl="1">
              <a:defRPr/>
            </a:pPr>
            <a:r>
              <a:rPr lang="zh-CN" altLang="en-US" b="1" dirty="0"/>
              <a:t>安全套接字层</a:t>
            </a:r>
            <a:r>
              <a:rPr lang="en-US" altLang="zh-CN" b="1" dirty="0">
                <a:cs typeface="Times New Roman" panose="02020603050405020304" pitchFamily="18" charset="0"/>
              </a:rPr>
              <a:t>(Secure </a:t>
            </a:r>
            <a:r>
              <a:rPr lang="en-US" altLang="zh-CN" b="1" dirty="0" err="1">
                <a:cs typeface="Times New Roman" panose="02020603050405020304" pitchFamily="18" charset="0"/>
              </a:rPr>
              <a:t>Socker</a:t>
            </a:r>
            <a:r>
              <a:rPr lang="en-US" altLang="zh-CN" b="1" dirty="0">
                <a:cs typeface="Times New Roman" panose="02020603050405020304" pitchFamily="18" charset="0"/>
              </a:rPr>
              <a:t> </a:t>
            </a:r>
            <a:r>
              <a:rPr lang="en-US" altLang="zh-CN" b="1" dirty="0" err="1">
                <a:cs typeface="Times New Roman" panose="02020603050405020304" pitchFamily="18" charset="0"/>
              </a:rPr>
              <a:t>Layer,SSL</a:t>
            </a:r>
            <a:r>
              <a:rPr lang="en-US" altLang="zh-CN" b="1" dirty="0">
                <a:cs typeface="Times New Roman" panose="02020603050405020304" pitchFamily="18" charset="0"/>
              </a:rPr>
              <a:t>)	</a:t>
            </a:r>
            <a:r>
              <a:rPr lang="en-US" altLang="zh-CN" b="1" dirty="0">
                <a:cs typeface="Times New Roman" panose="02020603050405020304" pitchFamily="18" charset="0"/>
                <a:sym typeface="Wingdings" panose="05000000000000000000" pitchFamily="2" charset="2"/>
              </a:rPr>
              <a:t></a:t>
            </a:r>
            <a:r>
              <a:rPr lang="zh-CN" altLang="en-US" b="1" dirty="0">
                <a:cs typeface="Times New Roman" panose="02020603050405020304" pitchFamily="18" charset="0"/>
                <a:sym typeface="Wingdings" panose="05000000000000000000" pitchFamily="2" charset="2"/>
              </a:rPr>
              <a:t>为网络通信数据提供机密性和完整性</a:t>
            </a:r>
            <a:endParaRPr lang="en-US" altLang="zh-CN" b="1" dirty="0"/>
          </a:p>
          <a:p>
            <a:pPr marL="1012190" lvl="1">
              <a:defRPr/>
            </a:pPr>
            <a:r>
              <a:rPr lang="zh-CN" altLang="en-US" b="1" dirty="0"/>
              <a:t>传输层安全</a:t>
            </a:r>
            <a:r>
              <a:rPr lang="en-US" altLang="zh-CN" b="1" dirty="0">
                <a:cs typeface="Times New Roman" panose="02020603050405020304" pitchFamily="18" charset="0"/>
              </a:rPr>
              <a:t>(Transport Layer </a:t>
            </a:r>
            <a:r>
              <a:rPr lang="en-US" altLang="zh-CN" b="1" dirty="0" err="1">
                <a:cs typeface="Times New Roman" panose="02020603050405020304" pitchFamily="18" charset="0"/>
              </a:rPr>
              <a:t>Security,TLS</a:t>
            </a:r>
            <a:r>
              <a:rPr lang="en-US" altLang="zh-CN" b="1" dirty="0">
                <a:cs typeface="Times New Roman" panose="02020603050405020304" pitchFamily="18" charset="0"/>
              </a:rPr>
              <a:t>)</a:t>
            </a:r>
            <a:r>
              <a:rPr lang="en-US" altLang="zh-CN" b="1" dirty="0">
                <a:cs typeface="Times New Roman" panose="02020603050405020304" pitchFamily="18" charset="0"/>
                <a:sym typeface="Wingdings" panose="05000000000000000000" pitchFamily="2" charset="2"/>
              </a:rPr>
              <a:t> 	</a:t>
            </a:r>
            <a:r>
              <a:rPr lang="zh-CN" altLang="en-US" b="1" dirty="0">
                <a:cs typeface="Times New Roman" panose="02020603050405020304" pitchFamily="18" charset="0"/>
                <a:sym typeface="Wingdings" panose="05000000000000000000" pitchFamily="2" charset="2"/>
              </a:rPr>
              <a:t>为网络通信数据提供机密性和完整性</a:t>
            </a:r>
            <a:endParaRPr lang="en-US" altLang="zh-CN" b="1" dirty="0"/>
          </a:p>
          <a:p>
            <a:pPr marL="1012190" lvl="1">
              <a:defRPr/>
            </a:pPr>
            <a:r>
              <a:rPr lang="en-US" altLang="zh-CN" b="1" dirty="0" err="1">
                <a:cs typeface="Times New Roman" panose="02020603050405020304" pitchFamily="18" charset="0"/>
              </a:rPr>
              <a:t>IPSec</a:t>
            </a:r>
            <a:r>
              <a:rPr lang="en-US" altLang="zh-CN" b="1" dirty="0">
                <a:cs typeface="Times New Roman" panose="02020603050405020304" pitchFamily="18" charset="0"/>
              </a:rPr>
              <a:t> (VPN)				</a:t>
            </a:r>
            <a:r>
              <a:rPr lang="en-US" altLang="zh-CN" b="1" dirty="0">
                <a:cs typeface="Times New Roman" panose="02020603050405020304" pitchFamily="18" charset="0"/>
                <a:sym typeface="Wingdings" panose="05000000000000000000" pitchFamily="2" charset="2"/>
              </a:rPr>
              <a:t></a:t>
            </a:r>
            <a:r>
              <a:rPr lang="zh-CN" altLang="en-US" b="1">
                <a:cs typeface="Times New Roman" panose="02020603050405020304" pitchFamily="18" charset="0"/>
                <a:sym typeface="Wingdings" panose="05000000000000000000" pitchFamily="2" charset="2"/>
              </a:rPr>
              <a:t>网络通信机密性、认证性和完整性</a:t>
            </a:r>
            <a:endParaRPr lang="en-US" altLang="zh-CN" b="1" dirty="0"/>
          </a:p>
        </p:txBody>
      </p:sp>
      <p:sp>
        <p:nvSpPr>
          <p:cNvPr id="7" name="标题 1"/>
          <p:cNvSpPr txBox="1"/>
          <p:nvPr/>
        </p:nvSpPr>
        <p:spPr bwMode="auto">
          <a:xfrm>
            <a:off x="6143636" y="142858"/>
            <a:ext cx="2780458"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9.2 </a:t>
            </a:r>
            <a:r>
              <a:rPr lang="zh-CN" altLang="zh-CN" sz="2000" b="1">
                <a:solidFill>
                  <a:srgbClr val="C00000"/>
                </a:solidFill>
                <a:effectLst>
                  <a:reflection blurRad="6350" stA="50000" endA="300" endPos="50000" dist="60007" dir="5400000" sy="-100000" algn="bl" rotWithShape="0"/>
                </a:effectLst>
                <a:latin typeface="+mj-ea"/>
                <a:ea typeface="+mj-ea"/>
                <a:cs typeface="+mj-cs"/>
              </a:rPr>
              <a:t>软件</a:t>
            </a:r>
            <a:r>
              <a:rPr lang="zh-CN" altLang="en-US" sz="2000" b="1">
                <a:solidFill>
                  <a:srgbClr val="C00000"/>
                </a:solidFill>
                <a:effectLst>
                  <a:reflection blurRad="6350" stA="50000" endA="300" endPos="50000" dist="60007" dir="5400000" sy="-100000" algn="bl" rotWithShape="0"/>
                </a:effectLst>
                <a:latin typeface="+mj-ea"/>
                <a:ea typeface="+mj-ea"/>
                <a:cs typeface="+mj-cs"/>
              </a:rPr>
              <a:t>体系</a:t>
            </a:r>
            <a:r>
              <a:rPr lang="zh-CN" altLang="zh-CN" sz="2000" b="1">
                <a:solidFill>
                  <a:srgbClr val="C00000"/>
                </a:solidFill>
                <a:effectLst>
                  <a:reflection blurRad="6350" stA="50000" endA="300" endPos="50000" dist="60007" dir="5400000" sy="-100000" algn="bl" rotWithShape="0"/>
                </a:effectLst>
                <a:latin typeface="+mj-ea"/>
                <a:ea typeface="+mj-ea"/>
                <a:cs typeface="+mj-cs"/>
              </a:rPr>
              <a:t>安全</a:t>
            </a:r>
            <a:r>
              <a:rPr lang="zh-CN" altLang="en-US" sz="2000" b="1">
                <a:solidFill>
                  <a:srgbClr val="C00000"/>
                </a:solidFill>
                <a:effectLst>
                  <a:reflection blurRad="6350" stA="50000" endA="300" endPos="50000" dist="60007" dir="5400000" sy="-100000" algn="bl" rotWithShape="0"/>
                </a:effectLst>
                <a:latin typeface="+mj-ea"/>
                <a:ea typeface="+mj-ea"/>
                <a:cs typeface="+mj-cs"/>
              </a:rPr>
              <a:t>分析</a:t>
            </a:r>
            <a:endParaRPr lang="zh-CN" altLang="zh-CN"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8" name="标题 1"/>
          <p:cNvSpPr txBox="1"/>
          <p:nvPr/>
        </p:nvSpPr>
        <p:spPr bwMode="auto">
          <a:xfrm>
            <a:off x="214282" y="500048"/>
            <a:ext cx="3000396"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9.2.2 </a:t>
            </a:r>
            <a:r>
              <a:rPr lang="en-US" altLang="en-US" sz="2000" dirty="0"/>
              <a:t>STRIDE</a:t>
            </a:r>
            <a:r>
              <a:rPr altLang="en-US" sz="2000" dirty="0"/>
              <a:t>威胁建模</a:t>
            </a:r>
          </a:p>
        </p:txBody>
      </p:sp>
    </p:spTree>
  </p:cSld>
  <p:clrMapOvr>
    <a:masterClrMapping/>
  </p:clrMapOvr>
  <p:transition spd="med">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0169" y="500048"/>
            <a:ext cx="5614987" cy="857250"/>
          </a:xfrm>
        </p:spPr>
        <p:txBody>
          <a:bodyPr/>
          <a:lstStyle/>
          <a:p>
            <a:pPr>
              <a:defRPr/>
            </a:pPr>
            <a:r>
              <a:rPr altLang="en-US" sz="2800" dirty="0"/>
              <a:t>内容提纲</a:t>
            </a:r>
          </a:p>
        </p:txBody>
      </p:sp>
      <p:sp>
        <p:nvSpPr>
          <p:cNvPr id="30723" name="五边形 3"/>
          <p:cNvSpPr>
            <a:spLocks noChangeArrowheads="1"/>
          </p:cNvSpPr>
          <p:nvPr/>
        </p:nvSpPr>
        <p:spPr bwMode="auto">
          <a:xfrm rot="10800000">
            <a:off x="2286000" y="2643188"/>
            <a:ext cx="4071938" cy="428625"/>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latin typeface="+mj-ea"/>
              <a:ea typeface="+mj-ea"/>
            </a:endParaRPr>
          </a:p>
        </p:txBody>
      </p:sp>
      <p:sp>
        <p:nvSpPr>
          <p:cNvPr id="30724" name="椭圆 4"/>
          <p:cNvSpPr>
            <a:spLocks noChangeArrowheads="1"/>
          </p:cNvSpPr>
          <p:nvPr/>
        </p:nvSpPr>
        <p:spPr bwMode="auto">
          <a:xfrm>
            <a:off x="2071688" y="2786063"/>
            <a:ext cx="428625" cy="428625"/>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latin typeface="+mj-ea"/>
              <a:ea typeface="+mj-ea"/>
            </a:endParaRPr>
          </a:p>
        </p:txBody>
      </p:sp>
      <p:sp>
        <p:nvSpPr>
          <p:cNvPr id="30725" name="TextBox 6"/>
          <p:cNvSpPr txBox="1">
            <a:spLocks noChangeArrowheads="1"/>
          </p:cNvSpPr>
          <p:nvPr/>
        </p:nvSpPr>
        <p:spPr bwMode="auto">
          <a:xfrm>
            <a:off x="3071813" y="2643188"/>
            <a:ext cx="25717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solidFill>
                  <a:srgbClr val="FF0000"/>
                </a:solidFill>
                <a:latin typeface="+mj-ea"/>
                <a:ea typeface="+mj-ea"/>
              </a:rPr>
              <a:t>安全软件开发生命周期</a:t>
            </a:r>
          </a:p>
        </p:txBody>
      </p:sp>
      <p:grpSp>
        <p:nvGrpSpPr>
          <p:cNvPr id="30726" name="组合 8"/>
          <p:cNvGrpSpPr/>
          <p:nvPr/>
        </p:nvGrpSpPr>
        <p:grpSpPr bwMode="auto">
          <a:xfrm>
            <a:off x="2071688" y="2071688"/>
            <a:ext cx="4286250" cy="428625"/>
            <a:chOff x="571472" y="1142990"/>
            <a:chExt cx="4286280" cy="428628"/>
          </a:xfrm>
        </p:grpSpPr>
        <p:sp>
          <p:nvSpPr>
            <p:cNvPr id="30743" name="五边形 9"/>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latin typeface="+mj-ea"/>
                <a:ea typeface="+mj-ea"/>
              </a:endParaRPr>
            </a:p>
          </p:txBody>
        </p:sp>
        <p:sp>
          <p:nvSpPr>
            <p:cNvPr id="30744" name="椭圆 10"/>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latin typeface="+mj-ea"/>
                <a:ea typeface="+mj-ea"/>
              </a:endParaRPr>
            </a:p>
          </p:txBody>
        </p:sp>
        <p:sp>
          <p:nvSpPr>
            <p:cNvPr id="30745" name="TextBox 11"/>
            <p:cNvSpPr txBox="1">
              <a:spLocks noChangeArrowheads="1"/>
            </p:cNvSpPr>
            <p:nvPr/>
          </p:nvSpPr>
          <p:spPr bwMode="auto">
            <a:xfrm>
              <a:off x="1714480" y="1142990"/>
              <a:ext cx="2152664"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mj-ea"/>
                  <a:ea typeface="+mj-ea"/>
                </a:rPr>
                <a:t>软件体系安全分析</a:t>
              </a:r>
            </a:p>
          </p:txBody>
        </p:sp>
      </p:grpSp>
      <p:grpSp>
        <p:nvGrpSpPr>
          <p:cNvPr id="30727" name="组合 12"/>
          <p:cNvGrpSpPr/>
          <p:nvPr/>
        </p:nvGrpSpPr>
        <p:grpSpPr bwMode="auto">
          <a:xfrm>
            <a:off x="2071688" y="1500188"/>
            <a:ext cx="4286250" cy="428625"/>
            <a:chOff x="571472" y="1142990"/>
            <a:chExt cx="4286280" cy="428628"/>
          </a:xfrm>
        </p:grpSpPr>
        <p:sp>
          <p:nvSpPr>
            <p:cNvPr id="30740" name="五边形 13"/>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latin typeface="+mj-ea"/>
                <a:ea typeface="+mj-ea"/>
              </a:endParaRPr>
            </a:p>
          </p:txBody>
        </p:sp>
        <p:sp>
          <p:nvSpPr>
            <p:cNvPr id="30741" name="椭圆 14"/>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latin typeface="+mj-ea"/>
                <a:ea typeface="+mj-ea"/>
              </a:endParaRPr>
            </a:p>
          </p:txBody>
        </p:sp>
        <p:sp>
          <p:nvSpPr>
            <p:cNvPr id="30742" name="TextBox 15"/>
            <p:cNvSpPr txBox="1">
              <a:spLocks noChangeArrowheads="1"/>
            </p:cNvSpPr>
            <p:nvPr/>
          </p:nvSpPr>
          <p:spPr bwMode="auto">
            <a:xfrm>
              <a:off x="1500154" y="1142991"/>
              <a:ext cx="2714653"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mj-ea"/>
                  <a:ea typeface="+mj-ea"/>
                </a:rPr>
                <a:t>软件安全概述</a:t>
              </a:r>
            </a:p>
          </p:txBody>
        </p:sp>
      </p:grpSp>
      <p:grpSp>
        <p:nvGrpSpPr>
          <p:cNvPr id="30728" name="组合 16"/>
          <p:cNvGrpSpPr/>
          <p:nvPr/>
        </p:nvGrpSpPr>
        <p:grpSpPr bwMode="auto">
          <a:xfrm>
            <a:off x="2071688" y="3214688"/>
            <a:ext cx="4286250" cy="428625"/>
            <a:chOff x="571472" y="1142990"/>
            <a:chExt cx="4286280" cy="428628"/>
          </a:xfrm>
        </p:grpSpPr>
        <p:sp>
          <p:nvSpPr>
            <p:cNvPr id="30737" name="五边形 17"/>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latin typeface="+mj-ea"/>
                <a:ea typeface="+mj-ea"/>
              </a:endParaRPr>
            </a:p>
          </p:txBody>
        </p:sp>
        <p:sp>
          <p:nvSpPr>
            <p:cNvPr id="30738" name="椭圆 18"/>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latin typeface="+mj-ea"/>
                <a:ea typeface="+mj-ea"/>
              </a:endParaRPr>
            </a:p>
          </p:txBody>
        </p:sp>
        <p:sp>
          <p:nvSpPr>
            <p:cNvPr id="30739" name="TextBox 19"/>
            <p:cNvSpPr txBox="1">
              <a:spLocks noChangeArrowheads="1"/>
            </p:cNvSpPr>
            <p:nvPr/>
          </p:nvSpPr>
          <p:spPr bwMode="auto">
            <a:xfrm>
              <a:off x="1714480" y="1142990"/>
              <a:ext cx="2152664"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mj-ea"/>
                  <a:ea typeface="+mj-ea"/>
                </a:rPr>
                <a:t>恶意代码分析</a:t>
              </a:r>
            </a:p>
          </p:txBody>
        </p:sp>
      </p:grpSp>
      <p:grpSp>
        <p:nvGrpSpPr>
          <p:cNvPr id="30729" name="组合 20"/>
          <p:cNvGrpSpPr/>
          <p:nvPr/>
        </p:nvGrpSpPr>
        <p:grpSpPr bwMode="auto">
          <a:xfrm>
            <a:off x="2071688" y="3786188"/>
            <a:ext cx="4286250" cy="428625"/>
            <a:chOff x="571472" y="1142990"/>
            <a:chExt cx="4286280" cy="428628"/>
          </a:xfrm>
        </p:grpSpPr>
        <p:sp>
          <p:nvSpPr>
            <p:cNvPr id="30734" name="五边形 21"/>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latin typeface="+mj-ea"/>
                <a:ea typeface="+mj-ea"/>
              </a:endParaRPr>
            </a:p>
          </p:txBody>
        </p:sp>
        <p:sp>
          <p:nvSpPr>
            <p:cNvPr id="30735" name="椭圆 22"/>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latin typeface="+mj-ea"/>
                <a:ea typeface="+mj-ea"/>
              </a:endParaRPr>
            </a:p>
          </p:txBody>
        </p:sp>
        <p:sp>
          <p:nvSpPr>
            <p:cNvPr id="30736" name="TextBox 23"/>
            <p:cNvSpPr txBox="1">
              <a:spLocks noChangeArrowheads="1"/>
            </p:cNvSpPr>
            <p:nvPr/>
          </p:nvSpPr>
          <p:spPr bwMode="auto">
            <a:xfrm>
              <a:off x="1714480" y="1142990"/>
              <a:ext cx="2152664"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mj-ea"/>
                  <a:ea typeface="+mj-ea"/>
                </a:rPr>
                <a:t>本章小结</a:t>
              </a:r>
            </a:p>
          </p:txBody>
        </p:sp>
      </p:grpSp>
      <p:sp>
        <p:nvSpPr>
          <p:cNvPr id="22" name="右大括号 21"/>
          <p:cNvSpPr/>
          <p:nvPr/>
        </p:nvSpPr>
        <p:spPr bwMode="auto">
          <a:xfrm>
            <a:off x="6443663" y="2139950"/>
            <a:ext cx="144462" cy="935038"/>
          </a:xfrm>
          <a:prstGeom prst="rightBrace">
            <a:avLst/>
          </a:prstGeom>
          <a:ln w="38100">
            <a:solidFill>
              <a:srgbClr val="FF0000"/>
            </a:solidFill>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wrap="none" anchor="ctr"/>
          <a:lstStyle/>
          <a:p>
            <a:pPr algn="ctr" eaLnBrk="1" hangingPunct="1">
              <a:defRPr/>
            </a:pPr>
            <a:endParaRPr lang="zh-CN" altLang="en-US" b="1" dirty="0">
              <a:latin typeface="+mj-ea"/>
              <a:ea typeface="+mj-ea"/>
            </a:endParaRPr>
          </a:p>
        </p:txBody>
      </p:sp>
      <p:sp>
        <p:nvSpPr>
          <p:cNvPr id="23" name="右大括号 22"/>
          <p:cNvSpPr/>
          <p:nvPr/>
        </p:nvSpPr>
        <p:spPr bwMode="auto">
          <a:xfrm>
            <a:off x="6443663" y="3262313"/>
            <a:ext cx="144462" cy="358775"/>
          </a:xfrm>
          <a:prstGeom prst="rightBrace">
            <a:avLst/>
          </a:prstGeom>
          <a:ln w="38100">
            <a:solidFill>
              <a:srgbClr val="FF0000"/>
            </a:solidFill>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wrap="none" anchor="ctr"/>
          <a:lstStyle/>
          <a:p>
            <a:pPr algn="ctr" eaLnBrk="1" hangingPunct="1">
              <a:defRPr/>
            </a:pPr>
            <a:endParaRPr lang="zh-CN" altLang="en-US" b="1" dirty="0">
              <a:latin typeface="+mj-ea"/>
              <a:ea typeface="+mj-ea"/>
            </a:endParaRPr>
          </a:p>
        </p:txBody>
      </p:sp>
      <p:sp>
        <p:nvSpPr>
          <p:cNvPr id="30732" name="矩形 23"/>
          <p:cNvSpPr>
            <a:spLocks noChangeArrowheads="1"/>
          </p:cNvSpPr>
          <p:nvPr/>
        </p:nvSpPr>
        <p:spPr bwMode="auto">
          <a:xfrm>
            <a:off x="6588125" y="2427288"/>
            <a:ext cx="1441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solidFill>
                  <a:srgbClr val="0033CC"/>
                </a:solidFill>
                <a:latin typeface="+mj-ea"/>
                <a:ea typeface="+mj-ea"/>
              </a:rPr>
              <a:t>构造安全的软件</a:t>
            </a:r>
            <a:endParaRPr lang="zh-CN" altLang="en-US" sz="1400" b="1">
              <a:latin typeface="+mj-ea"/>
              <a:ea typeface="+mj-ea"/>
            </a:endParaRPr>
          </a:p>
        </p:txBody>
      </p:sp>
      <p:sp>
        <p:nvSpPr>
          <p:cNvPr id="30733" name="矩形 24"/>
          <p:cNvSpPr>
            <a:spLocks noChangeArrowheads="1"/>
          </p:cNvSpPr>
          <p:nvPr/>
        </p:nvSpPr>
        <p:spPr bwMode="auto">
          <a:xfrm>
            <a:off x="6588125" y="3290888"/>
            <a:ext cx="2519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33CC"/>
                </a:solidFill>
                <a:latin typeface="+mj-ea"/>
                <a:ea typeface="+mj-ea"/>
              </a:rPr>
              <a:t>软件</a:t>
            </a:r>
            <a:r>
              <a:rPr lang="zh-CN" altLang="en-US" sz="1400" b="1">
                <a:solidFill>
                  <a:srgbClr val="0033CC"/>
                </a:solidFill>
                <a:latin typeface="+mj-ea"/>
                <a:ea typeface="+mj-ea"/>
              </a:rPr>
              <a:t>自身的</a:t>
            </a:r>
            <a:r>
              <a:rPr lang="zh-CN" altLang="zh-CN" sz="1400" b="1">
                <a:solidFill>
                  <a:srgbClr val="0033CC"/>
                </a:solidFill>
                <a:latin typeface="+mj-ea"/>
                <a:ea typeface="+mj-ea"/>
              </a:rPr>
              <a:t>安全</a:t>
            </a:r>
            <a:r>
              <a:rPr lang="zh-CN" altLang="en-US" sz="1400" b="1">
                <a:solidFill>
                  <a:srgbClr val="0033CC"/>
                </a:solidFill>
                <a:latin typeface="+mj-ea"/>
                <a:ea typeface="+mj-ea"/>
              </a:rPr>
              <a:t>性和恶意软件</a:t>
            </a:r>
            <a:endParaRPr lang="zh-CN" altLang="en-US" sz="1400" b="1">
              <a:latin typeface="+mj-ea"/>
              <a:ea typeface="+mj-ea"/>
            </a:endParaRPr>
          </a:p>
        </p:txBody>
      </p:sp>
    </p:spTree>
  </p:cSld>
  <p:clrMapOvr>
    <a:masterClrMapping/>
  </p:clrMapOvr>
  <p:transition spd="med">
    <p:randomBar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矩形 11"/>
          <p:cNvSpPr>
            <a:spLocks noChangeArrowheads="1"/>
          </p:cNvSpPr>
          <p:nvPr/>
        </p:nvSpPr>
        <p:spPr bwMode="auto">
          <a:xfrm>
            <a:off x="2143125" y="1785938"/>
            <a:ext cx="4876800" cy="1845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5430" indent="-265430">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just">
              <a:lnSpc>
                <a:spcPct val="200000"/>
              </a:lnSpc>
              <a:buSzPct val="80000"/>
            </a:pPr>
            <a:r>
              <a:rPr lang="en-US" altLang="zh-CN" sz="2000" b="1" dirty="0">
                <a:latin typeface="+mj-ea"/>
                <a:ea typeface="+mj-ea"/>
                <a:cs typeface="Arial" panose="020B0604020202020204" pitchFamily="34" charset="0"/>
              </a:rPr>
              <a:t>9.3.1  </a:t>
            </a:r>
            <a:r>
              <a:rPr lang="zh-CN" altLang="en-US" sz="2000" b="1" u="sng" dirty="0">
                <a:effectLst>
                  <a:outerShdw blurRad="38100" dist="38100" dir="2700000" algn="tl">
                    <a:srgbClr val="000000">
                      <a:alpha val="43137"/>
                    </a:srgbClr>
                  </a:outerShdw>
                </a:effectLst>
                <a:latin typeface="+mj-ea"/>
                <a:ea typeface="+mj-ea"/>
                <a:cs typeface="Arial" panose="020B0604020202020204" pitchFamily="34" charset="0"/>
              </a:rPr>
              <a:t>传统</a:t>
            </a:r>
            <a:r>
              <a:rPr lang="zh-CN" altLang="en-US" sz="2000" b="1" dirty="0">
                <a:latin typeface="+mj-ea"/>
                <a:ea typeface="+mj-ea"/>
                <a:cs typeface="Arial" panose="020B0604020202020204" pitchFamily="34" charset="0"/>
              </a:rPr>
              <a:t>软件开发生命周期</a:t>
            </a:r>
            <a:endParaRPr lang="en-US" altLang="zh-CN" sz="2000" b="1" dirty="0">
              <a:latin typeface="+mj-ea"/>
              <a:ea typeface="+mj-ea"/>
              <a:cs typeface="Arial" panose="020B0604020202020204" pitchFamily="34" charset="0"/>
            </a:endParaRPr>
          </a:p>
          <a:p>
            <a:pPr algn="just">
              <a:lnSpc>
                <a:spcPct val="200000"/>
              </a:lnSpc>
              <a:buSzPct val="80000"/>
            </a:pPr>
            <a:r>
              <a:rPr lang="en-US" altLang="zh-CN" sz="2000" b="1" dirty="0">
                <a:latin typeface="+mj-ea"/>
                <a:ea typeface="+mj-ea"/>
                <a:cs typeface="Arial" panose="020B0604020202020204" pitchFamily="34" charset="0"/>
              </a:rPr>
              <a:t>9.3.2  </a:t>
            </a:r>
            <a:r>
              <a:rPr lang="zh-CN" altLang="en-US" sz="2000" b="1" u="sng" dirty="0">
                <a:effectLst>
                  <a:outerShdw blurRad="38100" dist="38100" dir="2700000" algn="tl">
                    <a:srgbClr val="000000">
                      <a:alpha val="43137"/>
                    </a:srgbClr>
                  </a:outerShdw>
                </a:effectLst>
                <a:latin typeface="+mj-ea"/>
                <a:ea typeface="+mj-ea"/>
                <a:cs typeface="Arial" panose="020B0604020202020204" pitchFamily="34" charset="0"/>
              </a:rPr>
              <a:t>安全</a:t>
            </a:r>
            <a:r>
              <a:rPr lang="zh-CN" altLang="en-US" sz="2000" b="1" dirty="0">
                <a:latin typeface="+mj-ea"/>
                <a:ea typeface="+mj-ea"/>
                <a:cs typeface="Arial" panose="020B0604020202020204" pitchFamily="34" charset="0"/>
              </a:rPr>
              <a:t>软件开发生命周期</a:t>
            </a:r>
            <a:endParaRPr lang="en-US" altLang="zh-CN" sz="2000" b="1" dirty="0">
              <a:latin typeface="+mj-ea"/>
              <a:ea typeface="+mj-ea"/>
              <a:cs typeface="Arial" panose="020B0604020202020204" pitchFamily="34" charset="0"/>
            </a:endParaRPr>
          </a:p>
          <a:p>
            <a:pPr algn="just">
              <a:lnSpc>
                <a:spcPct val="200000"/>
              </a:lnSpc>
              <a:buSzPct val="80000"/>
            </a:pPr>
            <a:r>
              <a:rPr lang="en-US" altLang="zh-CN" sz="2000" b="1" dirty="0">
                <a:solidFill>
                  <a:schemeClr val="bg1">
                    <a:lumMod val="75000"/>
                  </a:schemeClr>
                </a:solidFill>
                <a:latin typeface="+mj-ea"/>
                <a:ea typeface="+mj-ea"/>
                <a:cs typeface="Arial" panose="020B0604020202020204" pitchFamily="34" charset="0"/>
              </a:rPr>
              <a:t>9.3.3  </a:t>
            </a:r>
            <a:r>
              <a:rPr lang="zh-CN" altLang="en-US" sz="2000" b="1" dirty="0">
                <a:solidFill>
                  <a:schemeClr val="bg1">
                    <a:lumMod val="75000"/>
                  </a:schemeClr>
                </a:solidFill>
                <a:latin typeface="+mj-ea"/>
                <a:ea typeface="+mj-ea"/>
                <a:cs typeface="Arial" panose="020B0604020202020204" pitchFamily="34" charset="0"/>
              </a:rPr>
              <a:t>其它安全软件开发生命周期模型</a:t>
            </a:r>
            <a:endParaRPr lang="en-US" altLang="zh-CN" sz="2000" b="1" dirty="0">
              <a:solidFill>
                <a:schemeClr val="bg1">
                  <a:lumMod val="75000"/>
                </a:schemeClr>
              </a:solidFill>
              <a:latin typeface="+mj-ea"/>
              <a:ea typeface="+mj-ea"/>
              <a:cs typeface="Arial" panose="020B0604020202020204" pitchFamily="34" charset="0"/>
            </a:endParaRPr>
          </a:p>
        </p:txBody>
      </p:sp>
      <p:sp>
        <p:nvSpPr>
          <p:cNvPr id="5" name="标题 1"/>
          <p:cNvSpPr txBox="1"/>
          <p:nvPr/>
        </p:nvSpPr>
        <p:spPr bwMode="auto">
          <a:xfrm>
            <a:off x="1428728" y="1142990"/>
            <a:ext cx="5357850"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dirty="0"/>
              <a:t>9.3   </a:t>
            </a:r>
            <a:r>
              <a:rPr altLang="en-US" dirty="0"/>
              <a:t>安全软件开发生命周期</a:t>
            </a:r>
          </a:p>
        </p:txBody>
      </p:sp>
    </p:spTree>
  </p:cSld>
  <p:clrMapOvr>
    <a:masterClrMapping/>
  </p:clrMapOvr>
  <p:transition spd="med">
    <p:randomBar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内容占位符 2"/>
          <p:cNvSpPr>
            <a:spLocks noGrp="1"/>
          </p:cNvSpPr>
          <p:nvPr>
            <p:ph idx="1"/>
          </p:nvPr>
        </p:nvSpPr>
        <p:spPr>
          <a:xfrm>
            <a:off x="214313" y="1143000"/>
            <a:ext cx="8229600" cy="3535363"/>
          </a:xfrm>
        </p:spPr>
        <p:txBody>
          <a:bodyPr/>
          <a:lstStyle/>
          <a:p>
            <a:pPr lvl="1" eaLnBrk="1" hangingPunct="1">
              <a:buFont typeface="Wingdings" panose="05000000000000000000" pitchFamily="2" charset="2"/>
              <a:buChar char="n"/>
            </a:pPr>
            <a:r>
              <a:rPr lang="zh-CN" altLang="en-US" sz="1800" b="1"/>
              <a:t>从</a:t>
            </a:r>
            <a:r>
              <a:rPr lang="en-US" altLang="zh-CN" sz="1800" b="1"/>
              <a:t>20</a:t>
            </a:r>
            <a:r>
              <a:rPr lang="zh-CN" altLang="en-US" sz="1800" b="1"/>
              <a:t>世纪</a:t>
            </a:r>
            <a:r>
              <a:rPr lang="en-US" altLang="zh-CN" sz="1800" b="1"/>
              <a:t>50</a:t>
            </a:r>
            <a:r>
              <a:rPr lang="zh-CN" altLang="en-US" sz="1800" b="1"/>
              <a:t>年代末开始，计算机越来越普及，并广泛应用。可到了</a:t>
            </a:r>
            <a:r>
              <a:rPr lang="en-US" altLang="zh-CN" sz="1800" b="1"/>
              <a:t>70</a:t>
            </a:r>
            <a:r>
              <a:rPr lang="zh-CN" altLang="en-US" sz="1800" b="1"/>
              <a:t>年代初，出现了“软件危机”。什么是软件危机</a:t>
            </a:r>
            <a:r>
              <a:rPr lang="en-US" altLang="zh-CN" sz="1800" b="1"/>
              <a:t>?</a:t>
            </a:r>
          </a:p>
          <a:p>
            <a:pPr lvl="2" eaLnBrk="1" hangingPunct="1">
              <a:buFont typeface="Wingdings" panose="05000000000000000000" pitchFamily="2" charset="2"/>
              <a:buChar char="Ø"/>
            </a:pPr>
            <a:r>
              <a:rPr lang="zh-CN" altLang="en-US" sz="1800" b="1">
                <a:solidFill>
                  <a:srgbClr val="FF0000"/>
                </a:solidFill>
              </a:rPr>
              <a:t>危机主要表现为：</a:t>
            </a:r>
            <a:r>
              <a:rPr lang="zh-CN" altLang="en-US" sz="1800" b="1"/>
              <a:t>软件成本超出预算，开发进度一再拖延，软件质量难以保证。</a:t>
            </a:r>
          </a:p>
          <a:p>
            <a:pPr lvl="2" eaLnBrk="1" hangingPunct="1">
              <a:buFont typeface="Wingdings" panose="05000000000000000000" pitchFamily="2" charset="2"/>
              <a:buChar char="Ø"/>
            </a:pPr>
            <a:r>
              <a:rPr lang="zh-CN" altLang="en-US" sz="1800" b="1">
                <a:solidFill>
                  <a:srgbClr val="FF0000"/>
                </a:solidFill>
              </a:rPr>
              <a:t>原因在于：</a:t>
            </a:r>
            <a:r>
              <a:rPr lang="zh-CN" altLang="en-US" sz="1800" b="1"/>
              <a:t>系统规模越来越大，复杂度也越来越高，用户需求不明确，缺乏正确的理论指导。</a:t>
            </a:r>
          </a:p>
          <a:p>
            <a:pPr lvl="1" eaLnBrk="1" hangingPunct="1">
              <a:buFont typeface="Wingdings" panose="05000000000000000000" pitchFamily="2" charset="2"/>
              <a:buChar char="n"/>
            </a:pPr>
            <a:r>
              <a:rPr lang="zh-CN" altLang="en-US" sz="1800" b="1"/>
              <a:t>“软件危机”使人们意识到信息系统的开发需要一套科学的、工程化的方法来指导，这就是常说的“系统分析与设计方法”。 </a:t>
            </a:r>
          </a:p>
        </p:txBody>
      </p:sp>
      <p:sp>
        <p:nvSpPr>
          <p:cNvPr id="3" name="标题 2"/>
          <p:cNvSpPr>
            <a:spLocks noGrp="1"/>
          </p:cNvSpPr>
          <p:nvPr>
            <p:ph type="title"/>
          </p:nvPr>
        </p:nvSpPr>
        <p:spPr>
          <a:xfrm>
            <a:off x="500034" y="642924"/>
            <a:ext cx="2143108" cy="500060"/>
          </a:xfrm>
        </p:spPr>
        <p:txBody>
          <a:bodyPr/>
          <a:lstStyle/>
          <a:p>
            <a:pPr>
              <a:defRPr/>
            </a:pPr>
            <a:r>
              <a:rPr altLang="en-US" sz="2000" dirty="0"/>
              <a:t>软件危机</a:t>
            </a:r>
            <a:endParaRPr lang="en-US" altLang="en-US" sz="2000" dirty="0"/>
          </a:p>
        </p:txBody>
      </p:sp>
      <p:sp>
        <p:nvSpPr>
          <p:cNvPr id="4" name="标题 1"/>
          <p:cNvSpPr txBox="1"/>
          <p:nvPr/>
        </p:nvSpPr>
        <p:spPr bwMode="auto">
          <a:xfrm>
            <a:off x="5643570" y="142858"/>
            <a:ext cx="3280522"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 </a:t>
            </a:r>
            <a:r>
              <a:rPr altLang="en-US" sz="2000" dirty="0"/>
              <a:t>安全软件开发生命周期</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146">
                                            <p:txEl>
                                              <p:pRg st="0" end="0"/>
                                            </p:txEl>
                                          </p:spTgt>
                                        </p:tgtEl>
                                        <p:attrNameLst>
                                          <p:attrName>style.visibility</p:attrName>
                                        </p:attrNameLst>
                                      </p:cBhvr>
                                      <p:to>
                                        <p:strVal val="visible"/>
                                      </p:to>
                                    </p:set>
                                    <p:animEffect transition="in" filter="fade">
                                      <p:cBhvr>
                                        <p:cTn id="7" dur="500"/>
                                        <p:tgtEl>
                                          <p:spTgt spid="61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46">
                                            <p:txEl>
                                              <p:pRg st="1" end="1"/>
                                            </p:txEl>
                                          </p:spTgt>
                                        </p:tgtEl>
                                        <p:attrNameLst>
                                          <p:attrName>style.visibility</p:attrName>
                                        </p:attrNameLst>
                                      </p:cBhvr>
                                      <p:to>
                                        <p:strVal val="visible"/>
                                      </p:to>
                                    </p:set>
                                    <p:animEffect transition="in" filter="fade">
                                      <p:cBhvr>
                                        <p:cTn id="12" dur="500"/>
                                        <p:tgtEl>
                                          <p:spTgt spid="61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146">
                                            <p:txEl>
                                              <p:pRg st="2" end="2"/>
                                            </p:txEl>
                                          </p:spTgt>
                                        </p:tgtEl>
                                        <p:attrNameLst>
                                          <p:attrName>style.visibility</p:attrName>
                                        </p:attrNameLst>
                                      </p:cBhvr>
                                      <p:to>
                                        <p:strVal val="visible"/>
                                      </p:to>
                                    </p:set>
                                    <p:animEffect transition="in" filter="fade">
                                      <p:cBhvr>
                                        <p:cTn id="17" dur="500"/>
                                        <p:tgtEl>
                                          <p:spTgt spid="614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46">
                                            <p:txEl>
                                              <p:pRg st="3" end="3"/>
                                            </p:txEl>
                                          </p:spTgt>
                                        </p:tgtEl>
                                        <p:attrNameLst>
                                          <p:attrName>style.visibility</p:attrName>
                                        </p:attrNameLst>
                                      </p:cBhvr>
                                      <p:to>
                                        <p:strVal val="visible"/>
                                      </p:to>
                                    </p:set>
                                    <p:animEffect transition="in" filter="fade">
                                      <p:cBhvr>
                                        <p:cTn id="22" dur="500"/>
                                        <p:tgtEl>
                                          <p:spTgt spid="614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内容占位符 2"/>
          <p:cNvSpPr>
            <a:spLocks noGrp="1"/>
          </p:cNvSpPr>
          <p:nvPr>
            <p:ph idx="1"/>
          </p:nvPr>
        </p:nvSpPr>
        <p:spPr>
          <a:xfrm>
            <a:off x="214313" y="1357313"/>
            <a:ext cx="8643937" cy="3095625"/>
          </a:xfrm>
        </p:spPr>
        <p:txBody>
          <a:bodyPr/>
          <a:lstStyle/>
          <a:p>
            <a:pPr lvl="1" algn="just" eaLnBrk="1" hangingPunct="1"/>
            <a:r>
              <a:rPr lang="zh-CN" altLang="en-US" sz="1800" b="1"/>
              <a:t>系统工程是一门用于大规模复杂系统设计的学问，是组织管理系统的规划、设计、制造、试验和使用的科学方法。</a:t>
            </a:r>
          </a:p>
          <a:p>
            <a:pPr lvl="1" algn="just" eaLnBrk="1" hangingPunct="1"/>
            <a:r>
              <a:rPr lang="zh-CN" altLang="en-US" sz="1800" b="1"/>
              <a:t>它的思想是以系统概念为基础的思想，表现为由粗到细、由表及里、由上到下、由整体到局部，逐步求精的分析。</a:t>
            </a:r>
          </a:p>
          <a:p>
            <a:pPr lvl="1" algn="just" eaLnBrk="1" hangingPunct="1"/>
            <a:r>
              <a:rPr lang="zh-CN" altLang="en-US" sz="1800" b="1">
                <a:solidFill>
                  <a:srgbClr val="FF0000"/>
                </a:solidFill>
              </a:rPr>
              <a:t>系统工程方法一般步骤</a:t>
            </a:r>
            <a:r>
              <a:rPr lang="zh-CN" altLang="en-US" sz="1800" b="1"/>
              <a:t>：</a:t>
            </a:r>
            <a:r>
              <a:rPr lang="zh-CN" altLang="en-US" sz="1800" b="1">
                <a:solidFill>
                  <a:srgbClr val="0033CC"/>
                </a:solidFill>
              </a:rPr>
              <a:t>调研</a:t>
            </a:r>
            <a:r>
              <a:rPr lang="zh-CN" altLang="en-US" sz="1800" b="1">
                <a:sym typeface="Wingdings" panose="05000000000000000000" pitchFamily="2" charset="2"/>
              </a:rPr>
              <a:t></a:t>
            </a:r>
            <a:r>
              <a:rPr lang="zh-CN" altLang="en-US" sz="1800" b="1">
                <a:solidFill>
                  <a:srgbClr val="0033CC"/>
                </a:solidFill>
              </a:rPr>
              <a:t>确定目标</a:t>
            </a:r>
            <a:r>
              <a:rPr lang="zh-CN" altLang="en-US" sz="1800" b="1">
                <a:sym typeface="Wingdings" panose="05000000000000000000" pitchFamily="2" charset="2"/>
              </a:rPr>
              <a:t></a:t>
            </a:r>
            <a:r>
              <a:rPr lang="zh-CN" altLang="en-US" sz="1800" b="1">
                <a:solidFill>
                  <a:srgbClr val="0033CC"/>
                </a:solidFill>
              </a:rPr>
              <a:t>确定功能</a:t>
            </a:r>
            <a:r>
              <a:rPr lang="zh-CN" altLang="en-US" sz="1800" b="1">
                <a:sym typeface="Wingdings" panose="05000000000000000000" pitchFamily="2" charset="2"/>
              </a:rPr>
              <a:t></a:t>
            </a:r>
            <a:r>
              <a:rPr lang="zh-CN" altLang="en-US" sz="1800" b="1">
                <a:solidFill>
                  <a:srgbClr val="0033CC"/>
                </a:solidFill>
              </a:rPr>
              <a:t>考虑方案（多个）</a:t>
            </a:r>
            <a:r>
              <a:rPr lang="zh-CN" altLang="en-US" sz="1800" b="1">
                <a:sym typeface="Wingdings" panose="05000000000000000000" pitchFamily="2" charset="2"/>
              </a:rPr>
              <a:t></a:t>
            </a:r>
            <a:r>
              <a:rPr lang="zh-CN" altLang="en-US" sz="1800" b="1">
                <a:solidFill>
                  <a:srgbClr val="0033CC"/>
                </a:solidFill>
              </a:rPr>
              <a:t>选择一个方案</a:t>
            </a:r>
            <a:r>
              <a:rPr lang="zh-CN" altLang="en-US" sz="1800" b="1">
                <a:sym typeface="Wingdings" panose="05000000000000000000" pitchFamily="2" charset="2"/>
              </a:rPr>
              <a:t></a:t>
            </a:r>
            <a:r>
              <a:rPr lang="zh-CN" altLang="en-US" sz="1800" b="1">
                <a:solidFill>
                  <a:srgbClr val="0033CC"/>
                </a:solidFill>
              </a:rPr>
              <a:t>实施</a:t>
            </a:r>
            <a:r>
              <a:rPr lang="zh-CN" altLang="en-US" sz="1800" b="1">
                <a:sym typeface="Wingdings" panose="05000000000000000000" pitchFamily="2" charset="2"/>
              </a:rPr>
              <a:t></a:t>
            </a:r>
            <a:r>
              <a:rPr lang="zh-CN" altLang="en-US" sz="1800" b="1">
                <a:solidFill>
                  <a:srgbClr val="0033CC"/>
                </a:solidFill>
              </a:rPr>
              <a:t>维护和评价</a:t>
            </a:r>
            <a:r>
              <a:rPr lang="zh-CN" altLang="en-US" sz="1800" b="1"/>
              <a:t>。</a:t>
            </a:r>
          </a:p>
        </p:txBody>
      </p:sp>
      <p:sp>
        <p:nvSpPr>
          <p:cNvPr id="3" name="标题 2"/>
          <p:cNvSpPr>
            <a:spLocks noGrp="1"/>
          </p:cNvSpPr>
          <p:nvPr>
            <p:ph type="title"/>
          </p:nvPr>
        </p:nvSpPr>
        <p:spPr>
          <a:xfrm>
            <a:off x="357158" y="642924"/>
            <a:ext cx="2857497" cy="642942"/>
          </a:xfrm>
        </p:spPr>
        <p:txBody>
          <a:bodyPr/>
          <a:lstStyle/>
          <a:p>
            <a:pPr>
              <a:defRPr/>
            </a:pPr>
            <a:r>
              <a:rPr lang="en-US" altLang="en-US" sz="2000" dirty="0" err="1">
                <a:latin typeface="微软雅黑" panose="020B0503020204020204" pitchFamily="34" charset="-122"/>
                <a:ea typeface="微软雅黑" panose="020B0503020204020204" pitchFamily="34" charset="-122"/>
              </a:rPr>
              <a:t>系统工程思想及应用</a:t>
            </a:r>
            <a:endParaRPr altLang="en-US" sz="2000" dirty="0">
              <a:latin typeface="微软雅黑" panose="020B0503020204020204" pitchFamily="34" charset="-122"/>
              <a:ea typeface="微软雅黑" panose="020B0503020204020204" pitchFamily="34" charset="-122"/>
            </a:endParaRPr>
          </a:p>
        </p:txBody>
      </p:sp>
      <p:sp>
        <p:nvSpPr>
          <p:cNvPr id="5" name="标题 1"/>
          <p:cNvSpPr txBox="1"/>
          <p:nvPr/>
        </p:nvSpPr>
        <p:spPr bwMode="auto">
          <a:xfrm>
            <a:off x="5643570" y="142858"/>
            <a:ext cx="3280522"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 </a:t>
            </a:r>
            <a:r>
              <a:rPr altLang="en-US" sz="2000" dirty="0"/>
              <a:t>安全软件开发生命周期</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506">
                                            <p:txEl>
                                              <p:pRg st="0" end="0"/>
                                            </p:txEl>
                                          </p:spTgt>
                                        </p:tgtEl>
                                        <p:attrNameLst>
                                          <p:attrName>style.visibility</p:attrName>
                                        </p:attrNameLst>
                                      </p:cBhvr>
                                      <p:to>
                                        <p:strVal val="visible"/>
                                      </p:to>
                                    </p:set>
                                    <p:animEffect transition="in" filter="fade">
                                      <p:cBhvr>
                                        <p:cTn id="7" dur="500"/>
                                        <p:tgtEl>
                                          <p:spTgt spid="215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506">
                                            <p:txEl>
                                              <p:pRg st="1" end="1"/>
                                            </p:txEl>
                                          </p:spTgt>
                                        </p:tgtEl>
                                        <p:attrNameLst>
                                          <p:attrName>style.visibility</p:attrName>
                                        </p:attrNameLst>
                                      </p:cBhvr>
                                      <p:to>
                                        <p:strVal val="visible"/>
                                      </p:to>
                                    </p:set>
                                    <p:animEffect transition="in" filter="fade">
                                      <p:cBhvr>
                                        <p:cTn id="12" dur="500"/>
                                        <p:tgtEl>
                                          <p:spTgt spid="2150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506">
                                            <p:txEl>
                                              <p:pRg st="2" end="2"/>
                                            </p:txEl>
                                          </p:spTgt>
                                        </p:tgtEl>
                                        <p:attrNameLst>
                                          <p:attrName>style.visibility</p:attrName>
                                        </p:attrNameLst>
                                      </p:cBhvr>
                                      <p:to>
                                        <p:strVal val="visible"/>
                                      </p:to>
                                    </p:set>
                                    <p:animEffect transition="in" filter="fade">
                                      <p:cBhvr>
                                        <p:cTn id="17" dur="500"/>
                                        <p:tgtEl>
                                          <p:spTgt spid="2150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642924"/>
            <a:ext cx="3071834" cy="714380"/>
          </a:xfrm>
        </p:spPr>
        <p:txBody>
          <a:bodyPr/>
          <a:lstStyle/>
          <a:p>
            <a:pPr>
              <a:defRPr/>
            </a:pPr>
            <a:r>
              <a:rPr altLang="en-US" sz="2000" dirty="0"/>
              <a:t>信息系统开发的一般规律 </a:t>
            </a:r>
          </a:p>
        </p:txBody>
      </p:sp>
      <p:graphicFrame>
        <p:nvGraphicFramePr>
          <p:cNvPr id="1026" name="对象 3"/>
          <p:cNvGraphicFramePr>
            <a:graphicFrameLocks noChangeAspect="1"/>
          </p:cNvGraphicFramePr>
          <p:nvPr/>
        </p:nvGraphicFramePr>
        <p:xfrm>
          <a:off x="1729085" y="843558"/>
          <a:ext cx="6227291" cy="3769851"/>
        </p:xfrm>
        <a:graphic>
          <a:graphicData uri="http://schemas.openxmlformats.org/presentationml/2006/ole">
            <mc:AlternateContent xmlns:mc="http://schemas.openxmlformats.org/markup-compatibility/2006">
              <mc:Choice xmlns:v="urn:schemas-microsoft-com:vml" Requires="v">
                <p:oleObj name="Visio" r:id="rId2" imgW="6214110" imgH="3874135" progId="Visio.Drawing.11">
                  <p:embed/>
                </p:oleObj>
              </mc:Choice>
              <mc:Fallback>
                <p:oleObj name="Visio" r:id="rId2" imgW="6214110" imgH="3874135" progId="Visio.Drawing.11">
                  <p:embed/>
                  <p:pic>
                    <p:nvPicPr>
                      <p:cNvPr id="0" name="对象 3"/>
                      <p:cNvPicPr>
                        <a:picLocks noChangeAspect="1" noChangeArrowheads="1"/>
                      </p:cNvPicPr>
                      <p:nvPr/>
                    </p:nvPicPr>
                    <p:blipFill>
                      <a:blip r:embed="rId3"/>
                      <a:srcRect/>
                      <a:stretch>
                        <a:fillRect/>
                      </a:stretch>
                    </p:blipFill>
                    <p:spPr bwMode="auto">
                      <a:xfrm>
                        <a:off x="1729085" y="843558"/>
                        <a:ext cx="6227291" cy="3769851"/>
                      </a:xfrm>
                      <a:prstGeom prst="rect">
                        <a:avLst/>
                      </a:prstGeom>
                      <a:noFill/>
                      <a:ln>
                        <a:noFill/>
                      </a:ln>
                    </p:spPr>
                  </p:pic>
                </p:oleObj>
              </mc:Fallback>
            </mc:AlternateContent>
          </a:graphicData>
        </a:graphic>
      </p:graphicFrame>
      <p:sp>
        <p:nvSpPr>
          <p:cNvPr id="5" name="标题 1"/>
          <p:cNvSpPr txBox="1"/>
          <p:nvPr/>
        </p:nvSpPr>
        <p:spPr bwMode="auto">
          <a:xfrm>
            <a:off x="5643570" y="142858"/>
            <a:ext cx="3280522"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 </a:t>
            </a:r>
            <a:r>
              <a:rPr altLang="en-US" sz="2000" dirty="0"/>
              <a:t>安全软件开发生命周期</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wheel(4)">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1" y="642924"/>
            <a:ext cx="2714644" cy="714380"/>
          </a:xfrm>
        </p:spPr>
        <p:txBody>
          <a:bodyPr/>
          <a:lstStyle/>
          <a:p>
            <a:pPr>
              <a:defRPr/>
            </a:pPr>
            <a:r>
              <a:rPr altLang="en-US" sz="2000" dirty="0"/>
              <a:t>软件开发的生命周期</a:t>
            </a:r>
          </a:p>
        </p:txBody>
      </p:sp>
      <p:sp>
        <p:nvSpPr>
          <p:cNvPr id="22531" name="内容占位符 2"/>
          <p:cNvSpPr>
            <a:spLocks noGrp="1"/>
          </p:cNvSpPr>
          <p:nvPr>
            <p:ph idx="1"/>
          </p:nvPr>
        </p:nvSpPr>
        <p:spPr>
          <a:xfrm>
            <a:off x="428625" y="1500188"/>
            <a:ext cx="8229600" cy="2794000"/>
          </a:xfrm>
        </p:spPr>
        <p:txBody>
          <a:bodyPr/>
          <a:lstStyle/>
          <a:p>
            <a:r>
              <a:rPr lang="zh-CN" altLang="en-US" sz="1800" b="1"/>
              <a:t>软件开发的生命周期（</a:t>
            </a:r>
            <a:r>
              <a:rPr lang="en-US" altLang="zh-CN" sz="1800" b="1"/>
              <a:t>life cycle</a:t>
            </a:r>
            <a:r>
              <a:rPr lang="zh-CN" altLang="en-US" sz="1800" b="1"/>
              <a:t>）：一个软件系统从它的提出、开发应用到系统的更新，经历一个孕育、生长到消亡的过程。这个过程周而复始，循环不息，每一次循环称为它的一个生命周期。生命周期的概念始于</a:t>
            </a:r>
            <a:r>
              <a:rPr lang="en-US" altLang="zh-CN" sz="1800" b="1"/>
              <a:t>20</a:t>
            </a:r>
            <a:r>
              <a:rPr lang="zh-CN" altLang="en-US" sz="1800" b="1"/>
              <a:t>世纪</a:t>
            </a:r>
            <a:r>
              <a:rPr lang="en-US" altLang="zh-CN" sz="1800" b="1"/>
              <a:t>70</a:t>
            </a:r>
            <a:r>
              <a:rPr lang="zh-CN" altLang="en-US" sz="1800" b="1"/>
              <a:t>年代。</a:t>
            </a:r>
            <a:r>
              <a:rPr lang="en-US" altLang="zh-CN" sz="1800" b="1"/>
              <a:t>(</a:t>
            </a:r>
            <a:r>
              <a:rPr lang="zh-CN" altLang="en-US" sz="1800" b="1">
                <a:solidFill>
                  <a:srgbClr val="0033CC"/>
                </a:solidFill>
              </a:rPr>
              <a:t>瀑布模型</a:t>
            </a:r>
            <a:r>
              <a:rPr lang="zh-CN" altLang="en-US" sz="1800" b="1"/>
              <a:t>，</a:t>
            </a:r>
            <a:r>
              <a:rPr lang="zh-CN" altLang="en-US" sz="1800" b="1">
                <a:solidFill>
                  <a:srgbClr val="0033CC"/>
                </a:solidFill>
              </a:rPr>
              <a:t>原型模型</a:t>
            </a:r>
            <a:r>
              <a:rPr lang="zh-CN" altLang="en-US" sz="1800" b="1"/>
              <a:t>，</a:t>
            </a:r>
            <a:r>
              <a:rPr lang="zh-CN" altLang="en-US" sz="1800" b="1">
                <a:solidFill>
                  <a:srgbClr val="0033CC"/>
                </a:solidFill>
              </a:rPr>
              <a:t>渐进模型</a:t>
            </a:r>
            <a:r>
              <a:rPr lang="en-US" altLang="zh-CN" sz="1800" b="1"/>
              <a:t>)</a:t>
            </a:r>
            <a:endParaRPr lang="zh-CN" altLang="en-US" sz="1800" b="1"/>
          </a:p>
          <a:p>
            <a:endParaRPr lang="zh-CN" altLang="en-US" sz="1800" b="1"/>
          </a:p>
        </p:txBody>
      </p:sp>
      <p:grpSp>
        <p:nvGrpSpPr>
          <p:cNvPr id="3" name="Group 3"/>
          <p:cNvGrpSpPr/>
          <p:nvPr/>
        </p:nvGrpSpPr>
        <p:grpSpPr bwMode="auto">
          <a:xfrm>
            <a:off x="1331913" y="3186113"/>
            <a:ext cx="7272337" cy="1263650"/>
            <a:chOff x="647" y="2880"/>
            <a:chExt cx="4969" cy="1334"/>
          </a:xfrm>
        </p:grpSpPr>
        <p:sp>
          <p:nvSpPr>
            <p:cNvPr id="34822" name="Line 4"/>
            <p:cNvSpPr>
              <a:spLocks noChangeShapeType="1"/>
            </p:cNvSpPr>
            <p:nvPr/>
          </p:nvSpPr>
          <p:spPr bwMode="auto">
            <a:xfrm>
              <a:off x="672" y="3504"/>
              <a:ext cx="4944"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34823" name="Group 5"/>
            <p:cNvGrpSpPr/>
            <p:nvPr/>
          </p:nvGrpSpPr>
          <p:grpSpPr bwMode="auto">
            <a:xfrm>
              <a:off x="720" y="2880"/>
              <a:ext cx="2112" cy="624"/>
              <a:chOff x="720" y="2880"/>
              <a:chExt cx="2112" cy="624"/>
            </a:xfrm>
          </p:grpSpPr>
          <p:sp>
            <p:nvSpPr>
              <p:cNvPr id="34837" name="Line 6"/>
              <p:cNvSpPr>
                <a:spLocks noChangeShapeType="1"/>
              </p:cNvSpPr>
              <p:nvPr/>
            </p:nvSpPr>
            <p:spPr bwMode="auto">
              <a:xfrm>
                <a:off x="720" y="3168"/>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4838" name="Line 7"/>
              <p:cNvSpPr>
                <a:spLocks noChangeShapeType="1"/>
              </p:cNvSpPr>
              <p:nvPr/>
            </p:nvSpPr>
            <p:spPr bwMode="auto">
              <a:xfrm>
                <a:off x="720" y="3360"/>
                <a:ext cx="576"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839" name="Line 8"/>
              <p:cNvSpPr>
                <a:spLocks noChangeShapeType="1"/>
              </p:cNvSpPr>
              <p:nvPr/>
            </p:nvSpPr>
            <p:spPr bwMode="auto">
              <a:xfrm>
                <a:off x="1296" y="3168"/>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4840" name="Line 9"/>
              <p:cNvSpPr>
                <a:spLocks noChangeShapeType="1"/>
              </p:cNvSpPr>
              <p:nvPr/>
            </p:nvSpPr>
            <p:spPr bwMode="auto">
              <a:xfrm>
                <a:off x="1296" y="3360"/>
                <a:ext cx="139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841" name="Line 10"/>
              <p:cNvSpPr>
                <a:spLocks noChangeShapeType="1"/>
              </p:cNvSpPr>
              <p:nvPr/>
            </p:nvSpPr>
            <p:spPr bwMode="auto">
              <a:xfrm>
                <a:off x="2400" y="3168"/>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4842" name="Line 11"/>
              <p:cNvSpPr>
                <a:spLocks noChangeShapeType="1"/>
              </p:cNvSpPr>
              <p:nvPr/>
            </p:nvSpPr>
            <p:spPr bwMode="auto">
              <a:xfrm>
                <a:off x="2688" y="3168"/>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4843" name="Text Box 12"/>
              <p:cNvSpPr txBox="1">
                <a:spLocks noChangeArrowheads="1"/>
              </p:cNvSpPr>
              <p:nvPr/>
            </p:nvSpPr>
            <p:spPr bwMode="auto">
              <a:xfrm>
                <a:off x="720" y="2880"/>
                <a:ext cx="211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eaLnBrk="1" hangingPunct="1">
                  <a:spcBef>
                    <a:spcPct val="50000"/>
                  </a:spcBef>
                </a:pPr>
                <a:r>
                  <a:rPr kumimoji="1" lang="zh-CN" altLang="en-US" sz="2000" b="1">
                    <a:solidFill>
                      <a:srgbClr val="0000FF"/>
                    </a:solidFill>
                    <a:latin typeface="Times New Roman" panose="02020603050405020304" pitchFamily="18" charset="0"/>
                    <a:ea typeface="宋体" panose="02010600030101010101" pitchFamily="2" charset="-122"/>
                  </a:rPr>
                  <a:t>孕育      生长          消亡</a:t>
                </a:r>
              </a:p>
            </p:txBody>
          </p:sp>
        </p:grpSp>
        <p:grpSp>
          <p:nvGrpSpPr>
            <p:cNvPr id="34824" name="Group 13"/>
            <p:cNvGrpSpPr/>
            <p:nvPr/>
          </p:nvGrpSpPr>
          <p:grpSpPr bwMode="auto">
            <a:xfrm>
              <a:off x="2736" y="2880"/>
              <a:ext cx="2112" cy="624"/>
              <a:chOff x="720" y="2880"/>
              <a:chExt cx="2112" cy="624"/>
            </a:xfrm>
          </p:grpSpPr>
          <p:sp>
            <p:nvSpPr>
              <p:cNvPr id="34830" name="Line 14"/>
              <p:cNvSpPr>
                <a:spLocks noChangeShapeType="1"/>
              </p:cNvSpPr>
              <p:nvPr/>
            </p:nvSpPr>
            <p:spPr bwMode="auto">
              <a:xfrm>
                <a:off x="720" y="3168"/>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4831" name="Line 15"/>
              <p:cNvSpPr>
                <a:spLocks noChangeShapeType="1"/>
              </p:cNvSpPr>
              <p:nvPr/>
            </p:nvSpPr>
            <p:spPr bwMode="auto">
              <a:xfrm>
                <a:off x="720" y="3360"/>
                <a:ext cx="576"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832" name="Line 16"/>
              <p:cNvSpPr>
                <a:spLocks noChangeShapeType="1"/>
              </p:cNvSpPr>
              <p:nvPr/>
            </p:nvSpPr>
            <p:spPr bwMode="auto">
              <a:xfrm>
                <a:off x="1296" y="3168"/>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4833" name="Line 17"/>
              <p:cNvSpPr>
                <a:spLocks noChangeShapeType="1"/>
              </p:cNvSpPr>
              <p:nvPr/>
            </p:nvSpPr>
            <p:spPr bwMode="auto">
              <a:xfrm>
                <a:off x="1296" y="3360"/>
                <a:ext cx="139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834" name="Line 18"/>
              <p:cNvSpPr>
                <a:spLocks noChangeShapeType="1"/>
              </p:cNvSpPr>
              <p:nvPr/>
            </p:nvSpPr>
            <p:spPr bwMode="auto">
              <a:xfrm>
                <a:off x="2400" y="3168"/>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4835" name="Line 19"/>
              <p:cNvSpPr>
                <a:spLocks noChangeShapeType="1"/>
              </p:cNvSpPr>
              <p:nvPr/>
            </p:nvSpPr>
            <p:spPr bwMode="auto">
              <a:xfrm>
                <a:off x="2688" y="3168"/>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4836" name="Text Box 20"/>
              <p:cNvSpPr txBox="1">
                <a:spLocks noChangeArrowheads="1"/>
              </p:cNvSpPr>
              <p:nvPr/>
            </p:nvSpPr>
            <p:spPr bwMode="auto">
              <a:xfrm>
                <a:off x="720" y="2880"/>
                <a:ext cx="211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eaLnBrk="1" hangingPunct="1">
                  <a:spcBef>
                    <a:spcPct val="50000"/>
                  </a:spcBef>
                </a:pPr>
                <a:r>
                  <a:rPr kumimoji="1" lang="zh-CN" altLang="en-US" sz="2000" b="1">
                    <a:solidFill>
                      <a:srgbClr val="0000FF"/>
                    </a:solidFill>
                    <a:latin typeface="Times New Roman" panose="02020603050405020304" pitchFamily="18" charset="0"/>
                    <a:ea typeface="宋体" panose="02010600030101010101" pitchFamily="2" charset="-122"/>
                  </a:rPr>
                  <a:t>孕育      生长          消亡</a:t>
                </a:r>
              </a:p>
            </p:txBody>
          </p:sp>
        </p:grpSp>
        <p:sp>
          <p:nvSpPr>
            <p:cNvPr id="34825" name="AutoShape 21"/>
            <p:cNvSpPr/>
            <p:nvPr/>
          </p:nvSpPr>
          <p:spPr bwMode="auto">
            <a:xfrm rot="-5358187">
              <a:off x="1535" y="2665"/>
              <a:ext cx="216" cy="1992"/>
            </a:xfrm>
            <a:prstGeom prst="leftBrace">
              <a:avLst>
                <a:gd name="adj1" fmla="val 76852"/>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900" b="1"/>
            </a:p>
          </p:txBody>
        </p:sp>
        <p:sp>
          <p:nvSpPr>
            <p:cNvPr id="34826" name="AutoShape 22"/>
            <p:cNvSpPr/>
            <p:nvPr/>
          </p:nvSpPr>
          <p:spPr bwMode="auto">
            <a:xfrm rot="-5358187">
              <a:off x="3588" y="2700"/>
              <a:ext cx="264" cy="1968"/>
            </a:xfrm>
            <a:prstGeom prst="leftBrace">
              <a:avLst>
                <a:gd name="adj1" fmla="val 62121"/>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900" b="1"/>
            </a:p>
          </p:txBody>
        </p:sp>
        <p:sp>
          <p:nvSpPr>
            <p:cNvPr id="34827" name="Text Box 23"/>
            <p:cNvSpPr txBox="1">
              <a:spLocks noChangeArrowheads="1"/>
            </p:cNvSpPr>
            <p:nvPr/>
          </p:nvSpPr>
          <p:spPr bwMode="auto">
            <a:xfrm>
              <a:off x="1248" y="3792"/>
              <a:ext cx="96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eaLnBrk="1" hangingPunct="1">
                <a:spcBef>
                  <a:spcPct val="50000"/>
                </a:spcBef>
              </a:pPr>
              <a:r>
                <a:rPr kumimoji="1" lang="zh-CN" altLang="en-US" sz="2000" b="1">
                  <a:latin typeface="Times New Roman" panose="02020603050405020304" pitchFamily="18" charset="0"/>
                  <a:ea typeface="宋体" panose="02010600030101010101" pitchFamily="2" charset="-122"/>
                </a:rPr>
                <a:t>生命周期</a:t>
              </a:r>
            </a:p>
          </p:txBody>
        </p:sp>
        <p:sp>
          <p:nvSpPr>
            <p:cNvPr id="34828" name="Text Box 24"/>
            <p:cNvSpPr txBox="1">
              <a:spLocks noChangeArrowheads="1"/>
            </p:cNvSpPr>
            <p:nvPr/>
          </p:nvSpPr>
          <p:spPr bwMode="auto">
            <a:xfrm>
              <a:off x="3312" y="3792"/>
              <a:ext cx="1008"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eaLnBrk="1" hangingPunct="1">
                <a:spcBef>
                  <a:spcPct val="50000"/>
                </a:spcBef>
              </a:pPr>
              <a:r>
                <a:rPr kumimoji="1" lang="zh-CN" altLang="en-US" sz="2000" b="1">
                  <a:latin typeface="Times New Roman" panose="02020603050405020304" pitchFamily="18" charset="0"/>
                  <a:ea typeface="宋体" panose="02010600030101010101" pitchFamily="2" charset="-122"/>
                </a:rPr>
                <a:t>生命周期</a:t>
              </a:r>
            </a:p>
          </p:txBody>
        </p:sp>
        <p:sp>
          <p:nvSpPr>
            <p:cNvPr id="34829" name="Text Box 25"/>
            <p:cNvSpPr txBox="1">
              <a:spLocks noChangeArrowheads="1"/>
            </p:cNvSpPr>
            <p:nvPr/>
          </p:nvSpPr>
          <p:spPr bwMode="auto">
            <a:xfrm>
              <a:off x="4848" y="3168"/>
              <a:ext cx="768"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eaLnBrk="1" hangingPunct="1">
                <a:spcBef>
                  <a:spcPct val="50000"/>
                </a:spcBef>
              </a:pPr>
              <a:r>
                <a:rPr kumimoji="1" lang="zh-CN" altLang="en-US" sz="2000" b="1">
                  <a:latin typeface="Times New Roman" panose="02020603050405020304" pitchFamily="18" charset="0"/>
                  <a:ea typeface="宋体" panose="02010600030101010101" pitchFamily="2" charset="-122"/>
                </a:rPr>
                <a:t>… …   </a:t>
              </a:r>
              <a:r>
                <a:rPr kumimoji="1" lang="en-US" altLang="zh-CN" sz="2000" b="1">
                  <a:latin typeface="Times New Roman" panose="02020603050405020304" pitchFamily="18" charset="0"/>
                  <a:ea typeface="宋体" panose="02010600030101010101" pitchFamily="2" charset="-122"/>
                </a:rPr>
                <a:t>t</a:t>
              </a:r>
            </a:p>
          </p:txBody>
        </p:sp>
      </p:grpSp>
      <p:sp>
        <p:nvSpPr>
          <p:cNvPr id="28" name="标题 1"/>
          <p:cNvSpPr txBox="1"/>
          <p:nvPr/>
        </p:nvSpPr>
        <p:spPr bwMode="auto">
          <a:xfrm>
            <a:off x="5643570" y="142858"/>
            <a:ext cx="3280522"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 </a:t>
            </a:r>
            <a:r>
              <a:rPr altLang="en-US" sz="2000" dirty="0"/>
              <a:t>安全软件开发生命周期</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fade">
                                      <p:cBhvr>
                                        <p:cTn id="7" dur="500"/>
                                        <p:tgtEl>
                                          <p:spTgt spid="22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0" y="1428750"/>
            <a:ext cx="9144000" cy="1857375"/>
          </a:xfrm>
        </p:spPr>
        <p:txBody>
          <a:bodyPr/>
          <a:lstStyle/>
          <a:p>
            <a:pPr marL="0" indent="0">
              <a:buFont typeface="Wingdings" panose="05000000000000000000" pitchFamily="2" charset="2"/>
              <a:buNone/>
              <a:defRPr/>
            </a:pPr>
            <a:r>
              <a:rPr lang="en-US" altLang="zh-CN" sz="1800" b="1" dirty="0">
                <a:solidFill>
                  <a:schemeClr val="accent6"/>
                </a:solidFill>
              </a:rPr>
              <a:t>1.</a:t>
            </a:r>
            <a:r>
              <a:rPr lang="zh-CN" altLang="en-US" sz="1800" b="1" dirty="0">
                <a:solidFill>
                  <a:schemeClr val="accent6"/>
                </a:solidFill>
              </a:rPr>
              <a:t>瀑布模型</a:t>
            </a:r>
            <a:endParaRPr lang="en-US" altLang="zh-CN" sz="1800" b="1" dirty="0">
              <a:solidFill>
                <a:schemeClr val="accent6"/>
              </a:solidFill>
            </a:endParaRPr>
          </a:p>
          <a:p>
            <a:pPr marL="539750">
              <a:buFont typeface="Wingdings" panose="05000000000000000000" pitchFamily="2" charset="2"/>
              <a:buChar char="Ø"/>
              <a:defRPr/>
            </a:pPr>
            <a:r>
              <a:rPr lang="zh-CN" altLang="en-US" b="1" dirty="0"/>
              <a:t>传统的瀑布模型将软件开发过程划分成若干个互相区别而又彼此联系的阶段，</a:t>
            </a:r>
            <a:r>
              <a:rPr lang="zh-CN" altLang="en-US" b="1" dirty="0">
                <a:solidFill>
                  <a:srgbClr val="FF0000"/>
                </a:solidFill>
              </a:rPr>
              <a:t>这几个阶段分别为</a:t>
            </a:r>
            <a:r>
              <a:rPr lang="zh-CN" altLang="en-US" b="1" dirty="0"/>
              <a:t>：</a:t>
            </a:r>
            <a:r>
              <a:rPr lang="zh-CN" altLang="en-US" b="1" dirty="0">
                <a:solidFill>
                  <a:srgbClr val="0033CC"/>
                </a:solidFill>
              </a:rPr>
              <a:t>可行性研究与计划</a:t>
            </a:r>
            <a:r>
              <a:rPr lang="zh-CN" altLang="en-US" b="1" dirty="0"/>
              <a:t>、</a:t>
            </a:r>
            <a:r>
              <a:rPr lang="zh-CN" altLang="en-US" b="1" dirty="0">
                <a:solidFill>
                  <a:srgbClr val="0033CC"/>
                </a:solidFill>
              </a:rPr>
              <a:t>需求分析</a:t>
            </a:r>
            <a:r>
              <a:rPr lang="zh-CN" altLang="en-US" b="1" dirty="0"/>
              <a:t>、</a:t>
            </a:r>
            <a:r>
              <a:rPr lang="zh-CN" altLang="en-US" b="1" dirty="0">
                <a:solidFill>
                  <a:srgbClr val="0033CC"/>
                </a:solidFill>
              </a:rPr>
              <a:t>软件设计</a:t>
            </a:r>
            <a:r>
              <a:rPr lang="zh-CN" altLang="en-US" b="1" dirty="0"/>
              <a:t>、</a:t>
            </a:r>
            <a:r>
              <a:rPr lang="zh-CN" altLang="en-US" b="1" dirty="0">
                <a:solidFill>
                  <a:srgbClr val="0033CC"/>
                </a:solidFill>
              </a:rPr>
              <a:t>编程</a:t>
            </a:r>
            <a:r>
              <a:rPr lang="zh-CN" altLang="en-US" b="1" dirty="0"/>
              <a:t>、</a:t>
            </a:r>
            <a:r>
              <a:rPr lang="zh-CN" altLang="en-US" b="1" dirty="0">
                <a:solidFill>
                  <a:srgbClr val="0033CC"/>
                </a:solidFill>
              </a:rPr>
              <a:t>测试</a:t>
            </a:r>
            <a:r>
              <a:rPr lang="zh-CN" altLang="en-US" b="1" dirty="0"/>
              <a:t>、</a:t>
            </a:r>
            <a:r>
              <a:rPr lang="zh-CN" altLang="en-US" b="1" dirty="0">
                <a:solidFill>
                  <a:srgbClr val="0033CC"/>
                </a:solidFill>
              </a:rPr>
              <a:t>运行和维护</a:t>
            </a:r>
            <a:r>
              <a:rPr lang="zh-CN" altLang="en-US" b="1" dirty="0"/>
              <a:t>，每个阶段的工作都是以上一个阶段工作的结果为依据，同时又为下一个阶段的工作提供前提，瀑布模型如下图所示。</a:t>
            </a:r>
          </a:p>
          <a:p>
            <a:pPr marL="0" indent="0">
              <a:buFont typeface="Wingdings" panose="05000000000000000000" pitchFamily="2" charset="2"/>
              <a:buNone/>
              <a:defRPr/>
            </a:pPr>
            <a:endParaRPr lang="en-US" altLang="zh-CN" sz="1400" b="1" dirty="0"/>
          </a:p>
        </p:txBody>
      </p:sp>
      <p:sp>
        <p:nvSpPr>
          <p:cNvPr id="29" name="标题 1"/>
          <p:cNvSpPr txBox="1"/>
          <p:nvPr/>
        </p:nvSpPr>
        <p:spPr bwMode="auto">
          <a:xfrm>
            <a:off x="5643570" y="142858"/>
            <a:ext cx="3280522"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 </a:t>
            </a:r>
            <a:r>
              <a:rPr altLang="en-US" sz="2000" dirty="0"/>
              <a:t>安全软件开发生命周期</a:t>
            </a:r>
          </a:p>
        </p:txBody>
      </p:sp>
      <p:sp>
        <p:nvSpPr>
          <p:cNvPr id="30" name="标题 1"/>
          <p:cNvSpPr txBox="1"/>
          <p:nvPr/>
        </p:nvSpPr>
        <p:spPr bwMode="auto">
          <a:xfrm>
            <a:off x="214282" y="500048"/>
            <a:ext cx="3429024"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9.3.1 </a:t>
            </a:r>
            <a:r>
              <a:rPr altLang="en-US" sz="2000" dirty="0"/>
              <a:t>传统软件开发生命周期</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animEffect transition="in" filter="fade">
                                      <p:cBhvr>
                                        <p:cTn id="11"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6" name="组合 6"/>
          <p:cNvGrpSpPr/>
          <p:nvPr/>
        </p:nvGrpSpPr>
        <p:grpSpPr bwMode="auto">
          <a:xfrm>
            <a:off x="1428750" y="1000125"/>
            <a:ext cx="6357938" cy="3571875"/>
            <a:chOff x="1500166" y="1357304"/>
            <a:chExt cx="6357982" cy="3571900"/>
          </a:xfrm>
        </p:grpSpPr>
        <p:sp>
          <p:nvSpPr>
            <p:cNvPr id="36870" name="矩形 7"/>
            <p:cNvSpPr>
              <a:spLocks noChangeArrowheads="1"/>
            </p:cNvSpPr>
            <p:nvPr/>
          </p:nvSpPr>
          <p:spPr bwMode="auto">
            <a:xfrm>
              <a:off x="1500166" y="1357304"/>
              <a:ext cx="1000132" cy="357190"/>
            </a:xfrm>
            <a:prstGeom prst="rect">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t>可行性研究与</a:t>
              </a:r>
              <a:endParaRPr lang="en-US" altLang="zh-CN" b="1"/>
            </a:p>
            <a:p>
              <a:pPr algn="ctr" eaLnBrk="1" hangingPunct="1"/>
              <a:r>
                <a:rPr lang="zh-CN" altLang="en-US" b="1"/>
                <a:t>计划</a:t>
              </a:r>
            </a:p>
          </p:txBody>
        </p:sp>
        <p:sp>
          <p:nvSpPr>
            <p:cNvPr id="36871" name="矩形 8"/>
            <p:cNvSpPr>
              <a:spLocks noChangeArrowheads="1"/>
            </p:cNvSpPr>
            <p:nvPr/>
          </p:nvSpPr>
          <p:spPr bwMode="auto">
            <a:xfrm>
              <a:off x="2857488" y="1357304"/>
              <a:ext cx="500066"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t>可行性</a:t>
              </a:r>
              <a:endParaRPr lang="en-US" altLang="zh-CN" b="1"/>
            </a:p>
            <a:p>
              <a:pPr algn="ctr" eaLnBrk="1" hangingPunct="1"/>
              <a:r>
                <a:rPr lang="zh-CN" altLang="en-US" b="1"/>
                <a:t>研究报告</a:t>
              </a:r>
              <a:endParaRPr lang="en-US" altLang="zh-CN" b="1"/>
            </a:p>
          </p:txBody>
        </p:sp>
        <p:sp>
          <p:nvSpPr>
            <p:cNvPr id="36872" name="矩形 9"/>
            <p:cNvSpPr>
              <a:spLocks noChangeArrowheads="1"/>
            </p:cNvSpPr>
            <p:nvPr/>
          </p:nvSpPr>
          <p:spPr bwMode="auto">
            <a:xfrm>
              <a:off x="2571736" y="2000246"/>
              <a:ext cx="1000132" cy="357190"/>
            </a:xfrm>
            <a:prstGeom prst="rect">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t>需求分析</a:t>
              </a:r>
            </a:p>
          </p:txBody>
        </p:sp>
        <p:sp>
          <p:nvSpPr>
            <p:cNvPr id="36873" name="矩形 10"/>
            <p:cNvSpPr>
              <a:spLocks noChangeArrowheads="1"/>
            </p:cNvSpPr>
            <p:nvPr/>
          </p:nvSpPr>
          <p:spPr bwMode="auto">
            <a:xfrm>
              <a:off x="3714744" y="2643188"/>
              <a:ext cx="1000132" cy="357190"/>
            </a:xfrm>
            <a:prstGeom prst="rect">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t>软件设计</a:t>
              </a:r>
            </a:p>
          </p:txBody>
        </p:sp>
        <p:sp>
          <p:nvSpPr>
            <p:cNvPr id="36874" name="矩形 11"/>
            <p:cNvSpPr>
              <a:spLocks noChangeArrowheads="1"/>
            </p:cNvSpPr>
            <p:nvPr/>
          </p:nvSpPr>
          <p:spPr bwMode="auto">
            <a:xfrm>
              <a:off x="4786314" y="3286130"/>
              <a:ext cx="1000132" cy="357190"/>
            </a:xfrm>
            <a:prstGeom prst="rect">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t>编程</a:t>
              </a:r>
            </a:p>
          </p:txBody>
        </p:sp>
        <p:sp>
          <p:nvSpPr>
            <p:cNvPr id="36875" name="矩形 12"/>
            <p:cNvSpPr>
              <a:spLocks noChangeArrowheads="1"/>
            </p:cNvSpPr>
            <p:nvPr/>
          </p:nvSpPr>
          <p:spPr bwMode="auto">
            <a:xfrm>
              <a:off x="5786446" y="3929072"/>
              <a:ext cx="1000132" cy="357190"/>
            </a:xfrm>
            <a:prstGeom prst="rect">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t>测试</a:t>
              </a:r>
            </a:p>
          </p:txBody>
        </p:sp>
        <p:sp>
          <p:nvSpPr>
            <p:cNvPr id="36876" name="矩形 13"/>
            <p:cNvSpPr>
              <a:spLocks noChangeArrowheads="1"/>
            </p:cNvSpPr>
            <p:nvPr/>
          </p:nvSpPr>
          <p:spPr bwMode="auto">
            <a:xfrm>
              <a:off x="6858016" y="4572014"/>
              <a:ext cx="1000132" cy="357190"/>
            </a:xfrm>
            <a:prstGeom prst="rect">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t>运行和维护</a:t>
              </a:r>
            </a:p>
          </p:txBody>
        </p:sp>
        <p:sp>
          <p:nvSpPr>
            <p:cNvPr id="36877" name="矩形 14"/>
            <p:cNvSpPr>
              <a:spLocks noChangeArrowheads="1"/>
            </p:cNvSpPr>
            <p:nvPr/>
          </p:nvSpPr>
          <p:spPr bwMode="auto">
            <a:xfrm>
              <a:off x="3929058" y="2000246"/>
              <a:ext cx="642942"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t>需求说明书</a:t>
              </a:r>
              <a:endParaRPr lang="en-US" altLang="zh-CN" b="1"/>
            </a:p>
          </p:txBody>
        </p:sp>
        <p:sp>
          <p:nvSpPr>
            <p:cNvPr id="36878" name="矩形 15"/>
            <p:cNvSpPr>
              <a:spLocks noChangeArrowheads="1"/>
            </p:cNvSpPr>
            <p:nvPr/>
          </p:nvSpPr>
          <p:spPr bwMode="auto">
            <a:xfrm>
              <a:off x="5072066" y="2643188"/>
              <a:ext cx="500066"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t>涉及文档</a:t>
              </a:r>
              <a:endParaRPr lang="en-US" altLang="zh-CN" b="1"/>
            </a:p>
          </p:txBody>
        </p:sp>
        <p:sp>
          <p:nvSpPr>
            <p:cNvPr id="36879" name="矩形 16"/>
            <p:cNvSpPr>
              <a:spLocks noChangeArrowheads="1"/>
            </p:cNvSpPr>
            <p:nvPr/>
          </p:nvSpPr>
          <p:spPr bwMode="auto">
            <a:xfrm>
              <a:off x="6143636" y="3286130"/>
              <a:ext cx="285752"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t>程序</a:t>
              </a:r>
              <a:endParaRPr lang="en-US" altLang="zh-CN" b="1"/>
            </a:p>
          </p:txBody>
        </p:sp>
        <p:sp>
          <p:nvSpPr>
            <p:cNvPr id="36880" name="矩形 17"/>
            <p:cNvSpPr>
              <a:spLocks noChangeArrowheads="1"/>
            </p:cNvSpPr>
            <p:nvPr/>
          </p:nvSpPr>
          <p:spPr bwMode="auto">
            <a:xfrm>
              <a:off x="7143768" y="3929072"/>
              <a:ext cx="500066"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t>测试报告</a:t>
              </a:r>
              <a:endParaRPr lang="en-US" altLang="zh-CN" b="1"/>
            </a:p>
          </p:txBody>
        </p:sp>
        <p:cxnSp>
          <p:nvCxnSpPr>
            <p:cNvPr id="36881" name="直接连接符 18"/>
            <p:cNvCxnSpPr>
              <a:cxnSpLocks noChangeShapeType="1"/>
            </p:cNvCxnSpPr>
            <p:nvPr/>
          </p:nvCxnSpPr>
          <p:spPr bwMode="auto">
            <a:xfrm>
              <a:off x="2500298" y="1500180"/>
              <a:ext cx="357190" cy="1588"/>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36882" name="直接箭头连接符 19"/>
            <p:cNvCxnSpPr>
              <a:cxnSpLocks noChangeShapeType="1"/>
            </p:cNvCxnSpPr>
            <p:nvPr/>
          </p:nvCxnSpPr>
          <p:spPr bwMode="auto">
            <a:xfrm rot="5400000">
              <a:off x="2929720" y="1856576"/>
              <a:ext cx="285752" cy="1588"/>
            </a:xfrm>
            <a:prstGeom prst="straightConnector1">
              <a:avLst/>
            </a:prstGeom>
            <a:noFill/>
            <a:ln w="9525" algn="ctr">
              <a:solidFill>
                <a:schemeClr val="tx1"/>
              </a:solidFill>
              <a:round/>
              <a:tailEnd type="triangle" w="lg" len="lg"/>
            </a:ln>
            <a:extLst>
              <a:ext uri="{909E8E84-426E-40DD-AFC4-6F175D3DCCD1}">
                <a14:hiddenFill xmlns:a14="http://schemas.microsoft.com/office/drawing/2010/main">
                  <a:noFill/>
                </a14:hiddenFill>
              </a:ext>
            </a:extLst>
          </p:spPr>
        </p:cxnSp>
        <p:cxnSp>
          <p:nvCxnSpPr>
            <p:cNvPr id="36883" name="直接连接符 20"/>
            <p:cNvCxnSpPr>
              <a:cxnSpLocks noChangeShapeType="1"/>
            </p:cNvCxnSpPr>
            <p:nvPr/>
          </p:nvCxnSpPr>
          <p:spPr bwMode="auto">
            <a:xfrm>
              <a:off x="3571868" y="2143122"/>
              <a:ext cx="357190" cy="1588"/>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36884" name="直接箭头连接符 21"/>
            <p:cNvCxnSpPr>
              <a:cxnSpLocks noChangeShapeType="1"/>
            </p:cNvCxnSpPr>
            <p:nvPr/>
          </p:nvCxnSpPr>
          <p:spPr bwMode="auto">
            <a:xfrm rot="5400000">
              <a:off x="4072728" y="2499518"/>
              <a:ext cx="285752" cy="1588"/>
            </a:xfrm>
            <a:prstGeom prst="straightConnector1">
              <a:avLst/>
            </a:prstGeom>
            <a:noFill/>
            <a:ln w="9525" algn="ctr">
              <a:solidFill>
                <a:schemeClr val="tx1"/>
              </a:solidFill>
              <a:round/>
              <a:tailEnd type="triangle" w="lg" len="lg"/>
            </a:ln>
            <a:extLst>
              <a:ext uri="{909E8E84-426E-40DD-AFC4-6F175D3DCCD1}">
                <a14:hiddenFill xmlns:a14="http://schemas.microsoft.com/office/drawing/2010/main">
                  <a:noFill/>
                </a14:hiddenFill>
              </a:ext>
            </a:extLst>
          </p:spPr>
        </p:cxnSp>
        <p:cxnSp>
          <p:nvCxnSpPr>
            <p:cNvPr id="36885" name="直接连接符 22"/>
            <p:cNvCxnSpPr>
              <a:cxnSpLocks noChangeShapeType="1"/>
            </p:cNvCxnSpPr>
            <p:nvPr/>
          </p:nvCxnSpPr>
          <p:spPr bwMode="auto">
            <a:xfrm>
              <a:off x="4714876" y="2786064"/>
              <a:ext cx="357190" cy="1588"/>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36886" name="直接箭头连接符 23"/>
            <p:cNvCxnSpPr>
              <a:cxnSpLocks noChangeShapeType="1"/>
            </p:cNvCxnSpPr>
            <p:nvPr/>
          </p:nvCxnSpPr>
          <p:spPr bwMode="auto">
            <a:xfrm rot="5400000">
              <a:off x="5144298" y="3142460"/>
              <a:ext cx="285752" cy="1588"/>
            </a:xfrm>
            <a:prstGeom prst="straightConnector1">
              <a:avLst/>
            </a:prstGeom>
            <a:noFill/>
            <a:ln w="9525" algn="ctr">
              <a:solidFill>
                <a:schemeClr val="tx1"/>
              </a:solidFill>
              <a:round/>
              <a:tailEnd type="triangle" w="lg" len="lg"/>
            </a:ln>
            <a:extLst>
              <a:ext uri="{909E8E84-426E-40DD-AFC4-6F175D3DCCD1}">
                <a14:hiddenFill xmlns:a14="http://schemas.microsoft.com/office/drawing/2010/main">
                  <a:noFill/>
                </a14:hiddenFill>
              </a:ext>
            </a:extLst>
          </p:spPr>
        </p:cxnSp>
        <p:cxnSp>
          <p:nvCxnSpPr>
            <p:cNvPr id="36887" name="直接连接符 24"/>
            <p:cNvCxnSpPr>
              <a:cxnSpLocks noChangeShapeType="1"/>
            </p:cNvCxnSpPr>
            <p:nvPr/>
          </p:nvCxnSpPr>
          <p:spPr bwMode="auto">
            <a:xfrm>
              <a:off x="5786446" y="3429006"/>
              <a:ext cx="357190" cy="1588"/>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36888" name="直接箭头连接符 25"/>
            <p:cNvCxnSpPr>
              <a:cxnSpLocks noChangeShapeType="1"/>
            </p:cNvCxnSpPr>
            <p:nvPr/>
          </p:nvCxnSpPr>
          <p:spPr bwMode="auto">
            <a:xfrm rot="5400000">
              <a:off x="6144430" y="3785402"/>
              <a:ext cx="285752" cy="1588"/>
            </a:xfrm>
            <a:prstGeom prst="straightConnector1">
              <a:avLst/>
            </a:prstGeom>
            <a:noFill/>
            <a:ln w="9525" algn="ctr">
              <a:solidFill>
                <a:schemeClr val="tx1"/>
              </a:solidFill>
              <a:round/>
              <a:tailEnd type="triangle" w="lg" len="lg"/>
            </a:ln>
            <a:extLst>
              <a:ext uri="{909E8E84-426E-40DD-AFC4-6F175D3DCCD1}">
                <a14:hiddenFill xmlns:a14="http://schemas.microsoft.com/office/drawing/2010/main">
                  <a:noFill/>
                </a14:hiddenFill>
              </a:ext>
            </a:extLst>
          </p:spPr>
        </p:cxnSp>
        <p:cxnSp>
          <p:nvCxnSpPr>
            <p:cNvPr id="36889" name="直接连接符 26"/>
            <p:cNvCxnSpPr>
              <a:cxnSpLocks noChangeShapeType="1"/>
            </p:cNvCxnSpPr>
            <p:nvPr/>
          </p:nvCxnSpPr>
          <p:spPr bwMode="auto">
            <a:xfrm>
              <a:off x="6786578" y="4071948"/>
              <a:ext cx="357190" cy="1588"/>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36890" name="直接箭头连接符 27"/>
            <p:cNvCxnSpPr>
              <a:cxnSpLocks noChangeShapeType="1"/>
            </p:cNvCxnSpPr>
            <p:nvPr/>
          </p:nvCxnSpPr>
          <p:spPr bwMode="auto">
            <a:xfrm rot="5400000">
              <a:off x="7216000" y="4428344"/>
              <a:ext cx="285752" cy="1588"/>
            </a:xfrm>
            <a:prstGeom prst="straightConnector1">
              <a:avLst/>
            </a:prstGeom>
            <a:noFill/>
            <a:ln w="9525" algn="ctr">
              <a:solidFill>
                <a:schemeClr val="tx1"/>
              </a:solidFill>
              <a:round/>
              <a:tailEnd type="triangle" w="lg" len="lg"/>
            </a:ln>
            <a:extLst>
              <a:ext uri="{909E8E84-426E-40DD-AFC4-6F175D3DCCD1}">
                <a14:hiddenFill xmlns:a14="http://schemas.microsoft.com/office/drawing/2010/main">
                  <a:noFill/>
                </a14:hiddenFill>
              </a:ext>
            </a:extLst>
          </p:spPr>
        </p:cxnSp>
      </p:grpSp>
      <p:sp>
        <p:nvSpPr>
          <p:cNvPr id="29" name="标题 1"/>
          <p:cNvSpPr txBox="1"/>
          <p:nvPr/>
        </p:nvSpPr>
        <p:spPr bwMode="auto">
          <a:xfrm>
            <a:off x="5643570" y="142858"/>
            <a:ext cx="3280522"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 </a:t>
            </a:r>
            <a:r>
              <a:rPr altLang="en-US" sz="2000" dirty="0"/>
              <a:t>安全软件开发生命周期</a:t>
            </a:r>
          </a:p>
        </p:txBody>
      </p:sp>
      <p:sp>
        <p:nvSpPr>
          <p:cNvPr id="30" name="标题 1"/>
          <p:cNvSpPr txBox="1"/>
          <p:nvPr/>
        </p:nvSpPr>
        <p:spPr bwMode="auto">
          <a:xfrm>
            <a:off x="214282" y="500048"/>
            <a:ext cx="3429024"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9.3.1 </a:t>
            </a:r>
            <a:r>
              <a:rPr altLang="en-US" sz="2000" dirty="0"/>
              <a:t>传统软件开发生命周期</a:t>
            </a:r>
          </a:p>
        </p:txBody>
      </p:sp>
      <p:sp>
        <p:nvSpPr>
          <p:cNvPr id="36869" name="TextBox 27"/>
          <p:cNvSpPr txBox="1">
            <a:spLocks noChangeArrowheads="1"/>
          </p:cNvSpPr>
          <p:nvPr/>
        </p:nvSpPr>
        <p:spPr bwMode="auto">
          <a:xfrm>
            <a:off x="3357563" y="3643313"/>
            <a:ext cx="19288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600" b="1">
                <a:solidFill>
                  <a:srgbClr val="FF0000"/>
                </a:solidFill>
              </a:rPr>
              <a:t>瀑布模型</a:t>
            </a:r>
            <a:endParaRPr lang="zh-CN" altLang="en-US" sz="900" b="1">
              <a:solidFill>
                <a:srgbClr val="FF0000"/>
              </a:solidFill>
            </a:endParaRPr>
          </a:p>
        </p:txBody>
      </p:sp>
    </p:spTree>
  </p:cSld>
  <p:clrMapOvr>
    <a:masterClrMapping/>
  </p:clrMapOvr>
  <p:transition spd="med">
    <p:randomBar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214313" y="1000125"/>
            <a:ext cx="8715375" cy="3500438"/>
          </a:xfrm>
        </p:spPr>
        <p:txBody>
          <a:bodyPr/>
          <a:lstStyle/>
          <a:p>
            <a:pPr>
              <a:buFont typeface="Wingdings" panose="05000000000000000000" pitchFamily="2" charset="2"/>
              <a:buNone/>
              <a:defRPr/>
            </a:pPr>
            <a:r>
              <a:rPr lang="zh-CN" altLang="en-US" sz="1800" b="1" dirty="0">
                <a:solidFill>
                  <a:schemeClr val="bg2">
                    <a:lumMod val="25000"/>
                  </a:schemeClr>
                </a:solidFill>
              </a:rPr>
              <a:t>要求：</a:t>
            </a:r>
            <a:endParaRPr lang="en-US" altLang="zh-CN" sz="1800" b="1" dirty="0">
              <a:solidFill>
                <a:schemeClr val="bg2">
                  <a:lumMod val="25000"/>
                </a:schemeClr>
              </a:solidFill>
            </a:endParaRPr>
          </a:p>
          <a:p>
            <a:pPr indent="-36195">
              <a:buFont typeface="Wingdings" panose="05000000000000000000" pitchFamily="2" charset="2"/>
              <a:buChar char="Ø"/>
              <a:defRPr/>
            </a:pPr>
            <a:r>
              <a:rPr lang="en-US" altLang="zh-CN" b="1" dirty="0"/>
              <a:t>1.</a:t>
            </a:r>
            <a:r>
              <a:rPr lang="zh-CN" altLang="zh-CN" b="1" dirty="0"/>
              <a:t>瀑布模型的</a:t>
            </a:r>
            <a:r>
              <a:rPr lang="zh-CN" altLang="zh-CN" b="1" dirty="0">
                <a:solidFill>
                  <a:srgbClr val="FF0000"/>
                </a:solidFill>
              </a:rPr>
              <a:t>顺序活动</a:t>
            </a:r>
            <a:r>
              <a:rPr lang="zh-CN" altLang="zh-CN" b="1" dirty="0"/>
              <a:t>的特点，</a:t>
            </a:r>
            <a:r>
              <a:rPr lang="zh-CN" altLang="en-US" b="1" dirty="0"/>
              <a:t>是</a:t>
            </a:r>
            <a:r>
              <a:rPr lang="zh-CN" altLang="zh-CN" b="1" dirty="0"/>
              <a:t>必须按照阶段顺序的安排工作。</a:t>
            </a:r>
            <a:endParaRPr lang="en-US" altLang="zh-CN" b="1" dirty="0"/>
          </a:p>
          <a:p>
            <a:pPr indent="-36195">
              <a:buFont typeface="Wingdings" panose="05000000000000000000" pitchFamily="2" charset="2"/>
              <a:buChar char="Ø"/>
              <a:defRPr/>
            </a:pPr>
            <a:r>
              <a:rPr lang="en-US" altLang="zh-CN" b="1" dirty="0"/>
              <a:t>2.</a:t>
            </a:r>
            <a:r>
              <a:rPr lang="zh-CN" altLang="zh-CN" b="1" dirty="0"/>
              <a:t> 要求</a:t>
            </a:r>
            <a:r>
              <a:rPr lang="zh-CN" altLang="zh-CN" b="1" dirty="0">
                <a:solidFill>
                  <a:srgbClr val="0033CC"/>
                </a:solidFill>
              </a:rPr>
              <a:t>每个阶段的工作</a:t>
            </a:r>
            <a:r>
              <a:rPr lang="zh-CN" altLang="zh-CN" b="1" dirty="0">
                <a:solidFill>
                  <a:srgbClr val="FF0000"/>
                </a:solidFill>
              </a:rPr>
              <a:t>都要有</a:t>
            </a:r>
            <a:r>
              <a:rPr lang="zh-CN" altLang="zh-CN" b="1" dirty="0">
                <a:solidFill>
                  <a:srgbClr val="0033CC"/>
                </a:solidFill>
              </a:rPr>
              <a:t>完整、准确的文档资料</a:t>
            </a:r>
            <a:r>
              <a:rPr lang="zh-CN" altLang="zh-CN" b="1" dirty="0"/>
              <a:t>，并且每个阶段结束前都要对文档进行审查，尽早发现问题，尽早解决。</a:t>
            </a:r>
            <a:endParaRPr lang="en-US" altLang="zh-CN" b="1" dirty="0"/>
          </a:p>
          <a:p>
            <a:pPr>
              <a:buFont typeface="Wingdings" panose="05000000000000000000" pitchFamily="2" charset="2"/>
              <a:buNone/>
              <a:defRPr/>
            </a:pPr>
            <a:r>
              <a:rPr lang="zh-CN" altLang="en-US" sz="1800" b="1" dirty="0">
                <a:solidFill>
                  <a:schemeClr val="bg2">
                    <a:lumMod val="25000"/>
                  </a:schemeClr>
                </a:solidFill>
              </a:rPr>
              <a:t>缺点：</a:t>
            </a:r>
            <a:endParaRPr lang="zh-CN" altLang="zh-CN" sz="1800" b="1" dirty="0">
              <a:solidFill>
                <a:schemeClr val="bg2">
                  <a:lumMod val="25000"/>
                </a:schemeClr>
              </a:solidFill>
            </a:endParaRPr>
          </a:p>
          <a:p>
            <a:pPr indent="-36195">
              <a:buFont typeface="Wingdings" panose="05000000000000000000" pitchFamily="2" charset="2"/>
              <a:buChar char="Ø"/>
              <a:defRPr/>
            </a:pPr>
            <a:r>
              <a:rPr lang="en-US" altLang="zh-CN" b="1" dirty="0"/>
              <a:t>1.</a:t>
            </a:r>
            <a:r>
              <a:rPr lang="zh-CN" altLang="zh-CN" b="1" dirty="0"/>
              <a:t>在项目开始阶段，</a:t>
            </a:r>
            <a:r>
              <a:rPr lang="zh-CN" altLang="zh-CN" b="1" dirty="0">
                <a:solidFill>
                  <a:srgbClr val="0033CC"/>
                </a:solidFill>
              </a:rPr>
              <a:t>用户对需求的描述</a:t>
            </a:r>
            <a:r>
              <a:rPr lang="zh-CN" altLang="zh-CN" b="1" dirty="0">
                <a:solidFill>
                  <a:srgbClr val="FF0000"/>
                </a:solidFill>
              </a:rPr>
              <a:t>常常是不全面的</a:t>
            </a:r>
            <a:r>
              <a:rPr lang="zh-CN" altLang="zh-CN" b="1" dirty="0"/>
              <a:t>。所以理解上难免会出现遗漏或者偏差，就会影响到后面的工作。</a:t>
            </a:r>
          </a:p>
          <a:p>
            <a:pPr indent="-36195">
              <a:buFont typeface="Wingdings" panose="05000000000000000000" pitchFamily="2" charset="2"/>
              <a:buChar char="Ø"/>
              <a:defRPr/>
            </a:pPr>
            <a:r>
              <a:rPr lang="en-US" altLang="zh-CN" b="1" dirty="0"/>
              <a:t>2.</a:t>
            </a:r>
            <a:r>
              <a:rPr lang="zh-CN" altLang="zh-CN" b="1" dirty="0"/>
              <a:t>瀑布模型是由</a:t>
            </a:r>
            <a:r>
              <a:rPr lang="zh-CN" altLang="zh-CN" b="1" dirty="0">
                <a:solidFill>
                  <a:srgbClr val="0033CC"/>
                </a:solidFill>
              </a:rPr>
              <a:t>文档驱动的</a:t>
            </a:r>
            <a:r>
              <a:rPr lang="zh-CN" altLang="zh-CN" b="1" dirty="0"/>
              <a:t>。</a:t>
            </a:r>
            <a:r>
              <a:rPr lang="zh-CN" altLang="zh-CN" b="1" dirty="0">
                <a:solidFill>
                  <a:srgbClr val="FF0000"/>
                </a:solidFill>
              </a:rPr>
              <a:t>当用户在使用软件时</a:t>
            </a:r>
            <a:r>
              <a:rPr lang="zh-CN" altLang="zh-CN" b="1" dirty="0"/>
              <a:t>往往会产生一些新的想法，或许会对软件的使用方面提出一些建议，而此时想对</a:t>
            </a:r>
            <a:r>
              <a:rPr lang="zh-CN" altLang="zh-CN" b="1" dirty="0">
                <a:solidFill>
                  <a:srgbClr val="FF0000"/>
                </a:solidFill>
              </a:rPr>
              <a:t>系统修改难度会很大</a:t>
            </a:r>
            <a:r>
              <a:rPr lang="zh-CN" altLang="zh-CN" b="1" dirty="0"/>
              <a:t>。</a:t>
            </a:r>
          </a:p>
          <a:p>
            <a:pPr marL="0" indent="0">
              <a:buFont typeface="Wingdings" panose="05000000000000000000" pitchFamily="2" charset="2"/>
              <a:buNone/>
              <a:defRPr/>
            </a:pPr>
            <a:endParaRPr lang="en-US" altLang="zh-CN" sz="1400" b="1" dirty="0"/>
          </a:p>
        </p:txBody>
      </p:sp>
      <p:sp>
        <p:nvSpPr>
          <p:cNvPr id="7" name="标题 1"/>
          <p:cNvSpPr txBox="1"/>
          <p:nvPr/>
        </p:nvSpPr>
        <p:spPr bwMode="auto">
          <a:xfrm>
            <a:off x="5643570" y="142858"/>
            <a:ext cx="3280522"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 </a:t>
            </a:r>
            <a:r>
              <a:rPr altLang="en-US" sz="2000" dirty="0"/>
              <a:t>安全软件开发生命周期</a:t>
            </a:r>
          </a:p>
        </p:txBody>
      </p:sp>
      <p:sp>
        <p:nvSpPr>
          <p:cNvPr id="8" name="标题 1"/>
          <p:cNvSpPr txBox="1"/>
          <p:nvPr/>
        </p:nvSpPr>
        <p:spPr bwMode="auto">
          <a:xfrm>
            <a:off x="214282" y="500048"/>
            <a:ext cx="3429024"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9.3.1 </a:t>
            </a:r>
            <a:r>
              <a:rPr altLang="en-US" sz="2000" dirty="0"/>
              <a:t>传统软件开发生命周期</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fade">
                                      <p:cBhvr>
                                        <p:cTn id="12" dur="500"/>
                                        <p:tgtEl>
                                          <p:spTgt spid="9219">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9219">
                                            <p:txEl>
                                              <p:pRg st="2" end="2"/>
                                            </p:txEl>
                                          </p:spTgt>
                                        </p:tgtEl>
                                        <p:attrNameLst>
                                          <p:attrName>style.visibility</p:attrName>
                                        </p:attrNameLst>
                                      </p:cBhvr>
                                      <p:to>
                                        <p:strVal val="visible"/>
                                      </p:to>
                                    </p:set>
                                    <p:animEffect transition="in" filter="fade">
                                      <p:cBhvr>
                                        <p:cTn id="16" dur="500"/>
                                        <p:tgtEl>
                                          <p:spTgt spid="921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219">
                                            <p:txEl>
                                              <p:pRg st="3" end="3"/>
                                            </p:txEl>
                                          </p:spTgt>
                                        </p:tgtEl>
                                        <p:attrNameLst>
                                          <p:attrName>style.visibility</p:attrName>
                                        </p:attrNameLst>
                                      </p:cBhvr>
                                      <p:to>
                                        <p:strVal val="visible"/>
                                      </p:to>
                                    </p:set>
                                    <p:animEffect transition="in" filter="fade">
                                      <p:cBhvr>
                                        <p:cTn id="21" dur="500"/>
                                        <p:tgtEl>
                                          <p:spTgt spid="9219">
                                            <p:txEl>
                                              <p:pRg st="3" end="3"/>
                                            </p:txEl>
                                          </p:spTgt>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9219">
                                            <p:txEl>
                                              <p:pRg st="4" end="4"/>
                                            </p:txEl>
                                          </p:spTgt>
                                        </p:tgtEl>
                                        <p:attrNameLst>
                                          <p:attrName>style.visibility</p:attrName>
                                        </p:attrNameLst>
                                      </p:cBhvr>
                                      <p:to>
                                        <p:strVal val="visible"/>
                                      </p:to>
                                    </p:set>
                                    <p:animEffect transition="in" filter="fade">
                                      <p:cBhvr>
                                        <p:cTn id="25" dur="500"/>
                                        <p:tgtEl>
                                          <p:spTgt spid="9219">
                                            <p:txEl>
                                              <p:pRg st="4" end="4"/>
                                            </p:txEl>
                                          </p:spTgt>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9219">
                                            <p:txEl>
                                              <p:pRg st="5" end="5"/>
                                            </p:txEl>
                                          </p:spTgt>
                                        </p:tgtEl>
                                        <p:attrNameLst>
                                          <p:attrName>style.visibility</p:attrName>
                                        </p:attrNameLst>
                                      </p:cBhvr>
                                      <p:to>
                                        <p:strVal val="visible"/>
                                      </p:to>
                                    </p:set>
                                    <p:animEffect transition="in" filter="fade">
                                      <p:cBhvr>
                                        <p:cTn id="29" dur="500"/>
                                        <p:tgtEl>
                                          <p:spTgt spid="92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357188" y="1071563"/>
            <a:ext cx="8572500" cy="3005137"/>
          </a:xfrm>
        </p:spPr>
        <p:txBody>
          <a:bodyPr/>
          <a:lstStyle/>
          <a:p>
            <a:pPr marL="0" indent="0">
              <a:buFont typeface="Wingdings" panose="05000000000000000000" pitchFamily="2" charset="2"/>
              <a:buNone/>
              <a:defRPr/>
            </a:pPr>
            <a:endParaRPr lang="en-US" altLang="zh-CN" sz="1400" b="1" dirty="0"/>
          </a:p>
          <a:p>
            <a:pPr>
              <a:buFont typeface="Wingdings" panose="05000000000000000000" pitchFamily="2" charset="2"/>
              <a:buNone/>
              <a:defRPr/>
            </a:pPr>
            <a:r>
              <a:rPr lang="en-US" altLang="zh-CN" sz="1800" b="1" dirty="0">
                <a:solidFill>
                  <a:schemeClr val="accent6"/>
                </a:solidFill>
              </a:rPr>
              <a:t>2. </a:t>
            </a:r>
            <a:r>
              <a:rPr lang="zh-CN" altLang="zh-CN" sz="1800" b="1" dirty="0">
                <a:solidFill>
                  <a:schemeClr val="accent6"/>
                </a:solidFill>
              </a:rPr>
              <a:t>原型模型（快速原型模型）</a:t>
            </a:r>
          </a:p>
          <a:p>
            <a:pPr>
              <a:buFont typeface="Wingdings" panose="05000000000000000000" pitchFamily="2" charset="2"/>
              <a:buNone/>
              <a:defRPr/>
            </a:pPr>
            <a:r>
              <a:rPr lang="zh-CN" altLang="zh-CN" sz="1800" b="1" dirty="0">
                <a:solidFill>
                  <a:schemeClr val="bg2">
                    <a:lumMod val="25000"/>
                  </a:schemeClr>
                </a:solidFill>
              </a:rPr>
              <a:t>基本思想是：</a:t>
            </a:r>
            <a:endParaRPr lang="en-US" altLang="zh-CN" sz="1800" b="1" dirty="0">
              <a:solidFill>
                <a:schemeClr val="bg2">
                  <a:lumMod val="25000"/>
                </a:schemeClr>
              </a:solidFill>
            </a:endParaRPr>
          </a:p>
          <a:p>
            <a:pPr indent="-107950">
              <a:buFont typeface="Wingdings" panose="05000000000000000000" pitchFamily="2" charset="2"/>
              <a:buChar char="Ø"/>
              <a:defRPr/>
            </a:pPr>
            <a:r>
              <a:rPr lang="en-US" altLang="zh-CN" sz="1800" b="1" dirty="0"/>
              <a:t>1.</a:t>
            </a:r>
            <a:r>
              <a:rPr lang="zh-CN" altLang="zh-CN" sz="1800" b="1" dirty="0">
                <a:solidFill>
                  <a:srgbClr val="0033CC"/>
                </a:solidFill>
              </a:rPr>
              <a:t>开发人员</a:t>
            </a:r>
            <a:r>
              <a:rPr lang="zh-CN" altLang="zh-CN" sz="1800" b="1" dirty="0"/>
              <a:t>在与</a:t>
            </a:r>
            <a:r>
              <a:rPr lang="zh-CN" altLang="zh-CN" sz="1800" b="1" dirty="0">
                <a:solidFill>
                  <a:srgbClr val="0033CC"/>
                </a:solidFill>
              </a:rPr>
              <a:t>用户</a:t>
            </a:r>
            <a:r>
              <a:rPr lang="zh-CN" altLang="zh-CN" sz="1800" b="1" u="sng" dirty="0">
                <a:effectLst>
                  <a:outerShdw blurRad="38100" dist="38100" dir="2700000" algn="tl">
                    <a:srgbClr val="000000">
                      <a:alpha val="43137"/>
                    </a:srgbClr>
                  </a:outerShdw>
                </a:effectLst>
              </a:rPr>
              <a:t>进行需求分析时</a:t>
            </a:r>
            <a:r>
              <a:rPr lang="zh-CN" altLang="zh-CN" sz="1800" b="1" dirty="0"/>
              <a:t>，</a:t>
            </a:r>
            <a:r>
              <a:rPr lang="zh-CN" altLang="en-US" sz="1800" b="1" dirty="0">
                <a:solidFill>
                  <a:srgbClr val="FF0000"/>
                </a:solidFill>
              </a:rPr>
              <a:t>先</a:t>
            </a:r>
            <a:r>
              <a:rPr lang="zh-CN" altLang="zh-CN" sz="1800" b="1" dirty="0">
                <a:solidFill>
                  <a:srgbClr val="FF0000"/>
                </a:solidFill>
              </a:rPr>
              <a:t>建立一个</a:t>
            </a:r>
            <a:r>
              <a:rPr lang="zh-CN" altLang="zh-CN" sz="1800" b="1" dirty="0"/>
              <a:t>能够反映用户主要需求的</a:t>
            </a:r>
            <a:r>
              <a:rPr lang="zh-CN" altLang="zh-CN" sz="1800" b="1" dirty="0">
                <a:solidFill>
                  <a:srgbClr val="0033CC"/>
                </a:solidFill>
              </a:rPr>
              <a:t>原型模型</a:t>
            </a:r>
            <a:r>
              <a:rPr lang="zh-CN" altLang="zh-CN" sz="1800" b="1" dirty="0"/>
              <a:t>，让用户在计算机上进行操作，然后提出改进意见。</a:t>
            </a:r>
            <a:endParaRPr lang="en-US" altLang="zh-CN" sz="1800" b="1" dirty="0"/>
          </a:p>
          <a:p>
            <a:pPr indent="-107950">
              <a:buFont typeface="Wingdings" panose="05000000000000000000" pitchFamily="2" charset="2"/>
              <a:buChar char="Ø"/>
              <a:defRPr/>
            </a:pPr>
            <a:r>
              <a:rPr lang="en-US" altLang="zh-CN" sz="1800" b="1" dirty="0"/>
              <a:t>2.</a:t>
            </a:r>
            <a:r>
              <a:rPr lang="zh-CN" altLang="zh-CN" sz="1800" b="1" dirty="0"/>
              <a:t>开发人员</a:t>
            </a:r>
            <a:r>
              <a:rPr lang="zh-CN" altLang="zh-CN" sz="1800" b="1" dirty="0">
                <a:solidFill>
                  <a:srgbClr val="0033CC"/>
                </a:solidFill>
              </a:rPr>
              <a:t>根据用户的建议</a:t>
            </a:r>
            <a:r>
              <a:rPr lang="zh-CN" altLang="zh-CN" sz="1800" b="1" dirty="0"/>
              <a:t>，</a:t>
            </a:r>
            <a:r>
              <a:rPr lang="zh-CN" altLang="zh-CN" sz="1800" b="1" dirty="0">
                <a:solidFill>
                  <a:srgbClr val="FF0000"/>
                </a:solidFill>
              </a:rPr>
              <a:t>对</a:t>
            </a:r>
            <a:r>
              <a:rPr lang="zh-CN" altLang="zh-CN" sz="1800" b="1" dirty="0">
                <a:solidFill>
                  <a:srgbClr val="0033CC"/>
                </a:solidFill>
              </a:rPr>
              <a:t>原型</a:t>
            </a:r>
            <a:r>
              <a:rPr lang="zh-CN" altLang="zh-CN" sz="1800" b="1" dirty="0">
                <a:solidFill>
                  <a:srgbClr val="FF0000"/>
                </a:solidFill>
              </a:rPr>
              <a:t>进行补充和完善</a:t>
            </a:r>
            <a:r>
              <a:rPr lang="zh-CN" altLang="zh-CN" sz="1800" b="1" dirty="0"/>
              <a:t>，然后再由用户试用、评价、提出意见，重复这一过程，直至用户满意为止</a:t>
            </a:r>
            <a:r>
              <a:rPr lang="zh-CN" altLang="en-US" sz="1800" b="1" dirty="0"/>
              <a:t>。</a:t>
            </a:r>
            <a:endParaRPr lang="en-US" altLang="zh-CN" sz="1800" b="1" dirty="0"/>
          </a:p>
        </p:txBody>
      </p:sp>
      <p:sp>
        <p:nvSpPr>
          <p:cNvPr id="7" name="标题 1"/>
          <p:cNvSpPr txBox="1"/>
          <p:nvPr/>
        </p:nvSpPr>
        <p:spPr bwMode="auto">
          <a:xfrm>
            <a:off x="5643570" y="142858"/>
            <a:ext cx="3280522"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 </a:t>
            </a:r>
            <a:r>
              <a:rPr altLang="en-US" sz="2000" dirty="0"/>
              <a:t>安全软件开发生命周期</a:t>
            </a:r>
          </a:p>
        </p:txBody>
      </p:sp>
      <p:sp>
        <p:nvSpPr>
          <p:cNvPr id="8" name="标题 1"/>
          <p:cNvSpPr txBox="1"/>
          <p:nvPr/>
        </p:nvSpPr>
        <p:spPr bwMode="auto">
          <a:xfrm>
            <a:off x="214282" y="500048"/>
            <a:ext cx="3429024"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9.3.1 </a:t>
            </a:r>
            <a:r>
              <a:rPr altLang="en-US" sz="2000" dirty="0"/>
              <a:t>传统软件开发生命周期</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fade">
                                      <p:cBhvr>
                                        <p:cTn id="7" dur="500"/>
                                        <p:tgtEl>
                                          <p:spTgt spid="9219">
                                            <p:txEl>
                                              <p:pRg st="1" end="1"/>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219">
                                            <p:txEl>
                                              <p:pRg st="2" end="2"/>
                                            </p:txEl>
                                          </p:spTgt>
                                        </p:tgtEl>
                                        <p:attrNameLst>
                                          <p:attrName>style.visibility</p:attrName>
                                        </p:attrNameLst>
                                      </p:cBhvr>
                                      <p:to>
                                        <p:strVal val="visible"/>
                                      </p:to>
                                    </p:set>
                                    <p:animEffect transition="in" filter="fade">
                                      <p:cBhvr>
                                        <p:cTn id="11" dur="500"/>
                                        <p:tgtEl>
                                          <p:spTgt spid="9219">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219">
                                            <p:txEl>
                                              <p:pRg st="3" end="3"/>
                                            </p:txEl>
                                          </p:spTgt>
                                        </p:tgtEl>
                                        <p:attrNameLst>
                                          <p:attrName>style.visibility</p:attrName>
                                        </p:attrNameLst>
                                      </p:cBhvr>
                                      <p:to>
                                        <p:strVal val="visible"/>
                                      </p:to>
                                    </p:set>
                                    <p:animEffect transition="in" filter="fade">
                                      <p:cBhvr>
                                        <p:cTn id="16" dur="500"/>
                                        <p:tgtEl>
                                          <p:spTgt spid="9219">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219">
                                            <p:txEl>
                                              <p:pRg st="4" end="4"/>
                                            </p:txEl>
                                          </p:spTgt>
                                        </p:tgtEl>
                                        <p:attrNameLst>
                                          <p:attrName>style.visibility</p:attrName>
                                        </p:attrNameLst>
                                      </p:cBhvr>
                                      <p:to>
                                        <p:strVal val="visible"/>
                                      </p:to>
                                    </p:set>
                                    <p:animEffect transition="in" filter="fade">
                                      <p:cBhvr>
                                        <p:cTn id="21" dur="500"/>
                                        <p:tgtEl>
                                          <p:spTgt spid="9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内容占位符 2"/>
          <p:cNvSpPr>
            <a:spLocks noGrp="1"/>
          </p:cNvSpPr>
          <p:nvPr>
            <p:ph idx="1"/>
          </p:nvPr>
        </p:nvSpPr>
        <p:spPr>
          <a:xfrm>
            <a:off x="3357563" y="3143250"/>
            <a:ext cx="1857375" cy="428625"/>
          </a:xfrm>
        </p:spPr>
        <p:txBody>
          <a:bodyPr/>
          <a:lstStyle/>
          <a:p>
            <a:pPr marL="0" indent="0" algn="ctr">
              <a:buFont typeface="Wingdings" panose="05000000000000000000" pitchFamily="2" charset="2"/>
              <a:buNone/>
            </a:pPr>
            <a:r>
              <a:rPr lang="zh-CN" altLang="en-US" b="1"/>
              <a:t>原型模型</a:t>
            </a:r>
            <a:endParaRPr lang="en-US" altLang="zh-CN" b="1"/>
          </a:p>
        </p:txBody>
      </p:sp>
      <p:pic>
        <p:nvPicPr>
          <p:cNvPr id="2662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8413" y="1347788"/>
            <a:ext cx="7407275" cy="176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标题 1"/>
          <p:cNvSpPr txBox="1"/>
          <p:nvPr/>
        </p:nvSpPr>
        <p:spPr bwMode="auto">
          <a:xfrm>
            <a:off x="5643570" y="142858"/>
            <a:ext cx="3280522"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 </a:t>
            </a:r>
            <a:r>
              <a:rPr altLang="en-US" sz="2000" dirty="0"/>
              <a:t>安全软件开发生命周期</a:t>
            </a:r>
          </a:p>
        </p:txBody>
      </p:sp>
      <p:sp>
        <p:nvSpPr>
          <p:cNvPr id="11" name="标题 1"/>
          <p:cNvSpPr txBox="1"/>
          <p:nvPr/>
        </p:nvSpPr>
        <p:spPr bwMode="auto">
          <a:xfrm>
            <a:off x="214282" y="500048"/>
            <a:ext cx="3429024"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9.3.1 </a:t>
            </a:r>
            <a:r>
              <a:rPr altLang="en-US" sz="2000" dirty="0"/>
              <a:t>传统软件开发生命周期</a:t>
            </a:r>
          </a:p>
        </p:txBody>
      </p:sp>
      <p:sp>
        <p:nvSpPr>
          <p:cNvPr id="39942" name="矩形 5"/>
          <p:cNvSpPr>
            <a:spLocks noChangeArrowheads="1"/>
          </p:cNvSpPr>
          <p:nvPr/>
        </p:nvSpPr>
        <p:spPr bwMode="auto">
          <a:xfrm>
            <a:off x="1692275" y="1203325"/>
            <a:ext cx="5472113" cy="1152525"/>
          </a:xfrm>
          <a:prstGeom prst="rect">
            <a:avLst/>
          </a:prstGeom>
          <a:noFill/>
          <a:ln w="38100"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6629"/>
                                        </p:tgtEl>
                                        <p:attrNameLst>
                                          <p:attrName>style.visibility</p:attrName>
                                        </p:attrNameLst>
                                      </p:cBhvr>
                                      <p:to>
                                        <p:strVal val="visible"/>
                                      </p:to>
                                    </p:set>
                                    <p:animEffect transition="in" filter="fade">
                                      <p:cBhvr>
                                        <p:cTn id="7" dur="500"/>
                                        <p:tgtEl>
                                          <p:spTgt spid="26629"/>
                                        </p:tgtEl>
                                      </p:cBhvr>
                                    </p:animEffect>
                                    <p:anim calcmode="lin" valueType="num">
                                      <p:cBhvr>
                                        <p:cTn id="8" dur="500" fill="hold"/>
                                        <p:tgtEl>
                                          <p:spTgt spid="26629"/>
                                        </p:tgtEl>
                                        <p:attrNameLst>
                                          <p:attrName>ppt_x</p:attrName>
                                        </p:attrNameLst>
                                      </p:cBhvr>
                                      <p:tavLst>
                                        <p:tav tm="0">
                                          <p:val>
                                            <p:strVal val="#ppt_x"/>
                                          </p:val>
                                        </p:tav>
                                        <p:tav tm="100000">
                                          <p:val>
                                            <p:strVal val="#ppt_x"/>
                                          </p:val>
                                        </p:tav>
                                      </p:tavLst>
                                    </p:anim>
                                    <p:anim calcmode="lin" valueType="num">
                                      <p:cBhvr>
                                        <p:cTn id="9" dur="500" fill="hold"/>
                                        <p:tgtEl>
                                          <p:spTgt spid="26629"/>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6627">
                                            <p:txEl>
                                              <p:pRg st="0" end="0"/>
                                            </p:txEl>
                                          </p:spTgt>
                                        </p:tgtEl>
                                        <p:attrNameLst>
                                          <p:attrName>style.visibility</p:attrName>
                                        </p:attrNameLst>
                                      </p:cBhvr>
                                      <p:to>
                                        <p:strVal val="visible"/>
                                      </p:to>
                                    </p:set>
                                    <p:animEffect transition="in" filter="fade">
                                      <p:cBhvr>
                                        <p:cTn id="12" dur="500"/>
                                        <p:tgtEl>
                                          <p:spTgt spid="26627">
                                            <p:txEl>
                                              <p:pRg st="0" end="0"/>
                                            </p:txEl>
                                          </p:spTgt>
                                        </p:tgtEl>
                                      </p:cBhvr>
                                    </p:animEffect>
                                    <p:anim calcmode="lin" valueType="num">
                                      <p:cBhvr>
                                        <p:cTn id="13"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p:cTn id="14" dur="500" fill="hold"/>
                                        <p:tgtEl>
                                          <p:spTgt spid="2662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285750" y="1143000"/>
            <a:ext cx="8715375" cy="3143250"/>
          </a:xfrm>
        </p:spPr>
        <p:txBody>
          <a:bodyPr/>
          <a:lstStyle/>
          <a:p>
            <a:pPr>
              <a:buFont typeface="Wingdings" panose="05000000000000000000" pitchFamily="2" charset="2"/>
              <a:buNone/>
              <a:defRPr/>
            </a:pPr>
            <a:r>
              <a:rPr lang="zh-CN" altLang="en-US" sz="1800" b="1" dirty="0">
                <a:solidFill>
                  <a:schemeClr val="bg2">
                    <a:lumMod val="25000"/>
                  </a:schemeClr>
                </a:solidFill>
              </a:rPr>
              <a:t>原型模型优点：</a:t>
            </a:r>
          </a:p>
          <a:p>
            <a:pPr indent="-107950">
              <a:buFont typeface="Wingdings" panose="05000000000000000000" pitchFamily="2" charset="2"/>
              <a:buChar char="Ø"/>
              <a:defRPr/>
            </a:pPr>
            <a:r>
              <a:rPr lang="zh-CN" altLang="en-US" b="1" dirty="0"/>
              <a:t>原型模型让</a:t>
            </a:r>
            <a:r>
              <a:rPr lang="zh-CN" altLang="en-US" b="1" u="sng" dirty="0"/>
              <a:t>用户有机会实践系统的基本功能</a:t>
            </a:r>
            <a:r>
              <a:rPr lang="zh-CN" altLang="en-US" b="1" dirty="0"/>
              <a:t>，因而可以对不尽合理的内容提出修改意见和建议。</a:t>
            </a:r>
          </a:p>
          <a:p>
            <a:pPr indent="-107950">
              <a:buFont typeface="Wingdings" panose="05000000000000000000" pitchFamily="2" charset="2"/>
              <a:buChar char="Ø"/>
              <a:defRPr/>
            </a:pPr>
            <a:r>
              <a:rPr lang="zh-CN" altLang="en-US" b="1" u="sng" dirty="0"/>
              <a:t>使开发者和用户充分交流</a:t>
            </a:r>
            <a:r>
              <a:rPr lang="zh-CN" altLang="en-US" b="1" dirty="0"/>
              <a:t>，对一些模糊需求也能够处理。</a:t>
            </a:r>
          </a:p>
          <a:p>
            <a:pPr indent="-107950">
              <a:buFont typeface="Wingdings" panose="05000000000000000000" pitchFamily="2" charset="2"/>
              <a:buChar char="Ø"/>
              <a:defRPr/>
            </a:pPr>
            <a:r>
              <a:rPr lang="zh-CN" altLang="en-US" b="1" dirty="0"/>
              <a:t>开发人员通过建立原型模型对系统有了更深层次的理解，有助于软件的开发工作顺利进行。</a:t>
            </a:r>
          </a:p>
          <a:p>
            <a:pPr indent="-107950">
              <a:buFont typeface="Wingdings" panose="05000000000000000000" pitchFamily="2" charset="2"/>
              <a:buChar char="Ø"/>
              <a:defRPr/>
            </a:pPr>
            <a:r>
              <a:rPr lang="zh-CN" altLang="en-US" b="1" dirty="0"/>
              <a:t>用户在使用原型模型时已经对系统有了初步了解，建立模型的过程也相当是用户的一个学习软件的过程。</a:t>
            </a:r>
          </a:p>
          <a:p>
            <a:pPr indent="-107950">
              <a:buFont typeface="Wingdings" panose="05000000000000000000" pitchFamily="2" charset="2"/>
              <a:buChar char="Ø"/>
              <a:defRPr/>
            </a:pPr>
            <a:r>
              <a:rPr lang="zh-CN" altLang="en-US" b="1" dirty="0"/>
              <a:t>适合人机界面的，用户通过交互界面的内容，能够提出有关操作、功能上的建议。</a:t>
            </a:r>
            <a:endParaRPr lang="en-US" altLang="zh-CN" b="1" dirty="0"/>
          </a:p>
          <a:p>
            <a:pPr>
              <a:buNone/>
              <a:defRPr/>
            </a:pPr>
            <a:r>
              <a:rPr lang="zh-CN" altLang="en-US" b="1" dirty="0">
                <a:solidFill>
                  <a:schemeClr val="bg2">
                    <a:lumMod val="25000"/>
                  </a:schemeClr>
                </a:solidFill>
              </a:rPr>
              <a:t>原型模型存在的问题：</a:t>
            </a:r>
            <a:r>
              <a:rPr lang="zh-CN" altLang="en-US" b="1" dirty="0"/>
              <a:t>一般适用于</a:t>
            </a:r>
            <a:r>
              <a:rPr lang="zh-CN" altLang="en-US" b="1" u="sng" dirty="0">
                <a:effectLst>
                  <a:outerShdw blurRad="38100" dist="38100" dir="2700000" algn="tl">
                    <a:srgbClr val="000000">
                      <a:alpha val="43137"/>
                    </a:srgbClr>
                  </a:outerShdw>
                </a:effectLst>
              </a:rPr>
              <a:t>中小型的定制系统</a:t>
            </a:r>
            <a:r>
              <a:rPr lang="zh-CN" altLang="en-US" b="1" dirty="0"/>
              <a:t>的开发过程中。</a:t>
            </a:r>
          </a:p>
          <a:p>
            <a:pPr marL="0" indent="-107950">
              <a:defRPr/>
            </a:pPr>
            <a:endParaRPr lang="en-US" altLang="zh-CN" b="1" dirty="0"/>
          </a:p>
          <a:p>
            <a:pPr marL="0" indent="0">
              <a:buFont typeface="Wingdings" panose="05000000000000000000" pitchFamily="2" charset="2"/>
              <a:buNone/>
              <a:defRPr/>
            </a:pPr>
            <a:endParaRPr lang="en-US" altLang="zh-CN" sz="1400" b="1" dirty="0"/>
          </a:p>
          <a:p>
            <a:pPr marL="0" indent="0">
              <a:buFont typeface="Wingdings" panose="05000000000000000000" pitchFamily="2" charset="2"/>
              <a:buNone/>
              <a:defRPr/>
            </a:pPr>
            <a:endParaRPr lang="en-US" altLang="zh-CN" sz="1400" b="1" dirty="0"/>
          </a:p>
          <a:p>
            <a:pPr marL="0" indent="0">
              <a:buFont typeface="Wingdings" panose="05000000000000000000" pitchFamily="2" charset="2"/>
              <a:buNone/>
              <a:defRPr/>
            </a:pPr>
            <a:endParaRPr lang="en-US" altLang="zh-CN" sz="1400" b="1" dirty="0"/>
          </a:p>
          <a:p>
            <a:pPr marL="0" indent="0">
              <a:buFont typeface="Wingdings" panose="05000000000000000000" pitchFamily="2" charset="2"/>
              <a:buNone/>
              <a:defRPr/>
            </a:pPr>
            <a:endParaRPr lang="en-US" altLang="zh-CN" sz="1400" b="1" dirty="0"/>
          </a:p>
          <a:p>
            <a:pPr marL="0" indent="0">
              <a:buFont typeface="Wingdings" panose="05000000000000000000" pitchFamily="2" charset="2"/>
              <a:buNone/>
              <a:defRPr/>
            </a:pPr>
            <a:endParaRPr lang="en-US" altLang="zh-CN" sz="1400" b="1" dirty="0"/>
          </a:p>
          <a:p>
            <a:pPr marL="0" indent="0">
              <a:buFont typeface="Wingdings" panose="05000000000000000000" pitchFamily="2" charset="2"/>
              <a:buNone/>
              <a:defRPr/>
            </a:pPr>
            <a:endParaRPr lang="en-US" altLang="zh-CN" sz="1400" b="1" dirty="0"/>
          </a:p>
        </p:txBody>
      </p:sp>
      <p:sp>
        <p:nvSpPr>
          <p:cNvPr id="7" name="标题 1"/>
          <p:cNvSpPr txBox="1"/>
          <p:nvPr/>
        </p:nvSpPr>
        <p:spPr bwMode="auto">
          <a:xfrm>
            <a:off x="5643570" y="142858"/>
            <a:ext cx="3280522"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 </a:t>
            </a:r>
            <a:r>
              <a:rPr altLang="en-US" sz="2000" dirty="0"/>
              <a:t>安全软件开发生命周期</a:t>
            </a:r>
          </a:p>
        </p:txBody>
      </p:sp>
      <p:sp>
        <p:nvSpPr>
          <p:cNvPr id="8" name="标题 1"/>
          <p:cNvSpPr txBox="1"/>
          <p:nvPr/>
        </p:nvSpPr>
        <p:spPr bwMode="auto">
          <a:xfrm>
            <a:off x="214282" y="500048"/>
            <a:ext cx="3429024"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9.3.1 </a:t>
            </a:r>
            <a:r>
              <a:rPr altLang="en-US" sz="2000" dirty="0"/>
              <a:t>传统软件开发生命周期</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fade">
                                      <p:cBhvr>
                                        <p:cTn id="12" dur="500"/>
                                        <p:tgtEl>
                                          <p:spTgt spid="9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fade">
                                      <p:cBhvr>
                                        <p:cTn id="17" dur="500"/>
                                        <p:tgtEl>
                                          <p:spTgt spid="92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19">
                                            <p:txEl>
                                              <p:pRg st="3" end="3"/>
                                            </p:txEl>
                                          </p:spTgt>
                                        </p:tgtEl>
                                        <p:attrNameLst>
                                          <p:attrName>style.visibility</p:attrName>
                                        </p:attrNameLst>
                                      </p:cBhvr>
                                      <p:to>
                                        <p:strVal val="visible"/>
                                      </p:to>
                                    </p:set>
                                    <p:animEffect transition="in" filter="fade">
                                      <p:cBhvr>
                                        <p:cTn id="22" dur="500"/>
                                        <p:tgtEl>
                                          <p:spTgt spid="92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219">
                                            <p:txEl>
                                              <p:pRg st="4" end="4"/>
                                            </p:txEl>
                                          </p:spTgt>
                                        </p:tgtEl>
                                        <p:attrNameLst>
                                          <p:attrName>style.visibility</p:attrName>
                                        </p:attrNameLst>
                                      </p:cBhvr>
                                      <p:to>
                                        <p:strVal val="visible"/>
                                      </p:to>
                                    </p:set>
                                    <p:animEffect transition="in" filter="fade">
                                      <p:cBhvr>
                                        <p:cTn id="27" dur="500"/>
                                        <p:tgtEl>
                                          <p:spTgt spid="92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219">
                                            <p:txEl>
                                              <p:pRg st="5" end="5"/>
                                            </p:txEl>
                                          </p:spTgt>
                                        </p:tgtEl>
                                        <p:attrNameLst>
                                          <p:attrName>style.visibility</p:attrName>
                                        </p:attrNameLst>
                                      </p:cBhvr>
                                      <p:to>
                                        <p:strVal val="visible"/>
                                      </p:to>
                                    </p:set>
                                    <p:animEffect transition="in" filter="fade">
                                      <p:cBhvr>
                                        <p:cTn id="32" dur="500"/>
                                        <p:tgtEl>
                                          <p:spTgt spid="92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285750" y="571500"/>
            <a:ext cx="8501063" cy="4071938"/>
          </a:xfrm>
        </p:spPr>
        <p:txBody>
          <a:bodyPr/>
          <a:lstStyle/>
          <a:p>
            <a:pPr marL="0" indent="0">
              <a:buFont typeface="Wingdings" panose="05000000000000000000" pitchFamily="2" charset="2"/>
              <a:buNone/>
              <a:defRPr/>
            </a:pPr>
            <a:endParaRPr lang="en-US" altLang="zh-CN" sz="1400" b="1" dirty="0"/>
          </a:p>
          <a:p>
            <a:pPr>
              <a:buFont typeface="Wingdings" panose="05000000000000000000" pitchFamily="2" charset="2"/>
              <a:buNone/>
              <a:defRPr/>
            </a:pPr>
            <a:r>
              <a:rPr lang="en-US" altLang="zh-CN" sz="1800" b="1" dirty="0">
                <a:solidFill>
                  <a:schemeClr val="accent6"/>
                </a:solidFill>
              </a:rPr>
              <a:t>3. </a:t>
            </a:r>
            <a:r>
              <a:rPr lang="zh-CN" altLang="zh-CN" sz="1800" b="1" dirty="0">
                <a:solidFill>
                  <a:schemeClr val="accent6"/>
                </a:solidFill>
              </a:rPr>
              <a:t>渐进模型</a:t>
            </a:r>
          </a:p>
          <a:p>
            <a:pPr indent="-107950">
              <a:buFont typeface="Wingdings" panose="05000000000000000000" pitchFamily="2" charset="2"/>
              <a:buChar char="Ø"/>
              <a:defRPr/>
            </a:pPr>
            <a:r>
              <a:rPr lang="zh-CN" altLang="zh-CN" b="1" dirty="0">
                <a:solidFill>
                  <a:schemeClr val="bg2">
                    <a:lumMod val="25000"/>
                  </a:schemeClr>
                </a:solidFill>
              </a:rPr>
              <a:t>目的</a:t>
            </a:r>
            <a:r>
              <a:rPr lang="zh-CN" altLang="en-US" b="1" dirty="0">
                <a:solidFill>
                  <a:schemeClr val="bg2">
                    <a:lumMod val="25000"/>
                  </a:schemeClr>
                </a:solidFill>
              </a:rPr>
              <a:t>：</a:t>
            </a:r>
            <a:r>
              <a:rPr lang="zh-CN" altLang="en-US" b="1" dirty="0">
                <a:solidFill>
                  <a:srgbClr val="0033CC"/>
                </a:solidFill>
              </a:rPr>
              <a:t>开发人员</a:t>
            </a:r>
            <a:r>
              <a:rPr lang="zh-CN" altLang="zh-CN" b="1" dirty="0"/>
              <a:t>和</a:t>
            </a:r>
            <a:r>
              <a:rPr lang="zh-CN" altLang="zh-CN" b="1" dirty="0">
                <a:solidFill>
                  <a:srgbClr val="0033CC"/>
                </a:solidFill>
              </a:rPr>
              <a:t>客户</a:t>
            </a:r>
            <a:r>
              <a:rPr lang="zh-CN" altLang="zh-CN" b="1" dirty="0"/>
              <a:t>一起工作，从最初的大概的需求说明演化出最终的系统。抛出原型的目的是逐渐理解需求，没必要一次性完全理解需求，如</a:t>
            </a:r>
            <a:r>
              <a:rPr lang="zh-CN" altLang="en-US" b="1" dirty="0"/>
              <a:t>下图</a:t>
            </a:r>
            <a:r>
              <a:rPr lang="zh-CN" altLang="zh-CN" b="1" dirty="0"/>
              <a:t>所示。</a:t>
            </a:r>
          </a:p>
          <a:p>
            <a:pPr marL="0" indent="0">
              <a:buFont typeface="Wingdings" panose="05000000000000000000" pitchFamily="2" charset="2"/>
              <a:buNone/>
              <a:defRPr/>
            </a:pPr>
            <a:endParaRPr lang="en-US" altLang="zh-CN" b="1" dirty="0"/>
          </a:p>
          <a:p>
            <a:pPr marL="0" indent="0">
              <a:buFont typeface="Wingdings" panose="05000000000000000000" pitchFamily="2" charset="2"/>
              <a:buNone/>
              <a:defRPr/>
            </a:pPr>
            <a:endParaRPr lang="en-US" altLang="zh-CN" sz="1400" b="1" dirty="0"/>
          </a:p>
          <a:p>
            <a:pPr marL="0" indent="0">
              <a:buFont typeface="Wingdings" panose="05000000000000000000" pitchFamily="2" charset="2"/>
              <a:buNone/>
              <a:defRPr/>
            </a:pPr>
            <a:endParaRPr lang="en-US" altLang="zh-CN" sz="1400" b="1" dirty="0"/>
          </a:p>
          <a:p>
            <a:pPr marL="0" indent="0">
              <a:buFont typeface="Wingdings" panose="05000000000000000000" pitchFamily="2" charset="2"/>
              <a:buNone/>
              <a:defRPr/>
            </a:pPr>
            <a:endParaRPr lang="en-US" altLang="zh-CN" sz="1400" b="1" dirty="0"/>
          </a:p>
          <a:p>
            <a:pPr marL="0" indent="0" algn="ctr">
              <a:buFont typeface="Wingdings" panose="05000000000000000000" pitchFamily="2" charset="2"/>
              <a:buNone/>
              <a:defRPr/>
            </a:pPr>
            <a:r>
              <a:rPr lang="zh-CN" altLang="en-US" sz="1400" b="1" dirty="0"/>
              <a:t>渐进模型</a:t>
            </a:r>
          </a:p>
          <a:p>
            <a:pPr indent="-107950">
              <a:buFont typeface="Wingdings" panose="05000000000000000000" pitchFamily="2" charset="2"/>
              <a:buChar char="Ø"/>
              <a:defRPr/>
            </a:pPr>
            <a:r>
              <a:rPr lang="zh-CN" altLang="en-US" b="1" dirty="0">
                <a:solidFill>
                  <a:schemeClr val="bg2">
                    <a:lumMod val="25000"/>
                  </a:schemeClr>
                </a:solidFill>
              </a:rPr>
              <a:t>存在的问题：</a:t>
            </a:r>
            <a:r>
              <a:rPr lang="zh-CN" altLang="en-US" b="1" dirty="0"/>
              <a:t>缺乏过程的可见性，系统通常不能够很好地结构化。渐进模型的一般应用在</a:t>
            </a:r>
            <a:r>
              <a:rPr lang="zh-CN" altLang="en-US" b="1" u="sng" dirty="0"/>
              <a:t>中小型规模的交互式系统</a:t>
            </a:r>
            <a:r>
              <a:rPr lang="zh-CN" altLang="en-US" b="1" dirty="0"/>
              <a:t>或</a:t>
            </a:r>
            <a:r>
              <a:rPr lang="zh-CN" altLang="en-US" b="1" u="sng" dirty="0"/>
              <a:t>大型系统的一部分或生命周期较短的系统</a:t>
            </a:r>
            <a:r>
              <a:rPr lang="zh-CN" altLang="en-US" b="1" dirty="0"/>
              <a:t>。</a:t>
            </a:r>
          </a:p>
          <a:p>
            <a:pPr marL="0" indent="0">
              <a:buFont typeface="Wingdings" panose="05000000000000000000" pitchFamily="2" charset="2"/>
              <a:buNone/>
              <a:defRPr/>
            </a:pPr>
            <a:endParaRPr lang="en-US" altLang="zh-CN" sz="1400" b="1" dirty="0"/>
          </a:p>
          <a:p>
            <a:pPr marL="0" indent="0">
              <a:buFont typeface="Wingdings" panose="05000000000000000000" pitchFamily="2" charset="2"/>
              <a:buNone/>
              <a:defRPr/>
            </a:pPr>
            <a:endParaRPr lang="en-US" altLang="zh-CN" sz="1400" b="1" dirty="0"/>
          </a:p>
          <a:p>
            <a:pPr marL="0" indent="0">
              <a:buFont typeface="Wingdings" panose="05000000000000000000" pitchFamily="2" charset="2"/>
              <a:buNone/>
              <a:defRPr/>
            </a:pPr>
            <a:endParaRPr lang="en-US" altLang="zh-CN" sz="1400" b="1" dirty="0"/>
          </a:p>
        </p:txBody>
      </p:sp>
      <p:pic>
        <p:nvPicPr>
          <p:cNvPr id="41987"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57375" y="2071688"/>
            <a:ext cx="515937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标题 1"/>
          <p:cNvSpPr txBox="1"/>
          <p:nvPr/>
        </p:nvSpPr>
        <p:spPr bwMode="auto">
          <a:xfrm>
            <a:off x="5643570" y="142858"/>
            <a:ext cx="3280522"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 </a:t>
            </a:r>
            <a:r>
              <a:rPr altLang="en-US" sz="2000" dirty="0"/>
              <a:t>安全软件开发生命周期</a:t>
            </a:r>
          </a:p>
        </p:txBody>
      </p:sp>
      <p:sp>
        <p:nvSpPr>
          <p:cNvPr id="9" name="标题 1"/>
          <p:cNvSpPr txBox="1"/>
          <p:nvPr/>
        </p:nvSpPr>
        <p:spPr bwMode="auto">
          <a:xfrm>
            <a:off x="214282" y="500048"/>
            <a:ext cx="3429024"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9.3.1 </a:t>
            </a:r>
            <a:r>
              <a:rPr altLang="en-US" sz="2000" dirty="0"/>
              <a:t>传统软件开发生命周期</a:t>
            </a:r>
          </a:p>
        </p:txBody>
      </p:sp>
    </p:spTree>
  </p:cSld>
  <p:clrMapOvr>
    <a:masterClrMapping/>
  </p:clrMapOvr>
  <p:transition spd="med">
    <p:randomBar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214313" y="928688"/>
            <a:ext cx="8929687" cy="3500437"/>
          </a:xfrm>
        </p:spPr>
        <p:txBody>
          <a:bodyPr/>
          <a:lstStyle/>
          <a:p>
            <a:pPr>
              <a:defRPr/>
            </a:pPr>
            <a:r>
              <a:rPr lang="zh-CN" altLang="en-US" b="1" dirty="0">
                <a:solidFill>
                  <a:srgbClr val="FF0000"/>
                </a:solidFill>
              </a:rPr>
              <a:t>安全软件的开发生命周期</a:t>
            </a:r>
            <a:r>
              <a:rPr lang="en-US" altLang="zh-CN" b="1" dirty="0"/>
              <a:t>(</a:t>
            </a:r>
            <a:r>
              <a:rPr lang="en-US" altLang="zh-CN" b="1" dirty="0">
                <a:solidFill>
                  <a:srgbClr val="FF0000"/>
                </a:solidFill>
              </a:rPr>
              <a:t>SSDL</a:t>
            </a:r>
            <a:r>
              <a:rPr lang="en-US" altLang="zh-CN" b="1" dirty="0"/>
              <a:t>)</a:t>
            </a:r>
            <a:r>
              <a:rPr lang="zh-CN" altLang="en-US" sz="1400" b="1" dirty="0"/>
              <a:t>通过软件开发的各个步骤来确保软件的安全性，其目标是确保安全的软件得以成功实现。通常由</a:t>
            </a:r>
            <a:r>
              <a:rPr lang="en-US" altLang="zh-CN" sz="1400" b="1" dirty="0"/>
              <a:t>5</a:t>
            </a:r>
            <a:r>
              <a:rPr lang="zh-CN" altLang="en-US" sz="1400" b="1" dirty="0"/>
              <a:t>个主要部分组成。</a:t>
            </a:r>
            <a:r>
              <a:rPr lang="en-US" altLang="zh-CN" sz="1400" b="1" dirty="0"/>
              <a:t>(</a:t>
            </a:r>
            <a:r>
              <a:rPr lang="zh-CN" altLang="en-US" sz="1400" b="1" dirty="0">
                <a:solidFill>
                  <a:srgbClr val="FF0000"/>
                </a:solidFill>
              </a:rPr>
              <a:t>与</a:t>
            </a:r>
            <a:r>
              <a:rPr lang="zh-CN" altLang="en-US" sz="1400" b="1" dirty="0">
                <a:solidFill>
                  <a:srgbClr val="0033CC"/>
                </a:solidFill>
              </a:rPr>
              <a:t>瀑布模型</a:t>
            </a:r>
            <a:r>
              <a:rPr lang="zh-CN" altLang="en-US" sz="1400" b="1" dirty="0">
                <a:solidFill>
                  <a:srgbClr val="FF0000"/>
                </a:solidFill>
              </a:rPr>
              <a:t>对应</a:t>
            </a:r>
            <a:r>
              <a:rPr lang="en-US" altLang="zh-CN" sz="1400" b="1" dirty="0"/>
              <a:t>)</a:t>
            </a:r>
            <a:endParaRPr lang="zh-CN" altLang="en-US" b="1" dirty="0"/>
          </a:p>
          <a:p>
            <a:pPr indent="-107950">
              <a:buFont typeface="Wingdings" panose="05000000000000000000" pitchFamily="2" charset="2"/>
              <a:buChar char="Ø"/>
              <a:defRPr/>
            </a:pPr>
            <a:r>
              <a:rPr lang="en-US" altLang="zh-CN" sz="1500" b="1" dirty="0">
                <a:solidFill>
                  <a:srgbClr val="0033CC"/>
                </a:solidFill>
              </a:rPr>
              <a:t>(1) </a:t>
            </a:r>
            <a:r>
              <a:rPr lang="zh-CN" altLang="en-US" sz="1500" b="1" dirty="0">
                <a:solidFill>
                  <a:srgbClr val="0033CC"/>
                </a:solidFill>
              </a:rPr>
              <a:t>安全原则、规则及规章。</a:t>
            </a:r>
            <a:r>
              <a:rPr lang="zh-CN" altLang="en-US" sz="1400" b="1" dirty="0"/>
              <a:t>通常被视为保护性需求。该阶段应创建一份</a:t>
            </a:r>
            <a:r>
              <a:rPr lang="zh-CN" altLang="en-US" sz="1400" b="1" dirty="0">
                <a:solidFill>
                  <a:srgbClr val="FF0000"/>
                </a:solidFill>
              </a:rPr>
              <a:t>系统范围内的通用规范</a:t>
            </a:r>
            <a:r>
              <a:rPr lang="zh-CN" altLang="en-US" sz="1400" b="1" dirty="0"/>
              <a:t>，在其中 </a:t>
            </a:r>
            <a:endParaRPr lang="en-US" altLang="zh-CN" sz="1400" b="1" dirty="0"/>
          </a:p>
          <a:p>
            <a:pPr indent="-107950">
              <a:buFont typeface="Wingdings" panose="05000000000000000000" pitchFamily="2" charset="2"/>
              <a:buNone/>
              <a:defRPr/>
            </a:pPr>
            <a:r>
              <a:rPr lang="en-US" altLang="zh-CN" sz="1400" b="1" dirty="0"/>
              <a:t> 			           </a:t>
            </a:r>
            <a:r>
              <a:rPr lang="zh-CN" altLang="en-US" sz="1400" b="1" dirty="0"/>
              <a:t>定义将应用到本系统的安全需求，此规范也可以通过特定的官方规章来定义。</a:t>
            </a:r>
            <a:endParaRPr lang="en-US" altLang="zh-CN" b="1" dirty="0"/>
          </a:p>
          <a:p>
            <a:pPr indent="-107950">
              <a:buFont typeface="Wingdings" panose="05000000000000000000" pitchFamily="2" charset="2"/>
              <a:buChar char="Ø"/>
              <a:defRPr/>
            </a:pPr>
            <a:r>
              <a:rPr lang="en-US" altLang="zh-CN" sz="1500" b="1" dirty="0">
                <a:solidFill>
                  <a:srgbClr val="0033CC"/>
                </a:solidFill>
              </a:rPr>
              <a:t>(2) </a:t>
            </a:r>
            <a:r>
              <a:rPr lang="zh-CN" altLang="en-US" sz="1500" b="1" dirty="0">
                <a:solidFill>
                  <a:srgbClr val="0033CC"/>
                </a:solidFill>
              </a:rPr>
              <a:t>安全需求工程。</a:t>
            </a:r>
            <a:r>
              <a:rPr lang="zh-CN" altLang="en-US" sz="1400" b="1" dirty="0"/>
              <a:t>这里通常是特定功能需求所需的</a:t>
            </a:r>
            <a:r>
              <a:rPr lang="zh-CN" altLang="en-US" sz="1400" b="1" dirty="0">
                <a:solidFill>
                  <a:srgbClr val="FF0000"/>
                </a:solidFill>
              </a:rPr>
              <a:t>特有安全需求</a:t>
            </a:r>
            <a:r>
              <a:rPr lang="zh-CN" altLang="en-US" sz="1400" b="1" dirty="0"/>
              <a:t>，这些安全需求</a:t>
            </a:r>
            <a:r>
              <a:rPr lang="zh-CN" altLang="en-US" sz="1400" b="1" dirty="0">
                <a:solidFill>
                  <a:srgbClr val="FF0000"/>
                </a:solidFill>
              </a:rPr>
              <a:t>有别于系统范围的安</a:t>
            </a:r>
            <a:endParaRPr lang="en-US" altLang="zh-CN" sz="1400" b="1" dirty="0">
              <a:solidFill>
                <a:srgbClr val="FF0000"/>
              </a:solidFill>
            </a:endParaRPr>
          </a:p>
          <a:p>
            <a:pPr indent="-107950">
              <a:buFont typeface="Wingdings" panose="05000000000000000000" pitchFamily="2" charset="2"/>
              <a:buNone/>
              <a:defRPr/>
            </a:pPr>
            <a:r>
              <a:rPr lang="en-US" altLang="zh-CN" sz="1400" b="1" dirty="0">
                <a:solidFill>
                  <a:srgbClr val="FF0000"/>
                </a:solidFill>
              </a:rPr>
              <a:t>		               </a:t>
            </a:r>
            <a:r>
              <a:rPr lang="zh-CN" altLang="en-US" sz="1400" b="1" dirty="0">
                <a:solidFill>
                  <a:srgbClr val="FF0000"/>
                </a:solidFill>
              </a:rPr>
              <a:t>全要略和安全规范</a:t>
            </a:r>
            <a:r>
              <a:rPr lang="zh-CN" altLang="en-US" sz="1400" b="1" dirty="0"/>
              <a:t>。同样，这种安全需求需要通过文档在项目起始的时候就定义下来。</a:t>
            </a:r>
            <a:endParaRPr lang="en-US" altLang="zh-CN" b="1" dirty="0"/>
          </a:p>
          <a:p>
            <a:pPr indent="-107950">
              <a:buFont typeface="Wingdings" panose="05000000000000000000" pitchFamily="2" charset="2"/>
              <a:buChar char="Ø"/>
              <a:defRPr/>
            </a:pPr>
            <a:r>
              <a:rPr lang="en-US" altLang="zh-CN" sz="1500" b="1" dirty="0">
                <a:solidFill>
                  <a:srgbClr val="0033CC"/>
                </a:solidFill>
              </a:rPr>
              <a:t>(3) </a:t>
            </a:r>
            <a:r>
              <a:rPr lang="zh-CN" altLang="en-US" sz="1500" b="1" dirty="0">
                <a:solidFill>
                  <a:srgbClr val="0033CC"/>
                </a:solidFill>
              </a:rPr>
              <a:t>架构和设计评审、</a:t>
            </a:r>
            <a:r>
              <a:rPr lang="zh-CN" altLang="en-US" sz="1500" b="1" u="sng" dirty="0">
                <a:solidFill>
                  <a:srgbClr val="FF0000"/>
                </a:solidFill>
              </a:rPr>
              <a:t>威胁建模</a:t>
            </a:r>
            <a:r>
              <a:rPr lang="zh-CN" altLang="en-US" sz="1500" b="1" dirty="0">
                <a:solidFill>
                  <a:srgbClr val="0033CC"/>
                </a:solidFill>
              </a:rPr>
              <a:t>。</a:t>
            </a:r>
            <a:r>
              <a:rPr lang="zh-CN" altLang="en-US" sz="1400" b="1" dirty="0"/>
              <a:t>软件的架构和设计应该被安全分析人员尽早评审，避免形成有安全</a:t>
            </a:r>
            <a:endParaRPr lang="en-US" altLang="zh-CN" sz="1400" b="1" dirty="0"/>
          </a:p>
          <a:p>
            <a:pPr indent="-107950">
              <a:buFont typeface="Wingdings" panose="05000000000000000000" pitchFamily="2" charset="2"/>
              <a:buNone/>
              <a:defRPr/>
            </a:pPr>
            <a:r>
              <a:rPr lang="en-US" altLang="zh-CN" sz="1400" b="1" dirty="0"/>
              <a:t>			                       </a:t>
            </a:r>
            <a:r>
              <a:rPr lang="zh-CN" altLang="en-US" sz="1400" b="1" dirty="0"/>
              <a:t>缺陷的体系结构和设计。</a:t>
            </a:r>
            <a:endParaRPr lang="en-US" altLang="zh-CN" b="1" dirty="0"/>
          </a:p>
          <a:p>
            <a:pPr indent="-107950">
              <a:buFont typeface="Wingdings" panose="05000000000000000000" pitchFamily="2" charset="2"/>
              <a:buChar char="Ø"/>
              <a:defRPr/>
            </a:pPr>
            <a:r>
              <a:rPr lang="en-US" altLang="zh-CN" sz="1500" b="1" dirty="0">
                <a:solidFill>
                  <a:srgbClr val="0033CC"/>
                </a:solidFill>
              </a:rPr>
              <a:t>(4)</a:t>
            </a:r>
            <a:r>
              <a:rPr lang="zh-CN" altLang="en-US" sz="1500" b="1" dirty="0">
                <a:solidFill>
                  <a:srgbClr val="0033CC"/>
                </a:solidFill>
              </a:rPr>
              <a:t>软件安全编码。</a:t>
            </a:r>
            <a:r>
              <a:rPr lang="zh-CN" altLang="en-US" sz="1400" b="1" dirty="0"/>
              <a:t>需要代码的实现者对软件漏洞和软件安全编码原则有所了解。（利用现成的密码库和系统安全机制、静态源码分析工具等）</a:t>
            </a:r>
            <a:endParaRPr lang="en-US" altLang="zh-CN" b="1" dirty="0"/>
          </a:p>
          <a:p>
            <a:pPr indent="-107950">
              <a:buFont typeface="Wingdings" panose="05000000000000000000" pitchFamily="2" charset="2"/>
              <a:buChar char="Ø"/>
              <a:defRPr/>
            </a:pPr>
            <a:r>
              <a:rPr lang="en-US" altLang="zh-CN" sz="1500" b="1" dirty="0">
                <a:solidFill>
                  <a:srgbClr val="0033CC"/>
                </a:solidFill>
              </a:rPr>
              <a:t>(5)</a:t>
            </a:r>
            <a:r>
              <a:rPr lang="zh-CN" altLang="en-US" sz="1500" b="1" dirty="0">
                <a:solidFill>
                  <a:srgbClr val="0033CC"/>
                </a:solidFill>
              </a:rPr>
              <a:t>软件安全测试。</a:t>
            </a:r>
            <a:r>
              <a:rPr lang="zh-CN" altLang="en-US" sz="1400" b="1" dirty="0"/>
              <a:t>包括白箱、黑箱、灰箱测试，软件渗透测试，</a:t>
            </a:r>
            <a:r>
              <a:rPr lang="zh-CN" altLang="en-US" sz="1400" b="1" dirty="0">
                <a:solidFill>
                  <a:srgbClr val="FF0000"/>
                </a:solidFill>
              </a:rPr>
              <a:t>基于风险的测试，判定漏洞可利用性</a:t>
            </a:r>
            <a:r>
              <a:rPr lang="zh-CN" altLang="en-US" sz="1400" b="1" dirty="0"/>
              <a:t>等。</a:t>
            </a:r>
          </a:p>
        </p:txBody>
      </p:sp>
      <p:sp>
        <p:nvSpPr>
          <p:cNvPr id="7" name="标题 1"/>
          <p:cNvSpPr txBox="1"/>
          <p:nvPr/>
        </p:nvSpPr>
        <p:spPr bwMode="auto">
          <a:xfrm>
            <a:off x="5643570" y="142858"/>
            <a:ext cx="3280522"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 </a:t>
            </a:r>
            <a:r>
              <a:rPr altLang="en-US" sz="2000" dirty="0"/>
              <a:t>安全软件开发生命周期</a:t>
            </a:r>
          </a:p>
        </p:txBody>
      </p:sp>
      <p:sp>
        <p:nvSpPr>
          <p:cNvPr id="8" name="标题 1"/>
          <p:cNvSpPr txBox="1"/>
          <p:nvPr/>
        </p:nvSpPr>
        <p:spPr bwMode="auto">
          <a:xfrm>
            <a:off x="214282" y="428610"/>
            <a:ext cx="3429024"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9.3.2 </a:t>
            </a:r>
            <a:r>
              <a:rPr altLang="en-US" sz="2000" dirty="0"/>
              <a:t>安全软件开发生命周期</a:t>
            </a:r>
          </a:p>
        </p:txBody>
      </p:sp>
    </p:spTree>
  </p:cSld>
  <p:clrMapOvr>
    <a:masterClrMapping/>
  </p:clrMapOvr>
  <p:transition spd="med">
    <p:randomBar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内容占位符 2"/>
          <p:cNvSpPr>
            <a:spLocks noGrp="1"/>
          </p:cNvSpPr>
          <p:nvPr>
            <p:ph idx="1"/>
          </p:nvPr>
        </p:nvSpPr>
        <p:spPr>
          <a:xfrm>
            <a:off x="214313" y="1428750"/>
            <a:ext cx="2786062" cy="2286000"/>
          </a:xfrm>
        </p:spPr>
        <p:txBody>
          <a:bodyPr/>
          <a:lstStyle/>
          <a:p>
            <a:r>
              <a:rPr lang="en-US" altLang="zh-CN" b="1" dirty="0">
                <a:solidFill>
                  <a:srgbClr val="0033CC"/>
                </a:solidFill>
              </a:rPr>
              <a:t>SSDL</a:t>
            </a:r>
            <a:r>
              <a:rPr lang="zh-CN" altLang="en-US" b="1" dirty="0"/>
              <a:t>与</a:t>
            </a:r>
            <a:r>
              <a:rPr lang="zh-CN" altLang="en-US" b="1" dirty="0">
                <a:solidFill>
                  <a:srgbClr val="0033CC"/>
                </a:solidFill>
              </a:rPr>
              <a:t>传统开发生命周期</a:t>
            </a:r>
            <a:r>
              <a:rPr lang="zh-CN" altLang="en-US" b="1" dirty="0"/>
              <a:t>的关系 </a:t>
            </a:r>
            <a:r>
              <a:rPr lang="en-US" altLang="zh-CN" b="1" dirty="0">
                <a:solidFill>
                  <a:srgbClr val="FF0000"/>
                </a:solidFill>
                <a:sym typeface="Wingdings" panose="05000000000000000000" pitchFamily="2" charset="2"/>
              </a:rPr>
              <a:t></a:t>
            </a:r>
            <a:r>
              <a:rPr lang="en-US" altLang="zh-CN" b="1" dirty="0">
                <a:sym typeface="Wingdings" panose="05000000000000000000" pitchFamily="2" charset="2"/>
              </a:rPr>
              <a:t> </a:t>
            </a:r>
            <a:r>
              <a:rPr lang="zh-CN" altLang="en-US" b="1" dirty="0">
                <a:solidFill>
                  <a:srgbClr val="0033CC"/>
                </a:solidFill>
              </a:rPr>
              <a:t>传统软件开发生命周期</a:t>
            </a:r>
            <a:r>
              <a:rPr lang="zh-CN" altLang="en-US" b="1" dirty="0"/>
              <a:t>在</a:t>
            </a:r>
            <a:r>
              <a:rPr lang="en-US" altLang="zh-CN" b="1" dirty="0">
                <a:solidFill>
                  <a:srgbClr val="0033CC"/>
                </a:solidFill>
              </a:rPr>
              <a:t>SSDL</a:t>
            </a:r>
            <a:r>
              <a:rPr lang="zh-CN" altLang="en-US" b="1" dirty="0"/>
              <a:t>的</a:t>
            </a:r>
            <a:r>
              <a:rPr lang="zh-CN" altLang="en-US" b="1" dirty="0">
                <a:solidFill>
                  <a:srgbClr val="FF0000"/>
                </a:solidFill>
              </a:rPr>
              <a:t>外面一层</a:t>
            </a:r>
            <a:r>
              <a:rPr lang="zh-CN" altLang="en-US" b="1" dirty="0"/>
              <a:t>呈现。</a:t>
            </a:r>
            <a:endParaRPr lang="en-US" altLang="zh-CN" b="1" dirty="0"/>
          </a:p>
          <a:p>
            <a:pPr>
              <a:buFont typeface="Wingdings" panose="05000000000000000000" pitchFamily="2" charset="2"/>
              <a:buChar char="l"/>
            </a:pPr>
            <a:endParaRPr lang="en-US" altLang="zh-CN" b="1" dirty="0"/>
          </a:p>
          <a:p>
            <a:pPr>
              <a:buFont typeface="Wingdings" panose="05000000000000000000" pitchFamily="2" charset="2"/>
              <a:buChar char="l"/>
            </a:pPr>
            <a:endParaRPr lang="en-US" altLang="zh-CN" b="1" dirty="0"/>
          </a:p>
          <a:p>
            <a:pPr>
              <a:buFont typeface="Wingdings" panose="05000000000000000000" pitchFamily="2" charset="2"/>
              <a:buChar char="l"/>
            </a:pPr>
            <a:endParaRPr lang="en-US" altLang="zh-CN" b="1" dirty="0"/>
          </a:p>
          <a:p>
            <a:pPr>
              <a:buFont typeface="Wingdings" panose="05000000000000000000" pitchFamily="2" charset="2"/>
              <a:buChar char="l"/>
            </a:pPr>
            <a:endParaRPr lang="en-US" altLang="zh-CN" b="1" dirty="0"/>
          </a:p>
        </p:txBody>
      </p:sp>
      <p:sp>
        <p:nvSpPr>
          <p:cNvPr id="8" name="标题 1"/>
          <p:cNvSpPr txBox="1"/>
          <p:nvPr/>
        </p:nvSpPr>
        <p:spPr bwMode="auto">
          <a:xfrm>
            <a:off x="5643570" y="142858"/>
            <a:ext cx="3280522"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 </a:t>
            </a:r>
            <a:r>
              <a:rPr altLang="en-US" sz="2000" dirty="0"/>
              <a:t>安全软件开发生命周期</a:t>
            </a:r>
          </a:p>
        </p:txBody>
      </p:sp>
      <p:sp>
        <p:nvSpPr>
          <p:cNvPr id="9" name="标题 1"/>
          <p:cNvSpPr txBox="1"/>
          <p:nvPr/>
        </p:nvSpPr>
        <p:spPr bwMode="auto">
          <a:xfrm>
            <a:off x="214282" y="500048"/>
            <a:ext cx="3429024" cy="560706"/>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9.3.2 </a:t>
            </a:r>
            <a:r>
              <a:rPr altLang="en-US" sz="2000" dirty="0"/>
              <a:t>安全软件开发生命周期</a:t>
            </a:r>
          </a:p>
        </p:txBody>
      </p:sp>
      <p:pic>
        <p:nvPicPr>
          <p:cNvPr id="44037"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43250" y="785813"/>
            <a:ext cx="4349750" cy="401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8" name="TextBox 5"/>
          <p:cNvSpPr txBox="1">
            <a:spLocks noChangeArrowheads="1"/>
          </p:cNvSpPr>
          <p:nvPr/>
        </p:nvSpPr>
        <p:spPr bwMode="auto">
          <a:xfrm>
            <a:off x="7456488" y="857250"/>
            <a:ext cx="615950"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400" b="1"/>
              <a:t>传统软件开发生命周期与安全软件开发生命周期间的关系</a:t>
            </a:r>
          </a:p>
        </p:txBody>
      </p:sp>
      <p:sp>
        <p:nvSpPr>
          <p:cNvPr id="44039" name="矩形 10"/>
          <p:cNvSpPr>
            <a:spLocks noChangeArrowheads="1"/>
          </p:cNvSpPr>
          <p:nvPr/>
        </p:nvSpPr>
        <p:spPr bwMode="auto">
          <a:xfrm>
            <a:off x="5867400" y="2139950"/>
            <a:ext cx="792163" cy="1223963"/>
          </a:xfrm>
          <a:prstGeom prst="rect">
            <a:avLst/>
          </a:prstGeom>
          <a:noFill/>
          <a:ln w="38100"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a:p>
        </p:txBody>
      </p:sp>
      <p:sp>
        <p:nvSpPr>
          <p:cNvPr id="44040" name="矩形 11"/>
          <p:cNvSpPr>
            <a:spLocks noChangeArrowheads="1"/>
          </p:cNvSpPr>
          <p:nvPr/>
        </p:nvSpPr>
        <p:spPr bwMode="auto">
          <a:xfrm>
            <a:off x="5292725" y="3363913"/>
            <a:ext cx="1366838" cy="647700"/>
          </a:xfrm>
          <a:prstGeom prst="rect">
            <a:avLst/>
          </a:prstGeom>
          <a:noFill/>
          <a:ln w="38100"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a:p>
        </p:txBody>
      </p:sp>
      <p:sp>
        <p:nvSpPr>
          <p:cNvPr id="44041" name="矩形 12"/>
          <p:cNvSpPr>
            <a:spLocks noChangeArrowheads="1"/>
          </p:cNvSpPr>
          <p:nvPr/>
        </p:nvSpPr>
        <p:spPr bwMode="auto">
          <a:xfrm>
            <a:off x="3924300" y="3363913"/>
            <a:ext cx="1368425" cy="647700"/>
          </a:xfrm>
          <a:prstGeom prst="rect">
            <a:avLst/>
          </a:prstGeom>
          <a:noFill/>
          <a:ln w="38100"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a:p>
        </p:txBody>
      </p:sp>
      <p:sp>
        <p:nvSpPr>
          <p:cNvPr id="44042" name="矩形 13"/>
          <p:cNvSpPr>
            <a:spLocks noChangeArrowheads="1"/>
          </p:cNvSpPr>
          <p:nvPr/>
        </p:nvSpPr>
        <p:spPr bwMode="auto">
          <a:xfrm>
            <a:off x="5292725" y="1492250"/>
            <a:ext cx="1366838" cy="647700"/>
          </a:xfrm>
          <a:prstGeom prst="rect">
            <a:avLst/>
          </a:prstGeom>
          <a:noFill/>
          <a:ln w="38100"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a:p>
        </p:txBody>
      </p:sp>
      <p:sp>
        <p:nvSpPr>
          <p:cNvPr id="44043" name="矩形 14"/>
          <p:cNvSpPr>
            <a:spLocks noChangeArrowheads="1"/>
          </p:cNvSpPr>
          <p:nvPr/>
        </p:nvSpPr>
        <p:spPr bwMode="auto">
          <a:xfrm>
            <a:off x="3924300" y="1492250"/>
            <a:ext cx="1368425" cy="647700"/>
          </a:xfrm>
          <a:prstGeom prst="rect">
            <a:avLst/>
          </a:prstGeom>
          <a:noFill/>
          <a:ln w="38100"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a:p>
        </p:txBody>
      </p:sp>
      <p:sp>
        <p:nvSpPr>
          <p:cNvPr id="44044" name="矩形 15"/>
          <p:cNvSpPr>
            <a:spLocks noChangeArrowheads="1"/>
          </p:cNvSpPr>
          <p:nvPr/>
        </p:nvSpPr>
        <p:spPr bwMode="auto">
          <a:xfrm>
            <a:off x="3924300" y="2139950"/>
            <a:ext cx="792163" cy="1223963"/>
          </a:xfrm>
          <a:prstGeom prst="rect">
            <a:avLst/>
          </a:prstGeom>
          <a:noFill/>
          <a:ln w="38100"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a:p>
        </p:txBody>
      </p:sp>
    </p:spTree>
  </p:cSld>
  <p:clrMapOvr>
    <a:masterClrMapping/>
  </p:clrMapOvr>
  <p:transition spd="med">
    <p:randomBar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0169" y="500048"/>
            <a:ext cx="5614987" cy="857250"/>
          </a:xfrm>
        </p:spPr>
        <p:txBody>
          <a:bodyPr/>
          <a:lstStyle/>
          <a:p>
            <a:pPr>
              <a:defRPr/>
            </a:pPr>
            <a:r>
              <a:rPr altLang="en-US" sz="2800" dirty="0"/>
              <a:t>内容提纲</a:t>
            </a:r>
          </a:p>
        </p:txBody>
      </p:sp>
      <p:sp>
        <p:nvSpPr>
          <p:cNvPr id="46083" name="五边形 3"/>
          <p:cNvSpPr>
            <a:spLocks noChangeArrowheads="1"/>
          </p:cNvSpPr>
          <p:nvPr/>
        </p:nvSpPr>
        <p:spPr bwMode="auto">
          <a:xfrm rot="10800000">
            <a:off x="2286000" y="3357563"/>
            <a:ext cx="4071938" cy="428625"/>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46084" name="椭圆 4"/>
          <p:cNvSpPr>
            <a:spLocks noChangeArrowheads="1"/>
          </p:cNvSpPr>
          <p:nvPr/>
        </p:nvSpPr>
        <p:spPr bwMode="auto">
          <a:xfrm>
            <a:off x="2071688" y="3357563"/>
            <a:ext cx="428625" cy="428625"/>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46085" name="TextBox 6"/>
          <p:cNvSpPr txBox="1">
            <a:spLocks noChangeArrowheads="1"/>
          </p:cNvSpPr>
          <p:nvPr/>
        </p:nvSpPr>
        <p:spPr bwMode="auto">
          <a:xfrm>
            <a:off x="3214688" y="3357563"/>
            <a:ext cx="2152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solidFill>
                  <a:srgbClr val="FF0000"/>
                </a:solidFill>
                <a:latin typeface="黑体" panose="02010609060101010101" pitchFamily="49" charset="-122"/>
                <a:ea typeface="黑体" panose="02010609060101010101" pitchFamily="49" charset="-122"/>
              </a:rPr>
              <a:t>恶意代码分析</a:t>
            </a:r>
          </a:p>
        </p:txBody>
      </p:sp>
      <p:grpSp>
        <p:nvGrpSpPr>
          <p:cNvPr id="46086" name="组合 8"/>
          <p:cNvGrpSpPr/>
          <p:nvPr/>
        </p:nvGrpSpPr>
        <p:grpSpPr bwMode="auto">
          <a:xfrm>
            <a:off x="2071688" y="2143125"/>
            <a:ext cx="4286250" cy="428625"/>
            <a:chOff x="571472" y="1142990"/>
            <a:chExt cx="4286280" cy="428628"/>
          </a:xfrm>
        </p:grpSpPr>
        <p:sp>
          <p:nvSpPr>
            <p:cNvPr id="46103" name="五边形 9"/>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46104" name="椭圆 10"/>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46105" name="TextBox 11"/>
            <p:cNvSpPr txBox="1">
              <a:spLocks noChangeArrowheads="1"/>
            </p:cNvSpPr>
            <p:nvPr/>
          </p:nvSpPr>
          <p:spPr bwMode="auto">
            <a:xfrm>
              <a:off x="1714480" y="1142990"/>
              <a:ext cx="2152664"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黑体" panose="02010609060101010101" pitchFamily="49" charset="-122"/>
                  <a:ea typeface="黑体" panose="02010609060101010101" pitchFamily="49" charset="-122"/>
                </a:rPr>
                <a:t>软件体系安全分析</a:t>
              </a:r>
            </a:p>
          </p:txBody>
        </p:sp>
      </p:grpSp>
      <p:grpSp>
        <p:nvGrpSpPr>
          <p:cNvPr id="46087" name="组合 12"/>
          <p:cNvGrpSpPr/>
          <p:nvPr/>
        </p:nvGrpSpPr>
        <p:grpSpPr bwMode="auto">
          <a:xfrm>
            <a:off x="2071688" y="2786063"/>
            <a:ext cx="4286250" cy="428625"/>
            <a:chOff x="571472" y="1142990"/>
            <a:chExt cx="4286280" cy="428628"/>
          </a:xfrm>
        </p:grpSpPr>
        <p:sp>
          <p:nvSpPr>
            <p:cNvPr id="46100" name="五边形 13"/>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46101" name="椭圆 14"/>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46102" name="TextBox 15"/>
            <p:cNvSpPr txBox="1">
              <a:spLocks noChangeArrowheads="1"/>
            </p:cNvSpPr>
            <p:nvPr/>
          </p:nvSpPr>
          <p:spPr bwMode="auto">
            <a:xfrm>
              <a:off x="1500154" y="1142991"/>
              <a:ext cx="2714653"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黑体" panose="02010609060101010101" pitchFamily="49" charset="-122"/>
                  <a:ea typeface="黑体" panose="02010609060101010101" pitchFamily="49" charset="-122"/>
                </a:rPr>
                <a:t>安全软件开发生命周期</a:t>
              </a:r>
            </a:p>
          </p:txBody>
        </p:sp>
      </p:grpSp>
      <p:grpSp>
        <p:nvGrpSpPr>
          <p:cNvPr id="46088" name="组合 16"/>
          <p:cNvGrpSpPr/>
          <p:nvPr/>
        </p:nvGrpSpPr>
        <p:grpSpPr bwMode="auto">
          <a:xfrm>
            <a:off x="2071688" y="1571625"/>
            <a:ext cx="4286250" cy="428625"/>
            <a:chOff x="571472" y="1142990"/>
            <a:chExt cx="4286280" cy="428628"/>
          </a:xfrm>
        </p:grpSpPr>
        <p:sp>
          <p:nvSpPr>
            <p:cNvPr id="46097" name="五边形 17"/>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46098" name="椭圆 18"/>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46099" name="TextBox 19"/>
            <p:cNvSpPr txBox="1">
              <a:spLocks noChangeArrowheads="1"/>
            </p:cNvSpPr>
            <p:nvPr/>
          </p:nvSpPr>
          <p:spPr bwMode="auto">
            <a:xfrm>
              <a:off x="1714470" y="1142995"/>
              <a:ext cx="2152664"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黑体" panose="02010609060101010101" pitchFamily="49" charset="-122"/>
                  <a:ea typeface="黑体" panose="02010609060101010101" pitchFamily="49" charset="-122"/>
                </a:rPr>
                <a:t>软件安全概述</a:t>
              </a:r>
            </a:p>
          </p:txBody>
        </p:sp>
      </p:grpSp>
      <p:grpSp>
        <p:nvGrpSpPr>
          <p:cNvPr id="46089" name="组合 20"/>
          <p:cNvGrpSpPr/>
          <p:nvPr/>
        </p:nvGrpSpPr>
        <p:grpSpPr bwMode="auto">
          <a:xfrm>
            <a:off x="2071688" y="3929063"/>
            <a:ext cx="4286250" cy="428625"/>
            <a:chOff x="571472" y="1142990"/>
            <a:chExt cx="4286280" cy="428628"/>
          </a:xfrm>
        </p:grpSpPr>
        <p:sp>
          <p:nvSpPr>
            <p:cNvPr id="46094" name="五边形 21"/>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46095" name="椭圆 22"/>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46096" name="TextBox 23"/>
            <p:cNvSpPr txBox="1">
              <a:spLocks noChangeArrowheads="1"/>
            </p:cNvSpPr>
            <p:nvPr/>
          </p:nvSpPr>
          <p:spPr bwMode="auto">
            <a:xfrm>
              <a:off x="1714480" y="1142990"/>
              <a:ext cx="2152664"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黑体" panose="02010609060101010101" pitchFamily="49" charset="-122"/>
                  <a:ea typeface="黑体" panose="02010609060101010101" pitchFamily="49" charset="-122"/>
                </a:rPr>
                <a:t>本章小结</a:t>
              </a:r>
            </a:p>
          </p:txBody>
        </p:sp>
      </p:grpSp>
      <p:sp>
        <p:nvSpPr>
          <p:cNvPr id="22" name="右大括号 21"/>
          <p:cNvSpPr/>
          <p:nvPr/>
        </p:nvSpPr>
        <p:spPr bwMode="auto">
          <a:xfrm>
            <a:off x="6443663" y="2284413"/>
            <a:ext cx="144462" cy="935037"/>
          </a:xfrm>
          <a:prstGeom prst="rightBrace">
            <a:avLst/>
          </a:prstGeom>
          <a:ln w="38100">
            <a:solidFill>
              <a:srgbClr val="FF0000"/>
            </a:solidFill>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wrap="none" anchor="ctr"/>
          <a:lstStyle/>
          <a:p>
            <a:pPr algn="ctr" eaLnBrk="1" hangingPunct="1">
              <a:defRPr/>
            </a:pPr>
            <a:endParaRPr lang="zh-CN" altLang="en-US" b="1" dirty="0">
              <a:latin typeface="Arial" panose="020B0604020202020204" pitchFamily="34" charset="0"/>
              <a:ea typeface="微软雅黑" panose="020B0503020204020204" pitchFamily="34" charset="-122"/>
            </a:endParaRPr>
          </a:p>
        </p:txBody>
      </p:sp>
      <p:sp>
        <p:nvSpPr>
          <p:cNvPr id="23" name="右大括号 22"/>
          <p:cNvSpPr/>
          <p:nvPr/>
        </p:nvSpPr>
        <p:spPr bwMode="auto">
          <a:xfrm>
            <a:off x="6443663" y="3406775"/>
            <a:ext cx="144462" cy="358775"/>
          </a:xfrm>
          <a:prstGeom prst="rightBrace">
            <a:avLst/>
          </a:prstGeom>
          <a:ln w="38100">
            <a:solidFill>
              <a:srgbClr val="FF0000"/>
            </a:solidFill>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wrap="none" anchor="ctr"/>
          <a:lstStyle/>
          <a:p>
            <a:pPr algn="ctr" eaLnBrk="1" hangingPunct="1">
              <a:defRPr/>
            </a:pPr>
            <a:endParaRPr lang="zh-CN" altLang="en-US" b="1" dirty="0">
              <a:latin typeface="Arial" panose="020B0604020202020204" pitchFamily="34" charset="0"/>
              <a:ea typeface="微软雅黑" panose="020B0503020204020204" pitchFamily="34" charset="-122"/>
            </a:endParaRPr>
          </a:p>
        </p:txBody>
      </p:sp>
      <p:sp>
        <p:nvSpPr>
          <p:cNvPr id="46092" name="矩形 23"/>
          <p:cNvSpPr>
            <a:spLocks noChangeArrowheads="1"/>
          </p:cNvSpPr>
          <p:nvPr/>
        </p:nvSpPr>
        <p:spPr bwMode="auto">
          <a:xfrm>
            <a:off x="6588125" y="2571750"/>
            <a:ext cx="1441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solidFill>
                  <a:srgbClr val="0033CC"/>
                </a:solidFill>
              </a:rPr>
              <a:t>构造安全的软件</a:t>
            </a:r>
            <a:endParaRPr lang="zh-CN" altLang="en-US" sz="1400"/>
          </a:p>
        </p:txBody>
      </p:sp>
      <p:sp>
        <p:nvSpPr>
          <p:cNvPr id="46093" name="矩形 24"/>
          <p:cNvSpPr>
            <a:spLocks noChangeArrowheads="1"/>
          </p:cNvSpPr>
          <p:nvPr/>
        </p:nvSpPr>
        <p:spPr bwMode="auto">
          <a:xfrm>
            <a:off x="6588125" y="3435350"/>
            <a:ext cx="2519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400" b="1">
                <a:solidFill>
                  <a:srgbClr val="0033CC"/>
                </a:solidFill>
              </a:rPr>
              <a:t>软件</a:t>
            </a:r>
            <a:r>
              <a:rPr lang="zh-CN" altLang="en-US" sz="1400" b="1">
                <a:solidFill>
                  <a:srgbClr val="0033CC"/>
                </a:solidFill>
              </a:rPr>
              <a:t>自身的</a:t>
            </a:r>
            <a:r>
              <a:rPr lang="zh-CN" altLang="zh-CN" sz="1400" b="1">
                <a:solidFill>
                  <a:srgbClr val="0033CC"/>
                </a:solidFill>
              </a:rPr>
              <a:t>安全</a:t>
            </a:r>
            <a:r>
              <a:rPr lang="zh-CN" altLang="en-US" sz="1400" b="1">
                <a:solidFill>
                  <a:srgbClr val="0033CC"/>
                </a:solidFill>
              </a:rPr>
              <a:t>性和恶意软件</a:t>
            </a:r>
            <a:endParaRPr lang="zh-CN" altLang="en-US" sz="1400"/>
          </a:p>
        </p:txBody>
      </p:sp>
    </p:spTree>
  </p:cSld>
  <p:clrMapOvr>
    <a:masterClrMapping/>
  </p:clrMapOvr>
  <p:transition spd="med">
    <p:randomBar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矩形 11"/>
          <p:cNvSpPr>
            <a:spLocks noChangeArrowheads="1"/>
          </p:cNvSpPr>
          <p:nvPr/>
        </p:nvSpPr>
        <p:spPr bwMode="auto">
          <a:xfrm>
            <a:off x="2713038" y="1500188"/>
            <a:ext cx="3730625"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5430" indent="-265430">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just">
              <a:lnSpc>
                <a:spcPct val="200000"/>
              </a:lnSpc>
              <a:buSzPct val="80000"/>
            </a:pPr>
            <a:r>
              <a:rPr lang="en-US" altLang="zh-CN" sz="2000" b="1">
                <a:latin typeface="Comic Sans MS" panose="030F0702030302020204" pitchFamily="66" charset="0"/>
                <a:ea typeface="黑体" panose="02010609060101010101" pitchFamily="49" charset="-122"/>
                <a:cs typeface="Arial" panose="020B0604020202020204" pitchFamily="34" charset="0"/>
              </a:rPr>
              <a:t>9.4.1  </a:t>
            </a:r>
            <a:r>
              <a:rPr lang="zh-CN" altLang="en-US" sz="2000" b="1">
                <a:solidFill>
                  <a:srgbClr val="0033CC"/>
                </a:solidFill>
                <a:latin typeface="Comic Sans MS" panose="030F0702030302020204" pitchFamily="66" charset="0"/>
                <a:ea typeface="黑体" panose="02010609060101010101" pitchFamily="49" charset="-122"/>
                <a:cs typeface="Arial" panose="020B0604020202020204" pitchFamily="34" charset="0"/>
              </a:rPr>
              <a:t>恶意软件的分类与区别</a:t>
            </a:r>
            <a:endParaRPr lang="en-US" altLang="zh-CN" sz="2000" b="1">
              <a:solidFill>
                <a:srgbClr val="0033CC"/>
              </a:solidFill>
              <a:latin typeface="Comic Sans MS" panose="030F0702030302020204" pitchFamily="66" charset="0"/>
              <a:ea typeface="黑体" panose="02010609060101010101" pitchFamily="49" charset="-122"/>
              <a:cs typeface="Arial" panose="020B0604020202020204" pitchFamily="34" charset="0"/>
            </a:endParaRPr>
          </a:p>
          <a:p>
            <a:pPr algn="just">
              <a:lnSpc>
                <a:spcPct val="200000"/>
              </a:lnSpc>
              <a:buSzPct val="80000"/>
            </a:pPr>
            <a:r>
              <a:rPr lang="en-US" altLang="zh-CN" sz="2000" b="1">
                <a:latin typeface="Comic Sans MS" panose="030F0702030302020204" pitchFamily="66" charset="0"/>
                <a:ea typeface="黑体" panose="02010609060101010101" pitchFamily="49" charset="-122"/>
                <a:cs typeface="Arial" panose="020B0604020202020204" pitchFamily="34" charset="0"/>
              </a:rPr>
              <a:t>9.4.2  </a:t>
            </a:r>
            <a:r>
              <a:rPr lang="zh-CN" altLang="en-US" sz="2000" b="1">
                <a:solidFill>
                  <a:srgbClr val="FF0000"/>
                </a:solidFill>
                <a:latin typeface="Comic Sans MS" panose="030F0702030302020204" pitchFamily="66" charset="0"/>
                <a:ea typeface="黑体" panose="02010609060101010101" pitchFamily="49" charset="-122"/>
                <a:cs typeface="Arial" panose="020B0604020202020204" pitchFamily="34" charset="0"/>
              </a:rPr>
              <a:t>病毒</a:t>
            </a:r>
            <a:r>
              <a:rPr lang="zh-CN" altLang="en-US" sz="2000" b="1">
                <a:latin typeface="Comic Sans MS" panose="030F0702030302020204" pitchFamily="66" charset="0"/>
                <a:ea typeface="黑体" panose="02010609060101010101" pitchFamily="49" charset="-122"/>
                <a:cs typeface="Arial" panose="020B0604020202020204" pitchFamily="34" charset="0"/>
              </a:rPr>
              <a:t>的机理与防治</a:t>
            </a:r>
            <a:endParaRPr lang="en-US" altLang="zh-CN" sz="2000" b="1">
              <a:latin typeface="Comic Sans MS" panose="030F0702030302020204" pitchFamily="66" charset="0"/>
              <a:ea typeface="黑体" panose="02010609060101010101" pitchFamily="49" charset="-122"/>
              <a:cs typeface="Arial" panose="020B0604020202020204" pitchFamily="34" charset="0"/>
            </a:endParaRPr>
          </a:p>
          <a:p>
            <a:pPr algn="just">
              <a:lnSpc>
                <a:spcPct val="200000"/>
              </a:lnSpc>
              <a:buSzPct val="80000"/>
            </a:pPr>
            <a:r>
              <a:rPr lang="en-US" altLang="zh-CN" sz="2000" b="1">
                <a:latin typeface="Comic Sans MS" panose="030F0702030302020204" pitchFamily="66" charset="0"/>
                <a:ea typeface="黑体" panose="02010609060101010101" pitchFamily="49" charset="-122"/>
                <a:cs typeface="Arial" panose="020B0604020202020204" pitchFamily="34" charset="0"/>
              </a:rPr>
              <a:t>9.4.2  </a:t>
            </a:r>
            <a:r>
              <a:rPr lang="zh-CN" altLang="en-US" sz="2000" b="1">
                <a:solidFill>
                  <a:srgbClr val="FF0000"/>
                </a:solidFill>
                <a:latin typeface="Comic Sans MS" panose="030F0702030302020204" pitchFamily="66" charset="0"/>
                <a:ea typeface="黑体" panose="02010609060101010101" pitchFamily="49" charset="-122"/>
                <a:cs typeface="Arial" panose="020B0604020202020204" pitchFamily="34" charset="0"/>
              </a:rPr>
              <a:t>蠕虫</a:t>
            </a:r>
            <a:r>
              <a:rPr lang="zh-CN" altLang="en-US" sz="2000" b="1">
                <a:latin typeface="Comic Sans MS" panose="030F0702030302020204" pitchFamily="66" charset="0"/>
                <a:ea typeface="黑体" panose="02010609060101010101" pitchFamily="49" charset="-122"/>
                <a:cs typeface="Arial" panose="020B0604020202020204" pitchFamily="34" charset="0"/>
              </a:rPr>
              <a:t>的机理与防治</a:t>
            </a:r>
            <a:endParaRPr lang="en-US" altLang="zh-CN" sz="2000" b="1">
              <a:latin typeface="Comic Sans MS" panose="030F0702030302020204" pitchFamily="66" charset="0"/>
              <a:ea typeface="黑体" panose="02010609060101010101" pitchFamily="49" charset="-122"/>
              <a:cs typeface="Arial" panose="020B0604020202020204" pitchFamily="34" charset="0"/>
            </a:endParaRPr>
          </a:p>
          <a:p>
            <a:pPr algn="just">
              <a:lnSpc>
                <a:spcPct val="200000"/>
              </a:lnSpc>
              <a:buSzPct val="80000"/>
            </a:pPr>
            <a:r>
              <a:rPr lang="en-US" altLang="zh-CN" sz="2000" b="1">
                <a:latin typeface="Comic Sans MS" panose="030F0702030302020204" pitchFamily="66" charset="0"/>
                <a:ea typeface="黑体" panose="02010609060101010101" pitchFamily="49" charset="-122"/>
                <a:cs typeface="Arial" panose="020B0604020202020204" pitchFamily="34" charset="0"/>
              </a:rPr>
              <a:t>9.4.3 </a:t>
            </a:r>
            <a:r>
              <a:rPr lang="en-US" altLang="zh-CN" sz="2000" b="1">
                <a:solidFill>
                  <a:srgbClr val="FF0000"/>
                </a:solidFill>
                <a:latin typeface="Comic Sans MS" panose="030F0702030302020204" pitchFamily="66" charset="0"/>
                <a:ea typeface="黑体" panose="02010609060101010101" pitchFamily="49" charset="-122"/>
                <a:cs typeface="Arial" panose="020B0604020202020204" pitchFamily="34" charset="0"/>
              </a:rPr>
              <a:t> </a:t>
            </a:r>
            <a:r>
              <a:rPr lang="zh-CN" altLang="en-US" sz="2000" b="1">
                <a:solidFill>
                  <a:srgbClr val="FF0000"/>
                </a:solidFill>
                <a:latin typeface="Comic Sans MS" panose="030F0702030302020204" pitchFamily="66" charset="0"/>
                <a:ea typeface="黑体" panose="02010609060101010101" pitchFamily="49" charset="-122"/>
                <a:cs typeface="Arial" panose="020B0604020202020204" pitchFamily="34" charset="0"/>
              </a:rPr>
              <a:t>木马</a:t>
            </a:r>
            <a:r>
              <a:rPr lang="zh-CN" altLang="en-US" sz="2000" b="1">
                <a:latin typeface="Comic Sans MS" panose="030F0702030302020204" pitchFamily="66" charset="0"/>
                <a:ea typeface="黑体" panose="02010609060101010101" pitchFamily="49" charset="-122"/>
                <a:cs typeface="Arial" panose="020B0604020202020204" pitchFamily="34" charset="0"/>
              </a:rPr>
              <a:t>的机理与防治</a:t>
            </a:r>
            <a:endParaRPr lang="en-US" altLang="zh-CN" sz="2000" b="1">
              <a:latin typeface="Comic Sans MS" panose="030F0702030302020204" pitchFamily="66" charset="0"/>
              <a:ea typeface="黑体" panose="02010609060101010101" pitchFamily="49" charset="-122"/>
              <a:cs typeface="Arial" panose="020B0604020202020204" pitchFamily="34" charset="0"/>
            </a:endParaRPr>
          </a:p>
        </p:txBody>
      </p:sp>
      <p:sp>
        <p:nvSpPr>
          <p:cNvPr id="4" name="标题 1"/>
          <p:cNvSpPr>
            <a:spLocks noGrp="1"/>
          </p:cNvSpPr>
          <p:nvPr>
            <p:ph type="title"/>
          </p:nvPr>
        </p:nvSpPr>
        <p:spPr>
          <a:xfrm>
            <a:off x="2714612" y="857238"/>
            <a:ext cx="3714776" cy="560706"/>
          </a:xfrm>
        </p:spPr>
        <p:txBody>
          <a:bodyPr/>
          <a:lstStyle/>
          <a:p>
            <a:pPr>
              <a:defRPr/>
            </a:pPr>
            <a:r>
              <a:rPr lang="en-US" dirty="0">
                <a:latin typeface="Cambria Math" panose="02040503050406030204" pitchFamily="18" charset="0"/>
                <a:ea typeface="Cambria Math" panose="02040503050406030204" pitchFamily="18" charset="0"/>
              </a:rPr>
              <a:t>9.4</a:t>
            </a:r>
            <a:r>
              <a:rPr lang="en-US" dirty="0"/>
              <a:t>   </a:t>
            </a:r>
            <a:r>
              <a:rPr altLang="en-US" dirty="0"/>
              <a:t>恶意代码分析</a:t>
            </a:r>
          </a:p>
        </p:txBody>
      </p:sp>
    </p:spTree>
  </p:cSld>
  <p:clrMapOvr>
    <a:masterClrMapping/>
  </p:clrMapOvr>
  <p:transition spd="med">
    <p:randomBar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标注 26"/>
          <p:cNvSpPr>
            <a:spLocks noChangeArrowheads="1"/>
          </p:cNvSpPr>
          <p:nvPr/>
        </p:nvSpPr>
        <p:spPr bwMode="auto">
          <a:xfrm>
            <a:off x="4787900" y="4638675"/>
            <a:ext cx="2879725" cy="504825"/>
          </a:xfrm>
          <a:prstGeom prst="wedgeRectCallout">
            <a:avLst>
              <a:gd name="adj1" fmla="val -25537"/>
              <a:gd name="adj2" fmla="val -169301"/>
            </a:avLst>
          </a:prstGeom>
          <a:solidFill>
            <a:srgbClr val="FFFF00"/>
          </a:solidFill>
          <a:ln w="952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400" b="1">
                <a:solidFill>
                  <a:srgbClr val="0033CC"/>
                </a:solidFill>
              </a:rPr>
              <a:t>病毒 </a:t>
            </a:r>
            <a:r>
              <a:rPr lang="en-US" altLang="zh-CN" sz="1400" b="1">
                <a:solidFill>
                  <a:srgbClr val="0033CC"/>
                </a:solidFill>
              </a:rPr>
              <a:t>&amp; </a:t>
            </a:r>
            <a:r>
              <a:rPr lang="zh-CN" altLang="en-US" sz="1400" b="1">
                <a:solidFill>
                  <a:srgbClr val="0033CC"/>
                </a:solidFill>
              </a:rPr>
              <a:t>蠕虫 </a:t>
            </a:r>
            <a:r>
              <a:rPr lang="zh-CN" altLang="en-US" sz="1400" b="1"/>
              <a:t>对应于生物学的：</a:t>
            </a:r>
            <a:endParaRPr lang="en-US" altLang="zh-CN" sz="1400" b="1"/>
          </a:p>
          <a:p>
            <a:pPr algn="ctr" eaLnBrk="1" hangingPunct="1"/>
            <a:r>
              <a:rPr lang="zh-CN" altLang="en-US" sz="1400" b="1">
                <a:solidFill>
                  <a:srgbClr val="FF0000"/>
                </a:solidFill>
              </a:rPr>
              <a:t>病毒 </a:t>
            </a:r>
            <a:r>
              <a:rPr lang="en-US" altLang="zh-CN" sz="1400" b="1">
                <a:solidFill>
                  <a:srgbClr val="FF0000"/>
                </a:solidFill>
              </a:rPr>
              <a:t>&amp; </a:t>
            </a:r>
            <a:r>
              <a:rPr lang="zh-CN" altLang="en-US" sz="1400" b="1">
                <a:solidFill>
                  <a:srgbClr val="FF0000"/>
                </a:solidFill>
              </a:rPr>
              <a:t>细菌 </a:t>
            </a:r>
            <a:r>
              <a:rPr lang="zh-CN" altLang="en-US" sz="1400" b="1"/>
              <a:t>的概念</a:t>
            </a:r>
          </a:p>
        </p:txBody>
      </p:sp>
      <p:sp>
        <p:nvSpPr>
          <p:cNvPr id="2" name="标题 1"/>
          <p:cNvSpPr>
            <a:spLocks noGrp="1"/>
          </p:cNvSpPr>
          <p:nvPr>
            <p:ph type="title"/>
          </p:nvPr>
        </p:nvSpPr>
        <p:spPr>
          <a:xfrm>
            <a:off x="6572264" y="142858"/>
            <a:ext cx="2423266" cy="560706"/>
          </a:xfrm>
        </p:spPr>
        <p:txBody>
          <a:bodyPr/>
          <a:lstStyle/>
          <a:p>
            <a:pPr>
              <a:defRPr/>
            </a:pPr>
            <a:r>
              <a:rPr lang="en-US" sz="2000" dirty="0"/>
              <a:t>9.4 </a:t>
            </a:r>
            <a:r>
              <a:rPr altLang="en-US" sz="2000" dirty="0"/>
              <a:t>恶意代码分析</a:t>
            </a:r>
          </a:p>
        </p:txBody>
      </p:sp>
      <p:sp>
        <p:nvSpPr>
          <p:cNvPr id="9219" name="内容占位符 2"/>
          <p:cNvSpPr>
            <a:spLocks noGrp="1"/>
          </p:cNvSpPr>
          <p:nvPr>
            <p:ph idx="1"/>
          </p:nvPr>
        </p:nvSpPr>
        <p:spPr>
          <a:xfrm>
            <a:off x="0" y="1000125"/>
            <a:ext cx="9144000" cy="1143000"/>
          </a:xfrm>
        </p:spPr>
        <p:txBody>
          <a:bodyPr/>
          <a:lstStyle/>
          <a:p>
            <a:pPr>
              <a:defRPr/>
            </a:pPr>
            <a:r>
              <a:rPr lang="zh-CN" altLang="en-US" b="1" dirty="0">
                <a:solidFill>
                  <a:srgbClr val="0033CC"/>
                </a:solidFill>
              </a:rPr>
              <a:t>恶意软件</a:t>
            </a:r>
            <a:r>
              <a:rPr lang="zh-CN" altLang="en-US" b="1" dirty="0"/>
              <a:t>，</a:t>
            </a:r>
            <a:r>
              <a:rPr lang="zh-CN" altLang="en-US" b="1" dirty="0">
                <a:solidFill>
                  <a:srgbClr val="FF0000"/>
                </a:solidFill>
              </a:rPr>
              <a:t>统称其</a:t>
            </a:r>
            <a:r>
              <a:rPr lang="zh-CN" altLang="en-US" b="1" dirty="0">
                <a:solidFill>
                  <a:srgbClr val="0033CC"/>
                </a:solidFill>
              </a:rPr>
              <a:t>行为损害系统用户和系统所有者利益的</a:t>
            </a:r>
            <a:r>
              <a:rPr lang="zh-CN" altLang="en-US" b="1" dirty="0">
                <a:solidFill>
                  <a:srgbClr val="FF0000"/>
                </a:solidFill>
              </a:rPr>
              <a:t>软件</a:t>
            </a:r>
            <a:r>
              <a:rPr lang="zh-CN" altLang="en-US" b="1" dirty="0"/>
              <a:t>，是</a:t>
            </a:r>
            <a:r>
              <a:rPr lang="zh-CN" altLang="en-US" b="1" dirty="0">
                <a:solidFill>
                  <a:srgbClr val="0033CC"/>
                </a:solidFill>
              </a:rPr>
              <a:t>故意在计算机系统上执行恶意任务的</a:t>
            </a:r>
            <a:r>
              <a:rPr lang="zh-CN" altLang="en-US" b="1" dirty="0">
                <a:solidFill>
                  <a:srgbClr val="FF0000"/>
                </a:solidFill>
              </a:rPr>
              <a:t>恶意代码的集合</a:t>
            </a:r>
            <a:r>
              <a:rPr lang="zh-CN" altLang="en-US" b="1" dirty="0"/>
              <a:t>。</a:t>
            </a:r>
          </a:p>
          <a:p>
            <a:pPr>
              <a:defRPr/>
            </a:pPr>
            <a:r>
              <a:rPr lang="zh-CN" altLang="en-US" b="1" dirty="0"/>
              <a:t>恶意软件大致分为两类，是从主机依赖的角度进行的分类。</a:t>
            </a:r>
            <a:endParaRPr lang="en-US" altLang="zh-CN" b="1" dirty="0"/>
          </a:p>
          <a:p>
            <a:pPr>
              <a:buFont typeface="Arial" panose="020B0604020202020204" pitchFamily="34" charset="0"/>
              <a:buChar char="•"/>
              <a:defRPr/>
            </a:pPr>
            <a:endParaRPr lang="en-US" altLang="zh-CN" b="1" dirty="0"/>
          </a:p>
          <a:p>
            <a:pPr marL="0" indent="0">
              <a:buFont typeface="Wingdings" panose="05000000000000000000" pitchFamily="2" charset="2"/>
              <a:buNone/>
              <a:defRPr/>
            </a:pPr>
            <a:endParaRPr lang="zh-CN" altLang="en-US" b="1" dirty="0"/>
          </a:p>
        </p:txBody>
      </p:sp>
      <p:sp>
        <p:nvSpPr>
          <p:cNvPr id="6" name="标题 1"/>
          <p:cNvSpPr txBox="1"/>
          <p:nvPr/>
        </p:nvSpPr>
        <p:spPr bwMode="auto">
          <a:xfrm>
            <a:off x="214282" y="642924"/>
            <a:ext cx="3429024"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9.4.1 </a:t>
            </a:r>
            <a:r>
              <a:rPr altLang="en-US" sz="2000" dirty="0"/>
              <a:t>恶意软件的分类与区别</a:t>
            </a:r>
          </a:p>
        </p:txBody>
      </p:sp>
      <p:grpSp>
        <p:nvGrpSpPr>
          <p:cNvPr id="48134" name="组合 44"/>
          <p:cNvGrpSpPr/>
          <p:nvPr/>
        </p:nvGrpSpPr>
        <p:grpSpPr bwMode="auto">
          <a:xfrm>
            <a:off x="2214563" y="2143125"/>
            <a:ext cx="4786312" cy="2451100"/>
            <a:chOff x="2714612" y="2143122"/>
            <a:chExt cx="4786346" cy="2450917"/>
          </a:xfrm>
        </p:grpSpPr>
        <p:sp>
          <p:nvSpPr>
            <p:cNvPr id="48138" name="矩形 6"/>
            <p:cNvSpPr>
              <a:spLocks noChangeArrowheads="1"/>
            </p:cNvSpPr>
            <p:nvPr/>
          </p:nvSpPr>
          <p:spPr bwMode="auto">
            <a:xfrm>
              <a:off x="4857752" y="2143122"/>
              <a:ext cx="1428760" cy="500066"/>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400" b="1"/>
                <a:t>恶意软件</a:t>
              </a:r>
            </a:p>
          </p:txBody>
        </p:sp>
        <p:sp>
          <p:nvSpPr>
            <p:cNvPr id="48139" name="矩形 7"/>
            <p:cNvSpPr>
              <a:spLocks noChangeArrowheads="1"/>
            </p:cNvSpPr>
            <p:nvPr/>
          </p:nvSpPr>
          <p:spPr bwMode="auto">
            <a:xfrm>
              <a:off x="3714744" y="2857502"/>
              <a:ext cx="1214446" cy="500066"/>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400" b="1">
                  <a:solidFill>
                    <a:srgbClr val="FF0000"/>
                  </a:solidFill>
                </a:rPr>
                <a:t>依赖主机程序</a:t>
              </a:r>
            </a:p>
          </p:txBody>
        </p:sp>
        <p:sp>
          <p:nvSpPr>
            <p:cNvPr id="48140" name="矩形 8"/>
            <p:cNvSpPr>
              <a:spLocks noChangeArrowheads="1"/>
            </p:cNvSpPr>
            <p:nvPr/>
          </p:nvSpPr>
          <p:spPr bwMode="auto">
            <a:xfrm>
              <a:off x="6143636" y="2857502"/>
              <a:ext cx="1357322" cy="500066"/>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400" b="1">
                  <a:solidFill>
                    <a:srgbClr val="FF0000"/>
                  </a:solidFill>
                </a:rPr>
                <a:t>独立于主机程序</a:t>
              </a:r>
            </a:p>
          </p:txBody>
        </p:sp>
        <p:sp>
          <p:nvSpPr>
            <p:cNvPr id="48141" name="矩形 9"/>
            <p:cNvSpPr>
              <a:spLocks noChangeArrowheads="1"/>
            </p:cNvSpPr>
            <p:nvPr/>
          </p:nvSpPr>
          <p:spPr bwMode="auto">
            <a:xfrm>
              <a:off x="2714612" y="3571882"/>
              <a:ext cx="642942" cy="500066"/>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400" b="1"/>
                <a:t>后门</a:t>
              </a:r>
            </a:p>
          </p:txBody>
        </p:sp>
        <p:sp>
          <p:nvSpPr>
            <p:cNvPr id="48142" name="矩形 10"/>
            <p:cNvSpPr>
              <a:spLocks noChangeArrowheads="1"/>
            </p:cNvSpPr>
            <p:nvPr/>
          </p:nvSpPr>
          <p:spPr bwMode="auto">
            <a:xfrm>
              <a:off x="3500430" y="3571882"/>
              <a:ext cx="785818" cy="500066"/>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400" b="1"/>
                <a:t>逻辑炸弹</a:t>
              </a:r>
            </a:p>
          </p:txBody>
        </p:sp>
        <p:sp>
          <p:nvSpPr>
            <p:cNvPr id="48143" name="矩形 11"/>
            <p:cNvSpPr>
              <a:spLocks noChangeArrowheads="1"/>
            </p:cNvSpPr>
            <p:nvPr/>
          </p:nvSpPr>
          <p:spPr bwMode="auto">
            <a:xfrm>
              <a:off x="4429124" y="3571882"/>
              <a:ext cx="642942" cy="500066"/>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400" b="1">
                  <a:solidFill>
                    <a:srgbClr val="0033CC"/>
                  </a:solidFill>
                </a:rPr>
                <a:t>木马</a:t>
              </a:r>
            </a:p>
          </p:txBody>
        </p:sp>
        <p:sp>
          <p:nvSpPr>
            <p:cNvPr id="48144" name="矩形 12"/>
            <p:cNvSpPr>
              <a:spLocks noChangeArrowheads="1"/>
            </p:cNvSpPr>
            <p:nvPr/>
          </p:nvSpPr>
          <p:spPr bwMode="auto">
            <a:xfrm>
              <a:off x="5214942" y="3571882"/>
              <a:ext cx="642942" cy="500066"/>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400" b="1">
                  <a:solidFill>
                    <a:srgbClr val="0033CC"/>
                  </a:solidFill>
                </a:rPr>
                <a:t>病毒</a:t>
              </a:r>
            </a:p>
          </p:txBody>
        </p:sp>
        <p:sp>
          <p:nvSpPr>
            <p:cNvPr id="48145" name="矩形 13"/>
            <p:cNvSpPr>
              <a:spLocks noChangeArrowheads="1"/>
            </p:cNvSpPr>
            <p:nvPr/>
          </p:nvSpPr>
          <p:spPr bwMode="auto">
            <a:xfrm>
              <a:off x="6072198" y="3571882"/>
              <a:ext cx="642942" cy="500066"/>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400" b="1">
                  <a:solidFill>
                    <a:srgbClr val="0033CC"/>
                  </a:solidFill>
                </a:rPr>
                <a:t>蠕虫</a:t>
              </a:r>
            </a:p>
          </p:txBody>
        </p:sp>
        <p:sp>
          <p:nvSpPr>
            <p:cNvPr id="48146" name="矩形 14"/>
            <p:cNvSpPr>
              <a:spLocks noChangeArrowheads="1"/>
            </p:cNvSpPr>
            <p:nvPr/>
          </p:nvSpPr>
          <p:spPr bwMode="auto">
            <a:xfrm>
              <a:off x="6858016" y="3571882"/>
              <a:ext cx="642942" cy="500066"/>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400" b="1"/>
                <a:t>僵尸</a:t>
              </a:r>
              <a:endParaRPr lang="en-US" altLang="zh-CN" sz="1400" b="1"/>
            </a:p>
            <a:p>
              <a:pPr algn="ctr" eaLnBrk="1" hangingPunct="1"/>
              <a:r>
                <a:rPr lang="en-US" altLang="zh-CN" sz="1400" b="1">
                  <a:latin typeface="Times New Roman" panose="02020603050405020304" pitchFamily="18" charset="0"/>
                  <a:cs typeface="Times New Roman" panose="02020603050405020304" pitchFamily="18" charset="0"/>
                </a:rPr>
                <a:t>(DOS)</a:t>
              </a:r>
              <a:endParaRPr lang="zh-CN" altLang="en-US" sz="1400" b="1">
                <a:latin typeface="Times New Roman" panose="02020603050405020304" pitchFamily="18" charset="0"/>
                <a:cs typeface="Times New Roman" panose="02020603050405020304" pitchFamily="18" charset="0"/>
              </a:endParaRPr>
            </a:p>
          </p:txBody>
        </p:sp>
        <p:sp>
          <p:nvSpPr>
            <p:cNvPr id="48147" name="左大括号 4"/>
            <p:cNvSpPr/>
            <p:nvPr/>
          </p:nvSpPr>
          <p:spPr bwMode="auto">
            <a:xfrm rot="-5400000">
              <a:off x="6232934" y="3339709"/>
              <a:ext cx="178595" cy="1643074"/>
            </a:xfrm>
            <a:prstGeom prst="leftBrace">
              <a:avLst>
                <a:gd name="adj1" fmla="val 35139"/>
                <a:gd name="adj2" fmla="val 50000"/>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cxnSp>
          <p:nvCxnSpPr>
            <p:cNvPr id="48148" name="直接连接符 17"/>
            <p:cNvCxnSpPr>
              <a:cxnSpLocks noChangeShapeType="1"/>
              <a:stCxn id="48139" idx="0"/>
            </p:cNvCxnSpPr>
            <p:nvPr/>
          </p:nvCxnSpPr>
          <p:spPr bwMode="auto">
            <a:xfrm rot="5400000" flipH="1" flipV="1">
              <a:off x="4768456" y="2196701"/>
              <a:ext cx="214312" cy="1107290"/>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48149" name="直接连接符 23"/>
            <p:cNvCxnSpPr>
              <a:cxnSpLocks noChangeShapeType="1"/>
              <a:endCxn id="48140" idx="0"/>
            </p:cNvCxnSpPr>
            <p:nvPr/>
          </p:nvCxnSpPr>
          <p:spPr bwMode="auto">
            <a:xfrm>
              <a:off x="5429256" y="2643188"/>
              <a:ext cx="1393041" cy="214314"/>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48150" name="直接连接符 26"/>
            <p:cNvCxnSpPr>
              <a:cxnSpLocks noChangeShapeType="1"/>
              <a:endCxn id="48139" idx="2"/>
            </p:cNvCxnSpPr>
            <p:nvPr/>
          </p:nvCxnSpPr>
          <p:spPr bwMode="auto">
            <a:xfrm flipV="1">
              <a:off x="3000364" y="3357568"/>
              <a:ext cx="1321603" cy="214312"/>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48151" name="直接连接符 28"/>
            <p:cNvCxnSpPr>
              <a:cxnSpLocks noChangeShapeType="1"/>
              <a:stCxn id="48142" idx="0"/>
              <a:endCxn id="48139" idx="2"/>
            </p:cNvCxnSpPr>
            <p:nvPr/>
          </p:nvCxnSpPr>
          <p:spPr bwMode="auto">
            <a:xfrm rot="5400000" flipH="1" flipV="1">
              <a:off x="4000496" y="3250411"/>
              <a:ext cx="214314" cy="42862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48152" name="直接连接符 31"/>
            <p:cNvCxnSpPr>
              <a:cxnSpLocks noChangeShapeType="1"/>
              <a:stCxn id="48143" idx="0"/>
              <a:endCxn id="48139" idx="2"/>
            </p:cNvCxnSpPr>
            <p:nvPr/>
          </p:nvCxnSpPr>
          <p:spPr bwMode="auto">
            <a:xfrm rot="16200000" flipV="1">
              <a:off x="4429124" y="3250411"/>
              <a:ext cx="214314" cy="42862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48153" name="直接连接符 34"/>
            <p:cNvCxnSpPr>
              <a:cxnSpLocks noChangeShapeType="1"/>
              <a:stCxn id="48144" idx="0"/>
              <a:endCxn id="48139" idx="2"/>
            </p:cNvCxnSpPr>
            <p:nvPr/>
          </p:nvCxnSpPr>
          <p:spPr bwMode="auto">
            <a:xfrm rot="16200000" flipV="1">
              <a:off x="4822033" y="2857502"/>
              <a:ext cx="214314" cy="1214446"/>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48154" name="直接连接符 37"/>
            <p:cNvCxnSpPr>
              <a:cxnSpLocks noChangeShapeType="1"/>
              <a:stCxn id="48145" idx="0"/>
              <a:endCxn id="48140" idx="2"/>
            </p:cNvCxnSpPr>
            <p:nvPr/>
          </p:nvCxnSpPr>
          <p:spPr bwMode="auto">
            <a:xfrm rot="5400000" flipH="1" flipV="1">
              <a:off x="6500826" y="3250411"/>
              <a:ext cx="214314" cy="42862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48155" name="直接连接符 39"/>
            <p:cNvCxnSpPr>
              <a:cxnSpLocks noChangeShapeType="1"/>
              <a:stCxn id="48146" idx="0"/>
              <a:endCxn id="48140" idx="2"/>
            </p:cNvCxnSpPr>
            <p:nvPr/>
          </p:nvCxnSpPr>
          <p:spPr bwMode="auto">
            <a:xfrm rot="16200000" flipV="1">
              <a:off x="6893735" y="3286130"/>
              <a:ext cx="214314" cy="357190"/>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sp>
          <p:nvSpPr>
            <p:cNvPr id="48156" name="TextBox 43"/>
            <p:cNvSpPr txBox="1">
              <a:spLocks noChangeArrowheads="1"/>
            </p:cNvSpPr>
            <p:nvPr/>
          </p:nvSpPr>
          <p:spPr bwMode="auto">
            <a:xfrm>
              <a:off x="5929322" y="4286262"/>
              <a:ext cx="8572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400" b="1"/>
                <a:t>可复制</a:t>
              </a:r>
            </a:p>
          </p:txBody>
        </p:sp>
      </p:grpSp>
      <p:sp>
        <p:nvSpPr>
          <p:cNvPr id="48135" name="TextBox 24"/>
          <p:cNvSpPr txBox="1">
            <a:spLocks noChangeArrowheads="1"/>
          </p:cNvSpPr>
          <p:nvPr/>
        </p:nvSpPr>
        <p:spPr bwMode="auto">
          <a:xfrm>
            <a:off x="3714750" y="4286250"/>
            <a:ext cx="1714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600" b="1"/>
              <a:t>恶意软件的分类</a:t>
            </a:r>
          </a:p>
        </p:txBody>
      </p:sp>
      <p:sp>
        <p:nvSpPr>
          <p:cNvPr id="48136" name="矩形标注 25"/>
          <p:cNvSpPr>
            <a:spLocks noChangeArrowheads="1"/>
          </p:cNvSpPr>
          <p:nvPr/>
        </p:nvSpPr>
        <p:spPr bwMode="auto">
          <a:xfrm>
            <a:off x="7524750" y="3559175"/>
            <a:ext cx="1439863" cy="503238"/>
          </a:xfrm>
          <a:prstGeom prst="wedgeRectCallout">
            <a:avLst>
              <a:gd name="adj1" fmla="val -84324"/>
              <a:gd name="adj2" fmla="val -14764"/>
            </a:avLst>
          </a:prstGeom>
          <a:solidFill>
            <a:srgbClr val="FFFF00"/>
          </a:solidFill>
          <a:ln w="952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400" b="1"/>
              <a:t>僵尸网络</a:t>
            </a:r>
            <a:endParaRPr lang="en-US" altLang="zh-CN" sz="1400" b="1"/>
          </a:p>
          <a:p>
            <a:pPr algn="ctr" eaLnBrk="1" hangingPunct="1"/>
            <a:r>
              <a:rPr lang="en-US" altLang="zh-CN" sz="1400" b="1"/>
              <a:t>BotNet</a:t>
            </a:r>
            <a:endParaRPr lang="zh-CN" altLang="en-US" sz="1400" b="1"/>
          </a:p>
        </p:txBody>
      </p:sp>
      <p:sp>
        <p:nvSpPr>
          <p:cNvPr id="48137" name="矩形 10"/>
          <p:cNvSpPr>
            <a:spLocks noChangeArrowheads="1"/>
          </p:cNvSpPr>
          <p:nvPr/>
        </p:nvSpPr>
        <p:spPr bwMode="auto">
          <a:xfrm>
            <a:off x="4787900" y="3689350"/>
            <a:ext cx="1368425" cy="288925"/>
          </a:xfrm>
          <a:prstGeom prst="rect">
            <a:avLst/>
          </a:prstGeom>
          <a:noFill/>
          <a:ln w="38100"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a:p>
        </p:txBody>
      </p:sp>
    </p:spTree>
  </p:cSld>
  <p:clrMapOvr>
    <a:masterClrMapping/>
  </p:clrMapOvr>
  <p:transition spd="med">
    <p:randomBar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214313" y="428625"/>
            <a:ext cx="8929687" cy="4214813"/>
          </a:xfrm>
        </p:spPr>
        <p:txBody>
          <a:bodyPr/>
          <a:lstStyle/>
          <a:p>
            <a:pPr marL="0" indent="0">
              <a:buFont typeface="Wingdings" panose="05000000000000000000" pitchFamily="2" charset="2"/>
              <a:buNone/>
              <a:defRPr/>
            </a:pPr>
            <a:endParaRPr lang="en-US" altLang="zh-CN" b="1" dirty="0"/>
          </a:p>
          <a:p>
            <a:pPr>
              <a:buFont typeface="Wingdings" panose="05000000000000000000" pitchFamily="2" charset="2"/>
              <a:buNone/>
              <a:defRPr/>
            </a:pPr>
            <a:r>
              <a:rPr lang="en-US" altLang="zh-CN" sz="1800" b="1" dirty="0">
                <a:solidFill>
                  <a:schemeClr val="bg2">
                    <a:lumMod val="25000"/>
                  </a:schemeClr>
                </a:solidFill>
              </a:rPr>
              <a:t>1. </a:t>
            </a:r>
            <a:r>
              <a:rPr lang="zh-CN" altLang="zh-CN" sz="1800" b="1" dirty="0">
                <a:solidFill>
                  <a:schemeClr val="bg2">
                    <a:lumMod val="25000"/>
                  </a:schemeClr>
                </a:solidFill>
              </a:rPr>
              <a:t>病毒</a:t>
            </a:r>
          </a:p>
          <a:p>
            <a:pPr indent="-179705">
              <a:defRPr/>
            </a:pPr>
            <a:r>
              <a:rPr lang="zh-CN" altLang="zh-CN" b="1" dirty="0"/>
              <a:t>如果恶意代码</a:t>
            </a:r>
            <a:r>
              <a:rPr lang="zh-CN" altLang="zh-CN" b="1" dirty="0">
                <a:solidFill>
                  <a:srgbClr val="FF0000"/>
                </a:solidFill>
              </a:rPr>
              <a:t>将其</a:t>
            </a:r>
            <a:r>
              <a:rPr lang="zh-CN" altLang="zh-CN" b="1" dirty="0">
                <a:solidFill>
                  <a:srgbClr val="0033CC"/>
                </a:solidFill>
              </a:rPr>
              <a:t>自身的副本</a:t>
            </a:r>
            <a:r>
              <a:rPr lang="zh-CN" altLang="zh-CN" b="1" dirty="0">
                <a:solidFill>
                  <a:srgbClr val="FF0000"/>
                </a:solidFill>
              </a:rPr>
              <a:t>添加</a:t>
            </a:r>
            <a:r>
              <a:rPr lang="zh-CN" altLang="zh-CN" b="1" dirty="0">
                <a:solidFill>
                  <a:srgbClr val="0033CC"/>
                </a:solidFill>
              </a:rPr>
              <a:t>到文件、文档或磁盘驱动器的启动扇区</a:t>
            </a:r>
            <a:r>
              <a:rPr lang="zh-CN" altLang="zh-CN" b="1" dirty="0">
                <a:solidFill>
                  <a:srgbClr val="FF0000"/>
                </a:solidFill>
              </a:rPr>
              <a:t>来进行复制</a:t>
            </a:r>
            <a:r>
              <a:rPr lang="zh-CN" altLang="zh-CN" b="1" dirty="0"/>
              <a:t>，则被认为是病毒。</a:t>
            </a:r>
            <a:r>
              <a:rPr lang="zh-CN" altLang="zh-CN" b="1" u="sng" dirty="0">
                <a:solidFill>
                  <a:srgbClr val="FF0000"/>
                </a:solidFill>
                <a:effectLst>
                  <a:outerShdw blurRad="38100" dist="38100" dir="2700000" algn="tl">
                    <a:srgbClr val="000000">
                      <a:alpha val="43137"/>
                    </a:srgbClr>
                  </a:outerShdw>
                </a:effectLst>
              </a:rPr>
              <a:t>病毒代码的明显特征是自行复制</a:t>
            </a:r>
            <a:r>
              <a:rPr lang="zh-CN" altLang="zh-CN" b="1" dirty="0"/>
              <a:t>。病毒通常会将其包含的负载放置在一个本地计算机上，然后执行一个或多个恶意操作。</a:t>
            </a:r>
            <a:endParaRPr lang="en-US" altLang="zh-CN" b="1" dirty="0"/>
          </a:p>
          <a:p>
            <a:pPr>
              <a:buFont typeface="Wingdings" panose="05000000000000000000" pitchFamily="2" charset="2"/>
              <a:buNone/>
              <a:defRPr/>
            </a:pPr>
            <a:r>
              <a:rPr lang="en-US" altLang="zh-CN" sz="1800" b="1" dirty="0">
                <a:solidFill>
                  <a:schemeClr val="bg2">
                    <a:lumMod val="25000"/>
                  </a:schemeClr>
                </a:solidFill>
              </a:rPr>
              <a:t>2. </a:t>
            </a:r>
            <a:r>
              <a:rPr lang="zh-CN" altLang="zh-CN" sz="1800" b="1" dirty="0">
                <a:solidFill>
                  <a:schemeClr val="bg2">
                    <a:lumMod val="25000"/>
                  </a:schemeClr>
                </a:solidFill>
              </a:rPr>
              <a:t>蠕虫</a:t>
            </a:r>
          </a:p>
          <a:p>
            <a:pPr indent="-179705">
              <a:defRPr/>
            </a:pPr>
            <a:r>
              <a:rPr lang="zh-CN" altLang="zh-CN" b="1" dirty="0"/>
              <a:t>如果代码在没有携带者的情况下复制，则认为是蠕虫。</a:t>
            </a:r>
            <a:r>
              <a:rPr lang="zh-CN" altLang="zh-CN" b="1" dirty="0">
                <a:solidFill>
                  <a:srgbClr val="FF0000"/>
                </a:solidFill>
              </a:rPr>
              <a:t>病毒寻找文件以进行感染，但</a:t>
            </a:r>
            <a:r>
              <a:rPr lang="zh-CN" altLang="zh-CN" b="1" u="sng" dirty="0">
                <a:solidFill>
                  <a:srgbClr val="FF0000"/>
                </a:solidFill>
                <a:effectLst>
                  <a:outerShdw blurRad="38100" dist="38100" dir="2700000" algn="tl">
                    <a:srgbClr val="000000">
                      <a:alpha val="43137"/>
                    </a:srgbClr>
                  </a:outerShdw>
                </a:effectLst>
              </a:rPr>
              <a:t>蠕虫仅尝试复制其自身</a:t>
            </a:r>
            <a:r>
              <a:rPr lang="zh-CN" altLang="zh-CN" b="1" dirty="0"/>
              <a:t>。</a:t>
            </a:r>
          </a:p>
          <a:p>
            <a:pPr>
              <a:buFont typeface="Wingdings" panose="05000000000000000000" pitchFamily="2" charset="2"/>
              <a:buNone/>
              <a:defRPr/>
            </a:pPr>
            <a:r>
              <a:rPr lang="en-US" altLang="zh-CN" sz="1800" b="1" dirty="0">
                <a:solidFill>
                  <a:schemeClr val="bg2">
                    <a:lumMod val="25000"/>
                  </a:schemeClr>
                </a:solidFill>
              </a:rPr>
              <a:t>3. </a:t>
            </a:r>
            <a:r>
              <a:rPr lang="zh-CN" altLang="zh-CN" sz="1800" b="1" dirty="0">
                <a:solidFill>
                  <a:schemeClr val="bg2">
                    <a:lumMod val="25000"/>
                  </a:schemeClr>
                </a:solidFill>
              </a:rPr>
              <a:t>木马</a:t>
            </a:r>
          </a:p>
          <a:p>
            <a:pPr indent="-179705">
              <a:defRPr/>
            </a:pPr>
            <a:r>
              <a:rPr lang="zh-CN" altLang="zh-CN" b="1" dirty="0"/>
              <a:t>木</a:t>
            </a:r>
            <a:r>
              <a:rPr lang="zh-CN" altLang="en-US" b="1" dirty="0"/>
              <a:t>马</a:t>
            </a:r>
            <a:r>
              <a:rPr lang="zh-CN" altLang="zh-CN" b="1" dirty="0"/>
              <a:t>与病毒、蠕虫的区别在于它</a:t>
            </a:r>
            <a:r>
              <a:rPr lang="zh-CN" altLang="zh-CN" b="1" u="sng" dirty="0">
                <a:solidFill>
                  <a:srgbClr val="FF0000"/>
                </a:solidFill>
                <a:effectLst>
                  <a:outerShdw blurRad="38100" dist="38100" dir="2700000" algn="tl">
                    <a:srgbClr val="000000">
                      <a:alpha val="43137"/>
                    </a:srgbClr>
                  </a:outerShdw>
                </a:effectLst>
              </a:rPr>
              <a:t>不进行</a:t>
            </a:r>
            <a:r>
              <a:rPr lang="zh-CN" altLang="en-US" b="1" u="sng" dirty="0">
                <a:solidFill>
                  <a:srgbClr val="FF0000"/>
                </a:solidFill>
                <a:effectLst>
                  <a:outerShdw blurRad="38100" dist="38100" dir="2700000" algn="tl">
                    <a:srgbClr val="000000">
                      <a:alpha val="43137"/>
                    </a:srgbClr>
                  </a:outerShdw>
                </a:effectLst>
              </a:rPr>
              <a:t>自行</a:t>
            </a:r>
            <a:r>
              <a:rPr lang="zh-CN" altLang="zh-CN" b="1" u="sng" dirty="0">
                <a:solidFill>
                  <a:srgbClr val="FF0000"/>
                </a:solidFill>
                <a:effectLst>
                  <a:outerShdw blurRad="38100" dist="38100" dir="2700000" algn="tl">
                    <a:srgbClr val="000000">
                      <a:alpha val="43137"/>
                    </a:srgbClr>
                  </a:outerShdw>
                </a:effectLst>
              </a:rPr>
              <a:t>复制</a:t>
            </a:r>
            <a:r>
              <a:rPr lang="zh-CN" altLang="zh-CN" b="1" dirty="0"/>
              <a:t>。</a:t>
            </a:r>
            <a:r>
              <a:rPr lang="zh-CN" altLang="zh-CN" b="1" dirty="0">
                <a:solidFill>
                  <a:srgbClr val="FF0000"/>
                </a:solidFill>
              </a:rPr>
              <a:t>木马通常的意图是在系统中提供后门</a:t>
            </a:r>
            <a:r>
              <a:rPr lang="zh-CN" altLang="zh-CN" b="1" dirty="0"/>
              <a:t>，使攻击者可以窃取数据。</a:t>
            </a:r>
          </a:p>
          <a:p>
            <a:pPr marL="0" indent="0">
              <a:buFont typeface="Wingdings" panose="05000000000000000000" pitchFamily="2" charset="2"/>
              <a:buNone/>
              <a:defRPr/>
            </a:pPr>
            <a:endParaRPr lang="zh-CN" altLang="en-US" sz="1400" b="1" dirty="0"/>
          </a:p>
        </p:txBody>
      </p:sp>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142844" y="500048"/>
            <a:ext cx="3429024"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9.4.1 </a:t>
            </a:r>
            <a:r>
              <a:rPr altLang="en-US" sz="2000" dirty="0"/>
              <a:t>恶意软件的分类与区别</a:t>
            </a:r>
          </a:p>
        </p:txBody>
      </p:sp>
    </p:spTree>
  </p:cSld>
  <p:clrMapOvr>
    <a:masterClrMapping/>
  </p:clrMapOvr>
  <p:transition spd="med">
    <p:randomBar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428625" y="1571625"/>
            <a:ext cx="3429000" cy="1643063"/>
          </a:xfrm>
        </p:spPr>
        <p:txBody>
          <a:bodyPr/>
          <a:lstStyle/>
          <a:p>
            <a:pPr marL="0" indent="0">
              <a:buFont typeface="Wingdings" panose="05000000000000000000" pitchFamily="2" charset="2"/>
              <a:buNone/>
              <a:defRPr/>
            </a:pPr>
            <a:endParaRPr lang="en-US" altLang="zh-CN" b="1" dirty="0"/>
          </a:p>
          <a:p>
            <a:pPr>
              <a:buFont typeface="Wingdings" panose="05000000000000000000" pitchFamily="2" charset="2"/>
              <a:buChar char="l"/>
              <a:defRPr/>
            </a:pPr>
            <a:r>
              <a:rPr lang="zh-CN" altLang="zh-CN" sz="1800" b="1" dirty="0">
                <a:solidFill>
                  <a:srgbClr val="0033CC"/>
                </a:solidFill>
              </a:rPr>
              <a:t>病毒</a:t>
            </a:r>
            <a:r>
              <a:rPr lang="zh-CN" altLang="zh-CN" sz="1800" b="1" dirty="0"/>
              <a:t>、</a:t>
            </a:r>
            <a:r>
              <a:rPr lang="zh-CN" altLang="zh-CN" sz="1800" b="1" dirty="0">
                <a:solidFill>
                  <a:srgbClr val="0033CC"/>
                </a:solidFill>
              </a:rPr>
              <a:t>蠕虫</a:t>
            </a:r>
            <a:r>
              <a:rPr lang="zh-CN" altLang="zh-CN" sz="1800" b="1" dirty="0"/>
              <a:t>和</a:t>
            </a:r>
            <a:r>
              <a:rPr lang="zh-CN" altLang="zh-CN" sz="1800" b="1" dirty="0">
                <a:solidFill>
                  <a:srgbClr val="0033CC"/>
                </a:solidFill>
              </a:rPr>
              <a:t>木马</a:t>
            </a:r>
            <a:r>
              <a:rPr lang="zh-CN" altLang="en-US" sz="1800" b="1" dirty="0"/>
              <a:t>的区别</a:t>
            </a:r>
            <a:endParaRPr lang="zh-CN" altLang="en-US" sz="1400" b="1" dirty="0"/>
          </a:p>
        </p:txBody>
      </p:sp>
      <p:sp>
        <p:nvSpPr>
          <p:cNvPr id="7"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8" name="标题 1"/>
          <p:cNvSpPr txBox="1"/>
          <p:nvPr/>
        </p:nvSpPr>
        <p:spPr bwMode="auto">
          <a:xfrm>
            <a:off x="214282" y="571486"/>
            <a:ext cx="3429024"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9.4.1 </a:t>
            </a:r>
            <a:r>
              <a:rPr altLang="en-US" sz="2000" dirty="0"/>
              <a:t>恶意软件的分类与区别</a:t>
            </a:r>
          </a:p>
        </p:txBody>
      </p:sp>
      <p:grpSp>
        <p:nvGrpSpPr>
          <p:cNvPr id="50181" name="组合 67"/>
          <p:cNvGrpSpPr/>
          <p:nvPr/>
        </p:nvGrpSpPr>
        <p:grpSpPr bwMode="auto">
          <a:xfrm>
            <a:off x="4000500" y="142875"/>
            <a:ext cx="2659063" cy="4429125"/>
            <a:chOff x="3929058" y="71420"/>
            <a:chExt cx="2659751" cy="4429156"/>
          </a:xfrm>
        </p:grpSpPr>
        <p:sp>
          <p:nvSpPr>
            <p:cNvPr id="9" name="菱形 8"/>
            <p:cNvSpPr/>
            <p:nvPr/>
          </p:nvSpPr>
          <p:spPr bwMode="auto">
            <a:xfrm>
              <a:off x="3929058" y="1571619"/>
              <a:ext cx="1214752" cy="714380"/>
            </a:xfrm>
            <a:prstGeom prst="diamond">
              <a:avLst/>
            </a:prstGeom>
            <a:no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050" b="1" dirty="0">
                  <a:solidFill>
                    <a:srgbClr val="FF0000"/>
                  </a:solidFill>
                </a:rPr>
                <a:t>代码复制</a:t>
              </a:r>
            </a:p>
          </p:txBody>
        </p:sp>
        <p:sp>
          <p:nvSpPr>
            <p:cNvPr id="10" name="菱形 9"/>
            <p:cNvSpPr/>
            <p:nvPr/>
          </p:nvSpPr>
          <p:spPr bwMode="auto">
            <a:xfrm>
              <a:off x="3929058" y="642924"/>
              <a:ext cx="1214752" cy="714380"/>
            </a:xfrm>
            <a:prstGeom prst="diamond">
              <a:avLst/>
            </a:prstGeom>
            <a:no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050" b="1" dirty="0">
                  <a:solidFill>
                    <a:srgbClr val="FF0000"/>
                  </a:solidFill>
                </a:rPr>
                <a:t>恶意用途</a:t>
              </a:r>
            </a:p>
          </p:txBody>
        </p:sp>
        <p:sp>
          <p:nvSpPr>
            <p:cNvPr id="11" name="菱形 10"/>
            <p:cNvSpPr/>
            <p:nvPr/>
          </p:nvSpPr>
          <p:spPr bwMode="auto">
            <a:xfrm>
              <a:off x="3929058" y="2500312"/>
              <a:ext cx="1214752" cy="714380"/>
            </a:xfrm>
            <a:prstGeom prst="diamond">
              <a:avLst/>
            </a:prstGeom>
            <a:no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050" b="1" dirty="0">
                  <a:solidFill>
                    <a:srgbClr val="FF0000"/>
                  </a:solidFill>
                </a:rPr>
                <a:t>感染携带者</a:t>
              </a:r>
              <a:endParaRPr lang="en-US" altLang="zh-CN" sz="1050" b="1" dirty="0">
                <a:solidFill>
                  <a:srgbClr val="FF0000"/>
                </a:solidFill>
              </a:endParaRPr>
            </a:p>
            <a:p>
              <a:pPr algn="ctr" eaLnBrk="1" hangingPunct="1">
                <a:defRPr/>
              </a:pPr>
              <a:r>
                <a:rPr lang="zh-CN" altLang="en-US" sz="1050" b="1" dirty="0">
                  <a:solidFill>
                    <a:srgbClr val="FF0000"/>
                  </a:solidFill>
                </a:rPr>
                <a:t>进行复制</a:t>
              </a:r>
            </a:p>
          </p:txBody>
        </p:sp>
        <p:sp>
          <p:nvSpPr>
            <p:cNvPr id="13" name="圆角矩形 12"/>
            <p:cNvSpPr/>
            <p:nvPr/>
          </p:nvSpPr>
          <p:spPr bwMode="auto">
            <a:xfrm>
              <a:off x="4071970" y="71420"/>
              <a:ext cx="928928" cy="357191"/>
            </a:xfrm>
            <a:prstGeom prst="roundRect">
              <a:avLst/>
            </a:prstGeom>
            <a:no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050" b="1" dirty="0"/>
                <a:t>开始</a:t>
              </a:r>
            </a:p>
          </p:txBody>
        </p:sp>
        <p:sp>
          <p:nvSpPr>
            <p:cNvPr id="14" name="圆角矩形 13"/>
            <p:cNvSpPr/>
            <p:nvPr/>
          </p:nvSpPr>
          <p:spPr bwMode="auto">
            <a:xfrm>
              <a:off x="4071970" y="4143387"/>
              <a:ext cx="928928" cy="357189"/>
            </a:xfrm>
            <a:prstGeom prst="roundRect">
              <a:avLst/>
            </a:prstGeom>
            <a:no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050" b="1" dirty="0"/>
                <a:t>结束</a:t>
              </a:r>
            </a:p>
          </p:txBody>
        </p:sp>
        <p:sp>
          <p:nvSpPr>
            <p:cNvPr id="19" name="矩形 18"/>
            <p:cNvSpPr/>
            <p:nvPr/>
          </p:nvSpPr>
          <p:spPr bwMode="auto">
            <a:xfrm>
              <a:off x="4071970" y="3429007"/>
              <a:ext cx="928928" cy="428628"/>
            </a:xfrm>
            <a:prstGeom prst="rect">
              <a:avLst/>
            </a:prstGeom>
            <a:no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050" b="1" dirty="0"/>
                <a:t>此代码是病毒</a:t>
              </a:r>
            </a:p>
          </p:txBody>
        </p:sp>
        <p:sp>
          <p:nvSpPr>
            <p:cNvPr id="20" name="矩形 19"/>
            <p:cNvSpPr/>
            <p:nvPr/>
          </p:nvSpPr>
          <p:spPr bwMode="auto">
            <a:xfrm>
              <a:off x="5358178" y="2643188"/>
              <a:ext cx="928928" cy="428628"/>
            </a:xfrm>
            <a:prstGeom prst="rect">
              <a:avLst/>
            </a:prstGeom>
            <a:no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050" b="1" dirty="0"/>
                <a:t>此代码是蠕虫</a:t>
              </a:r>
            </a:p>
          </p:txBody>
        </p:sp>
        <p:sp>
          <p:nvSpPr>
            <p:cNvPr id="21" name="矩形 20"/>
            <p:cNvSpPr/>
            <p:nvPr/>
          </p:nvSpPr>
          <p:spPr bwMode="auto">
            <a:xfrm>
              <a:off x="5358178" y="1714495"/>
              <a:ext cx="928928" cy="428628"/>
            </a:xfrm>
            <a:prstGeom prst="rect">
              <a:avLst/>
            </a:prstGeom>
            <a:no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050" b="1" dirty="0"/>
                <a:t>此代码是木马</a:t>
              </a:r>
            </a:p>
          </p:txBody>
        </p:sp>
        <p:sp>
          <p:nvSpPr>
            <p:cNvPr id="22" name="矩形 21"/>
            <p:cNvSpPr/>
            <p:nvPr/>
          </p:nvSpPr>
          <p:spPr bwMode="auto">
            <a:xfrm>
              <a:off x="5358178" y="785800"/>
              <a:ext cx="928928" cy="428628"/>
            </a:xfrm>
            <a:prstGeom prst="rect">
              <a:avLst/>
            </a:prstGeom>
            <a:no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050" b="1" dirty="0"/>
                <a:t>此代码不是</a:t>
              </a:r>
              <a:endParaRPr lang="en-US" altLang="zh-CN" sz="1050" b="1" dirty="0"/>
            </a:p>
            <a:p>
              <a:pPr algn="ctr" eaLnBrk="1" hangingPunct="1">
                <a:defRPr/>
              </a:pPr>
              <a:r>
                <a:rPr lang="zh-CN" altLang="en-US" sz="1050" b="1" dirty="0"/>
                <a:t>恶意软件</a:t>
              </a:r>
            </a:p>
          </p:txBody>
        </p:sp>
        <p:cxnSp>
          <p:nvCxnSpPr>
            <p:cNvPr id="50191" name="直接连接符 24"/>
            <p:cNvCxnSpPr>
              <a:cxnSpLocks noChangeShapeType="1"/>
              <a:stCxn id="13" idx="2"/>
              <a:endCxn id="10" idx="0"/>
            </p:cNvCxnSpPr>
            <p:nvPr/>
          </p:nvCxnSpPr>
          <p:spPr bwMode="auto">
            <a:xfrm rot="5400000">
              <a:off x="4429124" y="535767"/>
              <a:ext cx="214314" cy="1588"/>
            </a:xfrm>
            <a:prstGeom prst="line">
              <a:avLst/>
            </a:prstGeom>
            <a:noFill/>
            <a:ln w="12700"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50192" name="直接连接符 28"/>
            <p:cNvCxnSpPr>
              <a:cxnSpLocks noChangeShapeType="1"/>
              <a:stCxn id="10" idx="2"/>
              <a:endCxn id="9" idx="0"/>
            </p:cNvCxnSpPr>
            <p:nvPr/>
          </p:nvCxnSpPr>
          <p:spPr bwMode="auto">
            <a:xfrm rot="5400000">
              <a:off x="4429124" y="1464461"/>
              <a:ext cx="214314" cy="1588"/>
            </a:xfrm>
            <a:prstGeom prst="line">
              <a:avLst/>
            </a:prstGeom>
            <a:noFill/>
            <a:ln w="12700"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50193" name="直接连接符 32"/>
            <p:cNvCxnSpPr>
              <a:cxnSpLocks noChangeShapeType="1"/>
              <a:stCxn id="19" idx="2"/>
              <a:endCxn id="14" idx="0"/>
            </p:cNvCxnSpPr>
            <p:nvPr/>
          </p:nvCxnSpPr>
          <p:spPr bwMode="auto">
            <a:xfrm rot="5400000">
              <a:off x="4393405" y="4000510"/>
              <a:ext cx="285752" cy="1588"/>
            </a:xfrm>
            <a:prstGeom prst="line">
              <a:avLst/>
            </a:prstGeom>
            <a:noFill/>
            <a:ln w="12700"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50194" name="直接连接符 35"/>
            <p:cNvCxnSpPr>
              <a:cxnSpLocks noChangeShapeType="1"/>
              <a:stCxn id="11" idx="2"/>
              <a:endCxn id="19" idx="0"/>
            </p:cNvCxnSpPr>
            <p:nvPr/>
          </p:nvCxnSpPr>
          <p:spPr bwMode="auto">
            <a:xfrm rot="5400000">
              <a:off x="4429124" y="3321849"/>
              <a:ext cx="214314" cy="1588"/>
            </a:xfrm>
            <a:prstGeom prst="line">
              <a:avLst/>
            </a:prstGeom>
            <a:noFill/>
            <a:ln w="12700"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50195" name="直接连接符 40"/>
            <p:cNvCxnSpPr>
              <a:cxnSpLocks noChangeShapeType="1"/>
              <a:stCxn id="9" idx="2"/>
              <a:endCxn id="11" idx="0"/>
            </p:cNvCxnSpPr>
            <p:nvPr/>
          </p:nvCxnSpPr>
          <p:spPr bwMode="auto">
            <a:xfrm rot="5400000">
              <a:off x="4429124" y="2393155"/>
              <a:ext cx="214314" cy="1588"/>
            </a:xfrm>
            <a:prstGeom prst="line">
              <a:avLst/>
            </a:prstGeom>
            <a:noFill/>
            <a:ln w="12700" algn="ctr">
              <a:solidFill>
                <a:schemeClr val="tx1"/>
              </a:solidFill>
              <a:round/>
              <a:tailEnd type="triangle" w="med" len="med"/>
            </a:ln>
            <a:extLst>
              <a:ext uri="{909E8E84-426E-40DD-AFC4-6F175D3DCCD1}">
                <a14:hiddenFill xmlns:a14="http://schemas.microsoft.com/office/drawing/2010/main">
                  <a:noFill/>
                </a14:hiddenFill>
              </a:ext>
            </a:extLst>
          </p:spPr>
        </p:cxnSp>
        <p:sp>
          <p:nvSpPr>
            <p:cNvPr id="44" name="TextBox 43"/>
            <p:cNvSpPr txBox="1"/>
            <p:nvPr/>
          </p:nvSpPr>
          <p:spPr>
            <a:xfrm flipH="1">
              <a:off x="4572162" y="3143255"/>
              <a:ext cx="142912" cy="254002"/>
            </a:xfrm>
            <a:prstGeom prst="rect">
              <a:avLst/>
            </a:prstGeom>
            <a:noFill/>
          </p:spPr>
          <p:txBody>
            <a:bodyPr>
              <a:spAutoFit/>
            </a:bodyPr>
            <a:lstStyle/>
            <a:p>
              <a:pPr algn="ctr">
                <a:defRPr/>
              </a:pPr>
              <a:r>
                <a:rPr lang="zh-CN" altLang="en-US" sz="1050" b="1" dirty="0">
                  <a:latin typeface="Arial" panose="020B0604020202020204" pitchFamily="34" charset="0"/>
                </a:rPr>
                <a:t>是</a:t>
              </a:r>
            </a:p>
          </p:txBody>
        </p:sp>
        <p:sp>
          <p:nvSpPr>
            <p:cNvPr id="45" name="TextBox 44"/>
            <p:cNvSpPr txBox="1"/>
            <p:nvPr/>
          </p:nvSpPr>
          <p:spPr>
            <a:xfrm flipH="1">
              <a:off x="4572162" y="2285999"/>
              <a:ext cx="142912" cy="254002"/>
            </a:xfrm>
            <a:prstGeom prst="rect">
              <a:avLst/>
            </a:prstGeom>
            <a:noFill/>
          </p:spPr>
          <p:txBody>
            <a:bodyPr>
              <a:spAutoFit/>
            </a:bodyPr>
            <a:lstStyle/>
            <a:p>
              <a:pPr algn="ctr">
                <a:defRPr/>
              </a:pPr>
              <a:r>
                <a:rPr lang="zh-CN" altLang="en-US" sz="1050" b="1" dirty="0">
                  <a:latin typeface="Arial" panose="020B0604020202020204" pitchFamily="34" charset="0"/>
                </a:rPr>
                <a:t>是</a:t>
              </a:r>
            </a:p>
          </p:txBody>
        </p:sp>
        <p:sp>
          <p:nvSpPr>
            <p:cNvPr id="46" name="TextBox 45"/>
            <p:cNvSpPr txBox="1"/>
            <p:nvPr/>
          </p:nvSpPr>
          <p:spPr>
            <a:xfrm flipH="1">
              <a:off x="4572162" y="1357304"/>
              <a:ext cx="142912" cy="254002"/>
            </a:xfrm>
            <a:prstGeom prst="rect">
              <a:avLst/>
            </a:prstGeom>
            <a:noFill/>
          </p:spPr>
          <p:txBody>
            <a:bodyPr>
              <a:spAutoFit/>
            </a:bodyPr>
            <a:lstStyle/>
            <a:p>
              <a:pPr algn="ctr">
                <a:defRPr/>
              </a:pPr>
              <a:r>
                <a:rPr lang="zh-CN" altLang="en-US" sz="1050" b="1" dirty="0">
                  <a:latin typeface="Arial" panose="020B0604020202020204" pitchFamily="34" charset="0"/>
                </a:rPr>
                <a:t>是</a:t>
              </a:r>
            </a:p>
          </p:txBody>
        </p:sp>
        <p:cxnSp>
          <p:nvCxnSpPr>
            <p:cNvPr id="50199" name="直接连接符 46"/>
            <p:cNvCxnSpPr>
              <a:cxnSpLocks noChangeShapeType="1"/>
              <a:endCxn id="22" idx="1"/>
            </p:cNvCxnSpPr>
            <p:nvPr/>
          </p:nvCxnSpPr>
          <p:spPr bwMode="auto">
            <a:xfrm>
              <a:off x="5143504" y="1000114"/>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sp>
          <p:nvSpPr>
            <p:cNvPr id="51" name="TextBox 50"/>
            <p:cNvSpPr txBox="1"/>
            <p:nvPr/>
          </p:nvSpPr>
          <p:spPr>
            <a:xfrm flipH="1">
              <a:off x="5143810" y="785800"/>
              <a:ext cx="142912" cy="254002"/>
            </a:xfrm>
            <a:prstGeom prst="rect">
              <a:avLst/>
            </a:prstGeom>
            <a:noFill/>
          </p:spPr>
          <p:txBody>
            <a:bodyPr>
              <a:spAutoFit/>
            </a:bodyPr>
            <a:lstStyle/>
            <a:p>
              <a:pPr algn="ctr">
                <a:defRPr/>
              </a:pPr>
              <a:r>
                <a:rPr lang="zh-CN" altLang="en-US" sz="1050" b="1" dirty="0">
                  <a:latin typeface="Arial" panose="020B0604020202020204" pitchFamily="34" charset="0"/>
                </a:rPr>
                <a:t>否</a:t>
              </a:r>
            </a:p>
          </p:txBody>
        </p:sp>
        <p:cxnSp>
          <p:nvCxnSpPr>
            <p:cNvPr id="50201" name="直接连接符 51"/>
            <p:cNvCxnSpPr>
              <a:cxnSpLocks noChangeShapeType="1"/>
            </p:cNvCxnSpPr>
            <p:nvPr/>
          </p:nvCxnSpPr>
          <p:spPr bwMode="auto">
            <a:xfrm>
              <a:off x="5143504" y="1928808"/>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0202" name="直接连接符 52"/>
            <p:cNvCxnSpPr>
              <a:cxnSpLocks noChangeShapeType="1"/>
            </p:cNvCxnSpPr>
            <p:nvPr/>
          </p:nvCxnSpPr>
          <p:spPr bwMode="auto">
            <a:xfrm>
              <a:off x="5143504" y="2857502"/>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sp>
          <p:nvSpPr>
            <p:cNvPr id="54" name="TextBox 53"/>
            <p:cNvSpPr txBox="1"/>
            <p:nvPr/>
          </p:nvSpPr>
          <p:spPr>
            <a:xfrm flipH="1">
              <a:off x="5143810" y="1714495"/>
              <a:ext cx="142912" cy="254002"/>
            </a:xfrm>
            <a:prstGeom prst="rect">
              <a:avLst/>
            </a:prstGeom>
            <a:noFill/>
          </p:spPr>
          <p:txBody>
            <a:bodyPr>
              <a:spAutoFit/>
            </a:bodyPr>
            <a:lstStyle/>
            <a:p>
              <a:pPr algn="ctr">
                <a:defRPr/>
              </a:pPr>
              <a:r>
                <a:rPr lang="zh-CN" altLang="en-US" sz="1050" b="1" dirty="0">
                  <a:latin typeface="Arial" panose="020B0604020202020204" pitchFamily="34" charset="0"/>
                </a:rPr>
                <a:t>否</a:t>
              </a:r>
            </a:p>
          </p:txBody>
        </p:sp>
        <p:sp>
          <p:nvSpPr>
            <p:cNvPr id="55" name="TextBox 54"/>
            <p:cNvSpPr txBox="1"/>
            <p:nvPr/>
          </p:nvSpPr>
          <p:spPr>
            <a:xfrm flipH="1">
              <a:off x="5143810" y="2643188"/>
              <a:ext cx="142912" cy="254002"/>
            </a:xfrm>
            <a:prstGeom prst="rect">
              <a:avLst/>
            </a:prstGeom>
            <a:noFill/>
          </p:spPr>
          <p:txBody>
            <a:bodyPr>
              <a:spAutoFit/>
            </a:bodyPr>
            <a:lstStyle/>
            <a:p>
              <a:pPr algn="ctr">
                <a:defRPr/>
              </a:pPr>
              <a:r>
                <a:rPr lang="zh-CN" altLang="en-US" sz="1050" b="1" dirty="0">
                  <a:latin typeface="Arial" panose="020B0604020202020204" pitchFamily="34" charset="0"/>
                </a:rPr>
                <a:t>否</a:t>
              </a:r>
            </a:p>
          </p:txBody>
        </p:sp>
        <p:cxnSp>
          <p:nvCxnSpPr>
            <p:cNvPr id="50205" name="肘形连接符 56"/>
            <p:cNvCxnSpPr>
              <a:cxnSpLocks noChangeShapeType="1"/>
              <a:stCxn id="22" idx="3"/>
            </p:cNvCxnSpPr>
            <p:nvPr/>
          </p:nvCxnSpPr>
          <p:spPr bwMode="auto">
            <a:xfrm>
              <a:off x="6286513" y="1000115"/>
              <a:ext cx="302296" cy="3300410"/>
            </a:xfrm>
            <a:prstGeom prst="bentConnector2">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0206" name="直接连接符 60"/>
            <p:cNvCxnSpPr>
              <a:cxnSpLocks noChangeShapeType="1"/>
            </p:cNvCxnSpPr>
            <p:nvPr/>
          </p:nvCxnSpPr>
          <p:spPr bwMode="auto">
            <a:xfrm rot="10800000">
              <a:off x="5009095" y="4298936"/>
              <a:ext cx="1573224" cy="1588"/>
            </a:xfrm>
            <a:prstGeom prst="line">
              <a:avLst/>
            </a:prstGeom>
            <a:noFill/>
            <a:ln w="12700"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50207" name="直接连接符 63"/>
            <p:cNvCxnSpPr>
              <a:cxnSpLocks noChangeShapeType="1"/>
            </p:cNvCxnSpPr>
            <p:nvPr/>
          </p:nvCxnSpPr>
          <p:spPr bwMode="auto">
            <a:xfrm>
              <a:off x="6286512" y="1928808"/>
              <a:ext cx="285752"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0208" name="直接连接符 65"/>
            <p:cNvCxnSpPr>
              <a:cxnSpLocks noChangeShapeType="1"/>
            </p:cNvCxnSpPr>
            <p:nvPr/>
          </p:nvCxnSpPr>
          <p:spPr bwMode="auto">
            <a:xfrm>
              <a:off x="6286512" y="2857502"/>
              <a:ext cx="285752"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grpSp>
    </p:spTree>
  </p:cSld>
  <p:clrMapOvr>
    <a:masterClrMapping/>
  </p:clrMapOvr>
  <p:transition spd="med">
    <p:randomBar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142875" y="1071563"/>
            <a:ext cx="8715375" cy="3071812"/>
          </a:xfrm>
        </p:spPr>
        <p:txBody>
          <a:bodyPr/>
          <a:lstStyle/>
          <a:p>
            <a:pPr>
              <a:buFont typeface="Wingdings" panose="05000000000000000000" pitchFamily="2" charset="2"/>
              <a:buNone/>
              <a:defRPr/>
            </a:pPr>
            <a:r>
              <a:rPr lang="en-US" altLang="zh-CN" sz="2000" b="1" dirty="0">
                <a:solidFill>
                  <a:schemeClr val="bg2">
                    <a:lumMod val="25000"/>
                  </a:schemeClr>
                </a:solidFill>
              </a:rPr>
              <a:t>4</a:t>
            </a:r>
            <a:r>
              <a:rPr lang="zh-CN" altLang="zh-CN" sz="2000" b="1" dirty="0">
                <a:solidFill>
                  <a:schemeClr val="bg2">
                    <a:lumMod val="25000"/>
                  </a:schemeClr>
                </a:solidFill>
              </a:rPr>
              <a:t>．其他恶意软件</a:t>
            </a:r>
          </a:p>
          <a:p>
            <a:pPr>
              <a:buFont typeface="Wingdings" panose="05000000000000000000" pitchFamily="2" charset="2"/>
              <a:buNone/>
              <a:defRPr/>
            </a:pPr>
            <a:r>
              <a:rPr lang="zh-CN" altLang="en-US" sz="1800" b="1" dirty="0"/>
              <a:t>（</a:t>
            </a:r>
            <a:r>
              <a:rPr lang="en-US" altLang="zh-CN" sz="1800" b="1" dirty="0"/>
              <a:t>1</a:t>
            </a:r>
            <a:r>
              <a:rPr lang="zh-CN" altLang="en-US" sz="1800" b="1" dirty="0"/>
              <a:t>）</a:t>
            </a:r>
            <a:r>
              <a:rPr lang="zh-CN" altLang="zh-CN" sz="1800" b="1" dirty="0"/>
              <a:t>后门</a:t>
            </a:r>
          </a:p>
          <a:p>
            <a:pPr indent="-215900">
              <a:defRPr/>
            </a:pPr>
            <a:r>
              <a:rPr lang="zh-CN" altLang="zh-CN" sz="1800" b="1" dirty="0"/>
              <a:t>后门是</a:t>
            </a:r>
            <a:r>
              <a:rPr lang="zh-CN" altLang="zh-CN" sz="1800" b="1" dirty="0">
                <a:solidFill>
                  <a:srgbClr val="FF0000"/>
                </a:solidFill>
              </a:rPr>
              <a:t>在恶意攻击者选择用来</a:t>
            </a:r>
            <a:r>
              <a:rPr lang="zh-CN" altLang="zh-CN" sz="1800" b="1" dirty="0">
                <a:solidFill>
                  <a:srgbClr val="0033CC"/>
                </a:solidFill>
              </a:rPr>
              <a:t>远程连接系统的工具</a:t>
            </a:r>
            <a:r>
              <a:rPr lang="zh-CN" altLang="zh-CN" sz="1800" b="1" dirty="0"/>
              <a:t>。典型的后门会在运行它的主机上打开一个网络端口，然后侦听的后门程序会等待攻击者的远程连接。</a:t>
            </a:r>
          </a:p>
          <a:p>
            <a:pPr>
              <a:buFont typeface="Wingdings" panose="05000000000000000000" pitchFamily="2" charset="2"/>
              <a:buNone/>
              <a:defRPr/>
            </a:pPr>
            <a:r>
              <a:rPr lang="zh-CN" altLang="en-US" sz="1800" b="1" dirty="0"/>
              <a:t>（</a:t>
            </a:r>
            <a:r>
              <a:rPr lang="en-US" altLang="zh-CN" sz="1800" b="1" dirty="0"/>
              <a:t>2</a:t>
            </a:r>
            <a:r>
              <a:rPr lang="zh-CN" altLang="en-US" sz="1800" b="1" dirty="0"/>
              <a:t>）</a:t>
            </a:r>
            <a:r>
              <a:rPr lang="zh-CN" altLang="zh-CN" sz="1800" b="1" dirty="0"/>
              <a:t>逻辑炸弹</a:t>
            </a:r>
          </a:p>
          <a:p>
            <a:pPr indent="-179705">
              <a:defRPr/>
            </a:pPr>
            <a:r>
              <a:rPr lang="zh-CN" altLang="zh-CN" sz="1800" b="1" dirty="0"/>
              <a:t>逻辑炸弹是</a:t>
            </a:r>
            <a:r>
              <a:rPr lang="zh-CN" altLang="zh-CN" sz="1800" b="1" dirty="0">
                <a:solidFill>
                  <a:srgbClr val="0033CC"/>
                </a:solidFill>
              </a:rPr>
              <a:t>合法的应用程序</a:t>
            </a:r>
            <a:r>
              <a:rPr lang="zh-CN" altLang="zh-CN" sz="1800" b="1" dirty="0"/>
              <a:t>，只是在编程时被故意写入的某种恶意功能，</a:t>
            </a:r>
            <a:r>
              <a:rPr lang="zh-CN" altLang="zh-CN" sz="1800" b="1" dirty="0">
                <a:solidFill>
                  <a:srgbClr val="FF0000"/>
                </a:solidFill>
              </a:rPr>
              <a:t>在一定程度下</a:t>
            </a:r>
            <a:r>
              <a:rPr lang="zh-CN" altLang="zh-CN" sz="1800" b="1" dirty="0"/>
              <a:t>（如时间、次数或者某种逻辑组合）</a:t>
            </a:r>
            <a:r>
              <a:rPr lang="zh-CN" altLang="zh-CN" sz="1800" b="1" dirty="0">
                <a:solidFill>
                  <a:srgbClr val="FF0000"/>
                </a:solidFill>
              </a:rPr>
              <a:t>会出现</a:t>
            </a:r>
            <a:r>
              <a:rPr lang="zh-CN" altLang="en-US" sz="1800" b="1" dirty="0">
                <a:solidFill>
                  <a:srgbClr val="0033CC"/>
                </a:solidFill>
              </a:rPr>
              <a:t>恶意功能</a:t>
            </a:r>
            <a:r>
              <a:rPr lang="zh-CN" altLang="zh-CN" sz="1800" b="1" dirty="0"/>
              <a:t>。</a:t>
            </a:r>
          </a:p>
        </p:txBody>
      </p:sp>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429024"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9.4.1 </a:t>
            </a:r>
            <a:r>
              <a:rPr altLang="en-US" sz="2000" dirty="0"/>
              <a:t>恶意软件的分类与区别</a:t>
            </a:r>
          </a:p>
        </p:txBody>
      </p:sp>
    </p:spTree>
  </p:cSld>
  <p:clrMapOvr>
    <a:masterClrMapping/>
  </p:clrMapOvr>
  <p:transition spd="med">
    <p:randomBar dir="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0" y="857250"/>
            <a:ext cx="9144000" cy="3643313"/>
          </a:xfrm>
        </p:spPr>
        <p:txBody>
          <a:bodyPr/>
          <a:lstStyle/>
          <a:p>
            <a:pPr>
              <a:buFont typeface="Wingdings" panose="05000000000000000000" pitchFamily="2" charset="2"/>
              <a:buNone/>
              <a:defRPr/>
            </a:pPr>
            <a:r>
              <a:rPr lang="en-US" altLang="zh-CN" sz="2000" b="1" dirty="0">
                <a:solidFill>
                  <a:schemeClr val="accent6"/>
                </a:solidFill>
              </a:rPr>
              <a:t>1. </a:t>
            </a:r>
            <a:r>
              <a:rPr lang="zh-CN" altLang="zh-CN" sz="2000" b="1" dirty="0">
                <a:solidFill>
                  <a:schemeClr val="accent6"/>
                </a:solidFill>
              </a:rPr>
              <a:t>病毒的定义</a:t>
            </a:r>
          </a:p>
          <a:p>
            <a:pPr>
              <a:defRPr/>
            </a:pPr>
            <a:r>
              <a:rPr lang="zh-CN" altLang="zh-CN" sz="1800" b="1" u="sng" dirty="0">
                <a:solidFill>
                  <a:srgbClr val="FF0000"/>
                </a:solidFill>
              </a:rPr>
              <a:t>病毒是一种人为制造的、能够进行自我复制的、对计算机资源具有破坏作用的一组程序和指令的集合。</a:t>
            </a:r>
            <a:r>
              <a:rPr lang="zh-CN" altLang="zh-CN" sz="1800" b="1" u="sng" dirty="0"/>
              <a:t>病毒程序寄生于合法程序后，</a:t>
            </a:r>
            <a:r>
              <a:rPr lang="zh-CN" altLang="zh-CN" sz="1800" b="1" u="sng" dirty="0">
                <a:solidFill>
                  <a:srgbClr val="0033CC"/>
                </a:solidFill>
              </a:rPr>
              <a:t>成为了程序的一部分</a:t>
            </a:r>
            <a:r>
              <a:rPr lang="zh-CN" altLang="zh-CN" sz="1800" b="1" u="sng" dirty="0"/>
              <a:t>。并随着合法程序的执行而执行，也随着合法程序的消失而消失。</a:t>
            </a:r>
            <a:r>
              <a:rPr lang="zh-CN" altLang="en-US" sz="1800" b="1" dirty="0">
                <a:solidFill>
                  <a:srgbClr val="FF0000"/>
                </a:solidFill>
              </a:rPr>
              <a:t>可感染的对象包括：</a:t>
            </a:r>
            <a:endParaRPr lang="zh-CN" altLang="zh-CN" sz="1800" b="1" dirty="0">
              <a:solidFill>
                <a:srgbClr val="FF0000"/>
              </a:solidFill>
            </a:endParaRPr>
          </a:p>
          <a:p>
            <a:pPr indent="-179705">
              <a:buFont typeface="Wingdings" panose="05000000000000000000" pitchFamily="2" charset="2"/>
              <a:buNone/>
              <a:defRPr/>
            </a:pPr>
            <a:r>
              <a:rPr lang="zh-CN" altLang="en-US" b="1" dirty="0">
                <a:solidFill>
                  <a:srgbClr val="0033CC"/>
                </a:solidFill>
              </a:rPr>
              <a:t>（</a:t>
            </a:r>
            <a:r>
              <a:rPr lang="en-US" altLang="zh-CN" b="1" dirty="0">
                <a:solidFill>
                  <a:srgbClr val="0033CC"/>
                </a:solidFill>
              </a:rPr>
              <a:t>1</a:t>
            </a:r>
            <a:r>
              <a:rPr lang="zh-CN" altLang="en-US" b="1" dirty="0">
                <a:solidFill>
                  <a:srgbClr val="0033CC"/>
                </a:solidFill>
              </a:rPr>
              <a:t>）</a:t>
            </a:r>
            <a:r>
              <a:rPr lang="zh-CN" altLang="zh-CN" b="1" dirty="0">
                <a:solidFill>
                  <a:srgbClr val="0033CC"/>
                </a:solidFill>
              </a:rPr>
              <a:t>可执行文件</a:t>
            </a:r>
            <a:r>
              <a:rPr lang="zh-CN" altLang="zh-CN" b="1" dirty="0"/>
              <a:t>。通过其自身附加到宿主程序进行复制的典型病毒类型的目标对象。除了使用</a:t>
            </a:r>
            <a:r>
              <a:rPr lang="en-US" altLang="zh-CN" b="1" dirty="0"/>
              <a:t>.exe</a:t>
            </a:r>
            <a:r>
              <a:rPr lang="zh-CN" altLang="zh-CN" b="1" dirty="0"/>
              <a:t>扩展名的典型可执行文件之外，具有扩展名</a:t>
            </a:r>
            <a:r>
              <a:rPr lang="en-US" altLang="zh-CN" b="1" dirty="0"/>
              <a:t>.com</a:t>
            </a:r>
            <a:r>
              <a:rPr lang="zh-CN" altLang="zh-CN" b="1" dirty="0"/>
              <a:t>、</a:t>
            </a:r>
            <a:r>
              <a:rPr lang="en-US" altLang="zh-CN" b="1" dirty="0"/>
              <a:t>.sys</a:t>
            </a:r>
            <a:r>
              <a:rPr lang="zh-CN" altLang="zh-CN" b="1" dirty="0"/>
              <a:t>、</a:t>
            </a:r>
            <a:r>
              <a:rPr lang="en-US" altLang="zh-CN" b="1" dirty="0"/>
              <a:t>.</a:t>
            </a:r>
            <a:r>
              <a:rPr lang="en-US" altLang="zh-CN" b="1" dirty="0" err="1"/>
              <a:t>dll</a:t>
            </a:r>
            <a:r>
              <a:rPr lang="zh-CN" altLang="zh-CN" b="1" dirty="0"/>
              <a:t>等文件也可用于此用</a:t>
            </a:r>
            <a:endParaRPr lang="en-US" altLang="zh-CN" b="1" dirty="0"/>
          </a:p>
          <a:p>
            <a:pPr indent="-179705">
              <a:buFont typeface="Wingdings" panose="05000000000000000000" pitchFamily="2" charset="2"/>
              <a:buNone/>
              <a:defRPr/>
            </a:pPr>
            <a:r>
              <a:rPr lang="zh-CN" altLang="en-US" b="1" dirty="0">
                <a:solidFill>
                  <a:srgbClr val="0033CC"/>
                </a:solidFill>
              </a:rPr>
              <a:t>（</a:t>
            </a:r>
            <a:r>
              <a:rPr lang="en-US" altLang="zh-CN" b="1" dirty="0">
                <a:solidFill>
                  <a:srgbClr val="0033CC"/>
                </a:solidFill>
              </a:rPr>
              <a:t>2</a:t>
            </a:r>
            <a:r>
              <a:rPr lang="zh-CN" altLang="en-US" b="1" dirty="0">
                <a:solidFill>
                  <a:srgbClr val="0033CC"/>
                </a:solidFill>
              </a:rPr>
              <a:t>）脚本</a:t>
            </a:r>
            <a:r>
              <a:rPr lang="zh-CN" altLang="en-US" b="1" dirty="0"/>
              <a:t>。将脚本作为携带者目标文件。此类文件的扩展名包括</a:t>
            </a:r>
            <a:r>
              <a:rPr lang="en-US" altLang="zh-CN" b="1" dirty="0"/>
              <a:t>.</a:t>
            </a:r>
            <a:r>
              <a:rPr lang="en-US" altLang="zh-CN" b="1" dirty="0" err="1"/>
              <a:t>vbs</a:t>
            </a:r>
            <a:r>
              <a:rPr lang="zh-CN" altLang="en-US" b="1" dirty="0"/>
              <a:t>、</a:t>
            </a:r>
            <a:r>
              <a:rPr lang="en-US" altLang="zh-CN" b="1" dirty="0"/>
              <a:t>.</a:t>
            </a:r>
            <a:r>
              <a:rPr lang="en-US" altLang="zh-CN" b="1" dirty="0" err="1"/>
              <a:t>js</a:t>
            </a:r>
            <a:r>
              <a:rPr lang="zh-CN" altLang="en-US" b="1" dirty="0"/>
              <a:t>和</a:t>
            </a:r>
            <a:r>
              <a:rPr lang="en-US" altLang="zh-CN" b="1" dirty="0"/>
              <a:t>.</a:t>
            </a:r>
            <a:r>
              <a:rPr lang="en-US" altLang="zh-CN" b="1" dirty="0" err="1"/>
              <a:t>prl</a:t>
            </a:r>
            <a:r>
              <a:rPr lang="zh-CN" altLang="en-US" b="1" dirty="0"/>
              <a:t>。</a:t>
            </a:r>
          </a:p>
          <a:p>
            <a:pPr indent="-179705">
              <a:buFont typeface="Wingdings" panose="05000000000000000000" pitchFamily="2" charset="2"/>
              <a:buNone/>
              <a:defRPr/>
            </a:pPr>
            <a:r>
              <a:rPr lang="zh-CN" altLang="en-US" b="1" dirty="0">
                <a:solidFill>
                  <a:srgbClr val="0033CC"/>
                </a:solidFill>
              </a:rPr>
              <a:t>（</a:t>
            </a:r>
            <a:r>
              <a:rPr lang="en-US" altLang="zh-CN" b="1" dirty="0">
                <a:solidFill>
                  <a:srgbClr val="0033CC"/>
                </a:solidFill>
              </a:rPr>
              <a:t>3</a:t>
            </a:r>
            <a:r>
              <a:rPr lang="zh-CN" altLang="en-US" b="1" dirty="0">
                <a:solidFill>
                  <a:srgbClr val="0033CC"/>
                </a:solidFill>
              </a:rPr>
              <a:t>）宏</a:t>
            </a:r>
            <a:r>
              <a:rPr lang="zh-CN" altLang="en-US" b="1" dirty="0"/>
              <a:t>。携带者是宏脚本语言的文件。</a:t>
            </a:r>
          </a:p>
          <a:p>
            <a:pPr indent="-179705">
              <a:buFont typeface="Wingdings" panose="05000000000000000000" pitchFamily="2" charset="2"/>
              <a:buNone/>
              <a:defRPr/>
            </a:pPr>
            <a:r>
              <a:rPr lang="zh-CN" altLang="en-US" b="1" dirty="0">
                <a:solidFill>
                  <a:srgbClr val="0033CC"/>
                </a:solidFill>
              </a:rPr>
              <a:t>（</a:t>
            </a:r>
            <a:r>
              <a:rPr lang="en-US" altLang="zh-CN" b="1" dirty="0">
                <a:solidFill>
                  <a:srgbClr val="0033CC"/>
                </a:solidFill>
              </a:rPr>
              <a:t>4</a:t>
            </a:r>
            <a:r>
              <a:rPr lang="zh-CN" altLang="en-US" b="1" dirty="0">
                <a:solidFill>
                  <a:srgbClr val="0033CC"/>
                </a:solidFill>
              </a:rPr>
              <a:t>）启动扇区</a:t>
            </a:r>
            <a:r>
              <a:rPr lang="zh-CN" altLang="en-US" b="1" dirty="0"/>
              <a:t>。计算机磁盘上的特定区域也可以作为携带者，因为它可以执行恶意代码。</a:t>
            </a:r>
          </a:p>
          <a:p>
            <a:pPr>
              <a:buFont typeface="Arial" panose="020B0604020202020204" pitchFamily="34" charset="0"/>
              <a:buChar char="•"/>
              <a:defRPr/>
            </a:pPr>
            <a:endParaRPr lang="zh-CN" altLang="zh-CN" b="1" dirty="0"/>
          </a:p>
        </p:txBody>
      </p:sp>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9.4.2 </a:t>
            </a:r>
            <a:r>
              <a:rPr altLang="en-US" sz="2000" dirty="0"/>
              <a:t>病毒的机理与防治</a:t>
            </a:r>
          </a:p>
        </p:txBody>
      </p:sp>
    </p:spTree>
  </p:cSld>
  <p:clrMapOvr>
    <a:masterClrMapping/>
  </p:clrMapOvr>
  <p:transition spd="med">
    <p:randomBar dir="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0" y="1071563"/>
            <a:ext cx="9144000" cy="3357562"/>
          </a:xfrm>
        </p:spPr>
        <p:txBody>
          <a:bodyPr/>
          <a:lstStyle/>
          <a:p>
            <a:pPr indent="-36195">
              <a:defRPr/>
            </a:pPr>
            <a:r>
              <a:rPr lang="en-US" altLang="zh-CN" b="1" dirty="0">
                <a:solidFill>
                  <a:srgbClr val="FF0000"/>
                </a:solidFill>
              </a:rPr>
              <a:t>  </a:t>
            </a:r>
            <a:r>
              <a:rPr lang="zh-CN" altLang="zh-CN" b="1" dirty="0">
                <a:solidFill>
                  <a:srgbClr val="FF0000"/>
                </a:solidFill>
              </a:rPr>
              <a:t>按照病毒的寄生存储的位置分类</a:t>
            </a:r>
          </a:p>
          <a:p>
            <a:pPr indent="-36195">
              <a:buFont typeface="Wingdings" panose="05000000000000000000" pitchFamily="2" charset="2"/>
              <a:buNone/>
              <a:defRPr/>
            </a:pPr>
            <a:r>
              <a:rPr lang="zh-CN" altLang="en-US" b="1" dirty="0"/>
              <a:t>（</a:t>
            </a:r>
            <a:r>
              <a:rPr lang="en-US" altLang="zh-CN" b="1" dirty="0"/>
              <a:t>1</a:t>
            </a:r>
            <a:r>
              <a:rPr lang="zh-CN" altLang="en-US" b="1" dirty="0"/>
              <a:t>）</a:t>
            </a:r>
            <a:r>
              <a:rPr lang="zh-CN" altLang="zh-CN" b="1" dirty="0">
                <a:solidFill>
                  <a:srgbClr val="0033CC"/>
                </a:solidFill>
              </a:rPr>
              <a:t>引导型病毒</a:t>
            </a:r>
            <a:r>
              <a:rPr lang="zh-CN" altLang="zh-CN" b="1" dirty="0"/>
              <a:t>。也称为引导区病毒。操作系统的引导模块存放在磁盘引导区，并且控制权的转接方式是以物理地址为依据，因此</a:t>
            </a:r>
            <a:r>
              <a:rPr lang="zh-CN" altLang="zh-CN" b="1" dirty="0">
                <a:solidFill>
                  <a:srgbClr val="FF0000"/>
                </a:solidFill>
              </a:rPr>
              <a:t>病毒占据</a:t>
            </a:r>
            <a:r>
              <a:rPr lang="zh-CN" altLang="zh-CN" b="1" dirty="0"/>
              <a:t>该</a:t>
            </a:r>
            <a:r>
              <a:rPr lang="zh-CN" altLang="zh-CN" b="1" dirty="0">
                <a:solidFill>
                  <a:srgbClr val="0033CC"/>
                </a:solidFill>
              </a:rPr>
              <a:t>物理位置</a:t>
            </a:r>
            <a:r>
              <a:rPr lang="zh-CN" altLang="zh-CN" b="1" dirty="0">
                <a:solidFill>
                  <a:srgbClr val="FF0000"/>
                </a:solidFill>
              </a:rPr>
              <a:t>即可获得控制权</a:t>
            </a:r>
            <a:r>
              <a:rPr lang="zh-CN" altLang="zh-CN" b="1" dirty="0"/>
              <a:t>。</a:t>
            </a:r>
            <a:endParaRPr lang="en-US" altLang="zh-CN" b="1" dirty="0"/>
          </a:p>
          <a:p>
            <a:pPr indent="-36195">
              <a:buFont typeface="Wingdings" panose="05000000000000000000" pitchFamily="2" charset="2"/>
              <a:buNone/>
              <a:defRPr/>
            </a:pPr>
            <a:r>
              <a:rPr lang="zh-CN" altLang="en-US" b="1" dirty="0"/>
              <a:t>（</a:t>
            </a:r>
            <a:r>
              <a:rPr lang="en-US" altLang="zh-CN" b="1" dirty="0"/>
              <a:t>2</a:t>
            </a:r>
            <a:r>
              <a:rPr lang="zh-CN" altLang="en-US" b="1" dirty="0"/>
              <a:t>）</a:t>
            </a:r>
            <a:r>
              <a:rPr lang="zh-CN" altLang="zh-CN" sz="2000" b="1" u="sng" dirty="0">
                <a:solidFill>
                  <a:srgbClr val="FF0000"/>
                </a:solidFill>
                <a:effectLst>
                  <a:outerShdw blurRad="38100" dist="38100" dir="2700000" algn="tl">
                    <a:srgbClr val="000000">
                      <a:alpha val="43137"/>
                    </a:srgbClr>
                  </a:outerShdw>
                </a:effectLst>
              </a:rPr>
              <a:t>文件型病毒</a:t>
            </a:r>
            <a:r>
              <a:rPr lang="zh-CN" altLang="zh-CN" b="1" dirty="0"/>
              <a:t>。文件型病毒主要感染可执行文件，如扩展名为</a:t>
            </a:r>
            <a:r>
              <a:rPr lang="en-US" altLang="zh-CN" b="1" dirty="0"/>
              <a:t>.EXE</a:t>
            </a:r>
            <a:r>
              <a:rPr lang="zh-CN" altLang="zh-CN" b="1" dirty="0"/>
              <a:t>、</a:t>
            </a:r>
            <a:r>
              <a:rPr lang="en-US" altLang="zh-CN" b="1" dirty="0"/>
              <a:t>.COM</a:t>
            </a:r>
            <a:r>
              <a:rPr lang="zh-CN" altLang="zh-CN" b="1" dirty="0"/>
              <a:t>等文件，是一种较为常见的病毒。目录病毒是文件型病毒的一种特例，其感染方式非常独特，仅修改目录区，便可达感染的目的。宏病毒则是一种数据文件型病毒。</a:t>
            </a:r>
            <a:r>
              <a:rPr lang="en-US" altLang="zh-CN" sz="2000" b="1" u="sng" dirty="0">
                <a:solidFill>
                  <a:srgbClr val="FF0000"/>
                </a:solidFill>
                <a:effectLst>
                  <a:outerShdw blurRad="38100" dist="38100" dir="2700000" algn="tl">
                    <a:srgbClr val="000000">
                      <a:alpha val="43137"/>
                    </a:srgbClr>
                  </a:outerShdw>
                </a:effectLst>
              </a:rPr>
              <a:t>(</a:t>
            </a:r>
            <a:r>
              <a:rPr lang="zh-CN" altLang="en-US" sz="2000" b="1" u="sng" dirty="0">
                <a:solidFill>
                  <a:srgbClr val="FF0000"/>
                </a:solidFill>
                <a:effectLst>
                  <a:outerShdw blurRad="38100" dist="38100" dir="2700000" algn="tl">
                    <a:srgbClr val="000000">
                      <a:alpha val="43137"/>
                    </a:srgbClr>
                  </a:outerShdw>
                </a:effectLst>
              </a:rPr>
              <a:t>展开介绍</a:t>
            </a:r>
            <a:r>
              <a:rPr lang="en-US" altLang="zh-CN" sz="2000" b="1" u="sng" dirty="0">
                <a:solidFill>
                  <a:srgbClr val="FF0000"/>
                </a:solidFill>
                <a:effectLst>
                  <a:outerShdw blurRad="38100" dist="38100" dir="2700000" algn="tl">
                    <a:srgbClr val="000000">
                      <a:alpha val="43137"/>
                    </a:srgbClr>
                  </a:outerShdw>
                </a:effectLst>
              </a:rPr>
              <a:t>)</a:t>
            </a:r>
            <a:endParaRPr lang="zh-CN" altLang="zh-CN" sz="2000" b="1" u="sng" dirty="0">
              <a:solidFill>
                <a:srgbClr val="FF0000"/>
              </a:solidFill>
              <a:effectLst>
                <a:outerShdw blurRad="38100" dist="38100" dir="2700000" algn="tl">
                  <a:srgbClr val="000000">
                    <a:alpha val="43137"/>
                  </a:srgbClr>
                </a:outerShdw>
              </a:effectLst>
            </a:endParaRPr>
          </a:p>
          <a:p>
            <a:pPr indent="-36195">
              <a:buFont typeface="Wingdings" panose="05000000000000000000" pitchFamily="2" charset="2"/>
              <a:buNone/>
              <a:defRPr/>
            </a:pPr>
            <a:r>
              <a:rPr lang="zh-CN" altLang="en-US" b="1" dirty="0"/>
              <a:t>（</a:t>
            </a:r>
            <a:r>
              <a:rPr lang="en-US" altLang="zh-CN" b="1" dirty="0"/>
              <a:t>3</a:t>
            </a:r>
            <a:r>
              <a:rPr lang="zh-CN" altLang="en-US" b="1" dirty="0"/>
              <a:t>）</a:t>
            </a:r>
            <a:r>
              <a:rPr lang="zh-CN" altLang="zh-CN" b="1" dirty="0">
                <a:solidFill>
                  <a:srgbClr val="0033CC"/>
                </a:solidFill>
              </a:rPr>
              <a:t>混合型病毒</a:t>
            </a:r>
            <a:r>
              <a:rPr lang="zh-CN" altLang="zh-CN" b="1" dirty="0"/>
              <a:t>。也称为多型病毒，是综合了引导型和文件型病毒特征的病毒，可感染文件和引导扇区两种目标。本节重点介绍文件型病毒。</a:t>
            </a:r>
          </a:p>
          <a:p>
            <a:pPr>
              <a:buFont typeface="Arial" panose="020B0604020202020204" pitchFamily="34" charset="0"/>
              <a:buChar char="•"/>
              <a:defRPr/>
            </a:pPr>
            <a:endParaRPr lang="zh-CN" altLang="zh-CN" b="1" dirty="0"/>
          </a:p>
          <a:p>
            <a:pPr>
              <a:buFont typeface="Arial" panose="020B0604020202020204" pitchFamily="34" charset="0"/>
              <a:buChar char="•"/>
              <a:defRPr/>
            </a:pPr>
            <a:endParaRPr lang="zh-CN" altLang="zh-CN" b="1" dirty="0"/>
          </a:p>
        </p:txBody>
      </p:sp>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9.4.2 </a:t>
            </a:r>
            <a:r>
              <a:rPr altLang="en-US" sz="2000" dirty="0"/>
              <a:t>病毒的机理与防治</a:t>
            </a:r>
          </a:p>
        </p:txBody>
      </p:sp>
    </p:spTree>
  </p:cSld>
  <p:clrMapOvr>
    <a:masterClrMapping/>
  </p:clrMapOvr>
  <p:transition spd="med">
    <p:randomBar dir="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0" y="928688"/>
            <a:ext cx="9144000" cy="3714750"/>
          </a:xfrm>
        </p:spPr>
        <p:txBody>
          <a:bodyPr/>
          <a:lstStyle/>
          <a:p>
            <a:pPr>
              <a:buFont typeface="Wingdings" panose="05000000000000000000" pitchFamily="2" charset="2"/>
              <a:buNone/>
              <a:defRPr/>
            </a:pPr>
            <a:r>
              <a:rPr lang="en-US" altLang="zh-CN" sz="2000" b="1" dirty="0">
                <a:solidFill>
                  <a:schemeClr val="accent6"/>
                </a:solidFill>
              </a:rPr>
              <a:t>2. </a:t>
            </a:r>
            <a:r>
              <a:rPr lang="zh-CN" altLang="zh-CN" sz="2000" b="1" dirty="0">
                <a:solidFill>
                  <a:schemeClr val="accent6"/>
                </a:solidFill>
              </a:rPr>
              <a:t>病毒的分类</a:t>
            </a:r>
          </a:p>
          <a:p>
            <a:pPr>
              <a:defRPr/>
            </a:pPr>
            <a:r>
              <a:rPr lang="zh-CN" altLang="zh-CN" b="1" dirty="0">
                <a:solidFill>
                  <a:srgbClr val="FF0000"/>
                </a:solidFill>
              </a:rPr>
              <a:t>按照病毒的链接方式分类</a:t>
            </a:r>
          </a:p>
          <a:p>
            <a:pPr indent="-36195">
              <a:buFont typeface="Wingdings" panose="05000000000000000000" pitchFamily="2" charset="2"/>
              <a:buNone/>
              <a:defRPr/>
            </a:pPr>
            <a:r>
              <a:rPr lang="zh-CN" altLang="en-US" sz="1400" b="1" dirty="0"/>
              <a:t>（</a:t>
            </a:r>
            <a:r>
              <a:rPr lang="en-US" altLang="zh-CN" sz="1400" b="1" dirty="0"/>
              <a:t>1</a:t>
            </a:r>
            <a:r>
              <a:rPr lang="zh-CN" altLang="en-US" sz="1400" b="1" dirty="0"/>
              <a:t>）</a:t>
            </a:r>
            <a:r>
              <a:rPr lang="zh-CN" altLang="zh-CN" sz="1400" b="1" dirty="0">
                <a:solidFill>
                  <a:srgbClr val="0033CC"/>
                </a:solidFill>
              </a:rPr>
              <a:t>源码型病毒</a:t>
            </a:r>
            <a:r>
              <a:rPr lang="zh-CN" altLang="zh-CN" sz="1400" b="1" dirty="0"/>
              <a:t>。该病毒攻击高级语言编写的程序。这类病毒</a:t>
            </a:r>
            <a:r>
              <a:rPr lang="zh-CN" altLang="zh-CN" sz="1400" b="1" dirty="0">
                <a:effectLst>
                  <a:outerShdw blurRad="38100" dist="38100" dir="2700000" algn="tl">
                    <a:srgbClr val="000000">
                      <a:alpha val="43137"/>
                    </a:srgbClr>
                  </a:outerShdw>
                </a:effectLst>
              </a:rPr>
              <a:t>一般存在于</a:t>
            </a:r>
            <a:r>
              <a:rPr lang="zh-CN" altLang="zh-CN" sz="1400" b="1" u="sng" dirty="0"/>
              <a:t>语言处理程序</a:t>
            </a:r>
            <a:r>
              <a:rPr lang="zh-CN" altLang="zh-CN" sz="1400" b="1" dirty="0"/>
              <a:t>和</a:t>
            </a:r>
            <a:r>
              <a:rPr lang="zh-CN" altLang="zh-CN" sz="1400" b="1" u="sng" dirty="0"/>
              <a:t>链接程序</a:t>
            </a:r>
            <a:r>
              <a:rPr lang="zh-CN" altLang="zh-CN" sz="1400" b="1" dirty="0"/>
              <a:t>中。</a:t>
            </a:r>
          </a:p>
          <a:p>
            <a:pPr indent="-36195">
              <a:buFont typeface="Wingdings" panose="05000000000000000000" pitchFamily="2" charset="2"/>
              <a:buNone/>
              <a:defRPr/>
            </a:pPr>
            <a:r>
              <a:rPr lang="zh-CN" altLang="en-US" sz="1400" b="1" dirty="0"/>
              <a:t>（</a:t>
            </a:r>
            <a:r>
              <a:rPr lang="en-US" altLang="zh-CN" sz="1400" b="1" dirty="0"/>
              <a:t>2</a:t>
            </a:r>
            <a:r>
              <a:rPr lang="zh-CN" altLang="en-US" sz="1400" b="1" dirty="0"/>
              <a:t>）</a:t>
            </a:r>
            <a:r>
              <a:rPr lang="zh-CN" altLang="zh-CN" sz="1400" b="1" dirty="0">
                <a:solidFill>
                  <a:srgbClr val="0033CC"/>
                </a:solidFill>
              </a:rPr>
              <a:t>嵌入型病毒</a:t>
            </a:r>
            <a:r>
              <a:rPr lang="zh-CN" altLang="en-US" sz="1400" b="1" dirty="0"/>
              <a:t>。</a:t>
            </a:r>
            <a:r>
              <a:rPr lang="zh-CN" altLang="zh-CN" sz="1400" b="1" dirty="0"/>
              <a:t>也称为入侵型病毒。该类病毒将自身嵌入到已有程序中，把</a:t>
            </a:r>
            <a:r>
              <a:rPr lang="zh-CN" altLang="zh-CN" sz="1400" b="1" dirty="0">
                <a:effectLst>
                  <a:outerShdw blurRad="38100" dist="38100" dir="2700000" algn="tl">
                    <a:srgbClr val="000000">
                      <a:alpha val="43137"/>
                    </a:srgbClr>
                  </a:outerShdw>
                </a:effectLst>
              </a:rPr>
              <a:t>病毒的主体程序与其攻击</a:t>
            </a:r>
            <a:r>
              <a:rPr lang="en-US" altLang="zh-CN" sz="1400" b="1" dirty="0">
                <a:effectLst>
                  <a:outerShdw blurRad="38100" dist="38100" dir="2700000" algn="tl">
                    <a:srgbClr val="000000">
                      <a:alpha val="43137"/>
                    </a:srgbClr>
                  </a:outerShdw>
                </a:effectLst>
              </a:rPr>
              <a:t>  </a:t>
            </a:r>
          </a:p>
          <a:p>
            <a:pPr indent="-36195">
              <a:buFont typeface="Wingdings" panose="05000000000000000000" pitchFamily="2" charset="2"/>
              <a:buNone/>
              <a:defRPr/>
            </a:pPr>
            <a:r>
              <a:rPr lang="en-US" altLang="zh-CN" sz="1400" b="1" dirty="0">
                <a:effectLst>
                  <a:outerShdw blurRad="38100" dist="38100" dir="2700000" algn="tl">
                    <a:srgbClr val="000000">
                      <a:alpha val="43137"/>
                    </a:srgbClr>
                  </a:outerShdw>
                </a:effectLst>
              </a:rPr>
              <a:t>                                </a:t>
            </a:r>
            <a:r>
              <a:rPr lang="zh-CN" altLang="zh-CN" sz="1400" b="1" dirty="0">
                <a:effectLst>
                  <a:outerShdw blurRad="38100" dist="38100" dir="2700000" algn="tl">
                    <a:srgbClr val="000000">
                      <a:alpha val="43137"/>
                    </a:srgbClr>
                  </a:outerShdw>
                </a:effectLst>
              </a:rPr>
              <a:t>对象</a:t>
            </a:r>
            <a:r>
              <a:rPr lang="zh-CN" altLang="zh-CN" sz="1400" b="1" u="sng" dirty="0"/>
              <a:t>以插入方式链接</a:t>
            </a:r>
            <a:r>
              <a:rPr lang="zh-CN" altLang="zh-CN" sz="1400" b="1" dirty="0"/>
              <a:t>，</a:t>
            </a:r>
            <a:r>
              <a:rPr lang="zh-CN" altLang="zh-CN" sz="1400" b="1" u="sng" dirty="0"/>
              <a:t>并代替</a:t>
            </a:r>
            <a:r>
              <a:rPr lang="zh-CN" altLang="zh-CN" sz="1400" b="1" dirty="0"/>
              <a:t>其中部分</a:t>
            </a:r>
            <a:r>
              <a:rPr lang="zh-CN" altLang="zh-CN" sz="1400" b="1" dirty="0">
                <a:effectLst>
                  <a:outerShdw blurRad="38100" dist="38100" dir="2700000" algn="tl">
                    <a:srgbClr val="000000">
                      <a:alpha val="43137"/>
                    </a:srgbClr>
                  </a:outerShdw>
                </a:effectLst>
              </a:rPr>
              <a:t>不常用的功能模块</a:t>
            </a:r>
            <a:r>
              <a:rPr lang="zh-CN" altLang="zh-CN" sz="1400" b="1" dirty="0"/>
              <a:t>或</a:t>
            </a:r>
            <a:r>
              <a:rPr lang="zh-CN" altLang="zh-CN" sz="1400" b="1" dirty="0">
                <a:effectLst>
                  <a:outerShdw blurRad="38100" dist="38100" dir="2700000" algn="tl">
                    <a:srgbClr val="000000">
                      <a:alpha val="43137"/>
                    </a:srgbClr>
                  </a:outerShdw>
                </a:effectLst>
              </a:rPr>
              <a:t>堆栈区</a:t>
            </a:r>
            <a:r>
              <a:rPr lang="zh-CN" altLang="zh-CN" sz="1400" b="1" dirty="0"/>
              <a:t>。</a:t>
            </a:r>
          </a:p>
          <a:p>
            <a:pPr indent="-36195">
              <a:buFont typeface="Wingdings" panose="05000000000000000000" pitchFamily="2" charset="2"/>
              <a:buNone/>
              <a:defRPr/>
            </a:pPr>
            <a:r>
              <a:rPr lang="zh-CN" altLang="en-US" sz="1400" b="1" dirty="0"/>
              <a:t>（</a:t>
            </a:r>
            <a:r>
              <a:rPr lang="en-US" altLang="zh-CN" sz="1400" b="1" dirty="0"/>
              <a:t>3</a:t>
            </a:r>
            <a:r>
              <a:rPr lang="zh-CN" altLang="en-US" sz="1400" b="1" dirty="0"/>
              <a:t>）</a:t>
            </a:r>
            <a:r>
              <a:rPr lang="zh-CN" altLang="zh-CN" sz="1400" b="1" dirty="0">
                <a:solidFill>
                  <a:srgbClr val="0033CC"/>
                </a:solidFill>
              </a:rPr>
              <a:t>外壳病毒</a:t>
            </a:r>
            <a:r>
              <a:rPr lang="zh-CN" altLang="zh-CN" sz="1400" b="1" dirty="0"/>
              <a:t>。通常</a:t>
            </a:r>
            <a:r>
              <a:rPr lang="zh-CN" altLang="zh-CN" sz="1400" b="1" u="sng" dirty="0"/>
              <a:t>附在</a:t>
            </a:r>
            <a:r>
              <a:rPr lang="zh-CN" altLang="zh-CN" sz="1400" b="1" dirty="0">
                <a:effectLst>
                  <a:outerShdw blurRad="38100" dist="38100" dir="2700000" algn="tl">
                    <a:srgbClr val="000000">
                      <a:alpha val="43137"/>
                    </a:srgbClr>
                  </a:outerShdw>
                </a:effectLst>
              </a:rPr>
              <a:t>宿主程序的首部</a:t>
            </a:r>
            <a:r>
              <a:rPr lang="zh-CN" altLang="zh-CN" sz="1400" b="1" dirty="0"/>
              <a:t>或者</a:t>
            </a:r>
            <a:r>
              <a:rPr lang="zh-CN" altLang="zh-CN" sz="1400" b="1" dirty="0">
                <a:effectLst>
                  <a:outerShdw blurRad="38100" dist="38100" dir="2700000" algn="tl">
                    <a:srgbClr val="000000">
                      <a:alpha val="43137"/>
                    </a:srgbClr>
                  </a:outerShdw>
                </a:effectLst>
              </a:rPr>
              <a:t>尾部</a:t>
            </a:r>
            <a:r>
              <a:rPr lang="zh-CN" altLang="zh-CN" sz="1400" b="1" dirty="0"/>
              <a:t>，对原来的程序不做修改，相当于给宿主程序加了个</a:t>
            </a:r>
            <a:endParaRPr lang="en-US" altLang="zh-CN" sz="1400" b="1" dirty="0"/>
          </a:p>
          <a:p>
            <a:pPr indent="-36195">
              <a:buFont typeface="Wingdings" panose="05000000000000000000" pitchFamily="2" charset="2"/>
              <a:buNone/>
              <a:defRPr/>
            </a:pPr>
            <a:r>
              <a:rPr lang="en-US" altLang="zh-CN" sz="1400" b="1" dirty="0"/>
              <a:t>                             </a:t>
            </a:r>
            <a:r>
              <a:rPr lang="zh-CN" altLang="zh-CN" sz="1400" b="1" dirty="0"/>
              <a:t>外壳。</a:t>
            </a:r>
            <a:endParaRPr lang="en-US" altLang="zh-CN" sz="1400" b="1" dirty="0"/>
          </a:p>
          <a:p>
            <a:pPr indent="-36195">
              <a:buFont typeface="Wingdings" panose="05000000000000000000" pitchFamily="2" charset="2"/>
              <a:buNone/>
              <a:defRPr/>
            </a:pPr>
            <a:r>
              <a:rPr lang="zh-CN" altLang="en-US" sz="1400" b="1" dirty="0"/>
              <a:t>（</a:t>
            </a:r>
            <a:r>
              <a:rPr lang="en-US" altLang="zh-CN" sz="1400" b="1" dirty="0"/>
              <a:t>4</a:t>
            </a:r>
            <a:r>
              <a:rPr lang="zh-CN" altLang="en-US" sz="1400" b="1" dirty="0"/>
              <a:t>）</a:t>
            </a:r>
            <a:r>
              <a:rPr lang="zh-CN" altLang="zh-CN" sz="1400" b="1" dirty="0">
                <a:solidFill>
                  <a:srgbClr val="0033CC"/>
                </a:solidFill>
              </a:rPr>
              <a:t>译码型病毒</a:t>
            </a:r>
            <a:r>
              <a:rPr lang="zh-CN" altLang="zh-CN" sz="1400" b="1" dirty="0"/>
              <a:t>。</a:t>
            </a:r>
            <a:r>
              <a:rPr lang="zh-CN" altLang="zh-CN" sz="1400" b="1" u="sng" dirty="0"/>
              <a:t>隐藏在</a:t>
            </a:r>
            <a:r>
              <a:rPr lang="zh-CN" altLang="zh-CN" sz="1400" b="1" u="sng" dirty="0">
                <a:effectLst>
                  <a:outerShdw blurRad="38100" dist="38100" dir="2700000" algn="tl">
                    <a:srgbClr val="000000">
                      <a:alpha val="43137"/>
                    </a:srgbClr>
                  </a:outerShdw>
                </a:effectLst>
              </a:rPr>
              <a:t>微软</a:t>
            </a:r>
            <a:r>
              <a:rPr lang="en-US" altLang="zh-CN" sz="1400" b="1" u="sng" dirty="0">
                <a:effectLst>
                  <a:outerShdw blurRad="38100" dist="38100" dir="2700000" algn="tl">
                    <a:srgbClr val="000000">
                      <a:alpha val="43137"/>
                    </a:srgbClr>
                  </a:outerShdw>
                </a:effectLst>
              </a:rPr>
              <a:t>Office</a:t>
            </a:r>
            <a:r>
              <a:rPr lang="zh-CN" altLang="zh-CN" sz="1400" b="1" u="sng" dirty="0">
                <a:effectLst>
                  <a:outerShdw blurRad="38100" dist="38100" dir="2700000" algn="tl">
                    <a:srgbClr val="000000">
                      <a:alpha val="43137"/>
                    </a:srgbClr>
                  </a:outerShdw>
                </a:effectLst>
              </a:rPr>
              <a:t>等文档</a:t>
            </a:r>
            <a:r>
              <a:rPr lang="zh-CN" altLang="zh-CN" sz="1400" b="1" dirty="0">
                <a:effectLst>
                  <a:outerShdw blurRad="38100" dist="38100" dir="2700000" algn="tl">
                    <a:srgbClr val="000000">
                      <a:alpha val="43137"/>
                    </a:srgbClr>
                  </a:outerShdw>
                </a:effectLst>
              </a:rPr>
              <a:t>中</a:t>
            </a:r>
            <a:r>
              <a:rPr lang="zh-CN" altLang="zh-CN" sz="1400" b="1" dirty="0"/>
              <a:t>，如宏病毒、脚本</a:t>
            </a:r>
            <a:r>
              <a:rPr lang="en-US" altLang="zh-CN" sz="1400" b="1" dirty="0"/>
              <a:t>(VBS/JS)</a:t>
            </a:r>
            <a:r>
              <a:rPr lang="zh-CN" altLang="zh-CN" sz="1400" b="1" dirty="0"/>
              <a:t>病毒等，此类病毒一般是解释</a:t>
            </a:r>
            <a:endParaRPr lang="en-US" altLang="zh-CN" sz="1400" b="1" dirty="0"/>
          </a:p>
          <a:p>
            <a:pPr indent="-36195">
              <a:buFont typeface="Wingdings" panose="05000000000000000000" pitchFamily="2" charset="2"/>
              <a:buNone/>
              <a:defRPr/>
            </a:pPr>
            <a:r>
              <a:rPr lang="en-US" altLang="zh-CN" sz="1400" b="1" dirty="0"/>
              <a:t>                                </a:t>
            </a:r>
            <a:r>
              <a:rPr lang="zh-CN" altLang="zh-CN" sz="1400" b="1" dirty="0"/>
              <a:t>执行。</a:t>
            </a:r>
          </a:p>
          <a:p>
            <a:pPr indent="-36195">
              <a:buFont typeface="Wingdings" panose="05000000000000000000" pitchFamily="2" charset="2"/>
              <a:buNone/>
              <a:defRPr/>
            </a:pPr>
            <a:r>
              <a:rPr lang="zh-CN" altLang="en-US" sz="1400" b="1" dirty="0"/>
              <a:t>（</a:t>
            </a:r>
            <a:r>
              <a:rPr lang="en-US" altLang="zh-CN" sz="1400" b="1" dirty="0"/>
              <a:t>5</a:t>
            </a:r>
            <a:r>
              <a:rPr lang="zh-CN" altLang="en-US" sz="1400" b="1" dirty="0"/>
              <a:t>）</a:t>
            </a:r>
            <a:r>
              <a:rPr lang="zh-CN" altLang="zh-CN" sz="1400" b="1" dirty="0">
                <a:solidFill>
                  <a:srgbClr val="0033CC"/>
                </a:solidFill>
              </a:rPr>
              <a:t>操作系统型病毒</a:t>
            </a:r>
            <a:r>
              <a:rPr lang="zh-CN" altLang="zh-CN" sz="1400" b="1" dirty="0"/>
              <a:t>。这种病毒用自己的程序</a:t>
            </a:r>
            <a:r>
              <a:rPr lang="zh-CN" altLang="zh-CN" sz="1400" b="1" u="sng" dirty="0"/>
              <a:t>试图加入或取代</a:t>
            </a:r>
            <a:r>
              <a:rPr lang="zh-CN" altLang="zh-CN" sz="1400" b="1" dirty="0">
                <a:effectLst>
                  <a:outerShdw blurRad="38100" dist="38100" dir="2700000" algn="tl">
                    <a:srgbClr val="000000">
                      <a:alpha val="43137"/>
                    </a:srgbClr>
                  </a:outerShdw>
                </a:effectLst>
              </a:rPr>
              <a:t>部分操作系统功能</a:t>
            </a:r>
            <a:r>
              <a:rPr lang="zh-CN" altLang="zh-CN" sz="1400" b="1" dirty="0"/>
              <a:t>进行工作，在运行时，</a:t>
            </a:r>
            <a:endParaRPr lang="en-US" altLang="zh-CN" sz="1400" b="1" dirty="0"/>
          </a:p>
          <a:p>
            <a:pPr indent="-36195">
              <a:buFont typeface="Wingdings" panose="05000000000000000000" pitchFamily="2" charset="2"/>
              <a:buNone/>
              <a:defRPr/>
            </a:pPr>
            <a:r>
              <a:rPr lang="en-US" altLang="zh-CN" sz="1400" b="1" dirty="0"/>
              <a:t>                                      </a:t>
            </a:r>
            <a:r>
              <a:rPr lang="zh-CN" altLang="zh-CN" sz="1400" b="1" dirty="0"/>
              <a:t>用自己的逻辑部分取代操作系统的合法程序模块</a:t>
            </a:r>
            <a:r>
              <a:rPr lang="zh-CN" altLang="en-US" sz="1400" b="1" dirty="0"/>
              <a:t>，</a:t>
            </a:r>
            <a:r>
              <a:rPr lang="zh-CN" altLang="zh-CN" sz="1400" b="1" dirty="0"/>
              <a:t>对操作系统进行破坏。</a:t>
            </a:r>
          </a:p>
          <a:p>
            <a:pPr>
              <a:buFont typeface="Arial" panose="020B0604020202020204" pitchFamily="34" charset="0"/>
              <a:buChar char="•"/>
              <a:defRPr/>
            </a:pPr>
            <a:endParaRPr lang="zh-CN" altLang="zh-CN" b="1" dirty="0"/>
          </a:p>
        </p:txBody>
      </p:sp>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9.4.2 </a:t>
            </a:r>
            <a:r>
              <a:rPr altLang="en-US" sz="2000" dirty="0"/>
              <a:t>病毒的机理与防治</a:t>
            </a:r>
          </a:p>
        </p:txBody>
      </p:sp>
    </p:spTree>
  </p:cSld>
  <p:clrMapOvr>
    <a:masterClrMapping/>
  </p:clrMapOvr>
  <p:transition spd="med">
    <p:randomBar dir="ver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357188" y="928688"/>
            <a:ext cx="8501062" cy="1571625"/>
          </a:xfrm>
        </p:spPr>
        <p:txBody>
          <a:bodyPr/>
          <a:lstStyle/>
          <a:p>
            <a:pPr>
              <a:buFont typeface="Wingdings" panose="05000000000000000000" pitchFamily="2" charset="2"/>
              <a:buNone/>
              <a:defRPr/>
            </a:pPr>
            <a:r>
              <a:rPr lang="en-US" altLang="zh-CN" sz="1800" b="1" dirty="0">
                <a:solidFill>
                  <a:srgbClr val="FF0000"/>
                </a:solidFill>
              </a:rPr>
              <a:t>3. </a:t>
            </a:r>
            <a:r>
              <a:rPr lang="zh-CN" altLang="zh-CN" sz="1800" b="1" dirty="0">
                <a:solidFill>
                  <a:srgbClr val="FF0000"/>
                </a:solidFill>
              </a:rPr>
              <a:t>文件型病毒的感染技术</a:t>
            </a:r>
          </a:p>
          <a:p>
            <a:pPr indent="-36195">
              <a:buFont typeface="Wingdings" panose="05000000000000000000" pitchFamily="2" charset="2"/>
              <a:buNone/>
              <a:defRPr/>
            </a:pPr>
            <a:r>
              <a:rPr lang="zh-CN" altLang="en-US" b="1" dirty="0">
                <a:solidFill>
                  <a:srgbClr val="0033CC"/>
                </a:solidFill>
              </a:rPr>
              <a:t>（</a:t>
            </a:r>
            <a:r>
              <a:rPr lang="en-US" altLang="zh-CN" b="1" dirty="0">
                <a:solidFill>
                  <a:srgbClr val="0033CC"/>
                </a:solidFill>
              </a:rPr>
              <a:t>1</a:t>
            </a:r>
            <a:r>
              <a:rPr lang="zh-CN" altLang="en-US" b="1" dirty="0">
                <a:solidFill>
                  <a:srgbClr val="0033CC"/>
                </a:solidFill>
              </a:rPr>
              <a:t>）</a:t>
            </a:r>
            <a:r>
              <a:rPr lang="zh-CN" altLang="zh-CN" b="1" dirty="0">
                <a:solidFill>
                  <a:srgbClr val="0033CC"/>
                </a:solidFill>
              </a:rPr>
              <a:t>重写病毒</a:t>
            </a:r>
          </a:p>
          <a:p>
            <a:pPr marL="431800" indent="144145">
              <a:defRPr/>
            </a:pPr>
            <a:r>
              <a:rPr lang="zh-CN" altLang="zh-CN" b="1" dirty="0"/>
              <a:t>这种病毒从磁盘上找到一个文件，</a:t>
            </a:r>
            <a:r>
              <a:rPr lang="zh-CN" altLang="zh-CN" b="1" dirty="0">
                <a:solidFill>
                  <a:srgbClr val="FF0000"/>
                </a:solidFill>
              </a:rPr>
              <a:t>简单地用</a:t>
            </a:r>
            <a:r>
              <a:rPr lang="zh-CN" altLang="zh-CN" b="1" dirty="0">
                <a:solidFill>
                  <a:srgbClr val="0033CC"/>
                </a:solidFill>
              </a:rPr>
              <a:t>自己的副本</a:t>
            </a:r>
            <a:r>
              <a:rPr lang="zh-CN" altLang="zh-CN" b="1" dirty="0">
                <a:solidFill>
                  <a:srgbClr val="FF0000"/>
                </a:solidFill>
              </a:rPr>
              <a:t>改写该文件</a:t>
            </a:r>
            <a:r>
              <a:rPr lang="zh-CN" altLang="zh-CN" b="1" dirty="0"/>
              <a:t>，是一种较初级的技术。</a:t>
            </a:r>
            <a:r>
              <a:rPr lang="zh-CN" altLang="en-US" b="1" dirty="0"/>
              <a:t>下</a:t>
            </a:r>
            <a:r>
              <a:rPr lang="zh-CN" altLang="zh-CN" b="1" dirty="0"/>
              <a:t>图表示了重写病毒攻击时宿主文件内容的变化。</a:t>
            </a:r>
          </a:p>
        </p:txBody>
      </p:sp>
      <p:sp>
        <p:nvSpPr>
          <p:cNvPr id="8"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9"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9.4.2 </a:t>
            </a:r>
            <a:r>
              <a:rPr altLang="en-US" sz="2000" dirty="0"/>
              <a:t>病毒的机理与防治</a:t>
            </a:r>
          </a:p>
        </p:txBody>
      </p:sp>
      <p:grpSp>
        <p:nvGrpSpPr>
          <p:cNvPr id="2" name="组合 25"/>
          <p:cNvGrpSpPr/>
          <p:nvPr/>
        </p:nvGrpSpPr>
        <p:grpSpPr bwMode="auto">
          <a:xfrm>
            <a:off x="928688" y="2643188"/>
            <a:ext cx="3214687" cy="1736725"/>
            <a:chOff x="428596" y="2643188"/>
            <a:chExt cx="3214710" cy="1736537"/>
          </a:xfrm>
        </p:grpSpPr>
        <p:sp>
          <p:nvSpPr>
            <p:cNvPr id="55309" name="TextBox 10"/>
            <p:cNvSpPr txBox="1">
              <a:spLocks noChangeArrowheads="1"/>
            </p:cNvSpPr>
            <p:nvPr/>
          </p:nvSpPr>
          <p:spPr bwMode="auto">
            <a:xfrm>
              <a:off x="428596" y="4071948"/>
              <a:ext cx="321471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t>图</a:t>
              </a:r>
              <a:r>
                <a:rPr lang="en-US" altLang="zh-CN" sz="1400" b="1"/>
                <a:t>a </a:t>
              </a:r>
              <a:r>
                <a:rPr lang="zh-CN" altLang="en-US" sz="1400" b="1"/>
                <a:t>重写病毒攻击时</a:t>
              </a:r>
              <a:r>
                <a:rPr lang="zh-CN" altLang="en-US" sz="1400" b="1">
                  <a:solidFill>
                    <a:srgbClr val="FF0000"/>
                  </a:solidFill>
                </a:rPr>
                <a:t>改变</a:t>
              </a:r>
              <a:r>
                <a:rPr lang="zh-CN" altLang="en-US" sz="1400" b="1">
                  <a:solidFill>
                    <a:srgbClr val="0033CC"/>
                  </a:solidFill>
                </a:rPr>
                <a:t>宿主文件大小</a:t>
              </a:r>
            </a:p>
          </p:txBody>
        </p:sp>
        <p:sp>
          <p:nvSpPr>
            <p:cNvPr id="55310" name="矩形 12"/>
            <p:cNvSpPr>
              <a:spLocks noChangeArrowheads="1"/>
            </p:cNvSpPr>
            <p:nvPr/>
          </p:nvSpPr>
          <p:spPr bwMode="auto">
            <a:xfrm>
              <a:off x="714348" y="2928940"/>
              <a:ext cx="928694" cy="1071570"/>
            </a:xfrm>
            <a:prstGeom prst="rect">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b="1"/>
            </a:p>
          </p:txBody>
        </p:sp>
        <p:sp>
          <p:nvSpPr>
            <p:cNvPr id="14" name="矩形 13"/>
            <p:cNvSpPr/>
            <p:nvPr/>
          </p:nvSpPr>
          <p:spPr bwMode="auto">
            <a:xfrm>
              <a:off x="2571736" y="3071767"/>
              <a:ext cx="642942" cy="714298"/>
            </a:xfrm>
            <a:prstGeom prst="rect">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b="1"/>
            </a:p>
          </p:txBody>
        </p:sp>
        <p:sp>
          <p:nvSpPr>
            <p:cNvPr id="19" name="右箭头 18"/>
            <p:cNvSpPr/>
            <p:nvPr/>
          </p:nvSpPr>
          <p:spPr bwMode="auto">
            <a:xfrm>
              <a:off x="1785918" y="3286055"/>
              <a:ext cx="642943" cy="214290"/>
            </a:xfrm>
            <a:prstGeom prst="rightArrow">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b="1"/>
            </a:p>
          </p:txBody>
        </p:sp>
        <p:sp>
          <p:nvSpPr>
            <p:cNvPr id="55313" name="TextBox 20"/>
            <p:cNvSpPr txBox="1">
              <a:spLocks noChangeArrowheads="1"/>
            </p:cNvSpPr>
            <p:nvPr/>
          </p:nvSpPr>
          <p:spPr bwMode="auto">
            <a:xfrm>
              <a:off x="714348" y="2643188"/>
              <a:ext cx="85725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t>程序代码</a:t>
              </a:r>
            </a:p>
          </p:txBody>
        </p:sp>
        <p:sp>
          <p:nvSpPr>
            <p:cNvPr id="55314" name="TextBox 21"/>
            <p:cNvSpPr txBox="1">
              <a:spLocks noChangeArrowheads="1"/>
            </p:cNvSpPr>
            <p:nvPr/>
          </p:nvSpPr>
          <p:spPr bwMode="auto">
            <a:xfrm>
              <a:off x="2500298" y="2786064"/>
              <a:ext cx="92869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t>病毒代码</a:t>
              </a:r>
            </a:p>
          </p:txBody>
        </p:sp>
      </p:grpSp>
      <p:grpSp>
        <p:nvGrpSpPr>
          <p:cNvPr id="3" name="组合 26"/>
          <p:cNvGrpSpPr/>
          <p:nvPr/>
        </p:nvGrpSpPr>
        <p:grpSpPr bwMode="auto">
          <a:xfrm>
            <a:off x="4857750" y="2643188"/>
            <a:ext cx="3500438" cy="1736725"/>
            <a:chOff x="4572000" y="2714626"/>
            <a:chExt cx="3500462" cy="1736537"/>
          </a:xfrm>
        </p:grpSpPr>
        <p:sp>
          <p:nvSpPr>
            <p:cNvPr id="55303" name="矩形 15"/>
            <p:cNvSpPr>
              <a:spLocks noChangeArrowheads="1"/>
            </p:cNvSpPr>
            <p:nvPr/>
          </p:nvSpPr>
          <p:spPr bwMode="auto">
            <a:xfrm>
              <a:off x="4786314" y="3000378"/>
              <a:ext cx="928694" cy="1071570"/>
            </a:xfrm>
            <a:prstGeom prst="rect">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b="1"/>
            </a:p>
          </p:txBody>
        </p:sp>
        <p:grpSp>
          <p:nvGrpSpPr>
            <p:cNvPr id="4" name="组合 17"/>
            <p:cNvGrpSpPr/>
            <p:nvPr/>
          </p:nvGrpSpPr>
          <p:grpSpPr>
            <a:xfrm>
              <a:off x="6643702" y="3000378"/>
              <a:ext cx="928694" cy="1071570"/>
              <a:chOff x="6072198" y="3143254"/>
              <a:chExt cx="928694" cy="1071570"/>
            </a:xfrm>
            <a:solidFill>
              <a:schemeClr val="bg1"/>
            </a:solidFill>
          </p:grpSpPr>
          <p:sp>
            <p:nvSpPr>
              <p:cNvPr id="15" name="矩形 14"/>
              <p:cNvSpPr/>
              <p:nvPr/>
            </p:nvSpPr>
            <p:spPr bwMode="auto">
              <a:xfrm>
                <a:off x="6072198" y="3143254"/>
                <a:ext cx="928694" cy="1071570"/>
              </a:xfrm>
              <a:prstGeom prst="rect">
                <a:avLst/>
              </a:prstGeom>
              <a:grp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b="1"/>
              </a:p>
            </p:txBody>
          </p:sp>
          <p:sp>
            <p:nvSpPr>
              <p:cNvPr id="17" name="矩形 16"/>
              <p:cNvSpPr/>
              <p:nvPr/>
            </p:nvSpPr>
            <p:spPr bwMode="auto">
              <a:xfrm>
                <a:off x="6072198" y="3143254"/>
                <a:ext cx="571504" cy="571504"/>
              </a:xfrm>
              <a:prstGeom prst="rect">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b="1"/>
              </a:p>
            </p:txBody>
          </p:sp>
        </p:grpSp>
        <p:sp>
          <p:nvSpPr>
            <p:cNvPr id="20" name="右箭头 19"/>
            <p:cNvSpPr/>
            <p:nvPr/>
          </p:nvSpPr>
          <p:spPr bwMode="auto">
            <a:xfrm>
              <a:off x="5857884" y="3357493"/>
              <a:ext cx="642942" cy="214290"/>
            </a:xfrm>
            <a:prstGeom prst="rightArrow">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b="1"/>
            </a:p>
          </p:txBody>
        </p:sp>
        <p:sp>
          <p:nvSpPr>
            <p:cNvPr id="55306" name="TextBox 22"/>
            <p:cNvSpPr txBox="1">
              <a:spLocks noChangeArrowheads="1"/>
            </p:cNvSpPr>
            <p:nvPr/>
          </p:nvSpPr>
          <p:spPr bwMode="auto">
            <a:xfrm>
              <a:off x="4786314" y="2714626"/>
              <a:ext cx="85725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t>程序代码</a:t>
              </a:r>
            </a:p>
          </p:txBody>
        </p:sp>
        <p:sp>
          <p:nvSpPr>
            <p:cNvPr id="55307" name="TextBox 23"/>
            <p:cNvSpPr txBox="1">
              <a:spLocks noChangeArrowheads="1"/>
            </p:cNvSpPr>
            <p:nvPr/>
          </p:nvSpPr>
          <p:spPr bwMode="auto">
            <a:xfrm>
              <a:off x="6643702" y="2714626"/>
              <a:ext cx="92869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t>病毒代码</a:t>
              </a:r>
            </a:p>
          </p:txBody>
        </p:sp>
        <p:sp>
          <p:nvSpPr>
            <p:cNvPr id="55308" name="TextBox 24"/>
            <p:cNvSpPr txBox="1">
              <a:spLocks noChangeArrowheads="1"/>
            </p:cNvSpPr>
            <p:nvPr/>
          </p:nvSpPr>
          <p:spPr bwMode="auto">
            <a:xfrm>
              <a:off x="4572000" y="4143386"/>
              <a:ext cx="35004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t>图</a:t>
              </a:r>
              <a:r>
                <a:rPr lang="en-US" altLang="zh-CN" sz="1400" b="1"/>
                <a:t>b </a:t>
              </a:r>
              <a:r>
                <a:rPr lang="zh-CN" altLang="en-US" sz="1400" b="1"/>
                <a:t>重写病毒攻击时</a:t>
              </a:r>
              <a:r>
                <a:rPr lang="zh-CN" altLang="en-US" sz="1400" b="1">
                  <a:solidFill>
                    <a:srgbClr val="FF0000"/>
                  </a:solidFill>
                </a:rPr>
                <a:t>未改变</a:t>
              </a:r>
              <a:r>
                <a:rPr lang="zh-CN" altLang="en-US" sz="1400" b="1">
                  <a:solidFill>
                    <a:srgbClr val="0033CC"/>
                  </a:solidFill>
                </a:rPr>
                <a:t>宿主文件大小</a:t>
              </a:r>
            </a:p>
          </p:txBody>
        </p:sp>
      </p:gr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animEffect transition="in" filter="fade">
                                      <p:cBhvr>
                                        <p:cTn id="11" dur="500"/>
                                        <p:tgtEl>
                                          <p:spTgt spid="9219">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219">
                                            <p:txEl>
                                              <p:pRg st="2" end="2"/>
                                            </p:txEl>
                                          </p:spTgt>
                                        </p:tgtEl>
                                        <p:attrNameLst>
                                          <p:attrName>style.visibility</p:attrName>
                                        </p:attrNameLst>
                                      </p:cBhvr>
                                      <p:to>
                                        <p:strVal val="visible"/>
                                      </p:to>
                                    </p:set>
                                    <p:animEffect transition="in" filter="fade">
                                      <p:cBhvr>
                                        <p:cTn id="15" dur="500"/>
                                        <p:tgtEl>
                                          <p:spTgt spid="921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4"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heel(4)">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heel(4)">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357188" y="1000125"/>
            <a:ext cx="8358187" cy="1214438"/>
          </a:xfrm>
        </p:spPr>
        <p:txBody>
          <a:bodyPr/>
          <a:lstStyle/>
          <a:p>
            <a:pPr>
              <a:buFont typeface="Wingdings" panose="05000000000000000000" pitchFamily="2" charset="2"/>
              <a:buNone/>
              <a:defRPr/>
            </a:pPr>
            <a:r>
              <a:rPr lang="zh-CN" altLang="en-US" b="1" dirty="0">
                <a:solidFill>
                  <a:srgbClr val="0033CC"/>
                </a:solidFill>
              </a:rPr>
              <a:t>（</a:t>
            </a:r>
            <a:r>
              <a:rPr lang="en-US" altLang="zh-CN" b="1" dirty="0">
                <a:solidFill>
                  <a:srgbClr val="0033CC"/>
                </a:solidFill>
              </a:rPr>
              <a:t>2</a:t>
            </a:r>
            <a:r>
              <a:rPr lang="zh-CN" altLang="en-US" b="1" dirty="0">
                <a:solidFill>
                  <a:srgbClr val="0033CC"/>
                </a:solidFill>
              </a:rPr>
              <a:t>）</a:t>
            </a:r>
            <a:r>
              <a:rPr lang="zh-CN" altLang="zh-CN" b="1" dirty="0">
                <a:solidFill>
                  <a:srgbClr val="0033CC"/>
                </a:solidFill>
              </a:rPr>
              <a:t>追加病毒</a:t>
            </a:r>
          </a:p>
          <a:p>
            <a:pPr indent="-36195">
              <a:defRPr/>
            </a:pPr>
            <a:r>
              <a:rPr lang="zh-CN" altLang="zh-CN" b="1" dirty="0"/>
              <a:t>典型的</a:t>
            </a:r>
            <a:r>
              <a:rPr lang="en-US" altLang="zh-CN" b="1" dirty="0"/>
              <a:t>DOS</a:t>
            </a:r>
            <a:r>
              <a:rPr lang="zh-CN" altLang="zh-CN" b="1" dirty="0"/>
              <a:t>环境下的</a:t>
            </a:r>
            <a:r>
              <a:rPr lang="en-US" altLang="zh-CN" b="1" dirty="0"/>
              <a:t>COM</a:t>
            </a:r>
            <a:r>
              <a:rPr lang="zh-CN" altLang="zh-CN" b="1" dirty="0"/>
              <a:t>文件感染技术是</a:t>
            </a:r>
            <a:r>
              <a:rPr lang="zh-CN" altLang="zh-CN" b="1" dirty="0">
                <a:solidFill>
                  <a:srgbClr val="0033CC"/>
                </a:solidFill>
              </a:rPr>
              <a:t>在宿主文件的头部</a:t>
            </a:r>
            <a:r>
              <a:rPr lang="zh-CN" altLang="zh-CN" b="1" dirty="0">
                <a:solidFill>
                  <a:srgbClr val="FF0000"/>
                </a:solidFill>
              </a:rPr>
              <a:t>插入一条</a:t>
            </a:r>
            <a:r>
              <a:rPr lang="en-US" altLang="zh-CN" b="1" dirty="0">
                <a:solidFill>
                  <a:srgbClr val="0033CC"/>
                </a:solidFill>
              </a:rPr>
              <a:t>JMP</a:t>
            </a:r>
            <a:r>
              <a:rPr lang="zh-CN" altLang="zh-CN" b="1" dirty="0">
                <a:solidFill>
                  <a:srgbClr val="0033CC"/>
                </a:solidFill>
              </a:rPr>
              <a:t>指令</a:t>
            </a:r>
            <a:r>
              <a:rPr lang="zh-CN" altLang="zh-CN" b="1" dirty="0"/>
              <a:t>，</a:t>
            </a:r>
            <a:r>
              <a:rPr lang="zh-CN" altLang="zh-CN" b="1" dirty="0">
                <a:solidFill>
                  <a:srgbClr val="FF0000"/>
                </a:solidFill>
              </a:rPr>
              <a:t>指向</a:t>
            </a:r>
            <a:r>
              <a:rPr lang="zh-CN" altLang="zh-CN" b="1" dirty="0">
                <a:solidFill>
                  <a:srgbClr val="0033CC"/>
                </a:solidFill>
              </a:rPr>
              <a:t>初始文件的尾部</a:t>
            </a:r>
            <a:r>
              <a:rPr lang="zh-CN" altLang="zh-CN" b="1" dirty="0"/>
              <a:t>。</a:t>
            </a:r>
            <a:r>
              <a:rPr lang="zh-CN" altLang="en-US" b="1" dirty="0"/>
              <a:t>下图</a:t>
            </a:r>
            <a:r>
              <a:rPr lang="zh-CN" altLang="zh-CN" b="1" dirty="0"/>
              <a:t>显示典型的</a:t>
            </a:r>
            <a:r>
              <a:rPr lang="en-US" altLang="zh-CN" b="1" dirty="0"/>
              <a:t>DOS COM</a:t>
            </a:r>
            <a:r>
              <a:rPr lang="zh-CN" altLang="zh-CN" b="1" dirty="0"/>
              <a:t>追加病毒。</a:t>
            </a:r>
          </a:p>
        </p:txBody>
      </p:sp>
      <p:sp>
        <p:nvSpPr>
          <p:cNvPr id="7"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9.4.2 </a:t>
            </a:r>
            <a:r>
              <a:rPr altLang="en-US" sz="2000" dirty="0"/>
              <a:t>病毒的机理与防治</a:t>
            </a:r>
          </a:p>
        </p:txBody>
      </p:sp>
      <p:grpSp>
        <p:nvGrpSpPr>
          <p:cNvPr id="2" name="组合 66"/>
          <p:cNvGrpSpPr/>
          <p:nvPr/>
        </p:nvGrpSpPr>
        <p:grpSpPr bwMode="auto">
          <a:xfrm>
            <a:off x="2500313" y="2286000"/>
            <a:ext cx="3787775" cy="2093913"/>
            <a:chOff x="571472" y="2500312"/>
            <a:chExt cx="3787008" cy="2093727"/>
          </a:xfrm>
        </p:grpSpPr>
        <p:grpSp>
          <p:nvGrpSpPr>
            <p:cNvPr id="56326" name="组合 18"/>
            <p:cNvGrpSpPr/>
            <p:nvPr/>
          </p:nvGrpSpPr>
          <p:grpSpPr bwMode="auto">
            <a:xfrm>
              <a:off x="571472" y="2643188"/>
              <a:ext cx="3571900" cy="1571636"/>
              <a:chOff x="357158" y="2285998"/>
              <a:chExt cx="3571900" cy="1571636"/>
            </a:xfrm>
          </p:grpSpPr>
          <p:sp>
            <p:nvSpPr>
              <p:cNvPr id="56335" name="矩形 10"/>
              <p:cNvSpPr>
                <a:spLocks noChangeArrowheads="1"/>
              </p:cNvSpPr>
              <p:nvPr/>
            </p:nvSpPr>
            <p:spPr bwMode="auto">
              <a:xfrm>
                <a:off x="357158" y="2285998"/>
                <a:ext cx="1357322" cy="1571636"/>
              </a:xfrm>
              <a:prstGeom prst="rect">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程序代码</a:t>
                </a:r>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zh-CN" altLang="en-US" sz="1200" b="1"/>
              </a:p>
            </p:txBody>
          </p:sp>
          <p:grpSp>
            <p:nvGrpSpPr>
              <p:cNvPr id="4" name="组合 17"/>
              <p:cNvGrpSpPr/>
              <p:nvPr/>
            </p:nvGrpSpPr>
            <p:grpSpPr>
              <a:xfrm>
                <a:off x="2571736" y="2285998"/>
                <a:ext cx="1357322" cy="1571636"/>
                <a:chOff x="6143636" y="2857502"/>
                <a:chExt cx="1357322" cy="1571636"/>
              </a:xfrm>
              <a:solidFill>
                <a:schemeClr val="bg1"/>
              </a:solidFill>
            </p:grpSpPr>
            <p:sp>
              <p:nvSpPr>
                <p:cNvPr id="17" name="矩形 16"/>
                <p:cNvSpPr/>
                <p:nvPr/>
              </p:nvSpPr>
              <p:spPr bwMode="auto">
                <a:xfrm>
                  <a:off x="6143636" y="2857502"/>
                  <a:ext cx="1357322" cy="1571636"/>
                </a:xfrm>
                <a:prstGeom prst="rect">
                  <a:avLst/>
                </a:prstGeom>
                <a:grp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200" b="1" dirty="0"/>
                    <a:t>程序代码</a:t>
                  </a:r>
                  <a:endParaRPr lang="en-US" altLang="zh-CN" sz="1200" b="1" dirty="0"/>
                </a:p>
                <a:p>
                  <a:pPr algn="ctr" eaLnBrk="1" hangingPunct="1">
                    <a:defRPr/>
                  </a:pPr>
                  <a:endParaRPr lang="en-US" altLang="zh-CN" sz="1200" b="1" dirty="0"/>
                </a:p>
                <a:p>
                  <a:pPr algn="ctr" eaLnBrk="1" hangingPunct="1">
                    <a:defRPr/>
                  </a:pPr>
                  <a:endParaRPr lang="en-US" altLang="zh-CN" sz="1200" b="1" dirty="0"/>
                </a:p>
                <a:p>
                  <a:pPr algn="ctr" eaLnBrk="1" hangingPunct="1">
                    <a:defRPr/>
                  </a:pPr>
                  <a:endParaRPr lang="en-US" altLang="zh-CN" sz="1200" b="1" dirty="0"/>
                </a:p>
                <a:p>
                  <a:pPr algn="ctr" eaLnBrk="1" hangingPunct="1">
                    <a:defRPr/>
                  </a:pPr>
                  <a:endParaRPr lang="en-US" altLang="zh-CN" sz="1200" b="1" dirty="0"/>
                </a:p>
                <a:p>
                  <a:pPr algn="ctr" eaLnBrk="1" hangingPunct="1">
                    <a:defRPr/>
                  </a:pPr>
                  <a:endParaRPr lang="en-US" altLang="zh-CN" sz="1200" b="1" dirty="0"/>
                </a:p>
                <a:p>
                  <a:pPr algn="ctr" eaLnBrk="1" hangingPunct="1">
                    <a:defRPr/>
                  </a:pPr>
                  <a:endParaRPr lang="zh-CN" altLang="en-US" sz="1200" b="1" dirty="0"/>
                </a:p>
              </p:txBody>
            </p:sp>
            <p:sp>
              <p:nvSpPr>
                <p:cNvPr id="18" name="矩形 17"/>
                <p:cNvSpPr/>
                <p:nvPr/>
              </p:nvSpPr>
              <p:spPr bwMode="auto">
                <a:xfrm>
                  <a:off x="6143636" y="4071948"/>
                  <a:ext cx="1357322" cy="357190"/>
                </a:xfrm>
                <a:prstGeom prst="rect">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200" b="1" dirty="0"/>
                    <a:t>病毒代码</a:t>
                  </a:r>
                </a:p>
              </p:txBody>
            </p:sp>
          </p:grpSp>
          <p:sp>
            <p:nvSpPr>
              <p:cNvPr id="56337" name="右箭头 12"/>
              <p:cNvSpPr>
                <a:spLocks noChangeArrowheads="1"/>
              </p:cNvSpPr>
              <p:nvPr/>
            </p:nvSpPr>
            <p:spPr bwMode="auto">
              <a:xfrm>
                <a:off x="1714480" y="2928940"/>
                <a:ext cx="857256" cy="214314"/>
              </a:xfrm>
              <a:prstGeom prst="rightArrow">
                <a:avLst>
                  <a:gd name="adj1" fmla="val 50000"/>
                  <a:gd name="adj2" fmla="val 50000"/>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b="1"/>
              </a:p>
            </p:txBody>
          </p:sp>
        </p:grpSp>
        <p:sp>
          <p:nvSpPr>
            <p:cNvPr id="56327" name="TextBox 15"/>
            <p:cNvSpPr txBox="1">
              <a:spLocks noChangeArrowheads="1"/>
            </p:cNvSpPr>
            <p:nvPr/>
          </p:nvSpPr>
          <p:spPr bwMode="auto">
            <a:xfrm>
              <a:off x="1857356" y="4286262"/>
              <a:ext cx="12144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t>追加病毒</a:t>
              </a:r>
            </a:p>
          </p:txBody>
        </p:sp>
        <p:cxnSp>
          <p:nvCxnSpPr>
            <p:cNvPr id="56328" name="直接连接符 43"/>
            <p:cNvCxnSpPr>
              <a:cxnSpLocks noChangeShapeType="1"/>
            </p:cNvCxnSpPr>
            <p:nvPr/>
          </p:nvCxnSpPr>
          <p:spPr bwMode="auto">
            <a:xfrm>
              <a:off x="4143372" y="4214824"/>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6329" name="直接连接符 45"/>
            <p:cNvCxnSpPr>
              <a:cxnSpLocks noChangeShapeType="1"/>
            </p:cNvCxnSpPr>
            <p:nvPr/>
          </p:nvCxnSpPr>
          <p:spPr bwMode="auto">
            <a:xfrm rot="5400000" flipH="1" flipV="1">
              <a:off x="3495668" y="3362330"/>
              <a:ext cx="1724036"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6330" name="直接连接符 48"/>
            <p:cNvCxnSpPr>
              <a:cxnSpLocks noChangeShapeType="1"/>
            </p:cNvCxnSpPr>
            <p:nvPr/>
          </p:nvCxnSpPr>
          <p:spPr bwMode="auto">
            <a:xfrm>
              <a:off x="2786050" y="2500312"/>
              <a:ext cx="1571636"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6331" name="直接连接符 50"/>
            <p:cNvCxnSpPr>
              <a:cxnSpLocks noChangeShapeType="1"/>
            </p:cNvCxnSpPr>
            <p:nvPr/>
          </p:nvCxnSpPr>
          <p:spPr bwMode="auto">
            <a:xfrm rot="5400000" flipH="1" flipV="1">
              <a:off x="2714612" y="2571750"/>
              <a:ext cx="142876" cy="1588"/>
            </a:xfrm>
            <a:prstGeom prst="line">
              <a:avLst/>
            </a:prstGeom>
            <a:noFill/>
            <a:ln w="12700" algn="ctr">
              <a:solidFill>
                <a:schemeClr val="tx1"/>
              </a:solidFill>
              <a:round/>
              <a:headEnd type="triangle" w="med" len="med"/>
            </a:ln>
            <a:extLst>
              <a:ext uri="{909E8E84-426E-40DD-AFC4-6F175D3DCCD1}">
                <a14:hiddenFill xmlns:a14="http://schemas.microsoft.com/office/drawing/2010/main">
                  <a:noFill/>
                </a14:hiddenFill>
              </a:ext>
            </a:extLst>
          </p:spPr>
        </p:cxnSp>
        <p:cxnSp>
          <p:nvCxnSpPr>
            <p:cNvPr id="56332" name="直接连接符 54"/>
            <p:cNvCxnSpPr>
              <a:cxnSpLocks noChangeShapeType="1"/>
            </p:cNvCxnSpPr>
            <p:nvPr/>
          </p:nvCxnSpPr>
          <p:spPr bwMode="auto">
            <a:xfrm>
              <a:off x="2428860" y="2786064"/>
              <a:ext cx="357190"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6333" name="直接连接符 57"/>
            <p:cNvCxnSpPr>
              <a:cxnSpLocks noChangeShapeType="1"/>
            </p:cNvCxnSpPr>
            <p:nvPr/>
          </p:nvCxnSpPr>
          <p:spPr bwMode="auto">
            <a:xfrm rot="5400000" flipH="1" flipV="1">
              <a:off x="1822431" y="3392493"/>
              <a:ext cx="1214446"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6334" name="直接连接符 60"/>
            <p:cNvCxnSpPr>
              <a:cxnSpLocks noChangeShapeType="1"/>
            </p:cNvCxnSpPr>
            <p:nvPr/>
          </p:nvCxnSpPr>
          <p:spPr bwMode="auto">
            <a:xfrm rot="10800000">
              <a:off x="2428860" y="4000510"/>
              <a:ext cx="357190" cy="1588"/>
            </a:xfrm>
            <a:prstGeom prst="line">
              <a:avLst/>
            </a:prstGeom>
            <a:noFill/>
            <a:ln w="12700" algn="ctr">
              <a:solidFill>
                <a:schemeClr val="tx1"/>
              </a:solidFill>
              <a:round/>
              <a:headEnd type="triangle" w="med" len="med"/>
            </a:ln>
            <a:extLst>
              <a:ext uri="{909E8E84-426E-40DD-AFC4-6F175D3DCCD1}">
                <a14:hiddenFill xmlns:a14="http://schemas.microsoft.com/office/drawing/2010/main">
                  <a:noFill/>
                </a14:hiddenFill>
              </a:ext>
            </a:extLst>
          </p:spPr>
        </p:cxnSp>
      </p:gr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animEffect transition="in" filter="fade">
                                      <p:cBhvr>
                                        <p:cTn id="11" dur="500"/>
                                        <p:tgtEl>
                                          <p:spTgt spid="921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anim calcmode="lin" valueType="num">
                                      <p:cBhvr>
                                        <p:cTn id="17" dur="500" fill="hold"/>
                                        <p:tgtEl>
                                          <p:spTgt spid="2"/>
                                        </p:tgtEl>
                                        <p:attrNameLst>
                                          <p:attrName>ppt_x</p:attrName>
                                        </p:attrNameLst>
                                      </p:cBhvr>
                                      <p:tavLst>
                                        <p:tav tm="0">
                                          <p:val>
                                            <p:strVal val="#ppt_x"/>
                                          </p:val>
                                        </p:tav>
                                        <p:tav tm="100000">
                                          <p:val>
                                            <p:strVal val="#ppt_x"/>
                                          </p:val>
                                        </p:tav>
                                      </p:tavLst>
                                    </p:anim>
                                    <p:anim calcmode="lin" valueType="num">
                                      <p:cBhvr>
                                        <p:cTn id="18"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285750" y="1071563"/>
            <a:ext cx="8715375" cy="1477962"/>
          </a:xfrm>
        </p:spPr>
        <p:txBody>
          <a:bodyPr/>
          <a:lstStyle/>
          <a:p>
            <a:pPr>
              <a:buFont typeface="Wingdings" panose="05000000000000000000" pitchFamily="2" charset="2"/>
              <a:buNone/>
              <a:defRPr/>
            </a:pPr>
            <a:r>
              <a:rPr lang="zh-CN" altLang="en-US" b="1" dirty="0">
                <a:solidFill>
                  <a:srgbClr val="0033CC"/>
                </a:solidFill>
              </a:rPr>
              <a:t>（</a:t>
            </a:r>
            <a:r>
              <a:rPr lang="en-US" altLang="zh-CN" b="1" dirty="0">
                <a:solidFill>
                  <a:srgbClr val="0033CC"/>
                </a:solidFill>
              </a:rPr>
              <a:t>3</a:t>
            </a:r>
            <a:r>
              <a:rPr lang="zh-CN" altLang="en-US" b="1" dirty="0">
                <a:solidFill>
                  <a:srgbClr val="0033CC"/>
                </a:solidFill>
              </a:rPr>
              <a:t>）</a:t>
            </a:r>
            <a:r>
              <a:rPr lang="zh-CN" altLang="zh-CN" b="1" dirty="0">
                <a:solidFill>
                  <a:srgbClr val="0033CC"/>
                </a:solidFill>
              </a:rPr>
              <a:t>前置病毒</a:t>
            </a:r>
          </a:p>
          <a:p>
            <a:pPr indent="-144145">
              <a:defRPr/>
            </a:pPr>
            <a:r>
              <a:rPr lang="zh-CN" altLang="zh-CN" b="1" dirty="0"/>
              <a:t>把病毒的代码</a:t>
            </a:r>
            <a:r>
              <a:rPr lang="zh-CN" altLang="zh-CN" b="1" dirty="0">
                <a:solidFill>
                  <a:srgbClr val="FF0000"/>
                </a:solidFill>
              </a:rPr>
              <a:t>插入到</a:t>
            </a:r>
            <a:r>
              <a:rPr lang="zh-CN" altLang="zh-CN" b="1" dirty="0">
                <a:solidFill>
                  <a:srgbClr val="0033CC"/>
                </a:solidFill>
              </a:rPr>
              <a:t>宿主程序的前面</a:t>
            </a:r>
            <a:r>
              <a:rPr lang="zh-CN" altLang="zh-CN" b="1" dirty="0"/>
              <a:t>，这些代码通常采用高级语言如</a:t>
            </a:r>
            <a:r>
              <a:rPr lang="en-US" altLang="zh-CN" b="1" dirty="0"/>
              <a:t>C</a:t>
            </a:r>
            <a:r>
              <a:rPr lang="zh-CN" altLang="zh-CN" b="1" dirty="0"/>
              <a:t>、</a:t>
            </a:r>
            <a:r>
              <a:rPr lang="en-US" altLang="zh-CN" b="1" dirty="0"/>
              <a:t>PASCAL</a:t>
            </a:r>
            <a:r>
              <a:rPr lang="zh-CN" altLang="zh-CN" b="1" dirty="0"/>
              <a:t>等实现，通常</a:t>
            </a:r>
            <a:r>
              <a:rPr lang="en-US" altLang="zh-CN" b="1" dirty="0"/>
              <a:t> </a:t>
            </a:r>
            <a:r>
              <a:rPr lang="zh-CN" altLang="zh-CN" b="1" dirty="0"/>
              <a:t>在磁盘上创建一个包含原文件内容的临时文件，然后用</a:t>
            </a:r>
            <a:r>
              <a:rPr lang="en-US" altLang="zh-CN" b="1" dirty="0"/>
              <a:t>system</a:t>
            </a:r>
            <a:r>
              <a:rPr lang="zh-CN" altLang="zh-CN" b="1" dirty="0"/>
              <a:t>这样的函数执行临时文件中原来的程序。</a:t>
            </a:r>
            <a:endParaRPr lang="en-US" altLang="zh-CN" b="1" dirty="0"/>
          </a:p>
        </p:txBody>
      </p:sp>
      <p:sp>
        <p:nvSpPr>
          <p:cNvPr id="7"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9.4.2 </a:t>
            </a:r>
            <a:r>
              <a:rPr altLang="en-US" sz="2000" dirty="0"/>
              <a:t>病毒的机理与防治</a:t>
            </a:r>
          </a:p>
        </p:txBody>
      </p:sp>
      <p:grpSp>
        <p:nvGrpSpPr>
          <p:cNvPr id="2" name="组合 8"/>
          <p:cNvGrpSpPr/>
          <p:nvPr/>
        </p:nvGrpSpPr>
        <p:grpSpPr bwMode="auto">
          <a:xfrm>
            <a:off x="2928938" y="2428875"/>
            <a:ext cx="3571875" cy="1951038"/>
            <a:chOff x="571472" y="2643188"/>
            <a:chExt cx="3571900" cy="1950851"/>
          </a:xfrm>
        </p:grpSpPr>
        <p:grpSp>
          <p:nvGrpSpPr>
            <p:cNvPr id="57351" name="组合 18"/>
            <p:cNvGrpSpPr/>
            <p:nvPr/>
          </p:nvGrpSpPr>
          <p:grpSpPr bwMode="auto">
            <a:xfrm>
              <a:off x="571472" y="2643188"/>
              <a:ext cx="3571900" cy="1571636"/>
              <a:chOff x="357158" y="2285998"/>
              <a:chExt cx="3571900" cy="1571636"/>
            </a:xfrm>
          </p:grpSpPr>
          <p:sp>
            <p:nvSpPr>
              <p:cNvPr id="57353" name="矩形 18"/>
              <p:cNvSpPr>
                <a:spLocks noChangeArrowheads="1"/>
              </p:cNvSpPr>
              <p:nvPr/>
            </p:nvSpPr>
            <p:spPr bwMode="auto">
              <a:xfrm>
                <a:off x="357158" y="2285998"/>
                <a:ext cx="1357322" cy="1571636"/>
              </a:xfrm>
              <a:prstGeom prst="rect">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程序代码</a:t>
                </a:r>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zh-CN" altLang="en-US" sz="1200" b="1"/>
              </a:p>
            </p:txBody>
          </p:sp>
          <p:grpSp>
            <p:nvGrpSpPr>
              <p:cNvPr id="4" name="组合 17"/>
              <p:cNvGrpSpPr/>
              <p:nvPr/>
            </p:nvGrpSpPr>
            <p:grpSpPr>
              <a:xfrm>
                <a:off x="2571736" y="2285998"/>
                <a:ext cx="1357322" cy="1571636"/>
                <a:chOff x="6143636" y="2857502"/>
                <a:chExt cx="1357322" cy="1571636"/>
              </a:xfrm>
              <a:solidFill>
                <a:schemeClr val="bg1"/>
              </a:solidFill>
            </p:grpSpPr>
            <p:sp>
              <p:nvSpPr>
                <p:cNvPr id="22" name="矩形 21"/>
                <p:cNvSpPr/>
                <p:nvPr/>
              </p:nvSpPr>
              <p:spPr bwMode="auto">
                <a:xfrm>
                  <a:off x="6143636" y="2857502"/>
                  <a:ext cx="1357322" cy="1571636"/>
                </a:xfrm>
                <a:prstGeom prst="rect">
                  <a:avLst/>
                </a:prstGeom>
                <a:grp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en-US" altLang="zh-CN" sz="1200" b="1" dirty="0"/>
                </a:p>
                <a:p>
                  <a:pPr algn="ctr" eaLnBrk="1" hangingPunct="1">
                    <a:defRPr/>
                  </a:pPr>
                  <a:endParaRPr lang="en-US" altLang="zh-CN" sz="1200" b="1" dirty="0"/>
                </a:p>
                <a:p>
                  <a:pPr algn="ctr" eaLnBrk="1" hangingPunct="1">
                    <a:defRPr/>
                  </a:pPr>
                  <a:endParaRPr lang="en-US" altLang="zh-CN" sz="1200" b="1" dirty="0"/>
                </a:p>
                <a:p>
                  <a:pPr algn="ctr" eaLnBrk="1" hangingPunct="1">
                    <a:defRPr/>
                  </a:pPr>
                  <a:r>
                    <a:rPr lang="en-US" altLang="zh-CN" sz="1200" b="1" dirty="0"/>
                    <a:t>System(…)</a:t>
                  </a:r>
                </a:p>
                <a:p>
                  <a:pPr algn="ctr" eaLnBrk="1" hangingPunct="1">
                    <a:defRPr/>
                  </a:pPr>
                  <a:endParaRPr lang="en-US" altLang="zh-CN" sz="1200" b="1" dirty="0"/>
                </a:p>
                <a:p>
                  <a:pPr algn="ctr" eaLnBrk="1" hangingPunct="1">
                    <a:defRPr/>
                  </a:pPr>
                  <a:endParaRPr lang="en-US" altLang="zh-CN" sz="1200" b="1" dirty="0"/>
                </a:p>
                <a:p>
                  <a:pPr algn="ctr" eaLnBrk="1" hangingPunct="1">
                    <a:defRPr/>
                  </a:pPr>
                  <a:endParaRPr lang="en-US" altLang="zh-CN" sz="1200" b="1" dirty="0"/>
                </a:p>
                <a:p>
                  <a:pPr algn="ctr" eaLnBrk="1" hangingPunct="1">
                    <a:defRPr/>
                  </a:pPr>
                  <a:r>
                    <a:rPr lang="zh-CN" altLang="en-US" sz="1200" b="1" dirty="0"/>
                    <a:t>程序代码</a:t>
                  </a:r>
                  <a:endParaRPr lang="en-US" altLang="zh-CN" sz="1200" b="1" dirty="0"/>
                </a:p>
                <a:p>
                  <a:pPr algn="ctr" eaLnBrk="1" hangingPunct="1">
                    <a:defRPr/>
                  </a:pPr>
                  <a:endParaRPr lang="en-US" altLang="zh-CN" sz="1200" b="1" dirty="0"/>
                </a:p>
              </p:txBody>
            </p:sp>
            <p:sp>
              <p:nvSpPr>
                <p:cNvPr id="23" name="矩形 22"/>
                <p:cNvSpPr/>
                <p:nvPr/>
              </p:nvSpPr>
              <p:spPr bwMode="auto">
                <a:xfrm>
                  <a:off x="6143636" y="2857502"/>
                  <a:ext cx="1357322" cy="357190"/>
                </a:xfrm>
                <a:prstGeom prst="rect">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200" b="1" dirty="0"/>
                    <a:t>病毒代码</a:t>
                  </a:r>
                </a:p>
              </p:txBody>
            </p:sp>
          </p:grpSp>
          <p:sp>
            <p:nvSpPr>
              <p:cNvPr id="57355" name="右箭头 12"/>
              <p:cNvSpPr>
                <a:spLocks noChangeArrowheads="1"/>
              </p:cNvSpPr>
              <p:nvPr/>
            </p:nvSpPr>
            <p:spPr bwMode="auto">
              <a:xfrm>
                <a:off x="1714480" y="2928940"/>
                <a:ext cx="857256" cy="214314"/>
              </a:xfrm>
              <a:prstGeom prst="rightArrow">
                <a:avLst>
                  <a:gd name="adj1" fmla="val 50000"/>
                  <a:gd name="adj2" fmla="val 50000"/>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b="1"/>
              </a:p>
            </p:txBody>
          </p:sp>
        </p:grpSp>
        <p:sp>
          <p:nvSpPr>
            <p:cNvPr id="57352" name="TextBox 10"/>
            <p:cNvSpPr txBox="1">
              <a:spLocks noChangeArrowheads="1"/>
            </p:cNvSpPr>
            <p:nvPr/>
          </p:nvSpPr>
          <p:spPr bwMode="auto">
            <a:xfrm>
              <a:off x="1857356" y="4286262"/>
              <a:ext cx="12144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t>前置病毒</a:t>
              </a:r>
            </a:p>
          </p:txBody>
        </p:sp>
      </p:grpSp>
      <p:sp>
        <p:nvSpPr>
          <p:cNvPr id="57350" name="下箭头 12"/>
          <p:cNvSpPr>
            <a:spLocks noChangeArrowheads="1"/>
          </p:cNvSpPr>
          <p:nvPr/>
        </p:nvSpPr>
        <p:spPr bwMode="auto">
          <a:xfrm>
            <a:off x="5651500" y="3219450"/>
            <a:ext cx="288925" cy="360363"/>
          </a:xfrm>
          <a:prstGeom prst="downArrow">
            <a:avLst>
              <a:gd name="adj1" fmla="val 50000"/>
              <a:gd name="adj2" fmla="val 49890"/>
            </a:avLst>
          </a:prstGeom>
          <a:solidFill>
            <a:schemeClr val="accent1"/>
          </a:solidFill>
          <a:ln w="952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animEffect transition="in" filter="fade">
                                      <p:cBhvr>
                                        <p:cTn id="11" dur="500"/>
                                        <p:tgtEl>
                                          <p:spTgt spid="921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anim calcmode="lin" valueType="num">
                                      <p:cBhvr>
                                        <p:cTn id="17" dur="500" fill="hold"/>
                                        <p:tgtEl>
                                          <p:spTgt spid="2"/>
                                        </p:tgtEl>
                                        <p:attrNameLst>
                                          <p:attrName>ppt_x</p:attrName>
                                        </p:attrNameLst>
                                      </p:cBhvr>
                                      <p:tavLst>
                                        <p:tav tm="0">
                                          <p:val>
                                            <p:strVal val="#ppt_x"/>
                                          </p:val>
                                        </p:tav>
                                        <p:tav tm="100000">
                                          <p:val>
                                            <p:strVal val="#ppt_x"/>
                                          </p:val>
                                        </p:tav>
                                      </p:tavLst>
                                    </p:anim>
                                    <p:anim calcmode="lin" valueType="num">
                                      <p:cBhvr>
                                        <p:cTn id="18"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285750" y="857250"/>
            <a:ext cx="8501063" cy="1143000"/>
          </a:xfrm>
        </p:spPr>
        <p:txBody>
          <a:bodyPr/>
          <a:lstStyle/>
          <a:p>
            <a:pPr>
              <a:buFont typeface="Wingdings" panose="05000000000000000000" pitchFamily="2" charset="2"/>
              <a:buNone/>
              <a:defRPr/>
            </a:pPr>
            <a:r>
              <a:rPr lang="zh-CN" altLang="en-US" b="1" dirty="0">
                <a:solidFill>
                  <a:srgbClr val="0033CC"/>
                </a:solidFill>
              </a:rPr>
              <a:t>（</a:t>
            </a:r>
            <a:r>
              <a:rPr lang="en-US" altLang="zh-CN" b="1" dirty="0">
                <a:solidFill>
                  <a:srgbClr val="0033CC"/>
                </a:solidFill>
              </a:rPr>
              <a:t>4</a:t>
            </a:r>
            <a:r>
              <a:rPr lang="zh-CN" altLang="en-US" b="1" dirty="0">
                <a:solidFill>
                  <a:srgbClr val="0033CC"/>
                </a:solidFill>
              </a:rPr>
              <a:t>）</a:t>
            </a:r>
            <a:r>
              <a:rPr lang="zh-CN" altLang="zh-CN" b="1" dirty="0">
                <a:solidFill>
                  <a:srgbClr val="0033CC"/>
                </a:solidFill>
              </a:rPr>
              <a:t>蛀穴病毒</a:t>
            </a:r>
          </a:p>
          <a:p>
            <a:pPr marL="360045" indent="0">
              <a:defRPr/>
            </a:pPr>
            <a:r>
              <a:rPr lang="zh-CN" altLang="zh-CN" b="1" dirty="0"/>
              <a:t>蛀穴病毒通常</a:t>
            </a:r>
            <a:r>
              <a:rPr lang="zh-CN" altLang="zh-CN" b="1" dirty="0">
                <a:solidFill>
                  <a:srgbClr val="FF0000"/>
                </a:solidFill>
              </a:rPr>
              <a:t>不增加</a:t>
            </a:r>
            <a:r>
              <a:rPr lang="zh-CN" altLang="zh-CN" b="1" dirty="0">
                <a:solidFill>
                  <a:srgbClr val="0033CC"/>
                </a:solidFill>
              </a:rPr>
              <a:t>被感染对象的</a:t>
            </a:r>
            <a:r>
              <a:rPr lang="zh-CN" altLang="zh-CN" b="1" dirty="0">
                <a:solidFill>
                  <a:srgbClr val="FF0000"/>
                </a:solidFill>
              </a:rPr>
              <a:t>大小</a:t>
            </a:r>
            <a:r>
              <a:rPr lang="zh-CN" altLang="zh-CN" b="1" dirty="0"/>
              <a:t>，而是</a:t>
            </a:r>
            <a:r>
              <a:rPr lang="zh-CN" altLang="zh-CN" b="1" dirty="0">
                <a:solidFill>
                  <a:srgbClr val="FF0000"/>
                </a:solidFill>
              </a:rPr>
              <a:t>重写</a:t>
            </a:r>
            <a:r>
              <a:rPr lang="zh-CN" altLang="zh-CN" b="1" dirty="0">
                <a:solidFill>
                  <a:srgbClr val="0033CC"/>
                </a:solidFill>
              </a:rPr>
              <a:t>宿主文件中</a:t>
            </a:r>
            <a:r>
              <a:rPr lang="zh-CN" altLang="zh-CN" b="1" dirty="0">
                <a:solidFill>
                  <a:srgbClr val="FF0000"/>
                </a:solidFill>
              </a:rPr>
              <a:t>可用来安全存放病毒代码的区域</a:t>
            </a:r>
            <a:r>
              <a:rPr lang="zh-CN" altLang="zh-CN" b="1" dirty="0"/>
              <a:t>，如重写二进制宿主文件中的零值区域，或包含空格的区域。</a:t>
            </a:r>
          </a:p>
        </p:txBody>
      </p:sp>
      <p:sp>
        <p:nvSpPr>
          <p:cNvPr id="7"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9.4.2 </a:t>
            </a:r>
            <a:r>
              <a:rPr altLang="en-US" sz="2000" dirty="0"/>
              <a:t>病毒的机理与防治</a:t>
            </a:r>
          </a:p>
        </p:txBody>
      </p:sp>
      <p:grpSp>
        <p:nvGrpSpPr>
          <p:cNvPr id="58373" name="组合 33"/>
          <p:cNvGrpSpPr/>
          <p:nvPr/>
        </p:nvGrpSpPr>
        <p:grpSpPr bwMode="auto">
          <a:xfrm>
            <a:off x="2071688" y="2000250"/>
            <a:ext cx="4502150" cy="2593975"/>
            <a:chOff x="214282" y="1428742"/>
            <a:chExt cx="4502182" cy="2593793"/>
          </a:xfrm>
        </p:grpSpPr>
        <p:grpSp>
          <p:nvGrpSpPr>
            <p:cNvPr id="58374" name="组合 32"/>
            <p:cNvGrpSpPr/>
            <p:nvPr/>
          </p:nvGrpSpPr>
          <p:grpSpPr bwMode="auto">
            <a:xfrm>
              <a:off x="1857356" y="1714494"/>
              <a:ext cx="2643206" cy="1928826"/>
              <a:chOff x="1857356" y="1714494"/>
              <a:chExt cx="2643206" cy="1928826"/>
            </a:xfrm>
          </p:grpSpPr>
          <p:grpSp>
            <p:nvGrpSpPr>
              <p:cNvPr id="4" name="组合 17"/>
              <p:cNvGrpSpPr/>
              <p:nvPr/>
            </p:nvGrpSpPr>
            <p:grpSpPr>
              <a:xfrm>
                <a:off x="2857488" y="1714494"/>
                <a:ext cx="1643074" cy="1928826"/>
                <a:chOff x="6438706" y="2857502"/>
                <a:chExt cx="1357322" cy="1571636"/>
              </a:xfrm>
              <a:solidFill>
                <a:schemeClr val="bg1"/>
              </a:solidFill>
            </p:grpSpPr>
            <p:sp>
              <p:nvSpPr>
                <p:cNvPr id="22" name="矩形 21"/>
                <p:cNvSpPr/>
                <p:nvPr/>
              </p:nvSpPr>
              <p:spPr bwMode="auto">
                <a:xfrm>
                  <a:off x="6438706" y="2857502"/>
                  <a:ext cx="1357322" cy="1571636"/>
                </a:xfrm>
                <a:prstGeom prst="rect">
                  <a:avLst/>
                </a:prstGeom>
                <a:grp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en-US" altLang="zh-CN" sz="1200" b="1" dirty="0">
                      <a:latin typeface="Times New Roman" panose="02020603050405020304" pitchFamily="18" charset="0"/>
                      <a:cs typeface="Times New Roman" panose="02020603050405020304" pitchFamily="18" charset="0"/>
                    </a:rPr>
                    <a:t>JMP</a:t>
                  </a:r>
                  <a:r>
                    <a:rPr lang="zh-CN" altLang="en-US" sz="1200" b="1" dirty="0"/>
                    <a:t>程序代码</a:t>
                  </a:r>
                  <a:endParaRPr lang="en-US" altLang="zh-CN" sz="1200" b="1" dirty="0"/>
                </a:p>
                <a:p>
                  <a:pPr algn="ctr" eaLnBrk="1" hangingPunct="1">
                    <a:defRPr/>
                  </a:pPr>
                  <a:endParaRPr lang="en-US" altLang="zh-CN" sz="1200" b="1" dirty="0"/>
                </a:p>
                <a:p>
                  <a:pPr algn="ctr" eaLnBrk="1" hangingPunct="1">
                    <a:defRPr/>
                  </a:pPr>
                  <a:endParaRPr lang="en-US" altLang="zh-CN" sz="1200" b="1" dirty="0"/>
                </a:p>
                <a:p>
                  <a:pPr algn="ctr" eaLnBrk="1" hangingPunct="1">
                    <a:defRPr/>
                  </a:pPr>
                  <a:endParaRPr lang="en-US" altLang="zh-CN" sz="1200" b="1" dirty="0"/>
                </a:p>
                <a:p>
                  <a:pPr algn="ctr" eaLnBrk="1" hangingPunct="1">
                    <a:defRPr/>
                  </a:pPr>
                  <a:endParaRPr lang="en-US" altLang="zh-CN" sz="1200" b="1" dirty="0"/>
                </a:p>
                <a:p>
                  <a:pPr algn="ctr" eaLnBrk="1" hangingPunct="1">
                    <a:defRPr/>
                  </a:pPr>
                  <a:endParaRPr lang="en-US" altLang="zh-CN" sz="1200" b="1" dirty="0"/>
                </a:p>
                <a:p>
                  <a:pPr algn="ctr" eaLnBrk="1" hangingPunct="1">
                    <a:defRPr/>
                  </a:pPr>
                  <a:endParaRPr lang="en-US" altLang="zh-CN" sz="1200" b="1" dirty="0"/>
                </a:p>
                <a:p>
                  <a:pPr algn="ctr" eaLnBrk="1" hangingPunct="1">
                    <a:defRPr/>
                  </a:pPr>
                  <a:endParaRPr lang="en-US" altLang="zh-CN" sz="1200" b="1" dirty="0"/>
                </a:p>
                <a:p>
                  <a:pPr algn="ctr" eaLnBrk="1" hangingPunct="1">
                    <a:defRPr/>
                  </a:pPr>
                  <a:endParaRPr lang="zh-CN" altLang="en-US" sz="1200" b="1" dirty="0"/>
                </a:p>
              </p:txBody>
            </p:sp>
            <p:sp>
              <p:nvSpPr>
                <p:cNvPr id="23" name="矩形 22"/>
                <p:cNvSpPr/>
                <p:nvPr/>
              </p:nvSpPr>
              <p:spPr bwMode="auto">
                <a:xfrm>
                  <a:off x="6438706" y="3788842"/>
                  <a:ext cx="1357322" cy="240773"/>
                </a:xfrm>
                <a:prstGeom prst="rect">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200" b="1" dirty="0"/>
                    <a:t>病毒代码</a:t>
                  </a:r>
                </a:p>
              </p:txBody>
            </p:sp>
          </p:grpSp>
          <p:sp>
            <p:nvSpPr>
              <p:cNvPr id="58388" name="右箭头 12"/>
              <p:cNvSpPr>
                <a:spLocks noChangeArrowheads="1"/>
              </p:cNvSpPr>
              <p:nvPr/>
            </p:nvSpPr>
            <p:spPr bwMode="auto">
              <a:xfrm>
                <a:off x="1857356" y="2571750"/>
                <a:ext cx="1000132" cy="214314"/>
              </a:xfrm>
              <a:prstGeom prst="rightArrow">
                <a:avLst>
                  <a:gd name="adj1" fmla="val 50000"/>
                  <a:gd name="adj2" fmla="val 49994"/>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b="1"/>
              </a:p>
            </p:txBody>
          </p:sp>
        </p:grpSp>
        <p:grpSp>
          <p:nvGrpSpPr>
            <p:cNvPr id="58375" name="组合 31"/>
            <p:cNvGrpSpPr/>
            <p:nvPr/>
          </p:nvGrpSpPr>
          <p:grpSpPr bwMode="auto">
            <a:xfrm>
              <a:off x="357158" y="1428742"/>
              <a:ext cx="4359306" cy="2593793"/>
              <a:chOff x="357158" y="1428742"/>
              <a:chExt cx="4359306" cy="2593793"/>
            </a:xfrm>
          </p:grpSpPr>
          <p:sp>
            <p:nvSpPr>
              <p:cNvPr id="58379" name="TextBox 10"/>
              <p:cNvSpPr txBox="1">
                <a:spLocks noChangeArrowheads="1"/>
              </p:cNvSpPr>
              <p:nvPr/>
            </p:nvSpPr>
            <p:spPr bwMode="auto">
              <a:xfrm>
                <a:off x="357158" y="3714758"/>
                <a:ext cx="421484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t>蛀穴病毒将自身代码注入到宿主文件的一个洞穴中</a:t>
                </a:r>
              </a:p>
            </p:txBody>
          </p:sp>
          <p:cxnSp>
            <p:nvCxnSpPr>
              <p:cNvPr id="58380" name="直接连接符 11"/>
              <p:cNvCxnSpPr>
                <a:cxnSpLocks noChangeShapeType="1"/>
              </p:cNvCxnSpPr>
              <p:nvPr/>
            </p:nvCxnSpPr>
            <p:spPr bwMode="auto">
              <a:xfrm>
                <a:off x="4500562" y="3143254"/>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8381" name="直接连接符 12"/>
              <p:cNvCxnSpPr>
                <a:cxnSpLocks noChangeShapeType="1"/>
              </p:cNvCxnSpPr>
              <p:nvPr/>
            </p:nvCxnSpPr>
            <p:spPr bwMode="auto">
              <a:xfrm rot="5400000" flipH="1" flipV="1">
                <a:off x="3853652" y="2289966"/>
                <a:ext cx="1724036"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8382" name="直接连接符 13"/>
              <p:cNvCxnSpPr>
                <a:cxnSpLocks noChangeShapeType="1"/>
              </p:cNvCxnSpPr>
              <p:nvPr/>
            </p:nvCxnSpPr>
            <p:spPr bwMode="auto">
              <a:xfrm>
                <a:off x="2857488" y="1428742"/>
                <a:ext cx="1857388"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8383" name="直接连接符 14"/>
              <p:cNvCxnSpPr>
                <a:cxnSpLocks noChangeShapeType="1"/>
              </p:cNvCxnSpPr>
              <p:nvPr/>
            </p:nvCxnSpPr>
            <p:spPr bwMode="auto">
              <a:xfrm rot="5400000" flipH="1" flipV="1">
                <a:off x="2713818" y="1571618"/>
                <a:ext cx="286546" cy="794"/>
              </a:xfrm>
              <a:prstGeom prst="line">
                <a:avLst/>
              </a:prstGeom>
              <a:noFill/>
              <a:ln w="12700" algn="ctr">
                <a:solidFill>
                  <a:schemeClr val="tx1"/>
                </a:solidFill>
                <a:round/>
                <a:headEnd type="triangle" w="med" len="lg"/>
              </a:ln>
              <a:extLst>
                <a:ext uri="{909E8E84-426E-40DD-AFC4-6F175D3DCCD1}">
                  <a14:hiddenFill xmlns:a14="http://schemas.microsoft.com/office/drawing/2010/main">
                    <a:noFill/>
                  </a14:hiddenFill>
                </a:ext>
              </a:extLst>
            </p:spPr>
          </p:cxnSp>
          <p:cxnSp>
            <p:nvCxnSpPr>
              <p:cNvPr id="58384" name="直接连接符 15"/>
              <p:cNvCxnSpPr>
                <a:cxnSpLocks noChangeShapeType="1"/>
              </p:cNvCxnSpPr>
              <p:nvPr/>
            </p:nvCxnSpPr>
            <p:spPr bwMode="auto">
              <a:xfrm>
                <a:off x="2500298" y="1928808"/>
                <a:ext cx="357190"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8385" name="直接连接符 16"/>
              <p:cNvCxnSpPr>
                <a:cxnSpLocks noChangeShapeType="1"/>
              </p:cNvCxnSpPr>
              <p:nvPr/>
            </p:nvCxnSpPr>
            <p:spPr bwMode="auto">
              <a:xfrm rot="5400000" flipH="1" flipV="1">
                <a:off x="2036745" y="2392361"/>
                <a:ext cx="92869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8386" name="直接连接符 17"/>
              <p:cNvCxnSpPr>
                <a:cxnSpLocks noChangeShapeType="1"/>
              </p:cNvCxnSpPr>
              <p:nvPr/>
            </p:nvCxnSpPr>
            <p:spPr bwMode="auto">
              <a:xfrm rot="10800000">
                <a:off x="2500298" y="2857502"/>
                <a:ext cx="357190" cy="1588"/>
              </a:xfrm>
              <a:prstGeom prst="line">
                <a:avLst/>
              </a:prstGeom>
              <a:noFill/>
              <a:ln w="12700" algn="ctr">
                <a:solidFill>
                  <a:schemeClr val="tx1"/>
                </a:solidFill>
                <a:round/>
                <a:headEnd type="triangle" w="med" len="lg"/>
              </a:ln>
              <a:extLst>
                <a:ext uri="{909E8E84-426E-40DD-AFC4-6F175D3DCCD1}">
                  <a14:hiddenFill xmlns:a14="http://schemas.microsoft.com/office/drawing/2010/main">
                    <a:noFill/>
                  </a14:hiddenFill>
                </a:ext>
              </a:extLst>
            </p:spPr>
          </p:cxnSp>
        </p:grpSp>
        <p:grpSp>
          <p:nvGrpSpPr>
            <p:cNvPr id="58376" name="组合 24"/>
            <p:cNvGrpSpPr/>
            <p:nvPr/>
          </p:nvGrpSpPr>
          <p:grpSpPr bwMode="auto">
            <a:xfrm>
              <a:off x="214282" y="1714494"/>
              <a:ext cx="1643074" cy="1928826"/>
              <a:chOff x="6500826" y="2285998"/>
              <a:chExt cx="1643074" cy="1928826"/>
            </a:xfrm>
          </p:grpSpPr>
          <p:sp>
            <p:nvSpPr>
              <p:cNvPr id="58377" name="矩形 18"/>
              <p:cNvSpPr>
                <a:spLocks noChangeArrowheads="1"/>
              </p:cNvSpPr>
              <p:nvPr/>
            </p:nvSpPr>
            <p:spPr bwMode="auto">
              <a:xfrm>
                <a:off x="6500826" y="2285998"/>
                <a:ext cx="1643074" cy="1928826"/>
              </a:xfrm>
              <a:prstGeom prst="rect">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程序代码</a:t>
                </a:r>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zh-CN" altLang="en-US" sz="1200" b="1"/>
              </a:p>
            </p:txBody>
          </p:sp>
          <p:sp>
            <p:nvSpPr>
              <p:cNvPr id="58378" name="矩形 23"/>
              <p:cNvSpPr>
                <a:spLocks noChangeArrowheads="1"/>
              </p:cNvSpPr>
              <p:nvPr/>
            </p:nvSpPr>
            <p:spPr bwMode="auto">
              <a:xfrm>
                <a:off x="6500826" y="3429006"/>
                <a:ext cx="1643074" cy="285752"/>
              </a:xfrm>
              <a:prstGeom prst="rect">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sz="1200" b="1"/>
              </a:p>
            </p:txBody>
          </p:sp>
        </p:grpSp>
      </p:grpSp>
    </p:spTree>
  </p:cSld>
  <p:clrMapOvr>
    <a:masterClrMapping/>
  </p:clrMapOvr>
  <p:transition spd="med">
    <p:randomBar dir="ver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内容占位符 2"/>
          <p:cNvSpPr>
            <a:spLocks noGrp="1"/>
          </p:cNvSpPr>
          <p:nvPr>
            <p:ph idx="1"/>
          </p:nvPr>
        </p:nvSpPr>
        <p:spPr>
          <a:xfrm>
            <a:off x="285750" y="928688"/>
            <a:ext cx="8286750" cy="1214437"/>
          </a:xfrm>
        </p:spPr>
        <p:txBody>
          <a:bodyPr/>
          <a:lstStyle/>
          <a:p>
            <a:pPr>
              <a:buFont typeface="Wingdings" panose="05000000000000000000" pitchFamily="2" charset="2"/>
              <a:buNone/>
              <a:defRPr/>
            </a:pPr>
            <a:r>
              <a:rPr lang="zh-CN" altLang="en-US" b="1" dirty="0">
                <a:solidFill>
                  <a:srgbClr val="0033CC"/>
                </a:solidFill>
              </a:rPr>
              <a:t>（</a:t>
            </a:r>
            <a:r>
              <a:rPr lang="en-US" altLang="zh-CN" b="1" dirty="0">
                <a:solidFill>
                  <a:srgbClr val="0033CC"/>
                </a:solidFill>
              </a:rPr>
              <a:t>5</a:t>
            </a:r>
            <a:r>
              <a:rPr lang="zh-CN" altLang="en-US" b="1" dirty="0">
                <a:solidFill>
                  <a:srgbClr val="0033CC"/>
                </a:solidFill>
              </a:rPr>
              <a:t>）</a:t>
            </a:r>
            <a:r>
              <a:rPr lang="zh-CN" altLang="zh-CN" b="1" dirty="0">
                <a:solidFill>
                  <a:srgbClr val="0033CC"/>
                </a:solidFill>
              </a:rPr>
              <a:t>压缩型病毒</a:t>
            </a:r>
          </a:p>
          <a:p>
            <a:pPr indent="-36195">
              <a:defRPr/>
            </a:pPr>
            <a:r>
              <a:rPr lang="zh-CN" altLang="zh-CN" b="1" dirty="0">
                <a:solidFill>
                  <a:srgbClr val="FF0000"/>
                </a:solidFill>
              </a:rPr>
              <a:t>压缩宿主程序</a:t>
            </a:r>
            <a:r>
              <a:rPr lang="zh-CN" altLang="zh-CN" b="1" dirty="0"/>
              <a:t>是一种特殊的感染技术。这种技术有时</a:t>
            </a:r>
            <a:r>
              <a:rPr lang="zh-CN" altLang="zh-CN" b="1" dirty="0">
                <a:solidFill>
                  <a:srgbClr val="FF0000"/>
                </a:solidFill>
              </a:rPr>
              <a:t>用来隐瞒</a:t>
            </a:r>
            <a:r>
              <a:rPr lang="zh-CN" altLang="zh-CN" b="1" dirty="0">
                <a:solidFill>
                  <a:srgbClr val="0033CC"/>
                </a:solidFill>
              </a:rPr>
              <a:t>宿主程序长度的</a:t>
            </a:r>
            <a:r>
              <a:rPr lang="zh-CN" altLang="zh-CN" b="1" dirty="0">
                <a:solidFill>
                  <a:srgbClr val="FF0000"/>
                </a:solidFill>
              </a:rPr>
              <a:t>增长</a:t>
            </a:r>
            <a:r>
              <a:rPr lang="zh-CN" altLang="zh-CN" b="1" dirty="0"/>
              <a:t>：采用一个二进制的压缩算法，对宿主程序进行充分的压缩，从而节省了空间。</a:t>
            </a:r>
          </a:p>
        </p:txBody>
      </p:sp>
      <p:sp>
        <p:nvSpPr>
          <p:cNvPr id="7"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9.4.2 </a:t>
            </a:r>
            <a:r>
              <a:rPr altLang="en-US" sz="2000" dirty="0"/>
              <a:t>病毒的机理与防治</a:t>
            </a:r>
          </a:p>
        </p:txBody>
      </p:sp>
      <p:grpSp>
        <p:nvGrpSpPr>
          <p:cNvPr id="2" name="组合 40"/>
          <p:cNvGrpSpPr/>
          <p:nvPr/>
        </p:nvGrpSpPr>
        <p:grpSpPr bwMode="auto">
          <a:xfrm>
            <a:off x="2000250" y="2071688"/>
            <a:ext cx="4714875" cy="2522537"/>
            <a:chOff x="2143108" y="2000246"/>
            <a:chExt cx="4714908" cy="2522355"/>
          </a:xfrm>
        </p:grpSpPr>
        <p:grpSp>
          <p:nvGrpSpPr>
            <p:cNvPr id="59398" name="组合 37"/>
            <p:cNvGrpSpPr/>
            <p:nvPr/>
          </p:nvGrpSpPr>
          <p:grpSpPr bwMode="auto">
            <a:xfrm>
              <a:off x="2143108" y="2357436"/>
              <a:ext cx="4714908" cy="2165165"/>
              <a:chOff x="1000100" y="2357436"/>
              <a:chExt cx="4714908" cy="2165165"/>
            </a:xfrm>
          </p:grpSpPr>
          <p:sp>
            <p:nvSpPr>
              <p:cNvPr id="59401" name="TextBox 14"/>
              <p:cNvSpPr txBox="1">
                <a:spLocks noChangeArrowheads="1"/>
              </p:cNvSpPr>
              <p:nvPr/>
            </p:nvSpPr>
            <p:spPr bwMode="auto">
              <a:xfrm>
                <a:off x="2928926" y="4214824"/>
                <a:ext cx="13573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t>压缩型病毒</a:t>
                </a:r>
              </a:p>
            </p:txBody>
          </p:sp>
          <p:grpSp>
            <p:nvGrpSpPr>
              <p:cNvPr id="59402" name="组合 36"/>
              <p:cNvGrpSpPr/>
              <p:nvPr/>
            </p:nvGrpSpPr>
            <p:grpSpPr bwMode="auto">
              <a:xfrm>
                <a:off x="1000100" y="2357436"/>
                <a:ext cx="4714908" cy="1785950"/>
                <a:chOff x="857224" y="2357436"/>
                <a:chExt cx="4714908" cy="1785950"/>
              </a:xfrm>
            </p:grpSpPr>
            <p:sp>
              <p:nvSpPr>
                <p:cNvPr id="59403" name="右箭头 12"/>
                <p:cNvSpPr>
                  <a:spLocks noChangeArrowheads="1"/>
                </p:cNvSpPr>
                <p:nvPr/>
              </p:nvSpPr>
              <p:spPr bwMode="auto">
                <a:xfrm>
                  <a:off x="2857488" y="3286130"/>
                  <a:ext cx="1000132" cy="214314"/>
                </a:xfrm>
                <a:prstGeom prst="rightArrow">
                  <a:avLst>
                    <a:gd name="adj1" fmla="val 50000"/>
                    <a:gd name="adj2" fmla="val 49994"/>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b="1"/>
                </a:p>
              </p:txBody>
            </p:sp>
            <p:grpSp>
              <p:nvGrpSpPr>
                <p:cNvPr id="59404" name="组合 31"/>
                <p:cNvGrpSpPr/>
                <p:nvPr/>
              </p:nvGrpSpPr>
              <p:grpSpPr bwMode="auto">
                <a:xfrm>
                  <a:off x="3499636" y="2428874"/>
                  <a:ext cx="357984" cy="787406"/>
                  <a:chOff x="3499636" y="2428874"/>
                  <a:chExt cx="357984" cy="787406"/>
                </a:xfrm>
              </p:grpSpPr>
              <p:cxnSp>
                <p:nvCxnSpPr>
                  <p:cNvPr id="59413" name="直接连接符 19"/>
                  <p:cNvCxnSpPr>
                    <a:cxnSpLocks noChangeShapeType="1"/>
                  </p:cNvCxnSpPr>
                  <p:nvPr/>
                </p:nvCxnSpPr>
                <p:spPr bwMode="auto">
                  <a:xfrm>
                    <a:off x="3500430" y="2428874"/>
                    <a:ext cx="357190"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9414" name="直接连接符 20"/>
                  <p:cNvCxnSpPr>
                    <a:cxnSpLocks noChangeShapeType="1"/>
                  </p:cNvCxnSpPr>
                  <p:nvPr/>
                </p:nvCxnSpPr>
                <p:spPr bwMode="auto">
                  <a:xfrm rot="5400000" flipH="1" flipV="1">
                    <a:off x="3107521" y="2821783"/>
                    <a:ext cx="785818"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9415" name="直接连接符 21"/>
                  <p:cNvCxnSpPr>
                    <a:cxnSpLocks noChangeShapeType="1"/>
                  </p:cNvCxnSpPr>
                  <p:nvPr/>
                </p:nvCxnSpPr>
                <p:spPr bwMode="auto">
                  <a:xfrm rot="10800000">
                    <a:off x="3500430" y="3214692"/>
                    <a:ext cx="357190" cy="1588"/>
                  </a:xfrm>
                  <a:prstGeom prst="line">
                    <a:avLst/>
                  </a:prstGeom>
                  <a:noFill/>
                  <a:ln w="12700" algn="ctr">
                    <a:solidFill>
                      <a:schemeClr val="tx1"/>
                    </a:solidFill>
                    <a:round/>
                    <a:headEnd type="triangle" w="med" len="lg"/>
                  </a:ln>
                  <a:extLst>
                    <a:ext uri="{909E8E84-426E-40DD-AFC4-6F175D3DCCD1}">
                      <a14:hiddenFill xmlns:a14="http://schemas.microsoft.com/office/drawing/2010/main">
                        <a:noFill/>
                      </a14:hiddenFill>
                    </a:ext>
                  </a:extLst>
                </p:spPr>
              </p:cxnSp>
            </p:grpSp>
            <p:sp>
              <p:nvSpPr>
                <p:cNvPr id="59405" name="矩形 12"/>
                <p:cNvSpPr>
                  <a:spLocks noChangeArrowheads="1"/>
                </p:cNvSpPr>
                <p:nvPr/>
              </p:nvSpPr>
              <p:spPr bwMode="auto">
                <a:xfrm>
                  <a:off x="1142976" y="2357436"/>
                  <a:ext cx="1714512" cy="1785950"/>
                </a:xfrm>
                <a:prstGeom prst="rect">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r>
                    <a:rPr lang="en-US" altLang="zh-CN" sz="1200" b="1">
                      <a:latin typeface="Times New Roman" panose="02020603050405020304" pitchFamily="18" charset="0"/>
                      <a:cs typeface="Times New Roman" panose="02020603050405020304" pitchFamily="18" charset="0"/>
                    </a:rPr>
                    <a:t>EP                            </a:t>
                  </a:r>
                </a:p>
                <a:p>
                  <a:pPr algn="ctr" eaLnBrk="1" hangingPunct="1"/>
                  <a:r>
                    <a:rPr lang="en-US" altLang="zh-CN" sz="1200" b="1">
                      <a:latin typeface="Times New Roman" panose="02020603050405020304" pitchFamily="18" charset="0"/>
                      <a:cs typeface="Times New Roman" panose="02020603050405020304" pitchFamily="18" charset="0"/>
                    </a:rPr>
                    <a:t> </a:t>
                  </a:r>
                  <a:r>
                    <a:rPr lang="en-US" altLang="zh-CN" sz="1200" b="1"/>
                    <a:t>                    </a:t>
                  </a:r>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zh-CN" altLang="en-US" sz="1200" b="1"/>
                </a:p>
              </p:txBody>
            </p:sp>
            <p:grpSp>
              <p:nvGrpSpPr>
                <p:cNvPr id="59406" name="组合 27"/>
                <p:cNvGrpSpPr/>
                <p:nvPr/>
              </p:nvGrpSpPr>
              <p:grpSpPr bwMode="auto">
                <a:xfrm>
                  <a:off x="3857620" y="2357436"/>
                  <a:ext cx="1714512" cy="1500198"/>
                  <a:chOff x="4000496" y="2344447"/>
                  <a:chExt cx="1714512" cy="1363816"/>
                </a:xfrm>
              </p:grpSpPr>
              <p:sp>
                <p:nvSpPr>
                  <p:cNvPr id="59411" name="矩形 26"/>
                  <p:cNvSpPr>
                    <a:spLocks noChangeArrowheads="1"/>
                  </p:cNvSpPr>
                  <p:nvPr/>
                </p:nvSpPr>
                <p:spPr bwMode="auto">
                  <a:xfrm>
                    <a:off x="4000496" y="2344447"/>
                    <a:ext cx="1714512" cy="1363816"/>
                  </a:xfrm>
                  <a:prstGeom prst="rect">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r>
                      <a:rPr lang="en-US" altLang="zh-CN" sz="1200" b="1">
                        <a:latin typeface="Times New Roman" panose="02020603050405020304" pitchFamily="18" charset="0"/>
                        <a:cs typeface="Times New Roman" panose="02020603050405020304" pitchFamily="18" charset="0"/>
                      </a:rPr>
                      <a:t>EP  </a:t>
                    </a:r>
                    <a:r>
                      <a:rPr lang="en-US" altLang="zh-CN" sz="1200" b="1"/>
                      <a:t>                    </a:t>
                    </a:r>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zh-CN" altLang="en-US" sz="1200" b="1"/>
                  </a:p>
                </p:txBody>
              </p:sp>
              <p:sp>
                <p:nvSpPr>
                  <p:cNvPr id="26" name="矩形 25"/>
                  <p:cNvSpPr/>
                  <p:nvPr/>
                </p:nvSpPr>
                <p:spPr bwMode="auto">
                  <a:xfrm>
                    <a:off x="4000496" y="3001021"/>
                    <a:ext cx="1714512" cy="366542"/>
                  </a:xfrm>
                  <a:prstGeom prst="rect">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200" b="1" dirty="0"/>
                      <a:t>病毒代码</a:t>
                    </a:r>
                    <a:r>
                      <a:rPr lang="en-US" altLang="zh-CN" sz="1200" b="1" dirty="0">
                        <a:latin typeface="Times New Roman" panose="02020603050405020304" pitchFamily="18" charset="0"/>
                        <a:cs typeface="Times New Roman" panose="02020603050405020304" pitchFamily="18" charset="0"/>
                      </a:rPr>
                      <a:t>EP</a:t>
                    </a:r>
                    <a:r>
                      <a:rPr lang="en-US" altLang="zh-CN" sz="1200" b="1" dirty="0"/>
                      <a:t>+</a:t>
                    </a:r>
                    <a:r>
                      <a:rPr lang="zh-CN" altLang="en-US" sz="1200" b="1" dirty="0"/>
                      <a:t>解压程序</a:t>
                    </a:r>
                  </a:p>
                </p:txBody>
              </p:sp>
            </p:grpSp>
            <p:grpSp>
              <p:nvGrpSpPr>
                <p:cNvPr id="59407" name="组合 32"/>
                <p:cNvGrpSpPr/>
                <p:nvPr/>
              </p:nvGrpSpPr>
              <p:grpSpPr bwMode="auto">
                <a:xfrm>
                  <a:off x="857224" y="2500312"/>
                  <a:ext cx="286546" cy="500066"/>
                  <a:chOff x="3499636" y="2428874"/>
                  <a:chExt cx="357984" cy="787406"/>
                </a:xfrm>
              </p:grpSpPr>
              <p:cxnSp>
                <p:nvCxnSpPr>
                  <p:cNvPr id="59408" name="直接连接符 33"/>
                  <p:cNvCxnSpPr>
                    <a:cxnSpLocks noChangeShapeType="1"/>
                  </p:cNvCxnSpPr>
                  <p:nvPr/>
                </p:nvCxnSpPr>
                <p:spPr bwMode="auto">
                  <a:xfrm>
                    <a:off x="3500430" y="2428874"/>
                    <a:ext cx="357190"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9409" name="直接连接符 34"/>
                  <p:cNvCxnSpPr>
                    <a:cxnSpLocks noChangeShapeType="1"/>
                  </p:cNvCxnSpPr>
                  <p:nvPr/>
                </p:nvCxnSpPr>
                <p:spPr bwMode="auto">
                  <a:xfrm rot="5400000" flipH="1" flipV="1">
                    <a:off x="3107521" y="2821783"/>
                    <a:ext cx="785818"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9410" name="直接连接符 35"/>
                  <p:cNvCxnSpPr>
                    <a:cxnSpLocks noChangeShapeType="1"/>
                  </p:cNvCxnSpPr>
                  <p:nvPr/>
                </p:nvCxnSpPr>
                <p:spPr bwMode="auto">
                  <a:xfrm rot="10800000">
                    <a:off x="3500430" y="3214692"/>
                    <a:ext cx="357190" cy="1588"/>
                  </a:xfrm>
                  <a:prstGeom prst="line">
                    <a:avLst/>
                  </a:prstGeom>
                  <a:noFill/>
                  <a:ln w="12700" algn="ctr">
                    <a:solidFill>
                      <a:schemeClr val="tx1"/>
                    </a:solidFill>
                    <a:round/>
                    <a:headEnd type="triangle" w="med" len="lg"/>
                  </a:ln>
                  <a:extLst>
                    <a:ext uri="{909E8E84-426E-40DD-AFC4-6F175D3DCCD1}">
                      <a14:hiddenFill xmlns:a14="http://schemas.microsoft.com/office/drawing/2010/main">
                        <a:noFill/>
                      </a14:hiddenFill>
                    </a:ext>
                  </a:extLst>
                </p:spPr>
              </p:cxnSp>
            </p:grpSp>
          </p:grpSp>
        </p:grpSp>
        <p:sp>
          <p:nvSpPr>
            <p:cNvPr id="59399" name="TextBox 38"/>
            <p:cNvSpPr txBox="1">
              <a:spLocks noChangeArrowheads="1"/>
            </p:cNvSpPr>
            <p:nvPr/>
          </p:nvSpPr>
          <p:spPr bwMode="auto">
            <a:xfrm>
              <a:off x="2857488" y="2071684"/>
              <a:ext cx="92869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t>程序代码</a:t>
              </a:r>
            </a:p>
          </p:txBody>
        </p:sp>
        <p:sp>
          <p:nvSpPr>
            <p:cNvPr id="59400" name="TextBox 39"/>
            <p:cNvSpPr txBox="1">
              <a:spLocks noChangeArrowheads="1"/>
            </p:cNvSpPr>
            <p:nvPr/>
          </p:nvSpPr>
          <p:spPr bwMode="auto">
            <a:xfrm>
              <a:off x="5500694" y="2000246"/>
              <a:ext cx="92869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t>程序代码</a:t>
              </a:r>
            </a:p>
          </p:txBody>
        </p:sp>
      </p:gr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fade">
                                      <p:cBhvr>
                                        <p:cTn id="7" dur="500"/>
                                        <p:tgtEl>
                                          <p:spTgt spid="4403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4035">
                                            <p:txEl>
                                              <p:pRg st="1" end="1"/>
                                            </p:txEl>
                                          </p:spTgt>
                                        </p:tgtEl>
                                        <p:attrNameLst>
                                          <p:attrName>style.visibility</p:attrName>
                                        </p:attrNameLst>
                                      </p:cBhvr>
                                      <p:to>
                                        <p:strVal val="visible"/>
                                      </p:to>
                                    </p:set>
                                    <p:animEffect transition="in" filter="fade">
                                      <p:cBhvr>
                                        <p:cTn id="11" dur="500"/>
                                        <p:tgtEl>
                                          <p:spTgt spid="44035">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anim calcmode="lin" valueType="num">
                                      <p:cBhvr>
                                        <p:cTn id="17" dur="1000" fill="hold"/>
                                        <p:tgtEl>
                                          <p:spTgt spid="2"/>
                                        </p:tgtEl>
                                        <p:attrNameLst>
                                          <p:attrName>ppt_x</p:attrName>
                                        </p:attrNameLst>
                                      </p:cBhvr>
                                      <p:tavLst>
                                        <p:tav tm="0">
                                          <p:val>
                                            <p:strVal val="#ppt_x"/>
                                          </p:val>
                                        </p:tav>
                                        <p:tav tm="100000">
                                          <p:val>
                                            <p:strVal val="#ppt_x"/>
                                          </p:val>
                                        </p:tav>
                                      </p:tavLst>
                                    </p:anim>
                                    <p:anim calcmode="lin" valueType="num">
                                      <p:cBhvr>
                                        <p:cTn id="1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357188" y="1000125"/>
            <a:ext cx="8572500" cy="1285875"/>
          </a:xfrm>
        </p:spPr>
        <p:txBody>
          <a:bodyPr/>
          <a:lstStyle/>
          <a:p>
            <a:pPr>
              <a:buFont typeface="Wingdings" panose="05000000000000000000" pitchFamily="2" charset="2"/>
              <a:buNone/>
              <a:defRPr/>
            </a:pPr>
            <a:r>
              <a:rPr lang="zh-CN" altLang="en-US" b="1" dirty="0">
                <a:solidFill>
                  <a:srgbClr val="0033CC"/>
                </a:solidFill>
              </a:rPr>
              <a:t>（</a:t>
            </a:r>
            <a:r>
              <a:rPr lang="en-US" altLang="zh-CN" b="1" dirty="0">
                <a:solidFill>
                  <a:srgbClr val="0033CC"/>
                </a:solidFill>
              </a:rPr>
              <a:t>6</a:t>
            </a:r>
            <a:r>
              <a:rPr lang="zh-CN" altLang="en-US" b="1" dirty="0">
                <a:solidFill>
                  <a:srgbClr val="0033CC"/>
                </a:solidFill>
              </a:rPr>
              <a:t>）</a:t>
            </a:r>
            <a:r>
              <a:rPr lang="zh-CN" altLang="zh-CN" b="1" dirty="0">
                <a:solidFill>
                  <a:srgbClr val="0033CC"/>
                </a:solidFill>
              </a:rPr>
              <a:t>变形虫感染技术</a:t>
            </a:r>
          </a:p>
          <a:p>
            <a:pPr indent="-36195">
              <a:lnSpc>
                <a:spcPts val="2300"/>
              </a:lnSpc>
              <a:defRPr/>
            </a:pPr>
            <a:r>
              <a:rPr lang="zh-CN" altLang="zh-CN" b="1" dirty="0"/>
              <a:t>这种技术较罕见，</a:t>
            </a:r>
            <a:r>
              <a:rPr lang="zh-CN" altLang="zh-CN" b="1" dirty="0">
                <a:solidFill>
                  <a:srgbClr val="FF0000"/>
                </a:solidFill>
              </a:rPr>
              <a:t>它把</a:t>
            </a:r>
            <a:r>
              <a:rPr lang="zh-CN" altLang="zh-CN" b="1" dirty="0">
                <a:solidFill>
                  <a:srgbClr val="0033CC"/>
                </a:solidFill>
              </a:rPr>
              <a:t>宿主程序</a:t>
            </a:r>
            <a:r>
              <a:rPr lang="zh-CN" altLang="zh-CN" b="1" dirty="0">
                <a:solidFill>
                  <a:srgbClr val="FF0000"/>
                </a:solidFill>
              </a:rPr>
              <a:t>嵌入到</a:t>
            </a:r>
            <a:r>
              <a:rPr lang="zh-CN" altLang="zh-CN" b="1" dirty="0">
                <a:solidFill>
                  <a:srgbClr val="0033CC"/>
                </a:solidFill>
              </a:rPr>
              <a:t>病毒体</a:t>
            </a:r>
            <a:r>
              <a:rPr lang="zh-CN" altLang="zh-CN" b="1" dirty="0">
                <a:solidFill>
                  <a:srgbClr val="FF0000"/>
                </a:solidFill>
              </a:rPr>
              <a:t>中</a:t>
            </a:r>
            <a:r>
              <a:rPr lang="zh-CN" altLang="zh-CN" b="1" dirty="0"/>
              <a:t>，</a:t>
            </a:r>
            <a:r>
              <a:rPr lang="zh-CN" altLang="zh-CN" b="1" dirty="0">
                <a:solidFill>
                  <a:srgbClr val="FF0000"/>
                </a:solidFill>
              </a:rPr>
              <a:t>即把</a:t>
            </a:r>
            <a:r>
              <a:rPr lang="zh-CN" altLang="zh-CN" b="1" dirty="0">
                <a:solidFill>
                  <a:srgbClr val="0033CC"/>
                </a:solidFill>
              </a:rPr>
              <a:t>病毒头部</a:t>
            </a:r>
            <a:r>
              <a:rPr lang="zh-CN" altLang="zh-CN" b="1" dirty="0">
                <a:solidFill>
                  <a:srgbClr val="FF0000"/>
                </a:solidFill>
              </a:rPr>
              <a:t>放到</a:t>
            </a:r>
            <a:r>
              <a:rPr lang="zh-CN" altLang="zh-CN" b="1" dirty="0">
                <a:solidFill>
                  <a:srgbClr val="0033CC"/>
                </a:solidFill>
              </a:rPr>
              <a:t>文件之前</a:t>
            </a:r>
            <a:r>
              <a:rPr lang="zh-CN" altLang="zh-CN" b="1" dirty="0"/>
              <a:t>，</a:t>
            </a:r>
            <a:r>
              <a:rPr lang="zh-CN" altLang="zh-CN" b="1" dirty="0">
                <a:solidFill>
                  <a:srgbClr val="0033CC"/>
                </a:solidFill>
              </a:rPr>
              <a:t>病毒尾部</a:t>
            </a:r>
            <a:r>
              <a:rPr lang="zh-CN" altLang="zh-CN" b="1" dirty="0">
                <a:solidFill>
                  <a:srgbClr val="FF0000"/>
                </a:solidFill>
              </a:rPr>
              <a:t>追加到</a:t>
            </a:r>
            <a:r>
              <a:rPr lang="zh-CN" altLang="zh-CN" b="1" dirty="0">
                <a:solidFill>
                  <a:srgbClr val="0033CC"/>
                </a:solidFill>
              </a:rPr>
              <a:t>宿主</a:t>
            </a:r>
            <a:r>
              <a:rPr lang="zh-CN" altLang="zh-CN" b="1" dirty="0">
                <a:solidFill>
                  <a:srgbClr val="FF0000"/>
                </a:solidFill>
              </a:rPr>
              <a:t>之后</a:t>
            </a:r>
            <a:r>
              <a:rPr lang="zh-CN" altLang="zh-CN" b="1" dirty="0"/>
              <a:t>。病毒头部可以访问尾部，然后被载入。病毒在硬盘上生成一个包含原始宿主内容的新文件，以便于它将来可以正确运行。</a:t>
            </a:r>
          </a:p>
        </p:txBody>
      </p:sp>
      <p:sp>
        <p:nvSpPr>
          <p:cNvPr id="7"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dirty="0">
                <a:solidFill>
                  <a:srgbClr val="C00000"/>
                </a:solidFill>
                <a:effectLst>
                  <a:reflection blurRad="6350" stA="50000" endA="300" endPos="50000" dist="60007" dir="5400000" sy="-100000" algn="bl" rotWithShape="0"/>
                </a:effectLst>
                <a:latin typeface="+mj-ea"/>
                <a:ea typeface="+mj-ea"/>
                <a:cs typeface="+mj-cs"/>
              </a:rPr>
              <a:t>9.4 </a:t>
            </a:r>
            <a:r>
              <a:rPr lang="zh-CN" altLang="en-US" sz="2000" b="1" dirty="0">
                <a:solidFill>
                  <a:srgbClr val="C00000"/>
                </a:solidFill>
                <a:effectLst>
                  <a:reflection blurRad="6350" stA="50000" endA="300" endPos="50000" dist="60007" dir="5400000" sy="-100000" algn="bl" rotWithShape="0"/>
                </a:effectLst>
                <a:latin typeface="+mj-ea"/>
                <a:ea typeface="+mj-ea"/>
                <a:cs typeface="+mj-cs"/>
              </a:rPr>
              <a:t>恶意代码分析</a:t>
            </a:r>
          </a:p>
        </p:txBody>
      </p:sp>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9.4.2 </a:t>
            </a:r>
            <a:r>
              <a:rPr altLang="en-US" sz="2000" dirty="0"/>
              <a:t>病毒的机理与防治</a:t>
            </a:r>
          </a:p>
        </p:txBody>
      </p:sp>
      <p:grpSp>
        <p:nvGrpSpPr>
          <p:cNvPr id="2" name="组合 19"/>
          <p:cNvGrpSpPr/>
          <p:nvPr/>
        </p:nvGrpSpPr>
        <p:grpSpPr bwMode="auto">
          <a:xfrm>
            <a:off x="2714625" y="2357438"/>
            <a:ext cx="3571875" cy="2236787"/>
            <a:chOff x="2643174" y="2285998"/>
            <a:chExt cx="3571900" cy="2236603"/>
          </a:xfrm>
        </p:grpSpPr>
        <p:sp>
          <p:nvSpPr>
            <p:cNvPr id="60422" name="矩形 11"/>
            <p:cNvSpPr>
              <a:spLocks noChangeArrowheads="1"/>
            </p:cNvSpPr>
            <p:nvPr/>
          </p:nvSpPr>
          <p:spPr bwMode="auto">
            <a:xfrm>
              <a:off x="2643174" y="2714626"/>
              <a:ext cx="1357322" cy="1357322"/>
            </a:xfrm>
            <a:prstGeom prst="rect">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程序代码</a:t>
              </a:r>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zh-CN" altLang="en-US" sz="1200" b="1"/>
            </a:p>
          </p:txBody>
        </p:sp>
        <p:sp>
          <p:nvSpPr>
            <p:cNvPr id="14" name="右箭头 12"/>
            <p:cNvSpPr/>
            <p:nvPr/>
          </p:nvSpPr>
          <p:spPr bwMode="auto">
            <a:xfrm>
              <a:off x="4000497" y="3143177"/>
              <a:ext cx="857256" cy="214294"/>
            </a:xfrm>
            <a:prstGeom prst="rightArrow">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b="1"/>
            </a:p>
          </p:txBody>
        </p:sp>
        <p:sp>
          <p:nvSpPr>
            <p:cNvPr id="60424" name="TextBox 10"/>
            <p:cNvSpPr txBox="1">
              <a:spLocks noChangeArrowheads="1"/>
            </p:cNvSpPr>
            <p:nvPr/>
          </p:nvSpPr>
          <p:spPr bwMode="auto">
            <a:xfrm>
              <a:off x="3643306" y="4214824"/>
              <a:ext cx="164307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t>变形虫感染技术</a:t>
              </a:r>
            </a:p>
          </p:txBody>
        </p:sp>
        <p:grpSp>
          <p:nvGrpSpPr>
            <p:cNvPr id="60425" name="组合 18"/>
            <p:cNvGrpSpPr/>
            <p:nvPr/>
          </p:nvGrpSpPr>
          <p:grpSpPr bwMode="auto">
            <a:xfrm>
              <a:off x="4857752" y="2285998"/>
              <a:ext cx="1357322" cy="1928826"/>
              <a:chOff x="1000100" y="2428874"/>
              <a:chExt cx="1357322" cy="1928826"/>
            </a:xfrm>
          </p:grpSpPr>
          <p:sp>
            <p:nvSpPr>
              <p:cNvPr id="60426" name="矩形 14"/>
              <p:cNvSpPr>
                <a:spLocks noChangeArrowheads="1"/>
              </p:cNvSpPr>
              <p:nvPr/>
            </p:nvSpPr>
            <p:spPr bwMode="auto">
              <a:xfrm>
                <a:off x="1000100" y="2714626"/>
                <a:ext cx="1357322" cy="1357322"/>
              </a:xfrm>
              <a:prstGeom prst="rect">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程序代码</a:t>
                </a:r>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p:txBody>
          </p:sp>
          <p:sp>
            <p:nvSpPr>
              <p:cNvPr id="16" name="矩形 15"/>
              <p:cNvSpPr/>
              <p:nvPr/>
            </p:nvSpPr>
            <p:spPr bwMode="auto">
              <a:xfrm>
                <a:off x="1000100" y="2428874"/>
                <a:ext cx="1357321" cy="285726"/>
              </a:xfrm>
              <a:prstGeom prst="rect">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200" b="1" dirty="0"/>
                  <a:t>病毒代码头</a:t>
                </a:r>
              </a:p>
            </p:txBody>
          </p:sp>
          <p:sp>
            <p:nvSpPr>
              <p:cNvPr id="17" name="矩形 16"/>
              <p:cNvSpPr/>
              <p:nvPr/>
            </p:nvSpPr>
            <p:spPr bwMode="auto">
              <a:xfrm>
                <a:off x="1000100" y="4071801"/>
                <a:ext cx="1357321" cy="285726"/>
              </a:xfrm>
              <a:prstGeom prst="rect">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200" b="1" dirty="0"/>
                  <a:t>病毒代码尾</a:t>
                </a:r>
              </a:p>
            </p:txBody>
          </p:sp>
        </p:grpSp>
      </p:gr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animEffect transition="in" filter="fade">
                                      <p:cBhvr>
                                        <p:cTn id="11" dur="500"/>
                                        <p:tgtEl>
                                          <p:spTgt spid="921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anim calcmode="lin" valueType="num">
                                      <p:cBhvr>
                                        <p:cTn id="17" dur="500" fill="hold"/>
                                        <p:tgtEl>
                                          <p:spTgt spid="2"/>
                                        </p:tgtEl>
                                        <p:attrNameLst>
                                          <p:attrName>ppt_x</p:attrName>
                                        </p:attrNameLst>
                                      </p:cBhvr>
                                      <p:tavLst>
                                        <p:tav tm="0">
                                          <p:val>
                                            <p:strVal val="#ppt_x"/>
                                          </p:val>
                                        </p:tav>
                                        <p:tav tm="100000">
                                          <p:val>
                                            <p:strVal val="#ppt_x"/>
                                          </p:val>
                                        </p:tav>
                                      </p:tavLst>
                                    </p:anim>
                                    <p:anim calcmode="lin" valueType="num">
                                      <p:cBhvr>
                                        <p:cTn id="18"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285750" y="928688"/>
            <a:ext cx="8429625" cy="1000125"/>
          </a:xfrm>
        </p:spPr>
        <p:txBody>
          <a:bodyPr/>
          <a:lstStyle/>
          <a:p>
            <a:pPr>
              <a:buFont typeface="Wingdings" panose="05000000000000000000" pitchFamily="2" charset="2"/>
              <a:buNone/>
              <a:defRPr/>
            </a:pPr>
            <a:r>
              <a:rPr lang="zh-CN" altLang="en-US" b="1" dirty="0">
                <a:solidFill>
                  <a:srgbClr val="0033CC"/>
                </a:solidFill>
              </a:rPr>
              <a:t>（</a:t>
            </a:r>
            <a:r>
              <a:rPr lang="en-US" altLang="zh-CN" b="1" dirty="0">
                <a:solidFill>
                  <a:srgbClr val="0033CC"/>
                </a:solidFill>
              </a:rPr>
              <a:t>7</a:t>
            </a:r>
            <a:r>
              <a:rPr lang="zh-CN" altLang="en-US" b="1" dirty="0">
                <a:solidFill>
                  <a:srgbClr val="0033CC"/>
                </a:solidFill>
              </a:rPr>
              <a:t>）</a:t>
            </a:r>
            <a:r>
              <a:rPr lang="zh-CN" altLang="zh-CN" b="1" dirty="0">
                <a:solidFill>
                  <a:srgbClr val="0033CC"/>
                </a:solidFill>
              </a:rPr>
              <a:t>嵌入式解密程序技术</a:t>
            </a:r>
          </a:p>
          <a:p>
            <a:pPr indent="-36195">
              <a:lnSpc>
                <a:spcPts val="2300"/>
              </a:lnSpc>
              <a:defRPr/>
            </a:pPr>
            <a:r>
              <a:rPr lang="zh-CN" altLang="zh-CN" b="1" dirty="0"/>
              <a:t>高级的病毒会</a:t>
            </a:r>
            <a:r>
              <a:rPr lang="zh-CN" altLang="zh-CN" b="1" dirty="0">
                <a:solidFill>
                  <a:srgbClr val="FF0000"/>
                </a:solidFill>
              </a:rPr>
              <a:t>把其</a:t>
            </a:r>
            <a:r>
              <a:rPr lang="zh-CN" altLang="zh-CN" b="1" dirty="0">
                <a:solidFill>
                  <a:srgbClr val="0033CC"/>
                </a:solidFill>
              </a:rPr>
              <a:t>解密程序</a:t>
            </a:r>
            <a:r>
              <a:rPr lang="zh-CN" altLang="zh-CN" b="1" dirty="0">
                <a:solidFill>
                  <a:srgbClr val="FF0000"/>
                </a:solidFill>
              </a:rPr>
              <a:t>注入</a:t>
            </a:r>
            <a:r>
              <a:rPr lang="zh-CN" altLang="zh-CN" b="1" dirty="0">
                <a:solidFill>
                  <a:srgbClr val="0033CC"/>
                </a:solidFill>
              </a:rPr>
              <a:t>可以执行的宿主文件</a:t>
            </a:r>
            <a:r>
              <a:rPr lang="zh-CN" altLang="zh-CN" b="1" dirty="0">
                <a:solidFill>
                  <a:srgbClr val="FF0000"/>
                </a:solidFill>
              </a:rPr>
              <a:t>中</a:t>
            </a:r>
            <a:r>
              <a:rPr lang="zh-CN" altLang="zh-CN" b="1" dirty="0"/>
              <a:t>，</a:t>
            </a:r>
            <a:r>
              <a:rPr lang="zh-CN" altLang="zh-CN" b="1" dirty="0">
                <a:solidFill>
                  <a:srgbClr val="FF0000"/>
                </a:solidFill>
              </a:rPr>
              <a:t>并将</a:t>
            </a:r>
            <a:r>
              <a:rPr lang="zh-CN" altLang="zh-CN" b="1" dirty="0">
                <a:solidFill>
                  <a:srgbClr val="0033CC"/>
                </a:solidFill>
              </a:rPr>
              <a:t>宿主</a:t>
            </a:r>
            <a:r>
              <a:rPr lang="zh-CN" altLang="en-US" b="1" dirty="0">
                <a:solidFill>
                  <a:srgbClr val="0033CC"/>
                </a:solidFill>
              </a:rPr>
              <a:t>入口</a:t>
            </a:r>
            <a:r>
              <a:rPr lang="zh-CN" altLang="zh-CN" b="1" dirty="0">
                <a:solidFill>
                  <a:srgbClr val="0033CC"/>
                </a:solidFill>
              </a:rPr>
              <a:t>点</a:t>
            </a:r>
            <a:r>
              <a:rPr lang="zh-CN" altLang="zh-CN" b="1" dirty="0">
                <a:solidFill>
                  <a:srgbClr val="FF0000"/>
                </a:solidFill>
              </a:rPr>
              <a:t>修改为</a:t>
            </a:r>
            <a:r>
              <a:rPr lang="zh-CN" altLang="zh-CN" b="1" dirty="0">
                <a:solidFill>
                  <a:srgbClr val="0033CC"/>
                </a:solidFill>
              </a:rPr>
              <a:t>指向解密程序代码</a:t>
            </a:r>
            <a:r>
              <a:rPr lang="zh-CN" altLang="zh-CN" b="1" dirty="0"/>
              <a:t>。</a:t>
            </a:r>
            <a:r>
              <a:rPr lang="zh-CN" altLang="zh-CN" b="1" dirty="0">
                <a:solidFill>
                  <a:srgbClr val="0033CC"/>
                </a:solidFill>
              </a:rPr>
              <a:t>解密程序的注入位置</a:t>
            </a:r>
            <a:r>
              <a:rPr lang="zh-CN" altLang="zh-CN" b="1" dirty="0">
                <a:solidFill>
                  <a:srgbClr val="FF0000"/>
                </a:solidFill>
              </a:rPr>
              <a:t>是随机选择的</a:t>
            </a:r>
            <a:r>
              <a:rPr lang="zh-CN" altLang="zh-CN" b="1" dirty="0"/>
              <a:t>，解密程序被分割成多个部分。</a:t>
            </a:r>
          </a:p>
        </p:txBody>
      </p:sp>
      <p:sp>
        <p:nvSpPr>
          <p:cNvPr id="7"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9.4.2 </a:t>
            </a:r>
            <a:r>
              <a:rPr altLang="en-US" sz="2000" dirty="0"/>
              <a:t>病毒的机理与防治</a:t>
            </a:r>
          </a:p>
        </p:txBody>
      </p:sp>
      <p:grpSp>
        <p:nvGrpSpPr>
          <p:cNvPr id="2" name="组合 43"/>
          <p:cNvGrpSpPr/>
          <p:nvPr/>
        </p:nvGrpSpPr>
        <p:grpSpPr bwMode="auto">
          <a:xfrm>
            <a:off x="2214563" y="1928813"/>
            <a:ext cx="4429125" cy="2593975"/>
            <a:chOff x="1357290" y="2143122"/>
            <a:chExt cx="4429156" cy="2593793"/>
          </a:xfrm>
        </p:grpSpPr>
        <p:sp>
          <p:nvSpPr>
            <p:cNvPr id="61446" name="TextBox 12"/>
            <p:cNvSpPr txBox="1">
              <a:spLocks noChangeArrowheads="1"/>
            </p:cNvSpPr>
            <p:nvPr/>
          </p:nvSpPr>
          <p:spPr bwMode="auto">
            <a:xfrm>
              <a:off x="2714612" y="4429138"/>
              <a:ext cx="1785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t>嵌入式解密程序技术</a:t>
              </a:r>
            </a:p>
          </p:txBody>
        </p:sp>
        <p:grpSp>
          <p:nvGrpSpPr>
            <p:cNvPr id="61447" name="组合 42"/>
            <p:cNvGrpSpPr/>
            <p:nvPr/>
          </p:nvGrpSpPr>
          <p:grpSpPr bwMode="auto">
            <a:xfrm>
              <a:off x="1357290" y="2143122"/>
              <a:ext cx="4429156" cy="2261013"/>
              <a:chOff x="1285852" y="2285998"/>
              <a:chExt cx="4429156" cy="2261013"/>
            </a:xfrm>
          </p:grpSpPr>
          <p:sp>
            <p:nvSpPr>
              <p:cNvPr id="15" name="右箭头 12"/>
              <p:cNvSpPr/>
              <p:nvPr/>
            </p:nvSpPr>
            <p:spPr bwMode="auto">
              <a:xfrm>
                <a:off x="3000364" y="3357485"/>
                <a:ext cx="1000132" cy="214298"/>
              </a:xfrm>
              <a:prstGeom prst="rightArrow">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b="1"/>
              </a:p>
            </p:txBody>
          </p:sp>
          <p:sp>
            <p:nvSpPr>
              <p:cNvPr id="61449" name="矩形 16"/>
              <p:cNvSpPr>
                <a:spLocks noChangeArrowheads="1"/>
              </p:cNvSpPr>
              <p:nvPr/>
            </p:nvSpPr>
            <p:spPr bwMode="auto">
              <a:xfrm>
                <a:off x="4000496" y="2571750"/>
                <a:ext cx="1714512" cy="1643074"/>
              </a:xfrm>
              <a:prstGeom prst="rect">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r>
                  <a:rPr lang="en-US" altLang="zh-CN" sz="1200" b="1">
                    <a:latin typeface="Times New Roman" panose="02020603050405020304" pitchFamily="18" charset="0"/>
                    <a:cs typeface="Times New Roman" panose="02020603050405020304" pitchFamily="18" charset="0"/>
                  </a:rPr>
                  <a:t>JMP                          </a:t>
                </a:r>
              </a:p>
              <a:p>
                <a:pPr algn="ctr" eaLnBrk="1" hangingPunct="1"/>
                <a:r>
                  <a:rPr lang="en-US" altLang="zh-CN" sz="1200" b="1">
                    <a:latin typeface="Times New Roman" panose="02020603050405020304" pitchFamily="18" charset="0"/>
                    <a:cs typeface="Times New Roman" panose="02020603050405020304" pitchFamily="18" charset="0"/>
                  </a:rPr>
                  <a:t> </a:t>
                </a:r>
                <a:r>
                  <a:rPr lang="en-US" altLang="zh-CN" sz="1200" b="1"/>
                  <a:t>                    </a:t>
                </a:r>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zh-CN" altLang="en-US" sz="1200" b="1"/>
              </a:p>
            </p:txBody>
          </p:sp>
          <p:sp>
            <p:nvSpPr>
              <p:cNvPr id="61450" name="矩形 22"/>
              <p:cNvSpPr>
                <a:spLocks noChangeArrowheads="1"/>
              </p:cNvSpPr>
              <p:nvPr/>
            </p:nvSpPr>
            <p:spPr bwMode="auto">
              <a:xfrm>
                <a:off x="1285852" y="2643188"/>
                <a:ext cx="1714512" cy="1643074"/>
              </a:xfrm>
              <a:prstGeom prst="rect">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r>
                  <a:rPr lang="en-US" altLang="zh-CN" sz="1200" b="1">
                    <a:latin typeface="Times New Roman" panose="02020603050405020304" pitchFamily="18" charset="0"/>
                    <a:cs typeface="Times New Roman" panose="02020603050405020304" pitchFamily="18" charset="0"/>
                  </a:rPr>
                  <a:t> </a:t>
                </a:r>
                <a:r>
                  <a:rPr lang="en-US" altLang="zh-CN" sz="1200" b="1"/>
                  <a:t>                    </a:t>
                </a:r>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zh-CN" altLang="en-US" sz="1200" b="1"/>
              </a:p>
            </p:txBody>
          </p:sp>
          <p:sp>
            <p:nvSpPr>
              <p:cNvPr id="24" name="矩形 23"/>
              <p:cNvSpPr/>
              <p:nvPr/>
            </p:nvSpPr>
            <p:spPr bwMode="auto">
              <a:xfrm>
                <a:off x="4000496" y="4214674"/>
                <a:ext cx="1714512" cy="331765"/>
              </a:xfrm>
              <a:prstGeom prst="rect">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200" b="1" dirty="0"/>
                  <a:t>病毒代码</a:t>
                </a:r>
              </a:p>
            </p:txBody>
          </p:sp>
          <p:grpSp>
            <p:nvGrpSpPr>
              <p:cNvPr id="61452" name="组合 32"/>
              <p:cNvGrpSpPr/>
              <p:nvPr/>
            </p:nvGrpSpPr>
            <p:grpSpPr bwMode="auto">
              <a:xfrm>
                <a:off x="3786182" y="2714626"/>
                <a:ext cx="215108" cy="357435"/>
                <a:chOff x="3499636" y="2428874"/>
                <a:chExt cx="357984" cy="787406"/>
              </a:xfrm>
            </p:grpSpPr>
            <p:cxnSp>
              <p:nvCxnSpPr>
                <p:cNvPr id="61466" name="直接连接符 19"/>
                <p:cNvCxnSpPr>
                  <a:cxnSpLocks noChangeShapeType="1"/>
                </p:cNvCxnSpPr>
                <p:nvPr/>
              </p:nvCxnSpPr>
              <p:spPr bwMode="auto">
                <a:xfrm>
                  <a:off x="3500430" y="2428874"/>
                  <a:ext cx="357190"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61467" name="直接连接符 20"/>
                <p:cNvCxnSpPr>
                  <a:cxnSpLocks noChangeShapeType="1"/>
                </p:cNvCxnSpPr>
                <p:nvPr/>
              </p:nvCxnSpPr>
              <p:spPr bwMode="auto">
                <a:xfrm rot="5400000" flipH="1" flipV="1">
                  <a:off x="3107521" y="2821783"/>
                  <a:ext cx="785818"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61468" name="直接连接符 21"/>
                <p:cNvCxnSpPr>
                  <a:cxnSpLocks noChangeShapeType="1"/>
                </p:cNvCxnSpPr>
                <p:nvPr/>
              </p:nvCxnSpPr>
              <p:spPr bwMode="auto">
                <a:xfrm rot="10800000">
                  <a:off x="3500430" y="3214692"/>
                  <a:ext cx="357190" cy="1588"/>
                </a:xfrm>
                <a:prstGeom prst="line">
                  <a:avLst/>
                </a:prstGeom>
                <a:noFill/>
                <a:ln w="12700" algn="ctr">
                  <a:solidFill>
                    <a:schemeClr val="tx1"/>
                  </a:solidFill>
                  <a:round/>
                  <a:headEnd type="triangle" w="med" len="lg"/>
                </a:ln>
                <a:extLst>
                  <a:ext uri="{909E8E84-426E-40DD-AFC4-6F175D3DCCD1}">
                    <a14:hiddenFill xmlns:a14="http://schemas.microsoft.com/office/drawing/2010/main">
                      <a:noFill/>
                    </a14:hiddenFill>
                  </a:ext>
                </a:extLst>
              </p:spPr>
            </p:cxnSp>
          </p:grpSp>
          <p:sp>
            <p:nvSpPr>
              <p:cNvPr id="61453" name="TextBox 10"/>
              <p:cNvSpPr txBox="1">
                <a:spLocks noChangeArrowheads="1"/>
              </p:cNvSpPr>
              <p:nvPr/>
            </p:nvSpPr>
            <p:spPr bwMode="auto">
              <a:xfrm>
                <a:off x="1643042" y="2357436"/>
                <a:ext cx="92869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t>程序代码</a:t>
                </a:r>
              </a:p>
            </p:txBody>
          </p:sp>
          <p:sp>
            <p:nvSpPr>
              <p:cNvPr id="61454" name="TextBox 11"/>
              <p:cNvSpPr txBox="1">
                <a:spLocks noChangeArrowheads="1"/>
              </p:cNvSpPr>
              <p:nvPr/>
            </p:nvSpPr>
            <p:spPr bwMode="auto">
              <a:xfrm>
                <a:off x="4429124" y="2285998"/>
                <a:ext cx="92869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t>程序代码</a:t>
                </a:r>
              </a:p>
            </p:txBody>
          </p:sp>
          <p:sp>
            <p:nvSpPr>
              <p:cNvPr id="28" name="矩形 27"/>
              <p:cNvSpPr/>
              <p:nvPr/>
            </p:nvSpPr>
            <p:spPr bwMode="auto">
              <a:xfrm>
                <a:off x="4000496" y="2928890"/>
                <a:ext cx="214313" cy="214298"/>
              </a:xfrm>
              <a:prstGeom prst="rect">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sz="1200" b="1" dirty="0"/>
              </a:p>
            </p:txBody>
          </p:sp>
          <p:sp>
            <p:nvSpPr>
              <p:cNvPr id="29" name="矩形 28"/>
              <p:cNvSpPr/>
              <p:nvPr/>
            </p:nvSpPr>
            <p:spPr bwMode="auto">
              <a:xfrm>
                <a:off x="4429124" y="3214620"/>
                <a:ext cx="214313" cy="214298"/>
              </a:xfrm>
              <a:prstGeom prst="rect">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sz="1200" b="1" dirty="0"/>
              </a:p>
            </p:txBody>
          </p:sp>
          <p:sp>
            <p:nvSpPr>
              <p:cNvPr id="30" name="矩形 29"/>
              <p:cNvSpPr/>
              <p:nvPr/>
            </p:nvSpPr>
            <p:spPr bwMode="auto">
              <a:xfrm>
                <a:off x="4857752" y="3500350"/>
                <a:ext cx="214313" cy="214298"/>
              </a:xfrm>
              <a:prstGeom prst="rect">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sz="1200" b="1" dirty="0"/>
              </a:p>
            </p:txBody>
          </p:sp>
          <p:sp>
            <p:nvSpPr>
              <p:cNvPr id="31" name="矩形 30"/>
              <p:cNvSpPr/>
              <p:nvPr/>
            </p:nvSpPr>
            <p:spPr bwMode="auto">
              <a:xfrm>
                <a:off x="4429124" y="3786080"/>
                <a:ext cx="214313" cy="214298"/>
              </a:xfrm>
              <a:prstGeom prst="rect">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sz="1200" b="1" dirty="0"/>
              </a:p>
            </p:txBody>
          </p:sp>
          <p:cxnSp>
            <p:nvCxnSpPr>
              <p:cNvPr id="61459" name="直接连接符 31"/>
              <p:cNvCxnSpPr>
                <a:cxnSpLocks noChangeShapeType="1"/>
                <a:stCxn id="29" idx="1"/>
              </p:cNvCxnSpPr>
              <p:nvPr/>
            </p:nvCxnSpPr>
            <p:spPr bwMode="auto">
              <a:xfrm rot="10800000">
                <a:off x="4214810" y="3071817"/>
                <a:ext cx="214314" cy="250033"/>
              </a:xfrm>
              <a:prstGeom prst="line">
                <a:avLst/>
              </a:prstGeom>
              <a:noFill/>
              <a:ln w="12700" algn="ctr">
                <a:solidFill>
                  <a:schemeClr val="tx1"/>
                </a:solidFill>
                <a:round/>
                <a:headEnd type="triangle" w="med" len="lg"/>
              </a:ln>
              <a:extLst>
                <a:ext uri="{909E8E84-426E-40DD-AFC4-6F175D3DCCD1}">
                  <a14:hiddenFill xmlns:a14="http://schemas.microsoft.com/office/drawing/2010/main">
                    <a:noFill/>
                  </a14:hiddenFill>
                </a:ext>
              </a:extLst>
            </p:spPr>
          </p:cxnSp>
          <p:cxnSp>
            <p:nvCxnSpPr>
              <p:cNvPr id="61460" name="直接连接符 33"/>
              <p:cNvCxnSpPr>
                <a:cxnSpLocks noChangeShapeType="1"/>
              </p:cNvCxnSpPr>
              <p:nvPr/>
            </p:nvCxnSpPr>
            <p:spPr bwMode="auto">
              <a:xfrm rot="10800000">
                <a:off x="4643438" y="3357568"/>
                <a:ext cx="214314" cy="250033"/>
              </a:xfrm>
              <a:prstGeom prst="line">
                <a:avLst/>
              </a:prstGeom>
              <a:noFill/>
              <a:ln w="12700" algn="ctr">
                <a:solidFill>
                  <a:schemeClr val="tx1"/>
                </a:solidFill>
                <a:round/>
                <a:headEnd type="triangle" w="med" len="lg"/>
              </a:ln>
              <a:extLst>
                <a:ext uri="{909E8E84-426E-40DD-AFC4-6F175D3DCCD1}">
                  <a14:hiddenFill xmlns:a14="http://schemas.microsoft.com/office/drawing/2010/main">
                    <a:noFill/>
                  </a14:hiddenFill>
                </a:ext>
              </a:extLst>
            </p:spPr>
          </p:cxnSp>
          <p:cxnSp>
            <p:nvCxnSpPr>
              <p:cNvPr id="61461" name="直接连接符 34"/>
              <p:cNvCxnSpPr>
                <a:cxnSpLocks noChangeShapeType="1"/>
                <a:stCxn id="31" idx="3"/>
              </p:cNvCxnSpPr>
              <p:nvPr/>
            </p:nvCxnSpPr>
            <p:spPr bwMode="auto">
              <a:xfrm flipV="1">
                <a:off x="4643438" y="3714759"/>
                <a:ext cx="285752" cy="178594"/>
              </a:xfrm>
              <a:prstGeom prst="line">
                <a:avLst/>
              </a:prstGeom>
              <a:noFill/>
              <a:ln w="12700" algn="ctr">
                <a:solidFill>
                  <a:schemeClr val="tx1"/>
                </a:solidFill>
                <a:round/>
                <a:headEnd type="triangle" w="med" len="lg"/>
              </a:ln>
              <a:extLst>
                <a:ext uri="{909E8E84-426E-40DD-AFC4-6F175D3DCCD1}">
                  <a14:hiddenFill xmlns:a14="http://schemas.microsoft.com/office/drawing/2010/main">
                    <a:noFill/>
                  </a14:hiddenFill>
                </a:ext>
              </a:extLst>
            </p:spPr>
          </p:cxnSp>
          <p:grpSp>
            <p:nvGrpSpPr>
              <p:cNvPr id="61462" name="组合 32"/>
              <p:cNvGrpSpPr/>
              <p:nvPr/>
            </p:nvGrpSpPr>
            <p:grpSpPr bwMode="auto">
              <a:xfrm>
                <a:off x="3786182" y="3857634"/>
                <a:ext cx="643736" cy="357191"/>
                <a:chOff x="3499636" y="2428874"/>
                <a:chExt cx="357984" cy="786868"/>
              </a:xfrm>
            </p:grpSpPr>
            <p:cxnSp>
              <p:nvCxnSpPr>
                <p:cNvPr id="61463" name="直接连接符 37"/>
                <p:cNvCxnSpPr>
                  <a:cxnSpLocks noChangeShapeType="1"/>
                </p:cNvCxnSpPr>
                <p:nvPr/>
              </p:nvCxnSpPr>
              <p:spPr bwMode="auto">
                <a:xfrm>
                  <a:off x="3500430" y="2428874"/>
                  <a:ext cx="357190"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61464" name="直接连接符 38"/>
                <p:cNvCxnSpPr>
                  <a:cxnSpLocks noChangeShapeType="1"/>
                </p:cNvCxnSpPr>
                <p:nvPr/>
              </p:nvCxnSpPr>
              <p:spPr bwMode="auto">
                <a:xfrm rot="5400000" flipH="1" flipV="1">
                  <a:off x="3107521" y="2821783"/>
                  <a:ext cx="785818"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61465" name="直接连接符 39"/>
                <p:cNvCxnSpPr>
                  <a:cxnSpLocks noChangeShapeType="1"/>
                </p:cNvCxnSpPr>
                <p:nvPr/>
              </p:nvCxnSpPr>
              <p:spPr bwMode="auto">
                <a:xfrm rot="10800000">
                  <a:off x="3500431" y="3214700"/>
                  <a:ext cx="118386" cy="1042"/>
                </a:xfrm>
                <a:prstGeom prst="line">
                  <a:avLst/>
                </a:prstGeom>
                <a:noFill/>
                <a:ln w="12700" algn="ctr">
                  <a:solidFill>
                    <a:schemeClr val="tx1"/>
                  </a:solidFill>
                  <a:round/>
                  <a:headEnd type="triangle" w="med" len="lg"/>
                </a:ln>
                <a:extLst>
                  <a:ext uri="{909E8E84-426E-40DD-AFC4-6F175D3DCCD1}">
                    <a14:hiddenFill xmlns:a14="http://schemas.microsoft.com/office/drawing/2010/main">
                      <a:noFill/>
                    </a14:hiddenFill>
                  </a:ext>
                </a:extLst>
              </p:spPr>
            </p:cxnSp>
          </p:grpSp>
        </p:grpSp>
      </p:gr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animEffect transition="in" filter="fade">
                                      <p:cBhvr>
                                        <p:cTn id="11" dur="500"/>
                                        <p:tgtEl>
                                          <p:spTgt spid="921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anim calcmode="lin" valueType="num">
                                      <p:cBhvr>
                                        <p:cTn id="17" dur="500" fill="hold"/>
                                        <p:tgtEl>
                                          <p:spTgt spid="2"/>
                                        </p:tgtEl>
                                        <p:attrNameLst>
                                          <p:attrName>ppt_x</p:attrName>
                                        </p:attrNameLst>
                                      </p:cBhvr>
                                      <p:tavLst>
                                        <p:tav tm="0">
                                          <p:val>
                                            <p:strVal val="#ppt_x"/>
                                          </p:val>
                                        </p:tav>
                                        <p:tav tm="100000">
                                          <p:val>
                                            <p:strVal val="#ppt_x"/>
                                          </p:val>
                                        </p:tav>
                                      </p:tavLst>
                                    </p:anim>
                                    <p:anim calcmode="lin" valueType="num">
                                      <p:cBhvr>
                                        <p:cTn id="18"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内容占位符 2"/>
          <p:cNvSpPr>
            <a:spLocks noGrp="1"/>
          </p:cNvSpPr>
          <p:nvPr>
            <p:ph idx="1"/>
          </p:nvPr>
        </p:nvSpPr>
        <p:spPr>
          <a:xfrm>
            <a:off x="357188" y="928688"/>
            <a:ext cx="8429625" cy="1571625"/>
          </a:xfrm>
        </p:spPr>
        <p:txBody>
          <a:bodyPr/>
          <a:lstStyle/>
          <a:p>
            <a:pPr>
              <a:buFont typeface="Wingdings" panose="05000000000000000000" pitchFamily="2" charset="2"/>
              <a:buNone/>
              <a:defRPr/>
            </a:pPr>
            <a:r>
              <a:rPr lang="zh-CN" altLang="en-US" b="1" dirty="0">
                <a:solidFill>
                  <a:srgbClr val="0033CC"/>
                </a:solidFill>
              </a:rPr>
              <a:t>（</a:t>
            </a:r>
            <a:r>
              <a:rPr lang="en-US" altLang="zh-CN" b="1" dirty="0">
                <a:solidFill>
                  <a:srgbClr val="0033CC"/>
                </a:solidFill>
              </a:rPr>
              <a:t>8</a:t>
            </a:r>
            <a:r>
              <a:rPr lang="zh-CN" altLang="en-US" b="1" dirty="0">
                <a:solidFill>
                  <a:srgbClr val="0033CC"/>
                </a:solidFill>
              </a:rPr>
              <a:t>）</a:t>
            </a:r>
            <a:r>
              <a:rPr lang="zh-CN" altLang="zh-CN" b="1" dirty="0">
                <a:solidFill>
                  <a:srgbClr val="0033CC"/>
                </a:solidFill>
              </a:rPr>
              <a:t>迷惑性欺骗跳转技术</a:t>
            </a:r>
          </a:p>
          <a:p>
            <a:pPr indent="-36195">
              <a:lnSpc>
                <a:spcPts val="2300"/>
              </a:lnSpc>
              <a:defRPr/>
            </a:pPr>
            <a:r>
              <a:rPr lang="zh-CN" altLang="zh-CN" sz="1400" b="1" dirty="0"/>
              <a:t>该病毒使用最简单可行的技术来</a:t>
            </a:r>
            <a:r>
              <a:rPr lang="zh-CN" altLang="zh-CN" sz="1400" b="1" dirty="0">
                <a:solidFill>
                  <a:srgbClr val="FF0000"/>
                </a:solidFill>
              </a:rPr>
              <a:t>感染</a:t>
            </a:r>
            <a:r>
              <a:rPr lang="en-US" altLang="zh-CN" sz="1400" b="1" dirty="0">
                <a:solidFill>
                  <a:srgbClr val="0033CC"/>
                </a:solidFill>
              </a:rPr>
              <a:t>.NET</a:t>
            </a:r>
            <a:r>
              <a:rPr lang="zh-CN" altLang="zh-CN" sz="1400" b="1" dirty="0">
                <a:solidFill>
                  <a:srgbClr val="0033CC"/>
                </a:solidFill>
              </a:rPr>
              <a:t>文件</a:t>
            </a:r>
            <a:r>
              <a:rPr lang="zh-CN" altLang="zh-CN" sz="1400" b="1" dirty="0"/>
              <a:t>。它</a:t>
            </a:r>
            <a:r>
              <a:rPr lang="zh-CN" altLang="zh-CN" sz="1400" b="1" dirty="0">
                <a:solidFill>
                  <a:srgbClr val="FF0000"/>
                </a:solidFill>
              </a:rPr>
              <a:t>把</a:t>
            </a:r>
            <a:r>
              <a:rPr lang="zh-CN" altLang="zh-CN" sz="1400" b="1" dirty="0">
                <a:solidFill>
                  <a:srgbClr val="0033CC"/>
                </a:solidFill>
              </a:rPr>
              <a:t>位于</a:t>
            </a:r>
            <a:r>
              <a:rPr lang="en-US" altLang="zh-CN" sz="1400" b="1" dirty="0">
                <a:solidFill>
                  <a:srgbClr val="0033CC"/>
                </a:solidFill>
              </a:rPr>
              <a:t>.NET</a:t>
            </a:r>
            <a:r>
              <a:rPr lang="zh-CN" altLang="zh-CN" sz="1400" b="1" dirty="0">
                <a:solidFill>
                  <a:srgbClr val="0033CC"/>
                </a:solidFill>
              </a:rPr>
              <a:t>文件入口点的</a:t>
            </a:r>
            <a:r>
              <a:rPr lang="en-US" altLang="zh-CN" sz="1400" b="1" dirty="0">
                <a:solidFill>
                  <a:srgbClr val="0033CC"/>
                </a:solidFill>
              </a:rPr>
              <a:t>6</a:t>
            </a:r>
            <a:r>
              <a:rPr lang="zh-CN" altLang="zh-CN" sz="1400" b="1" dirty="0">
                <a:solidFill>
                  <a:srgbClr val="0033CC"/>
                </a:solidFill>
              </a:rPr>
              <a:t>字节长的指向导入表的跳转指令</a:t>
            </a:r>
            <a:r>
              <a:rPr lang="zh-CN" altLang="zh-CN" sz="1400" b="1" dirty="0">
                <a:solidFill>
                  <a:srgbClr val="FF0000"/>
                </a:solidFill>
              </a:rPr>
              <a:t>替换为</a:t>
            </a:r>
            <a:r>
              <a:rPr lang="zh-CN" altLang="zh-CN" sz="1400" b="1" dirty="0">
                <a:solidFill>
                  <a:srgbClr val="0033CC"/>
                </a:solidFill>
              </a:rPr>
              <a:t>一个指向病毒入口点的跳转指令</a:t>
            </a:r>
            <a:r>
              <a:rPr lang="zh-CN" altLang="zh-CN" sz="1400" b="1" dirty="0"/>
              <a:t>。头部的入口点不会被病毒改变。这个技术称为迷惑性欺骗跳转。迷惑性欺骗跳转技术是一种避免修改宿主文件原始入口点的常见技术。该技术</a:t>
            </a:r>
            <a:r>
              <a:rPr lang="zh-CN" altLang="zh-CN" sz="1400" b="1" dirty="0">
                <a:solidFill>
                  <a:srgbClr val="FF0000"/>
                </a:solidFill>
              </a:rPr>
              <a:t>可以对抗</a:t>
            </a:r>
            <a:r>
              <a:rPr lang="zh-CN" altLang="zh-CN" sz="1400" b="1" dirty="0">
                <a:solidFill>
                  <a:srgbClr val="0033CC"/>
                </a:solidFill>
              </a:rPr>
              <a:t>启发式检测</a:t>
            </a:r>
            <a:r>
              <a:rPr lang="zh-CN" altLang="zh-CN" sz="1400" b="1" dirty="0"/>
              <a:t>。</a:t>
            </a:r>
            <a:r>
              <a:rPr lang="zh-CN" altLang="en-US" sz="1400" b="1" dirty="0"/>
              <a:t>下图</a:t>
            </a:r>
            <a:r>
              <a:rPr lang="zh-CN" altLang="zh-CN" sz="1400" b="1" dirty="0"/>
              <a:t>显示了这种跳转技术。</a:t>
            </a:r>
          </a:p>
        </p:txBody>
      </p:sp>
      <p:sp>
        <p:nvSpPr>
          <p:cNvPr id="7"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9.4.2 </a:t>
            </a:r>
            <a:r>
              <a:rPr altLang="en-US" sz="2000" dirty="0"/>
              <a:t>病毒的机理与防治</a:t>
            </a:r>
          </a:p>
        </p:txBody>
      </p:sp>
      <p:grpSp>
        <p:nvGrpSpPr>
          <p:cNvPr id="2" name="组合 42"/>
          <p:cNvGrpSpPr/>
          <p:nvPr/>
        </p:nvGrpSpPr>
        <p:grpSpPr bwMode="auto">
          <a:xfrm>
            <a:off x="2428875" y="2500313"/>
            <a:ext cx="3929063" cy="2236787"/>
            <a:chOff x="1000100" y="2500312"/>
            <a:chExt cx="3929092" cy="2236603"/>
          </a:xfrm>
        </p:grpSpPr>
        <p:sp>
          <p:nvSpPr>
            <p:cNvPr id="62470" name="TextBox 12"/>
            <p:cNvSpPr txBox="1">
              <a:spLocks noChangeArrowheads="1"/>
            </p:cNvSpPr>
            <p:nvPr/>
          </p:nvSpPr>
          <p:spPr bwMode="auto">
            <a:xfrm>
              <a:off x="2000232" y="4429138"/>
              <a:ext cx="185738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t>迷惑性欺骗跳转技术</a:t>
              </a:r>
            </a:p>
          </p:txBody>
        </p:sp>
        <p:sp>
          <p:nvSpPr>
            <p:cNvPr id="62471" name="右箭头 12"/>
            <p:cNvSpPr>
              <a:spLocks noChangeArrowheads="1"/>
            </p:cNvSpPr>
            <p:nvPr/>
          </p:nvSpPr>
          <p:spPr bwMode="auto">
            <a:xfrm>
              <a:off x="2571736" y="3429006"/>
              <a:ext cx="1000132" cy="214314"/>
            </a:xfrm>
            <a:prstGeom prst="rightArrow">
              <a:avLst>
                <a:gd name="adj1" fmla="val 50000"/>
                <a:gd name="adj2" fmla="val 49994"/>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b="1"/>
            </a:p>
          </p:txBody>
        </p:sp>
        <p:grpSp>
          <p:nvGrpSpPr>
            <p:cNvPr id="62472" name="组合 38"/>
            <p:cNvGrpSpPr/>
            <p:nvPr/>
          </p:nvGrpSpPr>
          <p:grpSpPr bwMode="auto">
            <a:xfrm>
              <a:off x="1000100" y="2786064"/>
              <a:ext cx="1571636" cy="1357322"/>
              <a:chOff x="1000100" y="2786064"/>
              <a:chExt cx="1571636" cy="1357322"/>
            </a:xfrm>
          </p:grpSpPr>
          <p:sp>
            <p:nvSpPr>
              <p:cNvPr id="62487" name="矩形 16"/>
              <p:cNvSpPr>
                <a:spLocks noChangeArrowheads="1"/>
              </p:cNvSpPr>
              <p:nvPr/>
            </p:nvSpPr>
            <p:spPr bwMode="auto">
              <a:xfrm>
                <a:off x="1214414" y="2786064"/>
                <a:ext cx="1357322" cy="1357322"/>
              </a:xfrm>
              <a:prstGeom prst="rect">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latin typeface="Times New Roman" panose="02020603050405020304" pitchFamily="18" charset="0"/>
                  <a:cs typeface="Times New Roman" panose="02020603050405020304" pitchFamily="18" charset="0"/>
                </a:endParaRPr>
              </a:p>
              <a:p>
                <a:pPr algn="ctr" eaLnBrk="1" hangingPunct="1"/>
                <a:endParaRPr lang="en-US" altLang="zh-CN" sz="1200" b="1">
                  <a:latin typeface="Times New Roman" panose="02020603050405020304" pitchFamily="18" charset="0"/>
                  <a:cs typeface="Times New Roman" panose="02020603050405020304" pitchFamily="18" charset="0"/>
                </a:endParaRPr>
              </a:p>
              <a:p>
                <a:pPr algn="ctr" eaLnBrk="1" hangingPunct="1"/>
                <a:endParaRPr lang="en-US" altLang="zh-CN" sz="1200" b="1">
                  <a:latin typeface="Times New Roman" panose="02020603050405020304" pitchFamily="18" charset="0"/>
                  <a:cs typeface="Times New Roman" panose="02020603050405020304" pitchFamily="18" charset="0"/>
                </a:endParaRPr>
              </a:p>
              <a:p>
                <a:pPr algn="ctr" eaLnBrk="1" hangingPunct="1"/>
                <a:r>
                  <a:rPr lang="en-US" altLang="zh-CN" sz="1200" b="1">
                    <a:latin typeface="Times New Roman" panose="02020603050405020304" pitchFamily="18" charset="0"/>
                    <a:cs typeface="Times New Roman" panose="02020603050405020304" pitchFamily="18" charset="0"/>
                  </a:rPr>
                  <a:t> EP                          </a:t>
                </a:r>
              </a:p>
              <a:p>
                <a:pPr algn="ctr" eaLnBrk="1" hangingPunct="1"/>
                <a:r>
                  <a:rPr lang="en-US" altLang="zh-CN" sz="1200" b="1">
                    <a:latin typeface="Times New Roman" panose="02020603050405020304" pitchFamily="18" charset="0"/>
                    <a:cs typeface="Times New Roman" panose="02020603050405020304" pitchFamily="18" charset="0"/>
                  </a:rPr>
                  <a:t>                    </a:t>
                </a:r>
              </a:p>
              <a:p>
                <a:pPr algn="ctr" eaLnBrk="1" hangingPunct="1"/>
                <a:r>
                  <a:rPr lang="en-US" altLang="zh-CN" sz="1200" b="1">
                    <a:latin typeface="Times New Roman" panose="02020603050405020304" pitchFamily="18" charset="0"/>
                    <a:cs typeface="Times New Roman" panose="02020603050405020304" pitchFamily="18" charset="0"/>
                  </a:rPr>
                  <a:t>                        </a:t>
                </a:r>
              </a:p>
              <a:p>
                <a:pPr algn="ctr" eaLnBrk="1" hangingPunct="1"/>
                <a:r>
                  <a:rPr lang="en-US" altLang="zh-CN" sz="1200" b="1">
                    <a:latin typeface="Times New Roman" panose="02020603050405020304" pitchFamily="18" charset="0"/>
                    <a:cs typeface="Times New Roman" panose="02020603050405020304" pitchFamily="18" charset="0"/>
                  </a:rPr>
                  <a:t> </a:t>
                </a:r>
                <a:r>
                  <a:rPr lang="en-US" altLang="zh-CN" sz="1200" b="1"/>
                  <a:t>                    </a:t>
                </a:r>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zh-CN" altLang="en-US" sz="1200" b="1"/>
              </a:p>
            </p:txBody>
          </p:sp>
          <p:grpSp>
            <p:nvGrpSpPr>
              <p:cNvPr id="62488" name="组合 32"/>
              <p:cNvGrpSpPr/>
              <p:nvPr/>
            </p:nvGrpSpPr>
            <p:grpSpPr bwMode="auto">
              <a:xfrm>
                <a:off x="1000100" y="2786065"/>
                <a:ext cx="215108" cy="428628"/>
                <a:chOff x="3499636" y="2428874"/>
                <a:chExt cx="357984" cy="787406"/>
              </a:xfrm>
            </p:grpSpPr>
            <p:cxnSp>
              <p:nvCxnSpPr>
                <p:cNvPr id="62489" name="直接连接符 19"/>
                <p:cNvCxnSpPr>
                  <a:cxnSpLocks noChangeShapeType="1"/>
                </p:cNvCxnSpPr>
                <p:nvPr/>
              </p:nvCxnSpPr>
              <p:spPr bwMode="auto">
                <a:xfrm>
                  <a:off x="3500430" y="2428874"/>
                  <a:ext cx="357190"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62490" name="直接连接符 20"/>
                <p:cNvCxnSpPr>
                  <a:cxnSpLocks noChangeShapeType="1"/>
                </p:cNvCxnSpPr>
                <p:nvPr/>
              </p:nvCxnSpPr>
              <p:spPr bwMode="auto">
                <a:xfrm rot="5400000" flipH="1" flipV="1">
                  <a:off x="3107521" y="2821783"/>
                  <a:ext cx="785818"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62491" name="直接连接符 21"/>
                <p:cNvCxnSpPr>
                  <a:cxnSpLocks noChangeShapeType="1"/>
                </p:cNvCxnSpPr>
                <p:nvPr/>
              </p:nvCxnSpPr>
              <p:spPr bwMode="auto">
                <a:xfrm rot="10800000">
                  <a:off x="3500430" y="3214692"/>
                  <a:ext cx="357190" cy="1588"/>
                </a:xfrm>
                <a:prstGeom prst="line">
                  <a:avLst/>
                </a:prstGeom>
                <a:noFill/>
                <a:ln w="12700" algn="ctr">
                  <a:solidFill>
                    <a:schemeClr val="tx1"/>
                  </a:solidFill>
                  <a:round/>
                  <a:headEnd type="triangle" w="med" len="lg"/>
                </a:ln>
                <a:extLst>
                  <a:ext uri="{909E8E84-426E-40DD-AFC4-6F175D3DCCD1}">
                    <a14:hiddenFill xmlns:a14="http://schemas.microsoft.com/office/drawing/2010/main">
                      <a:noFill/>
                    </a14:hiddenFill>
                  </a:ext>
                </a:extLst>
              </p:spPr>
            </p:cxnSp>
          </p:grpSp>
        </p:grpSp>
        <p:sp>
          <p:nvSpPr>
            <p:cNvPr id="62473" name="TextBox 10"/>
            <p:cNvSpPr txBox="1">
              <a:spLocks noChangeArrowheads="1"/>
            </p:cNvSpPr>
            <p:nvPr/>
          </p:nvSpPr>
          <p:spPr bwMode="auto">
            <a:xfrm>
              <a:off x="1428728" y="2500312"/>
              <a:ext cx="92869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t>程序代码</a:t>
              </a:r>
            </a:p>
          </p:txBody>
        </p:sp>
        <p:sp>
          <p:nvSpPr>
            <p:cNvPr id="62474" name="TextBox 11"/>
            <p:cNvSpPr txBox="1">
              <a:spLocks noChangeArrowheads="1"/>
            </p:cNvSpPr>
            <p:nvPr/>
          </p:nvSpPr>
          <p:spPr bwMode="auto">
            <a:xfrm>
              <a:off x="3786182" y="2500312"/>
              <a:ext cx="92869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t>程序代码</a:t>
              </a:r>
            </a:p>
          </p:txBody>
        </p:sp>
        <p:grpSp>
          <p:nvGrpSpPr>
            <p:cNvPr id="62475" name="组合 37"/>
            <p:cNvGrpSpPr/>
            <p:nvPr/>
          </p:nvGrpSpPr>
          <p:grpSpPr bwMode="auto">
            <a:xfrm>
              <a:off x="3357553" y="2786064"/>
              <a:ext cx="1571639" cy="1643073"/>
              <a:chOff x="3286113" y="2643188"/>
              <a:chExt cx="1571639" cy="1643073"/>
            </a:xfrm>
          </p:grpSpPr>
          <p:grpSp>
            <p:nvGrpSpPr>
              <p:cNvPr id="62476" name="组合 28"/>
              <p:cNvGrpSpPr/>
              <p:nvPr/>
            </p:nvGrpSpPr>
            <p:grpSpPr bwMode="auto">
              <a:xfrm>
                <a:off x="3500430" y="2643188"/>
                <a:ext cx="1357322" cy="1643073"/>
                <a:chOff x="2786050" y="2786064"/>
                <a:chExt cx="1357322" cy="1643073"/>
              </a:xfrm>
            </p:grpSpPr>
            <p:sp>
              <p:nvSpPr>
                <p:cNvPr id="24" name="矩形 23"/>
                <p:cNvSpPr/>
                <p:nvPr/>
              </p:nvSpPr>
              <p:spPr bwMode="auto">
                <a:xfrm>
                  <a:off x="2786049" y="4143238"/>
                  <a:ext cx="1357323" cy="285727"/>
                </a:xfrm>
                <a:prstGeom prst="rect">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wrap="none" anchor="ctr"/>
                <a:lstStyle/>
                <a:p>
                  <a:pPr algn="ctr" eaLnBrk="1" hangingPunct="1">
                    <a:defRPr/>
                  </a:pPr>
                  <a:r>
                    <a:rPr lang="zh-CN" altLang="en-US" sz="1200" b="1" dirty="0"/>
                    <a:t>病毒代码</a:t>
                  </a:r>
                </a:p>
              </p:txBody>
            </p:sp>
            <p:sp>
              <p:nvSpPr>
                <p:cNvPr id="62486" name="矩形 27"/>
                <p:cNvSpPr>
                  <a:spLocks noChangeArrowheads="1"/>
                </p:cNvSpPr>
                <p:nvPr/>
              </p:nvSpPr>
              <p:spPr bwMode="auto">
                <a:xfrm>
                  <a:off x="2786050" y="2786064"/>
                  <a:ext cx="1357322" cy="1357322"/>
                </a:xfrm>
                <a:prstGeom prst="rect">
                  <a:avLst/>
                </a:prstGeom>
                <a:solidFill>
                  <a:schemeClr val="bg1"/>
                </a:solidFill>
                <a:ln w="12700"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latin typeface="Times New Roman" panose="02020603050405020304" pitchFamily="18" charset="0"/>
                    <a:cs typeface="Times New Roman" panose="02020603050405020304" pitchFamily="18" charset="0"/>
                  </a:endParaRPr>
                </a:p>
                <a:p>
                  <a:pPr algn="ctr" eaLnBrk="1" hangingPunct="1"/>
                  <a:endParaRPr lang="en-US" altLang="zh-CN" sz="1200" b="1">
                    <a:latin typeface="Times New Roman" panose="02020603050405020304" pitchFamily="18" charset="0"/>
                    <a:cs typeface="Times New Roman" panose="02020603050405020304" pitchFamily="18" charset="0"/>
                  </a:endParaRPr>
                </a:p>
                <a:p>
                  <a:pPr algn="ctr" eaLnBrk="1" hangingPunct="1"/>
                  <a:endParaRPr lang="en-US" altLang="zh-CN" sz="1200" b="1">
                    <a:latin typeface="Times New Roman" panose="02020603050405020304" pitchFamily="18" charset="0"/>
                    <a:cs typeface="Times New Roman" panose="02020603050405020304" pitchFamily="18" charset="0"/>
                  </a:endParaRPr>
                </a:p>
                <a:p>
                  <a:pPr algn="ctr" eaLnBrk="1" hangingPunct="1"/>
                  <a:endParaRPr lang="en-US" altLang="zh-CN" sz="1200" b="1">
                    <a:latin typeface="Times New Roman" panose="02020603050405020304" pitchFamily="18" charset="0"/>
                    <a:cs typeface="Times New Roman" panose="02020603050405020304" pitchFamily="18" charset="0"/>
                  </a:endParaRPr>
                </a:p>
                <a:p>
                  <a:pPr algn="ctr" eaLnBrk="1" hangingPunct="1"/>
                  <a:r>
                    <a:rPr lang="en-US" altLang="zh-CN" sz="1200" b="1">
                      <a:latin typeface="Times New Roman" panose="02020603050405020304" pitchFamily="18" charset="0"/>
                      <a:cs typeface="Times New Roman" panose="02020603050405020304" pitchFamily="18" charset="0"/>
                    </a:rPr>
                    <a:t> EP                         </a:t>
                  </a:r>
                </a:p>
                <a:p>
                  <a:pPr algn="ctr" eaLnBrk="1" hangingPunct="1"/>
                  <a:r>
                    <a:rPr lang="en-US" altLang="zh-CN" sz="1200" b="1">
                      <a:latin typeface="Times New Roman" panose="02020603050405020304" pitchFamily="18" charset="0"/>
                      <a:cs typeface="Times New Roman" panose="02020603050405020304" pitchFamily="18" charset="0"/>
                    </a:rPr>
                    <a:t>                 </a:t>
                  </a:r>
                </a:p>
                <a:p>
                  <a:pPr algn="ctr" eaLnBrk="1" hangingPunct="1"/>
                  <a:r>
                    <a:rPr lang="en-US" altLang="zh-CN" sz="1200" b="1">
                      <a:latin typeface="Times New Roman" panose="02020603050405020304" pitchFamily="18" charset="0"/>
                      <a:cs typeface="Times New Roman" panose="02020603050405020304" pitchFamily="18" charset="0"/>
                    </a:rPr>
                    <a:t>JMP                       </a:t>
                  </a:r>
                </a:p>
                <a:p>
                  <a:pPr algn="ctr" eaLnBrk="1" hangingPunct="1"/>
                  <a:r>
                    <a:rPr lang="en-US" altLang="zh-CN" sz="1200" b="1">
                      <a:latin typeface="Times New Roman" panose="02020603050405020304" pitchFamily="18" charset="0"/>
                      <a:cs typeface="Times New Roman" panose="02020603050405020304" pitchFamily="18" charset="0"/>
                    </a:rPr>
                    <a:t>                        </a:t>
                  </a:r>
                </a:p>
                <a:p>
                  <a:pPr algn="ctr" eaLnBrk="1" hangingPunct="1"/>
                  <a:r>
                    <a:rPr lang="en-US" altLang="zh-CN" sz="1200" b="1">
                      <a:latin typeface="Times New Roman" panose="02020603050405020304" pitchFamily="18" charset="0"/>
                      <a:cs typeface="Times New Roman" panose="02020603050405020304" pitchFamily="18" charset="0"/>
                    </a:rPr>
                    <a:t> </a:t>
                  </a:r>
                  <a:r>
                    <a:rPr lang="en-US" altLang="zh-CN" sz="1200" b="1"/>
                    <a:t>                    </a:t>
                  </a:r>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en-US" altLang="zh-CN" sz="1200" b="1"/>
                </a:p>
                <a:p>
                  <a:pPr algn="ctr" eaLnBrk="1" hangingPunct="1"/>
                  <a:endParaRPr lang="zh-CN" altLang="en-US" sz="1200" b="1"/>
                </a:p>
              </p:txBody>
            </p:sp>
          </p:grpSp>
          <p:grpSp>
            <p:nvGrpSpPr>
              <p:cNvPr id="62477" name="组合 32"/>
              <p:cNvGrpSpPr/>
              <p:nvPr/>
            </p:nvGrpSpPr>
            <p:grpSpPr bwMode="auto">
              <a:xfrm>
                <a:off x="3286114" y="2714629"/>
                <a:ext cx="214632" cy="429490"/>
                <a:chOff x="3499634" y="2297637"/>
                <a:chExt cx="357192" cy="788988"/>
              </a:xfrm>
            </p:grpSpPr>
            <p:cxnSp>
              <p:nvCxnSpPr>
                <p:cNvPr id="62482" name="直接连接符 30"/>
                <p:cNvCxnSpPr>
                  <a:cxnSpLocks noChangeShapeType="1"/>
                </p:cNvCxnSpPr>
                <p:nvPr/>
              </p:nvCxnSpPr>
              <p:spPr bwMode="auto">
                <a:xfrm>
                  <a:off x="3499636" y="2297638"/>
                  <a:ext cx="357190" cy="1587"/>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62483" name="直接连接符 31"/>
                <p:cNvCxnSpPr>
                  <a:cxnSpLocks noChangeShapeType="1"/>
                </p:cNvCxnSpPr>
                <p:nvPr/>
              </p:nvCxnSpPr>
              <p:spPr bwMode="auto">
                <a:xfrm rot="5400000" flipH="1" flipV="1">
                  <a:off x="3107519" y="2689752"/>
                  <a:ext cx="785818"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62484" name="直接连接符 32"/>
                <p:cNvCxnSpPr>
                  <a:cxnSpLocks noChangeShapeType="1"/>
                </p:cNvCxnSpPr>
                <p:nvPr/>
              </p:nvCxnSpPr>
              <p:spPr bwMode="auto">
                <a:xfrm rot="10800000">
                  <a:off x="3499634" y="3085038"/>
                  <a:ext cx="355867" cy="1587"/>
                </a:xfrm>
                <a:prstGeom prst="line">
                  <a:avLst/>
                </a:prstGeom>
                <a:noFill/>
                <a:ln w="12700" algn="ctr">
                  <a:solidFill>
                    <a:schemeClr val="tx1"/>
                  </a:solidFill>
                  <a:round/>
                  <a:headEnd type="triangle" w="med" len="lg"/>
                </a:ln>
                <a:extLst>
                  <a:ext uri="{909E8E84-426E-40DD-AFC4-6F175D3DCCD1}">
                    <a14:hiddenFill xmlns:a14="http://schemas.microsoft.com/office/drawing/2010/main">
                      <a:noFill/>
                    </a14:hiddenFill>
                  </a:ext>
                </a:extLst>
              </p:spPr>
            </p:cxnSp>
          </p:grpSp>
          <p:grpSp>
            <p:nvGrpSpPr>
              <p:cNvPr id="62478" name="组合 32"/>
              <p:cNvGrpSpPr/>
              <p:nvPr/>
            </p:nvGrpSpPr>
            <p:grpSpPr bwMode="auto">
              <a:xfrm>
                <a:off x="3286113" y="3214692"/>
                <a:ext cx="214633" cy="930279"/>
                <a:chOff x="3499627" y="2285709"/>
                <a:chExt cx="357193" cy="932159"/>
              </a:xfrm>
            </p:grpSpPr>
            <p:cxnSp>
              <p:nvCxnSpPr>
                <p:cNvPr id="62479" name="直接连接符 34"/>
                <p:cNvCxnSpPr>
                  <a:cxnSpLocks noChangeShapeType="1"/>
                </p:cNvCxnSpPr>
                <p:nvPr/>
              </p:nvCxnSpPr>
              <p:spPr bwMode="auto">
                <a:xfrm>
                  <a:off x="3499630" y="2285709"/>
                  <a:ext cx="357190"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62480" name="直接连接符 35"/>
                <p:cNvCxnSpPr>
                  <a:cxnSpLocks noChangeShapeType="1"/>
                </p:cNvCxnSpPr>
                <p:nvPr/>
              </p:nvCxnSpPr>
              <p:spPr bwMode="auto">
                <a:xfrm rot="5400000" flipH="1" flipV="1">
                  <a:off x="3034739" y="2750600"/>
                  <a:ext cx="930571" cy="789"/>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62481" name="直接连接符 36"/>
                <p:cNvCxnSpPr>
                  <a:cxnSpLocks noChangeShapeType="1"/>
                </p:cNvCxnSpPr>
                <p:nvPr/>
              </p:nvCxnSpPr>
              <p:spPr bwMode="auto">
                <a:xfrm rot="10800000">
                  <a:off x="3499627" y="3216280"/>
                  <a:ext cx="357190" cy="1588"/>
                </a:xfrm>
                <a:prstGeom prst="line">
                  <a:avLst/>
                </a:prstGeom>
                <a:noFill/>
                <a:ln w="12700" algn="ctr">
                  <a:solidFill>
                    <a:schemeClr val="tx1"/>
                  </a:solidFill>
                  <a:round/>
                  <a:headEnd type="triangle" w="med" len="lg"/>
                </a:ln>
                <a:extLst>
                  <a:ext uri="{909E8E84-426E-40DD-AFC4-6F175D3DCCD1}">
                    <a14:hiddenFill xmlns:a14="http://schemas.microsoft.com/office/drawing/2010/main">
                      <a:noFill/>
                    </a14:hiddenFill>
                  </a:ext>
                </a:extLst>
              </p:spPr>
            </p:cxnSp>
          </p:grpSp>
        </p:grpSp>
      </p:gr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Effect transition="in" filter="fade">
                                      <p:cBhvr>
                                        <p:cTn id="7" dur="500"/>
                                        <p:tgtEl>
                                          <p:spTgt spid="47107">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animEffect transition="in" filter="fade">
                                      <p:cBhvr>
                                        <p:cTn id="11" dur="500"/>
                                        <p:tgtEl>
                                          <p:spTgt spid="47107">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anim calcmode="lin" valueType="num">
                                      <p:cBhvr>
                                        <p:cTn id="17" dur="500" fill="hold"/>
                                        <p:tgtEl>
                                          <p:spTgt spid="2"/>
                                        </p:tgtEl>
                                        <p:attrNameLst>
                                          <p:attrName>ppt_x</p:attrName>
                                        </p:attrNameLst>
                                      </p:cBhvr>
                                      <p:tavLst>
                                        <p:tav tm="0">
                                          <p:val>
                                            <p:strVal val="#ppt_x"/>
                                          </p:val>
                                        </p:tav>
                                        <p:tav tm="100000">
                                          <p:val>
                                            <p:strVal val="#ppt_x"/>
                                          </p:val>
                                        </p:tav>
                                      </p:tavLst>
                                    </p:anim>
                                    <p:anim calcmode="lin" valueType="num">
                                      <p:cBhvr>
                                        <p:cTn id="18"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357187" y="928688"/>
            <a:ext cx="3224559" cy="3731294"/>
          </a:xfrm>
        </p:spPr>
        <p:txBody>
          <a:bodyPr/>
          <a:lstStyle/>
          <a:p>
            <a:pPr>
              <a:buFont typeface="Wingdings" panose="05000000000000000000" pitchFamily="2" charset="2"/>
              <a:buNone/>
              <a:defRPr/>
            </a:pPr>
            <a:r>
              <a:rPr lang="en-US" altLang="zh-CN" sz="1800" b="1" dirty="0">
                <a:solidFill>
                  <a:srgbClr val="FF0000"/>
                </a:solidFill>
              </a:rPr>
              <a:t>3. </a:t>
            </a:r>
            <a:r>
              <a:rPr lang="zh-CN" altLang="zh-CN" sz="1800" b="1" dirty="0">
                <a:solidFill>
                  <a:srgbClr val="FF0000"/>
                </a:solidFill>
              </a:rPr>
              <a:t>文件型病毒的感染技术</a:t>
            </a:r>
            <a:r>
              <a:rPr lang="en-US" altLang="zh-CN" sz="1800" b="1" dirty="0">
                <a:solidFill>
                  <a:srgbClr val="FF0000"/>
                </a:solidFill>
              </a:rPr>
              <a:t>—Word</a:t>
            </a:r>
            <a:r>
              <a:rPr lang="zh-CN" altLang="en-US" sz="1800" b="1" dirty="0">
                <a:solidFill>
                  <a:srgbClr val="FF0000"/>
                </a:solidFill>
              </a:rPr>
              <a:t>宏病毒</a:t>
            </a:r>
            <a:endParaRPr lang="zh-CN" altLang="zh-CN" sz="1800" b="1" dirty="0">
              <a:solidFill>
                <a:srgbClr val="FF0000"/>
              </a:solidFill>
            </a:endParaRPr>
          </a:p>
          <a:p>
            <a:pPr indent="-36195">
              <a:buNone/>
              <a:defRPr/>
            </a:pPr>
            <a:r>
              <a:rPr lang="zh-CN" altLang="en-US" b="1" dirty="0"/>
              <a:t> 攻击者将</a:t>
            </a:r>
            <a:r>
              <a:rPr lang="zh-CN" altLang="en-US" b="1" dirty="0">
                <a:solidFill>
                  <a:srgbClr val="0033CC"/>
                </a:solidFill>
              </a:rPr>
              <a:t>恶意宏代码嵌入</a:t>
            </a:r>
            <a:r>
              <a:rPr lang="zh-CN" altLang="en-US" b="1" dirty="0"/>
              <a:t>到</a:t>
            </a:r>
            <a:r>
              <a:rPr lang="en-US" altLang="zh-CN" b="1" dirty="0">
                <a:solidFill>
                  <a:srgbClr val="0033CC"/>
                </a:solidFill>
              </a:rPr>
              <a:t>Word</a:t>
            </a:r>
            <a:r>
              <a:rPr lang="zh-CN" altLang="en-US" b="1" dirty="0">
                <a:solidFill>
                  <a:srgbClr val="0033CC"/>
                </a:solidFill>
              </a:rPr>
              <a:t>文档</a:t>
            </a:r>
            <a:r>
              <a:rPr lang="zh-CN" altLang="en-US" b="1" dirty="0"/>
              <a:t>（</a:t>
            </a:r>
            <a:r>
              <a:rPr lang="en-US" altLang="zh-CN" b="1" dirty="0"/>
              <a:t>.</a:t>
            </a:r>
            <a:r>
              <a:rPr lang="en-US" altLang="zh-CN" b="1" dirty="0" err="1"/>
              <a:t>docm</a:t>
            </a:r>
            <a:r>
              <a:rPr lang="en-US" altLang="zh-CN" b="1" dirty="0"/>
              <a:t>/.docx</a:t>
            </a:r>
            <a:r>
              <a:rPr lang="zh-CN" altLang="en-US" b="1" dirty="0"/>
              <a:t>）中，用户</a:t>
            </a:r>
            <a:r>
              <a:rPr lang="zh-CN" altLang="en-US" b="1" dirty="0">
                <a:solidFill>
                  <a:srgbClr val="0033CC"/>
                </a:solidFill>
              </a:rPr>
              <a:t>打开受感染文档</a:t>
            </a:r>
            <a:r>
              <a:rPr lang="zh-CN" altLang="en-US" b="1" dirty="0"/>
              <a:t>，文档中包含恶意</a:t>
            </a:r>
            <a:r>
              <a:rPr lang="en-US" altLang="zh-CN" b="1" dirty="0"/>
              <a:t>AutoOpen()</a:t>
            </a:r>
            <a:r>
              <a:rPr lang="zh-CN" altLang="en-US" b="1" dirty="0"/>
              <a:t>或</a:t>
            </a:r>
            <a:r>
              <a:rPr lang="en-US" altLang="zh-CN" b="1" dirty="0" err="1"/>
              <a:t>Document_Open</a:t>
            </a:r>
            <a:r>
              <a:rPr lang="en-US" altLang="zh-CN" b="1" dirty="0"/>
              <a:t>()</a:t>
            </a:r>
            <a:r>
              <a:rPr lang="zh-CN" altLang="en-US" b="1" dirty="0"/>
              <a:t>宏代码。如图演示代码，打开文档后</a:t>
            </a:r>
            <a:r>
              <a:rPr lang="zh-CN" altLang="en-US" b="1" dirty="0">
                <a:solidFill>
                  <a:srgbClr val="0033CC"/>
                </a:solidFill>
              </a:rPr>
              <a:t>会横向感染其他文档</a:t>
            </a:r>
            <a:r>
              <a:rPr lang="zh-CN" altLang="en-US" b="1" dirty="0"/>
              <a:t>。</a:t>
            </a:r>
            <a:endParaRPr lang="zh-CN" altLang="zh-CN" b="1" dirty="0"/>
          </a:p>
        </p:txBody>
      </p:sp>
      <p:sp>
        <p:nvSpPr>
          <p:cNvPr id="8"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9"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9.4.2 </a:t>
            </a:r>
            <a:r>
              <a:rPr altLang="en-US" sz="2000" dirty="0"/>
              <a:t>病毒的机理与防治</a:t>
            </a:r>
          </a:p>
        </p:txBody>
      </p:sp>
      <p:pic>
        <p:nvPicPr>
          <p:cNvPr id="2" name="图片 1"/>
          <p:cNvPicPr>
            <a:picLocks noChangeAspect="1"/>
          </p:cNvPicPr>
          <p:nvPr/>
        </p:nvPicPr>
        <p:blipFill>
          <a:blip r:embed="rId2"/>
          <a:srcRect l="29628" t="5867" r="-798" b="16761"/>
          <a:stretch>
            <a:fillRect/>
          </a:stretch>
        </p:blipFill>
        <p:spPr>
          <a:xfrm>
            <a:off x="3581747" y="2693"/>
            <a:ext cx="5555273" cy="4552431"/>
          </a:xfrm>
          <a:prstGeom prst="rect">
            <a:avLst/>
          </a:prstGeom>
          <a:noFill/>
          <a:ln>
            <a:noFill/>
          </a:ln>
        </p:spPr>
      </p:pic>
      <p:cxnSp>
        <p:nvCxnSpPr>
          <p:cNvPr id="4" name="直接连接符 3"/>
          <p:cNvCxnSpPr/>
          <p:nvPr/>
        </p:nvCxnSpPr>
        <p:spPr bwMode="auto">
          <a:xfrm>
            <a:off x="3968016" y="949628"/>
            <a:ext cx="2044144" cy="0"/>
          </a:xfrm>
          <a:prstGeom prst="line">
            <a:avLst/>
          </a:prstGeom>
          <a:solidFill>
            <a:schemeClr val="accent1"/>
          </a:solidFill>
          <a:ln w="25400" cap="flat" cmpd="sng" algn="ctr">
            <a:solidFill>
              <a:srgbClr val="FF0000"/>
            </a:solidFill>
            <a:prstDash val="solid"/>
            <a:round/>
            <a:headEnd type="none" w="med" len="med"/>
            <a:tailEnd type="none" w="med" len="med"/>
          </a:ln>
          <a:effectLst/>
        </p:spPr>
      </p:cxnSp>
      <p:cxnSp>
        <p:nvCxnSpPr>
          <p:cNvPr id="7" name="直接连接符 6"/>
          <p:cNvCxnSpPr/>
          <p:nvPr/>
        </p:nvCxnSpPr>
        <p:spPr bwMode="auto">
          <a:xfrm>
            <a:off x="3970224" y="1248042"/>
            <a:ext cx="2044144" cy="0"/>
          </a:xfrm>
          <a:prstGeom prst="line">
            <a:avLst/>
          </a:prstGeom>
          <a:solidFill>
            <a:schemeClr val="accent1"/>
          </a:solidFill>
          <a:ln w="25400" cap="flat" cmpd="sng" algn="ctr">
            <a:solidFill>
              <a:srgbClr val="FF0000"/>
            </a:solidFill>
            <a:prstDash val="solid"/>
            <a:round/>
            <a:headEnd type="none" w="med" len="med"/>
            <a:tailEnd type="none" w="med" len="med"/>
          </a:ln>
          <a:effectLst/>
        </p:spPr>
      </p:cxnSp>
      <p:cxnSp>
        <p:nvCxnSpPr>
          <p:cNvPr id="10" name="直接连接符 9"/>
          <p:cNvCxnSpPr/>
          <p:nvPr/>
        </p:nvCxnSpPr>
        <p:spPr bwMode="auto">
          <a:xfrm>
            <a:off x="3968016" y="1491630"/>
            <a:ext cx="2044144" cy="0"/>
          </a:xfrm>
          <a:prstGeom prst="line">
            <a:avLst/>
          </a:prstGeom>
          <a:solidFill>
            <a:schemeClr val="accent1"/>
          </a:solidFill>
          <a:ln w="25400" cap="flat" cmpd="sng" algn="ctr">
            <a:solidFill>
              <a:srgbClr val="FF0000"/>
            </a:solidFill>
            <a:prstDash val="solid"/>
            <a:round/>
            <a:headEnd type="none" w="med" len="med"/>
            <a:tailEnd type="none" w="med" len="med"/>
          </a:ln>
          <a:effectLst/>
        </p:spPr>
      </p:cxnSp>
      <p:cxnSp>
        <p:nvCxnSpPr>
          <p:cNvPr id="12" name="直接箭头连接符 11"/>
          <p:cNvCxnSpPr/>
          <p:nvPr/>
        </p:nvCxnSpPr>
        <p:spPr bwMode="auto">
          <a:xfrm>
            <a:off x="4130766" y="1491630"/>
            <a:ext cx="0" cy="504056"/>
          </a:xfrm>
          <a:prstGeom prst="straightConnector1">
            <a:avLst/>
          </a:prstGeom>
          <a:solidFill>
            <a:schemeClr val="accent1"/>
          </a:solidFill>
          <a:ln w="25400" cap="flat" cmpd="sng" algn="ctr">
            <a:solidFill>
              <a:srgbClr val="FF0000"/>
            </a:solidFill>
            <a:prstDash val="solid"/>
            <a:round/>
            <a:headEnd type="none" w="med" len="med"/>
            <a:tailEnd type="triangle"/>
          </a:ln>
          <a:effectLst/>
        </p:spPr>
      </p:cxnSp>
      <p:cxnSp>
        <p:nvCxnSpPr>
          <p:cNvPr id="19" name="直接箭头连接符 18"/>
          <p:cNvCxnSpPr/>
          <p:nvPr/>
        </p:nvCxnSpPr>
        <p:spPr bwMode="auto">
          <a:xfrm>
            <a:off x="4283968" y="2866762"/>
            <a:ext cx="0" cy="216024"/>
          </a:xfrm>
          <a:prstGeom prst="straightConnector1">
            <a:avLst/>
          </a:prstGeom>
          <a:solidFill>
            <a:schemeClr val="accent1"/>
          </a:solidFill>
          <a:ln w="25400" cap="flat" cmpd="sng" algn="ctr">
            <a:solidFill>
              <a:srgbClr val="FF0000"/>
            </a:solidFill>
            <a:prstDash val="solid"/>
            <a:round/>
            <a:headEnd type="none" w="med" len="med"/>
            <a:tailEnd type="triangle"/>
          </a:ln>
          <a:effectLst/>
        </p:spPr>
      </p:cxnSp>
      <p:cxnSp>
        <p:nvCxnSpPr>
          <p:cNvPr id="22" name="直接连接符 21"/>
          <p:cNvCxnSpPr/>
          <p:nvPr/>
        </p:nvCxnSpPr>
        <p:spPr bwMode="auto">
          <a:xfrm>
            <a:off x="3992080" y="2886529"/>
            <a:ext cx="1036032" cy="0"/>
          </a:xfrm>
          <a:prstGeom prst="line">
            <a:avLst/>
          </a:prstGeom>
          <a:solidFill>
            <a:schemeClr val="accent1"/>
          </a:solidFill>
          <a:ln w="25400" cap="flat" cmpd="sng" algn="ctr">
            <a:solidFill>
              <a:srgbClr val="FF0000"/>
            </a:solidFill>
            <a:prstDash val="solid"/>
            <a:round/>
            <a:headEnd type="none" w="med" len="med"/>
            <a:tailEnd type="none" w="med" len="med"/>
          </a:ln>
          <a:effectLst/>
        </p:spPr>
      </p:cxnSp>
      <p:cxnSp>
        <p:nvCxnSpPr>
          <p:cNvPr id="26" name="直接连接符 25"/>
          <p:cNvCxnSpPr/>
          <p:nvPr/>
        </p:nvCxnSpPr>
        <p:spPr bwMode="auto">
          <a:xfrm>
            <a:off x="3986064" y="3129766"/>
            <a:ext cx="1240024" cy="0"/>
          </a:xfrm>
          <a:prstGeom prst="line">
            <a:avLst/>
          </a:prstGeom>
          <a:solidFill>
            <a:schemeClr val="accent1"/>
          </a:solidFill>
          <a:ln w="25400" cap="flat" cmpd="sng" algn="ctr">
            <a:solidFill>
              <a:srgbClr val="FF0000"/>
            </a:solidFill>
            <a:prstDash val="solid"/>
            <a:round/>
            <a:headEnd type="none" w="med" len="med"/>
            <a:tailEnd type="none" w="med" len="med"/>
          </a:ln>
          <a:effectLst/>
        </p:spPr>
      </p:cxn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9"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9.4.2 </a:t>
            </a:r>
            <a:r>
              <a:rPr altLang="en-US" sz="2000" dirty="0"/>
              <a:t>病毒的机理与防治</a:t>
            </a:r>
          </a:p>
        </p:txBody>
      </p:sp>
      <p:pic>
        <p:nvPicPr>
          <p:cNvPr id="3" name="图片 2"/>
          <p:cNvPicPr>
            <a:picLocks noChangeAspect="1"/>
          </p:cNvPicPr>
          <p:nvPr/>
        </p:nvPicPr>
        <p:blipFill>
          <a:blip r:embed="rId2"/>
          <a:stretch>
            <a:fillRect/>
          </a:stretch>
        </p:blipFill>
        <p:spPr>
          <a:xfrm>
            <a:off x="3487158" y="689311"/>
            <a:ext cx="2669018" cy="3683014"/>
          </a:xfrm>
          <a:prstGeom prst="rect">
            <a:avLst/>
          </a:prstGeom>
          <a:noFill/>
          <a:ln>
            <a:noFill/>
          </a:ln>
        </p:spPr>
      </p:pic>
      <p:pic>
        <p:nvPicPr>
          <p:cNvPr id="5" name="图片 4"/>
          <p:cNvPicPr>
            <a:picLocks noChangeAspect="1"/>
          </p:cNvPicPr>
          <p:nvPr/>
        </p:nvPicPr>
        <p:blipFill>
          <a:blip r:embed="rId3"/>
          <a:stretch>
            <a:fillRect/>
          </a:stretch>
        </p:blipFill>
        <p:spPr>
          <a:xfrm>
            <a:off x="6516216" y="724031"/>
            <a:ext cx="2567282" cy="3648293"/>
          </a:xfrm>
          <a:prstGeom prst="rect">
            <a:avLst/>
          </a:prstGeom>
          <a:noFill/>
          <a:ln>
            <a:noFill/>
          </a:ln>
        </p:spPr>
      </p:pic>
      <p:sp>
        <p:nvSpPr>
          <p:cNvPr id="6" name="箭头: 右 5"/>
          <p:cNvSpPr/>
          <p:nvPr/>
        </p:nvSpPr>
        <p:spPr bwMode="auto">
          <a:xfrm>
            <a:off x="6172136" y="2427734"/>
            <a:ext cx="344080" cy="21602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endParaRPr>
          </a:p>
        </p:txBody>
      </p:sp>
      <p:sp>
        <p:nvSpPr>
          <p:cNvPr id="13" name="内容占位符 2"/>
          <p:cNvSpPr txBox="1"/>
          <p:nvPr/>
        </p:nvSpPr>
        <p:spPr bwMode="auto">
          <a:xfrm>
            <a:off x="357187" y="928688"/>
            <a:ext cx="3224559" cy="3731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50000"/>
              </a:lnSpc>
              <a:spcBef>
                <a:spcPct val="0"/>
              </a:spcBef>
              <a:spcAft>
                <a:spcPct val="0"/>
              </a:spcAft>
              <a:buClr>
                <a:srgbClr val="C00000"/>
              </a:buClr>
              <a:buFont typeface="Wingdings" panose="05000000000000000000" pitchFamily="2" charset="2"/>
              <a:buChar char="n"/>
              <a:defRPr sz="1600">
                <a:solidFill>
                  <a:schemeClr val="tx1"/>
                </a:solidFill>
                <a:latin typeface="+mj-ea"/>
                <a:ea typeface="+mj-ea"/>
                <a:cs typeface="+mn-cs"/>
              </a:defRPr>
            </a:lvl1pPr>
            <a:lvl2pPr marL="742950" indent="-285750" algn="l" rtl="0" eaLnBrk="0" fontAlgn="base" hangingPunct="0">
              <a:lnSpc>
                <a:spcPct val="150000"/>
              </a:lnSpc>
              <a:spcBef>
                <a:spcPct val="0"/>
              </a:spcBef>
              <a:spcAft>
                <a:spcPct val="0"/>
              </a:spcAft>
              <a:buClr>
                <a:srgbClr val="C00000"/>
              </a:buClr>
              <a:buFont typeface="Wingdings" panose="05000000000000000000" pitchFamily="2" charset="2"/>
              <a:buChar char="Ø"/>
              <a:defRPr sz="1600">
                <a:solidFill>
                  <a:schemeClr val="tx1"/>
                </a:solidFill>
                <a:latin typeface="+mj-ea"/>
                <a:ea typeface="+mj-ea"/>
              </a:defRPr>
            </a:lvl2pPr>
            <a:lvl3pPr marL="1143000" indent="-228600" algn="l" rtl="0" eaLnBrk="0" fontAlgn="base" hangingPunct="0">
              <a:lnSpc>
                <a:spcPct val="150000"/>
              </a:lnSpc>
              <a:spcBef>
                <a:spcPct val="0"/>
              </a:spcBef>
              <a:spcAft>
                <a:spcPct val="0"/>
              </a:spcAft>
              <a:buClr>
                <a:srgbClr val="C00000"/>
              </a:buClr>
              <a:buFont typeface="Wingdings" panose="05000000000000000000" pitchFamily="2" charset="2"/>
              <a:buChar char="ü"/>
              <a:defRPr sz="1600">
                <a:solidFill>
                  <a:schemeClr val="tx1"/>
                </a:solidFill>
                <a:latin typeface="+mj-ea"/>
                <a:ea typeface="+mj-ea"/>
              </a:defRPr>
            </a:lvl3pPr>
            <a:lvl4pPr marL="16002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4pPr>
            <a:lvl5pPr marL="20574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5pPr>
            <a:lvl6pPr marL="25146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6pPr>
            <a:lvl7pPr marL="29718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7pPr>
            <a:lvl8pPr marL="34290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8pPr>
            <a:lvl9pPr marL="38862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9pPr>
          </a:lstStyle>
          <a:p>
            <a:pPr>
              <a:buFont typeface="Wingdings" panose="05000000000000000000" pitchFamily="2" charset="2"/>
              <a:buNone/>
              <a:defRPr/>
            </a:pPr>
            <a:r>
              <a:rPr lang="en-US" altLang="zh-CN" sz="1800" b="1" kern="0" dirty="0">
                <a:solidFill>
                  <a:srgbClr val="FF0000"/>
                </a:solidFill>
              </a:rPr>
              <a:t>3. </a:t>
            </a:r>
            <a:r>
              <a:rPr lang="zh-CN" altLang="zh-CN" sz="1800" b="1" kern="0" dirty="0">
                <a:solidFill>
                  <a:srgbClr val="FF0000"/>
                </a:solidFill>
              </a:rPr>
              <a:t>文件型病毒的感染技术</a:t>
            </a:r>
            <a:r>
              <a:rPr lang="en-US" altLang="zh-CN" sz="1800" b="1" kern="0" dirty="0">
                <a:solidFill>
                  <a:srgbClr val="FF0000"/>
                </a:solidFill>
              </a:rPr>
              <a:t>—Word</a:t>
            </a:r>
            <a:r>
              <a:rPr lang="zh-CN" altLang="en-US" sz="1800" b="1" kern="0" dirty="0">
                <a:solidFill>
                  <a:srgbClr val="FF0000"/>
                </a:solidFill>
              </a:rPr>
              <a:t>宏病毒</a:t>
            </a:r>
            <a:endParaRPr lang="zh-CN" altLang="zh-CN" sz="1800" b="1" kern="0" dirty="0">
              <a:solidFill>
                <a:srgbClr val="FF0000"/>
              </a:solidFill>
            </a:endParaRPr>
          </a:p>
          <a:p>
            <a:pPr indent="-36195">
              <a:buFont typeface="Wingdings" panose="05000000000000000000" pitchFamily="2" charset="2"/>
              <a:buNone/>
              <a:defRPr/>
            </a:pPr>
            <a:r>
              <a:rPr lang="zh-CN" altLang="en-US" b="1" kern="0" dirty="0"/>
              <a:t> 攻击者将</a:t>
            </a:r>
            <a:r>
              <a:rPr lang="zh-CN" altLang="en-US" b="1" kern="0" dirty="0">
                <a:solidFill>
                  <a:srgbClr val="0033CC"/>
                </a:solidFill>
              </a:rPr>
              <a:t>恶意宏代码嵌入</a:t>
            </a:r>
            <a:r>
              <a:rPr lang="zh-CN" altLang="en-US" b="1" kern="0" dirty="0"/>
              <a:t>到</a:t>
            </a:r>
            <a:r>
              <a:rPr lang="en-US" altLang="zh-CN" b="1" kern="0" dirty="0">
                <a:solidFill>
                  <a:srgbClr val="0033CC"/>
                </a:solidFill>
              </a:rPr>
              <a:t>Word</a:t>
            </a:r>
            <a:r>
              <a:rPr lang="zh-CN" altLang="en-US" b="1" kern="0" dirty="0">
                <a:solidFill>
                  <a:srgbClr val="0033CC"/>
                </a:solidFill>
              </a:rPr>
              <a:t>文档</a:t>
            </a:r>
            <a:r>
              <a:rPr lang="zh-CN" altLang="en-US" b="1" kern="0" dirty="0"/>
              <a:t>（</a:t>
            </a:r>
            <a:r>
              <a:rPr lang="en-US" altLang="zh-CN" b="1" kern="0" dirty="0"/>
              <a:t>.</a:t>
            </a:r>
            <a:r>
              <a:rPr lang="en-US" altLang="zh-CN" b="1" kern="0" dirty="0" err="1"/>
              <a:t>docm</a:t>
            </a:r>
            <a:r>
              <a:rPr lang="en-US" altLang="zh-CN" b="1" kern="0" dirty="0"/>
              <a:t>/.docx</a:t>
            </a:r>
            <a:r>
              <a:rPr lang="zh-CN" altLang="en-US" b="1" kern="0" dirty="0"/>
              <a:t>）中，用户</a:t>
            </a:r>
            <a:r>
              <a:rPr lang="zh-CN" altLang="en-US" b="1" kern="0" dirty="0">
                <a:solidFill>
                  <a:srgbClr val="0033CC"/>
                </a:solidFill>
              </a:rPr>
              <a:t>打开受感染文档</a:t>
            </a:r>
            <a:r>
              <a:rPr lang="zh-CN" altLang="en-US" b="1" kern="0" dirty="0"/>
              <a:t>，文档中包含恶意</a:t>
            </a:r>
            <a:r>
              <a:rPr lang="en-US" altLang="zh-CN" b="1" kern="0" dirty="0"/>
              <a:t>AutoOpen()</a:t>
            </a:r>
            <a:r>
              <a:rPr lang="zh-CN" altLang="en-US" b="1" kern="0" dirty="0"/>
              <a:t>或</a:t>
            </a:r>
            <a:r>
              <a:rPr lang="en-US" altLang="zh-CN" b="1" kern="0" dirty="0" err="1"/>
              <a:t>Document_Open</a:t>
            </a:r>
            <a:r>
              <a:rPr lang="en-US" altLang="zh-CN" b="1" kern="0" dirty="0"/>
              <a:t>()</a:t>
            </a:r>
            <a:r>
              <a:rPr lang="zh-CN" altLang="en-US" b="1" kern="0" dirty="0"/>
              <a:t>宏代码。如图演示代码，打开文档后</a:t>
            </a:r>
            <a:r>
              <a:rPr lang="zh-CN" altLang="en-US" b="1" kern="0" dirty="0">
                <a:solidFill>
                  <a:srgbClr val="0033CC"/>
                </a:solidFill>
              </a:rPr>
              <a:t>会横向感染其他文档</a:t>
            </a:r>
            <a:r>
              <a:rPr lang="zh-CN" altLang="en-US" b="1" kern="0" dirty="0"/>
              <a:t>。</a:t>
            </a:r>
            <a:endParaRPr lang="zh-CN" altLang="zh-CN" b="1" kern="0" dirty="0"/>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内容占位符 2"/>
          <p:cNvSpPr>
            <a:spLocks noGrp="1"/>
          </p:cNvSpPr>
          <p:nvPr>
            <p:ph idx="1"/>
          </p:nvPr>
        </p:nvSpPr>
        <p:spPr>
          <a:xfrm>
            <a:off x="142875" y="928688"/>
            <a:ext cx="8786813" cy="1214437"/>
          </a:xfrm>
        </p:spPr>
        <p:txBody>
          <a:bodyPr/>
          <a:lstStyle/>
          <a:p>
            <a:pPr>
              <a:buFont typeface="Wingdings" panose="05000000000000000000" pitchFamily="2" charset="2"/>
              <a:buNone/>
              <a:defRPr/>
            </a:pPr>
            <a:r>
              <a:rPr lang="en-US" altLang="zh-CN" sz="2000" b="1" dirty="0">
                <a:solidFill>
                  <a:schemeClr val="accent6"/>
                </a:solidFill>
              </a:rPr>
              <a:t>4. </a:t>
            </a:r>
            <a:r>
              <a:rPr lang="zh-CN" altLang="zh-CN" sz="2000" b="1" dirty="0">
                <a:solidFill>
                  <a:schemeClr val="accent6"/>
                </a:solidFill>
              </a:rPr>
              <a:t>病毒的检测</a:t>
            </a:r>
            <a:r>
              <a:rPr lang="zh-CN" altLang="en-US" sz="2000" b="1" dirty="0">
                <a:solidFill>
                  <a:schemeClr val="accent6"/>
                </a:solidFill>
              </a:rPr>
              <a:t>（</a:t>
            </a:r>
            <a:r>
              <a:rPr lang="zh-CN" altLang="en-US" sz="2000" b="1" dirty="0">
                <a:solidFill>
                  <a:srgbClr val="FF0000"/>
                </a:solidFill>
              </a:rPr>
              <a:t>杀毒软件的工作原理</a:t>
            </a:r>
            <a:r>
              <a:rPr lang="zh-CN" altLang="en-US" sz="2000" b="1" dirty="0">
                <a:solidFill>
                  <a:schemeClr val="accent6"/>
                </a:solidFill>
              </a:rPr>
              <a:t>）</a:t>
            </a:r>
            <a:endParaRPr lang="zh-CN" altLang="zh-CN" sz="2000" b="1" dirty="0">
              <a:solidFill>
                <a:schemeClr val="accent6"/>
              </a:solidFill>
            </a:endParaRPr>
          </a:p>
          <a:p>
            <a:pPr>
              <a:defRPr/>
            </a:pPr>
            <a:r>
              <a:rPr lang="zh-CN" altLang="zh-CN" b="1" dirty="0"/>
              <a:t>传统的病毒检测方法有：</a:t>
            </a:r>
            <a:r>
              <a:rPr lang="zh-CN" altLang="zh-CN" b="1" dirty="0">
                <a:solidFill>
                  <a:srgbClr val="0033CC"/>
                </a:solidFill>
              </a:rPr>
              <a:t>比较法</a:t>
            </a:r>
            <a:r>
              <a:rPr lang="zh-CN" altLang="zh-CN" b="1" dirty="0"/>
              <a:t>、</a:t>
            </a:r>
            <a:r>
              <a:rPr lang="zh-CN" altLang="zh-CN" b="1" dirty="0">
                <a:solidFill>
                  <a:srgbClr val="0033CC"/>
                </a:solidFill>
              </a:rPr>
              <a:t>搜索法</a:t>
            </a:r>
            <a:r>
              <a:rPr lang="zh-CN" altLang="zh-CN" b="1" dirty="0"/>
              <a:t>、</a:t>
            </a:r>
            <a:r>
              <a:rPr lang="zh-CN" altLang="zh-CN" b="1" dirty="0">
                <a:solidFill>
                  <a:srgbClr val="0033CC"/>
                </a:solidFill>
              </a:rPr>
              <a:t>分析法</a:t>
            </a:r>
            <a:r>
              <a:rPr lang="zh-CN" altLang="zh-CN" b="1" dirty="0"/>
              <a:t>、</a:t>
            </a:r>
            <a:r>
              <a:rPr lang="zh-CN" altLang="zh-CN" b="1" dirty="0">
                <a:solidFill>
                  <a:srgbClr val="0033CC"/>
                </a:solidFill>
              </a:rPr>
              <a:t>感染实验法</a:t>
            </a:r>
            <a:r>
              <a:rPr lang="zh-CN" altLang="zh-CN" b="1" dirty="0"/>
              <a:t>、</a:t>
            </a:r>
            <a:r>
              <a:rPr lang="zh-CN" altLang="zh-CN" b="1" dirty="0">
                <a:solidFill>
                  <a:srgbClr val="0033CC"/>
                </a:solidFill>
              </a:rPr>
              <a:t>软件模拟法</a:t>
            </a:r>
            <a:r>
              <a:rPr lang="zh-CN" altLang="zh-CN" b="1" dirty="0"/>
              <a:t>等。目前广泛采用的病毒检测技术有</a:t>
            </a:r>
            <a:r>
              <a:rPr lang="zh-CN" altLang="zh-CN" b="1" dirty="0">
                <a:solidFill>
                  <a:srgbClr val="0033CC"/>
                </a:solidFill>
              </a:rPr>
              <a:t>病毒行为监测技术</a:t>
            </a:r>
            <a:r>
              <a:rPr lang="zh-CN" altLang="zh-CN" b="1" dirty="0"/>
              <a:t>、</a:t>
            </a:r>
            <a:r>
              <a:rPr lang="zh-CN" altLang="zh-CN" b="1" dirty="0">
                <a:solidFill>
                  <a:srgbClr val="0033CC"/>
                </a:solidFill>
              </a:rPr>
              <a:t>启发式代码扫描分析技术</a:t>
            </a:r>
            <a:r>
              <a:rPr lang="zh-CN" altLang="zh-CN" b="1" dirty="0"/>
              <a:t>、</a:t>
            </a:r>
            <a:r>
              <a:rPr lang="zh-CN" altLang="zh-CN" b="1" dirty="0">
                <a:solidFill>
                  <a:srgbClr val="0033CC"/>
                </a:solidFill>
              </a:rPr>
              <a:t>虚拟机查毒技术</a:t>
            </a:r>
            <a:r>
              <a:rPr lang="zh-CN" altLang="zh-CN" b="1" dirty="0"/>
              <a:t>等。</a:t>
            </a:r>
          </a:p>
        </p:txBody>
      </p:sp>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9.4.2 </a:t>
            </a:r>
            <a:r>
              <a:rPr altLang="en-US" sz="2000" dirty="0"/>
              <a:t>病毒的机理与防治</a:t>
            </a:r>
          </a:p>
        </p:txBody>
      </p:sp>
      <p:sp>
        <p:nvSpPr>
          <p:cNvPr id="8" name="左大括号 4"/>
          <p:cNvSpPr/>
          <p:nvPr/>
        </p:nvSpPr>
        <p:spPr bwMode="auto">
          <a:xfrm>
            <a:off x="4000500" y="2428875"/>
            <a:ext cx="357188" cy="1857375"/>
          </a:xfrm>
          <a:prstGeom prst="leftBrace">
            <a:avLst>
              <a:gd name="adj1" fmla="val 64663"/>
              <a:gd name="adj2" fmla="val 50000"/>
            </a:avLst>
          </a:prstGeom>
          <a:noFill/>
          <a:ln w="28575" algn="ctr">
            <a:solidFill>
              <a:srgbClr val="C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solidFill>
                <a:srgbClr val="0033CC"/>
              </a:solidFill>
            </a:endParaRPr>
          </a:p>
        </p:txBody>
      </p:sp>
      <p:sp>
        <p:nvSpPr>
          <p:cNvPr id="9" name="TextBox 6"/>
          <p:cNvSpPr txBox="1">
            <a:spLocks noChangeArrowheads="1"/>
          </p:cNvSpPr>
          <p:nvPr/>
        </p:nvSpPr>
        <p:spPr bwMode="auto">
          <a:xfrm>
            <a:off x="4286250" y="2286000"/>
            <a:ext cx="9286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600" b="1">
                <a:solidFill>
                  <a:srgbClr val="0033CC"/>
                </a:solidFill>
              </a:rPr>
              <a:t>比较法</a:t>
            </a:r>
            <a:endParaRPr lang="zh-CN" altLang="zh-CN" sz="1600" b="1">
              <a:solidFill>
                <a:srgbClr val="0033CC"/>
              </a:solidFill>
            </a:endParaRPr>
          </a:p>
        </p:txBody>
      </p:sp>
      <p:sp>
        <p:nvSpPr>
          <p:cNvPr id="10" name="TextBox 6"/>
          <p:cNvSpPr txBox="1">
            <a:spLocks noChangeArrowheads="1"/>
          </p:cNvSpPr>
          <p:nvPr/>
        </p:nvSpPr>
        <p:spPr bwMode="auto">
          <a:xfrm>
            <a:off x="2428875" y="3214688"/>
            <a:ext cx="1643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800" b="1">
                <a:solidFill>
                  <a:srgbClr val="FF0000"/>
                </a:solidFill>
              </a:rPr>
              <a:t>重点介绍：</a:t>
            </a:r>
            <a:endParaRPr lang="zh-CN" altLang="zh-CN" sz="1800" b="1">
              <a:solidFill>
                <a:srgbClr val="FF0000"/>
              </a:solidFill>
            </a:endParaRPr>
          </a:p>
        </p:txBody>
      </p:sp>
      <p:sp>
        <p:nvSpPr>
          <p:cNvPr id="11" name="TextBox 6"/>
          <p:cNvSpPr txBox="1">
            <a:spLocks noChangeArrowheads="1"/>
          </p:cNvSpPr>
          <p:nvPr/>
        </p:nvSpPr>
        <p:spPr bwMode="auto">
          <a:xfrm>
            <a:off x="4286250" y="2643188"/>
            <a:ext cx="10001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600" b="1">
                <a:solidFill>
                  <a:srgbClr val="0033CC"/>
                </a:solidFill>
              </a:rPr>
              <a:t>校验和法</a:t>
            </a:r>
            <a:endParaRPr lang="zh-CN" altLang="zh-CN" sz="1600" b="1">
              <a:solidFill>
                <a:srgbClr val="0033CC"/>
              </a:solidFill>
            </a:endParaRPr>
          </a:p>
        </p:txBody>
      </p:sp>
      <p:sp>
        <p:nvSpPr>
          <p:cNvPr id="12" name="TextBox 6"/>
          <p:cNvSpPr txBox="1">
            <a:spLocks noChangeArrowheads="1"/>
          </p:cNvSpPr>
          <p:nvPr/>
        </p:nvSpPr>
        <p:spPr bwMode="auto">
          <a:xfrm>
            <a:off x="4286250" y="3000375"/>
            <a:ext cx="9286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600" b="1">
                <a:solidFill>
                  <a:srgbClr val="0033CC"/>
                </a:solidFill>
              </a:rPr>
              <a:t>扫描法</a:t>
            </a:r>
            <a:endParaRPr lang="zh-CN" altLang="zh-CN" sz="1600" b="1">
              <a:solidFill>
                <a:srgbClr val="0033CC"/>
              </a:solidFill>
            </a:endParaRPr>
          </a:p>
        </p:txBody>
      </p:sp>
      <p:sp>
        <p:nvSpPr>
          <p:cNvPr id="13" name="TextBox 6"/>
          <p:cNvSpPr txBox="1">
            <a:spLocks noChangeArrowheads="1"/>
          </p:cNvSpPr>
          <p:nvPr/>
        </p:nvSpPr>
        <p:spPr bwMode="auto">
          <a:xfrm>
            <a:off x="4286250" y="3357563"/>
            <a:ext cx="12144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600" b="1">
                <a:solidFill>
                  <a:srgbClr val="0033CC"/>
                </a:solidFill>
              </a:rPr>
              <a:t>行为监测法</a:t>
            </a:r>
            <a:endParaRPr lang="zh-CN" altLang="zh-CN" sz="1600" b="1">
              <a:solidFill>
                <a:srgbClr val="0033CC"/>
              </a:solidFill>
            </a:endParaRPr>
          </a:p>
        </p:txBody>
      </p:sp>
      <p:sp>
        <p:nvSpPr>
          <p:cNvPr id="14" name="TextBox 6"/>
          <p:cNvSpPr txBox="1">
            <a:spLocks noChangeArrowheads="1"/>
          </p:cNvSpPr>
          <p:nvPr/>
        </p:nvSpPr>
        <p:spPr bwMode="auto">
          <a:xfrm>
            <a:off x="4286250" y="3714750"/>
            <a:ext cx="12144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600" b="1">
                <a:solidFill>
                  <a:srgbClr val="0033CC"/>
                </a:solidFill>
              </a:rPr>
              <a:t>感染实验法</a:t>
            </a:r>
            <a:endParaRPr lang="zh-CN" altLang="zh-CN" sz="1600" b="1">
              <a:solidFill>
                <a:srgbClr val="0033CC"/>
              </a:solidFill>
            </a:endParaRPr>
          </a:p>
        </p:txBody>
      </p:sp>
      <p:sp>
        <p:nvSpPr>
          <p:cNvPr id="15" name="TextBox 6"/>
          <p:cNvSpPr txBox="1">
            <a:spLocks noChangeArrowheads="1"/>
          </p:cNvSpPr>
          <p:nvPr/>
        </p:nvSpPr>
        <p:spPr bwMode="auto">
          <a:xfrm>
            <a:off x="4286250" y="4071938"/>
            <a:ext cx="1285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600" b="1">
                <a:solidFill>
                  <a:srgbClr val="0033CC"/>
                </a:solidFill>
              </a:rPr>
              <a:t>软件模拟法</a:t>
            </a:r>
            <a:endParaRPr lang="zh-CN" altLang="zh-CN" sz="1600" b="1">
              <a:solidFill>
                <a:srgbClr val="0033CC"/>
              </a:solidFill>
            </a:endParaRP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Effect transition="in" filter="fade">
                                      <p:cBhvr>
                                        <p:cTn id="7" dur="500"/>
                                        <p:tgtEl>
                                          <p:spTgt spid="48131">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8131">
                                            <p:txEl>
                                              <p:pRg st="1" end="1"/>
                                            </p:txEl>
                                          </p:spTgt>
                                        </p:tgtEl>
                                        <p:attrNameLst>
                                          <p:attrName>style.visibility</p:attrName>
                                        </p:attrNameLst>
                                      </p:cBhvr>
                                      <p:to>
                                        <p:strVal val="visible"/>
                                      </p:to>
                                    </p:set>
                                    <p:animEffect transition="in" filter="fade">
                                      <p:cBhvr>
                                        <p:cTn id="11" dur="500"/>
                                        <p:tgtEl>
                                          <p:spTgt spid="48131">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strips(downRight)">
                                      <p:cBhvr>
                                        <p:cTn id="16" dur="500"/>
                                        <p:tgtEl>
                                          <p:spTgt spid="10"/>
                                        </p:tgtEl>
                                      </p:cBhvr>
                                    </p:animEffect>
                                  </p:childTnLst>
                                </p:cTn>
                              </p:par>
                            </p:childTnLst>
                          </p:cTn>
                        </p:par>
                        <p:par>
                          <p:cTn id="17" fill="hold">
                            <p:stCondLst>
                              <p:cond delay="500"/>
                            </p:stCondLst>
                            <p:childTnLst>
                              <p:par>
                                <p:cTn id="18" presetID="18" presetClass="entr" presetSubtype="6"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strips(downRight)">
                                      <p:cBhvr>
                                        <p:cTn id="20" dur="500"/>
                                        <p:tgtEl>
                                          <p:spTgt spid="8"/>
                                        </p:tgtEl>
                                      </p:cBhvr>
                                    </p:animEffect>
                                  </p:childTnLst>
                                </p:cTn>
                              </p:par>
                            </p:childTnLst>
                          </p:cTn>
                        </p:par>
                        <p:par>
                          <p:cTn id="21" fill="hold">
                            <p:stCondLst>
                              <p:cond delay="1000"/>
                            </p:stCondLst>
                            <p:childTnLst>
                              <p:par>
                                <p:cTn id="22" presetID="18" presetClass="entr" presetSubtype="6"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strips(downRight)">
                                      <p:cBhvr>
                                        <p:cTn id="24" dur="500"/>
                                        <p:tgtEl>
                                          <p:spTgt spid="9"/>
                                        </p:tgtEl>
                                      </p:cBhvr>
                                    </p:animEffect>
                                  </p:childTnLst>
                                </p:cTn>
                              </p:par>
                            </p:childTnLst>
                          </p:cTn>
                        </p:par>
                        <p:par>
                          <p:cTn id="25" fill="hold">
                            <p:stCondLst>
                              <p:cond delay="1500"/>
                            </p:stCondLst>
                            <p:childTnLst>
                              <p:par>
                                <p:cTn id="26" presetID="18" presetClass="entr" presetSubtype="6"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strips(downRight)">
                                      <p:cBhvr>
                                        <p:cTn id="28" dur="500"/>
                                        <p:tgtEl>
                                          <p:spTgt spid="11"/>
                                        </p:tgtEl>
                                      </p:cBhvr>
                                    </p:animEffect>
                                  </p:childTnLst>
                                </p:cTn>
                              </p:par>
                            </p:childTnLst>
                          </p:cTn>
                        </p:par>
                        <p:par>
                          <p:cTn id="29" fill="hold">
                            <p:stCondLst>
                              <p:cond delay="2000"/>
                            </p:stCondLst>
                            <p:childTnLst>
                              <p:par>
                                <p:cTn id="30" presetID="18" presetClass="entr" presetSubtype="6"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strips(downRight)">
                                      <p:cBhvr>
                                        <p:cTn id="32" dur="500"/>
                                        <p:tgtEl>
                                          <p:spTgt spid="12"/>
                                        </p:tgtEl>
                                      </p:cBhvr>
                                    </p:animEffect>
                                  </p:childTnLst>
                                </p:cTn>
                              </p:par>
                            </p:childTnLst>
                          </p:cTn>
                        </p:par>
                        <p:par>
                          <p:cTn id="33" fill="hold">
                            <p:stCondLst>
                              <p:cond delay="2500"/>
                            </p:stCondLst>
                            <p:childTnLst>
                              <p:par>
                                <p:cTn id="34" presetID="18" presetClass="entr" presetSubtype="6"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strips(downRight)">
                                      <p:cBhvr>
                                        <p:cTn id="36" dur="500"/>
                                        <p:tgtEl>
                                          <p:spTgt spid="13"/>
                                        </p:tgtEl>
                                      </p:cBhvr>
                                    </p:animEffect>
                                  </p:childTnLst>
                                </p:cTn>
                              </p:par>
                            </p:childTnLst>
                          </p:cTn>
                        </p:par>
                        <p:par>
                          <p:cTn id="37" fill="hold">
                            <p:stCondLst>
                              <p:cond delay="3000"/>
                            </p:stCondLst>
                            <p:childTnLst>
                              <p:par>
                                <p:cTn id="38" presetID="18" presetClass="entr" presetSubtype="6"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strips(downRight)">
                                      <p:cBhvr>
                                        <p:cTn id="40" dur="500"/>
                                        <p:tgtEl>
                                          <p:spTgt spid="14"/>
                                        </p:tgtEl>
                                      </p:cBhvr>
                                    </p:animEffect>
                                  </p:childTnLst>
                                </p:cTn>
                              </p:par>
                            </p:childTnLst>
                          </p:cTn>
                        </p:par>
                        <p:par>
                          <p:cTn id="41" fill="hold">
                            <p:stCondLst>
                              <p:cond delay="3500"/>
                            </p:stCondLst>
                            <p:childTnLst>
                              <p:par>
                                <p:cTn id="42" presetID="18" presetClass="entr" presetSubtype="6"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strips(downRight)">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1" grpId="0"/>
      <p:bldP spid="12" grpId="0"/>
      <p:bldP spid="13" grpId="0"/>
      <p:bldP spid="14" grpId="0"/>
      <p:bldP spid="1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内容占位符 2"/>
          <p:cNvSpPr>
            <a:spLocks noGrp="1"/>
          </p:cNvSpPr>
          <p:nvPr>
            <p:ph idx="1"/>
          </p:nvPr>
        </p:nvSpPr>
        <p:spPr>
          <a:xfrm>
            <a:off x="428625" y="1214438"/>
            <a:ext cx="8358188" cy="2857500"/>
          </a:xfrm>
        </p:spPr>
        <p:txBody>
          <a:bodyPr/>
          <a:lstStyle/>
          <a:p>
            <a:pPr>
              <a:buFont typeface="Wingdings" panose="05000000000000000000" pitchFamily="2" charset="2"/>
              <a:buNone/>
              <a:defRPr/>
            </a:pPr>
            <a:r>
              <a:rPr lang="zh-CN" altLang="en-US" b="1" dirty="0">
                <a:solidFill>
                  <a:srgbClr val="0033CC"/>
                </a:solidFill>
              </a:rPr>
              <a:t>（</a:t>
            </a:r>
            <a:r>
              <a:rPr lang="en-US" altLang="zh-CN" b="1" dirty="0">
                <a:solidFill>
                  <a:srgbClr val="0033CC"/>
                </a:solidFill>
              </a:rPr>
              <a:t>1</a:t>
            </a:r>
            <a:r>
              <a:rPr lang="zh-CN" altLang="en-US" b="1" dirty="0">
                <a:solidFill>
                  <a:srgbClr val="0033CC"/>
                </a:solidFill>
              </a:rPr>
              <a:t>）</a:t>
            </a:r>
            <a:r>
              <a:rPr lang="zh-CN" altLang="zh-CN" b="1" dirty="0">
                <a:solidFill>
                  <a:srgbClr val="0033CC"/>
                </a:solidFill>
              </a:rPr>
              <a:t>比较法</a:t>
            </a:r>
          </a:p>
          <a:p>
            <a:pPr indent="-36195">
              <a:defRPr/>
            </a:pPr>
            <a:r>
              <a:rPr lang="zh-CN" altLang="zh-CN" sz="1500" b="1" dirty="0"/>
              <a:t>比较法是用原始的或者正常的内容与被检测的进行比较。</a:t>
            </a:r>
            <a:r>
              <a:rPr lang="zh-CN" altLang="zh-CN" sz="1500" b="1" dirty="0">
                <a:solidFill>
                  <a:srgbClr val="FF0000"/>
                </a:solidFill>
              </a:rPr>
              <a:t>包括</a:t>
            </a:r>
            <a:r>
              <a:rPr lang="zh-CN" altLang="zh-CN" sz="1500" b="1" dirty="0">
                <a:solidFill>
                  <a:srgbClr val="0033CC"/>
                </a:solidFill>
              </a:rPr>
              <a:t>长度比较法</a:t>
            </a:r>
            <a:r>
              <a:rPr lang="zh-CN" altLang="zh-CN" sz="1500" b="1" dirty="0"/>
              <a:t>、</a:t>
            </a:r>
            <a:r>
              <a:rPr lang="zh-CN" altLang="zh-CN" sz="1500" b="1" dirty="0">
                <a:solidFill>
                  <a:srgbClr val="0033CC"/>
                </a:solidFill>
              </a:rPr>
              <a:t>内容比较法</a:t>
            </a:r>
            <a:r>
              <a:rPr lang="zh-CN" altLang="zh-CN" sz="1500" b="1" dirty="0"/>
              <a:t>、</a:t>
            </a:r>
            <a:r>
              <a:rPr lang="zh-CN" altLang="zh-CN" sz="1500" b="1" dirty="0">
                <a:solidFill>
                  <a:srgbClr val="0033CC"/>
                </a:solidFill>
              </a:rPr>
              <a:t>内存比较法</a:t>
            </a:r>
            <a:r>
              <a:rPr lang="zh-CN" altLang="zh-CN" sz="1500" b="1" dirty="0"/>
              <a:t>、</a:t>
            </a:r>
            <a:r>
              <a:rPr lang="zh-CN" altLang="zh-CN" sz="1500" b="1" dirty="0">
                <a:solidFill>
                  <a:srgbClr val="0033CC"/>
                </a:solidFill>
              </a:rPr>
              <a:t>中断比较法</a:t>
            </a:r>
            <a:r>
              <a:rPr lang="zh-CN" altLang="zh-CN" sz="1500" b="1" dirty="0"/>
              <a:t>等。</a:t>
            </a:r>
          </a:p>
          <a:p>
            <a:pPr indent="-36195">
              <a:defRPr/>
            </a:pPr>
            <a:r>
              <a:rPr lang="zh-CN" altLang="zh-CN" sz="1500" b="1" dirty="0">
                <a:solidFill>
                  <a:srgbClr val="0033CC"/>
                </a:solidFill>
              </a:rPr>
              <a:t>长度比较法</a:t>
            </a:r>
            <a:r>
              <a:rPr lang="zh-CN" altLang="zh-CN" sz="1500" b="1" dirty="0"/>
              <a:t>和</a:t>
            </a:r>
            <a:r>
              <a:rPr lang="zh-CN" altLang="zh-CN" sz="1500" b="1" dirty="0">
                <a:solidFill>
                  <a:srgbClr val="0033CC"/>
                </a:solidFill>
              </a:rPr>
              <a:t>内容比较法</a:t>
            </a:r>
            <a:r>
              <a:rPr lang="zh-CN" altLang="zh-CN" sz="1500" b="1" dirty="0"/>
              <a:t>检测长度和内容的变化，并以此作为判定的依据。</a:t>
            </a:r>
            <a:endParaRPr lang="en-US" altLang="zh-CN" sz="1500" b="1" dirty="0"/>
          </a:p>
          <a:p>
            <a:pPr indent="-36195">
              <a:defRPr/>
            </a:pPr>
            <a:r>
              <a:rPr lang="zh-CN" altLang="zh-CN" sz="1500" b="1" dirty="0">
                <a:solidFill>
                  <a:srgbClr val="0033CC"/>
                </a:solidFill>
              </a:rPr>
              <a:t>内存比较法</a:t>
            </a:r>
            <a:r>
              <a:rPr lang="zh-CN" altLang="zh-CN" sz="1500" b="1" dirty="0"/>
              <a:t>是一种对内存驻留病毒进行检测的方法。由于病毒驻留内存，因此必须在内存中申请一定的空间，并占用该空间，通过对内存的检测，观察其空间变化，判定是否有病毒驻留空间。</a:t>
            </a:r>
          </a:p>
          <a:p>
            <a:pPr indent="-36195">
              <a:defRPr/>
            </a:pPr>
            <a:r>
              <a:rPr lang="zh-CN" altLang="zh-CN" sz="1500" b="1" u="sng" dirty="0"/>
              <a:t>比较法的好处是简单方便，缺点是无法确认病毒的种类。</a:t>
            </a:r>
          </a:p>
        </p:txBody>
      </p:sp>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9.4.2 </a:t>
            </a:r>
            <a:r>
              <a:rPr altLang="en-US" sz="2000" dirty="0"/>
              <a:t>病毒的机理与防治</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Effect transition="in" filter="fade">
                                      <p:cBhvr>
                                        <p:cTn id="7" dur="500"/>
                                        <p:tgtEl>
                                          <p:spTgt spid="48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131">
                                            <p:txEl>
                                              <p:pRg st="1" end="1"/>
                                            </p:txEl>
                                          </p:spTgt>
                                        </p:tgtEl>
                                        <p:attrNameLst>
                                          <p:attrName>style.visibility</p:attrName>
                                        </p:attrNameLst>
                                      </p:cBhvr>
                                      <p:to>
                                        <p:strVal val="visible"/>
                                      </p:to>
                                    </p:set>
                                    <p:animEffect transition="in" filter="fade">
                                      <p:cBhvr>
                                        <p:cTn id="12" dur="500"/>
                                        <p:tgtEl>
                                          <p:spTgt spid="481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131">
                                            <p:txEl>
                                              <p:pRg st="2" end="2"/>
                                            </p:txEl>
                                          </p:spTgt>
                                        </p:tgtEl>
                                        <p:attrNameLst>
                                          <p:attrName>style.visibility</p:attrName>
                                        </p:attrNameLst>
                                      </p:cBhvr>
                                      <p:to>
                                        <p:strVal val="visible"/>
                                      </p:to>
                                    </p:set>
                                    <p:animEffect transition="in" filter="fade">
                                      <p:cBhvr>
                                        <p:cTn id="17" dur="500"/>
                                        <p:tgtEl>
                                          <p:spTgt spid="481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8131">
                                            <p:txEl>
                                              <p:pRg st="3" end="3"/>
                                            </p:txEl>
                                          </p:spTgt>
                                        </p:tgtEl>
                                        <p:attrNameLst>
                                          <p:attrName>style.visibility</p:attrName>
                                        </p:attrNameLst>
                                      </p:cBhvr>
                                      <p:to>
                                        <p:strVal val="visible"/>
                                      </p:to>
                                    </p:set>
                                    <p:animEffect transition="in" filter="fade">
                                      <p:cBhvr>
                                        <p:cTn id="22" dur="500"/>
                                        <p:tgtEl>
                                          <p:spTgt spid="481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8131">
                                            <p:txEl>
                                              <p:pRg st="4" end="4"/>
                                            </p:txEl>
                                          </p:spTgt>
                                        </p:tgtEl>
                                        <p:attrNameLst>
                                          <p:attrName>style.visibility</p:attrName>
                                        </p:attrNameLst>
                                      </p:cBhvr>
                                      <p:to>
                                        <p:strVal val="visible"/>
                                      </p:to>
                                    </p:set>
                                    <p:animEffect transition="in" filter="fade">
                                      <p:cBhvr>
                                        <p:cTn id="27" dur="500"/>
                                        <p:tgtEl>
                                          <p:spTgt spid="481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内容占位符 2"/>
          <p:cNvSpPr>
            <a:spLocks noGrp="1"/>
          </p:cNvSpPr>
          <p:nvPr>
            <p:ph idx="1"/>
          </p:nvPr>
        </p:nvSpPr>
        <p:spPr>
          <a:xfrm>
            <a:off x="285750" y="1143000"/>
            <a:ext cx="8501063" cy="2857500"/>
          </a:xfrm>
        </p:spPr>
        <p:txBody>
          <a:bodyPr/>
          <a:lstStyle/>
          <a:p>
            <a:pPr>
              <a:buFont typeface="Wingdings" panose="05000000000000000000" pitchFamily="2" charset="2"/>
              <a:buNone/>
              <a:defRPr/>
            </a:pPr>
            <a:r>
              <a:rPr lang="zh-CN" altLang="en-US" b="1" dirty="0">
                <a:solidFill>
                  <a:srgbClr val="0033CC"/>
                </a:solidFill>
              </a:rPr>
              <a:t>（</a:t>
            </a:r>
            <a:r>
              <a:rPr lang="en-US" altLang="zh-CN" b="1" dirty="0">
                <a:solidFill>
                  <a:srgbClr val="0033CC"/>
                </a:solidFill>
              </a:rPr>
              <a:t>2</a:t>
            </a:r>
            <a:r>
              <a:rPr lang="zh-CN" altLang="en-US" b="1" dirty="0">
                <a:solidFill>
                  <a:srgbClr val="0033CC"/>
                </a:solidFill>
              </a:rPr>
              <a:t>）</a:t>
            </a:r>
            <a:r>
              <a:rPr lang="zh-CN" altLang="zh-CN" b="1" dirty="0">
                <a:solidFill>
                  <a:srgbClr val="0033CC"/>
                </a:solidFill>
              </a:rPr>
              <a:t>校验和法</a:t>
            </a:r>
            <a:r>
              <a:rPr lang="zh-CN" altLang="en-US" b="1" dirty="0">
                <a:solidFill>
                  <a:srgbClr val="0033CC"/>
                </a:solidFill>
              </a:rPr>
              <a:t>（</a:t>
            </a:r>
            <a:r>
              <a:rPr lang="zh-CN" altLang="en-US" b="1" dirty="0">
                <a:solidFill>
                  <a:srgbClr val="FF0000"/>
                </a:solidFill>
              </a:rPr>
              <a:t>对比</a:t>
            </a:r>
            <a:r>
              <a:rPr lang="zh-CN" altLang="en-US" b="1" dirty="0">
                <a:solidFill>
                  <a:srgbClr val="0033CC"/>
                </a:solidFill>
              </a:rPr>
              <a:t>正常文件</a:t>
            </a:r>
            <a:r>
              <a:rPr lang="zh-CN" altLang="en-US" b="1" dirty="0">
                <a:solidFill>
                  <a:srgbClr val="FF0000"/>
                </a:solidFill>
              </a:rPr>
              <a:t>和</a:t>
            </a:r>
            <a:r>
              <a:rPr lang="zh-CN" altLang="en-US" b="1" dirty="0">
                <a:solidFill>
                  <a:srgbClr val="0033CC"/>
                </a:solidFill>
              </a:rPr>
              <a:t>被检查文件</a:t>
            </a:r>
            <a:r>
              <a:rPr lang="zh-CN" altLang="en-US" b="1" dirty="0">
                <a:solidFill>
                  <a:srgbClr val="FF0000"/>
                </a:solidFill>
              </a:rPr>
              <a:t>的校验和</a:t>
            </a:r>
            <a:r>
              <a:rPr lang="zh-CN" altLang="en-US" b="1" dirty="0">
                <a:solidFill>
                  <a:srgbClr val="0033CC"/>
                </a:solidFill>
              </a:rPr>
              <a:t>）</a:t>
            </a:r>
            <a:endParaRPr lang="zh-CN" altLang="zh-CN" b="1" dirty="0">
              <a:solidFill>
                <a:srgbClr val="0033CC"/>
              </a:solidFill>
            </a:endParaRPr>
          </a:p>
          <a:p>
            <a:pPr indent="-36195">
              <a:defRPr/>
            </a:pPr>
            <a:r>
              <a:rPr lang="zh-CN" altLang="zh-CN" sz="1500" b="1" dirty="0"/>
              <a:t>计算正常文件的内容的校验和，并将该校验和写入文件中保存。在文件过程中，定期地检测文件的校验和，判别是否和原来保存的校验和一致，从而判断文件是否感染病毒，这种叫校验和法。它既可以发现已知病毒，也可以发现未知病毒。该方法无法识别病毒种类</a:t>
            </a:r>
            <a:r>
              <a:rPr lang="zh-CN" altLang="en-US" sz="1500" b="1" dirty="0"/>
              <a:t>。</a:t>
            </a:r>
            <a:endParaRPr lang="zh-CN" altLang="zh-CN" sz="1500" b="1" dirty="0"/>
          </a:p>
          <a:p>
            <a:pPr>
              <a:buFont typeface="Wingdings" panose="05000000000000000000" pitchFamily="2" charset="2"/>
              <a:buNone/>
              <a:defRPr/>
            </a:pPr>
            <a:r>
              <a:rPr lang="zh-CN" altLang="en-US" b="1" dirty="0">
                <a:solidFill>
                  <a:srgbClr val="0033CC"/>
                </a:solidFill>
              </a:rPr>
              <a:t>（</a:t>
            </a:r>
            <a:r>
              <a:rPr lang="en-US" altLang="zh-CN" b="1" dirty="0">
                <a:solidFill>
                  <a:srgbClr val="0033CC"/>
                </a:solidFill>
              </a:rPr>
              <a:t>3</a:t>
            </a:r>
            <a:r>
              <a:rPr lang="zh-CN" altLang="en-US" b="1" dirty="0">
                <a:solidFill>
                  <a:srgbClr val="0033CC"/>
                </a:solidFill>
              </a:rPr>
              <a:t>）</a:t>
            </a:r>
            <a:r>
              <a:rPr lang="zh-CN" altLang="zh-CN" b="1" dirty="0">
                <a:solidFill>
                  <a:srgbClr val="0033CC"/>
                </a:solidFill>
              </a:rPr>
              <a:t>扫描法</a:t>
            </a:r>
          </a:p>
          <a:p>
            <a:pPr indent="-36195">
              <a:defRPr/>
            </a:pPr>
            <a:r>
              <a:rPr lang="zh-CN" altLang="zh-CN" sz="1500" b="1" dirty="0"/>
              <a:t>扫描法是</a:t>
            </a:r>
            <a:r>
              <a:rPr lang="zh-CN" altLang="zh-CN" sz="1500" b="1" dirty="0">
                <a:solidFill>
                  <a:srgbClr val="FF0000"/>
                </a:solidFill>
              </a:rPr>
              <a:t>根据</a:t>
            </a:r>
            <a:r>
              <a:rPr lang="zh-CN" altLang="zh-CN" sz="1500" b="1" dirty="0">
                <a:solidFill>
                  <a:srgbClr val="0033CC"/>
                </a:solidFill>
              </a:rPr>
              <a:t>每一种病毒含有的特征字符串</a:t>
            </a:r>
            <a:r>
              <a:rPr lang="zh-CN" altLang="zh-CN" sz="1500" b="1" dirty="0"/>
              <a:t>，</a:t>
            </a:r>
            <a:r>
              <a:rPr lang="zh-CN" altLang="zh-CN" sz="1500" b="1" dirty="0">
                <a:solidFill>
                  <a:srgbClr val="FF0000"/>
                </a:solidFill>
              </a:rPr>
              <a:t>对</a:t>
            </a:r>
            <a:r>
              <a:rPr lang="zh-CN" altLang="zh-CN" sz="1500" b="1" dirty="0">
                <a:solidFill>
                  <a:srgbClr val="0033CC"/>
                </a:solidFill>
              </a:rPr>
              <a:t>被检测的对象</a:t>
            </a:r>
            <a:r>
              <a:rPr lang="zh-CN" altLang="zh-CN" sz="1500" b="1" dirty="0">
                <a:solidFill>
                  <a:srgbClr val="FF0000"/>
                </a:solidFill>
              </a:rPr>
              <a:t>进行扫描</a:t>
            </a:r>
            <a:r>
              <a:rPr lang="zh-CN" altLang="zh-CN" sz="1500" b="1" dirty="0"/>
              <a:t>。如果在被检测对象内部发现了某一种特定字符串，表明发现了该字符串所代表的病毒。扫描法包括特征代码扫描法和特征字扫描法。</a:t>
            </a:r>
          </a:p>
        </p:txBody>
      </p:sp>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9.4.2 </a:t>
            </a:r>
            <a:r>
              <a:rPr altLang="en-US" sz="2000" dirty="0"/>
              <a:t>病毒的机理与防治</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fade">
                                      <p:cBhvr>
                                        <p:cTn id="7" dur="500"/>
                                        <p:tgtEl>
                                          <p:spTgt spid="4915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9155">
                                            <p:txEl>
                                              <p:pRg st="1" end="1"/>
                                            </p:txEl>
                                          </p:spTgt>
                                        </p:tgtEl>
                                        <p:attrNameLst>
                                          <p:attrName>style.visibility</p:attrName>
                                        </p:attrNameLst>
                                      </p:cBhvr>
                                      <p:to>
                                        <p:strVal val="visible"/>
                                      </p:to>
                                    </p:set>
                                    <p:animEffect transition="in" filter="fade">
                                      <p:cBhvr>
                                        <p:cTn id="11" dur="500"/>
                                        <p:tgtEl>
                                          <p:spTgt spid="49155">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9155">
                                            <p:txEl>
                                              <p:pRg st="2" end="2"/>
                                            </p:txEl>
                                          </p:spTgt>
                                        </p:tgtEl>
                                        <p:attrNameLst>
                                          <p:attrName>style.visibility</p:attrName>
                                        </p:attrNameLst>
                                      </p:cBhvr>
                                      <p:to>
                                        <p:strVal val="visible"/>
                                      </p:to>
                                    </p:set>
                                    <p:animEffect transition="in" filter="fade">
                                      <p:cBhvr>
                                        <p:cTn id="16" dur="500"/>
                                        <p:tgtEl>
                                          <p:spTgt spid="49155">
                                            <p:txEl>
                                              <p:pRg st="2" end="2"/>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49155">
                                            <p:txEl>
                                              <p:pRg st="3" end="3"/>
                                            </p:txEl>
                                          </p:spTgt>
                                        </p:tgtEl>
                                        <p:attrNameLst>
                                          <p:attrName>style.visibility</p:attrName>
                                        </p:attrNameLst>
                                      </p:cBhvr>
                                      <p:to>
                                        <p:strVal val="visible"/>
                                      </p:to>
                                    </p:set>
                                    <p:animEffect transition="in" filter="fade">
                                      <p:cBhvr>
                                        <p:cTn id="20" dur="500"/>
                                        <p:tgtEl>
                                          <p:spTgt spid="491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内容占位符 2"/>
          <p:cNvSpPr>
            <a:spLocks noGrp="1"/>
          </p:cNvSpPr>
          <p:nvPr>
            <p:ph idx="1"/>
          </p:nvPr>
        </p:nvSpPr>
        <p:spPr>
          <a:xfrm>
            <a:off x="214313" y="928688"/>
            <a:ext cx="8643937" cy="3357562"/>
          </a:xfrm>
        </p:spPr>
        <p:txBody>
          <a:bodyPr/>
          <a:lstStyle/>
          <a:p>
            <a:pPr>
              <a:buFont typeface="Wingdings" panose="05000000000000000000" pitchFamily="2" charset="2"/>
              <a:buNone/>
              <a:defRPr/>
            </a:pPr>
            <a:r>
              <a:rPr lang="zh-CN" altLang="en-US" b="1" dirty="0">
                <a:solidFill>
                  <a:srgbClr val="0033CC"/>
                </a:solidFill>
              </a:rPr>
              <a:t>（</a:t>
            </a:r>
            <a:r>
              <a:rPr lang="en-US" altLang="zh-CN" b="1" dirty="0">
                <a:solidFill>
                  <a:srgbClr val="0033CC"/>
                </a:solidFill>
              </a:rPr>
              <a:t>4</a:t>
            </a:r>
            <a:r>
              <a:rPr lang="zh-CN" altLang="en-US" b="1" dirty="0">
                <a:solidFill>
                  <a:srgbClr val="0033CC"/>
                </a:solidFill>
              </a:rPr>
              <a:t>）</a:t>
            </a:r>
            <a:r>
              <a:rPr lang="zh-CN" altLang="zh-CN" b="1" dirty="0">
                <a:solidFill>
                  <a:srgbClr val="0033CC"/>
                </a:solidFill>
              </a:rPr>
              <a:t>行为监测法</a:t>
            </a:r>
          </a:p>
          <a:p>
            <a:pPr indent="-36195">
              <a:defRPr/>
            </a:pPr>
            <a:r>
              <a:rPr lang="zh-CN" altLang="zh-CN" sz="1500" b="1" dirty="0">
                <a:solidFill>
                  <a:srgbClr val="FF0000"/>
                </a:solidFill>
              </a:rPr>
              <a:t>利用</a:t>
            </a:r>
            <a:r>
              <a:rPr lang="zh-CN" altLang="zh-CN" sz="1500" b="1" dirty="0">
                <a:solidFill>
                  <a:srgbClr val="0033CC"/>
                </a:solidFill>
              </a:rPr>
              <a:t>病毒的特有行为特性</a:t>
            </a:r>
            <a:r>
              <a:rPr lang="zh-CN" altLang="zh-CN" sz="1500" b="1" dirty="0">
                <a:solidFill>
                  <a:srgbClr val="FF0000"/>
                </a:solidFill>
              </a:rPr>
              <a:t>监测</a:t>
            </a:r>
            <a:r>
              <a:rPr lang="zh-CN" altLang="zh-CN" sz="1500" b="1" dirty="0">
                <a:solidFill>
                  <a:srgbClr val="0033CC"/>
                </a:solidFill>
              </a:rPr>
              <a:t>病毒</a:t>
            </a:r>
            <a:r>
              <a:rPr lang="zh-CN" altLang="zh-CN" sz="1500" b="1" dirty="0"/>
              <a:t>的方法称为行为监测法。行为检测法的优点在于不仅可以发现已知病毒，而且可以预报多数未知病毒。缺点在于可能有误报和不能识别病毒的名称，实现难度较大。</a:t>
            </a:r>
            <a:endParaRPr lang="en-US" altLang="zh-CN" sz="1500" b="1" dirty="0"/>
          </a:p>
          <a:p>
            <a:pPr>
              <a:buFont typeface="Wingdings" panose="05000000000000000000" pitchFamily="2" charset="2"/>
              <a:buNone/>
              <a:defRPr/>
            </a:pPr>
            <a:r>
              <a:rPr lang="en-US" altLang="zh-CN" b="1" dirty="0">
                <a:solidFill>
                  <a:srgbClr val="0033CC"/>
                </a:solidFill>
              </a:rPr>
              <a:t>(5) </a:t>
            </a:r>
            <a:r>
              <a:rPr lang="zh-CN" altLang="en-US" b="1" dirty="0">
                <a:solidFill>
                  <a:srgbClr val="0033CC"/>
                </a:solidFill>
              </a:rPr>
              <a:t>感染实验法</a:t>
            </a:r>
          </a:p>
          <a:p>
            <a:pPr indent="-36195">
              <a:defRPr/>
            </a:pPr>
            <a:r>
              <a:rPr lang="zh-CN" altLang="en-US" sz="1500" b="1" dirty="0"/>
              <a:t>感染实验是一种简单实用的检测方法，该方法可以检测出病毒检测工具不认识的新病毒，摆脱对病毒检测工具的依赖，自主检测可疑的新病毒</a:t>
            </a:r>
            <a:r>
              <a:rPr lang="zh-CN" altLang="en-US" sz="1500" b="1" dirty="0">
                <a:solidFill>
                  <a:srgbClr val="0033CC"/>
                </a:solidFill>
              </a:rPr>
              <a:t>（多在安全沙箱中进行）</a:t>
            </a:r>
            <a:r>
              <a:rPr lang="zh-CN" altLang="en-US" sz="1500" b="1" dirty="0"/>
              <a:t>。</a:t>
            </a:r>
            <a:endParaRPr lang="en-US" altLang="zh-CN" sz="1500" b="1" dirty="0"/>
          </a:p>
          <a:p>
            <a:pPr>
              <a:buFont typeface="Wingdings" panose="05000000000000000000" pitchFamily="2" charset="2"/>
              <a:buNone/>
              <a:defRPr/>
            </a:pPr>
            <a:r>
              <a:rPr lang="zh-CN" altLang="en-US" b="1" dirty="0">
                <a:solidFill>
                  <a:srgbClr val="0033CC"/>
                </a:solidFill>
              </a:rPr>
              <a:t> </a:t>
            </a:r>
            <a:r>
              <a:rPr lang="en-US" altLang="zh-CN" b="1" dirty="0">
                <a:solidFill>
                  <a:srgbClr val="0033CC"/>
                </a:solidFill>
              </a:rPr>
              <a:t>(6) </a:t>
            </a:r>
            <a:r>
              <a:rPr lang="zh-CN" altLang="en-US" b="1" dirty="0">
                <a:solidFill>
                  <a:srgbClr val="0033CC"/>
                </a:solidFill>
              </a:rPr>
              <a:t>软件模拟法</a:t>
            </a:r>
          </a:p>
          <a:p>
            <a:pPr indent="-36195">
              <a:defRPr/>
            </a:pPr>
            <a:r>
              <a:rPr lang="zh-CN" altLang="en-US" sz="1500" b="1" dirty="0"/>
              <a:t>多态型病毒每次感染都改变其病毒密码，对付这种病毒时特征代码法会失效。为了检测多态病毒，软件模拟法是一种新方法，也称为软件仿真扫描法。</a:t>
            </a:r>
            <a:r>
              <a:rPr lang="zh-CN" altLang="en-US" sz="1500" b="1" dirty="0">
                <a:solidFill>
                  <a:srgbClr val="0033CC"/>
                </a:solidFill>
              </a:rPr>
              <a:t> （多在安全沙箱中进行）</a:t>
            </a:r>
            <a:endParaRPr lang="zh-CN" altLang="zh-CN" sz="1500" b="1" dirty="0"/>
          </a:p>
        </p:txBody>
      </p:sp>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9.4.2 </a:t>
            </a:r>
            <a:r>
              <a:rPr altLang="en-US" sz="2000" dirty="0"/>
              <a:t>病毒的机理与防治</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Effect transition="in" filter="fade">
                                      <p:cBhvr>
                                        <p:cTn id="7" dur="500"/>
                                        <p:tgtEl>
                                          <p:spTgt spid="50179">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0179">
                                            <p:txEl>
                                              <p:pRg st="1" end="1"/>
                                            </p:txEl>
                                          </p:spTgt>
                                        </p:tgtEl>
                                        <p:attrNameLst>
                                          <p:attrName>style.visibility</p:attrName>
                                        </p:attrNameLst>
                                      </p:cBhvr>
                                      <p:to>
                                        <p:strVal val="visible"/>
                                      </p:to>
                                    </p:set>
                                    <p:animEffect transition="in" filter="fade">
                                      <p:cBhvr>
                                        <p:cTn id="11" dur="500"/>
                                        <p:tgtEl>
                                          <p:spTgt spid="5017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0179">
                                            <p:txEl>
                                              <p:pRg st="2" end="2"/>
                                            </p:txEl>
                                          </p:spTgt>
                                        </p:tgtEl>
                                        <p:attrNameLst>
                                          <p:attrName>style.visibility</p:attrName>
                                        </p:attrNameLst>
                                      </p:cBhvr>
                                      <p:to>
                                        <p:strVal val="visible"/>
                                      </p:to>
                                    </p:set>
                                    <p:animEffect transition="in" filter="fade">
                                      <p:cBhvr>
                                        <p:cTn id="16" dur="500"/>
                                        <p:tgtEl>
                                          <p:spTgt spid="50179">
                                            <p:txEl>
                                              <p:pRg st="2" end="2"/>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50179">
                                            <p:txEl>
                                              <p:pRg st="3" end="3"/>
                                            </p:txEl>
                                          </p:spTgt>
                                        </p:tgtEl>
                                        <p:attrNameLst>
                                          <p:attrName>style.visibility</p:attrName>
                                        </p:attrNameLst>
                                      </p:cBhvr>
                                      <p:to>
                                        <p:strVal val="visible"/>
                                      </p:to>
                                    </p:set>
                                    <p:animEffect transition="in" filter="fade">
                                      <p:cBhvr>
                                        <p:cTn id="20" dur="500"/>
                                        <p:tgtEl>
                                          <p:spTgt spid="50179">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0179">
                                            <p:txEl>
                                              <p:pRg st="4" end="4"/>
                                            </p:txEl>
                                          </p:spTgt>
                                        </p:tgtEl>
                                        <p:attrNameLst>
                                          <p:attrName>style.visibility</p:attrName>
                                        </p:attrNameLst>
                                      </p:cBhvr>
                                      <p:to>
                                        <p:strVal val="visible"/>
                                      </p:to>
                                    </p:set>
                                    <p:animEffect transition="in" filter="fade">
                                      <p:cBhvr>
                                        <p:cTn id="25" dur="500"/>
                                        <p:tgtEl>
                                          <p:spTgt spid="50179">
                                            <p:txEl>
                                              <p:pRg st="4" end="4"/>
                                            </p:txEl>
                                          </p:spTgt>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50179">
                                            <p:txEl>
                                              <p:pRg st="5" end="5"/>
                                            </p:txEl>
                                          </p:spTgt>
                                        </p:tgtEl>
                                        <p:attrNameLst>
                                          <p:attrName>style.visibility</p:attrName>
                                        </p:attrNameLst>
                                      </p:cBhvr>
                                      <p:to>
                                        <p:strVal val="visible"/>
                                      </p:to>
                                    </p:set>
                                    <p:animEffect transition="in" filter="fade">
                                      <p:cBhvr>
                                        <p:cTn id="29" dur="500"/>
                                        <p:tgtEl>
                                          <p:spTgt spid="501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内容占位符 2"/>
          <p:cNvSpPr>
            <a:spLocks noGrp="1"/>
          </p:cNvSpPr>
          <p:nvPr>
            <p:ph idx="1"/>
          </p:nvPr>
        </p:nvSpPr>
        <p:spPr>
          <a:xfrm>
            <a:off x="214313" y="857250"/>
            <a:ext cx="8572500" cy="1000125"/>
          </a:xfrm>
        </p:spPr>
        <p:txBody>
          <a:bodyPr/>
          <a:lstStyle/>
          <a:p>
            <a:pPr>
              <a:buFont typeface="Wingdings" panose="05000000000000000000" pitchFamily="2" charset="2"/>
              <a:buNone/>
              <a:defRPr/>
            </a:pPr>
            <a:r>
              <a:rPr lang="en-US" altLang="zh-CN" sz="1800" b="1" dirty="0">
                <a:solidFill>
                  <a:schemeClr val="accent6"/>
                </a:solidFill>
              </a:rPr>
              <a:t>1. </a:t>
            </a:r>
            <a:r>
              <a:rPr lang="zh-CN" altLang="zh-CN" sz="1800" b="1" dirty="0">
                <a:solidFill>
                  <a:schemeClr val="accent6"/>
                </a:solidFill>
              </a:rPr>
              <a:t>蠕虫病毒的区别及联系</a:t>
            </a:r>
          </a:p>
          <a:p>
            <a:pPr indent="-36195">
              <a:defRPr/>
            </a:pPr>
            <a:r>
              <a:rPr lang="zh-CN" altLang="zh-CN" sz="1400" b="1" dirty="0"/>
              <a:t>蠕虫的最大特点是</a:t>
            </a:r>
            <a:r>
              <a:rPr lang="zh-CN" altLang="zh-CN" sz="1400" b="1" dirty="0">
                <a:solidFill>
                  <a:srgbClr val="FF0000"/>
                </a:solidFill>
              </a:rPr>
              <a:t>利用</a:t>
            </a:r>
            <a:r>
              <a:rPr lang="zh-CN" altLang="zh-CN" sz="1400" b="1" dirty="0">
                <a:solidFill>
                  <a:srgbClr val="0033CC"/>
                </a:solidFill>
              </a:rPr>
              <a:t>各种安全漏洞</a:t>
            </a:r>
            <a:r>
              <a:rPr lang="zh-CN" altLang="zh-CN" sz="1400" b="1" dirty="0">
                <a:solidFill>
                  <a:srgbClr val="FF0000"/>
                </a:solidFill>
              </a:rPr>
              <a:t>进行自动传播</a:t>
            </a:r>
            <a:r>
              <a:rPr lang="zh-CN" altLang="zh-CN" sz="1400" b="1" dirty="0"/>
              <a:t>。蠕虫和病毒都具有传染性和复制</a:t>
            </a:r>
            <a:r>
              <a:rPr lang="zh-CN" altLang="en-US" sz="1400" b="1" dirty="0"/>
              <a:t>功能</a:t>
            </a:r>
            <a:r>
              <a:rPr lang="zh-CN" altLang="zh-CN" sz="1400" b="1" dirty="0"/>
              <a:t>，但是两者还是有区别，如</a:t>
            </a:r>
            <a:r>
              <a:rPr lang="zh-CN" altLang="en-US" sz="1400" b="1" dirty="0"/>
              <a:t>下表</a:t>
            </a:r>
            <a:r>
              <a:rPr lang="zh-CN" altLang="zh-CN" sz="1400" b="1" dirty="0"/>
              <a:t>所示。了解这些区别有利于采取有针对性的措施进行防治。</a:t>
            </a:r>
          </a:p>
        </p:txBody>
      </p:sp>
      <p:sp>
        <p:nvSpPr>
          <p:cNvPr id="7"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9.4.3 </a:t>
            </a:r>
            <a:r>
              <a:rPr altLang="en-US" sz="2000" dirty="0"/>
              <a:t>蠕虫的机理与防治</a:t>
            </a:r>
          </a:p>
        </p:txBody>
      </p:sp>
      <p:grpSp>
        <p:nvGrpSpPr>
          <p:cNvPr id="2" name="Group 8"/>
          <p:cNvGrpSpPr>
            <a:grpSpLocks noChangeAspect="1"/>
          </p:cNvGrpSpPr>
          <p:nvPr/>
        </p:nvGrpSpPr>
        <p:grpSpPr bwMode="auto">
          <a:xfrm>
            <a:off x="1214438" y="1928813"/>
            <a:ext cx="6408737" cy="2974975"/>
            <a:chOff x="765" y="1215"/>
            <a:chExt cx="4037" cy="1874"/>
          </a:xfrm>
        </p:grpSpPr>
        <p:sp>
          <p:nvSpPr>
            <p:cNvPr id="67592" name="AutoShape 7"/>
            <p:cNvSpPr>
              <a:spLocks noChangeAspect="1" noChangeArrowheads="1" noTextEdit="1"/>
            </p:cNvSpPr>
            <p:nvPr/>
          </p:nvSpPr>
          <p:spPr bwMode="auto">
            <a:xfrm>
              <a:off x="765" y="1215"/>
              <a:ext cx="4037" cy="1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7593" name="Rectangle 9"/>
            <p:cNvSpPr>
              <a:spLocks noChangeArrowheads="1"/>
            </p:cNvSpPr>
            <p:nvPr/>
          </p:nvSpPr>
          <p:spPr bwMode="auto">
            <a:xfrm>
              <a:off x="2375" y="1240"/>
              <a:ext cx="840"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300" b="1">
                  <a:solidFill>
                    <a:srgbClr val="000000"/>
                  </a:solidFill>
                  <a:latin typeface="宋体" panose="02010600030101010101" pitchFamily="2" charset="-122"/>
                </a:rPr>
                <a:t>蠕虫和病毒的区别</a:t>
              </a:r>
              <a:endParaRPr lang="zh-CN" altLang="en-US" b="1"/>
            </a:p>
          </p:txBody>
        </p:sp>
        <p:sp>
          <p:nvSpPr>
            <p:cNvPr id="67594" name="Rectangle 10"/>
            <p:cNvSpPr>
              <a:spLocks noChangeArrowheads="1"/>
            </p:cNvSpPr>
            <p:nvPr/>
          </p:nvSpPr>
          <p:spPr bwMode="auto">
            <a:xfrm>
              <a:off x="3191" y="1236"/>
              <a:ext cx="26"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300" b="1">
                  <a:solidFill>
                    <a:srgbClr val="000000"/>
                  </a:solidFill>
                  <a:latin typeface="Times New Roman" panose="02020603050405020304" pitchFamily="18" charset="0"/>
                </a:rPr>
                <a:t> </a:t>
              </a:r>
              <a:endParaRPr lang="zh-CN" altLang="zh-CN" b="1"/>
            </a:p>
          </p:txBody>
        </p:sp>
        <p:sp>
          <p:nvSpPr>
            <p:cNvPr id="67595" name="Rectangle 11"/>
            <p:cNvSpPr>
              <a:spLocks noChangeArrowheads="1"/>
            </p:cNvSpPr>
            <p:nvPr/>
          </p:nvSpPr>
          <p:spPr bwMode="auto">
            <a:xfrm>
              <a:off x="1455" y="1403"/>
              <a:ext cx="178"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0000"/>
                  </a:solidFill>
                  <a:latin typeface="宋体" panose="02010600030101010101" pitchFamily="2" charset="-122"/>
                </a:rPr>
                <a:t>属性</a:t>
              </a:r>
              <a:endParaRPr lang="zh-CN" altLang="en-US" b="1"/>
            </a:p>
          </p:txBody>
        </p:sp>
        <p:sp>
          <p:nvSpPr>
            <p:cNvPr id="67596" name="Rectangle 12"/>
            <p:cNvSpPr>
              <a:spLocks noChangeArrowheads="1"/>
            </p:cNvSpPr>
            <p:nvPr/>
          </p:nvSpPr>
          <p:spPr bwMode="auto">
            <a:xfrm>
              <a:off x="1632" y="1403"/>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597" name="Rectangle 13"/>
            <p:cNvSpPr>
              <a:spLocks noChangeArrowheads="1"/>
            </p:cNvSpPr>
            <p:nvPr/>
          </p:nvSpPr>
          <p:spPr bwMode="auto">
            <a:xfrm>
              <a:off x="2453" y="1403"/>
              <a:ext cx="178"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FF0000"/>
                  </a:solidFill>
                  <a:latin typeface="宋体" panose="02010600030101010101" pitchFamily="2" charset="-122"/>
                </a:rPr>
                <a:t>病毒</a:t>
              </a:r>
              <a:endParaRPr lang="zh-CN" altLang="en-US" b="1">
                <a:solidFill>
                  <a:srgbClr val="FF0000"/>
                </a:solidFill>
              </a:endParaRPr>
            </a:p>
          </p:txBody>
        </p:sp>
        <p:sp>
          <p:nvSpPr>
            <p:cNvPr id="67598" name="Rectangle 14"/>
            <p:cNvSpPr>
              <a:spLocks noChangeArrowheads="1"/>
            </p:cNvSpPr>
            <p:nvPr/>
          </p:nvSpPr>
          <p:spPr bwMode="auto">
            <a:xfrm>
              <a:off x="2629" y="1403"/>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599" name="Rectangle 15"/>
            <p:cNvSpPr>
              <a:spLocks noChangeArrowheads="1"/>
            </p:cNvSpPr>
            <p:nvPr/>
          </p:nvSpPr>
          <p:spPr bwMode="auto">
            <a:xfrm>
              <a:off x="3693" y="1403"/>
              <a:ext cx="178"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FF0000"/>
                  </a:solidFill>
                  <a:latin typeface="宋体" panose="02010600030101010101" pitchFamily="2" charset="-122"/>
                </a:rPr>
                <a:t>蠕虫</a:t>
              </a:r>
              <a:endParaRPr lang="zh-CN" altLang="en-US" b="1">
                <a:solidFill>
                  <a:srgbClr val="FF0000"/>
                </a:solidFill>
              </a:endParaRPr>
            </a:p>
          </p:txBody>
        </p:sp>
        <p:sp>
          <p:nvSpPr>
            <p:cNvPr id="67600" name="Rectangle 16"/>
            <p:cNvSpPr>
              <a:spLocks noChangeArrowheads="1"/>
            </p:cNvSpPr>
            <p:nvPr/>
          </p:nvSpPr>
          <p:spPr bwMode="auto">
            <a:xfrm>
              <a:off x="3869" y="1403"/>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601" name="Rectangle 17"/>
            <p:cNvSpPr>
              <a:spLocks noChangeArrowheads="1"/>
            </p:cNvSpPr>
            <p:nvPr/>
          </p:nvSpPr>
          <p:spPr bwMode="auto">
            <a:xfrm>
              <a:off x="1129" y="1367"/>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02" name="Rectangle 18"/>
            <p:cNvSpPr>
              <a:spLocks noChangeArrowheads="1"/>
            </p:cNvSpPr>
            <p:nvPr/>
          </p:nvSpPr>
          <p:spPr bwMode="auto">
            <a:xfrm>
              <a:off x="1129" y="1367"/>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03" name="Rectangle 19"/>
            <p:cNvSpPr>
              <a:spLocks noChangeArrowheads="1"/>
            </p:cNvSpPr>
            <p:nvPr/>
          </p:nvSpPr>
          <p:spPr bwMode="auto">
            <a:xfrm>
              <a:off x="1134" y="1367"/>
              <a:ext cx="820"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04" name="Rectangle 20"/>
            <p:cNvSpPr>
              <a:spLocks noChangeArrowheads="1"/>
            </p:cNvSpPr>
            <p:nvPr/>
          </p:nvSpPr>
          <p:spPr bwMode="auto">
            <a:xfrm>
              <a:off x="1954" y="1367"/>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05" name="Rectangle 21"/>
            <p:cNvSpPr>
              <a:spLocks noChangeArrowheads="1"/>
            </p:cNvSpPr>
            <p:nvPr/>
          </p:nvSpPr>
          <p:spPr bwMode="auto">
            <a:xfrm>
              <a:off x="1958" y="1367"/>
              <a:ext cx="116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06" name="Rectangle 22"/>
            <p:cNvSpPr>
              <a:spLocks noChangeArrowheads="1"/>
            </p:cNvSpPr>
            <p:nvPr/>
          </p:nvSpPr>
          <p:spPr bwMode="auto">
            <a:xfrm>
              <a:off x="3125" y="1367"/>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07" name="Rectangle 23"/>
            <p:cNvSpPr>
              <a:spLocks noChangeArrowheads="1"/>
            </p:cNvSpPr>
            <p:nvPr/>
          </p:nvSpPr>
          <p:spPr bwMode="auto">
            <a:xfrm>
              <a:off x="3129" y="1367"/>
              <a:ext cx="130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08" name="Rectangle 24"/>
            <p:cNvSpPr>
              <a:spLocks noChangeArrowheads="1"/>
            </p:cNvSpPr>
            <p:nvPr/>
          </p:nvSpPr>
          <p:spPr bwMode="auto">
            <a:xfrm>
              <a:off x="4433" y="1367"/>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09" name="Rectangle 25"/>
            <p:cNvSpPr>
              <a:spLocks noChangeArrowheads="1"/>
            </p:cNvSpPr>
            <p:nvPr/>
          </p:nvSpPr>
          <p:spPr bwMode="auto">
            <a:xfrm>
              <a:off x="4433" y="1367"/>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10" name="Rectangle 26"/>
            <p:cNvSpPr>
              <a:spLocks noChangeArrowheads="1"/>
            </p:cNvSpPr>
            <p:nvPr/>
          </p:nvSpPr>
          <p:spPr bwMode="auto">
            <a:xfrm>
              <a:off x="1129" y="1371"/>
              <a:ext cx="5"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11" name="Rectangle 27"/>
            <p:cNvSpPr>
              <a:spLocks noChangeArrowheads="1"/>
            </p:cNvSpPr>
            <p:nvPr/>
          </p:nvSpPr>
          <p:spPr bwMode="auto">
            <a:xfrm>
              <a:off x="1954" y="1371"/>
              <a:ext cx="4"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12" name="Rectangle 28"/>
            <p:cNvSpPr>
              <a:spLocks noChangeArrowheads="1"/>
            </p:cNvSpPr>
            <p:nvPr/>
          </p:nvSpPr>
          <p:spPr bwMode="auto">
            <a:xfrm>
              <a:off x="3125" y="1371"/>
              <a:ext cx="4"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13" name="Rectangle 29"/>
            <p:cNvSpPr>
              <a:spLocks noChangeArrowheads="1"/>
            </p:cNvSpPr>
            <p:nvPr/>
          </p:nvSpPr>
          <p:spPr bwMode="auto">
            <a:xfrm>
              <a:off x="4433" y="1371"/>
              <a:ext cx="5"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14" name="Rectangle 30"/>
            <p:cNvSpPr>
              <a:spLocks noChangeArrowheads="1"/>
            </p:cNvSpPr>
            <p:nvPr/>
          </p:nvSpPr>
          <p:spPr bwMode="auto">
            <a:xfrm>
              <a:off x="1184" y="1559"/>
              <a:ext cx="355"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FF0000"/>
                  </a:solidFill>
                  <a:latin typeface="宋体" panose="02010600030101010101" pitchFamily="2" charset="-122"/>
                </a:rPr>
                <a:t>存在形式</a:t>
              </a:r>
              <a:endParaRPr lang="zh-CN" altLang="en-US" b="1">
                <a:solidFill>
                  <a:srgbClr val="FF0000"/>
                </a:solidFill>
              </a:endParaRPr>
            </a:p>
          </p:txBody>
        </p:sp>
        <p:sp>
          <p:nvSpPr>
            <p:cNvPr id="67615" name="Rectangle 31"/>
            <p:cNvSpPr>
              <a:spLocks noChangeArrowheads="1"/>
            </p:cNvSpPr>
            <p:nvPr/>
          </p:nvSpPr>
          <p:spPr bwMode="auto">
            <a:xfrm>
              <a:off x="1534" y="1559"/>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616" name="Rectangle 32"/>
            <p:cNvSpPr>
              <a:spLocks noChangeArrowheads="1"/>
            </p:cNvSpPr>
            <p:nvPr/>
          </p:nvSpPr>
          <p:spPr bwMode="auto">
            <a:xfrm>
              <a:off x="2008" y="1559"/>
              <a:ext cx="178"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FF0000"/>
                  </a:solidFill>
                  <a:latin typeface="宋体" panose="02010600030101010101" pitchFamily="2" charset="-122"/>
                </a:rPr>
                <a:t>寄生</a:t>
              </a:r>
              <a:endParaRPr lang="zh-CN" altLang="en-US" b="1">
                <a:solidFill>
                  <a:srgbClr val="FF0000"/>
                </a:solidFill>
              </a:endParaRPr>
            </a:p>
          </p:txBody>
        </p:sp>
        <p:sp>
          <p:nvSpPr>
            <p:cNvPr id="67617" name="Rectangle 33"/>
            <p:cNvSpPr>
              <a:spLocks noChangeArrowheads="1"/>
            </p:cNvSpPr>
            <p:nvPr/>
          </p:nvSpPr>
          <p:spPr bwMode="auto">
            <a:xfrm>
              <a:off x="2183" y="1559"/>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618" name="Rectangle 34"/>
            <p:cNvSpPr>
              <a:spLocks noChangeArrowheads="1"/>
            </p:cNvSpPr>
            <p:nvPr/>
          </p:nvSpPr>
          <p:spPr bwMode="auto">
            <a:xfrm>
              <a:off x="3179" y="1559"/>
              <a:ext cx="355"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FF0000"/>
                  </a:solidFill>
                  <a:latin typeface="宋体" panose="02010600030101010101" pitchFamily="2" charset="-122"/>
                </a:rPr>
                <a:t>独立个体</a:t>
              </a:r>
              <a:endParaRPr lang="zh-CN" altLang="en-US" b="1">
                <a:solidFill>
                  <a:srgbClr val="FF0000"/>
                </a:solidFill>
              </a:endParaRPr>
            </a:p>
          </p:txBody>
        </p:sp>
        <p:sp>
          <p:nvSpPr>
            <p:cNvPr id="67619" name="Rectangle 35"/>
            <p:cNvSpPr>
              <a:spLocks noChangeArrowheads="1"/>
            </p:cNvSpPr>
            <p:nvPr/>
          </p:nvSpPr>
          <p:spPr bwMode="auto">
            <a:xfrm>
              <a:off x="3529" y="1559"/>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620" name="Rectangle 36"/>
            <p:cNvSpPr>
              <a:spLocks noChangeArrowheads="1"/>
            </p:cNvSpPr>
            <p:nvPr/>
          </p:nvSpPr>
          <p:spPr bwMode="auto">
            <a:xfrm>
              <a:off x="1129" y="1523"/>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21" name="Rectangle 37"/>
            <p:cNvSpPr>
              <a:spLocks noChangeArrowheads="1"/>
            </p:cNvSpPr>
            <p:nvPr/>
          </p:nvSpPr>
          <p:spPr bwMode="auto">
            <a:xfrm>
              <a:off x="1134" y="1523"/>
              <a:ext cx="820"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22" name="Rectangle 38"/>
            <p:cNvSpPr>
              <a:spLocks noChangeArrowheads="1"/>
            </p:cNvSpPr>
            <p:nvPr/>
          </p:nvSpPr>
          <p:spPr bwMode="auto">
            <a:xfrm>
              <a:off x="1954" y="1523"/>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23" name="Rectangle 39"/>
            <p:cNvSpPr>
              <a:spLocks noChangeArrowheads="1"/>
            </p:cNvSpPr>
            <p:nvPr/>
          </p:nvSpPr>
          <p:spPr bwMode="auto">
            <a:xfrm>
              <a:off x="1958" y="1523"/>
              <a:ext cx="116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24" name="Rectangle 40"/>
            <p:cNvSpPr>
              <a:spLocks noChangeArrowheads="1"/>
            </p:cNvSpPr>
            <p:nvPr/>
          </p:nvSpPr>
          <p:spPr bwMode="auto">
            <a:xfrm>
              <a:off x="3125" y="1523"/>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25" name="Rectangle 41"/>
            <p:cNvSpPr>
              <a:spLocks noChangeArrowheads="1"/>
            </p:cNvSpPr>
            <p:nvPr/>
          </p:nvSpPr>
          <p:spPr bwMode="auto">
            <a:xfrm>
              <a:off x="3129" y="1523"/>
              <a:ext cx="130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26" name="Rectangle 42"/>
            <p:cNvSpPr>
              <a:spLocks noChangeArrowheads="1"/>
            </p:cNvSpPr>
            <p:nvPr/>
          </p:nvSpPr>
          <p:spPr bwMode="auto">
            <a:xfrm>
              <a:off x="4433" y="1523"/>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27" name="Rectangle 43"/>
            <p:cNvSpPr>
              <a:spLocks noChangeArrowheads="1"/>
            </p:cNvSpPr>
            <p:nvPr/>
          </p:nvSpPr>
          <p:spPr bwMode="auto">
            <a:xfrm>
              <a:off x="1129" y="1528"/>
              <a:ext cx="5" cy="15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28" name="Rectangle 44"/>
            <p:cNvSpPr>
              <a:spLocks noChangeArrowheads="1"/>
            </p:cNvSpPr>
            <p:nvPr/>
          </p:nvSpPr>
          <p:spPr bwMode="auto">
            <a:xfrm>
              <a:off x="1954" y="1528"/>
              <a:ext cx="4" cy="15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29" name="Rectangle 45"/>
            <p:cNvSpPr>
              <a:spLocks noChangeArrowheads="1"/>
            </p:cNvSpPr>
            <p:nvPr/>
          </p:nvSpPr>
          <p:spPr bwMode="auto">
            <a:xfrm>
              <a:off x="3125" y="1528"/>
              <a:ext cx="4" cy="15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30" name="Rectangle 46"/>
            <p:cNvSpPr>
              <a:spLocks noChangeArrowheads="1"/>
            </p:cNvSpPr>
            <p:nvPr/>
          </p:nvSpPr>
          <p:spPr bwMode="auto">
            <a:xfrm>
              <a:off x="4433" y="1528"/>
              <a:ext cx="5" cy="15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31" name="Rectangle 47"/>
            <p:cNvSpPr>
              <a:spLocks noChangeArrowheads="1"/>
            </p:cNvSpPr>
            <p:nvPr/>
          </p:nvSpPr>
          <p:spPr bwMode="auto">
            <a:xfrm>
              <a:off x="1184" y="1715"/>
              <a:ext cx="355"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0000"/>
                  </a:solidFill>
                  <a:latin typeface="宋体" panose="02010600030101010101" pitchFamily="2" charset="-122"/>
                </a:rPr>
                <a:t>复制机制</a:t>
              </a:r>
              <a:endParaRPr lang="zh-CN" altLang="en-US" b="1"/>
            </a:p>
          </p:txBody>
        </p:sp>
        <p:sp>
          <p:nvSpPr>
            <p:cNvPr id="67632" name="Rectangle 48"/>
            <p:cNvSpPr>
              <a:spLocks noChangeArrowheads="1"/>
            </p:cNvSpPr>
            <p:nvPr/>
          </p:nvSpPr>
          <p:spPr bwMode="auto">
            <a:xfrm>
              <a:off x="1534" y="1715"/>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633" name="Rectangle 49"/>
            <p:cNvSpPr>
              <a:spLocks noChangeArrowheads="1"/>
            </p:cNvSpPr>
            <p:nvPr/>
          </p:nvSpPr>
          <p:spPr bwMode="auto">
            <a:xfrm>
              <a:off x="2008" y="1715"/>
              <a:ext cx="1066"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0000"/>
                  </a:solidFill>
                  <a:latin typeface="宋体" panose="02010600030101010101" pitchFamily="2" charset="-122"/>
                </a:rPr>
                <a:t>插入到宿主程序（文件）中</a:t>
              </a:r>
              <a:endParaRPr lang="zh-CN" altLang="en-US" b="1"/>
            </a:p>
          </p:txBody>
        </p:sp>
        <p:sp>
          <p:nvSpPr>
            <p:cNvPr id="67634" name="Rectangle 50"/>
            <p:cNvSpPr>
              <a:spLocks noChangeArrowheads="1"/>
            </p:cNvSpPr>
            <p:nvPr/>
          </p:nvSpPr>
          <p:spPr bwMode="auto">
            <a:xfrm>
              <a:off x="3058" y="1715"/>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635" name="Rectangle 51"/>
            <p:cNvSpPr>
              <a:spLocks noChangeArrowheads="1"/>
            </p:cNvSpPr>
            <p:nvPr/>
          </p:nvSpPr>
          <p:spPr bwMode="auto">
            <a:xfrm>
              <a:off x="3179" y="1715"/>
              <a:ext cx="4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0000"/>
                  </a:solidFill>
                  <a:latin typeface="宋体" panose="02010600030101010101" pitchFamily="2" charset="-122"/>
                </a:rPr>
                <a:t>自身的复制</a:t>
              </a:r>
              <a:endParaRPr lang="zh-CN" altLang="en-US" b="1"/>
            </a:p>
          </p:txBody>
        </p:sp>
        <p:sp>
          <p:nvSpPr>
            <p:cNvPr id="67636" name="Rectangle 52"/>
            <p:cNvSpPr>
              <a:spLocks noChangeArrowheads="1"/>
            </p:cNvSpPr>
            <p:nvPr/>
          </p:nvSpPr>
          <p:spPr bwMode="auto">
            <a:xfrm>
              <a:off x="3617" y="1715"/>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637" name="Rectangle 53"/>
            <p:cNvSpPr>
              <a:spLocks noChangeArrowheads="1"/>
            </p:cNvSpPr>
            <p:nvPr/>
          </p:nvSpPr>
          <p:spPr bwMode="auto">
            <a:xfrm>
              <a:off x="1129" y="167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38" name="Rectangle 54"/>
            <p:cNvSpPr>
              <a:spLocks noChangeArrowheads="1"/>
            </p:cNvSpPr>
            <p:nvPr/>
          </p:nvSpPr>
          <p:spPr bwMode="auto">
            <a:xfrm>
              <a:off x="1134" y="1679"/>
              <a:ext cx="820"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39" name="Rectangle 55"/>
            <p:cNvSpPr>
              <a:spLocks noChangeArrowheads="1"/>
            </p:cNvSpPr>
            <p:nvPr/>
          </p:nvSpPr>
          <p:spPr bwMode="auto">
            <a:xfrm>
              <a:off x="1954" y="1679"/>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40" name="Rectangle 56"/>
            <p:cNvSpPr>
              <a:spLocks noChangeArrowheads="1"/>
            </p:cNvSpPr>
            <p:nvPr/>
          </p:nvSpPr>
          <p:spPr bwMode="auto">
            <a:xfrm>
              <a:off x="1958" y="1679"/>
              <a:ext cx="116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41" name="Rectangle 57"/>
            <p:cNvSpPr>
              <a:spLocks noChangeArrowheads="1"/>
            </p:cNvSpPr>
            <p:nvPr/>
          </p:nvSpPr>
          <p:spPr bwMode="auto">
            <a:xfrm>
              <a:off x="3125" y="1679"/>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42" name="Rectangle 58"/>
            <p:cNvSpPr>
              <a:spLocks noChangeArrowheads="1"/>
            </p:cNvSpPr>
            <p:nvPr/>
          </p:nvSpPr>
          <p:spPr bwMode="auto">
            <a:xfrm>
              <a:off x="3129" y="1679"/>
              <a:ext cx="130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43" name="Rectangle 59"/>
            <p:cNvSpPr>
              <a:spLocks noChangeArrowheads="1"/>
            </p:cNvSpPr>
            <p:nvPr/>
          </p:nvSpPr>
          <p:spPr bwMode="auto">
            <a:xfrm>
              <a:off x="4433" y="167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44" name="Rectangle 60"/>
            <p:cNvSpPr>
              <a:spLocks noChangeArrowheads="1"/>
            </p:cNvSpPr>
            <p:nvPr/>
          </p:nvSpPr>
          <p:spPr bwMode="auto">
            <a:xfrm>
              <a:off x="1129" y="1684"/>
              <a:ext cx="5"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45" name="Rectangle 61"/>
            <p:cNvSpPr>
              <a:spLocks noChangeArrowheads="1"/>
            </p:cNvSpPr>
            <p:nvPr/>
          </p:nvSpPr>
          <p:spPr bwMode="auto">
            <a:xfrm>
              <a:off x="1954" y="1684"/>
              <a:ext cx="4"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46" name="Rectangle 62"/>
            <p:cNvSpPr>
              <a:spLocks noChangeArrowheads="1"/>
            </p:cNvSpPr>
            <p:nvPr/>
          </p:nvSpPr>
          <p:spPr bwMode="auto">
            <a:xfrm>
              <a:off x="3125" y="1684"/>
              <a:ext cx="4"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47" name="Rectangle 63"/>
            <p:cNvSpPr>
              <a:spLocks noChangeArrowheads="1"/>
            </p:cNvSpPr>
            <p:nvPr/>
          </p:nvSpPr>
          <p:spPr bwMode="auto">
            <a:xfrm>
              <a:off x="4433" y="1684"/>
              <a:ext cx="5"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48" name="Rectangle 64"/>
            <p:cNvSpPr>
              <a:spLocks noChangeArrowheads="1"/>
            </p:cNvSpPr>
            <p:nvPr/>
          </p:nvSpPr>
          <p:spPr bwMode="auto">
            <a:xfrm>
              <a:off x="1184" y="1873"/>
              <a:ext cx="355"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33CC"/>
                  </a:solidFill>
                  <a:latin typeface="宋体" panose="02010600030101010101" pitchFamily="2" charset="-122"/>
                </a:rPr>
                <a:t>传染机制</a:t>
              </a:r>
              <a:endParaRPr lang="zh-CN" altLang="en-US" b="1">
                <a:solidFill>
                  <a:srgbClr val="0033CC"/>
                </a:solidFill>
              </a:endParaRPr>
            </a:p>
          </p:txBody>
        </p:sp>
        <p:sp>
          <p:nvSpPr>
            <p:cNvPr id="67649" name="Rectangle 65"/>
            <p:cNvSpPr>
              <a:spLocks noChangeArrowheads="1"/>
            </p:cNvSpPr>
            <p:nvPr/>
          </p:nvSpPr>
          <p:spPr bwMode="auto">
            <a:xfrm>
              <a:off x="1534" y="1873"/>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650" name="Rectangle 66"/>
            <p:cNvSpPr>
              <a:spLocks noChangeArrowheads="1"/>
            </p:cNvSpPr>
            <p:nvPr/>
          </p:nvSpPr>
          <p:spPr bwMode="auto">
            <a:xfrm>
              <a:off x="2008" y="1873"/>
              <a:ext cx="533"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33CC"/>
                  </a:solidFill>
                  <a:latin typeface="宋体" panose="02010600030101010101" pitchFamily="2" charset="-122"/>
                </a:rPr>
                <a:t>宿主程序运行</a:t>
              </a:r>
              <a:endParaRPr lang="zh-CN" altLang="en-US" b="1">
                <a:solidFill>
                  <a:srgbClr val="0033CC"/>
                </a:solidFill>
              </a:endParaRPr>
            </a:p>
          </p:txBody>
        </p:sp>
        <p:sp>
          <p:nvSpPr>
            <p:cNvPr id="67651" name="Rectangle 67"/>
            <p:cNvSpPr>
              <a:spLocks noChangeArrowheads="1"/>
            </p:cNvSpPr>
            <p:nvPr/>
          </p:nvSpPr>
          <p:spPr bwMode="auto">
            <a:xfrm>
              <a:off x="2533" y="1873"/>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652" name="Rectangle 68"/>
            <p:cNvSpPr>
              <a:spLocks noChangeArrowheads="1"/>
            </p:cNvSpPr>
            <p:nvPr/>
          </p:nvSpPr>
          <p:spPr bwMode="auto">
            <a:xfrm>
              <a:off x="3179" y="1873"/>
              <a:ext cx="533"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33CC"/>
                  </a:solidFill>
                  <a:latin typeface="宋体" panose="02010600030101010101" pitchFamily="2" charset="-122"/>
                </a:rPr>
                <a:t>系统存在漏洞</a:t>
              </a:r>
              <a:endParaRPr lang="zh-CN" altLang="en-US" b="1">
                <a:solidFill>
                  <a:srgbClr val="0033CC"/>
                </a:solidFill>
              </a:endParaRPr>
            </a:p>
          </p:txBody>
        </p:sp>
        <p:sp>
          <p:nvSpPr>
            <p:cNvPr id="67653" name="Rectangle 69"/>
            <p:cNvSpPr>
              <a:spLocks noChangeArrowheads="1"/>
            </p:cNvSpPr>
            <p:nvPr/>
          </p:nvSpPr>
          <p:spPr bwMode="auto">
            <a:xfrm>
              <a:off x="3704" y="1873"/>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654" name="Rectangle 70"/>
            <p:cNvSpPr>
              <a:spLocks noChangeArrowheads="1"/>
            </p:cNvSpPr>
            <p:nvPr/>
          </p:nvSpPr>
          <p:spPr bwMode="auto">
            <a:xfrm>
              <a:off x="1129" y="1836"/>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55" name="Rectangle 71"/>
            <p:cNvSpPr>
              <a:spLocks noChangeArrowheads="1"/>
            </p:cNvSpPr>
            <p:nvPr/>
          </p:nvSpPr>
          <p:spPr bwMode="auto">
            <a:xfrm>
              <a:off x="1134" y="1836"/>
              <a:ext cx="820"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56" name="Rectangle 72"/>
            <p:cNvSpPr>
              <a:spLocks noChangeArrowheads="1"/>
            </p:cNvSpPr>
            <p:nvPr/>
          </p:nvSpPr>
          <p:spPr bwMode="auto">
            <a:xfrm>
              <a:off x="1954" y="1836"/>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57" name="Rectangle 73"/>
            <p:cNvSpPr>
              <a:spLocks noChangeArrowheads="1"/>
            </p:cNvSpPr>
            <p:nvPr/>
          </p:nvSpPr>
          <p:spPr bwMode="auto">
            <a:xfrm>
              <a:off x="1958" y="1836"/>
              <a:ext cx="116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58" name="Rectangle 74"/>
            <p:cNvSpPr>
              <a:spLocks noChangeArrowheads="1"/>
            </p:cNvSpPr>
            <p:nvPr/>
          </p:nvSpPr>
          <p:spPr bwMode="auto">
            <a:xfrm>
              <a:off x="3125" y="1836"/>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59" name="Rectangle 75"/>
            <p:cNvSpPr>
              <a:spLocks noChangeArrowheads="1"/>
            </p:cNvSpPr>
            <p:nvPr/>
          </p:nvSpPr>
          <p:spPr bwMode="auto">
            <a:xfrm>
              <a:off x="3129" y="1836"/>
              <a:ext cx="130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60" name="Rectangle 76"/>
            <p:cNvSpPr>
              <a:spLocks noChangeArrowheads="1"/>
            </p:cNvSpPr>
            <p:nvPr/>
          </p:nvSpPr>
          <p:spPr bwMode="auto">
            <a:xfrm>
              <a:off x="4433" y="1836"/>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61" name="Rectangle 77"/>
            <p:cNvSpPr>
              <a:spLocks noChangeArrowheads="1"/>
            </p:cNvSpPr>
            <p:nvPr/>
          </p:nvSpPr>
          <p:spPr bwMode="auto">
            <a:xfrm>
              <a:off x="1129" y="1840"/>
              <a:ext cx="5" cy="15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62" name="Rectangle 78"/>
            <p:cNvSpPr>
              <a:spLocks noChangeArrowheads="1"/>
            </p:cNvSpPr>
            <p:nvPr/>
          </p:nvSpPr>
          <p:spPr bwMode="auto">
            <a:xfrm>
              <a:off x="1954" y="1840"/>
              <a:ext cx="4" cy="15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63" name="Rectangle 79"/>
            <p:cNvSpPr>
              <a:spLocks noChangeArrowheads="1"/>
            </p:cNvSpPr>
            <p:nvPr/>
          </p:nvSpPr>
          <p:spPr bwMode="auto">
            <a:xfrm>
              <a:off x="3125" y="1840"/>
              <a:ext cx="4" cy="15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64" name="Rectangle 80"/>
            <p:cNvSpPr>
              <a:spLocks noChangeArrowheads="1"/>
            </p:cNvSpPr>
            <p:nvPr/>
          </p:nvSpPr>
          <p:spPr bwMode="auto">
            <a:xfrm>
              <a:off x="4433" y="1840"/>
              <a:ext cx="5" cy="15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65" name="Rectangle 81"/>
            <p:cNvSpPr>
              <a:spLocks noChangeArrowheads="1"/>
            </p:cNvSpPr>
            <p:nvPr/>
          </p:nvSpPr>
          <p:spPr bwMode="auto">
            <a:xfrm>
              <a:off x="1184" y="2029"/>
              <a:ext cx="355"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33CC"/>
                  </a:solidFill>
                  <a:latin typeface="宋体" panose="02010600030101010101" pitchFamily="2" charset="-122"/>
                </a:rPr>
                <a:t>搜索机制</a:t>
              </a:r>
              <a:endParaRPr lang="zh-CN" altLang="en-US" b="1">
                <a:solidFill>
                  <a:srgbClr val="0033CC"/>
                </a:solidFill>
              </a:endParaRPr>
            </a:p>
          </p:txBody>
        </p:sp>
        <p:sp>
          <p:nvSpPr>
            <p:cNvPr id="67666" name="Rectangle 82"/>
            <p:cNvSpPr>
              <a:spLocks noChangeArrowheads="1"/>
            </p:cNvSpPr>
            <p:nvPr/>
          </p:nvSpPr>
          <p:spPr bwMode="auto">
            <a:xfrm>
              <a:off x="1534" y="2029"/>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667" name="Rectangle 83"/>
            <p:cNvSpPr>
              <a:spLocks noChangeArrowheads="1"/>
            </p:cNvSpPr>
            <p:nvPr/>
          </p:nvSpPr>
          <p:spPr bwMode="auto">
            <a:xfrm>
              <a:off x="2008" y="2029"/>
              <a:ext cx="711"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0000"/>
                  </a:solidFill>
                  <a:latin typeface="宋体" panose="02010600030101010101" pitchFamily="2" charset="-122"/>
                </a:rPr>
                <a:t>主要</a:t>
              </a:r>
              <a:r>
                <a:rPr lang="zh-CN" altLang="en-US" sz="1100" b="1">
                  <a:solidFill>
                    <a:srgbClr val="FF0000"/>
                  </a:solidFill>
                  <a:latin typeface="宋体" panose="02010600030101010101" pitchFamily="2" charset="-122"/>
                </a:rPr>
                <a:t>针对</a:t>
              </a:r>
              <a:r>
                <a:rPr lang="zh-CN" altLang="en-US" sz="1100" b="1">
                  <a:solidFill>
                    <a:srgbClr val="0033CC"/>
                  </a:solidFill>
                  <a:latin typeface="宋体" panose="02010600030101010101" pitchFamily="2" charset="-122"/>
                </a:rPr>
                <a:t>本地文件</a:t>
              </a:r>
              <a:endParaRPr lang="zh-CN" altLang="en-US" b="1">
                <a:solidFill>
                  <a:srgbClr val="0033CC"/>
                </a:solidFill>
              </a:endParaRPr>
            </a:p>
          </p:txBody>
        </p:sp>
        <p:sp>
          <p:nvSpPr>
            <p:cNvPr id="67668" name="Rectangle 84"/>
            <p:cNvSpPr>
              <a:spLocks noChangeArrowheads="1"/>
            </p:cNvSpPr>
            <p:nvPr/>
          </p:nvSpPr>
          <p:spPr bwMode="auto">
            <a:xfrm>
              <a:off x="2708" y="2029"/>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669" name="Rectangle 85"/>
            <p:cNvSpPr>
              <a:spLocks noChangeArrowheads="1"/>
            </p:cNvSpPr>
            <p:nvPr/>
          </p:nvSpPr>
          <p:spPr bwMode="auto">
            <a:xfrm>
              <a:off x="3179" y="2029"/>
              <a:ext cx="977"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0000"/>
                  </a:solidFill>
                  <a:latin typeface="宋体" panose="02010600030101010101" pitchFamily="2" charset="-122"/>
                </a:rPr>
                <a:t>主要</a:t>
              </a:r>
              <a:r>
                <a:rPr lang="zh-CN" altLang="en-US" sz="1100" b="1">
                  <a:solidFill>
                    <a:srgbClr val="FF0000"/>
                  </a:solidFill>
                  <a:latin typeface="宋体" panose="02010600030101010101" pitchFamily="2" charset="-122"/>
                </a:rPr>
                <a:t>针对</a:t>
              </a:r>
              <a:r>
                <a:rPr lang="zh-CN" altLang="en-US" sz="1100" b="1">
                  <a:solidFill>
                    <a:srgbClr val="0033CC"/>
                  </a:solidFill>
                  <a:latin typeface="宋体" panose="02010600030101010101" pitchFamily="2" charset="-122"/>
                </a:rPr>
                <a:t>网络上的计算机</a:t>
              </a:r>
              <a:endParaRPr lang="zh-CN" altLang="en-US" b="1">
                <a:solidFill>
                  <a:srgbClr val="0033CC"/>
                </a:solidFill>
              </a:endParaRPr>
            </a:p>
          </p:txBody>
        </p:sp>
        <p:sp>
          <p:nvSpPr>
            <p:cNvPr id="67670" name="Rectangle 86"/>
            <p:cNvSpPr>
              <a:spLocks noChangeArrowheads="1"/>
            </p:cNvSpPr>
            <p:nvPr/>
          </p:nvSpPr>
          <p:spPr bwMode="auto">
            <a:xfrm>
              <a:off x="4142" y="2029"/>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671" name="Rectangle 87"/>
            <p:cNvSpPr>
              <a:spLocks noChangeArrowheads="1"/>
            </p:cNvSpPr>
            <p:nvPr/>
          </p:nvSpPr>
          <p:spPr bwMode="auto">
            <a:xfrm>
              <a:off x="1129" y="1993"/>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72" name="Rectangle 88"/>
            <p:cNvSpPr>
              <a:spLocks noChangeArrowheads="1"/>
            </p:cNvSpPr>
            <p:nvPr/>
          </p:nvSpPr>
          <p:spPr bwMode="auto">
            <a:xfrm>
              <a:off x="1134" y="1993"/>
              <a:ext cx="820"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73" name="Rectangle 89"/>
            <p:cNvSpPr>
              <a:spLocks noChangeArrowheads="1"/>
            </p:cNvSpPr>
            <p:nvPr/>
          </p:nvSpPr>
          <p:spPr bwMode="auto">
            <a:xfrm>
              <a:off x="1954" y="1993"/>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74" name="Rectangle 90"/>
            <p:cNvSpPr>
              <a:spLocks noChangeArrowheads="1"/>
            </p:cNvSpPr>
            <p:nvPr/>
          </p:nvSpPr>
          <p:spPr bwMode="auto">
            <a:xfrm>
              <a:off x="1958" y="1993"/>
              <a:ext cx="116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75" name="Rectangle 91"/>
            <p:cNvSpPr>
              <a:spLocks noChangeArrowheads="1"/>
            </p:cNvSpPr>
            <p:nvPr/>
          </p:nvSpPr>
          <p:spPr bwMode="auto">
            <a:xfrm>
              <a:off x="3125" y="1993"/>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76" name="Rectangle 92"/>
            <p:cNvSpPr>
              <a:spLocks noChangeArrowheads="1"/>
            </p:cNvSpPr>
            <p:nvPr/>
          </p:nvSpPr>
          <p:spPr bwMode="auto">
            <a:xfrm>
              <a:off x="3129" y="1993"/>
              <a:ext cx="130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77" name="Rectangle 93"/>
            <p:cNvSpPr>
              <a:spLocks noChangeArrowheads="1"/>
            </p:cNvSpPr>
            <p:nvPr/>
          </p:nvSpPr>
          <p:spPr bwMode="auto">
            <a:xfrm>
              <a:off x="4433" y="1993"/>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78" name="Rectangle 94"/>
            <p:cNvSpPr>
              <a:spLocks noChangeArrowheads="1"/>
            </p:cNvSpPr>
            <p:nvPr/>
          </p:nvSpPr>
          <p:spPr bwMode="auto">
            <a:xfrm>
              <a:off x="1129" y="1998"/>
              <a:ext cx="5"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79" name="Rectangle 95"/>
            <p:cNvSpPr>
              <a:spLocks noChangeArrowheads="1"/>
            </p:cNvSpPr>
            <p:nvPr/>
          </p:nvSpPr>
          <p:spPr bwMode="auto">
            <a:xfrm>
              <a:off x="1954" y="1998"/>
              <a:ext cx="4"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80" name="Rectangle 96"/>
            <p:cNvSpPr>
              <a:spLocks noChangeArrowheads="1"/>
            </p:cNvSpPr>
            <p:nvPr/>
          </p:nvSpPr>
          <p:spPr bwMode="auto">
            <a:xfrm>
              <a:off x="3125" y="1998"/>
              <a:ext cx="4"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81" name="Rectangle 97"/>
            <p:cNvSpPr>
              <a:spLocks noChangeArrowheads="1"/>
            </p:cNvSpPr>
            <p:nvPr/>
          </p:nvSpPr>
          <p:spPr bwMode="auto">
            <a:xfrm>
              <a:off x="4433" y="1998"/>
              <a:ext cx="5"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82" name="Rectangle 98"/>
            <p:cNvSpPr>
              <a:spLocks noChangeArrowheads="1"/>
            </p:cNvSpPr>
            <p:nvPr/>
          </p:nvSpPr>
          <p:spPr bwMode="auto">
            <a:xfrm>
              <a:off x="1184" y="2186"/>
              <a:ext cx="355"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33CC"/>
                  </a:solidFill>
                  <a:latin typeface="宋体" panose="02010600030101010101" pitchFamily="2" charset="-122"/>
                </a:rPr>
                <a:t>触发传染</a:t>
              </a:r>
              <a:endParaRPr lang="zh-CN" altLang="en-US" b="1">
                <a:solidFill>
                  <a:srgbClr val="0033CC"/>
                </a:solidFill>
              </a:endParaRPr>
            </a:p>
          </p:txBody>
        </p:sp>
        <p:sp>
          <p:nvSpPr>
            <p:cNvPr id="67683" name="Rectangle 99"/>
            <p:cNvSpPr>
              <a:spLocks noChangeArrowheads="1"/>
            </p:cNvSpPr>
            <p:nvPr/>
          </p:nvSpPr>
          <p:spPr bwMode="auto">
            <a:xfrm>
              <a:off x="1534" y="2186"/>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684" name="Rectangle 100"/>
            <p:cNvSpPr>
              <a:spLocks noChangeArrowheads="1"/>
            </p:cNvSpPr>
            <p:nvPr/>
          </p:nvSpPr>
          <p:spPr bwMode="auto">
            <a:xfrm>
              <a:off x="2008" y="2186"/>
              <a:ext cx="533"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33CC"/>
                  </a:solidFill>
                  <a:latin typeface="宋体" panose="02010600030101010101" pitchFamily="2" charset="-122"/>
                </a:rPr>
                <a:t>计算机使用者</a:t>
              </a:r>
              <a:endParaRPr lang="zh-CN" altLang="en-US" b="1">
                <a:solidFill>
                  <a:srgbClr val="0033CC"/>
                </a:solidFill>
              </a:endParaRPr>
            </a:p>
          </p:txBody>
        </p:sp>
        <p:sp>
          <p:nvSpPr>
            <p:cNvPr id="67685" name="Rectangle 101"/>
            <p:cNvSpPr>
              <a:spLocks noChangeArrowheads="1"/>
            </p:cNvSpPr>
            <p:nvPr/>
          </p:nvSpPr>
          <p:spPr bwMode="auto">
            <a:xfrm>
              <a:off x="2533" y="2186"/>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686" name="Rectangle 102"/>
            <p:cNvSpPr>
              <a:spLocks noChangeArrowheads="1"/>
            </p:cNvSpPr>
            <p:nvPr/>
          </p:nvSpPr>
          <p:spPr bwMode="auto">
            <a:xfrm>
              <a:off x="3179" y="2186"/>
              <a:ext cx="355"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33CC"/>
                  </a:solidFill>
                  <a:latin typeface="宋体" panose="02010600030101010101" pitchFamily="2" charset="-122"/>
                </a:rPr>
                <a:t>程序自身</a:t>
              </a:r>
              <a:endParaRPr lang="zh-CN" altLang="en-US" b="1">
                <a:solidFill>
                  <a:srgbClr val="0033CC"/>
                </a:solidFill>
              </a:endParaRPr>
            </a:p>
          </p:txBody>
        </p:sp>
        <p:sp>
          <p:nvSpPr>
            <p:cNvPr id="67687" name="Rectangle 103"/>
            <p:cNvSpPr>
              <a:spLocks noChangeArrowheads="1"/>
            </p:cNvSpPr>
            <p:nvPr/>
          </p:nvSpPr>
          <p:spPr bwMode="auto">
            <a:xfrm>
              <a:off x="3529" y="2186"/>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688" name="Rectangle 104"/>
            <p:cNvSpPr>
              <a:spLocks noChangeArrowheads="1"/>
            </p:cNvSpPr>
            <p:nvPr/>
          </p:nvSpPr>
          <p:spPr bwMode="auto">
            <a:xfrm>
              <a:off x="1129" y="2150"/>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89" name="Rectangle 105"/>
            <p:cNvSpPr>
              <a:spLocks noChangeArrowheads="1"/>
            </p:cNvSpPr>
            <p:nvPr/>
          </p:nvSpPr>
          <p:spPr bwMode="auto">
            <a:xfrm>
              <a:off x="1134" y="2150"/>
              <a:ext cx="820"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90" name="Rectangle 106"/>
            <p:cNvSpPr>
              <a:spLocks noChangeArrowheads="1"/>
            </p:cNvSpPr>
            <p:nvPr/>
          </p:nvSpPr>
          <p:spPr bwMode="auto">
            <a:xfrm>
              <a:off x="1954" y="2150"/>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91" name="Rectangle 107"/>
            <p:cNvSpPr>
              <a:spLocks noChangeArrowheads="1"/>
            </p:cNvSpPr>
            <p:nvPr/>
          </p:nvSpPr>
          <p:spPr bwMode="auto">
            <a:xfrm>
              <a:off x="1958" y="2150"/>
              <a:ext cx="116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92" name="Rectangle 108"/>
            <p:cNvSpPr>
              <a:spLocks noChangeArrowheads="1"/>
            </p:cNvSpPr>
            <p:nvPr/>
          </p:nvSpPr>
          <p:spPr bwMode="auto">
            <a:xfrm>
              <a:off x="3125" y="2150"/>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93" name="Rectangle 109"/>
            <p:cNvSpPr>
              <a:spLocks noChangeArrowheads="1"/>
            </p:cNvSpPr>
            <p:nvPr/>
          </p:nvSpPr>
          <p:spPr bwMode="auto">
            <a:xfrm>
              <a:off x="3129" y="2150"/>
              <a:ext cx="130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94" name="Rectangle 110"/>
            <p:cNvSpPr>
              <a:spLocks noChangeArrowheads="1"/>
            </p:cNvSpPr>
            <p:nvPr/>
          </p:nvSpPr>
          <p:spPr bwMode="auto">
            <a:xfrm>
              <a:off x="4433" y="2150"/>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95" name="Rectangle 111"/>
            <p:cNvSpPr>
              <a:spLocks noChangeArrowheads="1"/>
            </p:cNvSpPr>
            <p:nvPr/>
          </p:nvSpPr>
          <p:spPr bwMode="auto">
            <a:xfrm>
              <a:off x="1129" y="2154"/>
              <a:ext cx="5"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96" name="Rectangle 112"/>
            <p:cNvSpPr>
              <a:spLocks noChangeArrowheads="1"/>
            </p:cNvSpPr>
            <p:nvPr/>
          </p:nvSpPr>
          <p:spPr bwMode="auto">
            <a:xfrm>
              <a:off x="1954" y="2154"/>
              <a:ext cx="4"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97" name="Rectangle 113"/>
            <p:cNvSpPr>
              <a:spLocks noChangeArrowheads="1"/>
            </p:cNvSpPr>
            <p:nvPr/>
          </p:nvSpPr>
          <p:spPr bwMode="auto">
            <a:xfrm>
              <a:off x="3125" y="2154"/>
              <a:ext cx="4"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98" name="Rectangle 114"/>
            <p:cNvSpPr>
              <a:spLocks noChangeArrowheads="1"/>
            </p:cNvSpPr>
            <p:nvPr/>
          </p:nvSpPr>
          <p:spPr bwMode="auto">
            <a:xfrm>
              <a:off x="4433" y="2154"/>
              <a:ext cx="5"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699" name="Rectangle 115"/>
            <p:cNvSpPr>
              <a:spLocks noChangeArrowheads="1"/>
            </p:cNvSpPr>
            <p:nvPr/>
          </p:nvSpPr>
          <p:spPr bwMode="auto">
            <a:xfrm>
              <a:off x="1184" y="2342"/>
              <a:ext cx="355"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0000"/>
                  </a:solidFill>
                  <a:latin typeface="宋体" panose="02010600030101010101" pitchFamily="2" charset="-122"/>
                </a:rPr>
                <a:t>影响重点</a:t>
              </a:r>
              <a:endParaRPr lang="zh-CN" altLang="en-US" b="1"/>
            </a:p>
          </p:txBody>
        </p:sp>
        <p:sp>
          <p:nvSpPr>
            <p:cNvPr id="67700" name="Rectangle 116"/>
            <p:cNvSpPr>
              <a:spLocks noChangeArrowheads="1"/>
            </p:cNvSpPr>
            <p:nvPr/>
          </p:nvSpPr>
          <p:spPr bwMode="auto">
            <a:xfrm>
              <a:off x="1534" y="2342"/>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701" name="Rectangle 117"/>
            <p:cNvSpPr>
              <a:spLocks noChangeArrowheads="1"/>
            </p:cNvSpPr>
            <p:nvPr/>
          </p:nvSpPr>
          <p:spPr bwMode="auto">
            <a:xfrm>
              <a:off x="2008" y="2342"/>
              <a:ext cx="355"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0000"/>
                  </a:solidFill>
                  <a:latin typeface="宋体" panose="02010600030101010101" pitchFamily="2" charset="-122"/>
                </a:rPr>
                <a:t>文件系统</a:t>
              </a:r>
              <a:endParaRPr lang="zh-CN" altLang="en-US" b="1"/>
            </a:p>
          </p:txBody>
        </p:sp>
        <p:sp>
          <p:nvSpPr>
            <p:cNvPr id="67702" name="Rectangle 118"/>
            <p:cNvSpPr>
              <a:spLocks noChangeArrowheads="1"/>
            </p:cNvSpPr>
            <p:nvPr/>
          </p:nvSpPr>
          <p:spPr bwMode="auto">
            <a:xfrm>
              <a:off x="2358" y="2342"/>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703" name="Rectangle 119"/>
            <p:cNvSpPr>
              <a:spLocks noChangeArrowheads="1"/>
            </p:cNvSpPr>
            <p:nvPr/>
          </p:nvSpPr>
          <p:spPr bwMode="auto">
            <a:xfrm>
              <a:off x="3179" y="2342"/>
              <a:ext cx="800"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0000"/>
                  </a:solidFill>
                  <a:latin typeface="宋体" panose="02010600030101010101" pitchFamily="2" charset="-122"/>
                </a:rPr>
                <a:t>网络性能，系统性能</a:t>
              </a:r>
              <a:endParaRPr lang="zh-CN" altLang="en-US" b="1"/>
            </a:p>
          </p:txBody>
        </p:sp>
        <p:sp>
          <p:nvSpPr>
            <p:cNvPr id="67704" name="Rectangle 120"/>
            <p:cNvSpPr>
              <a:spLocks noChangeArrowheads="1"/>
            </p:cNvSpPr>
            <p:nvPr/>
          </p:nvSpPr>
          <p:spPr bwMode="auto">
            <a:xfrm>
              <a:off x="3967" y="2342"/>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705" name="Rectangle 121"/>
            <p:cNvSpPr>
              <a:spLocks noChangeArrowheads="1"/>
            </p:cNvSpPr>
            <p:nvPr/>
          </p:nvSpPr>
          <p:spPr bwMode="auto">
            <a:xfrm>
              <a:off x="1129" y="2306"/>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06" name="Rectangle 122"/>
            <p:cNvSpPr>
              <a:spLocks noChangeArrowheads="1"/>
            </p:cNvSpPr>
            <p:nvPr/>
          </p:nvSpPr>
          <p:spPr bwMode="auto">
            <a:xfrm>
              <a:off x="1134" y="2306"/>
              <a:ext cx="820"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07" name="Rectangle 123"/>
            <p:cNvSpPr>
              <a:spLocks noChangeArrowheads="1"/>
            </p:cNvSpPr>
            <p:nvPr/>
          </p:nvSpPr>
          <p:spPr bwMode="auto">
            <a:xfrm>
              <a:off x="1954" y="2306"/>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08" name="Rectangle 124"/>
            <p:cNvSpPr>
              <a:spLocks noChangeArrowheads="1"/>
            </p:cNvSpPr>
            <p:nvPr/>
          </p:nvSpPr>
          <p:spPr bwMode="auto">
            <a:xfrm>
              <a:off x="1958" y="2306"/>
              <a:ext cx="116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09" name="Rectangle 125"/>
            <p:cNvSpPr>
              <a:spLocks noChangeArrowheads="1"/>
            </p:cNvSpPr>
            <p:nvPr/>
          </p:nvSpPr>
          <p:spPr bwMode="auto">
            <a:xfrm>
              <a:off x="3125" y="2306"/>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10" name="Rectangle 126"/>
            <p:cNvSpPr>
              <a:spLocks noChangeArrowheads="1"/>
            </p:cNvSpPr>
            <p:nvPr/>
          </p:nvSpPr>
          <p:spPr bwMode="auto">
            <a:xfrm>
              <a:off x="3129" y="2306"/>
              <a:ext cx="130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11" name="Rectangle 127"/>
            <p:cNvSpPr>
              <a:spLocks noChangeArrowheads="1"/>
            </p:cNvSpPr>
            <p:nvPr/>
          </p:nvSpPr>
          <p:spPr bwMode="auto">
            <a:xfrm>
              <a:off x="4433" y="2306"/>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12" name="Rectangle 128"/>
            <p:cNvSpPr>
              <a:spLocks noChangeArrowheads="1"/>
            </p:cNvSpPr>
            <p:nvPr/>
          </p:nvSpPr>
          <p:spPr bwMode="auto">
            <a:xfrm>
              <a:off x="1129" y="2311"/>
              <a:ext cx="5" cy="15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13" name="Rectangle 129"/>
            <p:cNvSpPr>
              <a:spLocks noChangeArrowheads="1"/>
            </p:cNvSpPr>
            <p:nvPr/>
          </p:nvSpPr>
          <p:spPr bwMode="auto">
            <a:xfrm>
              <a:off x="1954" y="2311"/>
              <a:ext cx="4" cy="15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14" name="Rectangle 130"/>
            <p:cNvSpPr>
              <a:spLocks noChangeArrowheads="1"/>
            </p:cNvSpPr>
            <p:nvPr/>
          </p:nvSpPr>
          <p:spPr bwMode="auto">
            <a:xfrm>
              <a:off x="3125" y="2311"/>
              <a:ext cx="4" cy="15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15" name="Rectangle 131"/>
            <p:cNvSpPr>
              <a:spLocks noChangeArrowheads="1"/>
            </p:cNvSpPr>
            <p:nvPr/>
          </p:nvSpPr>
          <p:spPr bwMode="auto">
            <a:xfrm>
              <a:off x="4433" y="2311"/>
              <a:ext cx="5" cy="15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16" name="Rectangle 132"/>
            <p:cNvSpPr>
              <a:spLocks noChangeArrowheads="1"/>
            </p:cNvSpPr>
            <p:nvPr/>
          </p:nvSpPr>
          <p:spPr bwMode="auto">
            <a:xfrm>
              <a:off x="1184" y="2498"/>
              <a:ext cx="711"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0000"/>
                  </a:solidFill>
                  <a:latin typeface="宋体" panose="02010600030101010101" pitchFamily="2" charset="-122"/>
                </a:rPr>
                <a:t>计算机使用者角色</a:t>
              </a:r>
              <a:endParaRPr lang="zh-CN" altLang="en-US" b="1"/>
            </a:p>
          </p:txBody>
        </p:sp>
        <p:sp>
          <p:nvSpPr>
            <p:cNvPr id="67717" name="Rectangle 133"/>
            <p:cNvSpPr>
              <a:spLocks noChangeArrowheads="1"/>
            </p:cNvSpPr>
            <p:nvPr/>
          </p:nvSpPr>
          <p:spPr bwMode="auto">
            <a:xfrm>
              <a:off x="1884" y="2498"/>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718" name="Rectangle 134"/>
            <p:cNvSpPr>
              <a:spLocks noChangeArrowheads="1"/>
            </p:cNvSpPr>
            <p:nvPr/>
          </p:nvSpPr>
          <p:spPr bwMode="auto">
            <a:xfrm>
              <a:off x="2008" y="2498"/>
              <a:ext cx="889"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0000"/>
                  </a:solidFill>
                  <a:latin typeface="宋体" panose="02010600030101010101" pitchFamily="2" charset="-122"/>
                </a:rPr>
                <a:t>病毒传播中的关键环节</a:t>
              </a:r>
              <a:endParaRPr lang="zh-CN" altLang="en-US" b="1"/>
            </a:p>
          </p:txBody>
        </p:sp>
        <p:sp>
          <p:nvSpPr>
            <p:cNvPr id="67719" name="Rectangle 135"/>
            <p:cNvSpPr>
              <a:spLocks noChangeArrowheads="1"/>
            </p:cNvSpPr>
            <p:nvPr/>
          </p:nvSpPr>
          <p:spPr bwMode="auto">
            <a:xfrm>
              <a:off x="2883" y="2498"/>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720" name="Rectangle 136"/>
            <p:cNvSpPr>
              <a:spLocks noChangeArrowheads="1"/>
            </p:cNvSpPr>
            <p:nvPr/>
          </p:nvSpPr>
          <p:spPr bwMode="auto">
            <a:xfrm>
              <a:off x="3179" y="2498"/>
              <a:ext cx="178"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0000"/>
                  </a:solidFill>
                  <a:latin typeface="宋体" panose="02010600030101010101" pitchFamily="2" charset="-122"/>
                </a:rPr>
                <a:t>无关</a:t>
              </a:r>
              <a:endParaRPr lang="zh-CN" altLang="en-US" b="1"/>
            </a:p>
          </p:txBody>
        </p:sp>
        <p:sp>
          <p:nvSpPr>
            <p:cNvPr id="67721" name="Rectangle 137"/>
            <p:cNvSpPr>
              <a:spLocks noChangeArrowheads="1"/>
            </p:cNvSpPr>
            <p:nvPr/>
          </p:nvSpPr>
          <p:spPr bwMode="auto">
            <a:xfrm>
              <a:off x="3354" y="2498"/>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722" name="Rectangle 138"/>
            <p:cNvSpPr>
              <a:spLocks noChangeArrowheads="1"/>
            </p:cNvSpPr>
            <p:nvPr/>
          </p:nvSpPr>
          <p:spPr bwMode="auto">
            <a:xfrm>
              <a:off x="1129" y="246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23" name="Rectangle 139"/>
            <p:cNvSpPr>
              <a:spLocks noChangeArrowheads="1"/>
            </p:cNvSpPr>
            <p:nvPr/>
          </p:nvSpPr>
          <p:spPr bwMode="auto">
            <a:xfrm>
              <a:off x="1134" y="2462"/>
              <a:ext cx="820"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24" name="Rectangle 140"/>
            <p:cNvSpPr>
              <a:spLocks noChangeArrowheads="1"/>
            </p:cNvSpPr>
            <p:nvPr/>
          </p:nvSpPr>
          <p:spPr bwMode="auto">
            <a:xfrm>
              <a:off x="1954" y="2462"/>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25" name="Rectangle 141"/>
            <p:cNvSpPr>
              <a:spLocks noChangeArrowheads="1"/>
            </p:cNvSpPr>
            <p:nvPr/>
          </p:nvSpPr>
          <p:spPr bwMode="auto">
            <a:xfrm>
              <a:off x="1958" y="2462"/>
              <a:ext cx="116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26" name="Rectangle 142"/>
            <p:cNvSpPr>
              <a:spLocks noChangeArrowheads="1"/>
            </p:cNvSpPr>
            <p:nvPr/>
          </p:nvSpPr>
          <p:spPr bwMode="auto">
            <a:xfrm>
              <a:off x="3125" y="2462"/>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27" name="Rectangle 143"/>
            <p:cNvSpPr>
              <a:spLocks noChangeArrowheads="1"/>
            </p:cNvSpPr>
            <p:nvPr/>
          </p:nvSpPr>
          <p:spPr bwMode="auto">
            <a:xfrm>
              <a:off x="3129" y="2462"/>
              <a:ext cx="130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28" name="Rectangle 144"/>
            <p:cNvSpPr>
              <a:spLocks noChangeArrowheads="1"/>
            </p:cNvSpPr>
            <p:nvPr/>
          </p:nvSpPr>
          <p:spPr bwMode="auto">
            <a:xfrm>
              <a:off x="4433" y="2462"/>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29" name="Rectangle 145"/>
            <p:cNvSpPr>
              <a:spLocks noChangeArrowheads="1"/>
            </p:cNvSpPr>
            <p:nvPr/>
          </p:nvSpPr>
          <p:spPr bwMode="auto">
            <a:xfrm>
              <a:off x="1129" y="2467"/>
              <a:ext cx="5"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30" name="Rectangle 146"/>
            <p:cNvSpPr>
              <a:spLocks noChangeArrowheads="1"/>
            </p:cNvSpPr>
            <p:nvPr/>
          </p:nvSpPr>
          <p:spPr bwMode="auto">
            <a:xfrm>
              <a:off x="1954" y="2467"/>
              <a:ext cx="4"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31" name="Rectangle 147"/>
            <p:cNvSpPr>
              <a:spLocks noChangeArrowheads="1"/>
            </p:cNvSpPr>
            <p:nvPr/>
          </p:nvSpPr>
          <p:spPr bwMode="auto">
            <a:xfrm>
              <a:off x="3125" y="2467"/>
              <a:ext cx="4"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32" name="Rectangle 148"/>
            <p:cNvSpPr>
              <a:spLocks noChangeArrowheads="1"/>
            </p:cNvSpPr>
            <p:nvPr/>
          </p:nvSpPr>
          <p:spPr bwMode="auto">
            <a:xfrm>
              <a:off x="4433" y="2467"/>
              <a:ext cx="5" cy="1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33" name="Rectangle 149"/>
            <p:cNvSpPr>
              <a:spLocks noChangeArrowheads="1"/>
            </p:cNvSpPr>
            <p:nvPr/>
          </p:nvSpPr>
          <p:spPr bwMode="auto">
            <a:xfrm>
              <a:off x="1184" y="2655"/>
              <a:ext cx="355"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33CC"/>
                  </a:solidFill>
                  <a:latin typeface="宋体" panose="02010600030101010101" pitchFamily="2" charset="-122"/>
                </a:rPr>
                <a:t>防治措施</a:t>
              </a:r>
              <a:endParaRPr lang="zh-CN" altLang="en-US" b="1">
                <a:solidFill>
                  <a:srgbClr val="0033CC"/>
                </a:solidFill>
              </a:endParaRPr>
            </a:p>
          </p:txBody>
        </p:sp>
        <p:sp>
          <p:nvSpPr>
            <p:cNvPr id="67734" name="Rectangle 150"/>
            <p:cNvSpPr>
              <a:spLocks noChangeArrowheads="1"/>
            </p:cNvSpPr>
            <p:nvPr/>
          </p:nvSpPr>
          <p:spPr bwMode="auto">
            <a:xfrm>
              <a:off x="1534" y="2655"/>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735" name="Rectangle 151"/>
            <p:cNvSpPr>
              <a:spLocks noChangeArrowheads="1"/>
            </p:cNvSpPr>
            <p:nvPr/>
          </p:nvSpPr>
          <p:spPr bwMode="auto">
            <a:xfrm>
              <a:off x="2008" y="2655"/>
              <a:ext cx="355"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33CC"/>
                  </a:solidFill>
                  <a:latin typeface="宋体" panose="02010600030101010101" pitchFamily="2" charset="-122"/>
                </a:rPr>
                <a:t>从宿主程</a:t>
              </a:r>
              <a:endParaRPr lang="zh-CN" altLang="en-US" b="1">
                <a:solidFill>
                  <a:srgbClr val="0033CC"/>
                </a:solidFill>
              </a:endParaRPr>
            </a:p>
          </p:txBody>
        </p:sp>
        <p:sp>
          <p:nvSpPr>
            <p:cNvPr id="67736" name="Rectangle 152"/>
            <p:cNvSpPr>
              <a:spLocks noChangeArrowheads="1"/>
            </p:cNvSpPr>
            <p:nvPr/>
          </p:nvSpPr>
          <p:spPr bwMode="auto">
            <a:xfrm>
              <a:off x="2358" y="2655"/>
              <a:ext cx="355"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33CC"/>
                  </a:solidFill>
                  <a:latin typeface="宋体" panose="02010600030101010101" pitchFamily="2" charset="-122"/>
                </a:rPr>
                <a:t>序中摘除</a:t>
              </a:r>
              <a:endParaRPr lang="zh-CN" altLang="en-US" b="1">
                <a:solidFill>
                  <a:srgbClr val="0033CC"/>
                </a:solidFill>
              </a:endParaRPr>
            </a:p>
          </p:txBody>
        </p:sp>
        <p:sp>
          <p:nvSpPr>
            <p:cNvPr id="67737" name="Rectangle 153"/>
            <p:cNvSpPr>
              <a:spLocks noChangeArrowheads="1"/>
            </p:cNvSpPr>
            <p:nvPr/>
          </p:nvSpPr>
          <p:spPr bwMode="auto">
            <a:xfrm>
              <a:off x="2708" y="2655"/>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738" name="Rectangle 154"/>
            <p:cNvSpPr>
              <a:spLocks noChangeArrowheads="1"/>
            </p:cNvSpPr>
            <p:nvPr/>
          </p:nvSpPr>
          <p:spPr bwMode="auto">
            <a:xfrm>
              <a:off x="3179" y="2655"/>
              <a:ext cx="4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33CC"/>
                  </a:solidFill>
                  <a:latin typeface="宋体" panose="02010600030101010101" pitchFamily="2" charset="-122"/>
                </a:rPr>
                <a:t>为系统补丁</a:t>
              </a:r>
              <a:endParaRPr lang="zh-CN" altLang="en-US" b="1">
                <a:solidFill>
                  <a:srgbClr val="0033CC"/>
                </a:solidFill>
              </a:endParaRPr>
            </a:p>
          </p:txBody>
        </p:sp>
        <p:sp>
          <p:nvSpPr>
            <p:cNvPr id="67739" name="Rectangle 155"/>
            <p:cNvSpPr>
              <a:spLocks noChangeArrowheads="1"/>
            </p:cNvSpPr>
            <p:nvPr/>
          </p:nvSpPr>
          <p:spPr bwMode="auto">
            <a:xfrm>
              <a:off x="3617" y="2655"/>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740" name="Rectangle 156"/>
            <p:cNvSpPr>
              <a:spLocks noChangeArrowheads="1"/>
            </p:cNvSpPr>
            <p:nvPr/>
          </p:nvSpPr>
          <p:spPr bwMode="auto">
            <a:xfrm>
              <a:off x="1129" y="261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41" name="Rectangle 157"/>
            <p:cNvSpPr>
              <a:spLocks noChangeArrowheads="1"/>
            </p:cNvSpPr>
            <p:nvPr/>
          </p:nvSpPr>
          <p:spPr bwMode="auto">
            <a:xfrm>
              <a:off x="1134" y="2619"/>
              <a:ext cx="820"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42" name="Rectangle 158"/>
            <p:cNvSpPr>
              <a:spLocks noChangeArrowheads="1"/>
            </p:cNvSpPr>
            <p:nvPr/>
          </p:nvSpPr>
          <p:spPr bwMode="auto">
            <a:xfrm>
              <a:off x="1954" y="2619"/>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43" name="Rectangle 159"/>
            <p:cNvSpPr>
              <a:spLocks noChangeArrowheads="1"/>
            </p:cNvSpPr>
            <p:nvPr/>
          </p:nvSpPr>
          <p:spPr bwMode="auto">
            <a:xfrm>
              <a:off x="1958" y="2619"/>
              <a:ext cx="116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44" name="Rectangle 160"/>
            <p:cNvSpPr>
              <a:spLocks noChangeArrowheads="1"/>
            </p:cNvSpPr>
            <p:nvPr/>
          </p:nvSpPr>
          <p:spPr bwMode="auto">
            <a:xfrm>
              <a:off x="3125" y="2619"/>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45" name="Rectangle 161"/>
            <p:cNvSpPr>
              <a:spLocks noChangeArrowheads="1"/>
            </p:cNvSpPr>
            <p:nvPr/>
          </p:nvSpPr>
          <p:spPr bwMode="auto">
            <a:xfrm>
              <a:off x="3129" y="2619"/>
              <a:ext cx="130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46" name="Rectangle 162"/>
            <p:cNvSpPr>
              <a:spLocks noChangeArrowheads="1"/>
            </p:cNvSpPr>
            <p:nvPr/>
          </p:nvSpPr>
          <p:spPr bwMode="auto">
            <a:xfrm>
              <a:off x="4433" y="261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47" name="Rectangle 163"/>
            <p:cNvSpPr>
              <a:spLocks noChangeArrowheads="1"/>
            </p:cNvSpPr>
            <p:nvPr/>
          </p:nvSpPr>
          <p:spPr bwMode="auto">
            <a:xfrm>
              <a:off x="1129" y="2624"/>
              <a:ext cx="5" cy="15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48" name="Rectangle 164"/>
            <p:cNvSpPr>
              <a:spLocks noChangeArrowheads="1"/>
            </p:cNvSpPr>
            <p:nvPr/>
          </p:nvSpPr>
          <p:spPr bwMode="auto">
            <a:xfrm>
              <a:off x="1954" y="2624"/>
              <a:ext cx="4" cy="15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49" name="Rectangle 165"/>
            <p:cNvSpPr>
              <a:spLocks noChangeArrowheads="1"/>
            </p:cNvSpPr>
            <p:nvPr/>
          </p:nvSpPr>
          <p:spPr bwMode="auto">
            <a:xfrm>
              <a:off x="3125" y="2624"/>
              <a:ext cx="4" cy="15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50" name="Rectangle 166"/>
            <p:cNvSpPr>
              <a:spLocks noChangeArrowheads="1"/>
            </p:cNvSpPr>
            <p:nvPr/>
          </p:nvSpPr>
          <p:spPr bwMode="auto">
            <a:xfrm>
              <a:off x="4433" y="2624"/>
              <a:ext cx="5" cy="15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51" name="Rectangle 167"/>
            <p:cNvSpPr>
              <a:spLocks noChangeArrowheads="1"/>
            </p:cNvSpPr>
            <p:nvPr/>
          </p:nvSpPr>
          <p:spPr bwMode="auto">
            <a:xfrm>
              <a:off x="1184" y="2812"/>
              <a:ext cx="355"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0000"/>
                  </a:solidFill>
                  <a:latin typeface="宋体" panose="02010600030101010101" pitchFamily="2" charset="-122"/>
                </a:rPr>
                <a:t>对抗主体</a:t>
              </a:r>
              <a:endParaRPr lang="zh-CN" altLang="en-US" b="1"/>
            </a:p>
          </p:txBody>
        </p:sp>
        <p:sp>
          <p:nvSpPr>
            <p:cNvPr id="67752" name="Rectangle 168"/>
            <p:cNvSpPr>
              <a:spLocks noChangeArrowheads="1"/>
            </p:cNvSpPr>
            <p:nvPr/>
          </p:nvSpPr>
          <p:spPr bwMode="auto">
            <a:xfrm>
              <a:off x="1534" y="2812"/>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753" name="Rectangle 169"/>
            <p:cNvSpPr>
              <a:spLocks noChangeArrowheads="1"/>
            </p:cNvSpPr>
            <p:nvPr/>
          </p:nvSpPr>
          <p:spPr bwMode="auto">
            <a:xfrm>
              <a:off x="2008" y="2812"/>
              <a:ext cx="1066"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0000"/>
                  </a:solidFill>
                  <a:latin typeface="宋体" panose="02010600030101010101" pitchFamily="2" charset="-122"/>
                </a:rPr>
                <a:t>计算机使用者、反病毒厂商</a:t>
              </a:r>
              <a:endParaRPr lang="zh-CN" altLang="en-US" b="1"/>
            </a:p>
          </p:txBody>
        </p:sp>
        <p:sp>
          <p:nvSpPr>
            <p:cNvPr id="67754" name="Rectangle 170"/>
            <p:cNvSpPr>
              <a:spLocks noChangeArrowheads="1"/>
            </p:cNvSpPr>
            <p:nvPr/>
          </p:nvSpPr>
          <p:spPr bwMode="auto">
            <a:xfrm>
              <a:off x="3058" y="2812"/>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755" name="Rectangle 171"/>
            <p:cNvSpPr>
              <a:spLocks noChangeArrowheads="1"/>
            </p:cNvSpPr>
            <p:nvPr/>
          </p:nvSpPr>
          <p:spPr bwMode="auto">
            <a:xfrm>
              <a:off x="3179" y="2812"/>
              <a:ext cx="977"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100" b="1">
                  <a:solidFill>
                    <a:srgbClr val="000000"/>
                  </a:solidFill>
                  <a:latin typeface="宋体" panose="02010600030101010101" pitchFamily="2" charset="-122"/>
                </a:rPr>
                <a:t>系统提供商，网络管理员</a:t>
              </a:r>
              <a:endParaRPr lang="zh-CN" altLang="en-US" b="1"/>
            </a:p>
          </p:txBody>
        </p:sp>
        <p:sp>
          <p:nvSpPr>
            <p:cNvPr id="67756" name="Rectangle 172"/>
            <p:cNvSpPr>
              <a:spLocks noChangeArrowheads="1"/>
            </p:cNvSpPr>
            <p:nvPr/>
          </p:nvSpPr>
          <p:spPr bwMode="auto">
            <a:xfrm>
              <a:off x="4142" y="2812"/>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100" b="1">
                  <a:solidFill>
                    <a:srgbClr val="000000"/>
                  </a:solidFill>
                  <a:latin typeface="宋体" panose="02010600030101010101" pitchFamily="2" charset="-122"/>
                </a:rPr>
                <a:t> </a:t>
              </a:r>
              <a:endParaRPr lang="zh-CN" altLang="zh-CN" b="1"/>
            </a:p>
          </p:txBody>
        </p:sp>
        <p:sp>
          <p:nvSpPr>
            <p:cNvPr id="67757" name="Rectangle 173"/>
            <p:cNvSpPr>
              <a:spLocks noChangeArrowheads="1"/>
            </p:cNvSpPr>
            <p:nvPr/>
          </p:nvSpPr>
          <p:spPr bwMode="auto">
            <a:xfrm>
              <a:off x="1129" y="277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58" name="Rectangle 174"/>
            <p:cNvSpPr>
              <a:spLocks noChangeArrowheads="1"/>
            </p:cNvSpPr>
            <p:nvPr/>
          </p:nvSpPr>
          <p:spPr bwMode="auto">
            <a:xfrm>
              <a:off x="1134" y="2775"/>
              <a:ext cx="820"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59" name="Rectangle 175"/>
            <p:cNvSpPr>
              <a:spLocks noChangeArrowheads="1"/>
            </p:cNvSpPr>
            <p:nvPr/>
          </p:nvSpPr>
          <p:spPr bwMode="auto">
            <a:xfrm>
              <a:off x="1954" y="2775"/>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60" name="Rectangle 176"/>
            <p:cNvSpPr>
              <a:spLocks noChangeArrowheads="1"/>
            </p:cNvSpPr>
            <p:nvPr/>
          </p:nvSpPr>
          <p:spPr bwMode="auto">
            <a:xfrm>
              <a:off x="1958" y="2775"/>
              <a:ext cx="116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61" name="Rectangle 177"/>
            <p:cNvSpPr>
              <a:spLocks noChangeArrowheads="1"/>
            </p:cNvSpPr>
            <p:nvPr/>
          </p:nvSpPr>
          <p:spPr bwMode="auto">
            <a:xfrm>
              <a:off x="3125" y="2775"/>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62" name="Rectangle 178"/>
            <p:cNvSpPr>
              <a:spLocks noChangeArrowheads="1"/>
            </p:cNvSpPr>
            <p:nvPr/>
          </p:nvSpPr>
          <p:spPr bwMode="auto">
            <a:xfrm>
              <a:off x="3129" y="2775"/>
              <a:ext cx="130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63" name="Rectangle 179"/>
            <p:cNvSpPr>
              <a:spLocks noChangeArrowheads="1"/>
            </p:cNvSpPr>
            <p:nvPr/>
          </p:nvSpPr>
          <p:spPr bwMode="auto">
            <a:xfrm>
              <a:off x="4433" y="277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64" name="Rectangle 180"/>
            <p:cNvSpPr>
              <a:spLocks noChangeArrowheads="1"/>
            </p:cNvSpPr>
            <p:nvPr/>
          </p:nvSpPr>
          <p:spPr bwMode="auto">
            <a:xfrm>
              <a:off x="1129" y="2780"/>
              <a:ext cx="5" cy="15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65" name="Rectangle 181"/>
            <p:cNvSpPr>
              <a:spLocks noChangeArrowheads="1"/>
            </p:cNvSpPr>
            <p:nvPr/>
          </p:nvSpPr>
          <p:spPr bwMode="auto">
            <a:xfrm>
              <a:off x="1129" y="2933"/>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66" name="Rectangle 182"/>
            <p:cNvSpPr>
              <a:spLocks noChangeArrowheads="1"/>
            </p:cNvSpPr>
            <p:nvPr/>
          </p:nvSpPr>
          <p:spPr bwMode="auto">
            <a:xfrm>
              <a:off x="1129" y="2933"/>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67" name="Rectangle 183"/>
            <p:cNvSpPr>
              <a:spLocks noChangeArrowheads="1"/>
            </p:cNvSpPr>
            <p:nvPr/>
          </p:nvSpPr>
          <p:spPr bwMode="auto">
            <a:xfrm>
              <a:off x="1134" y="2933"/>
              <a:ext cx="820"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68" name="Rectangle 184"/>
            <p:cNvSpPr>
              <a:spLocks noChangeArrowheads="1"/>
            </p:cNvSpPr>
            <p:nvPr/>
          </p:nvSpPr>
          <p:spPr bwMode="auto">
            <a:xfrm>
              <a:off x="1954" y="2780"/>
              <a:ext cx="4" cy="15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69" name="Rectangle 185"/>
            <p:cNvSpPr>
              <a:spLocks noChangeArrowheads="1"/>
            </p:cNvSpPr>
            <p:nvPr/>
          </p:nvSpPr>
          <p:spPr bwMode="auto">
            <a:xfrm>
              <a:off x="1954" y="2933"/>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70" name="Rectangle 186"/>
            <p:cNvSpPr>
              <a:spLocks noChangeArrowheads="1"/>
            </p:cNvSpPr>
            <p:nvPr/>
          </p:nvSpPr>
          <p:spPr bwMode="auto">
            <a:xfrm>
              <a:off x="1958" y="2933"/>
              <a:ext cx="116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71" name="Rectangle 187"/>
            <p:cNvSpPr>
              <a:spLocks noChangeArrowheads="1"/>
            </p:cNvSpPr>
            <p:nvPr/>
          </p:nvSpPr>
          <p:spPr bwMode="auto">
            <a:xfrm>
              <a:off x="3125" y="2780"/>
              <a:ext cx="4" cy="15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72" name="Rectangle 188"/>
            <p:cNvSpPr>
              <a:spLocks noChangeArrowheads="1"/>
            </p:cNvSpPr>
            <p:nvPr/>
          </p:nvSpPr>
          <p:spPr bwMode="auto">
            <a:xfrm>
              <a:off x="3125" y="2933"/>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73" name="Rectangle 189"/>
            <p:cNvSpPr>
              <a:spLocks noChangeArrowheads="1"/>
            </p:cNvSpPr>
            <p:nvPr/>
          </p:nvSpPr>
          <p:spPr bwMode="auto">
            <a:xfrm>
              <a:off x="3129" y="2933"/>
              <a:ext cx="130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74" name="Rectangle 190"/>
            <p:cNvSpPr>
              <a:spLocks noChangeArrowheads="1"/>
            </p:cNvSpPr>
            <p:nvPr/>
          </p:nvSpPr>
          <p:spPr bwMode="auto">
            <a:xfrm>
              <a:off x="4433" y="2780"/>
              <a:ext cx="5" cy="15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75" name="Rectangle 191"/>
            <p:cNvSpPr>
              <a:spLocks noChangeArrowheads="1"/>
            </p:cNvSpPr>
            <p:nvPr/>
          </p:nvSpPr>
          <p:spPr bwMode="auto">
            <a:xfrm>
              <a:off x="4433" y="2933"/>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76" name="Rectangle 192"/>
            <p:cNvSpPr>
              <a:spLocks noChangeArrowheads="1"/>
            </p:cNvSpPr>
            <p:nvPr/>
          </p:nvSpPr>
          <p:spPr bwMode="auto">
            <a:xfrm>
              <a:off x="4433" y="2933"/>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endParaRPr lang="zh-CN" altLang="en-US" b="1"/>
            </a:p>
          </p:txBody>
        </p:sp>
        <p:sp>
          <p:nvSpPr>
            <p:cNvPr id="67777" name="Rectangle 193"/>
            <p:cNvSpPr>
              <a:spLocks noChangeArrowheads="1"/>
            </p:cNvSpPr>
            <p:nvPr/>
          </p:nvSpPr>
          <p:spPr bwMode="auto">
            <a:xfrm>
              <a:off x="765" y="2957"/>
              <a:ext cx="26"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zh-CN" sz="1300" b="1">
                  <a:solidFill>
                    <a:srgbClr val="000000"/>
                  </a:solidFill>
                  <a:latin typeface="Times New Roman" panose="02020603050405020304" pitchFamily="18" charset="0"/>
                </a:rPr>
                <a:t> </a:t>
              </a:r>
              <a:endParaRPr lang="zh-CN" altLang="zh-CN" b="1"/>
            </a:p>
          </p:txBody>
        </p:sp>
      </p:grpSp>
      <p:sp>
        <p:nvSpPr>
          <p:cNvPr id="67590" name="矩形 191"/>
          <p:cNvSpPr>
            <a:spLocks noChangeArrowheads="1"/>
          </p:cNvSpPr>
          <p:nvPr/>
        </p:nvSpPr>
        <p:spPr bwMode="auto">
          <a:xfrm>
            <a:off x="3132138" y="4732338"/>
            <a:ext cx="1800225" cy="411162"/>
          </a:xfrm>
          <a:prstGeom prst="rect">
            <a:avLst/>
          </a:prstGeom>
          <a:solidFill>
            <a:schemeClr val="accent1"/>
          </a:solidFill>
          <a:ln w="952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400" b="1">
                <a:solidFill>
                  <a:srgbClr val="FF0000"/>
                </a:solidFill>
              </a:rPr>
              <a:t>关注</a:t>
            </a:r>
            <a:r>
              <a:rPr lang="zh-CN" altLang="en-US" sz="1400" b="1">
                <a:solidFill>
                  <a:srgbClr val="0033CC"/>
                </a:solidFill>
              </a:rPr>
              <a:t>寄生</a:t>
            </a:r>
            <a:r>
              <a:rPr lang="zh-CN" altLang="en-US" sz="1400" b="1">
                <a:solidFill>
                  <a:srgbClr val="FF0000"/>
                </a:solidFill>
              </a:rPr>
              <a:t>方式</a:t>
            </a:r>
          </a:p>
        </p:txBody>
      </p:sp>
      <p:sp>
        <p:nvSpPr>
          <p:cNvPr id="67591" name="矩形 192"/>
          <p:cNvSpPr>
            <a:spLocks noChangeArrowheads="1"/>
          </p:cNvSpPr>
          <p:nvPr/>
        </p:nvSpPr>
        <p:spPr bwMode="auto">
          <a:xfrm>
            <a:off x="5076825" y="4732338"/>
            <a:ext cx="1798638" cy="411162"/>
          </a:xfrm>
          <a:prstGeom prst="rect">
            <a:avLst/>
          </a:prstGeom>
          <a:solidFill>
            <a:schemeClr val="accent1"/>
          </a:solidFill>
          <a:ln w="952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400" b="1">
                <a:solidFill>
                  <a:srgbClr val="FF0000"/>
                </a:solidFill>
              </a:rPr>
              <a:t>关注</a:t>
            </a:r>
            <a:r>
              <a:rPr lang="zh-CN" altLang="en-US" sz="1400" b="1">
                <a:solidFill>
                  <a:srgbClr val="0033CC"/>
                </a:solidFill>
              </a:rPr>
              <a:t>传播</a:t>
            </a:r>
            <a:r>
              <a:rPr lang="en-US" altLang="zh-CN" sz="1400" b="1">
                <a:solidFill>
                  <a:srgbClr val="0033CC"/>
                </a:solidFill>
              </a:rPr>
              <a:t>-</a:t>
            </a:r>
            <a:r>
              <a:rPr lang="zh-CN" altLang="en-US" sz="1400" b="1">
                <a:solidFill>
                  <a:srgbClr val="0033CC"/>
                </a:solidFill>
              </a:rPr>
              <a:t>攻击</a:t>
            </a:r>
            <a:r>
              <a:rPr lang="zh-CN" altLang="en-US" sz="1400" b="1">
                <a:solidFill>
                  <a:srgbClr val="FF0000"/>
                </a:solidFill>
              </a:rPr>
              <a:t>原理</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Effect transition="in" filter="fade">
                                      <p:cBhvr>
                                        <p:cTn id="7" dur="500"/>
                                        <p:tgtEl>
                                          <p:spTgt spid="5120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1203">
                                            <p:txEl>
                                              <p:pRg st="1" end="1"/>
                                            </p:txEl>
                                          </p:spTgt>
                                        </p:tgtEl>
                                        <p:attrNameLst>
                                          <p:attrName>style.visibility</p:attrName>
                                        </p:attrNameLst>
                                      </p:cBhvr>
                                      <p:to>
                                        <p:strVal val="visible"/>
                                      </p:to>
                                    </p:set>
                                    <p:animEffect transition="in" filter="fade">
                                      <p:cBhvr>
                                        <p:cTn id="11" dur="500"/>
                                        <p:tgtEl>
                                          <p:spTgt spid="5120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anim calcmode="lin" valueType="num">
                                      <p:cBhvr>
                                        <p:cTn id="17" dur="500" fill="hold"/>
                                        <p:tgtEl>
                                          <p:spTgt spid="2"/>
                                        </p:tgtEl>
                                        <p:attrNameLst>
                                          <p:attrName>ppt_x</p:attrName>
                                        </p:attrNameLst>
                                      </p:cBhvr>
                                      <p:tavLst>
                                        <p:tav tm="0">
                                          <p:val>
                                            <p:strVal val="#ppt_x"/>
                                          </p:val>
                                        </p:tav>
                                        <p:tav tm="100000">
                                          <p:val>
                                            <p:strVal val="#ppt_x"/>
                                          </p:val>
                                        </p:tav>
                                      </p:tavLst>
                                    </p:anim>
                                    <p:anim calcmode="lin" valueType="num">
                                      <p:cBhvr>
                                        <p:cTn id="18"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9.4.3 </a:t>
            </a:r>
            <a:r>
              <a:rPr altLang="en-US" sz="2000" dirty="0"/>
              <a:t>蠕虫的机理与防治</a:t>
            </a:r>
          </a:p>
        </p:txBody>
      </p:sp>
      <p:pic>
        <p:nvPicPr>
          <p:cNvPr id="68611" name="Picture 6" descr="C:\Users\P51\AppData\Roaming\Tencent\Users\173375927\QQ\WinTemp\RichOle\$SZ$AMEAUNYCS_6AF9~H@Z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182563"/>
            <a:ext cx="2952750"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34925" y="1770063"/>
            <a:ext cx="8677275" cy="2586037"/>
          </a:xfrm>
          <a:prstGeom prst="rect">
            <a:avLst/>
          </a:prstGeom>
        </p:spPr>
        <p:txBody>
          <a:bodyPr>
            <a:spAutoFit/>
          </a:bodyPr>
          <a:lstStyle/>
          <a:p>
            <a:pPr marL="342900" indent="-36195">
              <a:lnSpc>
                <a:spcPct val="150000"/>
              </a:lnSpc>
              <a:buClr>
                <a:srgbClr val="C00000"/>
              </a:buClr>
              <a:defRPr/>
            </a:pPr>
            <a:r>
              <a:rPr lang="zh-CN" altLang="en-US" sz="1800" b="1" dirty="0">
                <a:solidFill>
                  <a:srgbClr val="FF0000"/>
                </a:solidFill>
                <a:latin typeface="+mj-ea"/>
                <a:ea typeface="+mj-ea"/>
              </a:rPr>
              <a:t>蠕虫</a:t>
            </a:r>
            <a:r>
              <a:rPr lang="zh-CN" altLang="en-US" sz="1800" b="1" dirty="0">
                <a:latin typeface="+mj-ea"/>
                <a:ea typeface="+mj-ea"/>
              </a:rPr>
              <a:t>是一种常见的计算机恶意代码。</a:t>
            </a:r>
            <a:endParaRPr lang="en-US" altLang="zh-CN" sz="1800" b="1" dirty="0">
              <a:latin typeface="+mj-ea"/>
              <a:ea typeface="+mj-ea"/>
            </a:endParaRPr>
          </a:p>
          <a:p>
            <a:pPr marL="800100" lvl="1" indent="-36195">
              <a:lnSpc>
                <a:spcPct val="150000"/>
              </a:lnSpc>
              <a:buClr>
                <a:srgbClr val="C00000"/>
              </a:buClr>
              <a:buFont typeface="Wingdings" panose="05000000000000000000" pitchFamily="2" charset="2"/>
              <a:buChar char="Ø"/>
              <a:defRPr/>
            </a:pPr>
            <a:r>
              <a:rPr lang="zh-CN" altLang="en-US" sz="1800" b="1" u="sng" dirty="0">
                <a:latin typeface="+mj-ea"/>
                <a:ea typeface="+mj-ea"/>
              </a:rPr>
              <a:t>蠕虫是</a:t>
            </a:r>
            <a:r>
              <a:rPr lang="zh-CN" altLang="en-US" sz="1800" b="1" u="sng" dirty="0">
                <a:solidFill>
                  <a:srgbClr val="FF0000"/>
                </a:solidFill>
                <a:latin typeface="+mj-ea"/>
                <a:ea typeface="+mj-ea"/>
              </a:rPr>
              <a:t>自包含的程序</a:t>
            </a:r>
            <a:r>
              <a:rPr lang="zh-CN" altLang="en-US" sz="1800" b="1" u="sng" dirty="0">
                <a:latin typeface="+mj-ea"/>
                <a:ea typeface="+mj-ea"/>
              </a:rPr>
              <a:t>（或是</a:t>
            </a:r>
            <a:r>
              <a:rPr lang="zh-CN" altLang="en-US" sz="1800" b="1" u="sng" dirty="0">
                <a:solidFill>
                  <a:srgbClr val="FF0000"/>
                </a:solidFill>
                <a:latin typeface="+mj-ea"/>
                <a:ea typeface="+mj-ea"/>
              </a:rPr>
              <a:t>一套程序</a:t>
            </a:r>
            <a:r>
              <a:rPr lang="zh-CN" altLang="en-US" sz="1800" b="1" u="sng" dirty="0">
                <a:latin typeface="+mj-ea"/>
                <a:ea typeface="+mj-ea"/>
              </a:rPr>
              <a:t>），</a:t>
            </a:r>
            <a:r>
              <a:rPr lang="zh-CN" altLang="en-US" sz="1800" b="1" u="sng" dirty="0">
                <a:solidFill>
                  <a:srgbClr val="FF0000"/>
                </a:solidFill>
                <a:latin typeface="+mj-ea"/>
                <a:ea typeface="+mj-ea"/>
              </a:rPr>
              <a:t>通过利用</a:t>
            </a:r>
            <a:r>
              <a:rPr lang="zh-CN" altLang="en-US" sz="1800" b="1" u="sng" dirty="0">
                <a:solidFill>
                  <a:srgbClr val="0033CC"/>
                </a:solidFill>
                <a:latin typeface="+mj-ea"/>
                <a:ea typeface="+mj-ea"/>
              </a:rPr>
              <a:t>系统漏洞</a:t>
            </a:r>
            <a:r>
              <a:rPr lang="zh-CN" altLang="en-US" sz="1800" b="1" u="sng" dirty="0">
                <a:latin typeface="+mj-ea"/>
                <a:ea typeface="+mj-ea"/>
              </a:rPr>
              <a:t>，</a:t>
            </a:r>
            <a:r>
              <a:rPr lang="zh-CN" altLang="en-US" sz="1800" b="1" u="sng" dirty="0">
                <a:solidFill>
                  <a:srgbClr val="FF0000"/>
                </a:solidFill>
                <a:latin typeface="+mj-ea"/>
                <a:ea typeface="+mj-ea"/>
              </a:rPr>
              <a:t>传播</a:t>
            </a:r>
            <a:r>
              <a:rPr lang="zh-CN" altLang="en-US" sz="1800" b="1" u="sng" dirty="0">
                <a:solidFill>
                  <a:srgbClr val="0033CC"/>
                </a:solidFill>
                <a:latin typeface="+mj-ea"/>
                <a:ea typeface="+mj-ea"/>
              </a:rPr>
              <a:t>自身功能的拷贝或自身的某些部分</a:t>
            </a:r>
            <a:r>
              <a:rPr lang="zh-CN" altLang="en-US" sz="1800" b="1" u="sng" dirty="0">
                <a:solidFill>
                  <a:srgbClr val="FF0000"/>
                </a:solidFill>
                <a:latin typeface="+mj-ea"/>
                <a:ea typeface="+mj-ea"/>
              </a:rPr>
              <a:t>到</a:t>
            </a:r>
            <a:r>
              <a:rPr lang="zh-CN" altLang="en-US" sz="1800" b="1" u="sng" dirty="0">
                <a:solidFill>
                  <a:srgbClr val="0033CC"/>
                </a:solidFill>
                <a:latin typeface="+mj-ea"/>
                <a:ea typeface="+mj-ea"/>
              </a:rPr>
              <a:t>其他的计算机系统中</a:t>
            </a:r>
            <a:r>
              <a:rPr lang="zh-CN" altLang="en-US" sz="1800" b="1" u="sng" dirty="0">
                <a:latin typeface="+mj-ea"/>
                <a:ea typeface="+mj-ea"/>
              </a:rPr>
              <a:t>（</a:t>
            </a:r>
            <a:r>
              <a:rPr lang="zh-CN" altLang="en-US" sz="1800" b="1" u="sng" dirty="0">
                <a:solidFill>
                  <a:srgbClr val="FF0000"/>
                </a:solidFill>
                <a:latin typeface="+mj-ea"/>
                <a:ea typeface="+mj-ea"/>
              </a:rPr>
              <a:t>通常是经过</a:t>
            </a:r>
            <a:r>
              <a:rPr lang="zh-CN" altLang="en-US" sz="1800" b="1" u="sng" dirty="0">
                <a:solidFill>
                  <a:srgbClr val="0033CC"/>
                </a:solidFill>
                <a:latin typeface="+mj-ea"/>
                <a:ea typeface="+mj-ea"/>
              </a:rPr>
              <a:t>网络连接</a:t>
            </a:r>
            <a:r>
              <a:rPr lang="zh-CN" altLang="en-US" sz="1800" b="1" u="sng" dirty="0">
                <a:latin typeface="+mj-ea"/>
                <a:ea typeface="+mj-ea"/>
              </a:rPr>
              <a:t>）</a:t>
            </a:r>
          </a:p>
          <a:p>
            <a:pPr marL="800100" lvl="1" indent="-36195">
              <a:lnSpc>
                <a:spcPct val="150000"/>
              </a:lnSpc>
              <a:buClr>
                <a:srgbClr val="C00000"/>
              </a:buClr>
              <a:buFont typeface="Wingdings" panose="05000000000000000000" pitchFamily="2" charset="2"/>
              <a:buChar char="Ø"/>
              <a:defRPr/>
            </a:pPr>
            <a:r>
              <a:rPr lang="zh-CN" altLang="en-US" sz="1800" b="1" u="sng" dirty="0">
                <a:latin typeface="+mj-ea"/>
                <a:ea typeface="+mj-ea"/>
              </a:rPr>
              <a:t>它是</a:t>
            </a:r>
            <a:r>
              <a:rPr lang="zh-CN" altLang="en-US" sz="1800" b="1" u="sng" dirty="0">
                <a:solidFill>
                  <a:srgbClr val="FF0000"/>
                </a:solidFill>
                <a:latin typeface="+mj-ea"/>
                <a:ea typeface="+mj-ea"/>
              </a:rPr>
              <a:t>利用</a:t>
            </a:r>
            <a:r>
              <a:rPr lang="zh-CN" altLang="en-US" sz="1800" b="1" u="sng" dirty="0">
                <a:solidFill>
                  <a:srgbClr val="0033CC"/>
                </a:solidFill>
                <a:latin typeface="+mj-ea"/>
                <a:ea typeface="+mj-ea"/>
              </a:rPr>
              <a:t>网络</a:t>
            </a:r>
            <a:r>
              <a:rPr lang="zh-CN" altLang="en-US" sz="1800" b="1" u="sng" dirty="0">
                <a:solidFill>
                  <a:srgbClr val="FF0000"/>
                </a:solidFill>
                <a:latin typeface="+mj-ea"/>
                <a:ea typeface="+mj-ea"/>
              </a:rPr>
              <a:t>进行复制和传播</a:t>
            </a:r>
            <a:r>
              <a:rPr lang="zh-CN" altLang="en-US" sz="1800" b="1" u="sng" dirty="0">
                <a:latin typeface="+mj-ea"/>
                <a:ea typeface="+mj-ea"/>
              </a:rPr>
              <a:t>，传染途径是</a:t>
            </a:r>
            <a:r>
              <a:rPr lang="zh-CN" altLang="en-US" sz="1800" b="1" u="sng" dirty="0">
                <a:solidFill>
                  <a:srgbClr val="FF0000"/>
                </a:solidFill>
                <a:latin typeface="+mj-ea"/>
                <a:ea typeface="+mj-ea"/>
              </a:rPr>
              <a:t>通过</a:t>
            </a:r>
            <a:r>
              <a:rPr lang="zh-CN" altLang="en-US" sz="1800" b="1" u="sng" dirty="0">
                <a:solidFill>
                  <a:srgbClr val="0033CC"/>
                </a:solidFill>
                <a:latin typeface="+mj-ea"/>
                <a:ea typeface="+mj-ea"/>
              </a:rPr>
              <a:t>网络</a:t>
            </a:r>
            <a:r>
              <a:rPr lang="zh-CN" altLang="en-US" sz="1800" b="1" u="sng" dirty="0">
                <a:latin typeface="+mj-ea"/>
                <a:ea typeface="+mj-ea"/>
              </a:rPr>
              <a:t>和</a:t>
            </a:r>
            <a:r>
              <a:rPr lang="zh-CN" altLang="en-US" sz="1800" b="1" u="sng" dirty="0">
                <a:solidFill>
                  <a:srgbClr val="0033CC"/>
                </a:solidFill>
                <a:latin typeface="+mj-ea"/>
                <a:ea typeface="+mj-ea"/>
              </a:rPr>
              <a:t>电子邮件</a:t>
            </a:r>
            <a:endParaRPr lang="en-US" altLang="zh-CN" sz="1800" b="1" u="sng" dirty="0">
              <a:latin typeface="+mj-ea"/>
              <a:ea typeface="+mj-ea"/>
            </a:endParaRPr>
          </a:p>
          <a:p>
            <a:pPr marL="800100" lvl="1" indent="-36195">
              <a:lnSpc>
                <a:spcPct val="150000"/>
              </a:lnSpc>
              <a:buClr>
                <a:srgbClr val="C00000"/>
              </a:buClr>
              <a:buFont typeface="Wingdings" panose="05000000000000000000" pitchFamily="2" charset="2"/>
              <a:buChar char="Ø"/>
              <a:defRPr/>
            </a:pPr>
            <a:r>
              <a:rPr lang="zh-CN" altLang="en-US" sz="1800" b="1" u="sng" dirty="0">
                <a:effectLst>
                  <a:outerShdw blurRad="38100" dist="38100" dir="2700000" algn="tl">
                    <a:srgbClr val="000000">
                      <a:alpha val="43137"/>
                    </a:srgbClr>
                  </a:outerShdw>
                </a:effectLst>
                <a:latin typeface="+mj-ea"/>
                <a:ea typeface="+mj-ea"/>
              </a:rPr>
              <a:t>最早的蠕虫</a:t>
            </a:r>
            <a:r>
              <a:rPr lang="zh-CN" altLang="en-US" sz="1800" b="1" dirty="0">
                <a:latin typeface="+mj-ea"/>
                <a:ea typeface="+mj-ea"/>
              </a:rPr>
              <a:t>：在</a:t>
            </a:r>
            <a:r>
              <a:rPr lang="en-US" altLang="zh-CN" sz="1800" b="1" dirty="0">
                <a:latin typeface="+mj-ea"/>
                <a:ea typeface="+mj-ea"/>
              </a:rPr>
              <a:t>DOS</a:t>
            </a:r>
            <a:r>
              <a:rPr lang="zh-CN" altLang="en-US" sz="1800" b="1" dirty="0">
                <a:latin typeface="+mj-ea"/>
                <a:ea typeface="+mj-ea"/>
              </a:rPr>
              <a:t>环境下，发作时会在屏幕上出现一条类似虫子的东西，胡乱吞吃屏幕上的字母并将其改形</a:t>
            </a:r>
            <a:endParaRPr lang="en-US" altLang="zh-CN" sz="1800" b="1" dirty="0">
              <a:latin typeface="+mj-ea"/>
              <a:ea typeface="+mj-ea"/>
            </a:endParaRPr>
          </a:p>
        </p:txBody>
      </p:sp>
    </p:spTree>
  </p:cSld>
  <p:clrMapOvr>
    <a:masterClrMapping/>
  </p:clrMapOvr>
  <p:transition spd="med">
    <p:randomBar dir="ver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内容占位符 2"/>
          <p:cNvSpPr>
            <a:spLocks noGrp="1"/>
          </p:cNvSpPr>
          <p:nvPr>
            <p:ph idx="1"/>
          </p:nvPr>
        </p:nvSpPr>
        <p:spPr>
          <a:xfrm>
            <a:off x="357188" y="928688"/>
            <a:ext cx="5857875" cy="714375"/>
          </a:xfrm>
        </p:spPr>
        <p:txBody>
          <a:bodyPr/>
          <a:lstStyle/>
          <a:p>
            <a:pPr>
              <a:lnSpc>
                <a:spcPct val="100000"/>
              </a:lnSpc>
              <a:buFont typeface="Wingdings" panose="05000000000000000000" pitchFamily="2" charset="2"/>
              <a:buNone/>
              <a:defRPr/>
            </a:pPr>
            <a:r>
              <a:rPr lang="en-US" altLang="zh-CN" sz="2000" b="1" dirty="0">
                <a:solidFill>
                  <a:schemeClr val="accent6"/>
                </a:solidFill>
              </a:rPr>
              <a:t>2. </a:t>
            </a:r>
            <a:r>
              <a:rPr lang="zh-CN" altLang="zh-CN" sz="2000" b="1" dirty="0">
                <a:solidFill>
                  <a:schemeClr val="accent6"/>
                </a:solidFill>
              </a:rPr>
              <a:t>蠕虫的工作方式</a:t>
            </a:r>
          </a:p>
          <a:p>
            <a:pPr indent="-36195">
              <a:defRPr/>
            </a:pPr>
            <a:r>
              <a:rPr lang="zh-CN" altLang="zh-CN" sz="1500" b="1" dirty="0">
                <a:solidFill>
                  <a:srgbClr val="FF0000"/>
                </a:solidFill>
              </a:rPr>
              <a:t>蠕虫的工作方式一般是</a:t>
            </a:r>
            <a:r>
              <a:rPr lang="zh-CN" altLang="zh-CN" sz="1500" b="1" dirty="0"/>
              <a:t>：</a:t>
            </a:r>
            <a:r>
              <a:rPr lang="zh-CN" altLang="zh-CN" sz="1500" b="1" dirty="0">
                <a:solidFill>
                  <a:srgbClr val="0033CC"/>
                </a:solidFill>
              </a:rPr>
              <a:t>扫描</a:t>
            </a:r>
            <a:r>
              <a:rPr lang="zh-CN" altLang="zh-CN" sz="1500" b="1" dirty="0">
                <a:solidFill>
                  <a:srgbClr val="FF0000"/>
                </a:solidFill>
              </a:rPr>
              <a:t>→</a:t>
            </a:r>
            <a:r>
              <a:rPr lang="zh-CN" altLang="zh-CN" sz="1500" b="1" dirty="0">
                <a:solidFill>
                  <a:srgbClr val="0033CC"/>
                </a:solidFill>
              </a:rPr>
              <a:t>攻击</a:t>
            </a:r>
            <a:r>
              <a:rPr lang="zh-CN" altLang="zh-CN" sz="1500" b="1" dirty="0">
                <a:solidFill>
                  <a:srgbClr val="FF0000"/>
                </a:solidFill>
              </a:rPr>
              <a:t>→</a:t>
            </a:r>
            <a:r>
              <a:rPr lang="zh-CN" altLang="zh-CN" sz="1500" b="1" dirty="0">
                <a:solidFill>
                  <a:srgbClr val="0033CC"/>
                </a:solidFill>
              </a:rPr>
              <a:t>复制</a:t>
            </a:r>
            <a:r>
              <a:rPr lang="zh-CN" altLang="zh-CN" sz="1500" b="1" dirty="0"/>
              <a:t>，如图所示。</a:t>
            </a:r>
          </a:p>
          <a:p>
            <a:pPr>
              <a:buFont typeface="Arial" panose="020B0604020202020204" pitchFamily="34" charset="0"/>
              <a:buChar char="•"/>
              <a:defRPr/>
            </a:pPr>
            <a:endParaRPr lang="zh-CN" altLang="zh-CN" b="1" dirty="0"/>
          </a:p>
        </p:txBody>
      </p:sp>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9.4.3 </a:t>
            </a:r>
            <a:r>
              <a:rPr altLang="en-US" sz="2000" dirty="0"/>
              <a:t>蠕虫的机理与防治</a:t>
            </a:r>
          </a:p>
        </p:txBody>
      </p:sp>
      <p:grpSp>
        <p:nvGrpSpPr>
          <p:cNvPr id="2" name="组合 55"/>
          <p:cNvGrpSpPr/>
          <p:nvPr/>
        </p:nvGrpSpPr>
        <p:grpSpPr bwMode="auto">
          <a:xfrm>
            <a:off x="107950" y="1855788"/>
            <a:ext cx="5788025" cy="2809875"/>
            <a:chOff x="927868" y="1927097"/>
            <a:chExt cx="5787272" cy="2809818"/>
          </a:xfrm>
        </p:grpSpPr>
        <p:sp>
          <p:nvSpPr>
            <p:cNvPr id="76810" name="菱形 8"/>
            <p:cNvSpPr>
              <a:spLocks noChangeArrowheads="1"/>
            </p:cNvSpPr>
            <p:nvPr/>
          </p:nvSpPr>
          <p:spPr bwMode="auto">
            <a:xfrm>
              <a:off x="1285852" y="3214692"/>
              <a:ext cx="1428760" cy="714380"/>
            </a:xfrm>
            <a:prstGeom prst="diamond">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主机是否存在</a:t>
              </a:r>
            </a:p>
          </p:txBody>
        </p:sp>
        <p:sp>
          <p:nvSpPr>
            <p:cNvPr id="76811" name="菱形 9"/>
            <p:cNvSpPr>
              <a:spLocks noChangeArrowheads="1"/>
            </p:cNvSpPr>
            <p:nvPr/>
          </p:nvSpPr>
          <p:spPr bwMode="auto">
            <a:xfrm>
              <a:off x="3143240" y="3214692"/>
              <a:ext cx="1428760" cy="714380"/>
            </a:xfrm>
            <a:prstGeom prst="diamond">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漏洞是否存在</a:t>
              </a:r>
            </a:p>
          </p:txBody>
        </p:sp>
        <p:sp>
          <p:nvSpPr>
            <p:cNvPr id="76812" name="矩形 10"/>
            <p:cNvSpPr>
              <a:spLocks noChangeArrowheads="1"/>
            </p:cNvSpPr>
            <p:nvPr/>
          </p:nvSpPr>
          <p:spPr bwMode="auto">
            <a:xfrm>
              <a:off x="5000628" y="3429006"/>
              <a:ext cx="1500198" cy="285752"/>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solidFill>
                    <a:srgbClr val="FF0000"/>
                  </a:solidFill>
                </a:rPr>
                <a:t>攻击、传染现场处理</a:t>
              </a:r>
            </a:p>
          </p:txBody>
        </p:sp>
        <p:sp>
          <p:nvSpPr>
            <p:cNvPr id="76813" name="矩形 11"/>
            <p:cNvSpPr>
              <a:spLocks noChangeArrowheads="1"/>
            </p:cNvSpPr>
            <p:nvPr/>
          </p:nvSpPr>
          <p:spPr bwMode="auto">
            <a:xfrm>
              <a:off x="1285852" y="1928808"/>
              <a:ext cx="1500198" cy="285752"/>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随机生成</a:t>
              </a:r>
              <a:r>
                <a:rPr lang="en-US" altLang="zh-CN" sz="1200" b="1">
                  <a:latin typeface="Times New Roman" panose="02020603050405020304" pitchFamily="18" charset="0"/>
                  <a:cs typeface="Times New Roman" panose="02020603050405020304" pitchFamily="18" charset="0"/>
                </a:rPr>
                <a:t>IP</a:t>
              </a:r>
              <a:r>
                <a:rPr lang="zh-CN" altLang="en-US" sz="1200" b="1"/>
                <a:t>地址</a:t>
              </a:r>
            </a:p>
          </p:txBody>
        </p:sp>
        <p:sp>
          <p:nvSpPr>
            <p:cNvPr id="76814" name="矩形 12"/>
            <p:cNvSpPr>
              <a:spLocks noChangeArrowheads="1"/>
            </p:cNvSpPr>
            <p:nvPr/>
          </p:nvSpPr>
          <p:spPr bwMode="auto">
            <a:xfrm>
              <a:off x="1285852" y="2571750"/>
              <a:ext cx="1500198" cy="285752"/>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地址探测</a:t>
              </a:r>
            </a:p>
          </p:txBody>
        </p:sp>
        <p:cxnSp>
          <p:nvCxnSpPr>
            <p:cNvPr id="76815" name="直接箭头连接符 14"/>
            <p:cNvCxnSpPr>
              <a:cxnSpLocks noChangeShapeType="1"/>
              <a:endCxn id="76811" idx="1"/>
            </p:cNvCxnSpPr>
            <p:nvPr/>
          </p:nvCxnSpPr>
          <p:spPr bwMode="auto">
            <a:xfrm>
              <a:off x="2714612" y="3571882"/>
              <a:ext cx="428628" cy="1588"/>
            </a:xfrm>
            <a:prstGeom prst="straightConnector1">
              <a:avLst/>
            </a:prstGeom>
            <a:noFill/>
            <a:ln w="12700" algn="ctr">
              <a:solidFill>
                <a:schemeClr val="tx1"/>
              </a:solidFill>
              <a:round/>
              <a:tailEnd type="triangle" w="med" len="lg"/>
            </a:ln>
            <a:extLst>
              <a:ext uri="{909E8E84-426E-40DD-AFC4-6F175D3DCCD1}">
                <a14:hiddenFill xmlns:a14="http://schemas.microsoft.com/office/drawing/2010/main">
                  <a:noFill/>
                </a14:hiddenFill>
              </a:ext>
            </a:extLst>
          </p:spPr>
        </p:cxnSp>
        <p:cxnSp>
          <p:nvCxnSpPr>
            <p:cNvPr id="76816" name="直接箭头连接符 18"/>
            <p:cNvCxnSpPr>
              <a:cxnSpLocks noChangeShapeType="1"/>
            </p:cNvCxnSpPr>
            <p:nvPr/>
          </p:nvCxnSpPr>
          <p:spPr bwMode="auto">
            <a:xfrm>
              <a:off x="4572000" y="3571882"/>
              <a:ext cx="428628" cy="1588"/>
            </a:xfrm>
            <a:prstGeom prst="straightConnector1">
              <a:avLst/>
            </a:prstGeom>
            <a:noFill/>
            <a:ln w="12700" algn="ctr">
              <a:solidFill>
                <a:schemeClr val="tx1"/>
              </a:solidFill>
              <a:round/>
              <a:tailEnd type="triangle" w="med" len="lg"/>
            </a:ln>
            <a:extLst>
              <a:ext uri="{909E8E84-426E-40DD-AFC4-6F175D3DCCD1}">
                <a14:hiddenFill xmlns:a14="http://schemas.microsoft.com/office/drawing/2010/main">
                  <a:noFill/>
                </a14:hiddenFill>
              </a:ext>
            </a:extLst>
          </p:spPr>
        </p:cxnSp>
        <p:sp>
          <p:nvSpPr>
            <p:cNvPr id="76817" name="TextBox 19"/>
            <p:cNvSpPr txBox="1">
              <a:spLocks noChangeArrowheads="1"/>
            </p:cNvSpPr>
            <p:nvPr/>
          </p:nvSpPr>
          <p:spPr bwMode="auto">
            <a:xfrm>
              <a:off x="2714612" y="3286130"/>
              <a:ext cx="28575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t>是</a:t>
              </a:r>
            </a:p>
          </p:txBody>
        </p:sp>
        <p:sp>
          <p:nvSpPr>
            <p:cNvPr id="76818" name="TextBox 20"/>
            <p:cNvSpPr txBox="1">
              <a:spLocks noChangeArrowheads="1"/>
            </p:cNvSpPr>
            <p:nvPr/>
          </p:nvSpPr>
          <p:spPr bwMode="auto">
            <a:xfrm>
              <a:off x="4572000" y="3286130"/>
              <a:ext cx="28575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t>是</a:t>
              </a:r>
            </a:p>
          </p:txBody>
        </p:sp>
        <p:cxnSp>
          <p:nvCxnSpPr>
            <p:cNvPr id="76819" name="直接箭头连接符 21"/>
            <p:cNvCxnSpPr>
              <a:cxnSpLocks noChangeShapeType="1"/>
              <a:endCxn id="76810" idx="0"/>
            </p:cNvCxnSpPr>
            <p:nvPr/>
          </p:nvCxnSpPr>
          <p:spPr bwMode="auto">
            <a:xfrm rot="5400000">
              <a:off x="1821637" y="3036097"/>
              <a:ext cx="357190" cy="1588"/>
            </a:xfrm>
            <a:prstGeom prst="straightConnector1">
              <a:avLst/>
            </a:prstGeom>
            <a:noFill/>
            <a:ln w="12700" algn="ctr">
              <a:solidFill>
                <a:schemeClr val="tx1"/>
              </a:solidFill>
              <a:round/>
              <a:tailEnd type="triangle" w="med" len="lg"/>
            </a:ln>
            <a:extLst>
              <a:ext uri="{909E8E84-426E-40DD-AFC4-6F175D3DCCD1}">
                <a14:hiddenFill xmlns:a14="http://schemas.microsoft.com/office/drawing/2010/main">
                  <a:noFill/>
                </a14:hiddenFill>
              </a:ext>
            </a:extLst>
          </p:spPr>
        </p:cxnSp>
        <p:cxnSp>
          <p:nvCxnSpPr>
            <p:cNvPr id="76820" name="直接箭头连接符 26"/>
            <p:cNvCxnSpPr>
              <a:cxnSpLocks noChangeShapeType="1"/>
            </p:cNvCxnSpPr>
            <p:nvPr/>
          </p:nvCxnSpPr>
          <p:spPr bwMode="auto">
            <a:xfrm rot="5400000">
              <a:off x="1822431" y="2392361"/>
              <a:ext cx="357190" cy="1588"/>
            </a:xfrm>
            <a:prstGeom prst="straightConnector1">
              <a:avLst/>
            </a:prstGeom>
            <a:noFill/>
            <a:ln w="12700" algn="ctr">
              <a:solidFill>
                <a:schemeClr val="tx1"/>
              </a:solidFill>
              <a:round/>
              <a:tailEnd type="triangle" w="med" len="lg"/>
            </a:ln>
            <a:extLst>
              <a:ext uri="{909E8E84-426E-40DD-AFC4-6F175D3DCCD1}">
                <a14:hiddenFill xmlns:a14="http://schemas.microsoft.com/office/drawing/2010/main">
                  <a:noFill/>
                </a14:hiddenFill>
              </a:ext>
            </a:extLst>
          </p:spPr>
        </p:cxnSp>
        <p:sp>
          <p:nvSpPr>
            <p:cNvPr id="76821" name="矩形 27"/>
            <p:cNvSpPr>
              <a:spLocks noChangeArrowheads="1"/>
            </p:cNvSpPr>
            <p:nvPr/>
          </p:nvSpPr>
          <p:spPr bwMode="auto">
            <a:xfrm>
              <a:off x="1142976" y="2357436"/>
              <a:ext cx="5572164" cy="185738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b="1"/>
            </a:p>
          </p:txBody>
        </p:sp>
        <p:cxnSp>
          <p:nvCxnSpPr>
            <p:cNvPr id="76822" name="直接箭头连接符 28"/>
            <p:cNvCxnSpPr>
              <a:cxnSpLocks noChangeShapeType="1"/>
            </p:cNvCxnSpPr>
            <p:nvPr/>
          </p:nvCxnSpPr>
          <p:spPr bwMode="auto">
            <a:xfrm rot="5400000">
              <a:off x="1750993" y="4178311"/>
              <a:ext cx="500066" cy="1588"/>
            </a:xfrm>
            <a:prstGeom prst="straightConnector1">
              <a:avLst/>
            </a:prstGeom>
            <a:noFill/>
            <a:ln w="12700" algn="ctr">
              <a:solidFill>
                <a:schemeClr val="tx1"/>
              </a:solidFill>
              <a:round/>
              <a:tailEnd type="triangle" w="med" len="lg"/>
            </a:ln>
            <a:extLst>
              <a:ext uri="{909E8E84-426E-40DD-AFC4-6F175D3DCCD1}">
                <a14:hiddenFill xmlns:a14="http://schemas.microsoft.com/office/drawing/2010/main">
                  <a:noFill/>
                </a14:hiddenFill>
              </a:ext>
            </a:extLst>
          </p:spPr>
        </p:cxnSp>
        <p:sp>
          <p:nvSpPr>
            <p:cNvPr id="76823" name="TextBox 30"/>
            <p:cNvSpPr txBox="1">
              <a:spLocks noChangeArrowheads="1"/>
            </p:cNvSpPr>
            <p:nvPr/>
          </p:nvSpPr>
          <p:spPr bwMode="auto">
            <a:xfrm>
              <a:off x="1714480" y="3929072"/>
              <a:ext cx="28575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t>否</a:t>
              </a:r>
            </a:p>
          </p:txBody>
        </p:sp>
        <p:cxnSp>
          <p:nvCxnSpPr>
            <p:cNvPr id="76824" name="直接箭头连接符 31"/>
            <p:cNvCxnSpPr>
              <a:cxnSpLocks noChangeShapeType="1"/>
            </p:cNvCxnSpPr>
            <p:nvPr/>
          </p:nvCxnSpPr>
          <p:spPr bwMode="auto">
            <a:xfrm rot="5400000">
              <a:off x="3608381" y="4178311"/>
              <a:ext cx="500066" cy="1588"/>
            </a:xfrm>
            <a:prstGeom prst="straightConnector1">
              <a:avLst/>
            </a:prstGeom>
            <a:noFill/>
            <a:ln w="12700" algn="ctr">
              <a:solidFill>
                <a:schemeClr val="tx1"/>
              </a:solidFill>
              <a:round/>
              <a:tailEnd type="triangle" w="med" len="lg"/>
            </a:ln>
            <a:extLst>
              <a:ext uri="{909E8E84-426E-40DD-AFC4-6F175D3DCCD1}">
                <a14:hiddenFill xmlns:a14="http://schemas.microsoft.com/office/drawing/2010/main">
                  <a:noFill/>
                </a14:hiddenFill>
              </a:ext>
            </a:extLst>
          </p:spPr>
        </p:cxnSp>
        <p:sp>
          <p:nvSpPr>
            <p:cNvPr id="76825" name="TextBox 32"/>
            <p:cNvSpPr txBox="1">
              <a:spLocks noChangeArrowheads="1"/>
            </p:cNvSpPr>
            <p:nvPr/>
          </p:nvSpPr>
          <p:spPr bwMode="auto">
            <a:xfrm>
              <a:off x="3571868" y="3929072"/>
              <a:ext cx="28575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200" b="1"/>
                <a:t>否</a:t>
              </a:r>
            </a:p>
          </p:txBody>
        </p:sp>
        <p:cxnSp>
          <p:nvCxnSpPr>
            <p:cNvPr id="76826" name="直接箭头连接符 33"/>
            <p:cNvCxnSpPr>
              <a:cxnSpLocks noChangeShapeType="1"/>
            </p:cNvCxnSpPr>
            <p:nvPr/>
          </p:nvCxnSpPr>
          <p:spPr bwMode="auto">
            <a:xfrm rot="5400000">
              <a:off x="5358612" y="4071154"/>
              <a:ext cx="714380" cy="1588"/>
            </a:xfrm>
            <a:prstGeom prst="straightConnector1">
              <a:avLst/>
            </a:prstGeom>
            <a:noFill/>
            <a:ln w="12700" algn="ctr">
              <a:solidFill>
                <a:schemeClr val="tx1"/>
              </a:solidFill>
              <a:round/>
              <a:tailEnd type="none" w="med" len="lg"/>
            </a:ln>
            <a:extLst>
              <a:ext uri="{909E8E84-426E-40DD-AFC4-6F175D3DCCD1}">
                <a14:hiddenFill xmlns:a14="http://schemas.microsoft.com/office/drawing/2010/main">
                  <a:noFill/>
                </a14:hiddenFill>
              </a:ext>
            </a:extLst>
          </p:spPr>
        </p:cxnSp>
        <p:cxnSp>
          <p:nvCxnSpPr>
            <p:cNvPr id="76827" name="直接箭头连接符 35"/>
            <p:cNvCxnSpPr>
              <a:cxnSpLocks noChangeShapeType="1"/>
            </p:cNvCxnSpPr>
            <p:nvPr/>
          </p:nvCxnSpPr>
          <p:spPr bwMode="auto">
            <a:xfrm rot="10800000">
              <a:off x="928662" y="4429138"/>
              <a:ext cx="4786346" cy="1588"/>
            </a:xfrm>
            <a:prstGeom prst="straightConnector1">
              <a:avLst/>
            </a:prstGeom>
            <a:noFill/>
            <a:ln w="12700" algn="ctr">
              <a:solidFill>
                <a:schemeClr val="tx1"/>
              </a:solidFill>
              <a:round/>
              <a:tailEnd type="none" w="med" len="lg"/>
            </a:ln>
            <a:extLst>
              <a:ext uri="{909E8E84-426E-40DD-AFC4-6F175D3DCCD1}">
                <a14:hiddenFill xmlns:a14="http://schemas.microsoft.com/office/drawing/2010/main">
                  <a:noFill/>
                </a14:hiddenFill>
              </a:ext>
            </a:extLst>
          </p:spPr>
        </p:cxnSp>
        <p:cxnSp>
          <p:nvCxnSpPr>
            <p:cNvPr id="76828" name="直接箭头连接符 42"/>
            <p:cNvCxnSpPr>
              <a:cxnSpLocks noChangeShapeType="1"/>
            </p:cNvCxnSpPr>
            <p:nvPr/>
          </p:nvCxnSpPr>
          <p:spPr bwMode="auto">
            <a:xfrm rot="5400000">
              <a:off x="-250859" y="3250411"/>
              <a:ext cx="2358248" cy="794"/>
            </a:xfrm>
            <a:prstGeom prst="straightConnector1">
              <a:avLst/>
            </a:prstGeom>
            <a:noFill/>
            <a:ln w="12700" algn="ctr">
              <a:solidFill>
                <a:schemeClr val="tx1"/>
              </a:solidFill>
              <a:round/>
              <a:tailEnd type="none" w="med" len="lg"/>
            </a:ln>
            <a:extLst>
              <a:ext uri="{909E8E84-426E-40DD-AFC4-6F175D3DCCD1}">
                <a14:hiddenFill xmlns:a14="http://schemas.microsoft.com/office/drawing/2010/main">
                  <a:noFill/>
                </a14:hiddenFill>
              </a:ext>
            </a:extLst>
          </p:spPr>
        </p:cxnSp>
        <p:cxnSp>
          <p:nvCxnSpPr>
            <p:cNvPr id="76829" name="直接箭头连接符 47"/>
            <p:cNvCxnSpPr>
              <a:cxnSpLocks noChangeShapeType="1"/>
            </p:cNvCxnSpPr>
            <p:nvPr/>
          </p:nvCxnSpPr>
          <p:spPr bwMode="auto">
            <a:xfrm>
              <a:off x="928662" y="2071684"/>
              <a:ext cx="346078" cy="1588"/>
            </a:xfrm>
            <a:prstGeom prst="straightConnector1">
              <a:avLst/>
            </a:prstGeom>
            <a:noFill/>
            <a:ln w="12700" algn="ctr">
              <a:solidFill>
                <a:schemeClr val="tx1"/>
              </a:solidFill>
              <a:round/>
              <a:tailEnd type="triangle" w="med" len="lg"/>
            </a:ln>
            <a:extLst>
              <a:ext uri="{909E8E84-426E-40DD-AFC4-6F175D3DCCD1}">
                <a14:hiddenFill xmlns:a14="http://schemas.microsoft.com/office/drawing/2010/main">
                  <a:noFill/>
                </a14:hiddenFill>
              </a:ext>
            </a:extLst>
          </p:spPr>
        </p:cxnSp>
        <p:sp>
          <p:nvSpPr>
            <p:cNvPr id="76830" name="TextBox 52"/>
            <p:cNvSpPr txBox="1">
              <a:spLocks noChangeArrowheads="1"/>
            </p:cNvSpPr>
            <p:nvPr/>
          </p:nvSpPr>
          <p:spPr bwMode="auto">
            <a:xfrm>
              <a:off x="3500429" y="1927097"/>
              <a:ext cx="2948516" cy="276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en-US" altLang="zh-CN" sz="1200" b="1">
                  <a:solidFill>
                    <a:srgbClr val="FF0000"/>
                  </a:solidFill>
                  <a:latin typeface="Times New Roman" panose="02020603050405020304" pitchFamily="18" charset="0"/>
                  <a:cs typeface="Times New Roman" panose="02020603050405020304" pitchFamily="18" charset="0"/>
                </a:rPr>
                <a:t>IP</a:t>
              </a:r>
              <a:r>
                <a:rPr lang="zh-CN" altLang="en-US" sz="1200" b="1">
                  <a:solidFill>
                    <a:srgbClr val="FF0000"/>
                  </a:solidFill>
                </a:rPr>
                <a:t>地址的生成可能采用某种特定策略</a:t>
              </a:r>
            </a:p>
          </p:txBody>
        </p:sp>
        <p:sp>
          <p:nvSpPr>
            <p:cNvPr id="76831" name="TextBox 53"/>
            <p:cNvSpPr txBox="1">
              <a:spLocks noChangeArrowheads="1"/>
            </p:cNvSpPr>
            <p:nvPr/>
          </p:nvSpPr>
          <p:spPr bwMode="auto">
            <a:xfrm>
              <a:off x="4929190" y="2427122"/>
              <a:ext cx="15716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200" b="1"/>
                <a:t>框中操作可在一个数据包中完成</a:t>
              </a:r>
            </a:p>
          </p:txBody>
        </p:sp>
        <p:sp>
          <p:nvSpPr>
            <p:cNvPr id="76832" name="TextBox 54"/>
            <p:cNvSpPr txBox="1">
              <a:spLocks noChangeArrowheads="1"/>
            </p:cNvSpPr>
            <p:nvPr/>
          </p:nvSpPr>
          <p:spPr bwMode="auto">
            <a:xfrm>
              <a:off x="3000364" y="4429138"/>
              <a:ext cx="14287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400" b="1"/>
                <a:t>蠕虫的一般流程</a:t>
              </a:r>
            </a:p>
          </p:txBody>
        </p:sp>
      </p:grpSp>
      <p:sp>
        <p:nvSpPr>
          <p:cNvPr id="29" name="内容占位符 2"/>
          <p:cNvSpPr txBox="1"/>
          <p:nvPr/>
        </p:nvSpPr>
        <p:spPr bwMode="auto">
          <a:xfrm>
            <a:off x="5761038" y="339725"/>
            <a:ext cx="3348037" cy="3503613"/>
          </a:xfrm>
          <a:prstGeom prst="rect">
            <a:avLst/>
          </a:prstGeom>
          <a:noFill/>
          <a:ln w="9525">
            <a:noFill/>
            <a:miter lim="800000"/>
          </a:ln>
        </p:spPr>
        <p:txBody>
          <a:bodyPr/>
          <a:lstStyle/>
          <a:p>
            <a:pPr marL="342900" indent="-342900">
              <a:lnSpc>
                <a:spcPct val="150000"/>
              </a:lnSpc>
              <a:buClr>
                <a:srgbClr val="C00000"/>
              </a:buClr>
              <a:buFont typeface="Wingdings" panose="05000000000000000000" pitchFamily="2" charset="2"/>
              <a:buNone/>
              <a:defRPr/>
            </a:pPr>
            <a:r>
              <a:rPr lang="zh-CN" altLang="en-US" sz="1200" b="1" kern="0" dirty="0">
                <a:solidFill>
                  <a:srgbClr val="0033CC"/>
                </a:solidFill>
                <a:latin typeface="+mj-ea"/>
                <a:ea typeface="+mj-ea"/>
              </a:rPr>
              <a:t>（</a:t>
            </a:r>
            <a:r>
              <a:rPr lang="en-US" altLang="zh-CN" sz="1200" b="1" kern="0" dirty="0">
                <a:solidFill>
                  <a:srgbClr val="0033CC"/>
                </a:solidFill>
                <a:latin typeface="+mj-ea"/>
                <a:ea typeface="+mj-ea"/>
              </a:rPr>
              <a:t>1</a:t>
            </a:r>
            <a:r>
              <a:rPr lang="zh-CN" altLang="en-US" sz="1200" b="1" kern="0" dirty="0">
                <a:solidFill>
                  <a:srgbClr val="0033CC"/>
                </a:solidFill>
                <a:latin typeface="+mj-ea"/>
                <a:ea typeface="+mj-ea"/>
              </a:rPr>
              <a:t>）</a:t>
            </a:r>
            <a:r>
              <a:rPr lang="zh-CN" altLang="zh-CN" sz="1200" b="1" kern="0" dirty="0">
                <a:solidFill>
                  <a:srgbClr val="0033CC"/>
                </a:solidFill>
                <a:latin typeface="+mj-ea"/>
                <a:ea typeface="+mj-ea"/>
              </a:rPr>
              <a:t>搜索扫描</a:t>
            </a:r>
          </a:p>
          <a:p>
            <a:pPr marL="342900" indent="-36195">
              <a:lnSpc>
                <a:spcPct val="150000"/>
              </a:lnSpc>
              <a:buClr>
                <a:srgbClr val="C00000"/>
              </a:buClr>
              <a:buFont typeface="Wingdings" panose="05000000000000000000" pitchFamily="2" charset="2"/>
              <a:buChar char="n"/>
              <a:defRPr/>
            </a:pPr>
            <a:r>
              <a:rPr lang="zh-CN" altLang="zh-CN" sz="1200" b="1" kern="0" dirty="0">
                <a:latin typeface="+mj-ea"/>
                <a:ea typeface="+mj-ea"/>
              </a:rPr>
              <a:t>当程序向某个主机</a:t>
            </a:r>
            <a:r>
              <a:rPr lang="zh-CN" altLang="zh-CN" sz="1200" b="1" u="sng" kern="0" dirty="0">
                <a:effectLst>
                  <a:outerShdw blurRad="38100" dist="38100" dir="2700000" algn="tl">
                    <a:srgbClr val="000000">
                      <a:alpha val="43137"/>
                    </a:srgbClr>
                  </a:outerShdw>
                </a:effectLst>
                <a:latin typeface="+mj-ea"/>
                <a:ea typeface="+mj-ea"/>
              </a:rPr>
              <a:t>发送探测漏洞的信息并收到成功的反馈信息后</a:t>
            </a:r>
            <a:r>
              <a:rPr lang="zh-CN" altLang="zh-CN" sz="1200" b="1" kern="0" dirty="0">
                <a:latin typeface="+mj-ea"/>
                <a:ea typeface="+mj-ea"/>
              </a:rPr>
              <a:t>，就</a:t>
            </a:r>
            <a:r>
              <a:rPr lang="zh-CN" altLang="zh-CN" sz="1200" b="1" u="sng" kern="0" dirty="0">
                <a:effectLst>
                  <a:outerShdw blurRad="38100" dist="38100" dir="2700000" algn="tl">
                    <a:srgbClr val="000000">
                      <a:alpha val="43137"/>
                    </a:srgbClr>
                  </a:outerShdw>
                </a:effectLst>
                <a:latin typeface="+mj-ea"/>
                <a:ea typeface="+mj-ea"/>
              </a:rPr>
              <a:t>得到一个可攻击的对象</a:t>
            </a:r>
            <a:r>
              <a:rPr lang="zh-CN" altLang="zh-CN" sz="1200" b="1" kern="0" dirty="0">
                <a:latin typeface="+mj-ea"/>
                <a:ea typeface="+mj-ea"/>
              </a:rPr>
              <a:t>。</a:t>
            </a:r>
          </a:p>
          <a:p>
            <a:pPr marL="342900" indent="-342900">
              <a:lnSpc>
                <a:spcPct val="150000"/>
              </a:lnSpc>
              <a:buClr>
                <a:srgbClr val="C00000"/>
              </a:buClr>
              <a:buFont typeface="Wingdings" panose="05000000000000000000" pitchFamily="2" charset="2"/>
              <a:buNone/>
              <a:defRPr/>
            </a:pPr>
            <a:r>
              <a:rPr lang="zh-CN" altLang="en-US" sz="1200" b="1" kern="0" dirty="0">
                <a:solidFill>
                  <a:srgbClr val="0033CC"/>
                </a:solidFill>
                <a:latin typeface="+mj-ea"/>
                <a:ea typeface="+mj-ea"/>
              </a:rPr>
              <a:t>（</a:t>
            </a:r>
            <a:r>
              <a:rPr lang="en-US" altLang="zh-CN" sz="1200" b="1" kern="0" dirty="0">
                <a:solidFill>
                  <a:srgbClr val="0033CC"/>
                </a:solidFill>
                <a:latin typeface="+mj-ea"/>
                <a:ea typeface="+mj-ea"/>
              </a:rPr>
              <a:t>2</a:t>
            </a:r>
            <a:r>
              <a:rPr lang="zh-CN" altLang="en-US" sz="1200" b="1" kern="0" dirty="0">
                <a:solidFill>
                  <a:srgbClr val="0033CC"/>
                </a:solidFill>
                <a:latin typeface="+mj-ea"/>
                <a:ea typeface="+mj-ea"/>
              </a:rPr>
              <a:t>）</a:t>
            </a:r>
            <a:r>
              <a:rPr lang="zh-CN" altLang="zh-CN" sz="1200" b="1" kern="0" dirty="0">
                <a:solidFill>
                  <a:srgbClr val="0033CC"/>
                </a:solidFill>
                <a:latin typeface="+mj-ea"/>
                <a:ea typeface="+mj-ea"/>
              </a:rPr>
              <a:t>攻击</a:t>
            </a:r>
          </a:p>
          <a:p>
            <a:pPr marL="342900" indent="-71755">
              <a:lnSpc>
                <a:spcPct val="150000"/>
              </a:lnSpc>
              <a:buClr>
                <a:srgbClr val="C00000"/>
              </a:buClr>
              <a:buFont typeface="Wingdings" panose="05000000000000000000" pitchFamily="2" charset="2"/>
              <a:buChar char="n"/>
              <a:defRPr/>
            </a:pPr>
            <a:r>
              <a:rPr lang="zh-CN" altLang="zh-CN" sz="1200" b="1" kern="0" dirty="0">
                <a:latin typeface="+mj-ea"/>
                <a:ea typeface="+mj-ea"/>
              </a:rPr>
              <a:t>攻击模块按漏洞攻击步骤自动攻击上一步骤中找到的对象，</a:t>
            </a:r>
            <a:r>
              <a:rPr lang="zh-CN" altLang="zh-CN" sz="1200" b="1" u="sng" kern="0" dirty="0">
                <a:effectLst>
                  <a:outerShdw blurRad="38100" dist="38100" dir="2700000" algn="tl">
                    <a:srgbClr val="000000">
                      <a:alpha val="43137"/>
                    </a:srgbClr>
                  </a:outerShdw>
                </a:effectLst>
                <a:latin typeface="+mj-ea"/>
                <a:ea typeface="+mj-ea"/>
              </a:rPr>
              <a:t>取得该主机的权限，获得一个</a:t>
            </a:r>
            <a:r>
              <a:rPr lang="en-US" altLang="zh-CN" sz="1200" b="1" u="sng" kern="0" dirty="0">
                <a:effectLst>
                  <a:outerShdw blurRad="38100" dist="38100" dir="2700000" algn="tl">
                    <a:srgbClr val="000000">
                      <a:alpha val="43137"/>
                    </a:srgbClr>
                  </a:outerShdw>
                </a:effectLst>
                <a:latin typeface="+mj-ea"/>
                <a:ea typeface="+mj-ea"/>
              </a:rPr>
              <a:t>shell</a:t>
            </a:r>
            <a:r>
              <a:rPr lang="zh-CN" altLang="zh-CN" sz="1200" b="1" kern="0" dirty="0">
                <a:latin typeface="+mj-ea"/>
                <a:ea typeface="+mj-ea"/>
              </a:rPr>
              <a:t>。</a:t>
            </a:r>
          </a:p>
          <a:p>
            <a:pPr marL="342900" indent="-342900">
              <a:lnSpc>
                <a:spcPct val="150000"/>
              </a:lnSpc>
              <a:buClr>
                <a:srgbClr val="C00000"/>
              </a:buClr>
              <a:buFont typeface="Wingdings" panose="05000000000000000000" pitchFamily="2" charset="2"/>
              <a:buNone/>
              <a:defRPr/>
            </a:pPr>
            <a:r>
              <a:rPr lang="zh-CN" altLang="en-US" sz="1200" b="1" kern="0" dirty="0">
                <a:solidFill>
                  <a:srgbClr val="0033CC"/>
                </a:solidFill>
                <a:latin typeface="+mj-ea"/>
                <a:ea typeface="+mj-ea"/>
              </a:rPr>
              <a:t>（</a:t>
            </a:r>
            <a:r>
              <a:rPr lang="en-US" altLang="zh-CN" sz="1200" b="1" kern="0" dirty="0">
                <a:solidFill>
                  <a:srgbClr val="0033CC"/>
                </a:solidFill>
                <a:latin typeface="+mj-ea"/>
                <a:ea typeface="+mj-ea"/>
              </a:rPr>
              <a:t>3</a:t>
            </a:r>
            <a:r>
              <a:rPr lang="zh-CN" altLang="en-US" sz="1200" b="1" kern="0" dirty="0">
                <a:solidFill>
                  <a:srgbClr val="0033CC"/>
                </a:solidFill>
                <a:latin typeface="+mj-ea"/>
                <a:ea typeface="+mj-ea"/>
              </a:rPr>
              <a:t>）</a:t>
            </a:r>
            <a:r>
              <a:rPr lang="zh-CN" altLang="zh-CN" sz="1200" b="1" kern="0" dirty="0">
                <a:solidFill>
                  <a:srgbClr val="0033CC"/>
                </a:solidFill>
                <a:latin typeface="+mj-ea"/>
                <a:ea typeface="+mj-ea"/>
              </a:rPr>
              <a:t>复制</a:t>
            </a:r>
          </a:p>
          <a:p>
            <a:pPr marL="342900" indent="-36195">
              <a:lnSpc>
                <a:spcPct val="150000"/>
              </a:lnSpc>
              <a:buClr>
                <a:srgbClr val="C00000"/>
              </a:buClr>
              <a:buFont typeface="Wingdings" panose="05000000000000000000" pitchFamily="2" charset="2"/>
              <a:buChar char="n"/>
              <a:defRPr/>
            </a:pPr>
            <a:r>
              <a:rPr lang="zh-CN" altLang="zh-CN" sz="1200" b="1" u="sng" kern="0" dirty="0">
                <a:effectLst>
                  <a:outerShdw blurRad="38100" dist="38100" dir="2700000" algn="tl">
                    <a:srgbClr val="000000">
                      <a:alpha val="43137"/>
                    </a:srgbClr>
                  </a:outerShdw>
                </a:effectLst>
                <a:latin typeface="+mj-ea"/>
                <a:ea typeface="+mj-ea"/>
              </a:rPr>
              <a:t>繁殖模块通过原主机和新主机之间的交互，将蠕虫程序复制到新主机并启动。</a:t>
            </a:r>
            <a:r>
              <a:rPr lang="zh-CN" altLang="zh-CN" sz="1200" b="1" kern="0" dirty="0">
                <a:latin typeface="+mj-ea"/>
                <a:ea typeface="+mj-ea"/>
              </a:rPr>
              <a:t>复制过程也有很多种方法，可以利用系统本身的程序实现，也可以用蠕虫自带的程序实现。复制过程实际上就是一个网络文件传输的过程。</a:t>
            </a:r>
          </a:p>
          <a:p>
            <a:pPr marL="342900" indent="-342900">
              <a:lnSpc>
                <a:spcPct val="150000"/>
              </a:lnSpc>
              <a:buClr>
                <a:srgbClr val="C00000"/>
              </a:buClr>
              <a:buFont typeface="Arial" panose="020B0604020202020204" pitchFamily="34" charset="0"/>
              <a:buChar char="•"/>
              <a:defRPr/>
            </a:pPr>
            <a:endParaRPr lang="zh-CN" altLang="zh-CN" sz="1600" b="1" kern="0" dirty="0">
              <a:latin typeface="+mj-ea"/>
              <a:ea typeface="+mj-ea"/>
            </a:endParaRPr>
          </a:p>
        </p:txBody>
      </p:sp>
      <p:cxnSp>
        <p:nvCxnSpPr>
          <p:cNvPr id="76806" name="直接连接符 30"/>
          <p:cNvCxnSpPr>
            <a:cxnSpLocks noChangeShapeType="1"/>
          </p:cNvCxnSpPr>
          <p:nvPr/>
        </p:nvCxnSpPr>
        <p:spPr bwMode="auto">
          <a:xfrm>
            <a:off x="3924300" y="2355850"/>
            <a:ext cx="0" cy="863600"/>
          </a:xfrm>
          <a:prstGeom prst="line">
            <a:avLst/>
          </a:prstGeom>
          <a:noFill/>
          <a:ln w="38100" algn="ctr">
            <a:solidFill>
              <a:srgbClr val="FF0000"/>
            </a:solidFill>
            <a:prstDash val="dash"/>
            <a:round/>
          </a:ln>
          <a:extLst>
            <a:ext uri="{909E8E84-426E-40DD-AFC4-6F175D3DCCD1}">
              <a14:hiddenFill xmlns:a14="http://schemas.microsoft.com/office/drawing/2010/main">
                <a:noFill/>
              </a14:hiddenFill>
            </a:ext>
          </a:extLst>
        </p:spPr>
      </p:cxnSp>
      <p:cxnSp>
        <p:nvCxnSpPr>
          <p:cNvPr id="76807" name="直接连接符 32"/>
          <p:cNvCxnSpPr>
            <a:cxnSpLocks noChangeShapeType="1"/>
          </p:cNvCxnSpPr>
          <p:nvPr/>
        </p:nvCxnSpPr>
        <p:spPr bwMode="auto">
          <a:xfrm>
            <a:off x="3924300" y="3508375"/>
            <a:ext cx="0" cy="647700"/>
          </a:xfrm>
          <a:prstGeom prst="line">
            <a:avLst/>
          </a:prstGeom>
          <a:noFill/>
          <a:ln w="38100" algn="ctr">
            <a:solidFill>
              <a:srgbClr val="FF0000"/>
            </a:solidFill>
            <a:prstDash val="dash"/>
            <a:round/>
          </a:ln>
          <a:extLst>
            <a:ext uri="{909E8E84-426E-40DD-AFC4-6F175D3DCCD1}">
              <a14:hiddenFill xmlns:a14="http://schemas.microsoft.com/office/drawing/2010/main">
                <a:noFill/>
              </a14:hiddenFill>
            </a:ext>
          </a:extLst>
        </p:spPr>
      </p:cxnSp>
      <p:sp>
        <p:nvSpPr>
          <p:cNvPr id="37" name="矩形 36"/>
          <p:cNvSpPr/>
          <p:nvPr/>
        </p:nvSpPr>
        <p:spPr>
          <a:xfrm>
            <a:off x="4427538" y="2787650"/>
            <a:ext cx="1152525" cy="527050"/>
          </a:xfrm>
          <a:prstGeom prst="rect">
            <a:avLst/>
          </a:prstGeom>
        </p:spPr>
        <p:txBody>
          <a:bodyPr>
            <a:spAutoFit/>
          </a:bodyPr>
          <a:lstStyle/>
          <a:p>
            <a:pPr marL="342900" indent="-342900" algn="ctr">
              <a:lnSpc>
                <a:spcPct val="150000"/>
              </a:lnSpc>
              <a:buClr>
                <a:srgbClr val="C00000"/>
              </a:buClr>
              <a:defRPr/>
            </a:pPr>
            <a:r>
              <a:rPr lang="zh-CN" altLang="en-US" b="1" kern="0" dirty="0">
                <a:solidFill>
                  <a:srgbClr val="0033CC"/>
                </a:solidFill>
                <a:latin typeface="+mj-ea"/>
                <a:ea typeface="+mj-ea"/>
              </a:rPr>
              <a:t>（</a:t>
            </a:r>
            <a:r>
              <a:rPr lang="en-US" altLang="zh-CN" b="1" kern="0" dirty="0">
                <a:solidFill>
                  <a:srgbClr val="0033CC"/>
                </a:solidFill>
                <a:latin typeface="+mj-ea"/>
                <a:ea typeface="+mj-ea"/>
              </a:rPr>
              <a:t>2</a:t>
            </a:r>
            <a:r>
              <a:rPr lang="zh-CN" altLang="en-US" b="1" kern="0" dirty="0">
                <a:solidFill>
                  <a:srgbClr val="0033CC"/>
                </a:solidFill>
                <a:latin typeface="+mj-ea"/>
                <a:ea typeface="+mj-ea"/>
              </a:rPr>
              <a:t>）攻击</a:t>
            </a:r>
            <a:endParaRPr lang="en-US" altLang="zh-CN" b="1" kern="0" dirty="0">
              <a:solidFill>
                <a:srgbClr val="0033CC"/>
              </a:solidFill>
              <a:latin typeface="+mj-ea"/>
              <a:ea typeface="+mj-ea"/>
            </a:endParaRPr>
          </a:p>
          <a:p>
            <a:pPr marL="342900" indent="-342900" algn="ctr">
              <a:lnSpc>
                <a:spcPct val="150000"/>
              </a:lnSpc>
              <a:buClr>
                <a:srgbClr val="C00000"/>
              </a:buClr>
              <a:defRPr/>
            </a:pPr>
            <a:r>
              <a:rPr lang="zh-CN" altLang="en-US" b="1" kern="0" dirty="0">
                <a:solidFill>
                  <a:srgbClr val="0033CC"/>
                </a:solidFill>
                <a:latin typeface="+mj-ea"/>
                <a:ea typeface="+mj-ea"/>
              </a:rPr>
              <a:t>（</a:t>
            </a:r>
            <a:r>
              <a:rPr lang="en-US" altLang="zh-CN" b="1" kern="0" dirty="0">
                <a:solidFill>
                  <a:srgbClr val="0033CC"/>
                </a:solidFill>
                <a:latin typeface="+mj-ea"/>
                <a:ea typeface="+mj-ea"/>
              </a:rPr>
              <a:t>3</a:t>
            </a:r>
            <a:r>
              <a:rPr lang="zh-CN" altLang="en-US" b="1" kern="0" dirty="0">
                <a:solidFill>
                  <a:srgbClr val="0033CC"/>
                </a:solidFill>
                <a:latin typeface="+mj-ea"/>
                <a:ea typeface="+mj-ea"/>
              </a:rPr>
              <a:t>）</a:t>
            </a:r>
            <a:r>
              <a:rPr lang="zh-CN" altLang="zh-CN" b="1" kern="0" dirty="0">
                <a:solidFill>
                  <a:srgbClr val="0033CC"/>
                </a:solidFill>
                <a:latin typeface="+mj-ea"/>
                <a:ea typeface="+mj-ea"/>
              </a:rPr>
              <a:t>复制</a:t>
            </a:r>
          </a:p>
        </p:txBody>
      </p:sp>
      <p:sp>
        <p:nvSpPr>
          <p:cNvPr id="38" name="矩形 37"/>
          <p:cNvSpPr/>
          <p:nvPr/>
        </p:nvSpPr>
        <p:spPr>
          <a:xfrm>
            <a:off x="2411413" y="2500313"/>
            <a:ext cx="1152525" cy="295275"/>
          </a:xfrm>
          <a:prstGeom prst="rect">
            <a:avLst/>
          </a:prstGeom>
        </p:spPr>
        <p:txBody>
          <a:bodyPr>
            <a:spAutoFit/>
          </a:bodyPr>
          <a:lstStyle/>
          <a:p>
            <a:pPr marL="342900" indent="-342900" algn="ctr">
              <a:lnSpc>
                <a:spcPct val="150000"/>
              </a:lnSpc>
              <a:buClr>
                <a:srgbClr val="C00000"/>
              </a:buClr>
              <a:defRPr/>
            </a:pPr>
            <a:r>
              <a:rPr lang="zh-CN" altLang="en-US" b="1" kern="0" dirty="0">
                <a:solidFill>
                  <a:srgbClr val="0033CC"/>
                </a:solidFill>
                <a:latin typeface="+mj-ea"/>
                <a:ea typeface="+mj-ea"/>
              </a:rPr>
              <a:t>（</a:t>
            </a:r>
            <a:r>
              <a:rPr lang="en-US" altLang="zh-CN" b="1" kern="0" dirty="0">
                <a:solidFill>
                  <a:srgbClr val="0033CC"/>
                </a:solidFill>
                <a:latin typeface="+mj-ea"/>
                <a:ea typeface="+mj-ea"/>
              </a:rPr>
              <a:t>1</a:t>
            </a:r>
            <a:r>
              <a:rPr lang="zh-CN" altLang="en-US" b="1" kern="0" dirty="0">
                <a:solidFill>
                  <a:srgbClr val="0033CC"/>
                </a:solidFill>
                <a:latin typeface="+mj-ea"/>
                <a:ea typeface="+mj-ea"/>
              </a:rPr>
              <a:t>）搜索扫描</a:t>
            </a:r>
            <a:endParaRPr lang="zh-CN" altLang="zh-CN" b="1" kern="0" dirty="0">
              <a:solidFill>
                <a:srgbClr val="0033CC"/>
              </a:solidFill>
              <a:latin typeface="+mj-ea"/>
              <a:ea typeface="+mj-ea"/>
            </a:endParaRP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fade">
                                      <p:cBhvr>
                                        <p:cTn id="7" dur="500"/>
                                        <p:tgtEl>
                                          <p:spTgt spid="58371">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8371">
                                            <p:txEl>
                                              <p:pRg st="1" end="1"/>
                                            </p:txEl>
                                          </p:spTgt>
                                        </p:tgtEl>
                                        <p:attrNameLst>
                                          <p:attrName>style.visibility</p:attrName>
                                        </p:attrNameLst>
                                      </p:cBhvr>
                                      <p:to>
                                        <p:strVal val="visible"/>
                                      </p:to>
                                    </p:set>
                                    <p:animEffect transition="in" filter="fade">
                                      <p:cBhvr>
                                        <p:cTn id="11" dur="500"/>
                                        <p:tgtEl>
                                          <p:spTgt spid="58371">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anim calcmode="lin" valueType="num">
                                      <p:cBhvr>
                                        <p:cTn id="17" dur="1000" fill="hold"/>
                                        <p:tgtEl>
                                          <p:spTgt spid="2"/>
                                        </p:tgtEl>
                                        <p:attrNameLst>
                                          <p:attrName>ppt_x</p:attrName>
                                        </p:attrNameLst>
                                      </p:cBhvr>
                                      <p:tavLst>
                                        <p:tav tm="0">
                                          <p:val>
                                            <p:strVal val="#ppt_x"/>
                                          </p:val>
                                        </p:tav>
                                        <p:tav tm="100000">
                                          <p:val>
                                            <p:strVal val="#ppt_x"/>
                                          </p:val>
                                        </p:tav>
                                      </p:tavLst>
                                    </p:anim>
                                    <p:anim calcmode="lin" valueType="num">
                                      <p:cBhvr>
                                        <p:cTn id="18" dur="1000" fill="hold"/>
                                        <p:tgtEl>
                                          <p:spTgt spid="2"/>
                                        </p:tgtEl>
                                        <p:attrNameLst>
                                          <p:attrName>ppt_y</p:attrName>
                                        </p:attrNameLst>
                                      </p:cBhvr>
                                      <p:tavLst>
                                        <p:tav tm="0">
                                          <p:val>
                                            <p:strVal val="#ppt_y-.1"/>
                                          </p:val>
                                        </p:tav>
                                        <p:tav tm="100000">
                                          <p:val>
                                            <p:strVal val="#ppt_y"/>
                                          </p:val>
                                        </p:tav>
                                      </p:tavLst>
                                    </p:anim>
                                  </p:childTnLst>
                                </p:cTn>
                              </p:par>
                            </p:childTnLst>
                          </p:cTn>
                        </p:par>
                        <p:par>
                          <p:cTn id="19" fill="hold">
                            <p:stCondLst>
                              <p:cond delay="1000"/>
                            </p:stCondLst>
                            <p:childTnLst>
                              <p:par>
                                <p:cTn id="20" presetID="10" presetClass="entr" presetSubtype="0" fill="hold" nodeType="afterEffect">
                                  <p:stCondLst>
                                    <p:cond delay="0"/>
                                  </p:stCondLst>
                                  <p:childTnLst>
                                    <p:set>
                                      <p:cBhvr>
                                        <p:cTn id="21" dur="1" fill="hold">
                                          <p:stCondLst>
                                            <p:cond delay="0"/>
                                          </p:stCondLst>
                                        </p:cTn>
                                        <p:tgtEl>
                                          <p:spTgt spid="29">
                                            <p:txEl>
                                              <p:pRg st="0" end="0"/>
                                            </p:txEl>
                                          </p:spTgt>
                                        </p:tgtEl>
                                        <p:attrNameLst>
                                          <p:attrName>style.visibility</p:attrName>
                                        </p:attrNameLst>
                                      </p:cBhvr>
                                      <p:to>
                                        <p:strVal val="visible"/>
                                      </p:to>
                                    </p:set>
                                    <p:animEffect transition="in" filter="fade">
                                      <p:cBhvr>
                                        <p:cTn id="22" dur="500"/>
                                        <p:tgtEl>
                                          <p:spTgt spid="29">
                                            <p:txEl>
                                              <p:pRg st="0" end="0"/>
                                            </p:txEl>
                                          </p:spTgt>
                                        </p:tgtEl>
                                      </p:cBhvr>
                                    </p:animEffect>
                                  </p:childTnLst>
                                </p:cTn>
                              </p:par>
                            </p:childTnLst>
                          </p:cTn>
                        </p:par>
                        <p:par>
                          <p:cTn id="23" fill="hold">
                            <p:stCondLst>
                              <p:cond delay="1500"/>
                            </p:stCondLst>
                            <p:childTnLst>
                              <p:par>
                                <p:cTn id="24" presetID="10" presetClass="entr" presetSubtype="0" fill="hold" nodeType="afterEffect">
                                  <p:stCondLst>
                                    <p:cond delay="0"/>
                                  </p:stCondLst>
                                  <p:childTnLst>
                                    <p:set>
                                      <p:cBhvr>
                                        <p:cTn id="25" dur="1" fill="hold">
                                          <p:stCondLst>
                                            <p:cond delay="0"/>
                                          </p:stCondLst>
                                        </p:cTn>
                                        <p:tgtEl>
                                          <p:spTgt spid="29">
                                            <p:txEl>
                                              <p:pRg st="1" end="1"/>
                                            </p:txEl>
                                          </p:spTgt>
                                        </p:tgtEl>
                                        <p:attrNameLst>
                                          <p:attrName>style.visibility</p:attrName>
                                        </p:attrNameLst>
                                      </p:cBhvr>
                                      <p:to>
                                        <p:strVal val="visible"/>
                                      </p:to>
                                    </p:set>
                                    <p:animEffect transition="in" filter="fade">
                                      <p:cBhvr>
                                        <p:cTn id="26" dur="500"/>
                                        <p:tgtEl>
                                          <p:spTgt spid="29">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xEl>
                                              <p:pRg st="2" end="2"/>
                                            </p:txEl>
                                          </p:spTgt>
                                        </p:tgtEl>
                                        <p:attrNameLst>
                                          <p:attrName>style.visibility</p:attrName>
                                        </p:attrNameLst>
                                      </p:cBhvr>
                                      <p:to>
                                        <p:strVal val="visible"/>
                                      </p:to>
                                    </p:set>
                                    <p:animEffect transition="in" filter="fade">
                                      <p:cBhvr>
                                        <p:cTn id="31" dur="500"/>
                                        <p:tgtEl>
                                          <p:spTgt spid="29">
                                            <p:txEl>
                                              <p:pRg st="2" end="2"/>
                                            </p:txEl>
                                          </p:spTgt>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29">
                                            <p:txEl>
                                              <p:pRg st="3" end="3"/>
                                            </p:txEl>
                                          </p:spTgt>
                                        </p:tgtEl>
                                        <p:attrNameLst>
                                          <p:attrName>style.visibility</p:attrName>
                                        </p:attrNameLst>
                                      </p:cBhvr>
                                      <p:to>
                                        <p:strVal val="visible"/>
                                      </p:to>
                                    </p:set>
                                    <p:animEffect transition="in" filter="fade">
                                      <p:cBhvr>
                                        <p:cTn id="35" dur="500"/>
                                        <p:tgtEl>
                                          <p:spTgt spid="29">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9">
                                            <p:txEl>
                                              <p:pRg st="4" end="4"/>
                                            </p:txEl>
                                          </p:spTgt>
                                        </p:tgtEl>
                                        <p:attrNameLst>
                                          <p:attrName>style.visibility</p:attrName>
                                        </p:attrNameLst>
                                      </p:cBhvr>
                                      <p:to>
                                        <p:strVal val="visible"/>
                                      </p:to>
                                    </p:set>
                                    <p:animEffect transition="in" filter="fade">
                                      <p:cBhvr>
                                        <p:cTn id="40" dur="500"/>
                                        <p:tgtEl>
                                          <p:spTgt spid="29">
                                            <p:txEl>
                                              <p:pRg st="4" end="4"/>
                                            </p:txEl>
                                          </p:spTgt>
                                        </p:tgtEl>
                                      </p:cBhvr>
                                    </p:animEffect>
                                  </p:childTnLst>
                                </p:cTn>
                              </p:par>
                            </p:childTnLst>
                          </p:cTn>
                        </p:par>
                        <p:par>
                          <p:cTn id="41" fill="hold">
                            <p:stCondLst>
                              <p:cond delay="500"/>
                            </p:stCondLst>
                            <p:childTnLst>
                              <p:par>
                                <p:cTn id="42" presetID="10" presetClass="entr" presetSubtype="0" fill="hold" nodeType="afterEffect">
                                  <p:stCondLst>
                                    <p:cond delay="0"/>
                                  </p:stCondLst>
                                  <p:childTnLst>
                                    <p:set>
                                      <p:cBhvr>
                                        <p:cTn id="43" dur="1" fill="hold">
                                          <p:stCondLst>
                                            <p:cond delay="0"/>
                                          </p:stCondLst>
                                        </p:cTn>
                                        <p:tgtEl>
                                          <p:spTgt spid="29">
                                            <p:txEl>
                                              <p:pRg st="5" end="5"/>
                                            </p:txEl>
                                          </p:spTgt>
                                        </p:tgtEl>
                                        <p:attrNameLst>
                                          <p:attrName>style.visibility</p:attrName>
                                        </p:attrNameLst>
                                      </p:cBhvr>
                                      <p:to>
                                        <p:strVal val="visible"/>
                                      </p:to>
                                    </p:set>
                                    <p:animEffect transition="in" filter="fade">
                                      <p:cBhvr>
                                        <p:cTn id="44" dur="500"/>
                                        <p:tgtEl>
                                          <p:spTgt spid="2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7" name="内容占位符 2"/>
          <p:cNvSpPr>
            <a:spLocks noGrp="1"/>
          </p:cNvSpPr>
          <p:nvPr>
            <p:ph idx="1"/>
          </p:nvPr>
        </p:nvSpPr>
        <p:spPr>
          <a:xfrm>
            <a:off x="285750" y="1285875"/>
            <a:ext cx="8572500" cy="2857500"/>
          </a:xfrm>
        </p:spPr>
        <p:txBody>
          <a:bodyPr/>
          <a:lstStyle/>
          <a:p>
            <a:pPr>
              <a:buFont typeface="Wingdings" panose="05000000000000000000" pitchFamily="2" charset="2"/>
              <a:buNone/>
              <a:defRPr/>
            </a:pPr>
            <a:r>
              <a:rPr lang="en-US" altLang="zh-CN" sz="2000" b="1" dirty="0">
                <a:solidFill>
                  <a:schemeClr val="accent6"/>
                </a:solidFill>
              </a:rPr>
              <a:t>3. </a:t>
            </a:r>
            <a:r>
              <a:rPr lang="zh-CN" altLang="zh-CN" sz="2000" b="1" dirty="0">
                <a:solidFill>
                  <a:schemeClr val="accent6"/>
                </a:solidFill>
              </a:rPr>
              <a:t>蠕虫的分类</a:t>
            </a:r>
          </a:p>
          <a:p>
            <a:pPr>
              <a:buFont typeface="Wingdings" panose="05000000000000000000" pitchFamily="2" charset="2"/>
              <a:buNone/>
              <a:defRPr/>
            </a:pPr>
            <a:r>
              <a:rPr lang="zh-CN" altLang="en-US" sz="1800" b="1" dirty="0">
                <a:solidFill>
                  <a:srgbClr val="FF0000"/>
                </a:solidFill>
              </a:rPr>
              <a:t>根据</a:t>
            </a:r>
            <a:r>
              <a:rPr lang="zh-CN" altLang="zh-CN" sz="1800" b="1" dirty="0">
                <a:solidFill>
                  <a:srgbClr val="FF0000"/>
                </a:solidFill>
              </a:rPr>
              <a:t>蠕虫的传播、运作方式</a:t>
            </a:r>
            <a:r>
              <a:rPr lang="zh-CN" altLang="zh-CN" sz="1800" b="1" dirty="0"/>
              <a:t>，可将蠕虫分为两类：</a:t>
            </a:r>
            <a:r>
              <a:rPr lang="zh-CN" altLang="zh-CN" sz="1800" b="1" dirty="0">
                <a:solidFill>
                  <a:srgbClr val="0033CC"/>
                </a:solidFill>
              </a:rPr>
              <a:t>主机蠕虫</a:t>
            </a:r>
            <a:r>
              <a:rPr lang="zh-CN" altLang="zh-CN" sz="1800" b="1" dirty="0"/>
              <a:t>和</a:t>
            </a:r>
            <a:r>
              <a:rPr lang="zh-CN" altLang="zh-CN" sz="1800" b="1" dirty="0">
                <a:solidFill>
                  <a:srgbClr val="0033CC"/>
                </a:solidFill>
              </a:rPr>
              <a:t>网络蠕虫</a:t>
            </a:r>
            <a:r>
              <a:rPr lang="zh-CN" altLang="zh-CN" sz="1800" b="1" dirty="0"/>
              <a:t>。</a:t>
            </a:r>
          </a:p>
          <a:p>
            <a:pPr indent="-36195">
              <a:defRPr/>
            </a:pPr>
            <a:r>
              <a:rPr lang="zh-CN" altLang="zh-CN" sz="1800" b="1" dirty="0">
                <a:solidFill>
                  <a:srgbClr val="0033CC"/>
                </a:solidFill>
              </a:rPr>
              <a:t>主机蠕虫</a:t>
            </a:r>
            <a:r>
              <a:rPr lang="zh-CN" altLang="zh-CN" sz="1800" b="1" dirty="0">
                <a:solidFill>
                  <a:schemeClr val="bg2">
                    <a:lumMod val="25000"/>
                  </a:schemeClr>
                </a:solidFill>
              </a:rPr>
              <a:t>。</a:t>
            </a:r>
            <a:r>
              <a:rPr lang="zh-CN" altLang="zh-CN" sz="1800" b="1" dirty="0">
                <a:solidFill>
                  <a:srgbClr val="FF0000"/>
                </a:solidFill>
              </a:rPr>
              <a:t>所有部分均包含在其所运行的计算机中</a:t>
            </a:r>
            <a:r>
              <a:rPr lang="zh-CN" altLang="zh-CN" sz="1800" b="1" dirty="0"/>
              <a:t>，利用网络连接仅仅是为了</a:t>
            </a:r>
            <a:endParaRPr lang="en-US" altLang="zh-CN" sz="1800" b="1" dirty="0"/>
          </a:p>
          <a:p>
            <a:pPr indent="-36195">
              <a:buFont typeface="Wingdings" panose="05000000000000000000" pitchFamily="2" charset="2"/>
              <a:buNone/>
              <a:defRPr/>
            </a:pPr>
            <a:r>
              <a:rPr lang="en-US" altLang="zh-CN" sz="1800" b="1" dirty="0"/>
              <a:t>                    </a:t>
            </a:r>
            <a:r>
              <a:rPr lang="zh-CN" altLang="zh-CN" sz="1800" b="1" dirty="0"/>
              <a:t>将其自身复制到其他计算机中。</a:t>
            </a:r>
            <a:r>
              <a:rPr lang="zh-CN" altLang="en-US" sz="1800" b="1" u="sng" dirty="0">
                <a:solidFill>
                  <a:srgbClr val="FF0000"/>
                </a:solidFill>
                <a:effectLst>
                  <a:outerShdw blurRad="38100" dist="38100" dir="2700000" algn="tl">
                    <a:srgbClr val="000000">
                      <a:alpha val="43137"/>
                    </a:srgbClr>
                  </a:outerShdw>
                </a:effectLst>
              </a:rPr>
              <a:t>（早期）</a:t>
            </a:r>
            <a:endParaRPr lang="en-US" altLang="zh-CN" sz="1800" b="1" u="sng" dirty="0">
              <a:solidFill>
                <a:srgbClr val="FF0000"/>
              </a:solidFill>
              <a:effectLst>
                <a:outerShdw blurRad="38100" dist="38100" dir="2700000" algn="tl">
                  <a:srgbClr val="000000">
                    <a:alpha val="43137"/>
                  </a:srgbClr>
                </a:outerShdw>
              </a:effectLst>
            </a:endParaRPr>
          </a:p>
          <a:p>
            <a:pPr indent="-36195">
              <a:defRPr/>
            </a:pPr>
            <a:r>
              <a:rPr lang="zh-CN" altLang="zh-CN" sz="1800" b="1" dirty="0">
                <a:solidFill>
                  <a:srgbClr val="0033CC"/>
                </a:solidFill>
              </a:rPr>
              <a:t>网络蠕虫</a:t>
            </a:r>
            <a:r>
              <a:rPr lang="zh-CN" altLang="zh-CN" sz="1800" b="1" dirty="0">
                <a:solidFill>
                  <a:schemeClr val="bg2">
                    <a:lumMod val="25000"/>
                  </a:schemeClr>
                </a:solidFill>
              </a:rPr>
              <a:t>。</a:t>
            </a:r>
            <a:r>
              <a:rPr lang="zh-CN" altLang="zh-CN" sz="1800" b="1" dirty="0">
                <a:solidFill>
                  <a:srgbClr val="FF0000"/>
                </a:solidFill>
              </a:rPr>
              <a:t>由许多部分（称为段）组成</a:t>
            </a:r>
            <a:r>
              <a:rPr lang="zh-CN" altLang="zh-CN" sz="1800" b="1" dirty="0"/>
              <a:t>，而且</a:t>
            </a:r>
            <a:r>
              <a:rPr lang="zh-CN" altLang="zh-CN" sz="1800" b="1" dirty="0">
                <a:solidFill>
                  <a:srgbClr val="FF0000"/>
                </a:solidFill>
              </a:rPr>
              <a:t>每一个部分运行在不同的计算机</a:t>
            </a:r>
            <a:endParaRPr lang="en-US" altLang="zh-CN" sz="1800" b="1" dirty="0">
              <a:solidFill>
                <a:srgbClr val="FF0000"/>
              </a:solidFill>
            </a:endParaRPr>
          </a:p>
          <a:p>
            <a:pPr indent="-36195">
              <a:buFont typeface="Wingdings" panose="05000000000000000000" pitchFamily="2" charset="2"/>
              <a:buNone/>
              <a:defRPr/>
            </a:pPr>
            <a:r>
              <a:rPr lang="en-US" altLang="zh-CN" sz="1800" b="1" dirty="0">
                <a:solidFill>
                  <a:srgbClr val="FF0000"/>
                </a:solidFill>
              </a:rPr>
              <a:t>                 </a:t>
            </a:r>
            <a:r>
              <a:rPr lang="zh-CN" altLang="zh-CN" sz="1800" b="1" dirty="0">
                <a:solidFill>
                  <a:srgbClr val="FF0000"/>
                </a:solidFill>
              </a:rPr>
              <a:t>中</a:t>
            </a:r>
            <a:r>
              <a:rPr lang="zh-CN" altLang="zh-CN" sz="1800" b="1" dirty="0"/>
              <a:t>，并且使用网络的目的是为了进行各个部分之间的通信以及传播。</a:t>
            </a:r>
            <a:r>
              <a:rPr lang="en-US" altLang="zh-CN" sz="1800" b="1" dirty="0">
                <a:effectLst>
                  <a:outerShdw blurRad="38100" dist="38100" dir="2700000" algn="tl">
                    <a:srgbClr val="000000">
                      <a:alpha val="43137"/>
                    </a:srgbClr>
                  </a:outerShdw>
                </a:effectLst>
              </a:rPr>
              <a:t>	      </a:t>
            </a:r>
            <a:r>
              <a:rPr lang="zh-CN" altLang="en-US" sz="1800" b="1" u="sng" dirty="0">
                <a:effectLst>
                  <a:outerShdw blurRad="38100" dist="38100" dir="2700000" algn="tl">
                    <a:srgbClr val="000000">
                      <a:alpha val="43137"/>
                    </a:srgbClr>
                  </a:outerShdw>
                </a:effectLst>
              </a:rPr>
              <a:t>（</a:t>
            </a:r>
            <a:r>
              <a:rPr lang="zh-CN" altLang="en-US" sz="1800" b="1" u="sng" dirty="0">
                <a:solidFill>
                  <a:srgbClr val="FF0000"/>
                </a:solidFill>
                <a:effectLst>
                  <a:outerShdw blurRad="38100" dist="38100" dir="2700000" algn="tl">
                    <a:srgbClr val="000000">
                      <a:alpha val="43137"/>
                    </a:srgbClr>
                  </a:outerShdw>
                </a:effectLst>
              </a:rPr>
              <a:t>现代：</a:t>
            </a:r>
            <a:r>
              <a:rPr lang="zh-CN" altLang="en-US" sz="1800" b="1" u="sng" dirty="0">
                <a:effectLst>
                  <a:outerShdw blurRad="38100" dist="38100" dir="2700000" algn="tl">
                    <a:srgbClr val="000000">
                      <a:alpha val="43137"/>
                    </a:srgbClr>
                  </a:outerShdw>
                </a:effectLst>
              </a:rPr>
              <a:t>智能化、自动化和高技术化）</a:t>
            </a:r>
            <a:endParaRPr lang="zh-CN" altLang="zh-CN" sz="1800" b="1" u="sng" dirty="0">
              <a:effectLst>
                <a:outerShdw blurRad="38100" dist="38100" dir="2700000" algn="tl">
                  <a:srgbClr val="000000">
                    <a:alpha val="43137"/>
                  </a:srgbClr>
                </a:outerShdw>
              </a:effectLst>
            </a:endParaRPr>
          </a:p>
        </p:txBody>
      </p:sp>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9.4.3 </a:t>
            </a:r>
            <a:r>
              <a:rPr altLang="en-US" sz="2000" dirty="0"/>
              <a:t>蠕虫的机理与防治</a:t>
            </a:r>
          </a:p>
        </p:txBody>
      </p:sp>
      <p:sp>
        <p:nvSpPr>
          <p:cNvPr id="69636" name="云形标注 11"/>
          <p:cNvSpPr>
            <a:spLocks noChangeArrowheads="1"/>
          </p:cNvSpPr>
          <p:nvPr/>
        </p:nvSpPr>
        <p:spPr bwMode="auto">
          <a:xfrm>
            <a:off x="3492500" y="-20638"/>
            <a:ext cx="5688013" cy="1728788"/>
          </a:xfrm>
          <a:prstGeom prst="cloudCallout">
            <a:avLst>
              <a:gd name="adj1" fmla="val -80926"/>
              <a:gd name="adj2" fmla="val 82852"/>
            </a:avLst>
          </a:prstGeom>
          <a:solidFill>
            <a:srgbClr val="FFFF00"/>
          </a:solidFill>
          <a:ln w="952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600" b="1">
                <a:solidFill>
                  <a:srgbClr val="FF0000"/>
                </a:solidFill>
                <a:latin typeface="微软雅黑" panose="020B0503020204020204" pitchFamily="34" charset="-122"/>
              </a:rPr>
              <a:t>主机蠕虫</a:t>
            </a:r>
            <a:r>
              <a:rPr lang="zh-CN" altLang="en-US" sz="1600" b="1">
                <a:latin typeface="微软雅黑" panose="020B0503020204020204" pitchFamily="34" charset="-122"/>
              </a:rPr>
              <a:t>：</a:t>
            </a:r>
            <a:endParaRPr lang="en-US" altLang="zh-CN" sz="1600" b="1">
              <a:latin typeface="微软雅黑" panose="020B0503020204020204" pitchFamily="34" charset="-122"/>
            </a:endParaRPr>
          </a:p>
          <a:p>
            <a:pPr algn="ctr" eaLnBrk="1" hangingPunct="1"/>
            <a:r>
              <a:rPr lang="zh-CN" altLang="en-US" sz="1600" b="1">
                <a:latin typeface="微软雅黑" panose="020B0503020204020204" pitchFamily="34" charset="-122"/>
              </a:rPr>
              <a:t>在将其拷贝加入到另外的主机后，就会终止自身</a:t>
            </a:r>
            <a:endParaRPr lang="en-US" altLang="zh-CN" sz="1600" b="1">
              <a:latin typeface="微软雅黑" panose="020B0503020204020204" pitchFamily="34" charset="-122"/>
            </a:endParaRPr>
          </a:p>
          <a:p>
            <a:pPr algn="ctr" eaLnBrk="1" hangingPunct="1"/>
            <a:r>
              <a:rPr lang="en-US" altLang="zh-CN" sz="1600" b="1">
                <a:latin typeface="微软雅黑" panose="020B0503020204020204" pitchFamily="34" charset="-122"/>
              </a:rPr>
              <a:t>(</a:t>
            </a:r>
            <a:r>
              <a:rPr lang="zh-CN" altLang="en-US" sz="1600" b="1">
                <a:solidFill>
                  <a:srgbClr val="FF0000"/>
                </a:solidFill>
                <a:latin typeface="微软雅黑" panose="020B0503020204020204" pitchFamily="34" charset="-122"/>
              </a:rPr>
              <a:t>因此在任意给定的时刻，</a:t>
            </a:r>
            <a:endParaRPr lang="en-US" altLang="zh-CN" sz="1600" b="1">
              <a:solidFill>
                <a:srgbClr val="FF0000"/>
              </a:solidFill>
              <a:latin typeface="微软雅黑" panose="020B0503020204020204" pitchFamily="34" charset="-122"/>
            </a:endParaRPr>
          </a:p>
          <a:p>
            <a:pPr algn="ctr" eaLnBrk="1" hangingPunct="1"/>
            <a:r>
              <a:rPr lang="zh-CN" altLang="en-US" sz="1600" b="1">
                <a:solidFill>
                  <a:srgbClr val="FF0000"/>
                </a:solidFill>
                <a:latin typeface="微软雅黑" panose="020B0503020204020204" pitchFamily="34" charset="-122"/>
              </a:rPr>
              <a:t>只有一个主机蠕虫的拷贝运行</a:t>
            </a:r>
            <a:r>
              <a:rPr lang="en-US" altLang="zh-CN" sz="1600" b="1">
                <a:latin typeface="微软雅黑" panose="020B0503020204020204" pitchFamily="34" charset="-122"/>
              </a:rPr>
              <a:t>)</a:t>
            </a:r>
            <a:r>
              <a:rPr lang="zh-CN" altLang="en-US" sz="1600" b="1">
                <a:latin typeface="微软雅黑" panose="020B0503020204020204" pitchFamily="34" charset="-122"/>
              </a:rPr>
              <a:t>，</a:t>
            </a:r>
            <a:endParaRPr lang="en-US" altLang="zh-CN" sz="1600" b="1">
              <a:latin typeface="微软雅黑" panose="020B0503020204020204" pitchFamily="34" charset="-122"/>
            </a:endParaRPr>
          </a:p>
          <a:p>
            <a:pPr algn="ctr" eaLnBrk="1" hangingPunct="1"/>
            <a:r>
              <a:rPr lang="zh-CN" altLang="en-US" sz="1600" b="1">
                <a:latin typeface="微软雅黑" panose="020B0503020204020204" pitchFamily="34" charset="-122"/>
              </a:rPr>
              <a:t>这种蠕虫有时也叫</a:t>
            </a:r>
            <a:r>
              <a:rPr lang="en-US" altLang="zh-CN" sz="1600" b="1">
                <a:solidFill>
                  <a:srgbClr val="FF0000"/>
                </a:solidFill>
                <a:latin typeface="微软雅黑" panose="020B0503020204020204" pitchFamily="34" charset="-122"/>
              </a:rPr>
              <a:t>“</a:t>
            </a:r>
            <a:r>
              <a:rPr lang="zh-CN" altLang="en-US" sz="1600" b="1">
                <a:solidFill>
                  <a:srgbClr val="FF0000"/>
                </a:solidFill>
                <a:latin typeface="微软雅黑" panose="020B0503020204020204" pitchFamily="34" charset="-122"/>
              </a:rPr>
              <a:t>野兔</a:t>
            </a:r>
            <a:r>
              <a:rPr lang="en-US" altLang="zh-CN" sz="1600" b="1">
                <a:solidFill>
                  <a:srgbClr val="FF0000"/>
                </a:solidFill>
                <a:latin typeface="微软雅黑" panose="020B0503020204020204" pitchFamily="34" charset="-122"/>
              </a:rPr>
              <a:t>”</a:t>
            </a:r>
            <a:r>
              <a:rPr lang="zh-CN" altLang="en-US" sz="1600" b="1">
                <a:solidFill>
                  <a:srgbClr val="FF0000"/>
                </a:solidFill>
                <a:latin typeface="微软雅黑" panose="020B0503020204020204" pitchFamily="34" charset="-122"/>
              </a:rPr>
              <a:t> </a:t>
            </a:r>
            <a:endParaRPr lang="zh-CN" altLang="en-US" sz="1600" b="1">
              <a:latin typeface="微软雅黑" panose="020B0503020204020204" pitchFamily="34" charset="-122"/>
            </a:endParaRP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animBg="1"/>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0658" name="Picture 5" descr="C:\Users\P51\AppData\Roaming\Tencent\Users\173375927\QQ\WinTemp\RichOle\6DFH%MDA19Z]86[Q{$K}$O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4500" y="4052888"/>
            <a:ext cx="1044575" cy="109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7" name="内容占位符 2"/>
          <p:cNvSpPr>
            <a:spLocks noGrp="1"/>
          </p:cNvSpPr>
          <p:nvPr>
            <p:ph idx="1"/>
          </p:nvPr>
        </p:nvSpPr>
        <p:spPr>
          <a:xfrm>
            <a:off x="285750" y="1285875"/>
            <a:ext cx="8572500" cy="2857500"/>
          </a:xfrm>
        </p:spPr>
        <p:txBody>
          <a:bodyPr/>
          <a:lstStyle/>
          <a:p>
            <a:pPr>
              <a:buFont typeface="Wingdings" panose="05000000000000000000" pitchFamily="2" charset="2"/>
              <a:buNone/>
              <a:defRPr/>
            </a:pPr>
            <a:r>
              <a:rPr lang="en-US" altLang="zh-CN" sz="2000" b="1" dirty="0">
                <a:solidFill>
                  <a:schemeClr val="accent6"/>
                </a:solidFill>
              </a:rPr>
              <a:t>2. </a:t>
            </a:r>
            <a:r>
              <a:rPr lang="zh-CN" altLang="zh-CN" sz="2000" b="1" dirty="0">
                <a:solidFill>
                  <a:schemeClr val="accent6"/>
                </a:solidFill>
              </a:rPr>
              <a:t>蠕虫的分类</a:t>
            </a:r>
          </a:p>
          <a:p>
            <a:pPr>
              <a:buFont typeface="Wingdings" panose="05000000000000000000" pitchFamily="2" charset="2"/>
              <a:buNone/>
              <a:defRPr/>
            </a:pPr>
            <a:r>
              <a:rPr lang="zh-CN" altLang="en-US" sz="1800" b="1" dirty="0">
                <a:solidFill>
                  <a:srgbClr val="FF0000"/>
                </a:solidFill>
              </a:rPr>
              <a:t>根据</a:t>
            </a:r>
            <a:r>
              <a:rPr lang="zh-CN" altLang="zh-CN" sz="1800" b="1" dirty="0">
                <a:solidFill>
                  <a:srgbClr val="FF0000"/>
                </a:solidFill>
              </a:rPr>
              <a:t>蠕虫的传播、运作方式</a:t>
            </a:r>
            <a:r>
              <a:rPr lang="zh-CN" altLang="zh-CN" sz="1800" b="1" dirty="0"/>
              <a:t>，可将蠕虫分为两类：</a:t>
            </a:r>
            <a:r>
              <a:rPr lang="zh-CN" altLang="zh-CN" sz="1800" b="1" dirty="0">
                <a:solidFill>
                  <a:srgbClr val="0033CC"/>
                </a:solidFill>
              </a:rPr>
              <a:t>主机蠕虫</a:t>
            </a:r>
            <a:r>
              <a:rPr lang="zh-CN" altLang="zh-CN" sz="1800" b="1" dirty="0"/>
              <a:t>和</a:t>
            </a:r>
            <a:r>
              <a:rPr lang="zh-CN" altLang="zh-CN" sz="1800" b="1" dirty="0">
                <a:solidFill>
                  <a:srgbClr val="0033CC"/>
                </a:solidFill>
              </a:rPr>
              <a:t>网络蠕虫</a:t>
            </a:r>
            <a:r>
              <a:rPr lang="zh-CN" altLang="zh-CN" sz="1800" b="1" dirty="0"/>
              <a:t>。</a:t>
            </a:r>
          </a:p>
          <a:p>
            <a:pPr indent="-36195">
              <a:defRPr/>
            </a:pPr>
            <a:r>
              <a:rPr lang="zh-CN" altLang="zh-CN" sz="1800" b="1" dirty="0">
                <a:solidFill>
                  <a:srgbClr val="0033CC"/>
                </a:solidFill>
              </a:rPr>
              <a:t>主机蠕虫</a:t>
            </a:r>
            <a:r>
              <a:rPr lang="zh-CN" altLang="zh-CN" sz="1800" b="1" dirty="0">
                <a:solidFill>
                  <a:schemeClr val="bg2">
                    <a:lumMod val="25000"/>
                  </a:schemeClr>
                </a:solidFill>
              </a:rPr>
              <a:t>。</a:t>
            </a:r>
            <a:r>
              <a:rPr lang="zh-CN" altLang="zh-CN" sz="1800" b="1" dirty="0">
                <a:solidFill>
                  <a:srgbClr val="FF0000"/>
                </a:solidFill>
              </a:rPr>
              <a:t>所有部分均包含在其所运行的计算机中</a:t>
            </a:r>
            <a:r>
              <a:rPr lang="zh-CN" altLang="zh-CN" sz="1800" b="1" dirty="0"/>
              <a:t>，利用网络连接仅仅是为了</a:t>
            </a:r>
            <a:endParaRPr lang="en-US" altLang="zh-CN" sz="1800" b="1" dirty="0"/>
          </a:p>
          <a:p>
            <a:pPr indent="-36195">
              <a:buFont typeface="Wingdings" panose="05000000000000000000" pitchFamily="2" charset="2"/>
              <a:buNone/>
              <a:defRPr/>
            </a:pPr>
            <a:r>
              <a:rPr lang="en-US" altLang="zh-CN" sz="1800" b="1" dirty="0"/>
              <a:t>                    </a:t>
            </a:r>
            <a:r>
              <a:rPr lang="zh-CN" altLang="zh-CN" sz="1800" b="1" dirty="0"/>
              <a:t>将其自身复制到其他计算机中。</a:t>
            </a:r>
            <a:r>
              <a:rPr lang="zh-CN" altLang="en-US" sz="1800" b="1" u="sng" dirty="0">
                <a:solidFill>
                  <a:srgbClr val="FF0000"/>
                </a:solidFill>
                <a:effectLst>
                  <a:outerShdw blurRad="38100" dist="38100" dir="2700000" algn="tl">
                    <a:srgbClr val="000000">
                      <a:alpha val="43137"/>
                    </a:srgbClr>
                  </a:outerShdw>
                </a:effectLst>
              </a:rPr>
              <a:t>（早期）</a:t>
            </a:r>
            <a:endParaRPr lang="en-US" altLang="zh-CN" sz="1800" b="1" u="sng" dirty="0">
              <a:solidFill>
                <a:srgbClr val="FF0000"/>
              </a:solidFill>
              <a:effectLst>
                <a:outerShdw blurRad="38100" dist="38100" dir="2700000" algn="tl">
                  <a:srgbClr val="000000">
                    <a:alpha val="43137"/>
                  </a:srgbClr>
                </a:outerShdw>
              </a:effectLst>
            </a:endParaRPr>
          </a:p>
          <a:p>
            <a:pPr indent="-36195">
              <a:defRPr/>
            </a:pPr>
            <a:r>
              <a:rPr lang="zh-CN" altLang="zh-CN" sz="1800" b="1" dirty="0">
                <a:solidFill>
                  <a:srgbClr val="0033CC"/>
                </a:solidFill>
              </a:rPr>
              <a:t>网络蠕虫</a:t>
            </a:r>
            <a:r>
              <a:rPr lang="zh-CN" altLang="zh-CN" sz="1800" b="1" dirty="0">
                <a:solidFill>
                  <a:schemeClr val="bg2">
                    <a:lumMod val="25000"/>
                  </a:schemeClr>
                </a:solidFill>
              </a:rPr>
              <a:t>。</a:t>
            </a:r>
            <a:r>
              <a:rPr lang="zh-CN" altLang="zh-CN" sz="1800" b="1" dirty="0">
                <a:solidFill>
                  <a:srgbClr val="FF0000"/>
                </a:solidFill>
              </a:rPr>
              <a:t>由许多部分（称为段）组成</a:t>
            </a:r>
            <a:r>
              <a:rPr lang="zh-CN" altLang="zh-CN" sz="1800" b="1" dirty="0"/>
              <a:t>，而且</a:t>
            </a:r>
            <a:r>
              <a:rPr lang="zh-CN" altLang="zh-CN" sz="1800" b="1" dirty="0">
                <a:solidFill>
                  <a:srgbClr val="FF0000"/>
                </a:solidFill>
              </a:rPr>
              <a:t>每一个部分运行在不同的计算机</a:t>
            </a:r>
            <a:endParaRPr lang="en-US" altLang="zh-CN" sz="1800" b="1" dirty="0">
              <a:solidFill>
                <a:srgbClr val="FF0000"/>
              </a:solidFill>
            </a:endParaRPr>
          </a:p>
          <a:p>
            <a:pPr indent="-36195">
              <a:buFont typeface="Wingdings" panose="05000000000000000000" pitchFamily="2" charset="2"/>
              <a:buNone/>
              <a:defRPr/>
            </a:pPr>
            <a:r>
              <a:rPr lang="en-US" altLang="zh-CN" sz="1800" b="1" dirty="0">
                <a:solidFill>
                  <a:srgbClr val="FF0000"/>
                </a:solidFill>
              </a:rPr>
              <a:t>                 </a:t>
            </a:r>
            <a:r>
              <a:rPr lang="zh-CN" altLang="zh-CN" sz="1800" b="1" dirty="0">
                <a:solidFill>
                  <a:srgbClr val="FF0000"/>
                </a:solidFill>
              </a:rPr>
              <a:t>中</a:t>
            </a:r>
            <a:r>
              <a:rPr lang="zh-CN" altLang="zh-CN" sz="1800" b="1" dirty="0"/>
              <a:t>，并且使用网络的目的是为了进行各个部分之间的通信以及传播。</a:t>
            </a:r>
            <a:r>
              <a:rPr lang="en-US" altLang="zh-CN" sz="1800" b="1" dirty="0">
                <a:effectLst>
                  <a:outerShdw blurRad="38100" dist="38100" dir="2700000" algn="tl">
                    <a:srgbClr val="000000">
                      <a:alpha val="43137"/>
                    </a:srgbClr>
                  </a:outerShdw>
                </a:effectLst>
              </a:rPr>
              <a:t>	      </a:t>
            </a:r>
            <a:r>
              <a:rPr lang="zh-CN" altLang="en-US" sz="1800" b="1" u="sng" dirty="0">
                <a:effectLst>
                  <a:outerShdw blurRad="38100" dist="38100" dir="2700000" algn="tl">
                    <a:srgbClr val="000000">
                      <a:alpha val="43137"/>
                    </a:srgbClr>
                  </a:outerShdw>
                </a:effectLst>
              </a:rPr>
              <a:t>（</a:t>
            </a:r>
            <a:r>
              <a:rPr lang="zh-CN" altLang="en-US" sz="1800" b="1" u="sng" dirty="0">
                <a:solidFill>
                  <a:srgbClr val="FF0000"/>
                </a:solidFill>
                <a:effectLst>
                  <a:outerShdw blurRad="38100" dist="38100" dir="2700000" algn="tl">
                    <a:srgbClr val="000000">
                      <a:alpha val="43137"/>
                    </a:srgbClr>
                  </a:outerShdw>
                </a:effectLst>
              </a:rPr>
              <a:t>现代：</a:t>
            </a:r>
            <a:r>
              <a:rPr lang="zh-CN" altLang="en-US" sz="1800" b="1" u="sng" dirty="0">
                <a:effectLst>
                  <a:outerShdw blurRad="38100" dist="38100" dir="2700000" algn="tl">
                    <a:srgbClr val="000000">
                      <a:alpha val="43137"/>
                    </a:srgbClr>
                  </a:outerShdw>
                </a:effectLst>
              </a:rPr>
              <a:t>智能化、自动化和高技术化）</a:t>
            </a:r>
            <a:endParaRPr lang="zh-CN" altLang="zh-CN" sz="1800" b="1" u="sng" dirty="0">
              <a:effectLst>
                <a:outerShdw blurRad="38100" dist="38100" dir="2700000" algn="tl">
                  <a:srgbClr val="000000">
                    <a:alpha val="43137"/>
                  </a:srgbClr>
                </a:outerShdw>
              </a:effectLst>
            </a:endParaRPr>
          </a:p>
        </p:txBody>
      </p:sp>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9.4.3 </a:t>
            </a:r>
            <a:r>
              <a:rPr altLang="en-US" sz="2000" dirty="0"/>
              <a:t>蠕虫的机理与防治</a:t>
            </a:r>
          </a:p>
        </p:txBody>
      </p:sp>
      <p:sp>
        <p:nvSpPr>
          <p:cNvPr id="10" name="圆角右箭头 9"/>
          <p:cNvSpPr/>
          <p:nvPr/>
        </p:nvSpPr>
        <p:spPr bwMode="auto">
          <a:xfrm rot="5400000">
            <a:off x="8551069" y="3490119"/>
            <a:ext cx="503238" cy="539750"/>
          </a:xfrm>
          <a:prstGeom prst="bentArrow">
            <a:avLst/>
          </a:prstGeom>
          <a:solidFill>
            <a:schemeClr val="accent1"/>
          </a:solidFill>
          <a:ln w="9525"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a:p>
        </p:txBody>
      </p:sp>
      <p:sp>
        <p:nvSpPr>
          <p:cNvPr id="70662" name="矩形标注 6"/>
          <p:cNvSpPr>
            <a:spLocks noChangeArrowheads="1"/>
          </p:cNvSpPr>
          <p:nvPr/>
        </p:nvSpPr>
        <p:spPr bwMode="auto">
          <a:xfrm>
            <a:off x="0" y="195263"/>
            <a:ext cx="9144000" cy="2663825"/>
          </a:xfrm>
          <a:prstGeom prst="wedgeRectCallout">
            <a:avLst>
              <a:gd name="adj1" fmla="val -32222"/>
              <a:gd name="adj2" fmla="val 59750"/>
            </a:avLst>
          </a:prstGeom>
          <a:solidFill>
            <a:schemeClr val="accent1"/>
          </a:solidFill>
          <a:ln w="952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eaLnBrk="1" hangingPunct="1"/>
            <a:r>
              <a:rPr lang="zh-CN" altLang="en-US" sz="1600" b="1">
                <a:solidFill>
                  <a:srgbClr val="FF0000"/>
                </a:solidFill>
                <a:latin typeface="微软雅黑" panose="020B0503020204020204" pitchFamily="34" charset="-122"/>
              </a:rPr>
              <a:t>网络蠕虫（以“熊猫烧香”为例）</a:t>
            </a:r>
            <a:r>
              <a:rPr lang="zh-CN" altLang="en-US" sz="1600" b="1">
                <a:latin typeface="微软雅黑" panose="020B0503020204020204" pitchFamily="34" charset="-122"/>
              </a:rPr>
              <a:t>：</a:t>
            </a:r>
            <a:endParaRPr lang="en-US" altLang="zh-CN" sz="1600" b="1">
              <a:latin typeface="微软雅黑" panose="020B0503020204020204" pitchFamily="34" charset="-122"/>
            </a:endParaRPr>
          </a:p>
          <a:p>
            <a:pPr eaLnBrk="1" hangingPunct="1"/>
            <a:r>
              <a:rPr lang="zh-CN" altLang="en-US" sz="1600" b="1"/>
              <a:t>（</a:t>
            </a:r>
            <a:r>
              <a:rPr lang="en-US" altLang="zh-CN" sz="1600" b="1"/>
              <a:t>1</a:t>
            </a:r>
            <a:r>
              <a:rPr lang="zh-CN" altLang="en-US" sz="1600" b="1"/>
              <a:t>）</a:t>
            </a:r>
            <a:r>
              <a:rPr lang="zh-CN" altLang="en-US" sz="1600" b="1">
                <a:solidFill>
                  <a:srgbClr val="FF0000"/>
                </a:solidFill>
              </a:rPr>
              <a:t>原“熊猫烧香”</a:t>
            </a:r>
            <a:r>
              <a:rPr lang="zh-CN" altLang="en-US" sz="1600" b="1"/>
              <a:t>蠕虫只会对</a:t>
            </a:r>
            <a:r>
              <a:rPr lang="en-US" altLang="zh-CN" sz="1600" b="1"/>
              <a:t>EXE</a:t>
            </a:r>
            <a:r>
              <a:rPr lang="zh-CN" altLang="en-US" sz="1600" b="1"/>
              <a:t>图标进行替换，</a:t>
            </a:r>
            <a:r>
              <a:rPr lang="zh-CN" altLang="en-US" sz="1600" b="1">
                <a:solidFill>
                  <a:srgbClr val="0033CC"/>
                </a:solidFill>
              </a:rPr>
              <a:t>并不会对系统本身进行破坏</a:t>
            </a:r>
            <a:r>
              <a:rPr lang="zh-CN" altLang="en-US" sz="1600" b="1"/>
              <a:t>。</a:t>
            </a:r>
            <a:endParaRPr lang="en-US" altLang="zh-CN" sz="1600" b="1"/>
          </a:p>
          <a:p>
            <a:pPr eaLnBrk="1" hangingPunct="1"/>
            <a:r>
              <a:rPr lang="zh-CN" altLang="en-US" sz="1600" b="1"/>
              <a:t>（</a:t>
            </a:r>
            <a:r>
              <a:rPr lang="en-US" altLang="zh-CN" sz="1600" b="1"/>
              <a:t>2</a:t>
            </a:r>
            <a:r>
              <a:rPr lang="zh-CN" altLang="en-US" sz="1600" b="1"/>
              <a:t>）</a:t>
            </a:r>
            <a:r>
              <a:rPr lang="zh-CN" altLang="en-US" sz="1600" b="1">
                <a:solidFill>
                  <a:srgbClr val="FF0000"/>
                </a:solidFill>
              </a:rPr>
              <a:t>“熊猫烧香”的变种</a:t>
            </a:r>
            <a:r>
              <a:rPr lang="zh-CN" altLang="en-US" sz="1600" b="1"/>
              <a:t>，用户电脑中蠕虫后可能会出现</a:t>
            </a:r>
            <a:r>
              <a:rPr lang="zh-CN" altLang="en-US" sz="1600" b="1">
                <a:solidFill>
                  <a:srgbClr val="0033CC"/>
                </a:solidFill>
              </a:rPr>
              <a:t>蓝屏</a:t>
            </a:r>
            <a:r>
              <a:rPr lang="zh-CN" altLang="en-US" sz="1600" b="1"/>
              <a:t>、</a:t>
            </a:r>
            <a:r>
              <a:rPr lang="zh-CN" altLang="en-US" sz="1600" b="1">
                <a:solidFill>
                  <a:srgbClr val="0033CC"/>
                </a:solidFill>
              </a:rPr>
              <a:t>频繁重启</a:t>
            </a:r>
            <a:r>
              <a:rPr lang="zh-CN" altLang="en-US" sz="1600" b="1"/>
              <a:t>以及系统硬盘中</a:t>
            </a:r>
            <a:r>
              <a:rPr lang="zh-CN" altLang="en-US" sz="1600" b="1">
                <a:solidFill>
                  <a:srgbClr val="0033CC"/>
                </a:solidFill>
              </a:rPr>
              <a:t>数据文件</a:t>
            </a:r>
            <a:endParaRPr lang="en-US" altLang="zh-CN" sz="1600" b="1">
              <a:solidFill>
                <a:srgbClr val="0033CC"/>
              </a:solidFill>
            </a:endParaRPr>
          </a:p>
          <a:p>
            <a:pPr eaLnBrk="1" hangingPunct="1"/>
            <a:r>
              <a:rPr lang="zh-CN" altLang="en-US" sz="1600" b="1">
                <a:solidFill>
                  <a:srgbClr val="0033CC"/>
                </a:solidFill>
              </a:rPr>
              <a:t>被破坏</a:t>
            </a:r>
            <a:r>
              <a:rPr lang="zh-CN" altLang="en-US" sz="1600" b="1"/>
              <a:t>等现象。同时，该病毒的某些变种可以通过局域网进行传播，进而感染局域网内所有计算机</a:t>
            </a:r>
            <a:endParaRPr lang="en-US" altLang="zh-CN" sz="1600" b="1"/>
          </a:p>
          <a:p>
            <a:pPr eaLnBrk="1" hangingPunct="1"/>
            <a:r>
              <a:rPr lang="zh-CN" altLang="en-US" sz="1600" b="1"/>
              <a:t>系统，最终导致企业局域网瘫痪，无法正常使用，</a:t>
            </a:r>
            <a:endParaRPr lang="en-US" altLang="zh-CN" sz="1600" b="1"/>
          </a:p>
          <a:p>
            <a:pPr eaLnBrk="1" hangingPunct="1"/>
            <a:r>
              <a:rPr lang="zh-CN" altLang="en-US" sz="1600" b="1"/>
              <a:t>（</a:t>
            </a:r>
            <a:r>
              <a:rPr lang="en-US" altLang="zh-CN" sz="1600" b="1"/>
              <a:t>3</a:t>
            </a:r>
            <a:r>
              <a:rPr lang="zh-CN" altLang="en-US" sz="1600" b="1"/>
              <a:t>）它能感染系统中</a:t>
            </a:r>
            <a:r>
              <a:rPr lang="en-US" altLang="zh-CN" sz="1600" b="1"/>
              <a:t>exe</a:t>
            </a:r>
            <a:r>
              <a:rPr lang="zh-CN" altLang="en-US" sz="1600" b="1"/>
              <a:t>，</a:t>
            </a:r>
            <a:r>
              <a:rPr lang="en-US" altLang="zh-CN" sz="1600" b="1"/>
              <a:t>com</a:t>
            </a:r>
            <a:r>
              <a:rPr lang="zh-CN" altLang="en-US" sz="1600" b="1"/>
              <a:t>，</a:t>
            </a:r>
            <a:r>
              <a:rPr lang="en-US" altLang="zh-CN" sz="1600" b="1"/>
              <a:t>pif</a:t>
            </a:r>
            <a:r>
              <a:rPr lang="zh-CN" altLang="en-US" sz="1600" b="1"/>
              <a:t>，</a:t>
            </a:r>
            <a:r>
              <a:rPr lang="en-US" altLang="zh-CN" sz="1600" b="1"/>
              <a:t>src</a:t>
            </a:r>
            <a:r>
              <a:rPr lang="zh-CN" altLang="en-US" sz="1600" b="1"/>
              <a:t>，</a:t>
            </a:r>
            <a:r>
              <a:rPr lang="en-US" altLang="zh-CN" sz="1600" b="1"/>
              <a:t>html</a:t>
            </a:r>
            <a:r>
              <a:rPr lang="zh-CN" altLang="en-US" sz="1600" b="1"/>
              <a:t>，</a:t>
            </a:r>
            <a:r>
              <a:rPr lang="en-US" altLang="zh-CN" sz="1600" b="1"/>
              <a:t>asp</a:t>
            </a:r>
            <a:r>
              <a:rPr lang="zh-CN" altLang="en-US" sz="1600" b="1"/>
              <a:t>等文件，它还能</a:t>
            </a:r>
            <a:r>
              <a:rPr lang="zh-CN" altLang="en-US" sz="1600" b="1">
                <a:solidFill>
                  <a:srgbClr val="0033CC"/>
                </a:solidFill>
              </a:rPr>
              <a:t>终止大量的反病毒软件进程</a:t>
            </a:r>
            <a:endParaRPr lang="en-US" altLang="zh-CN" sz="1600" b="1">
              <a:solidFill>
                <a:srgbClr val="0033CC"/>
              </a:solidFill>
            </a:endParaRPr>
          </a:p>
          <a:p>
            <a:pPr eaLnBrk="1" hangingPunct="1"/>
            <a:r>
              <a:rPr lang="zh-CN" altLang="en-US" sz="1600" b="1"/>
              <a:t>并且会</a:t>
            </a:r>
            <a:r>
              <a:rPr lang="zh-CN" altLang="en-US" sz="1600" b="1">
                <a:solidFill>
                  <a:srgbClr val="0033CC"/>
                </a:solidFill>
              </a:rPr>
              <a:t>删除扩展名为</a:t>
            </a:r>
            <a:r>
              <a:rPr lang="en-US" altLang="zh-CN" sz="1600" b="1">
                <a:solidFill>
                  <a:srgbClr val="0033CC"/>
                </a:solidFill>
              </a:rPr>
              <a:t>gho</a:t>
            </a:r>
            <a:r>
              <a:rPr lang="zh-CN" altLang="en-US" sz="1600" b="1">
                <a:solidFill>
                  <a:srgbClr val="0033CC"/>
                </a:solidFill>
              </a:rPr>
              <a:t>的备份文件</a:t>
            </a:r>
            <a:r>
              <a:rPr lang="zh-CN" altLang="en-US" sz="1600" b="1"/>
              <a:t>。</a:t>
            </a:r>
            <a:endParaRPr lang="en-US" altLang="zh-CN" sz="1600" b="1"/>
          </a:p>
          <a:p>
            <a:pPr eaLnBrk="1" hangingPunct="1"/>
            <a:r>
              <a:rPr lang="zh-CN" altLang="en-US" sz="1600" b="1"/>
              <a:t>（</a:t>
            </a:r>
            <a:r>
              <a:rPr lang="en-US" altLang="zh-CN" sz="1600" b="1"/>
              <a:t>4</a:t>
            </a:r>
            <a:r>
              <a:rPr lang="zh-CN" altLang="en-US" sz="1600" b="1"/>
              <a:t>）被感染的用户系统中</a:t>
            </a:r>
            <a:r>
              <a:rPr lang="zh-CN" altLang="en-US" sz="1600" b="1">
                <a:solidFill>
                  <a:srgbClr val="0033CC"/>
                </a:solidFill>
              </a:rPr>
              <a:t>所有</a:t>
            </a:r>
            <a:r>
              <a:rPr lang="en-US" altLang="zh-CN" sz="1600" b="1">
                <a:solidFill>
                  <a:srgbClr val="0033CC"/>
                </a:solidFill>
              </a:rPr>
              <a:t>.exe</a:t>
            </a:r>
            <a:r>
              <a:rPr lang="zh-CN" altLang="en-US" sz="1600" b="1">
                <a:solidFill>
                  <a:srgbClr val="0033CC"/>
                </a:solidFill>
              </a:rPr>
              <a:t>可执行文件全部被改成熊猫举着三根香的模样</a:t>
            </a:r>
            <a:r>
              <a:rPr lang="zh-CN" altLang="en-US" sz="1600" b="1"/>
              <a:t>。</a:t>
            </a:r>
            <a:endParaRPr lang="zh-CN" altLang="en-US" sz="1600" b="1">
              <a:latin typeface="微软雅黑" panose="020B0503020204020204" pitchFamily="34" charset="-122"/>
            </a:endParaRPr>
          </a:p>
          <a:p>
            <a:pPr eaLnBrk="1" hangingPunct="1"/>
            <a:endParaRPr lang="zh-CN" altLang="en-US" sz="1600" b="1"/>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1" nodeType="clickEffect">
                                  <p:stCondLst>
                                    <p:cond delay="0"/>
                                  </p:stCondLst>
                                  <p:childTnLst>
                                    <p:set>
                                      <p:cBhvr>
                                        <p:cTn id="6" dur="1" fill="hold">
                                          <p:stCondLst>
                                            <p:cond delay="0"/>
                                          </p:stCondLst>
                                        </p:cTn>
                                        <p:tgtEl>
                                          <p:spTgt spid="70662"/>
                                        </p:tgtEl>
                                        <p:attrNameLst>
                                          <p:attrName>style.visibility</p:attrName>
                                        </p:attrNameLst>
                                      </p:cBhvr>
                                      <p:to>
                                        <p:strVal val="visible"/>
                                      </p:to>
                                    </p:set>
                                    <p:animEffect transition="in" filter="randombar(horizontal)">
                                      <p:cBhvr>
                                        <p:cTn id="7" dur="500"/>
                                        <p:tgtEl>
                                          <p:spTgt spid="70662"/>
                                        </p:tgtEl>
                                      </p:cBhvr>
                                    </p:animEffect>
                                  </p:childTnLst>
                                </p:cTn>
                              </p:par>
                              <p:par>
                                <p:cTn id="8" presetID="14" presetClass="entr" presetSubtype="10" fill="hold" nodeType="withEffect">
                                  <p:stCondLst>
                                    <p:cond delay="0"/>
                                  </p:stCondLst>
                                  <p:childTnLst>
                                    <p:set>
                                      <p:cBhvr>
                                        <p:cTn id="9" dur="1" fill="hold">
                                          <p:stCondLst>
                                            <p:cond delay="0"/>
                                          </p:stCondLst>
                                        </p:cTn>
                                        <p:tgtEl>
                                          <p:spTgt spid="70658"/>
                                        </p:tgtEl>
                                        <p:attrNameLst>
                                          <p:attrName>style.visibility</p:attrName>
                                        </p:attrNameLst>
                                      </p:cBhvr>
                                      <p:to>
                                        <p:strVal val="visible"/>
                                      </p:to>
                                    </p:set>
                                    <p:animEffect transition="in" filter="randombar(horizontal)">
                                      <p:cBhvr>
                                        <p:cTn id="10" dur="500"/>
                                        <p:tgtEl>
                                          <p:spTgt spid="70658"/>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randombar(horizontal)">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70662" grpId="1" animBg="1"/>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7" name="内容占位符 2"/>
          <p:cNvSpPr>
            <a:spLocks noGrp="1"/>
          </p:cNvSpPr>
          <p:nvPr>
            <p:ph idx="1"/>
          </p:nvPr>
        </p:nvSpPr>
        <p:spPr>
          <a:xfrm>
            <a:off x="285750" y="1285875"/>
            <a:ext cx="8572500" cy="2857500"/>
          </a:xfrm>
        </p:spPr>
        <p:txBody>
          <a:bodyPr/>
          <a:lstStyle/>
          <a:p>
            <a:pPr>
              <a:buFont typeface="Wingdings" panose="05000000000000000000" pitchFamily="2" charset="2"/>
              <a:buNone/>
              <a:defRPr/>
            </a:pPr>
            <a:r>
              <a:rPr lang="en-US" altLang="zh-CN" sz="2000" b="1" dirty="0">
                <a:solidFill>
                  <a:schemeClr val="accent6"/>
                </a:solidFill>
              </a:rPr>
              <a:t>2. </a:t>
            </a:r>
            <a:r>
              <a:rPr lang="zh-CN" altLang="zh-CN" sz="2000" b="1" dirty="0">
                <a:solidFill>
                  <a:schemeClr val="accent6"/>
                </a:solidFill>
              </a:rPr>
              <a:t>蠕虫的分类</a:t>
            </a:r>
          </a:p>
          <a:p>
            <a:pPr>
              <a:buFont typeface="Wingdings" panose="05000000000000000000" pitchFamily="2" charset="2"/>
              <a:buNone/>
              <a:defRPr/>
            </a:pPr>
            <a:r>
              <a:rPr lang="zh-CN" altLang="en-US" sz="1800" b="1" dirty="0">
                <a:solidFill>
                  <a:srgbClr val="FF0000"/>
                </a:solidFill>
              </a:rPr>
              <a:t>根据</a:t>
            </a:r>
            <a:r>
              <a:rPr lang="zh-CN" altLang="zh-CN" sz="1800" b="1" dirty="0">
                <a:solidFill>
                  <a:srgbClr val="FF0000"/>
                </a:solidFill>
              </a:rPr>
              <a:t>蠕虫的传播、运作方式</a:t>
            </a:r>
            <a:r>
              <a:rPr lang="zh-CN" altLang="zh-CN" sz="1800" b="1" dirty="0"/>
              <a:t>，可将蠕虫分为两类：</a:t>
            </a:r>
            <a:r>
              <a:rPr lang="zh-CN" altLang="zh-CN" sz="1800" b="1" dirty="0">
                <a:solidFill>
                  <a:srgbClr val="0033CC"/>
                </a:solidFill>
              </a:rPr>
              <a:t>主机蠕虫</a:t>
            </a:r>
            <a:r>
              <a:rPr lang="zh-CN" altLang="zh-CN" sz="1800" b="1" dirty="0"/>
              <a:t>和</a:t>
            </a:r>
            <a:r>
              <a:rPr lang="zh-CN" altLang="zh-CN" sz="1800" b="1" dirty="0">
                <a:solidFill>
                  <a:srgbClr val="0033CC"/>
                </a:solidFill>
              </a:rPr>
              <a:t>网络蠕虫</a:t>
            </a:r>
            <a:r>
              <a:rPr lang="zh-CN" altLang="zh-CN" sz="1800" b="1" dirty="0"/>
              <a:t>。</a:t>
            </a:r>
          </a:p>
          <a:p>
            <a:pPr indent="-36195">
              <a:defRPr/>
            </a:pPr>
            <a:r>
              <a:rPr lang="zh-CN" altLang="zh-CN" sz="1800" b="1" dirty="0">
                <a:solidFill>
                  <a:srgbClr val="0033CC"/>
                </a:solidFill>
              </a:rPr>
              <a:t>主机蠕虫</a:t>
            </a:r>
            <a:r>
              <a:rPr lang="zh-CN" altLang="zh-CN" sz="1800" b="1" dirty="0">
                <a:solidFill>
                  <a:schemeClr val="bg2">
                    <a:lumMod val="25000"/>
                  </a:schemeClr>
                </a:solidFill>
              </a:rPr>
              <a:t>。</a:t>
            </a:r>
            <a:r>
              <a:rPr lang="zh-CN" altLang="zh-CN" sz="1800" b="1" dirty="0">
                <a:solidFill>
                  <a:srgbClr val="FF0000"/>
                </a:solidFill>
              </a:rPr>
              <a:t>所有部分均包含在其所运行的计算机中</a:t>
            </a:r>
            <a:r>
              <a:rPr lang="zh-CN" altLang="zh-CN" sz="1800" b="1" dirty="0"/>
              <a:t>，利用网络连接仅仅是为了</a:t>
            </a:r>
            <a:endParaRPr lang="en-US" altLang="zh-CN" sz="1800" b="1" dirty="0"/>
          </a:p>
          <a:p>
            <a:pPr indent="-36195">
              <a:buFont typeface="Wingdings" panose="05000000000000000000" pitchFamily="2" charset="2"/>
              <a:buNone/>
              <a:defRPr/>
            </a:pPr>
            <a:r>
              <a:rPr lang="en-US" altLang="zh-CN" sz="1800" b="1" dirty="0"/>
              <a:t>                    </a:t>
            </a:r>
            <a:r>
              <a:rPr lang="zh-CN" altLang="zh-CN" sz="1800" b="1" dirty="0"/>
              <a:t>将其自身复制到其他计算机中。</a:t>
            </a:r>
            <a:r>
              <a:rPr lang="zh-CN" altLang="en-US" sz="1800" b="1" u="sng" dirty="0">
                <a:solidFill>
                  <a:srgbClr val="FF0000"/>
                </a:solidFill>
                <a:effectLst>
                  <a:outerShdw blurRad="38100" dist="38100" dir="2700000" algn="tl">
                    <a:srgbClr val="000000">
                      <a:alpha val="43137"/>
                    </a:srgbClr>
                  </a:outerShdw>
                </a:effectLst>
              </a:rPr>
              <a:t>（早期）</a:t>
            </a:r>
            <a:endParaRPr lang="en-US" altLang="zh-CN" sz="1800" b="1" u="sng" dirty="0">
              <a:solidFill>
                <a:srgbClr val="FF0000"/>
              </a:solidFill>
              <a:effectLst>
                <a:outerShdw blurRad="38100" dist="38100" dir="2700000" algn="tl">
                  <a:srgbClr val="000000">
                    <a:alpha val="43137"/>
                  </a:srgbClr>
                </a:outerShdw>
              </a:effectLst>
            </a:endParaRPr>
          </a:p>
          <a:p>
            <a:pPr indent="-36195">
              <a:defRPr/>
            </a:pPr>
            <a:r>
              <a:rPr lang="zh-CN" altLang="zh-CN" sz="1800" b="1" dirty="0">
                <a:solidFill>
                  <a:srgbClr val="0033CC"/>
                </a:solidFill>
              </a:rPr>
              <a:t>网络蠕虫</a:t>
            </a:r>
            <a:r>
              <a:rPr lang="zh-CN" altLang="zh-CN" sz="1800" b="1" dirty="0">
                <a:solidFill>
                  <a:schemeClr val="bg2">
                    <a:lumMod val="25000"/>
                  </a:schemeClr>
                </a:solidFill>
              </a:rPr>
              <a:t>。</a:t>
            </a:r>
            <a:r>
              <a:rPr lang="zh-CN" altLang="zh-CN" sz="1800" b="1" dirty="0">
                <a:solidFill>
                  <a:srgbClr val="FF0000"/>
                </a:solidFill>
              </a:rPr>
              <a:t>由许多部分（称为段）组成</a:t>
            </a:r>
            <a:r>
              <a:rPr lang="zh-CN" altLang="zh-CN" sz="1800" b="1" dirty="0"/>
              <a:t>，而且</a:t>
            </a:r>
            <a:r>
              <a:rPr lang="zh-CN" altLang="zh-CN" sz="1800" b="1" dirty="0">
                <a:solidFill>
                  <a:srgbClr val="FF0000"/>
                </a:solidFill>
              </a:rPr>
              <a:t>每一个部分运行在不同的计算机</a:t>
            </a:r>
            <a:endParaRPr lang="en-US" altLang="zh-CN" sz="1800" b="1" dirty="0">
              <a:solidFill>
                <a:srgbClr val="FF0000"/>
              </a:solidFill>
            </a:endParaRPr>
          </a:p>
          <a:p>
            <a:pPr indent="-36195">
              <a:buFont typeface="Wingdings" panose="05000000000000000000" pitchFamily="2" charset="2"/>
              <a:buNone/>
              <a:defRPr/>
            </a:pPr>
            <a:r>
              <a:rPr lang="en-US" altLang="zh-CN" sz="1800" b="1" dirty="0">
                <a:solidFill>
                  <a:srgbClr val="FF0000"/>
                </a:solidFill>
              </a:rPr>
              <a:t>                 </a:t>
            </a:r>
            <a:r>
              <a:rPr lang="zh-CN" altLang="zh-CN" sz="1800" b="1" dirty="0">
                <a:solidFill>
                  <a:srgbClr val="FF0000"/>
                </a:solidFill>
              </a:rPr>
              <a:t>中</a:t>
            </a:r>
            <a:r>
              <a:rPr lang="zh-CN" altLang="zh-CN" sz="1800" b="1" dirty="0"/>
              <a:t>，并且使用网络的目的是为了进行各个部分之间的通信以及传播。</a:t>
            </a:r>
            <a:r>
              <a:rPr lang="en-US" altLang="zh-CN" sz="1800" b="1" dirty="0">
                <a:effectLst>
                  <a:outerShdw blurRad="38100" dist="38100" dir="2700000" algn="tl">
                    <a:srgbClr val="000000">
                      <a:alpha val="43137"/>
                    </a:srgbClr>
                  </a:outerShdw>
                </a:effectLst>
              </a:rPr>
              <a:t>	      </a:t>
            </a:r>
            <a:r>
              <a:rPr lang="zh-CN" altLang="en-US" sz="1800" b="1" u="sng" dirty="0">
                <a:effectLst>
                  <a:outerShdw blurRad="38100" dist="38100" dir="2700000" algn="tl">
                    <a:srgbClr val="000000">
                      <a:alpha val="43137"/>
                    </a:srgbClr>
                  </a:outerShdw>
                </a:effectLst>
              </a:rPr>
              <a:t>（</a:t>
            </a:r>
            <a:r>
              <a:rPr lang="zh-CN" altLang="en-US" sz="1800" b="1" u="sng" dirty="0">
                <a:solidFill>
                  <a:srgbClr val="FF0000"/>
                </a:solidFill>
                <a:effectLst>
                  <a:outerShdw blurRad="38100" dist="38100" dir="2700000" algn="tl">
                    <a:srgbClr val="000000">
                      <a:alpha val="43137"/>
                    </a:srgbClr>
                  </a:outerShdw>
                </a:effectLst>
              </a:rPr>
              <a:t>现代：</a:t>
            </a:r>
            <a:r>
              <a:rPr lang="zh-CN" altLang="en-US" sz="1800" b="1" u="sng" dirty="0">
                <a:effectLst>
                  <a:outerShdw blurRad="38100" dist="38100" dir="2700000" algn="tl">
                    <a:srgbClr val="000000">
                      <a:alpha val="43137"/>
                    </a:srgbClr>
                  </a:outerShdw>
                </a:effectLst>
              </a:rPr>
              <a:t>智能化、自动化和高技术化）</a:t>
            </a:r>
            <a:endParaRPr lang="zh-CN" altLang="zh-CN" sz="1800" b="1" u="sng" dirty="0">
              <a:effectLst>
                <a:outerShdw blurRad="38100" dist="38100" dir="2700000" algn="tl">
                  <a:srgbClr val="000000">
                    <a:alpha val="43137"/>
                  </a:srgbClr>
                </a:outerShdw>
              </a:effectLst>
            </a:endParaRPr>
          </a:p>
        </p:txBody>
      </p:sp>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9.4.3 </a:t>
            </a:r>
            <a:r>
              <a:rPr altLang="en-US" sz="2000" dirty="0"/>
              <a:t>蠕虫的机理与防治</a:t>
            </a:r>
          </a:p>
        </p:txBody>
      </p:sp>
      <p:sp>
        <p:nvSpPr>
          <p:cNvPr id="10" name="圆角右箭头 9"/>
          <p:cNvSpPr/>
          <p:nvPr/>
        </p:nvSpPr>
        <p:spPr bwMode="auto">
          <a:xfrm rot="5400000">
            <a:off x="8551069" y="3490119"/>
            <a:ext cx="503238" cy="539750"/>
          </a:xfrm>
          <a:prstGeom prst="bentArrow">
            <a:avLst/>
          </a:prstGeom>
          <a:solidFill>
            <a:schemeClr val="accent1"/>
          </a:solidFill>
          <a:ln w="9525"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a:p>
        </p:txBody>
      </p:sp>
      <p:sp>
        <p:nvSpPr>
          <p:cNvPr id="70662" name="矩形标注 6"/>
          <p:cNvSpPr>
            <a:spLocks noChangeArrowheads="1"/>
          </p:cNvSpPr>
          <p:nvPr/>
        </p:nvSpPr>
        <p:spPr bwMode="auto">
          <a:xfrm>
            <a:off x="0" y="195263"/>
            <a:ext cx="9144000" cy="2663825"/>
          </a:xfrm>
          <a:prstGeom prst="wedgeRectCallout">
            <a:avLst>
              <a:gd name="adj1" fmla="val -32222"/>
              <a:gd name="adj2" fmla="val 59750"/>
            </a:avLst>
          </a:prstGeom>
          <a:solidFill>
            <a:schemeClr val="accent1"/>
          </a:solidFill>
          <a:ln w="952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eaLnBrk="1" hangingPunct="1"/>
            <a:r>
              <a:rPr lang="zh-CN" altLang="en-US" sz="1600" b="1" dirty="0">
                <a:solidFill>
                  <a:srgbClr val="FF0000"/>
                </a:solidFill>
                <a:latin typeface="微软雅黑" panose="020B0503020204020204" pitchFamily="34" charset="-122"/>
              </a:rPr>
              <a:t>网络蠕虫（以“熊猫烧香”为例）</a:t>
            </a:r>
            <a:r>
              <a:rPr lang="zh-CN" altLang="en-US" sz="1600" b="1" dirty="0">
                <a:latin typeface="微软雅黑" panose="020B0503020204020204" pitchFamily="34" charset="-122"/>
              </a:rPr>
              <a:t>：</a:t>
            </a:r>
            <a:endParaRPr lang="en-US" altLang="zh-CN" sz="1600" b="1" dirty="0">
              <a:latin typeface="微软雅黑" panose="020B0503020204020204" pitchFamily="34" charset="-122"/>
            </a:endParaRPr>
          </a:p>
          <a:p>
            <a:pPr eaLnBrk="1" hangingPunct="1"/>
            <a:r>
              <a:rPr lang="zh-CN" altLang="en-US" sz="1600" b="1" dirty="0"/>
              <a:t>（</a:t>
            </a:r>
            <a:r>
              <a:rPr lang="en-US" altLang="zh-CN" sz="1600" b="1" dirty="0"/>
              <a:t>1</a:t>
            </a:r>
            <a:r>
              <a:rPr lang="zh-CN" altLang="en-US" sz="1600" b="1" dirty="0"/>
              <a:t>）</a:t>
            </a:r>
            <a:r>
              <a:rPr lang="zh-CN" altLang="en-US" sz="1600" b="1" dirty="0">
                <a:solidFill>
                  <a:srgbClr val="FF0000"/>
                </a:solidFill>
              </a:rPr>
              <a:t>原“熊猫烧香”</a:t>
            </a:r>
            <a:r>
              <a:rPr lang="zh-CN" altLang="en-US" sz="1600" b="1" dirty="0"/>
              <a:t>蠕虫只会对</a:t>
            </a:r>
            <a:r>
              <a:rPr lang="en-US" altLang="zh-CN" sz="1600" b="1" dirty="0"/>
              <a:t>EXE</a:t>
            </a:r>
            <a:r>
              <a:rPr lang="zh-CN" altLang="en-US" sz="1600" b="1" dirty="0"/>
              <a:t>图标进行替换，</a:t>
            </a:r>
            <a:r>
              <a:rPr lang="zh-CN" altLang="en-US" sz="1600" b="1" dirty="0">
                <a:solidFill>
                  <a:srgbClr val="0033CC"/>
                </a:solidFill>
              </a:rPr>
              <a:t>并不会对系统本身进行破坏</a:t>
            </a:r>
            <a:r>
              <a:rPr lang="zh-CN" altLang="en-US" sz="1600" b="1" dirty="0"/>
              <a:t>。</a:t>
            </a:r>
            <a:endParaRPr lang="en-US" altLang="zh-CN" sz="1600" b="1" dirty="0"/>
          </a:p>
          <a:p>
            <a:pPr eaLnBrk="1" hangingPunct="1"/>
            <a:r>
              <a:rPr lang="zh-CN" altLang="en-US" sz="1600" b="1" dirty="0"/>
              <a:t>（</a:t>
            </a:r>
            <a:r>
              <a:rPr lang="en-US" altLang="zh-CN" sz="1600" b="1" dirty="0"/>
              <a:t>2</a:t>
            </a:r>
            <a:r>
              <a:rPr lang="zh-CN" altLang="en-US" sz="1600" b="1" dirty="0"/>
              <a:t>）</a:t>
            </a:r>
            <a:r>
              <a:rPr lang="zh-CN" altLang="en-US" sz="1600" b="1" dirty="0">
                <a:solidFill>
                  <a:srgbClr val="FF0000"/>
                </a:solidFill>
              </a:rPr>
              <a:t>“熊猫烧香”的变种</a:t>
            </a:r>
            <a:r>
              <a:rPr lang="zh-CN" altLang="en-US" sz="1600" b="1" dirty="0"/>
              <a:t>，用户电脑中蠕虫后可能会出现</a:t>
            </a:r>
            <a:r>
              <a:rPr lang="zh-CN" altLang="en-US" sz="1600" b="1" dirty="0">
                <a:solidFill>
                  <a:srgbClr val="0033CC"/>
                </a:solidFill>
              </a:rPr>
              <a:t>蓝屏</a:t>
            </a:r>
            <a:r>
              <a:rPr lang="zh-CN" altLang="en-US" sz="1600" b="1" dirty="0"/>
              <a:t>、</a:t>
            </a:r>
            <a:r>
              <a:rPr lang="zh-CN" altLang="en-US" sz="1600" b="1" dirty="0">
                <a:solidFill>
                  <a:srgbClr val="0033CC"/>
                </a:solidFill>
              </a:rPr>
              <a:t>频繁重启</a:t>
            </a:r>
            <a:r>
              <a:rPr lang="zh-CN" altLang="en-US" sz="1600" b="1" dirty="0"/>
              <a:t>以及系统硬盘中</a:t>
            </a:r>
            <a:r>
              <a:rPr lang="zh-CN" altLang="en-US" sz="1600" b="1" dirty="0">
                <a:solidFill>
                  <a:srgbClr val="0033CC"/>
                </a:solidFill>
              </a:rPr>
              <a:t>数据文件</a:t>
            </a:r>
            <a:endParaRPr lang="en-US" altLang="zh-CN" sz="1600" b="1" dirty="0">
              <a:solidFill>
                <a:srgbClr val="0033CC"/>
              </a:solidFill>
            </a:endParaRPr>
          </a:p>
          <a:p>
            <a:pPr eaLnBrk="1" hangingPunct="1"/>
            <a:r>
              <a:rPr lang="zh-CN" altLang="en-US" sz="1600" b="1" dirty="0">
                <a:solidFill>
                  <a:srgbClr val="0033CC"/>
                </a:solidFill>
              </a:rPr>
              <a:t>被破坏</a:t>
            </a:r>
            <a:r>
              <a:rPr lang="zh-CN" altLang="en-US" sz="1600" b="1" dirty="0"/>
              <a:t>等现象。同时，该病毒的某些变种可以通过局域网进行传播，进而感染局域网内所有计算机</a:t>
            </a:r>
            <a:endParaRPr lang="en-US" altLang="zh-CN" sz="1600" b="1" dirty="0"/>
          </a:p>
          <a:p>
            <a:pPr eaLnBrk="1" hangingPunct="1"/>
            <a:r>
              <a:rPr lang="zh-CN" altLang="en-US" sz="1600" b="1" dirty="0"/>
              <a:t>系统，最终导致企业局域网瘫痪，无法正常使用，</a:t>
            </a:r>
            <a:endParaRPr lang="en-US" altLang="zh-CN" sz="1600" b="1" dirty="0"/>
          </a:p>
          <a:p>
            <a:pPr eaLnBrk="1" hangingPunct="1"/>
            <a:r>
              <a:rPr lang="zh-CN" altLang="en-US" sz="1600" b="1" dirty="0"/>
              <a:t>（</a:t>
            </a:r>
            <a:r>
              <a:rPr lang="en-US" altLang="zh-CN" sz="1600" b="1" dirty="0"/>
              <a:t>3</a:t>
            </a:r>
            <a:r>
              <a:rPr lang="zh-CN" altLang="en-US" sz="1600" b="1" dirty="0"/>
              <a:t>）它能感染系统中</a:t>
            </a:r>
            <a:r>
              <a:rPr lang="en-US" altLang="zh-CN" sz="1600" b="1" dirty="0"/>
              <a:t>exe</a:t>
            </a:r>
            <a:r>
              <a:rPr lang="zh-CN" altLang="en-US" sz="1600" b="1" dirty="0"/>
              <a:t>，</a:t>
            </a:r>
            <a:r>
              <a:rPr lang="en-US" altLang="zh-CN" sz="1600" b="1" dirty="0"/>
              <a:t>com</a:t>
            </a:r>
            <a:r>
              <a:rPr lang="zh-CN" altLang="en-US" sz="1600" b="1" dirty="0"/>
              <a:t>，</a:t>
            </a:r>
            <a:r>
              <a:rPr lang="en-US" altLang="zh-CN" sz="1600" b="1" dirty="0" err="1"/>
              <a:t>pif</a:t>
            </a:r>
            <a:r>
              <a:rPr lang="zh-CN" altLang="en-US" sz="1600" b="1" dirty="0"/>
              <a:t>，</a:t>
            </a:r>
            <a:r>
              <a:rPr lang="en-US" altLang="zh-CN" sz="1600" b="1" dirty="0" err="1"/>
              <a:t>src</a:t>
            </a:r>
            <a:r>
              <a:rPr lang="zh-CN" altLang="en-US" sz="1600" b="1" dirty="0"/>
              <a:t>，</a:t>
            </a:r>
            <a:r>
              <a:rPr lang="en-US" altLang="zh-CN" sz="1600" b="1" dirty="0"/>
              <a:t>html</a:t>
            </a:r>
            <a:r>
              <a:rPr lang="zh-CN" altLang="en-US" sz="1600" b="1" dirty="0"/>
              <a:t>，</a:t>
            </a:r>
            <a:r>
              <a:rPr lang="en-US" altLang="zh-CN" sz="1600" b="1" dirty="0"/>
              <a:t>asp</a:t>
            </a:r>
            <a:r>
              <a:rPr lang="zh-CN" altLang="en-US" sz="1600" b="1" dirty="0"/>
              <a:t>等文件，它还能</a:t>
            </a:r>
            <a:r>
              <a:rPr lang="zh-CN" altLang="en-US" sz="1600" b="1" dirty="0">
                <a:solidFill>
                  <a:srgbClr val="0033CC"/>
                </a:solidFill>
              </a:rPr>
              <a:t>终止大量的反病毒软件进程</a:t>
            </a:r>
            <a:endParaRPr lang="en-US" altLang="zh-CN" sz="1600" b="1" dirty="0">
              <a:solidFill>
                <a:srgbClr val="0033CC"/>
              </a:solidFill>
            </a:endParaRPr>
          </a:p>
          <a:p>
            <a:pPr eaLnBrk="1" hangingPunct="1"/>
            <a:r>
              <a:rPr lang="zh-CN" altLang="en-US" sz="1600" b="1" dirty="0"/>
              <a:t>并且会</a:t>
            </a:r>
            <a:r>
              <a:rPr lang="zh-CN" altLang="en-US" sz="1600" b="1" dirty="0">
                <a:solidFill>
                  <a:srgbClr val="0033CC"/>
                </a:solidFill>
              </a:rPr>
              <a:t>删除扩展名为</a:t>
            </a:r>
            <a:r>
              <a:rPr lang="en-US" altLang="zh-CN" sz="1600" b="1" dirty="0" err="1">
                <a:solidFill>
                  <a:srgbClr val="0033CC"/>
                </a:solidFill>
              </a:rPr>
              <a:t>gho</a:t>
            </a:r>
            <a:r>
              <a:rPr lang="zh-CN" altLang="en-US" sz="1600" b="1" dirty="0">
                <a:solidFill>
                  <a:srgbClr val="0033CC"/>
                </a:solidFill>
              </a:rPr>
              <a:t>的备份文件</a:t>
            </a:r>
            <a:r>
              <a:rPr lang="zh-CN" altLang="en-US" sz="1600" b="1" dirty="0"/>
              <a:t>。</a:t>
            </a:r>
            <a:endParaRPr lang="en-US" altLang="zh-CN" sz="1600" b="1" dirty="0"/>
          </a:p>
          <a:p>
            <a:pPr eaLnBrk="1" hangingPunct="1"/>
            <a:r>
              <a:rPr lang="zh-CN" altLang="en-US" sz="1600" b="1" dirty="0"/>
              <a:t>（</a:t>
            </a:r>
            <a:r>
              <a:rPr lang="en-US" altLang="zh-CN" sz="1600" b="1" dirty="0"/>
              <a:t>4</a:t>
            </a:r>
            <a:r>
              <a:rPr lang="zh-CN" altLang="en-US" sz="1600" b="1" dirty="0"/>
              <a:t>）被感染的用户系统中</a:t>
            </a:r>
            <a:r>
              <a:rPr lang="zh-CN" altLang="en-US" sz="1600" b="1" dirty="0">
                <a:solidFill>
                  <a:srgbClr val="0033CC"/>
                </a:solidFill>
              </a:rPr>
              <a:t>所有</a:t>
            </a:r>
            <a:r>
              <a:rPr lang="en-US" altLang="zh-CN" sz="1600" b="1" dirty="0">
                <a:solidFill>
                  <a:srgbClr val="0033CC"/>
                </a:solidFill>
              </a:rPr>
              <a:t>.exe</a:t>
            </a:r>
            <a:r>
              <a:rPr lang="zh-CN" altLang="en-US" sz="1600" b="1" dirty="0">
                <a:solidFill>
                  <a:srgbClr val="0033CC"/>
                </a:solidFill>
              </a:rPr>
              <a:t>可执行文件全部被改成熊猫举着三根香的模样</a:t>
            </a:r>
            <a:r>
              <a:rPr lang="zh-CN" altLang="en-US" sz="1600" b="1" dirty="0"/>
              <a:t>。</a:t>
            </a:r>
            <a:endParaRPr lang="zh-CN" altLang="en-US" sz="1600" b="1" dirty="0">
              <a:latin typeface="微软雅黑" panose="020B0503020204020204" pitchFamily="34" charset="-122"/>
            </a:endParaRPr>
          </a:p>
          <a:p>
            <a:pPr eaLnBrk="1" hangingPunct="1"/>
            <a:endParaRPr lang="zh-CN" altLang="en-US" sz="1600" b="1" dirty="0"/>
          </a:p>
        </p:txBody>
      </p:sp>
      <p:pic>
        <p:nvPicPr>
          <p:cNvPr id="2" name="图片 1"/>
          <p:cNvPicPr>
            <a:picLocks noChangeAspect="1"/>
          </p:cNvPicPr>
          <p:nvPr/>
        </p:nvPicPr>
        <p:blipFill>
          <a:blip r:embed="rId3"/>
          <a:stretch>
            <a:fillRect/>
          </a:stretch>
        </p:blipFill>
        <p:spPr>
          <a:xfrm>
            <a:off x="0" y="46962"/>
            <a:ext cx="4860032" cy="2668804"/>
          </a:xfrm>
          <a:prstGeom prst="rect">
            <a:avLst/>
          </a:prstGeom>
          <a:noFill/>
          <a:ln>
            <a:noFill/>
          </a:ln>
        </p:spPr>
      </p:pic>
      <p:pic>
        <p:nvPicPr>
          <p:cNvPr id="3" name="图片 2"/>
          <p:cNvPicPr>
            <a:picLocks noChangeAspect="1"/>
          </p:cNvPicPr>
          <p:nvPr/>
        </p:nvPicPr>
        <p:blipFill>
          <a:blip r:embed="rId4"/>
          <a:srcRect t="55169"/>
          <a:stretch>
            <a:fillRect/>
          </a:stretch>
        </p:blipFill>
        <p:spPr>
          <a:xfrm>
            <a:off x="5081378" y="33465"/>
            <a:ext cx="4075626" cy="1504670"/>
          </a:xfrm>
          <a:prstGeom prst="rect">
            <a:avLst/>
          </a:prstGeom>
          <a:noFill/>
          <a:ln>
            <a:noFill/>
          </a:ln>
        </p:spPr>
      </p:pic>
      <p:pic>
        <p:nvPicPr>
          <p:cNvPr id="4" name="图片 3"/>
          <p:cNvPicPr>
            <a:picLocks noChangeAspect="1"/>
          </p:cNvPicPr>
          <p:nvPr/>
        </p:nvPicPr>
        <p:blipFill>
          <a:blip r:embed="rId5"/>
          <a:stretch>
            <a:fillRect/>
          </a:stretch>
        </p:blipFill>
        <p:spPr>
          <a:xfrm>
            <a:off x="0" y="3654106"/>
            <a:ext cx="4798561" cy="1448993"/>
          </a:xfrm>
          <a:prstGeom prst="rect">
            <a:avLst/>
          </a:prstGeom>
          <a:noFill/>
          <a:ln>
            <a:noFill/>
          </a:ln>
        </p:spPr>
      </p:pic>
      <p:pic>
        <p:nvPicPr>
          <p:cNvPr id="5" name="图片 4"/>
          <p:cNvPicPr>
            <a:picLocks noChangeAspect="1"/>
          </p:cNvPicPr>
          <p:nvPr/>
        </p:nvPicPr>
        <p:blipFill>
          <a:blip r:embed="rId6"/>
          <a:srcRect t="45728"/>
          <a:stretch>
            <a:fillRect/>
          </a:stretch>
        </p:blipFill>
        <p:spPr>
          <a:xfrm>
            <a:off x="5089525" y="2321864"/>
            <a:ext cx="4036595" cy="1257998"/>
          </a:xfrm>
          <a:prstGeom prst="rect">
            <a:avLst/>
          </a:prstGeom>
          <a:noFill/>
          <a:ln>
            <a:noFill/>
          </a:ln>
        </p:spPr>
      </p:pic>
      <p:pic>
        <p:nvPicPr>
          <p:cNvPr id="6" name="图片 5"/>
          <p:cNvPicPr>
            <a:picLocks noChangeAspect="1"/>
          </p:cNvPicPr>
          <p:nvPr/>
        </p:nvPicPr>
        <p:blipFill>
          <a:blip r:embed="rId7"/>
          <a:stretch>
            <a:fillRect/>
          </a:stretch>
        </p:blipFill>
        <p:spPr>
          <a:xfrm>
            <a:off x="5089525" y="3759994"/>
            <a:ext cx="4022578" cy="1243607"/>
          </a:xfrm>
          <a:prstGeom prst="rect">
            <a:avLst/>
          </a:prstGeom>
          <a:noFill/>
          <a:ln>
            <a:noFill/>
          </a:ln>
        </p:spPr>
      </p:pic>
      <p:sp>
        <p:nvSpPr>
          <p:cNvPr id="7" name="箭头: 右 6"/>
          <p:cNvSpPr/>
          <p:nvPr/>
        </p:nvSpPr>
        <p:spPr bwMode="auto">
          <a:xfrm>
            <a:off x="4572000" y="699542"/>
            <a:ext cx="506988" cy="29289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endParaRPr>
          </a:p>
        </p:txBody>
      </p:sp>
      <p:sp>
        <p:nvSpPr>
          <p:cNvPr id="9" name="箭头: 右 8"/>
          <p:cNvSpPr/>
          <p:nvPr/>
        </p:nvSpPr>
        <p:spPr bwMode="auto">
          <a:xfrm>
            <a:off x="4499992" y="3580407"/>
            <a:ext cx="583547" cy="29289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endParaRPr>
          </a:p>
        </p:txBody>
      </p:sp>
      <p:sp>
        <p:nvSpPr>
          <p:cNvPr id="11" name="箭头: 右 10"/>
          <p:cNvSpPr/>
          <p:nvPr/>
        </p:nvSpPr>
        <p:spPr bwMode="auto">
          <a:xfrm rot="19101758" flipH="1">
            <a:off x="2164559" y="2742654"/>
            <a:ext cx="4282660" cy="29289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endParaRPr>
          </a:p>
        </p:txBody>
      </p:sp>
      <p:pic>
        <p:nvPicPr>
          <p:cNvPr id="70658" name="Picture 5" descr="C:\Users\P51\AppData\Roaming\Tencent\Users\173375927\QQ\WinTemp\RichOle\6DFH%MDA19Z]86[Q{$K}$OY.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87" y="19250"/>
            <a:ext cx="1044575" cy="109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7" name="内容占位符 2"/>
          <p:cNvSpPr>
            <a:spLocks noGrp="1"/>
          </p:cNvSpPr>
          <p:nvPr>
            <p:ph idx="1"/>
          </p:nvPr>
        </p:nvSpPr>
        <p:spPr>
          <a:xfrm>
            <a:off x="285750" y="1285875"/>
            <a:ext cx="8572500" cy="2857500"/>
          </a:xfrm>
        </p:spPr>
        <p:txBody>
          <a:bodyPr/>
          <a:lstStyle/>
          <a:p>
            <a:pPr>
              <a:buFont typeface="Wingdings" panose="05000000000000000000" pitchFamily="2" charset="2"/>
              <a:buNone/>
              <a:defRPr/>
            </a:pPr>
            <a:r>
              <a:rPr lang="en-US" altLang="zh-CN" sz="2000" b="1" dirty="0">
                <a:solidFill>
                  <a:schemeClr val="accent6"/>
                </a:solidFill>
              </a:rPr>
              <a:t>2. </a:t>
            </a:r>
            <a:r>
              <a:rPr lang="zh-CN" altLang="zh-CN" sz="2000" b="1" dirty="0">
                <a:solidFill>
                  <a:schemeClr val="accent6"/>
                </a:solidFill>
              </a:rPr>
              <a:t>蠕虫的分类</a:t>
            </a:r>
          </a:p>
          <a:p>
            <a:pPr>
              <a:buFont typeface="Wingdings" panose="05000000000000000000" pitchFamily="2" charset="2"/>
              <a:buNone/>
              <a:defRPr/>
            </a:pPr>
            <a:r>
              <a:rPr lang="zh-CN" altLang="en-US" sz="1800" b="1" dirty="0">
                <a:solidFill>
                  <a:srgbClr val="FF0000"/>
                </a:solidFill>
              </a:rPr>
              <a:t>根据</a:t>
            </a:r>
            <a:r>
              <a:rPr lang="zh-CN" altLang="zh-CN" sz="1800" b="1" dirty="0">
                <a:solidFill>
                  <a:srgbClr val="FF0000"/>
                </a:solidFill>
              </a:rPr>
              <a:t>蠕虫的传播、运作方式</a:t>
            </a:r>
            <a:r>
              <a:rPr lang="zh-CN" altLang="zh-CN" sz="1800" b="1" dirty="0"/>
              <a:t>，可将蠕虫分为两类：</a:t>
            </a:r>
            <a:r>
              <a:rPr lang="zh-CN" altLang="zh-CN" sz="1800" b="1" dirty="0">
                <a:solidFill>
                  <a:srgbClr val="0033CC"/>
                </a:solidFill>
              </a:rPr>
              <a:t>主机蠕虫</a:t>
            </a:r>
            <a:r>
              <a:rPr lang="zh-CN" altLang="zh-CN" sz="1800" b="1" dirty="0"/>
              <a:t>和</a:t>
            </a:r>
            <a:r>
              <a:rPr lang="zh-CN" altLang="zh-CN" sz="1800" b="1" dirty="0">
                <a:solidFill>
                  <a:srgbClr val="0033CC"/>
                </a:solidFill>
              </a:rPr>
              <a:t>网络蠕虫</a:t>
            </a:r>
            <a:r>
              <a:rPr lang="zh-CN" altLang="zh-CN" sz="1800" b="1" dirty="0"/>
              <a:t>。</a:t>
            </a:r>
          </a:p>
          <a:p>
            <a:pPr indent="-36195">
              <a:defRPr/>
            </a:pPr>
            <a:r>
              <a:rPr lang="zh-CN" altLang="zh-CN" sz="1800" b="1" dirty="0">
                <a:solidFill>
                  <a:srgbClr val="0033CC"/>
                </a:solidFill>
              </a:rPr>
              <a:t>主机蠕虫</a:t>
            </a:r>
            <a:r>
              <a:rPr lang="zh-CN" altLang="zh-CN" sz="1800" b="1" dirty="0">
                <a:solidFill>
                  <a:schemeClr val="bg2">
                    <a:lumMod val="25000"/>
                  </a:schemeClr>
                </a:solidFill>
              </a:rPr>
              <a:t>。</a:t>
            </a:r>
            <a:r>
              <a:rPr lang="zh-CN" altLang="zh-CN" sz="1800" b="1" dirty="0">
                <a:solidFill>
                  <a:srgbClr val="FF0000"/>
                </a:solidFill>
              </a:rPr>
              <a:t>所有部分均包含在其所运行的计算机中</a:t>
            </a:r>
            <a:r>
              <a:rPr lang="zh-CN" altLang="zh-CN" sz="1800" b="1" dirty="0"/>
              <a:t>，利用网络连接仅仅是为了</a:t>
            </a:r>
            <a:endParaRPr lang="en-US" altLang="zh-CN" sz="1800" b="1" dirty="0"/>
          </a:p>
          <a:p>
            <a:pPr indent="-36195">
              <a:buFont typeface="Wingdings" panose="05000000000000000000" pitchFamily="2" charset="2"/>
              <a:buNone/>
              <a:defRPr/>
            </a:pPr>
            <a:r>
              <a:rPr lang="en-US" altLang="zh-CN" sz="1800" b="1" dirty="0"/>
              <a:t>                    </a:t>
            </a:r>
            <a:r>
              <a:rPr lang="zh-CN" altLang="zh-CN" sz="1800" b="1" dirty="0"/>
              <a:t>将其自身复制到其他计算机中。</a:t>
            </a:r>
            <a:r>
              <a:rPr lang="zh-CN" altLang="en-US" sz="1800" b="1" u="sng" dirty="0">
                <a:solidFill>
                  <a:srgbClr val="FF0000"/>
                </a:solidFill>
                <a:effectLst>
                  <a:outerShdw blurRad="38100" dist="38100" dir="2700000" algn="tl">
                    <a:srgbClr val="000000">
                      <a:alpha val="43137"/>
                    </a:srgbClr>
                  </a:outerShdw>
                </a:effectLst>
              </a:rPr>
              <a:t>（早期）</a:t>
            </a:r>
            <a:endParaRPr lang="en-US" altLang="zh-CN" sz="1800" b="1" u="sng" dirty="0">
              <a:solidFill>
                <a:srgbClr val="FF0000"/>
              </a:solidFill>
              <a:effectLst>
                <a:outerShdw blurRad="38100" dist="38100" dir="2700000" algn="tl">
                  <a:srgbClr val="000000">
                    <a:alpha val="43137"/>
                  </a:srgbClr>
                </a:outerShdw>
              </a:effectLst>
            </a:endParaRPr>
          </a:p>
          <a:p>
            <a:pPr indent="-36195">
              <a:defRPr/>
            </a:pPr>
            <a:r>
              <a:rPr lang="zh-CN" altLang="zh-CN" sz="1800" b="1" dirty="0">
                <a:solidFill>
                  <a:srgbClr val="0033CC"/>
                </a:solidFill>
              </a:rPr>
              <a:t>网络蠕虫</a:t>
            </a:r>
            <a:r>
              <a:rPr lang="zh-CN" altLang="zh-CN" sz="1800" b="1" dirty="0">
                <a:solidFill>
                  <a:schemeClr val="bg2">
                    <a:lumMod val="25000"/>
                  </a:schemeClr>
                </a:solidFill>
              </a:rPr>
              <a:t>。</a:t>
            </a:r>
            <a:r>
              <a:rPr lang="zh-CN" altLang="zh-CN" sz="1800" b="1" dirty="0">
                <a:solidFill>
                  <a:srgbClr val="FF0000"/>
                </a:solidFill>
              </a:rPr>
              <a:t>由许多部分（称为段）组成</a:t>
            </a:r>
            <a:r>
              <a:rPr lang="zh-CN" altLang="zh-CN" sz="1800" b="1" dirty="0"/>
              <a:t>，而且</a:t>
            </a:r>
            <a:r>
              <a:rPr lang="zh-CN" altLang="zh-CN" sz="1800" b="1" dirty="0">
                <a:solidFill>
                  <a:srgbClr val="FF0000"/>
                </a:solidFill>
              </a:rPr>
              <a:t>每一个部分运行在不同的计算机</a:t>
            </a:r>
            <a:endParaRPr lang="en-US" altLang="zh-CN" sz="1800" b="1" dirty="0">
              <a:solidFill>
                <a:srgbClr val="FF0000"/>
              </a:solidFill>
            </a:endParaRPr>
          </a:p>
          <a:p>
            <a:pPr indent="-36195">
              <a:buFont typeface="Wingdings" panose="05000000000000000000" pitchFamily="2" charset="2"/>
              <a:buNone/>
              <a:defRPr/>
            </a:pPr>
            <a:r>
              <a:rPr lang="en-US" altLang="zh-CN" sz="1800" b="1" dirty="0">
                <a:solidFill>
                  <a:srgbClr val="FF0000"/>
                </a:solidFill>
              </a:rPr>
              <a:t>                 </a:t>
            </a:r>
            <a:r>
              <a:rPr lang="zh-CN" altLang="zh-CN" sz="1800" b="1" dirty="0">
                <a:solidFill>
                  <a:srgbClr val="FF0000"/>
                </a:solidFill>
              </a:rPr>
              <a:t>中</a:t>
            </a:r>
            <a:r>
              <a:rPr lang="zh-CN" altLang="zh-CN" sz="1800" b="1" dirty="0"/>
              <a:t>，并且使用网络的目的是为了进行各个部分之间的通信以及传播。</a:t>
            </a:r>
            <a:r>
              <a:rPr lang="en-US" altLang="zh-CN" sz="1800" b="1" dirty="0">
                <a:effectLst>
                  <a:outerShdw blurRad="38100" dist="38100" dir="2700000" algn="tl">
                    <a:srgbClr val="000000">
                      <a:alpha val="43137"/>
                    </a:srgbClr>
                  </a:outerShdw>
                </a:effectLst>
              </a:rPr>
              <a:t>	      </a:t>
            </a:r>
            <a:r>
              <a:rPr lang="zh-CN" altLang="en-US" sz="1800" b="1" u="sng" dirty="0">
                <a:effectLst>
                  <a:outerShdw blurRad="38100" dist="38100" dir="2700000" algn="tl">
                    <a:srgbClr val="000000">
                      <a:alpha val="43137"/>
                    </a:srgbClr>
                  </a:outerShdw>
                </a:effectLst>
              </a:rPr>
              <a:t>（</a:t>
            </a:r>
            <a:r>
              <a:rPr lang="zh-CN" altLang="en-US" sz="1800" b="1" u="sng" dirty="0">
                <a:solidFill>
                  <a:srgbClr val="FF0000"/>
                </a:solidFill>
                <a:effectLst>
                  <a:outerShdw blurRad="38100" dist="38100" dir="2700000" algn="tl">
                    <a:srgbClr val="000000">
                      <a:alpha val="43137"/>
                    </a:srgbClr>
                  </a:outerShdw>
                </a:effectLst>
              </a:rPr>
              <a:t>现代：</a:t>
            </a:r>
            <a:r>
              <a:rPr lang="zh-CN" altLang="en-US" sz="1800" b="1" u="sng" dirty="0">
                <a:effectLst>
                  <a:outerShdw blurRad="38100" dist="38100" dir="2700000" algn="tl">
                    <a:srgbClr val="000000">
                      <a:alpha val="43137"/>
                    </a:srgbClr>
                  </a:outerShdw>
                </a:effectLst>
              </a:rPr>
              <a:t>智能化、自动化和高技术化）</a:t>
            </a:r>
            <a:endParaRPr lang="zh-CN" altLang="zh-CN" sz="1800" b="1" u="sng" dirty="0">
              <a:effectLst>
                <a:outerShdw blurRad="38100" dist="38100" dir="2700000" algn="tl">
                  <a:srgbClr val="000000">
                    <a:alpha val="43137"/>
                  </a:srgbClr>
                </a:outerShdw>
              </a:effectLst>
            </a:endParaRPr>
          </a:p>
        </p:txBody>
      </p:sp>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9.4.3 </a:t>
            </a:r>
            <a:r>
              <a:rPr altLang="en-US" sz="2000" dirty="0"/>
              <a:t>蠕虫的机理与防治</a:t>
            </a:r>
          </a:p>
        </p:txBody>
      </p:sp>
      <p:sp>
        <p:nvSpPr>
          <p:cNvPr id="10" name="圆角右箭头 9"/>
          <p:cNvSpPr/>
          <p:nvPr/>
        </p:nvSpPr>
        <p:spPr bwMode="auto">
          <a:xfrm rot="5400000">
            <a:off x="8551069" y="3490119"/>
            <a:ext cx="503238" cy="539750"/>
          </a:xfrm>
          <a:prstGeom prst="bentArrow">
            <a:avLst/>
          </a:prstGeom>
          <a:solidFill>
            <a:schemeClr val="accent1"/>
          </a:solidFill>
          <a:ln w="9525" cap="flat" cmpd="sng" algn="ctr">
            <a:solidFill>
              <a:schemeClr val="tx1"/>
            </a:solidFill>
            <a:prstDash val="solid"/>
            <a:round/>
            <a:headEnd type="none" w="med" len="med"/>
            <a:tailEnd type="none" w="med" len="med"/>
          </a:ln>
          <a:effectLst/>
        </p:spPr>
        <p:txBody>
          <a:bodyPr wrap="none" anchor="ctr"/>
          <a:lstStyle/>
          <a:p>
            <a:pPr algn="ctr" eaLnBrk="1" hangingPunct="1">
              <a:defRPr/>
            </a:pPr>
            <a:endParaRPr lang="zh-CN" altLang="en-US"/>
          </a:p>
        </p:txBody>
      </p:sp>
      <p:sp>
        <p:nvSpPr>
          <p:cNvPr id="70662" name="矩形标注 6"/>
          <p:cNvSpPr>
            <a:spLocks noChangeArrowheads="1"/>
          </p:cNvSpPr>
          <p:nvPr/>
        </p:nvSpPr>
        <p:spPr bwMode="auto">
          <a:xfrm>
            <a:off x="0" y="195263"/>
            <a:ext cx="9144000" cy="2663825"/>
          </a:xfrm>
          <a:prstGeom prst="wedgeRectCallout">
            <a:avLst>
              <a:gd name="adj1" fmla="val -32222"/>
              <a:gd name="adj2" fmla="val 59750"/>
            </a:avLst>
          </a:prstGeom>
          <a:solidFill>
            <a:schemeClr val="accent1"/>
          </a:solidFill>
          <a:ln w="952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eaLnBrk="1" hangingPunct="1"/>
            <a:r>
              <a:rPr lang="zh-CN" altLang="en-US" sz="1600" b="1" dirty="0">
                <a:solidFill>
                  <a:srgbClr val="FF0000"/>
                </a:solidFill>
                <a:latin typeface="微软雅黑" panose="020B0503020204020204" pitchFamily="34" charset="-122"/>
              </a:rPr>
              <a:t>网络蠕虫（以“熊猫烧香”为例）</a:t>
            </a:r>
            <a:r>
              <a:rPr lang="zh-CN" altLang="en-US" sz="1600" b="1" dirty="0">
                <a:latin typeface="微软雅黑" panose="020B0503020204020204" pitchFamily="34" charset="-122"/>
              </a:rPr>
              <a:t>：</a:t>
            </a:r>
            <a:endParaRPr lang="en-US" altLang="zh-CN" sz="1600" b="1" dirty="0">
              <a:latin typeface="微软雅黑" panose="020B0503020204020204" pitchFamily="34" charset="-122"/>
            </a:endParaRPr>
          </a:p>
          <a:p>
            <a:pPr eaLnBrk="1" hangingPunct="1"/>
            <a:r>
              <a:rPr lang="zh-CN" altLang="en-US" sz="1600" b="1" dirty="0"/>
              <a:t>（</a:t>
            </a:r>
            <a:r>
              <a:rPr lang="en-US" altLang="zh-CN" sz="1600" b="1" dirty="0"/>
              <a:t>1</a:t>
            </a:r>
            <a:r>
              <a:rPr lang="zh-CN" altLang="en-US" sz="1600" b="1" dirty="0"/>
              <a:t>）</a:t>
            </a:r>
            <a:r>
              <a:rPr lang="zh-CN" altLang="en-US" sz="1600" b="1" dirty="0">
                <a:solidFill>
                  <a:srgbClr val="FF0000"/>
                </a:solidFill>
              </a:rPr>
              <a:t>原“熊猫烧香”</a:t>
            </a:r>
            <a:r>
              <a:rPr lang="zh-CN" altLang="en-US" sz="1600" b="1" dirty="0"/>
              <a:t>蠕虫只会对</a:t>
            </a:r>
            <a:r>
              <a:rPr lang="en-US" altLang="zh-CN" sz="1600" b="1" dirty="0"/>
              <a:t>EXE</a:t>
            </a:r>
            <a:r>
              <a:rPr lang="zh-CN" altLang="en-US" sz="1600" b="1" dirty="0"/>
              <a:t>图标进行替换，</a:t>
            </a:r>
            <a:r>
              <a:rPr lang="zh-CN" altLang="en-US" sz="1600" b="1" dirty="0">
                <a:solidFill>
                  <a:srgbClr val="0033CC"/>
                </a:solidFill>
              </a:rPr>
              <a:t>并不会对系统本身进行破坏</a:t>
            </a:r>
            <a:r>
              <a:rPr lang="zh-CN" altLang="en-US" sz="1600" b="1" dirty="0"/>
              <a:t>。</a:t>
            </a:r>
            <a:endParaRPr lang="en-US" altLang="zh-CN" sz="1600" b="1" dirty="0"/>
          </a:p>
          <a:p>
            <a:pPr eaLnBrk="1" hangingPunct="1"/>
            <a:r>
              <a:rPr lang="zh-CN" altLang="en-US" sz="1600" b="1" dirty="0"/>
              <a:t>（</a:t>
            </a:r>
            <a:r>
              <a:rPr lang="en-US" altLang="zh-CN" sz="1600" b="1" dirty="0"/>
              <a:t>2</a:t>
            </a:r>
            <a:r>
              <a:rPr lang="zh-CN" altLang="en-US" sz="1600" b="1" dirty="0"/>
              <a:t>）</a:t>
            </a:r>
            <a:r>
              <a:rPr lang="zh-CN" altLang="en-US" sz="1600" b="1" dirty="0">
                <a:solidFill>
                  <a:srgbClr val="FF0000"/>
                </a:solidFill>
              </a:rPr>
              <a:t>“熊猫烧香”的变种</a:t>
            </a:r>
            <a:r>
              <a:rPr lang="zh-CN" altLang="en-US" sz="1600" b="1" dirty="0"/>
              <a:t>，用户电脑中蠕虫后可能会出现</a:t>
            </a:r>
            <a:r>
              <a:rPr lang="zh-CN" altLang="en-US" sz="1600" b="1" dirty="0">
                <a:solidFill>
                  <a:srgbClr val="0033CC"/>
                </a:solidFill>
              </a:rPr>
              <a:t>蓝屏</a:t>
            </a:r>
            <a:r>
              <a:rPr lang="zh-CN" altLang="en-US" sz="1600" b="1" dirty="0"/>
              <a:t>、</a:t>
            </a:r>
            <a:r>
              <a:rPr lang="zh-CN" altLang="en-US" sz="1600" b="1" dirty="0">
                <a:solidFill>
                  <a:srgbClr val="0033CC"/>
                </a:solidFill>
              </a:rPr>
              <a:t>频繁重启</a:t>
            </a:r>
            <a:r>
              <a:rPr lang="zh-CN" altLang="en-US" sz="1600" b="1" dirty="0"/>
              <a:t>以及系统硬盘中</a:t>
            </a:r>
            <a:r>
              <a:rPr lang="zh-CN" altLang="en-US" sz="1600" b="1" dirty="0">
                <a:solidFill>
                  <a:srgbClr val="0033CC"/>
                </a:solidFill>
              </a:rPr>
              <a:t>数据文件</a:t>
            </a:r>
            <a:endParaRPr lang="en-US" altLang="zh-CN" sz="1600" b="1" dirty="0">
              <a:solidFill>
                <a:srgbClr val="0033CC"/>
              </a:solidFill>
            </a:endParaRPr>
          </a:p>
          <a:p>
            <a:pPr eaLnBrk="1" hangingPunct="1"/>
            <a:r>
              <a:rPr lang="zh-CN" altLang="en-US" sz="1600" b="1" dirty="0">
                <a:solidFill>
                  <a:srgbClr val="0033CC"/>
                </a:solidFill>
              </a:rPr>
              <a:t>被破坏</a:t>
            </a:r>
            <a:r>
              <a:rPr lang="zh-CN" altLang="en-US" sz="1600" b="1" dirty="0"/>
              <a:t>等现象。同时，该病毒的某些变种可以通过局域网进行传播，进而感染局域网内所有计算机</a:t>
            </a:r>
            <a:endParaRPr lang="en-US" altLang="zh-CN" sz="1600" b="1" dirty="0"/>
          </a:p>
          <a:p>
            <a:pPr eaLnBrk="1" hangingPunct="1"/>
            <a:r>
              <a:rPr lang="zh-CN" altLang="en-US" sz="1600" b="1" dirty="0"/>
              <a:t>系统，最终导致企业局域网瘫痪，无法正常使用，</a:t>
            </a:r>
            <a:endParaRPr lang="en-US" altLang="zh-CN" sz="1600" b="1" dirty="0"/>
          </a:p>
          <a:p>
            <a:pPr eaLnBrk="1" hangingPunct="1"/>
            <a:r>
              <a:rPr lang="zh-CN" altLang="en-US" sz="1600" b="1" dirty="0"/>
              <a:t>（</a:t>
            </a:r>
            <a:r>
              <a:rPr lang="en-US" altLang="zh-CN" sz="1600" b="1" dirty="0"/>
              <a:t>3</a:t>
            </a:r>
            <a:r>
              <a:rPr lang="zh-CN" altLang="en-US" sz="1600" b="1" dirty="0"/>
              <a:t>）它能感染系统中</a:t>
            </a:r>
            <a:r>
              <a:rPr lang="en-US" altLang="zh-CN" sz="1600" b="1" dirty="0"/>
              <a:t>exe</a:t>
            </a:r>
            <a:r>
              <a:rPr lang="zh-CN" altLang="en-US" sz="1600" b="1" dirty="0"/>
              <a:t>，</a:t>
            </a:r>
            <a:r>
              <a:rPr lang="en-US" altLang="zh-CN" sz="1600" b="1" dirty="0"/>
              <a:t>com</a:t>
            </a:r>
            <a:r>
              <a:rPr lang="zh-CN" altLang="en-US" sz="1600" b="1" dirty="0"/>
              <a:t>，</a:t>
            </a:r>
            <a:r>
              <a:rPr lang="en-US" altLang="zh-CN" sz="1600" b="1" dirty="0" err="1"/>
              <a:t>pif</a:t>
            </a:r>
            <a:r>
              <a:rPr lang="zh-CN" altLang="en-US" sz="1600" b="1" dirty="0"/>
              <a:t>，</a:t>
            </a:r>
            <a:r>
              <a:rPr lang="en-US" altLang="zh-CN" sz="1600" b="1" dirty="0" err="1"/>
              <a:t>src</a:t>
            </a:r>
            <a:r>
              <a:rPr lang="zh-CN" altLang="en-US" sz="1600" b="1" dirty="0"/>
              <a:t>，</a:t>
            </a:r>
            <a:r>
              <a:rPr lang="en-US" altLang="zh-CN" sz="1600" b="1" dirty="0"/>
              <a:t>html</a:t>
            </a:r>
            <a:r>
              <a:rPr lang="zh-CN" altLang="en-US" sz="1600" b="1" dirty="0"/>
              <a:t>，</a:t>
            </a:r>
            <a:r>
              <a:rPr lang="en-US" altLang="zh-CN" sz="1600" b="1" dirty="0"/>
              <a:t>asp</a:t>
            </a:r>
            <a:r>
              <a:rPr lang="zh-CN" altLang="en-US" sz="1600" b="1" dirty="0"/>
              <a:t>等文件，它还能</a:t>
            </a:r>
            <a:r>
              <a:rPr lang="zh-CN" altLang="en-US" sz="1600" b="1" dirty="0">
                <a:solidFill>
                  <a:srgbClr val="0033CC"/>
                </a:solidFill>
              </a:rPr>
              <a:t>终止大量的反病毒软件进程</a:t>
            </a:r>
            <a:endParaRPr lang="en-US" altLang="zh-CN" sz="1600" b="1" dirty="0">
              <a:solidFill>
                <a:srgbClr val="0033CC"/>
              </a:solidFill>
            </a:endParaRPr>
          </a:p>
          <a:p>
            <a:pPr eaLnBrk="1" hangingPunct="1"/>
            <a:r>
              <a:rPr lang="zh-CN" altLang="en-US" sz="1600" b="1" dirty="0"/>
              <a:t>并且会</a:t>
            </a:r>
            <a:r>
              <a:rPr lang="zh-CN" altLang="en-US" sz="1600" b="1" dirty="0">
                <a:solidFill>
                  <a:srgbClr val="0033CC"/>
                </a:solidFill>
              </a:rPr>
              <a:t>删除扩展名为</a:t>
            </a:r>
            <a:r>
              <a:rPr lang="en-US" altLang="zh-CN" sz="1600" b="1" dirty="0" err="1">
                <a:solidFill>
                  <a:srgbClr val="0033CC"/>
                </a:solidFill>
              </a:rPr>
              <a:t>gho</a:t>
            </a:r>
            <a:r>
              <a:rPr lang="zh-CN" altLang="en-US" sz="1600" b="1" dirty="0">
                <a:solidFill>
                  <a:srgbClr val="0033CC"/>
                </a:solidFill>
              </a:rPr>
              <a:t>的备份文件</a:t>
            </a:r>
            <a:r>
              <a:rPr lang="zh-CN" altLang="en-US" sz="1600" b="1" dirty="0"/>
              <a:t>。</a:t>
            </a:r>
            <a:endParaRPr lang="en-US" altLang="zh-CN" sz="1600" b="1" dirty="0"/>
          </a:p>
          <a:p>
            <a:pPr eaLnBrk="1" hangingPunct="1"/>
            <a:r>
              <a:rPr lang="zh-CN" altLang="en-US" sz="1600" b="1" dirty="0"/>
              <a:t>（</a:t>
            </a:r>
            <a:r>
              <a:rPr lang="en-US" altLang="zh-CN" sz="1600" b="1" dirty="0"/>
              <a:t>4</a:t>
            </a:r>
            <a:r>
              <a:rPr lang="zh-CN" altLang="en-US" sz="1600" b="1" dirty="0"/>
              <a:t>）被感染的用户系统中</a:t>
            </a:r>
            <a:r>
              <a:rPr lang="zh-CN" altLang="en-US" sz="1600" b="1" dirty="0">
                <a:solidFill>
                  <a:srgbClr val="0033CC"/>
                </a:solidFill>
              </a:rPr>
              <a:t>所有</a:t>
            </a:r>
            <a:r>
              <a:rPr lang="en-US" altLang="zh-CN" sz="1600" b="1" dirty="0">
                <a:solidFill>
                  <a:srgbClr val="0033CC"/>
                </a:solidFill>
              </a:rPr>
              <a:t>.exe</a:t>
            </a:r>
            <a:r>
              <a:rPr lang="zh-CN" altLang="en-US" sz="1600" b="1" dirty="0">
                <a:solidFill>
                  <a:srgbClr val="0033CC"/>
                </a:solidFill>
              </a:rPr>
              <a:t>可执行文件全部被改成熊猫举着三根香的模样</a:t>
            </a:r>
            <a:r>
              <a:rPr lang="zh-CN" altLang="en-US" sz="1600" b="1" dirty="0"/>
              <a:t>。</a:t>
            </a:r>
            <a:endParaRPr lang="zh-CN" altLang="en-US" sz="1600" b="1" dirty="0">
              <a:latin typeface="微软雅黑" panose="020B0503020204020204" pitchFamily="34" charset="-122"/>
            </a:endParaRPr>
          </a:p>
          <a:p>
            <a:pPr eaLnBrk="1" hangingPunct="1"/>
            <a:endParaRPr lang="zh-CN" altLang="en-US" sz="1600" b="1" dirty="0"/>
          </a:p>
        </p:txBody>
      </p:sp>
      <p:pic>
        <p:nvPicPr>
          <p:cNvPr id="12" name="图片 11"/>
          <p:cNvPicPr>
            <a:picLocks noChangeAspect="1"/>
          </p:cNvPicPr>
          <p:nvPr/>
        </p:nvPicPr>
        <p:blipFill>
          <a:blip r:embed="rId3"/>
          <a:stretch>
            <a:fillRect/>
          </a:stretch>
        </p:blipFill>
        <p:spPr>
          <a:xfrm>
            <a:off x="35496" y="14070"/>
            <a:ext cx="4552065" cy="3401989"/>
          </a:xfrm>
          <a:prstGeom prst="rect">
            <a:avLst/>
          </a:prstGeom>
          <a:noFill/>
          <a:ln>
            <a:noFill/>
          </a:ln>
        </p:spPr>
      </p:pic>
      <p:pic>
        <p:nvPicPr>
          <p:cNvPr id="70658" name="Picture 5" descr="C:\Users\P51\AppData\Roaming\Tencent\Users\173375927\QQ\WinTemp\RichOle\6DFH%MDA19Z]86[Q{$K}$OY.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87" y="19250"/>
            <a:ext cx="1044575" cy="109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12"/>
          <p:cNvPicPr>
            <a:picLocks noChangeAspect="1"/>
          </p:cNvPicPr>
          <p:nvPr/>
        </p:nvPicPr>
        <p:blipFill>
          <a:blip r:embed="rId5"/>
          <a:stretch>
            <a:fillRect/>
          </a:stretch>
        </p:blipFill>
        <p:spPr>
          <a:xfrm>
            <a:off x="3833332" y="1969053"/>
            <a:ext cx="5275172" cy="3064357"/>
          </a:xfrm>
          <a:prstGeom prst="rect">
            <a:avLst/>
          </a:prstGeom>
          <a:noFill/>
          <a:ln>
            <a:noFill/>
          </a:ln>
        </p:spPr>
      </p:pic>
      <p:sp>
        <p:nvSpPr>
          <p:cNvPr id="9" name="箭头: 右 8"/>
          <p:cNvSpPr/>
          <p:nvPr/>
        </p:nvSpPr>
        <p:spPr bwMode="auto">
          <a:xfrm rot="1262185">
            <a:off x="2984153" y="1906939"/>
            <a:ext cx="813953" cy="347391"/>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endParaRP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内容占位符 2"/>
          <p:cNvSpPr>
            <a:spLocks noGrp="1"/>
          </p:cNvSpPr>
          <p:nvPr>
            <p:ph idx="1"/>
          </p:nvPr>
        </p:nvSpPr>
        <p:spPr>
          <a:xfrm>
            <a:off x="285750" y="857250"/>
            <a:ext cx="8858250" cy="3786188"/>
          </a:xfrm>
        </p:spPr>
        <p:txBody>
          <a:bodyPr/>
          <a:lstStyle/>
          <a:p>
            <a:pPr>
              <a:lnSpc>
                <a:spcPts val="2400"/>
              </a:lnSpc>
              <a:buFont typeface="Wingdings" panose="05000000000000000000" pitchFamily="2" charset="2"/>
              <a:buNone/>
              <a:defRPr/>
            </a:pPr>
            <a:r>
              <a:rPr lang="en-US" altLang="zh-CN" sz="1800" b="1" dirty="0">
                <a:solidFill>
                  <a:schemeClr val="accent6"/>
                </a:solidFill>
              </a:rPr>
              <a:t>4. </a:t>
            </a:r>
            <a:r>
              <a:rPr lang="zh-CN" altLang="zh-CN" sz="1800" b="1" dirty="0">
                <a:solidFill>
                  <a:schemeClr val="accent6"/>
                </a:solidFill>
              </a:rPr>
              <a:t>蠕虫与软件漏洞的关系</a:t>
            </a:r>
          </a:p>
          <a:p>
            <a:pPr>
              <a:lnSpc>
                <a:spcPts val="2300"/>
              </a:lnSpc>
              <a:buFont typeface="Wingdings" panose="05000000000000000000" pitchFamily="2" charset="2"/>
              <a:buNone/>
              <a:defRPr/>
            </a:pPr>
            <a:r>
              <a:rPr lang="zh-CN" altLang="zh-CN" sz="1400" b="1" dirty="0">
                <a:solidFill>
                  <a:srgbClr val="FF0000"/>
                </a:solidFill>
              </a:rPr>
              <a:t>根据蠕虫利用漏洞的不同</a:t>
            </a:r>
            <a:r>
              <a:rPr lang="zh-CN" altLang="zh-CN" sz="1400" b="1" dirty="0"/>
              <a:t>，可将其细分为</a:t>
            </a:r>
            <a:r>
              <a:rPr lang="zh-CN" altLang="zh-CN" sz="1400" b="1" dirty="0">
                <a:solidFill>
                  <a:srgbClr val="0033CC"/>
                </a:solidFill>
              </a:rPr>
              <a:t>邮件蠕虫</a:t>
            </a:r>
            <a:r>
              <a:rPr lang="zh-CN" altLang="zh-CN" sz="1400" b="1" dirty="0"/>
              <a:t>、</a:t>
            </a:r>
            <a:r>
              <a:rPr lang="zh-CN" altLang="zh-CN" sz="1400" b="1" dirty="0">
                <a:solidFill>
                  <a:srgbClr val="0033CC"/>
                </a:solidFill>
              </a:rPr>
              <a:t>网页蠕虫</a:t>
            </a:r>
            <a:r>
              <a:rPr lang="zh-CN" altLang="zh-CN" sz="1400" b="1" dirty="0"/>
              <a:t>和</a:t>
            </a:r>
            <a:r>
              <a:rPr lang="zh-CN" altLang="zh-CN" sz="1400" b="1" dirty="0">
                <a:solidFill>
                  <a:srgbClr val="0033CC"/>
                </a:solidFill>
              </a:rPr>
              <a:t>系统漏洞蠕虫</a:t>
            </a:r>
            <a:r>
              <a:rPr lang="zh-CN" altLang="zh-CN" sz="1400" b="1" dirty="0"/>
              <a:t>。</a:t>
            </a:r>
          </a:p>
          <a:p>
            <a:pPr>
              <a:lnSpc>
                <a:spcPts val="2500"/>
              </a:lnSpc>
              <a:buFont typeface="Wingdings" panose="05000000000000000000" pitchFamily="2" charset="2"/>
              <a:buNone/>
              <a:defRPr/>
            </a:pPr>
            <a:r>
              <a:rPr lang="zh-CN" altLang="en-US" b="1" dirty="0">
                <a:solidFill>
                  <a:srgbClr val="0033CC"/>
                </a:solidFill>
              </a:rPr>
              <a:t>（</a:t>
            </a:r>
            <a:r>
              <a:rPr lang="en-US" altLang="zh-CN" b="1" dirty="0">
                <a:solidFill>
                  <a:srgbClr val="0033CC"/>
                </a:solidFill>
              </a:rPr>
              <a:t>1</a:t>
            </a:r>
            <a:r>
              <a:rPr lang="zh-CN" altLang="en-US" b="1" dirty="0">
                <a:solidFill>
                  <a:srgbClr val="0033CC"/>
                </a:solidFill>
              </a:rPr>
              <a:t>）</a:t>
            </a:r>
            <a:r>
              <a:rPr lang="zh-CN" altLang="zh-CN" b="1" dirty="0">
                <a:solidFill>
                  <a:srgbClr val="0033CC"/>
                </a:solidFill>
              </a:rPr>
              <a:t>邮件蠕虫</a:t>
            </a:r>
          </a:p>
          <a:p>
            <a:pPr indent="-36195">
              <a:lnSpc>
                <a:spcPts val="2300"/>
              </a:lnSpc>
              <a:defRPr/>
            </a:pPr>
            <a:r>
              <a:rPr lang="zh-CN" altLang="zh-CN" sz="1400" b="1" dirty="0"/>
              <a:t>邮件蠕虫要</a:t>
            </a:r>
            <a:r>
              <a:rPr lang="zh-CN" altLang="zh-CN" sz="1400" b="1" dirty="0">
                <a:solidFill>
                  <a:srgbClr val="FF0000"/>
                </a:solidFill>
              </a:rPr>
              <a:t>利用</a:t>
            </a:r>
            <a:r>
              <a:rPr lang="zh-CN" altLang="zh-CN" sz="1400" b="1" dirty="0">
                <a:solidFill>
                  <a:srgbClr val="0033CC"/>
                </a:solidFill>
              </a:rPr>
              <a:t>多用途网际邮件扩充协议漏洞</a:t>
            </a:r>
            <a:r>
              <a:rPr lang="zh-CN" altLang="zh-CN" sz="1400" b="1" dirty="0"/>
              <a:t>。</a:t>
            </a:r>
            <a:endParaRPr lang="en-US" altLang="zh-CN" sz="1400" b="1" dirty="0"/>
          </a:p>
          <a:p>
            <a:pPr>
              <a:lnSpc>
                <a:spcPts val="2500"/>
              </a:lnSpc>
              <a:buFont typeface="Wingdings" panose="05000000000000000000" pitchFamily="2" charset="2"/>
              <a:buNone/>
              <a:defRPr/>
            </a:pPr>
            <a:r>
              <a:rPr lang="zh-CN" altLang="en-US" b="1" dirty="0">
                <a:solidFill>
                  <a:srgbClr val="0033CC"/>
                </a:solidFill>
              </a:rPr>
              <a:t>（</a:t>
            </a:r>
            <a:r>
              <a:rPr lang="en-US" altLang="zh-CN" b="1" dirty="0">
                <a:solidFill>
                  <a:srgbClr val="0033CC"/>
                </a:solidFill>
              </a:rPr>
              <a:t>2</a:t>
            </a:r>
            <a:r>
              <a:rPr lang="zh-CN" altLang="en-US" b="1" dirty="0">
                <a:solidFill>
                  <a:srgbClr val="0033CC"/>
                </a:solidFill>
              </a:rPr>
              <a:t>）</a:t>
            </a:r>
            <a:r>
              <a:rPr lang="zh-CN" altLang="zh-CN" b="1" dirty="0">
                <a:solidFill>
                  <a:srgbClr val="0033CC"/>
                </a:solidFill>
              </a:rPr>
              <a:t>网页蠕虫</a:t>
            </a:r>
          </a:p>
          <a:p>
            <a:pPr indent="-36195">
              <a:lnSpc>
                <a:spcPts val="2300"/>
              </a:lnSpc>
              <a:defRPr/>
            </a:pPr>
            <a:r>
              <a:rPr lang="zh-CN" altLang="zh-CN" sz="1400" b="1" dirty="0"/>
              <a:t>网页蠕虫主要</a:t>
            </a:r>
            <a:r>
              <a:rPr lang="zh-CN" altLang="zh-CN" sz="1400" b="1" dirty="0">
                <a:solidFill>
                  <a:srgbClr val="FF0000"/>
                </a:solidFill>
              </a:rPr>
              <a:t>利用</a:t>
            </a:r>
            <a:r>
              <a:rPr lang="en-US" altLang="zh-CN" sz="1400" b="1" dirty="0" err="1">
                <a:solidFill>
                  <a:srgbClr val="0033CC"/>
                </a:solidFill>
              </a:rPr>
              <a:t>IFrame</a:t>
            </a:r>
            <a:r>
              <a:rPr lang="zh-CN" altLang="zh-CN" sz="1400" b="1" dirty="0">
                <a:solidFill>
                  <a:srgbClr val="0033CC"/>
                </a:solidFill>
              </a:rPr>
              <a:t>漏洞</a:t>
            </a:r>
            <a:r>
              <a:rPr lang="zh-CN" altLang="zh-CN" sz="1400" b="1" dirty="0"/>
              <a:t>和</a:t>
            </a:r>
            <a:r>
              <a:rPr lang="en-US" altLang="zh-CN" sz="1400" b="1" dirty="0">
                <a:solidFill>
                  <a:srgbClr val="0033CC"/>
                </a:solidFill>
              </a:rPr>
              <a:t>MIME</a:t>
            </a:r>
            <a:r>
              <a:rPr lang="zh-CN" altLang="zh-CN" sz="1400" b="1" dirty="0">
                <a:solidFill>
                  <a:srgbClr val="0033CC"/>
                </a:solidFill>
              </a:rPr>
              <a:t>漏洞</a:t>
            </a:r>
            <a:r>
              <a:rPr lang="zh-CN" altLang="zh-CN" sz="1400" b="1" dirty="0"/>
              <a:t>。</a:t>
            </a:r>
          </a:p>
          <a:p>
            <a:pPr indent="-36195">
              <a:lnSpc>
                <a:spcPts val="2300"/>
              </a:lnSpc>
              <a:defRPr/>
            </a:pPr>
            <a:r>
              <a:rPr lang="zh-CN" altLang="zh-CN" sz="1400" b="1" dirty="0"/>
              <a:t>网页蠕虫可以分为两种：一种是用一个</a:t>
            </a:r>
            <a:r>
              <a:rPr lang="en-US" altLang="zh-CN" sz="1400" b="1" dirty="0" err="1"/>
              <a:t>IFrame</a:t>
            </a:r>
            <a:r>
              <a:rPr lang="zh-CN" altLang="zh-CN" sz="1400" b="1" dirty="0"/>
              <a:t>漏洞插入一个邮件框架，同时利用</a:t>
            </a:r>
            <a:r>
              <a:rPr lang="en-US" altLang="zh-CN" sz="1400" b="1" dirty="0"/>
              <a:t>MIME</a:t>
            </a:r>
            <a:r>
              <a:rPr lang="zh-CN" altLang="zh-CN" sz="1400" b="1" dirty="0"/>
              <a:t>漏洞执行蠕虫，这是直接沿用邮件蠕虫的方法；另一种是用</a:t>
            </a:r>
            <a:r>
              <a:rPr lang="en-US" altLang="zh-CN" sz="1400" b="1" dirty="0" err="1"/>
              <a:t>IFrame</a:t>
            </a:r>
            <a:r>
              <a:rPr lang="zh-CN" altLang="zh-CN" sz="1400" b="1" dirty="0"/>
              <a:t>漏洞和浏览器下载文件的漏洞来运作的，首先由一个包含特殊代码的页面去下载放在另一个网站的恶意文件，然后运行它，完成蠕虫传播。</a:t>
            </a:r>
            <a:endParaRPr lang="en-US" altLang="zh-CN" sz="1400" b="1" dirty="0"/>
          </a:p>
          <a:p>
            <a:pPr>
              <a:lnSpc>
                <a:spcPts val="2500"/>
              </a:lnSpc>
              <a:buFont typeface="Wingdings" panose="05000000000000000000" pitchFamily="2" charset="2"/>
              <a:buNone/>
              <a:defRPr/>
            </a:pPr>
            <a:r>
              <a:rPr lang="zh-CN" altLang="en-US" b="1" dirty="0">
                <a:solidFill>
                  <a:srgbClr val="0033CC"/>
                </a:solidFill>
              </a:rPr>
              <a:t>（</a:t>
            </a:r>
            <a:r>
              <a:rPr lang="en-US" altLang="zh-CN" b="1" dirty="0">
                <a:solidFill>
                  <a:srgbClr val="0033CC"/>
                </a:solidFill>
              </a:rPr>
              <a:t>3</a:t>
            </a:r>
            <a:r>
              <a:rPr lang="zh-CN" altLang="en-US" b="1" dirty="0">
                <a:solidFill>
                  <a:srgbClr val="0033CC"/>
                </a:solidFill>
              </a:rPr>
              <a:t>）</a:t>
            </a:r>
            <a:r>
              <a:rPr lang="zh-CN" altLang="zh-CN" b="1" dirty="0">
                <a:solidFill>
                  <a:srgbClr val="0033CC"/>
                </a:solidFill>
              </a:rPr>
              <a:t>系统漏洞蠕虫</a:t>
            </a:r>
          </a:p>
          <a:p>
            <a:pPr indent="-36195">
              <a:defRPr/>
            </a:pPr>
            <a:r>
              <a:rPr lang="zh-CN" altLang="zh-CN" sz="1400" b="1" dirty="0"/>
              <a:t>系统用漏洞蠕虫一般</a:t>
            </a:r>
            <a:r>
              <a:rPr lang="zh-CN" altLang="zh-CN" sz="1400" b="1" dirty="0">
                <a:solidFill>
                  <a:srgbClr val="FF0000"/>
                </a:solidFill>
              </a:rPr>
              <a:t>具备</a:t>
            </a:r>
            <a:r>
              <a:rPr lang="zh-CN" altLang="zh-CN" sz="1400" b="1" dirty="0">
                <a:solidFill>
                  <a:srgbClr val="0033CC"/>
                </a:solidFill>
              </a:rPr>
              <a:t>一个小型的漏洞利用系统</a:t>
            </a:r>
            <a:r>
              <a:rPr lang="zh-CN" altLang="zh-CN" sz="1400" b="1" dirty="0"/>
              <a:t>，它随机产生</a:t>
            </a:r>
            <a:r>
              <a:rPr lang="en-US" altLang="zh-CN" sz="1400" b="1" dirty="0"/>
              <a:t>IP</a:t>
            </a:r>
            <a:r>
              <a:rPr lang="zh-CN" altLang="zh-CN" sz="1400" b="1" dirty="0"/>
              <a:t>地址并尝试漏洞利用，然后将自身复制过去</a:t>
            </a:r>
            <a:r>
              <a:rPr lang="zh-CN" altLang="en-US" sz="1400" b="1" dirty="0"/>
              <a:t>。</a:t>
            </a:r>
            <a:endParaRPr lang="en-US" altLang="zh-CN" sz="1400" b="1" dirty="0"/>
          </a:p>
          <a:p>
            <a:pPr indent="-36195">
              <a:defRPr/>
            </a:pPr>
            <a:endParaRPr lang="zh-CN" altLang="zh-CN" sz="1400" b="1" dirty="0"/>
          </a:p>
        </p:txBody>
      </p:sp>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9.4.3 </a:t>
            </a:r>
            <a:r>
              <a:rPr altLang="en-US" sz="2000" dirty="0"/>
              <a:t>蠕虫的机理与防治</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Effect transition="in" filter="fade">
                                      <p:cBhvr>
                                        <p:cTn id="7" dur="500"/>
                                        <p:tgtEl>
                                          <p:spTgt spid="53251">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3251">
                                            <p:txEl>
                                              <p:pRg st="1" end="1"/>
                                            </p:txEl>
                                          </p:spTgt>
                                        </p:tgtEl>
                                        <p:attrNameLst>
                                          <p:attrName>style.visibility</p:attrName>
                                        </p:attrNameLst>
                                      </p:cBhvr>
                                      <p:to>
                                        <p:strVal val="visible"/>
                                      </p:to>
                                    </p:set>
                                    <p:animEffect transition="in" filter="fade">
                                      <p:cBhvr>
                                        <p:cTn id="11" dur="500"/>
                                        <p:tgtEl>
                                          <p:spTgt spid="53251">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3251">
                                            <p:txEl>
                                              <p:pRg st="2" end="2"/>
                                            </p:txEl>
                                          </p:spTgt>
                                        </p:tgtEl>
                                        <p:attrNameLst>
                                          <p:attrName>style.visibility</p:attrName>
                                        </p:attrNameLst>
                                      </p:cBhvr>
                                      <p:to>
                                        <p:strVal val="visible"/>
                                      </p:to>
                                    </p:set>
                                    <p:animEffect transition="in" filter="fade">
                                      <p:cBhvr>
                                        <p:cTn id="16" dur="500"/>
                                        <p:tgtEl>
                                          <p:spTgt spid="53251">
                                            <p:txEl>
                                              <p:pRg st="2" end="2"/>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53251">
                                            <p:txEl>
                                              <p:pRg st="3" end="3"/>
                                            </p:txEl>
                                          </p:spTgt>
                                        </p:tgtEl>
                                        <p:attrNameLst>
                                          <p:attrName>style.visibility</p:attrName>
                                        </p:attrNameLst>
                                      </p:cBhvr>
                                      <p:to>
                                        <p:strVal val="visible"/>
                                      </p:to>
                                    </p:set>
                                    <p:animEffect transition="in" filter="fade">
                                      <p:cBhvr>
                                        <p:cTn id="20" dur="500"/>
                                        <p:tgtEl>
                                          <p:spTgt spid="5325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3251">
                                            <p:txEl>
                                              <p:pRg st="4" end="4"/>
                                            </p:txEl>
                                          </p:spTgt>
                                        </p:tgtEl>
                                        <p:attrNameLst>
                                          <p:attrName>style.visibility</p:attrName>
                                        </p:attrNameLst>
                                      </p:cBhvr>
                                      <p:to>
                                        <p:strVal val="visible"/>
                                      </p:to>
                                    </p:set>
                                    <p:animEffect transition="in" filter="fade">
                                      <p:cBhvr>
                                        <p:cTn id="25" dur="500"/>
                                        <p:tgtEl>
                                          <p:spTgt spid="53251">
                                            <p:txEl>
                                              <p:pRg st="4" end="4"/>
                                            </p:txEl>
                                          </p:spTgt>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53251">
                                            <p:txEl>
                                              <p:pRg st="5" end="5"/>
                                            </p:txEl>
                                          </p:spTgt>
                                        </p:tgtEl>
                                        <p:attrNameLst>
                                          <p:attrName>style.visibility</p:attrName>
                                        </p:attrNameLst>
                                      </p:cBhvr>
                                      <p:to>
                                        <p:strVal val="visible"/>
                                      </p:to>
                                    </p:set>
                                    <p:animEffect transition="in" filter="fade">
                                      <p:cBhvr>
                                        <p:cTn id="29" dur="500"/>
                                        <p:tgtEl>
                                          <p:spTgt spid="53251">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53251">
                                            <p:txEl>
                                              <p:pRg st="6" end="6"/>
                                            </p:txEl>
                                          </p:spTgt>
                                        </p:tgtEl>
                                        <p:attrNameLst>
                                          <p:attrName>style.visibility</p:attrName>
                                        </p:attrNameLst>
                                      </p:cBhvr>
                                      <p:to>
                                        <p:strVal val="visible"/>
                                      </p:to>
                                    </p:set>
                                    <p:animEffect transition="in" filter="fade">
                                      <p:cBhvr>
                                        <p:cTn id="34" dur="500"/>
                                        <p:tgtEl>
                                          <p:spTgt spid="53251">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3251">
                                            <p:txEl>
                                              <p:pRg st="7" end="7"/>
                                            </p:txEl>
                                          </p:spTgt>
                                        </p:tgtEl>
                                        <p:attrNameLst>
                                          <p:attrName>style.visibility</p:attrName>
                                        </p:attrNameLst>
                                      </p:cBhvr>
                                      <p:to>
                                        <p:strVal val="visible"/>
                                      </p:to>
                                    </p:set>
                                    <p:animEffect transition="in" filter="fade">
                                      <p:cBhvr>
                                        <p:cTn id="39" dur="500"/>
                                        <p:tgtEl>
                                          <p:spTgt spid="53251">
                                            <p:txEl>
                                              <p:pRg st="7" end="7"/>
                                            </p:txEl>
                                          </p:spTgt>
                                        </p:tgtEl>
                                      </p:cBhvr>
                                    </p:animEffect>
                                  </p:childTnLst>
                                </p:cTn>
                              </p:par>
                            </p:childTnLst>
                          </p:cTn>
                        </p:par>
                        <p:par>
                          <p:cTn id="40" fill="hold">
                            <p:stCondLst>
                              <p:cond delay="500"/>
                            </p:stCondLst>
                            <p:childTnLst>
                              <p:par>
                                <p:cTn id="41" presetID="10" presetClass="entr" presetSubtype="0" fill="hold" nodeType="afterEffect">
                                  <p:stCondLst>
                                    <p:cond delay="0"/>
                                  </p:stCondLst>
                                  <p:childTnLst>
                                    <p:set>
                                      <p:cBhvr>
                                        <p:cTn id="42" dur="1" fill="hold">
                                          <p:stCondLst>
                                            <p:cond delay="0"/>
                                          </p:stCondLst>
                                        </p:cTn>
                                        <p:tgtEl>
                                          <p:spTgt spid="53251">
                                            <p:txEl>
                                              <p:pRg st="8" end="8"/>
                                            </p:txEl>
                                          </p:spTgt>
                                        </p:tgtEl>
                                        <p:attrNameLst>
                                          <p:attrName>style.visibility</p:attrName>
                                        </p:attrNameLst>
                                      </p:cBhvr>
                                      <p:to>
                                        <p:strVal val="visible"/>
                                      </p:to>
                                    </p:set>
                                    <p:animEffect transition="in" filter="fade">
                                      <p:cBhvr>
                                        <p:cTn id="43" dur="500"/>
                                        <p:tgtEl>
                                          <p:spTgt spid="5325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395536" y="198906"/>
            <a:ext cx="5400600"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lgn="l">
              <a:defRPr/>
            </a:pPr>
            <a:r>
              <a:rPr lang="zh-CN" altLang="en-US" sz="2000" dirty="0"/>
              <a:t>蠕虫 </a:t>
            </a:r>
            <a:r>
              <a:rPr lang="en-US" altLang="zh-CN" sz="2000" dirty="0">
                <a:sym typeface="Wingdings" panose="05000000000000000000" pitchFamily="2" charset="2"/>
              </a:rPr>
              <a:t> </a:t>
            </a:r>
            <a:r>
              <a:rPr lang="zh-CN" altLang="en-US" sz="2000" dirty="0">
                <a:sym typeface="Wingdings" panose="05000000000000000000" pitchFamily="2" charset="2"/>
              </a:rPr>
              <a:t>如何发现软件（</a:t>
            </a:r>
            <a:r>
              <a:rPr lang="en-US" altLang="zh-CN" sz="2000" dirty="0">
                <a:sym typeface="Wingdings" panose="05000000000000000000" pitchFamily="2" charset="2"/>
              </a:rPr>
              <a:t>OS/</a:t>
            </a:r>
            <a:r>
              <a:rPr lang="zh-CN" altLang="en-US" sz="2000" dirty="0">
                <a:sym typeface="Wingdings" panose="05000000000000000000" pitchFamily="2" charset="2"/>
              </a:rPr>
              <a:t>网页）的漏洞</a:t>
            </a:r>
            <a:endParaRPr altLang="en-US" sz="2000" dirty="0"/>
          </a:p>
        </p:txBody>
      </p:sp>
      <p:sp>
        <p:nvSpPr>
          <p:cNvPr id="8" name="内容占位符 2"/>
          <p:cNvSpPr>
            <a:spLocks noGrp="1"/>
          </p:cNvSpPr>
          <p:nvPr>
            <p:ph idx="1"/>
          </p:nvPr>
        </p:nvSpPr>
        <p:spPr>
          <a:xfrm>
            <a:off x="251520" y="627534"/>
            <a:ext cx="8892480" cy="3371825"/>
          </a:xfrm>
        </p:spPr>
        <p:txBody>
          <a:bodyPr/>
          <a:lstStyle/>
          <a:p>
            <a:pPr>
              <a:buFont typeface="Wingdings" panose="05000000000000000000" pitchFamily="2" charset="2"/>
              <a:buChar char="l"/>
              <a:defRPr/>
            </a:pPr>
            <a:r>
              <a:rPr lang="zh-CN" altLang="en-US" sz="1800" b="1" dirty="0">
                <a:solidFill>
                  <a:srgbClr val="0033CC"/>
                </a:solidFill>
              </a:rPr>
              <a:t>利用现有的</a:t>
            </a:r>
            <a:r>
              <a:rPr lang="en-US" altLang="zh-CN" sz="1800" b="1" dirty="0">
                <a:solidFill>
                  <a:srgbClr val="0033CC"/>
                </a:solidFill>
              </a:rPr>
              <a:t>OS/</a:t>
            </a:r>
            <a:r>
              <a:rPr lang="zh-CN" altLang="en-US" sz="1800" b="1" dirty="0">
                <a:solidFill>
                  <a:srgbClr val="0033CC"/>
                </a:solidFill>
              </a:rPr>
              <a:t>网页漏洞库</a:t>
            </a:r>
            <a:endParaRPr lang="en-US" altLang="zh-CN" sz="1800" b="1" dirty="0">
              <a:solidFill>
                <a:srgbClr val="0033CC"/>
              </a:solidFill>
            </a:endParaRPr>
          </a:p>
          <a:p>
            <a:pPr>
              <a:buFont typeface="Wingdings" panose="05000000000000000000" pitchFamily="2" charset="2"/>
              <a:buChar char="l"/>
              <a:defRPr/>
            </a:pPr>
            <a:r>
              <a:rPr lang="zh-CN" altLang="en-US" sz="1800" b="1" dirty="0">
                <a:solidFill>
                  <a:srgbClr val="0033CC"/>
                </a:solidFill>
              </a:rPr>
              <a:t>发现新漏洞</a:t>
            </a:r>
            <a:r>
              <a:rPr lang="en-US" altLang="zh-CN" sz="1800" b="1" dirty="0">
                <a:solidFill>
                  <a:srgbClr val="0033CC"/>
                </a:solidFill>
              </a:rPr>
              <a:t>/</a:t>
            </a:r>
            <a:r>
              <a:rPr lang="zh-CN" altLang="en-US" sz="1800" b="1" dirty="0">
                <a:solidFill>
                  <a:srgbClr val="0033CC"/>
                </a:solidFill>
              </a:rPr>
              <a:t>攻击的思想</a:t>
            </a:r>
            <a:endParaRPr lang="zh-CN" altLang="zh-CN" sz="1800" b="1" dirty="0">
              <a:solidFill>
                <a:srgbClr val="0033CC"/>
              </a:solidFill>
            </a:endParaRPr>
          </a:p>
          <a:p>
            <a:pPr indent="-107950">
              <a:defRPr/>
            </a:pPr>
            <a:r>
              <a:rPr lang="zh-CN" altLang="en-US" b="1" dirty="0"/>
              <a:t> </a:t>
            </a:r>
            <a:r>
              <a:rPr lang="zh-CN" altLang="en-US" b="1" dirty="0">
                <a:solidFill>
                  <a:srgbClr val="FF0000"/>
                </a:solidFill>
              </a:rPr>
              <a:t>缓冲区溢出</a:t>
            </a:r>
            <a:r>
              <a:rPr lang="zh-CN" altLang="en-US" b="1" dirty="0"/>
              <a:t>：输入超长字符串，超长部分再目标软件运行时，可能导致正常代码覆盖或崩溃</a:t>
            </a:r>
            <a:endParaRPr lang="en-US" altLang="zh-CN" b="1" dirty="0"/>
          </a:p>
          <a:p>
            <a:pPr indent="-107950">
              <a:defRPr/>
            </a:pPr>
            <a:r>
              <a:rPr lang="zh-CN" altLang="en-US" b="1" dirty="0">
                <a:solidFill>
                  <a:srgbClr val="FF0000"/>
                </a:solidFill>
              </a:rPr>
              <a:t> 随机数测试</a:t>
            </a:r>
            <a:r>
              <a:rPr lang="zh-CN" altLang="en-US" b="1" dirty="0"/>
              <a:t>：很多软件支持的配置值是固定的，故意设置错误的配置，比如</a:t>
            </a:r>
            <a:r>
              <a:rPr lang="en-US" altLang="zh-CN" b="1" dirty="0"/>
              <a:t>1080p</a:t>
            </a:r>
            <a:r>
              <a:rPr lang="en-US" altLang="zh-CN" b="1" dirty="0">
                <a:sym typeface="Wingdings" panose="05000000000000000000" pitchFamily="2" charset="2"/>
              </a:rPr>
              <a:t>1081p</a:t>
            </a:r>
            <a:endParaRPr lang="en-US" altLang="zh-CN" b="1" dirty="0"/>
          </a:p>
          <a:p>
            <a:pPr indent="-107950">
              <a:defRPr/>
            </a:pPr>
            <a:r>
              <a:rPr lang="zh-CN" altLang="en-US" b="0" i="0" dirty="0">
                <a:solidFill>
                  <a:srgbClr val="4B4B4B"/>
                </a:solidFill>
                <a:effectLst/>
                <a:latin typeface="PingFang SC"/>
              </a:rPr>
              <a:t> </a:t>
            </a:r>
            <a:r>
              <a:rPr lang="zh-CN" altLang="en-US" b="1" dirty="0">
                <a:solidFill>
                  <a:srgbClr val="FF0000"/>
                </a:solidFill>
              </a:rPr>
              <a:t>输入格式化字符串</a:t>
            </a:r>
            <a:r>
              <a:rPr lang="zh-CN" altLang="en-US" b="1" dirty="0"/>
              <a:t>：</a:t>
            </a:r>
            <a:r>
              <a:rPr lang="en-US" altLang="zh-CN" b="1" dirty="0"/>
              <a:t>%d</a:t>
            </a:r>
            <a:r>
              <a:rPr lang="zh-CN" altLang="en-US" b="1" dirty="0"/>
              <a:t>、</a:t>
            </a:r>
            <a:r>
              <a:rPr lang="en-US" altLang="zh-CN" b="1" dirty="0"/>
              <a:t>%s</a:t>
            </a:r>
            <a:r>
              <a:rPr lang="zh-CN" altLang="en-US" b="1" dirty="0"/>
              <a:t>等符号在很多语言中是指导格式化用的，如果用作输入可能引发报错（例如：利用占位符</a:t>
            </a:r>
            <a:r>
              <a:rPr lang="en-US" altLang="zh-CN" b="0" i="0" dirty="0">
                <a:solidFill>
                  <a:srgbClr val="191B1F"/>
                </a:solidFill>
                <a:effectLst/>
                <a:latin typeface="-apple-system"/>
              </a:rPr>
              <a:t> </a:t>
            </a:r>
            <a:r>
              <a:rPr lang="en-US" altLang="zh-CN" b="1" dirty="0"/>
              <a:t>%016llx </a:t>
            </a:r>
            <a:r>
              <a:rPr lang="zh-CN" altLang="en-US" b="1" dirty="0"/>
              <a:t>，输入</a:t>
            </a:r>
            <a:r>
              <a:rPr lang="en-US" altLang="zh-CN" b="1" dirty="0"/>
              <a:t>./execute.exe 11 %016llx %016llx …</a:t>
            </a:r>
            <a:r>
              <a:rPr lang="zh-CN" altLang="en-US" b="1" dirty="0"/>
              <a:t>）</a:t>
            </a:r>
            <a:endParaRPr lang="en-US" altLang="zh-CN" b="1" dirty="0"/>
          </a:p>
          <a:p>
            <a:pPr indent="-107950">
              <a:defRPr/>
            </a:pPr>
            <a:r>
              <a:rPr lang="en-US" altLang="zh-CN" b="1" dirty="0"/>
              <a:t> </a:t>
            </a:r>
            <a:r>
              <a:rPr lang="zh-CN" altLang="en-US" b="1" dirty="0">
                <a:solidFill>
                  <a:srgbClr val="FF0000"/>
                </a:solidFill>
              </a:rPr>
              <a:t>输入</a:t>
            </a:r>
            <a:r>
              <a:rPr lang="zh-CN" altLang="en-US" b="1" i="0" dirty="0">
                <a:solidFill>
                  <a:srgbClr val="FF0000"/>
                </a:solidFill>
                <a:effectLst/>
                <a:latin typeface="PingFang SC"/>
              </a:rPr>
              <a:t>特殊字符</a:t>
            </a:r>
            <a:r>
              <a:rPr lang="zh-CN" altLang="en-US" b="1" dirty="0"/>
              <a:t>：</a:t>
            </a:r>
            <a:r>
              <a:rPr lang="zh-CN" altLang="en-US" b="0" i="0" dirty="0">
                <a:solidFill>
                  <a:srgbClr val="4B4B4B"/>
                </a:solidFill>
                <a:effectLst/>
                <a:latin typeface="PingFang SC"/>
              </a:rPr>
              <a:t> </a:t>
            </a:r>
            <a:r>
              <a:rPr lang="en-US" altLang="zh-CN" b="1" dirty="0"/>
              <a:t>~!@#$%</a:t>
            </a:r>
            <a:r>
              <a:rPr lang="zh-CN" altLang="en-US" b="1" dirty="0"/>
              <a:t>等等符号在很多语言中是有特殊含义的，作为输入可能会引发报错</a:t>
            </a:r>
            <a:endParaRPr lang="en-US" altLang="zh-CN" b="1" dirty="0"/>
          </a:p>
          <a:p>
            <a:pPr>
              <a:buFont typeface="Wingdings" panose="05000000000000000000" pitchFamily="2" charset="2"/>
              <a:buChar char="l"/>
              <a:defRPr/>
            </a:pPr>
            <a:r>
              <a:rPr lang="zh-CN" altLang="en-US" sz="1800" b="1" dirty="0">
                <a:solidFill>
                  <a:srgbClr val="0033CC"/>
                </a:solidFill>
              </a:rPr>
              <a:t>模糊测试</a:t>
            </a:r>
            <a:r>
              <a:rPr lang="en-US" altLang="zh-CN" sz="1800" b="1" dirty="0">
                <a:solidFill>
                  <a:srgbClr val="0033CC"/>
                </a:solidFill>
              </a:rPr>
              <a:t>Fuzzing Test</a:t>
            </a:r>
            <a:r>
              <a:rPr lang="zh-CN" altLang="en-US" sz="1800" b="1" dirty="0">
                <a:solidFill>
                  <a:srgbClr val="0033CC"/>
                </a:solidFill>
              </a:rPr>
              <a:t>（工具</a:t>
            </a:r>
            <a:r>
              <a:rPr lang="en-US" altLang="zh-CN" sz="1800" b="1" dirty="0">
                <a:solidFill>
                  <a:srgbClr val="0033CC"/>
                </a:solidFill>
              </a:rPr>
              <a:t>AFL++</a:t>
            </a:r>
            <a:r>
              <a:rPr lang="zh-CN" altLang="en-US" sz="1800" b="1" dirty="0">
                <a:solidFill>
                  <a:srgbClr val="0033CC"/>
                </a:solidFill>
              </a:rPr>
              <a:t>）</a:t>
            </a:r>
            <a:endParaRPr lang="zh-CN" altLang="zh-CN" sz="1800" b="1" dirty="0">
              <a:solidFill>
                <a:srgbClr val="0033CC"/>
              </a:solidFill>
            </a:endParaRPr>
          </a:p>
          <a:p>
            <a:pPr indent="-71755">
              <a:defRPr/>
            </a:pPr>
            <a:r>
              <a:rPr lang="zh-CN" altLang="en-US" b="1" dirty="0"/>
              <a:t> </a:t>
            </a:r>
            <a:r>
              <a:rPr lang="en-US" altLang="zh-CN" b="1" dirty="0">
                <a:solidFill>
                  <a:srgbClr val="FF0000"/>
                </a:solidFill>
              </a:rPr>
              <a:t>AFL++</a:t>
            </a:r>
            <a:r>
              <a:rPr lang="zh-CN" altLang="en-US" b="1" dirty="0"/>
              <a:t>：开源的自动化模糊测试工具，通过向软件输入大量随机或伪随机的数据，来发现潜在的安全漏洞或程序崩溃，从而发现软件中的</a:t>
            </a:r>
            <a:r>
              <a:rPr lang="en-US" altLang="zh-CN" b="1" dirty="0"/>
              <a:t>0day</a:t>
            </a:r>
            <a:r>
              <a:rPr lang="zh-CN" altLang="en-US" b="1" dirty="0"/>
              <a:t>漏洞（推荐在隔离环境中运行）</a:t>
            </a:r>
            <a:endParaRPr lang="en-US" altLang="zh-CN" b="1" dirty="0"/>
          </a:p>
        </p:txBody>
      </p:sp>
    </p:spTree>
  </p:cSld>
  <p:clrMapOvr>
    <a:masterClrMapping/>
  </p:clrMapOvr>
  <p:transition spd="med">
    <p:randomBar dir="ver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5DFBE-5F2A-8943-1A27-D630F0C1D037}"/>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E539F8A2-B46B-F9DE-AE6E-B56407C43BDA}"/>
              </a:ext>
            </a:extLst>
          </p:cNvPr>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a:extLst>
              <a:ext uri="{FF2B5EF4-FFF2-40B4-BE49-F238E27FC236}">
                <a16:creationId xmlns:a16="http://schemas.microsoft.com/office/drawing/2014/main" id="{1081C4F6-4516-336E-A763-87833BD23963}"/>
              </a:ext>
            </a:extLst>
          </p:cNvPr>
          <p:cNvSpPr txBox="1"/>
          <p:nvPr/>
        </p:nvSpPr>
        <p:spPr bwMode="auto">
          <a:xfrm>
            <a:off x="395536" y="198906"/>
            <a:ext cx="5400600"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lgn="l">
              <a:defRPr/>
            </a:pPr>
            <a:r>
              <a:rPr lang="zh-CN" altLang="en-US" sz="2000" dirty="0"/>
              <a:t>蠕虫 </a:t>
            </a:r>
            <a:r>
              <a:rPr lang="en-US" altLang="zh-CN" sz="2000" dirty="0">
                <a:sym typeface="Wingdings" panose="05000000000000000000" pitchFamily="2" charset="2"/>
              </a:rPr>
              <a:t> </a:t>
            </a:r>
            <a:r>
              <a:rPr lang="zh-CN" altLang="en-US" sz="2000" dirty="0">
                <a:sym typeface="Wingdings" panose="05000000000000000000" pitchFamily="2" charset="2"/>
              </a:rPr>
              <a:t>如何发现软件（</a:t>
            </a:r>
            <a:r>
              <a:rPr lang="en-US" altLang="zh-CN" sz="2000" dirty="0">
                <a:sym typeface="Wingdings" panose="05000000000000000000" pitchFamily="2" charset="2"/>
              </a:rPr>
              <a:t>OS/</a:t>
            </a:r>
            <a:r>
              <a:rPr lang="zh-CN" altLang="en-US" sz="2000" dirty="0">
                <a:sym typeface="Wingdings" panose="05000000000000000000" pitchFamily="2" charset="2"/>
              </a:rPr>
              <a:t>网页）的漏洞</a:t>
            </a:r>
            <a:endParaRPr altLang="en-US" sz="2000" dirty="0"/>
          </a:p>
        </p:txBody>
      </p:sp>
      <p:sp>
        <p:nvSpPr>
          <p:cNvPr id="8" name="内容占位符 2">
            <a:extLst>
              <a:ext uri="{FF2B5EF4-FFF2-40B4-BE49-F238E27FC236}">
                <a16:creationId xmlns:a16="http://schemas.microsoft.com/office/drawing/2014/main" id="{0771C497-5829-FADB-9044-53CC45D1A672}"/>
              </a:ext>
            </a:extLst>
          </p:cNvPr>
          <p:cNvSpPr>
            <a:spLocks noGrp="1"/>
          </p:cNvSpPr>
          <p:nvPr>
            <p:ph idx="1"/>
          </p:nvPr>
        </p:nvSpPr>
        <p:spPr>
          <a:xfrm>
            <a:off x="251520" y="627534"/>
            <a:ext cx="8892480" cy="3371825"/>
          </a:xfrm>
        </p:spPr>
        <p:txBody>
          <a:bodyPr/>
          <a:lstStyle/>
          <a:p>
            <a:pPr>
              <a:buFont typeface="Wingdings" panose="05000000000000000000" pitchFamily="2" charset="2"/>
              <a:buChar char="l"/>
              <a:defRPr/>
            </a:pPr>
            <a:r>
              <a:rPr lang="zh-CN" altLang="en-US" sz="1800" b="1" dirty="0">
                <a:solidFill>
                  <a:srgbClr val="0033CC"/>
                </a:solidFill>
              </a:rPr>
              <a:t>利用现有的</a:t>
            </a:r>
            <a:r>
              <a:rPr lang="en-US" altLang="zh-CN" sz="1800" b="1" dirty="0">
                <a:solidFill>
                  <a:srgbClr val="0033CC"/>
                </a:solidFill>
              </a:rPr>
              <a:t>OS/</a:t>
            </a:r>
            <a:r>
              <a:rPr lang="zh-CN" altLang="en-US" sz="1800" b="1" dirty="0">
                <a:solidFill>
                  <a:srgbClr val="0033CC"/>
                </a:solidFill>
              </a:rPr>
              <a:t>网页漏洞库</a:t>
            </a:r>
            <a:endParaRPr lang="en-US" altLang="zh-CN" sz="1800" b="1" dirty="0">
              <a:solidFill>
                <a:srgbClr val="0033CC"/>
              </a:solidFill>
            </a:endParaRPr>
          </a:p>
          <a:p>
            <a:pPr>
              <a:buFont typeface="Wingdings" panose="05000000000000000000" pitchFamily="2" charset="2"/>
              <a:buChar char="l"/>
              <a:defRPr/>
            </a:pPr>
            <a:r>
              <a:rPr lang="zh-CN" altLang="en-US" sz="1800" b="1" dirty="0">
                <a:solidFill>
                  <a:srgbClr val="0033CC"/>
                </a:solidFill>
              </a:rPr>
              <a:t>发现新漏洞</a:t>
            </a:r>
            <a:r>
              <a:rPr lang="en-US" altLang="zh-CN" sz="1800" b="1" dirty="0">
                <a:solidFill>
                  <a:srgbClr val="0033CC"/>
                </a:solidFill>
              </a:rPr>
              <a:t>/</a:t>
            </a:r>
            <a:r>
              <a:rPr lang="zh-CN" altLang="en-US" sz="1800" b="1" dirty="0">
                <a:solidFill>
                  <a:srgbClr val="0033CC"/>
                </a:solidFill>
              </a:rPr>
              <a:t>攻击的思想</a:t>
            </a:r>
            <a:endParaRPr lang="zh-CN" altLang="zh-CN" sz="1800" b="1" dirty="0">
              <a:solidFill>
                <a:srgbClr val="0033CC"/>
              </a:solidFill>
            </a:endParaRPr>
          </a:p>
          <a:p>
            <a:pPr indent="-107950">
              <a:defRPr/>
            </a:pPr>
            <a:r>
              <a:rPr lang="zh-CN" altLang="en-US" b="1" dirty="0"/>
              <a:t> </a:t>
            </a:r>
            <a:r>
              <a:rPr lang="zh-CN" altLang="en-US" b="1" dirty="0">
                <a:solidFill>
                  <a:srgbClr val="FF0000"/>
                </a:solidFill>
              </a:rPr>
              <a:t>缓冲区溢出</a:t>
            </a:r>
            <a:r>
              <a:rPr lang="zh-CN" altLang="en-US" b="1" dirty="0"/>
              <a:t>：输入超长字符串，超长部分再目标软件运行时，可能导致正常代码覆盖或崩溃</a:t>
            </a:r>
            <a:endParaRPr lang="en-US" altLang="zh-CN" b="1" dirty="0"/>
          </a:p>
          <a:p>
            <a:pPr indent="-107950">
              <a:defRPr/>
            </a:pPr>
            <a:r>
              <a:rPr lang="zh-CN" altLang="en-US" b="1" dirty="0">
                <a:solidFill>
                  <a:srgbClr val="FF0000"/>
                </a:solidFill>
              </a:rPr>
              <a:t> 随机数测试</a:t>
            </a:r>
            <a:r>
              <a:rPr lang="zh-CN" altLang="en-US" b="1" dirty="0"/>
              <a:t>：很多软件支持的配置值是固定的，故意设置错误的配置，比如</a:t>
            </a:r>
            <a:r>
              <a:rPr lang="en-US" altLang="zh-CN" b="1" dirty="0"/>
              <a:t>1080p</a:t>
            </a:r>
            <a:r>
              <a:rPr lang="en-US" altLang="zh-CN" b="1" dirty="0">
                <a:sym typeface="Wingdings" panose="05000000000000000000" pitchFamily="2" charset="2"/>
              </a:rPr>
              <a:t>1081p</a:t>
            </a:r>
            <a:endParaRPr lang="en-US" altLang="zh-CN" b="1" dirty="0"/>
          </a:p>
          <a:p>
            <a:pPr indent="-107950">
              <a:defRPr/>
            </a:pPr>
            <a:r>
              <a:rPr lang="zh-CN" altLang="en-US" b="0" i="0" dirty="0">
                <a:solidFill>
                  <a:srgbClr val="4B4B4B"/>
                </a:solidFill>
                <a:effectLst/>
                <a:latin typeface="PingFang SC"/>
              </a:rPr>
              <a:t> </a:t>
            </a:r>
            <a:r>
              <a:rPr lang="zh-CN" altLang="en-US" b="1" dirty="0">
                <a:solidFill>
                  <a:srgbClr val="FF0000"/>
                </a:solidFill>
              </a:rPr>
              <a:t>输入格式化字符串</a:t>
            </a:r>
            <a:r>
              <a:rPr lang="zh-CN" altLang="en-US" b="1" dirty="0"/>
              <a:t>：</a:t>
            </a:r>
            <a:r>
              <a:rPr lang="en-US" altLang="zh-CN" b="1" dirty="0"/>
              <a:t>%d</a:t>
            </a:r>
            <a:r>
              <a:rPr lang="zh-CN" altLang="en-US" b="1" dirty="0"/>
              <a:t>、</a:t>
            </a:r>
            <a:r>
              <a:rPr lang="en-US" altLang="zh-CN" b="1" dirty="0"/>
              <a:t>%s</a:t>
            </a:r>
            <a:r>
              <a:rPr lang="zh-CN" altLang="en-US" b="1" dirty="0"/>
              <a:t>等符号在很多语言中是指导格式化用的，如果用作输入可能引发报错（例如：利用占位符</a:t>
            </a:r>
            <a:r>
              <a:rPr lang="en-US" altLang="zh-CN" b="0" i="0" dirty="0">
                <a:solidFill>
                  <a:srgbClr val="191B1F"/>
                </a:solidFill>
                <a:effectLst/>
                <a:latin typeface="-apple-system"/>
              </a:rPr>
              <a:t> </a:t>
            </a:r>
            <a:r>
              <a:rPr lang="en-US" altLang="zh-CN" b="1" dirty="0"/>
              <a:t>%016llx </a:t>
            </a:r>
            <a:r>
              <a:rPr lang="zh-CN" altLang="en-US" b="1" dirty="0"/>
              <a:t>，输入</a:t>
            </a:r>
            <a:r>
              <a:rPr lang="en-US" altLang="zh-CN" b="1" dirty="0"/>
              <a:t>./execute.exe 11 %016llx %016llx …</a:t>
            </a:r>
            <a:r>
              <a:rPr lang="zh-CN" altLang="en-US" b="1" dirty="0"/>
              <a:t>）</a:t>
            </a:r>
            <a:endParaRPr lang="en-US" altLang="zh-CN" b="1" dirty="0"/>
          </a:p>
          <a:p>
            <a:pPr indent="-107950">
              <a:defRPr/>
            </a:pPr>
            <a:r>
              <a:rPr lang="en-US" altLang="zh-CN" b="1" dirty="0"/>
              <a:t> </a:t>
            </a:r>
            <a:r>
              <a:rPr lang="zh-CN" altLang="en-US" b="1" dirty="0">
                <a:solidFill>
                  <a:srgbClr val="FF0000"/>
                </a:solidFill>
              </a:rPr>
              <a:t>输入</a:t>
            </a:r>
            <a:r>
              <a:rPr lang="zh-CN" altLang="en-US" b="1" i="0" dirty="0">
                <a:solidFill>
                  <a:srgbClr val="FF0000"/>
                </a:solidFill>
                <a:effectLst/>
                <a:latin typeface="PingFang SC"/>
              </a:rPr>
              <a:t>特殊字符</a:t>
            </a:r>
            <a:r>
              <a:rPr lang="zh-CN" altLang="en-US" b="1" dirty="0"/>
              <a:t>：</a:t>
            </a:r>
            <a:r>
              <a:rPr lang="zh-CN" altLang="en-US" b="0" i="0" dirty="0">
                <a:solidFill>
                  <a:srgbClr val="4B4B4B"/>
                </a:solidFill>
                <a:effectLst/>
                <a:latin typeface="PingFang SC"/>
              </a:rPr>
              <a:t> </a:t>
            </a:r>
            <a:r>
              <a:rPr lang="en-US" altLang="zh-CN" b="1" dirty="0"/>
              <a:t>~!@#$%</a:t>
            </a:r>
            <a:r>
              <a:rPr lang="zh-CN" altLang="en-US" b="1" dirty="0"/>
              <a:t>等等符号在很多语言中是有特殊含义的，作为输入可能会引发报错</a:t>
            </a:r>
            <a:endParaRPr lang="en-US" altLang="zh-CN" b="1" dirty="0"/>
          </a:p>
          <a:p>
            <a:pPr>
              <a:buFont typeface="Wingdings" panose="05000000000000000000" pitchFamily="2" charset="2"/>
              <a:buChar char="l"/>
              <a:defRPr/>
            </a:pPr>
            <a:r>
              <a:rPr lang="zh-CN" altLang="en-US" sz="1800" b="1" dirty="0">
                <a:solidFill>
                  <a:srgbClr val="0033CC"/>
                </a:solidFill>
              </a:rPr>
              <a:t>模糊测试</a:t>
            </a:r>
            <a:r>
              <a:rPr lang="en-US" altLang="zh-CN" sz="1800" b="1" dirty="0">
                <a:solidFill>
                  <a:srgbClr val="0033CC"/>
                </a:solidFill>
              </a:rPr>
              <a:t>Fuzzing Test</a:t>
            </a:r>
            <a:r>
              <a:rPr lang="zh-CN" altLang="en-US" sz="1800" b="1" dirty="0">
                <a:solidFill>
                  <a:srgbClr val="0033CC"/>
                </a:solidFill>
              </a:rPr>
              <a:t>（工具</a:t>
            </a:r>
            <a:r>
              <a:rPr lang="en-US" altLang="zh-CN" sz="1800" b="1" dirty="0">
                <a:solidFill>
                  <a:srgbClr val="0033CC"/>
                </a:solidFill>
              </a:rPr>
              <a:t>AFL++</a:t>
            </a:r>
            <a:r>
              <a:rPr lang="zh-CN" altLang="en-US" sz="1800" b="1" dirty="0">
                <a:solidFill>
                  <a:srgbClr val="0033CC"/>
                </a:solidFill>
              </a:rPr>
              <a:t>）</a:t>
            </a:r>
            <a:endParaRPr lang="zh-CN" altLang="zh-CN" sz="1800" b="1" dirty="0">
              <a:solidFill>
                <a:srgbClr val="0033CC"/>
              </a:solidFill>
            </a:endParaRPr>
          </a:p>
          <a:p>
            <a:pPr indent="-71755">
              <a:defRPr/>
            </a:pPr>
            <a:r>
              <a:rPr lang="zh-CN" altLang="en-US" b="1" dirty="0"/>
              <a:t> </a:t>
            </a:r>
            <a:r>
              <a:rPr lang="en-US" altLang="zh-CN" b="1" dirty="0">
                <a:solidFill>
                  <a:srgbClr val="FF0000"/>
                </a:solidFill>
              </a:rPr>
              <a:t>AFL++</a:t>
            </a:r>
            <a:r>
              <a:rPr lang="zh-CN" altLang="en-US" b="1" dirty="0"/>
              <a:t>：开源的自动化模糊测试工具，通过向软件输入大量随机或伪随机的数据，来发现潜在的安全漏洞或程序崩溃，从而发现软件中的</a:t>
            </a:r>
            <a:r>
              <a:rPr lang="en-US" altLang="zh-CN" b="1" dirty="0"/>
              <a:t>0day</a:t>
            </a:r>
            <a:r>
              <a:rPr lang="zh-CN" altLang="en-US" b="1" dirty="0"/>
              <a:t>漏洞（推荐在隔离环境中运行）</a:t>
            </a:r>
            <a:endParaRPr lang="en-US" altLang="zh-CN" b="1" dirty="0"/>
          </a:p>
        </p:txBody>
      </p:sp>
      <p:pic>
        <p:nvPicPr>
          <p:cNvPr id="3" name="图片 2">
            <a:extLst>
              <a:ext uri="{FF2B5EF4-FFF2-40B4-BE49-F238E27FC236}">
                <a16:creationId xmlns:a16="http://schemas.microsoft.com/office/drawing/2014/main" id="{53877FB0-B14E-44C9-2B2E-464541351A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60" y="2919239"/>
            <a:ext cx="8280920" cy="2160240"/>
          </a:xfrm>
          <a:prstGeom prst="rect">
            <a:avLst/>
          </a:prstGeom>
        </p:spPr>
      </p:pic>
    </p:spTree>
    <p:extLst>
      <p:ext uri="{BB962C8B-B14F-4D97-AF65-F5344CB8AC3E}">
        <p14:creationId xmlns:p14="http://schemas.microsoft.com/office/powerpoint/2010/main" val="3775805657"/>
      </p:ext>
    </p:extLst>
  </p:cSld>
  <p:clrMapOvr>
    <a:masterClrMapping/>
  </p:clrMapOvr>
  <p:transition spd="med">
    <p:randomBar dir="ver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DFCAC-B2D5-D8A3-67CE-623C8D5DEF2B}"/>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DE91F6FB-4F37-8657-0EC2-2FE4571A92F2}"/>
              </a:ext>
            </a:extLst>
          </p:cNvPr>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a:extLst>
              <a:ext uri="{FF2B5EF4-FFF2-40B4-BE49-F238E27FC236}">
                <a16:creationId xmlns:a16="http://schemas.microsoft.com/office/drawing/2014/main" id="{CB5BEE37-CAAF-E938-A3F5-B116D749C90E}"/>
              </a:ext>
            </a:extLst>
          </p:cNvPr>
          <p:cNvSpPr txBox="1"/>
          <p:nvPr/>
        </p:nvSpPr>
        <p:spPr bwMode="auto">
          <a:xfrm>
            <a:off x="395536" y="198906"/>
            <a:ext cx="5400600"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lgn="l">
              <a:defRPr/>
            </a:pPr>
            <a:r>
              <a:rPr lang="zh-CN" altLang="en-US" sz="2000" dirty="0"/>
              <a:t>蠕虫 </a:t>
            </a:r>
            <a:r>
              <a:rPr lang="en-US" altLang="zh-CN" sz="2000" dirty="0">
                <a:sym typeface="Wingdings" panose="05000000000000000000" pitchFamily="2" charset="2"/>
              </a:rPr>
              <a:t> </a:t>
            </a:r>
            <a:r>
              <a:rPr lang="zh-CN" altLang="en-US" sz="2000" dirty="0">
                <a:sym typeface="Wingdings" panose="05000000000000000000" pitchFamily="2" charset="2"/>
              </a:rPr>
              <a:t>如何发现软件（</a:t>
            </a:r>
            <a:r>
              <a:rPr lang="en-US" altLang="zh-CN" sz="2000" dirty="0">
                <a:sym typeface="Wingdings" panose="05000000000000000000" pitchFamily="2" charset="2"/>
              </a:rPr>
              <a:t>OS/</a:t>
            </a:r>
            <a:r>
              <a:rPr lang="zh-CN" altLang="en-US" sz="2000" dirty="0">
                <a:sym typeface="Wingdings" panose="05000000000000000000" pitchFamily="2" charset="2"/>
              </a:rPr>
              <a:t>网页）的漏洞</a:t>
            </a:r>
            <a:endParaRPr altLang="en-US" sz="2000" dirty="0"/>
          </a:p>
        </p:txBody>
      </p:sp>
      <p:sp>
        <p:nvSpPr>
          <p:cNvPr id="8" name="内容占位符 2">
            <a:extLst>
              <a:ext uri="{FF2B5EF4-FFF2-40B4-BE49-F238E27FC236}">
                <a16:creationId xmlns:a16="http://schemas.microsoft.com/office/drawing/2014/main" id="{12CD4A8C-EC37-3902-63B1-28E2682437EC}"/>
              </a:ext>
            </a:extLst>
          </p:cNvPr>
          <p:cNvSpPr>
            <a:spLocks noGrp="1"/>
          </p:cNvSpPr>
          <p:nvPr>
            <p:ph idx="1"/>
          </p:nvPr>
        </p:nvSpPr>
        <p:spPr>
          <a:xfrm>
            <a:off x="251520" y="627534"/>
            <a:ext cx="8892480" cy="3371825"/>
          </a:xfrm>
        </p:spPr>
        <p:txBody>
          <a:bodyPr/>
          <a:lstStyle/>
          <a:p>
            <a:pPr>
              <a:buFont typeface="Wingdings" panose="05000000000000000000" pitchFamily="2" charset="2"/>
              <a:buChar char="l"/>
              <a:defRPr/>
            </a:pPr>
            <a:r>
              <a:rPr lang="zh-CN" altLang="en-US" sz="1800" b="1" dirty="0">
                <a:solidFill>
                  <a:srgbClr val="0033CC"/>
                </a:solidFill>
              </a:rPr>
              <a:t>利用现有的</a:t>
            </a:r>
            <a:r>
              <a:rPr lang="en-US" altLang="zh-CN" sz="1800" b="1" dirty="0">
                <a:solidFill>
                  <a:srgbClr val="0033CC"/>
                </a:solidFill>
              </a:rPr>
              <a:t>OS/</a:t>
            </a:r>
            <a:r>
              <a:rPr lang="zh-CN" altLang="en-US" sz="1800" b="1" dirty="0">
                <a:solidFill>
                  <a:srgbClr val="0033CC"/>
                </a:solidFill>
              </a:rPr>
              <a:t>网页漏洞库</a:t>
            </a:r>
            <a:endParaRPr lang="en-US" altLang="zh-CN" sz="1800" b="1" dirty="0">
              <a:solidFill>
                <a:srgbClr val="0033CC"/>
              </a:solidFill>
            </a:endParaRPr>
          </a:p>
          <a:p>
            <a:pPr>
              <a:buFont typeface="Wingdings" panose="05000000000000000000" pitchFamily="2" charset="2"/>
              <a:buChar char="l"/>
              <a:defRPr/>
            </a:pPr>
            <a:r>
              <a:rPr lang="zh-CN" altLang="en-US" sz="1800" b="1" dirty="0">
                <a:solidFill>
                  <a:srgbClr val="0033CC"/>
                </a:solidFill>
              </a:rPr>
              <a:t>发现新漏洞</a:t>
            </a:r>
            <a:r>
              <a:rPr lang="en-US" altLang="zh-CN" sz="1800" b="1" dirty="0">
                <a:solidFill>
                  <a:srgbClr val="0033CC"/>
                </a:solidFill>
              </a:rPr>
              <a:t>/</a:t>
            </a:r>
            <a:r>
              <a:rPr lang="zh-CN" altLang="en-US" sz="1800" b="1" dirty="0">
                <a:solidFill>
                  <a:srgbClr val="0033CC"/>
                </a:solidFill>
              </a:rPr>
              <a:t>攻击的思想</a:t>
            </a:r>
            <a:endParaRPr lang="zh-CN" altLang="zh-CN" sz="1800" b="1" dirty="0">
              <a:solidFill>
                <a:srgbClr val="0033CC"/>
              </a:solidFill>
            </a:endParaRPr>
          </a:p>
          <a:p>
            <a:pPr indent="-107950">
              <a:defRPr/>
            </a:pPr>
            <a:r>
              <a:rPr lang="zh-CN" altLang="en-US" b="1" dirty="0"/>
              <a:t> </a:t>
            </a:r>
            <a:r>
              <a:rPr lang="zh-CN" altLang="en-US" b="1" dirty="0">
                <a:solidFill>
                  <a:srgbClr val="FF0000"/>
                </a:solidFill>
              </a:rPr>
              <a:t>缓冲区溢出</a:t>
            </a:r>
            <a:r>
              <a:rPr lang="zh-CN" altLang="en-US" b="1" dirty="0"/>
              <a:t>：输入超长字符串，超长部分再目标软件运行时，可能导致正常代码覆盖或崩溃</a:t>
            </a:r>
            <a:endParaRPr lang="en-US" altLang="zh-CN" b="1" dirty="0"/>
          </a:p>
          <a:p>
            <a:pPr indent="-107950">
              <a:defRPr/>
            </a:pPr>
            <a:r>
              <a:rPr lang="zh-CN" altLang="en-US" b="1" dirty="0">
                <a:solidFill>
                  <a:srgbClr val="FF0000"/>
                </a:solidFill>
              </a:rPr>
              <a:t> 随机数测试</a:t>
            </a:r>
            <a:r>
              <a:rPr lang="zh-CN" altLang="en-US" b="1" dirty="0"/>
              <a:t>：很多软件支持的配置值是固定的，故意设置错误的配置，比如</a:t>
            </a:r>
            <a:r>
              <a:rPr lang="en-US" altLang="zh-CN" b="1" dirty="0"/>
              <a:t>1080p</a:t>
            </a:r>
            <a:r>
              <a:rPr lang="en-US" altLang="zh-CN" b="1" dirty="0">
                <a:sym typeface="Wingdings" panose="05000000000000000000" pitchFamily="2" charset="2"/>
              </a:rPr>
              <a:t>1081p</a:t>
            </a:r>
            <a:endParaRPr lang="en-US" altLang="zh-CN" b="1" dirty="0"/>
          </a:p>
          <a:p>
            <a:pPr indent="-107950">
              <a:defRPr/>
            </a:pPr>
            <a:r>
              <a:rPr lang="zh-CN" altLang="en-US" b="0" i="0" dirty="0">
                <a:solidFill>
                  <a:srgbClr val="4B4B4B"/>
                </a:solidFill>
                <a:effectLst/>
                <a:latin typeface="PingFang SC"/>
              </a:rPr>
              <a:t> </a:t>
            </a:r>
            <a:r>
              <a:rPr lang="zh-CN" altLang="en-US" b="1" dirty="0">
                <a:solidFill>
                  <a:srgbClr val="FF0000"/>
                </a:solidFill>
              </a:rPr>
              <a:t>输入格式化字符串</a:t>
            </a:r>
            <a:r>
              <a:rPr lang="zh-CN" altLang="en-US" b="1" dirty="0"/>
              <a:t>：</a:t>
            </a:r>
            <a:r>
              <a:rPr lang="en-US" altLang="zh-CN" b="1" dirty="0"/>
              <a:t>%d</a:t>
            </a:r>
            <a:r>
              <a:rPr lang="zh-CN" altLang="en-US" b="1" dirty="0"/>
              <a:t>、</a:t>
            </a:r>
            <a:r>
              <a:rPr lang="en-US" altLang="zh-CN" b="1" dirty="0"/>
              <a:t>%s</a:t>
            </a:r>
            <a:r>
              <a:rPr lang="zh-CN" altLang="en-US" b="1" dirty="0"/>
              <a:t>等符号在很多语言中是指导格式化用的，如果用作输入可能引发报错（例如：利用占位符</a:t>
            </a:r>
            <a:r>
              <a:rPr lang="en-US" altLang="zh-CN" b="0" i="0" dirty="0">
                <a:solidFill>
                  <a:srgbClr val="191B1F"/>
                </a:solidFill>
                <a:effectLst/>
                <a:latin typeface="-apple-system"/>
              </a:rPr>
              <a:t> </a:t>
            </a:r>
            <a:r>
              <a:rPr lang="en-US" altLang="zh-CN" b="1" dirty="0"/>
              <a:t>%016llx </a:t>
            </a:r>
            <a:r>
              <a:rPr lang="zh-CN" altLang="en-US" b="1" dirty="0"/>
              <a:t>，输入</a:t>
            </a:r>
            <a:r>
              <a:rPr lang="en-US" altLang="zh-CN" b="1" dirty="0"/>
              <a:t>./execute.exe 11 %016llx %016llx …</a:t>
            </a:r>
            <a:r>
              <a:rPr lang="zh-CN" altLang="en-US" b="1" dirty="0"/>
              <a:t>）</a:t>
            </a:r>
            <a:endParaRPr lang="en-US" altLang="zh-CN" b="1" dirty="0"/>
          </a:p>
          <a:p>
            <a:pPr indent="-107950">
              <a:defRPr/>
            </a:pPr>
            <a:r>
              <a:rPr lang="en-US" altLang="zh-CN" b="1" dirty="0"/>
              <a:t> </a:t>
            </a:r>
            <a:r>
              <a:rPr lang="zh-CN" altLang="en-US" b="1" dirty="0">
                <a:solidFill>
                  <a:srgbClr val="FF0000"/>
                </a:solidFill>
              </a:rPr>
              <a:t>输入</a:t>
            </a:r>
            <a:r>
              <a:rPr lang="zh-CN" altLang="en-US" b="1" i="0" dirty="0">
                <a:solidFill>
                  <a:srgbClr val="FF0000"/>
                </a:solidFill>
                <a:effectLst/>
                <a:latin typeface="PingFang SC"/>
              </a:rPr>
              <a:t>特殊字符</a:t>
            </a:r>
            <a:r>
              <a:rPr lang="zh-CN" altLang="en-US" b="1" dirty="0"/>
              <a:t>：</a:t>
            </a:r>
            <a:r>
              <a:rPr lang="zh-CN" altLang="en-US" b="0" i="0" dirty="0">
                <a:solidFill>
                  <a:srgbClr val="4B4B4B"/>
                </a:solidFill>
                <a:effectLst/>
                <a:latin typeface="PingFang SC"/>
              </a:rPr>
              <a:t> </a:t>
            </a:r>
            <a:r>
              <a:rPr lang="en-US" altLang="zh-CN" b="1" dirty="0"/>
              <a:t>~!@#$%</a:t>
            </a:r>
            <a:r>
              <a:rPr lang="zh-CN" altLang="en-US" b="1" dirty="0"/>
              <a:t>等等符号在很多语言中是有特殊含义的，作为输入可能会引发报错</a:t>
            </a:r>
            <a:endParaRPr lang="en-US" altLang="zh-CN" b="1" dirty="0"/>
          </a:p>
          <a:p>
            <a:pPr>
              <a:buFont typeface="Wingdings" panose="05000000000000000000" pitchFamily="2" charset="2"/>
              <a:buChar char="l"/>
              <a:defRPr/>
            </a:pPr>
            <a:r>
              <a:rPr lang="zh-CN" altLang="en-US" sz="1800" b="1" dirty="0">
                <a:solidFill>
                  <a:srgbClr val="0033CC"/>
                </a:solidFill>
              </a:rPr>
              <a:t>模糊测试</a:t>
            </a:r>
            <a:r>
              <a:rPr lang="en-US" altLang="zh-CN" sz="1800" b="1" dirty="0">
                <a:solidFill>
                  <a:srgbClr val="0033CC"/>
                </a:solidFill>
              </a:rPr>
              <a:t>Fuzzing Test</a:t>
            </a:r>
            <a:r>
              <a:rPr lang="zh-CN" altLang="en-US" sz="1800" b="1" dirty="0">
                <a:solidFill>
                  <a:srgbClr val="0033CC"/>
                </a:solidFill>
              </a:rPr>
              <a:t>（工具</a:t>
            </a:r>
            <a:r>
              <a:rPr lang="en-US" altLang="zh-CN" sz="1800" b="1" dirty="0">
                <a:solidFill>
                  <a:srgbClr val="0033CC"/>
                </a:solidFill>
              </a:rPr>
              <a:t>AFL++</a:t>
            </a:r>
            <a:r>
              <a:rPr lang="zh-CN" altLang="en-US" sz="1800" b="1" dirty="0">
                <a:solidFill>
                  <a:srgbClr val="0033CC"/>
                </a:solidFill>
              </a:rPr>
              <a:t>）</a:t>
            </a:r>
            <a:endParaRPr lang="zh-CN" altLang="zh-CN" sz="1800" b="1" dirty="0">
              <a:solidFill>
                <a:srgbClr val="0033CC"/>
              </a:solidFill>
            </a:endParaRPr>
          </a:p>
          <a:p>
            <a:pPr indent="-71755">
              <a:defRPr/>
            </a:pPr>
            <a:r>
              <a:rPr lang="zh-CN" altLang="en-US" b="1" dirty="0"/>
              <a:t> </a:t>
            </a:r>
            <a:r>
              <a:rPr lang="en-US" altLang="zh-CN" b="1" dirty="0">
                <a:solidFill>
                  <a:srgbClr val="FF0000"/>
                </a:solidFill>
              </a:rPr>
              <a:t>AFL++</a:t>
            </a:r>
            <a:r>
              <a:rPr lang="zh-CN" altLang="en-US" b="1" dirty="0"/>
              <a:t>：开源的自动化模糊测试工具，通过向软件输入大量随机或伪随机的数据，来发现潜在的安全漏洞或程序崩溃，从而发现软件中的</a:t>
            </a:r>
            <a:r>
              <a:rPr lang="en-US" altLang="zh-CN" b="1" dirty="0"/>
              <a:t>0day</a:t>
            </a:r>
            <a:r>
              <a:rPr lang="zh-CN" altLang="en-US" b="1" dirty="0"/>
              <a:t>漏洞（推荐在隔离环境中运行）</a:t>
            </a:r>
            <a:endParaRPr lang="en-US" altLang="zh-CN" b="1" dirty="0"/>
          </a:p>
        </p:txBody>
      </p:sp>
    </p:spTree>
    <p:extLst>
      <p:ext uri="{BB962C8B-B14F-4D97-AF65-F5344CB8AC3E}">
        <p14:creationId xmlns:p14="http://schemas.microsoft.com/office/powerpoint/2010/main" val="3477655281"/>
      </p:ext>
    </p:extLst>
  </p:cSld>
  <p:clrMapOvr>
    <a:masterClrMapping/>
  </p:clrMapOvr>
  <p:transition spd="med">
    <p:randomBar dir="ver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内容占位符 2"/>
          <p:cNvSpPr>
            <a:spLocks noGrp="1"/>
          </p:cNvSpPr>
          <p:nvPr>
            <p:ph idx="1"/>
          </p:nvPr>
        </p:nvSpPr>
        <p:spPr>
          <a:xfrm>
            <a:off x="357188" y="1000125"/>
            <a:ext cx="8572500" cy="1643063"/>
          </a:xfrm>
        </p:spPr>
        <p:txBody>
          <a:bodyPr/>
          <a:lstStyle/>
          <a:p>
            <a:pPr>
              <a:buFont typeface="Wingdings" panose="05000000000000000000" pitchFamily="2" charset="2"/>
              <a:buNone/>
              <a:defRPr/>
            </a:pPr>
            <a:r>
              <a:rPr lang="en-US" altLang="zh-CN" sz="2000" b="1" dirty="0">
                <a:solidFill>
                  <a:srgbClr val="FF0000"/>
                </a:solidFill>
              </a:rPr>
              <a:t>5. </a:t>
            </a:r>
            <a:r>
              <a:rPr lang="zh-CN" altLang="zh-CN" sz="2000" b="1" dirty="0">
                <a:solidFill>
                  <a:srgbClr val="FF0000"/>
                </a:solidFill>
              </a:rPr>
              <a:t>蠕虫的基本结构</a:t>
            </a:r>
          </a:p>
          <a:p>
            <a:pPr>
              <a:buFont typeface="Wingdings" panose="05000000000000000000" pitchFamily="2" charset="2"/>
              <a:buNone/>
              <a:defRPr/>
            </a:pPr>
            <a:r>
              <a:rPr lang="zh-CN" altLang="en-US" sz="1800" b="1" dirty="0">
                <a:solidFill>
                  <a:schemeClr val="bg2">
                    <a:lumMod val="25000"/>
                  </a:schemeClr>
                </a:solidFill>
              </a:rPr>
              <a:t>（</a:t>
            </a:r>
            <a:r>
              <a:rPr lang="en-US" altLang="zh-CN" sz="1800" b="1" dirty="0">
                <a:solidFill>
                  <a:schemeClr val="bg2">
                    <a:lumMod val="25000"/>
                  </a:schemeClr>
                </a:solidFill>
              </a:rPr>
              <a:t>1</a:t>
            </a:r>
            <a:r>
              <a:rPr lang="zh-CN" altLang="en-US" sz="1800" b="1" dirty="0">
                <a:solidFill>
                  <a:schemeClr val="bg2">
                    <a:lumMod val="25000"/>
                  </a:schemeClr>
                </a:solidFill>
              </a:rPr>
              <a:t>）</a:t>
            </a:r>
            <a:r>
              <a:rPr lang="zh-CN" altLang="zh-CN" sz="1800" b="1" dirty="0">
                <a:solidFill>
                  <a:schemeClr val="bg2">
                    <a:lumMod val="25000"/>
                  </a:schemeClr>
                </a:solidFill>
              </a:rPr>
              <a:t>蠕虫的实体结构</a:t>
            </a:r>
          </a:p>
          <a:p>
            <a:pPr indent="-71755">
              <a:defRPr/>
            </a:pPr>
            <a:r>
              <a:rPr lang="zh-CN" altLang="zh-CN" sz="1500" b="1" dirty="0"/>
              <a:t>蠕虫程序相对于一般的应用程序，在实体结构方面体现了更对的复杂性。通过对蠕虫程序的分析，可以把实体结构分为如下</a:t>
            </a:r>
            <a:r>
              <a:rPr lang="en-US" altLang="zh-CN" sz="1500" b="1" dirty="0">
                <a:solidFill>
                  <a:srgbClr val="0033CC"/>
                </a:solidFill>
              </a:rPr>
              <a:t>6</a:t>
            </a:r>
            <a:r>
              <a:rPr lang="zh-CN" altLang="zh-CN" sz="1500" b="1" dirty="0">
                <a:solidFill>
                  <a:srgbClr val="0033CC"/>
                </a:solidFill>
              </a:rPr>
              <a:t>个部分</a:t>
            </a:r>
            <a:r>
              <a:rPr lang="zh-CN" altLang="zh-CN" sz="1500" b="1" dirty="0"/>
              <a:t>，</a:t>
            </a:r>
            <a:r>
              <a:rPr lang="zh-CN" altLang="zh-CN" sz="1500" b="1" u="sng" dirty="0">
                <a:solidFill>
                  <a:srgbClr val="FF0000"/>
                </a:solidFill>
                <a:effectLst>
                  <a:outerShdw blurRad="38100" dist="38100" dir="2700000" algn="tl">
                    <a:srgbClr val="000000">
                      <a:alpha val="43137"/>
                    </a:srgbClr>
                  </a:outerShdw>
                </a:effectLst>
              </a:rPr>
              <a:t>具体的某个蠕虫</a:t>
            </a:r>
            <a:r>
              <a:rPr lang="zh-CN" altLang="zh-CN" sz="1500" b="1" u="sng" dirty="0">
                <a:solidFill>
                  <a:srgbClr val="0033CC"/>
                </a:solidFill>
                <a:effectLst>
                  <a:outerShdw blurRad="38100" dist="38100" dir="2700000" algn="tl">
                    <a:srgbClr val="000000">
                      <a:alpha val="43137"/>
                    </a:srgbClr>
                  </a:outerShdw>
                </a:effectLst>
              </a:rPr>
              <a:t>可能仅包含</a:t>
            </a:r>
            <a:r>
              <a:rPr lang="zh-CN" altLang="zh-CN" sz="1500" b="1" u="sng" dirty="0">
                <a:solidFill>
                  <a:srgbClr val="FF0000"/>
                </a:solidFill>
                <a:effectLst>
                  <a:outerShdw blurRad="38100" dist="38100" dir="2700000" algn="tl">
                    <a:srgbClr val="000000">
                      <a:alpha val="43137"/>
                    </a:srgbClr>
                  </a:outerShdw>
                </a:effectLst>
              </a:rPr>
              <a:t>其中几个部分</a:t>
            </a:r>
            <a:r>
              <a:rPr lang="zh-CN" altLang="zh-CN" sz="1500" b="1" dirty="0"/>
              <a:t>，如图所示。</a:t>
            </a:r>
          </a:p>
          <a:p>
            <a:pPr>
              <a:buFont typeface="Arial" panose="020B0604020202020204" pitchFamily="34" charset="0"/>
              <a:buChar char="•"/>
              <a:defRPr/>
            </a:pPr>
            <a:endParaRPr lang="zh-CN" altLang="zh-CN" b="1" dirty="0"/>
          </a:p>
        </p:txBody>
      </p:sp>
      <p:sp>
        <p:nvSpPr>
          <p:cNvPr id="7"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9.4.3 </a:t>
            </a:r>
            <a:r>
              <a:rPr altLang="en-US" sz="2000" dirty="0"/>
              <a:t>蠕虫的机理与防治</a:t>
            </a:r>
          </a:p>
        </p:txBody>
      </p:sp>
      <p:grpSp>
        <p:nvGrpSpPr>
          <p:cNvPr id="2" name="组合 31"/>
          <p:cNvGrpSpPr/>
          <p:nvPr/>
        </p:nvGrpSpPr>
        <p:grpSpPr bwMode="auto">
          <a:xfrm>
            <a:off x="1143000" y="2928938"/>
            <a:ext cx="6929438" cy="1658937"/>
            <a:chOff x="1142976" y="2714626"/>
            <a:chExt cx="6929486" cy="1658830"/>
          </a:xfrm>
        </p:grpSpPr>
        <p:sp>
          <p:nvSpPr>
            <p:cNvPr id="72710" name="矩形 8"/>
            <p:cNvSpPr>
              <a:spLocks noChangeArrowheads="1"/>
            </p:cNvSpPr>
            <p:nvPr/>
          </p:nvSpPr>
          <p:spPr bwMode="auto">
            <a:xfrm>
              <a:off x="1142976" y="3429006"/>
              <a:ext cx="1000132"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solidFill>
                    <a:srgbClr val="0033CC"/>
                  </a:solidFill>
                </a:rPr>
                <a:t>未编译的</a:t>
              </a:r>
              <a:endParaRPr lang="en-US" altLang="zh-CN" sz="1200" b="1">
                <a:solidFill>
                  <a:srgbClr val="0033CC"/>
                </a:solidFill>
              </a:endParaRPr>
            </a:p>
            <a:p>
              <a:pPr algn="ctr" eaLnBrk="1" hangingPunct="1"/>
              <a:r>
                <a:rPr lang="zh-CN" altLang="en-US" sz="1200" b="1">
                  <a:solidFill>
                    <a:srgbClr val="0033CC"/>
                  </a:solidFill>
                </a:rPr>
                <a:t>源代码</a:t>
              </a:r>
            </a:p>
          </p:txBody>
        </p:sp>
        <p:sp>
          <p:nvSpPr>
            <p:cNvPr id="72711" name="矩形 9"/>
            <p:cNvSpPr>
              <a:spLocks noChangeArrowheads="1"/>
            </p:cNvSpPr>
            <p:nvPr/>
          </p:nvSpPr>
          <p:spPr bwMode="auto">
            <a:xfrm>
              <a:off x="2285984" y="3429006"/>
              <a:ext cx="1143008"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solidFill>
                    <a:srgbClr val="0033CC"/>
                  </a:solidFill>
                </a:rPr>
                <a:t>已编译的连接</a:t>
              </a:r>
              <a:endParaRPr lang="en-US" altLang="zh-CN" sz="1200" b="1">
                <a:solidFill>
                  <a:srgbClr val="0033CC"/>
                </a:solidFill>
              </a:endParaRPr>
            </a:p>
            <a:p>
              <a:pPr algn="ctr" eaLnBrk="1" hangingPunct="1"/>
              <a:r>
                <a:rPr lang="zh-CN" altLang="en-US" sz="1200" b="1">
                  <a:solidFill>
                    <a:srgbClr val="0033CC"/>
                  </a:solidFill>
                </a:rPr>
                <a:t>模块</a:t>
              </a:r>
            </a:p>
          </p:txBody>
        </p:sp>
        <p:sp>
          <p:nvSpPr>
            <p:cNvPr id="72712" name="矩形 10"/>
            <p:cNvSpPr>
              <a:spLocks noChangeArrowheads="1"/>
            </p:cNvSpPr>
            <p:nvPr/>
          </p:nvSpPr>
          <p:spPr bwMode="auto">
            <a:xfrm>
              <a:off x="3571868" y="3429006"/>
              <a:ext cx="1000132"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solidFill>
                    <a:srgbClr val="0033CC"/>
                  </a:solidFill>
                </a:rPr>
                <a:t>可运行的</a:t>
              </a:r>
              <a:endParaRPr lang="en-US" altLang="zh-CN" sz="1200" b="1">
                <a:solidFill>
                  <a:srgbClr val="0033CC"/>
                </a:solidFill>
              </a:endParaRPr>
            </a:p>
            <a:p>
              <a:pPr algn="ctr" eaLnBrk="1" hangingPunct="1"/>
              <a:r>
                <a:rPr lang="zh-CN" altLang="en-US" sz="1200" b="1">
                  <a:solidFill>
                    <a:srgbClr val="0033CC"/>
                  </a:solidFill>
                </a:rPr>
                <a:t>代码</a:t>
              </a:r>
            </a:p>
          </p:txBody>
        </p:sp>
        <p:sp>
          <p:nvSpPr>
            <p:cNvPr id="72713" name="矩形 11"/>
            <p:cNvSpPr>
              <a:spLocks noChangeArrowheads="1"/>
            </p:cNvSpPr>
            <p:nvPr/>
          </p:nvSpPr>
          <p:spPr bwMode="auto">
            <a:xfrm>
              <a:off x="4786314" y="3429006"/>
              <a:ext cx="785818"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solidFill>
                    <a:srgbClr val="0033CC"/>
                  </a:solidFill>
                </a:rPr>
                <a:t>脚本</a:t>
              </a:r>
            </a:p>
          </p:txBody>
        </p:sp>
        <p:sp>
          <p:nvSpPr>
            <p:cNvPr id="72714" name="矩形 12"/>
            <p:cNvSpPr>
              <a:spLocks noChangeArrowheads="1"/>
            </p:cNvSpPr>
            <p:nvPr/>
          </p:nvSpPr>
          <p:spPr bwMode="auto">
            <a:xfrm>
              <a:off x="5715008" y="3429006"/>
              <a:ext cx="1285884"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solidFill>
                    <a:srgbClr val="0033CC"/>
                  </a:solidFill>
                </a:rPr>
                <a:t>受感染系统上的</a:t>
              </a:r>
              <a:endParaRPr lang="en-US" altLang="zh-CN" sz="1200" b="1">
                <a:solidFill>
                  <a:srgbClr val="0033CC"/>
                </a:solidFill>
              </a:endParaRPr>
            </a:p>
            <a:p>
              <a:pPr algn="ctr" eaLnBrk="1" hangingPunct="1"/>
              <a:r>
                <a:rPr lang="zh-CN" altLang="en-US" sz="1200" b="1">
                  <a:solidFill>
                    <a:srgbClr val="0033CC"/>
                  </a:solidFill>
                </a:rPr>
                <a:t>可执行程序</a:t>
              </a:r>
            </a:p>
          </p:txBody>
        </p:sp>
        <p:sp>
          <p:nvSpPr>
            <p:cNvPr id="72715" name="矩形 13"/>
            <p:cNvSpPr>
              <a:spLocks noChangeArrowheads="1"/>
            </p:cNvSpPr>
            <p:nvPr/>
          </p:nvSpPr>
          <p:spPr bwMode="auto">
            <a:xfrm>
              <a:off x="7215206" y="3429006"/>
              <a:ext cx="857256"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solidFill>
                    <a:srgbClr val="0033CC"/>
                  </a:solidFill>
                </a:rPr>
                <a:t>信息数据</a:t>
              </a:r>
            </a:p>
          </p:txBody>
        </p:sp>
        <p:sp>
          <p:nvSpPr>
            <p:cNvPr id="72716" name="矩形 14"/>
            <p:cNvSpPr>
              <a:spLocks noChangeArrowheads="1"/>
            </p:cNvSpPr>
            <p:nvPr/>
          </p:nvSpPr>
          <p:spPr bwMode="auto">
            <a:xfrm>
              <a:off x="4071934" y="2714626"/>
              <a:ext cx="1285884" cy="285752"/>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solidFill>
                    <a:srgbClr val="FF0000"/>
                  </a:solidFill>
                </a:rPr>
                <a:t>蠕虫实体结构</a:t>
              </a:r>
            </a:p>
          </p:txBody>
        </p:sp>
        <p:cxnSp>
          <p:nvCxnSpPr>
            <p:cNvPr id="72717" name="直接连接符 16"/>
            <p:cNvCxnSpPr>
              <a:cxnSpLocks noChangeShapeType="1"/>
            </p:cNvCxnSpPr>
            <p:nvPr/>
          </p:nvCxnSpPr>
          <p:spPr bwMode="auto">
            <a:xfrm rot="5400000">
              <a:off x="4608513" y="310674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2718" name="直接连接符 19"/>
            <p:cNvCxnSpPr>
              <a:cxnSpLocks noChangeShapeType="1"/>
            </p:cNvCxnSpPr>
            <p:nvPr/>
          </p:nvCxnSpPr>
          <p:spPr bwMode="auto">
            <a:xfrm rot="10800000">
              <a:off x="1643042" y="3214692"/>
              <a:ext cx="6000792"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2719" name="直接连接符 22"/>
            <p:cNvCxnSpPr>
              <a:cxnSpLocks noChangeShapeType="1"/>
            </p:cNvCxnSpPr>
            <p:nvPr/>
          </p:nvCxnSpPr>
          <p:spPr bwMode="auto">
            <a:xfrm rot="5400000">
              <a:off x="3965571"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2720" name="直接连接符 25"/>
            <p:cNvCxnSpPr>
              <a:cxnSpLocks noChangeShapeType="1"/>
            </p:cNvCxnSpPr>
            <p:nvPr/>
          </p:nvCxnSpPr>
          <p:spPr bwMode="auto">
            <a:xfrm rot="5400000">
              <a:off x="1536679"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2721" name="直接连接符 26"/>
            <p:cNvCxnSpPr>
              <a:cxnSpLocks noChangeShapeType="1"/>
            </p:cNvCxnSpPr>
            <p:nvPr/>
          </p:nvCxnSpPr>
          <p:spPr bwMode="auto">
            <a:xfrm rot="5400000">
              <a:off x="7537471"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2722" name="直接连接符 27"/>
            <p:cNvCxnSpPr>
              <a:cxnSpLocks noChangeShapeType="1"/>
            </p:cNvCxnSpPr>
            <p:nvPr/>
          </p:nvCxnSpPr>
          <p:spPr bwMode="auto">
            <a:xfrm rot="5400000">
              <a:off x="2751125"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2723" name="直接连接符 28"/>
            <p:cNvCxnSpPr>
              <a:cxnSpLocks noChangeShapeType="1"/>
            </p:cNvCxnSpPr>
            <p:nvPr/>
          </p:nvCxnSpPr>
          <p:spPr bwMode="auto">
            <a:xfrm rot="5400000">
              <a:off x="5037141"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2724" name="直接连接符 29"/>
            <p:cNvCxnSpPr>
              <a:cxnSpLocks noChangeShapeType="1"/>
            </p:cNvCxnSpPr>
            <p:nvPr/>
          </p:nvCxnSpPr>
          <p:spPr bwMode="auto">
            <a:xfrm rot="5400000">
              <a:off x="6180149"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sp>
          <p:nvSpPr>
            <p:cNvPr id="72725" name="TextBox 30"/>
            <p:cNvSpPr txBox="1">
              <a:spLocks noChangeArrowheads="1"/>
            </p:cNvSpPr>
            <p:nvPr/>
          </p:nvSpPr>
          <p:spPr bwMode="auto">
            <a:xfrm>
              <a:off x="4000496" y="4065679"/>
              <a:ext cx="12858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t>蠕虫实体结构</a:t>
              </a:r>
            </a:p>
          </p:txBody>
        </p:sp>
      </p:gr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fade">
                                      <p:cBhvr>
                                        <p:cTn id="7" dur="500"/>
                                        <p:tgtEl>
                                          <p:spTgt spid="5427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4275">
                                            <p:txEl>
                                              <p:pRg st="1" end="1"/>
                                            </p:txEl>
                                          </p:spTgt>
                                        </p:tgtEl>
                                        <p:attrNameLst>
                                          <p:attrName>style.visibility</p:attrName>
                                        </p:attrNameLst>
                                      </p:cBhvr>
                                      <p:to>
                                        <p:strVal val="visible"/>
                                      </p:to>
                                    </p:set>
                                    <p:animEffect transition="in" filter="fade">
                                      <p:cBhvr>
                                        <p:cTn id="11" dur="500"/>
                                        <p:tgtEl>
                                          <p:spTgt spid="54275">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4275">
                                            <p:txEl>
                                              <p:pRg st="2" end="2"/>
                                            </p:txEl>
                                          </p:spTgt>
                                        </p:tgtEl>
                                        <p:attrNameLst>
                                          <p:attrName>style.visibility</p:attrName>
                                        </p:attrNameLst>
                                      </p:cBhvr>
                                      <p:to>
                                        <p:strVal val="visible"/>
                                      </p:to>
                                    </p:set>
                                    <p:animEffect transition="in" filter="fade">
                                      <p:cBhvr>
                                        <p:cTn id="15" dur="500"/>
                                        <p:tgtEl>
                                          <p:spTgt spid="5427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7"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anim calcmode="lin" valueType="num">
                                      <p:cBhvr>
                                        <p:cTn id="21" dur="500" fill="hold"/>
                                        <p:tgtEl>
                                          <p:spTgt spid="2"/>
                                        </p:tgtEl>
                                        <p:attrNameLst>
                                          <p:attrName>ppt_x</p:attrName>
                                        </p:attrNameLst>
                                      </p:cBhvr>
                                      <p:tavLst>
                                        <p:tav tm="0">
                                          <p:val>
                                            <p:strVal val="#ppt_x"/>
                                          </p:val>
                                        </p:tav>
                                        <p:tav tm="100000">
                                          <p:val>
                                            <p:strVal val="#ppt_x"/>
                                          </p:val>
                                        </p:tav>
                                      </p:tavLst>
                                    </p:anim>
                                    <p:anim calcmode="lin" valueType="num">
                                      <p:cBhvr>
                                        <p:cTn id="22"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内容占位符 2"/>
          <p:cNvSpPr>
            <a:spLocks noGrp="1"/>
          </p:cNvSpPr>
          <p:nvPr>
            <p:ph idx="1"/>
          </p:nvPr>
        </p:nvSpPr>
        <p:spPr>
          <a:xfrm>
            <a:off x="0" y="1714500"/>
            <a:ext cx="8786813" cy="2928938"/>
          </a:xfrm>
        </p:spPr>
        <p:txBody>
          <a:bodyPr/>
          <a:lstStyle/>
          <a:p>
            <a:pPr indent="-36195">
              <a:buFont typeface="Wingdings" panose="05000000000000000000" pitchFamily="2" charset="2"/>
              <a:buChar char="Ø"/>
              <a:defRPr/>
            </a:pPr>
            <a:r>
              <a:rPr lang="zh-CN" altLang="en-US" sz="1400" b="1" dirty="0">
                <a:solidFill>
                  <a:srgbClr val="0033CC"/>
                </a:solidFill>
              </a:rPr>
              <a:t>（</a:t>
            </a:r>
            <a:r>
              <a:rPr lang="en-US" altLang="zh-CN" sz="1400" b="1" dirty="0">
                <a:solidFill>
                  <a:srgbClr val="0033CC"/>
                </a:solidFill>
              </a:rPr>
              <a:t>a</a:t>
            </a:r>
            <a:r>
              <a:rPr lang="zh-CN" altLang="en-US" sz="1400" b="1" dirty="0">
                <a:solidFill>
                  <a:srgbClr val="0033CC"/>
                </a:solidFill>
              </a:rPr>
              <a:t>）</a:t>
            </a:r>
            <a:r>
              <a:rPr lang="zh-CN" altLang="zh-CN" sz="1400" b="1" dirty="0">
                <a:solidFill>
                  <a:srgbClr val="0033CC"/>
                </a:solidFill>
              </a:rPr>
              <a:t>未编译的源代码：</a:t>
            </a:r>
            <a:r>
              <a:rPr lang="zh-CN" altLang="zh-CN" sz="1400" b="1" dirty="0"/>
              <a:t>由于某些程序参数必须在编译时确定，所以蠕虫程序可能包含一部分未编译的程</a:t>
            </a:r>
            <a:endParaRPr lang="en-US" altLang="zh-CN" sz="1400" b="1" dirty="0"/>
          </a:p>
          <a:p>
            <a:pPr indent="-36195">
              <a:buFont typeface="Wingdings" panose="05000000000000000000" pitchFamily="2" charset="2"/>
              <a:buNone/>
              <a:defRPr/>
            </a:pPr>
            <a:r>
              <a:rPr lang="en-US" altLang="zh-CN" sz="1400" b="1" dirty="0"/>
              <a:t>                                    </a:t>
            </a:r>
            <a:r>
              <a:rPr lang="zh-CN" altLang="zh-CN" sz="1400" b="1" dirty="0"/>
              <a:t>序源代码。</a:t>
            </a:r>
          </a:p>
          <a:p>
            <a:pPr indent="-36195">
              <a:buFont typeface="Wingdings" panose="05000000000000000000" pitchFamily="2" charset="2"/>
              <a:buChar char="Ø"/>
              <a:defRPr/>
            </a:pPr>
            <a:r>
              <a:rPr lang="zh-CN" altLang="en-US" sz="1400" b="1" dirty="0">
                <a:solidFill>
                  <a:srgbClr val="0033CC"/>
                </a:solidFill>
              </a:rPr>
              <a:t>（</a:t>
            </a:r>
            <a:r>
              <a:rPr lang="en-US" altLang="zh-CN" sz="1400" b="1" dirty="0">
                <a:solidFill>
                  <a:srgbClr val="0033CC"/>
                </a:solidFill>
              </a:rPr>
              <a:t>b</a:t>
            </a:r>
            <a:r>
              <a:rPr lang="zh-CN" altLang="en-US" sz="1400" b="1" dirty="0">
                <a:solidFill>
                  <a:srgbClr val="0033CC"/>
                </a:solidFill>
              </a:rPr>
              <a:t>）</a:t>
            </a:r>
            <a:r>
              <a:rPr lang="zh-CN" altLang="zh-CN" sz="1400" b="1" dirty="0">
                <a:solidFill>
                  <a:srgbClr val="0033CC"/>
                </a:solidFill>
              </a:rPr>
              <a:t>已编译的链接模块：</a:t>
            </a:r>
            <a:r>
              <a:rPr lang="zh-CN" altLang="zh-CN" sz="1400" b="1" dirty="0"/>
              <a:t>不同的系统，可能需要不同的运行模块，例如，不同的硬件厂商和不同的系统</a:t>
            </a:r>
            <a:endParaRPr lang="en-US" altLang="zh-CN" sz="1400" b="1" dirty="0"/>
          </a:p>
          <a:p>
            <a:pPr indent="-36195">
              <a:buFont typeface="Wingdings" panose="05000000000000000000" pitchFamily="2" charset="2"/>
              <a:buNone/>
              <a:defRPr/>
            </a:pPr>
            <a:r>
              <a:rPr lang="en-US" altLang="zh-CN" sz="1400" b="1" dirty="0"/>
              <a:t>                                          </a:t>
            </a:r>
            <a:r>
              <a:rPr lang="zh-CN" altLang="zh-CN" sz="1400" b="1" dirty="0"/>
              <a:t>厂商可能采用不同的运行库。</a:t>
            </a:r>
          </a:p>
          <a:p>
            <a:pPr indent="-36195">
              <a:buFont typeface="Wingdings" panose="05000000000000000000" pitchFamily="2" charset="2"/>
              <a:buChar char="Ø"/>
              <a:defRPr/>
            </a:pPr>
            <a:r>
              <a:rPr lang="zh-CN" altLang="en-US" sz="1400" b="1" dirty="0">
                <a:solidFill>
                  <a:srgbClr val="0033CC"/>
                </a:solidFill>
              </a:rPr>
              <a:t>（</a:t>
            </a:r>
            <a:r>
              <a:rPr lang="en-US" altLang="zh-CN" sz="1400" b="1" dirty="0">
                <a:solidFill>
                  <a:srgbClr val="0033CC"/>
                </a:solidFill>
              </a:rPr>
              <a:t>c</a:t>
            </a:r>
            <a:r>
              <a:rPr lang="zh-CN" altLang="en-US" sz="1400" b="1" dirty="0">
                <a:solidFill>
                  <a:srgbClr val="0033CC"/>
                </a:solidFill>
              </a:rPr>
              <a:t>）</a:t>
            </a:r>
            <a:r>
              <a:rPr lang="zh-CN" altLang="zh-CN" sz="1400" b="1" dirty="0">
                <a:solidFill>
                  <a:srgbClr val="0033CC"/>
                </a:solidFill>
              </a:rPr>
              <a:t>可运行代码：</a:t>
            </a:r>
            <a:r>
              <a:rPr lang="zh-CN" altLang="zh-CN" sz="1400" b="1" dirty="0"/>
              <a:t>整个蠕虫可能由多个编译好的程序组成。</a:t>
            </a:r>
          </a:p>
          <a:p>
            <a:pPr indent="-36195">
              <a:buFont typeface="Wingdings" panose="05000000000000000000" pitchFamily="2" charset="2"/>
              <a:buChar char="Ø"/>
              <a:defRPr/>
            </a:pPr>
            <a:r>
              <a:rPr lang="zh-CN" altLang="en-US" sz="1400" b="1" dirty="0">
                <a:solidFill>
                  <a:srgbClr val="0033CC"/>
                </a:solidFill>
              </a:rPr>
              <a:t>（</a:t>
            </a:r>
            <a:r>
              <a:rPr lang="en-US" altLang="zh-CN" sz="1400" b="1" dirty="0">
                <a:solidFill>
                  <a:srgbClr val="0033CC"/>
                </a:solidFill>
              </a:rPr>
              <a:t>d</a:t>
            </a:r>
            <a:r>
              <a:rPr lang="zh-CN" altLang="en-US" sz="1400" b="1" dirty="0">
                <a:solidFill>
                  <a:srgbClr val="0033CC"/>
                </a:solidFill>
              </a:rPr>
              <a:t>）</a:t>
            </a:r>
            <a:r>
              <a:rPr lang="zh-CN" altLang="zh-CN" sz="1400" b="1" dirty="0">
                <a:solidFill>
                  <a:srgbClr val="0033CC"/>
                </a:solidFill>
              </a:rPr>
              <a:t>脚本：</a:t>
            </a:r>
            <a:r>
              <a:rPr lang="zh-CN" altLang="zh-CN" sz="1400" b="1" dirty="0"/>
              <a:t>利用脚本可以节省大量的程序代码，充分利用系统</a:t>
            </a:r>
            <a:r>
              <a:rPr lang="en-US" altLang="zh-CN" sz="1400" b="1" dirty="0"/>
              <a:t>shell</a:t>
            </a:r>
            <a:r>
              <a:rPr lang="zh-CN" altLang="zh-CN" sz="1400" b="1" dirty="0"/>
              <a:t>的功能。</a:t>
            </a:r>
          </a:p>
          <a:p>
            <a:pPr indent="-36195">
              <a:buFont typeface="Wingdings" panose="05000000000000000000" pitchFamily="2" charset="2"/>
              <a:buChar char="Ø"/>
              <a:defRPr/>
            </a:pPr>
            <a:r>
              <a:rPr lang="zh-CN" altLang="en-US" sz="1400" b="1" dirty="0">
                <a:solidFill>
                  <a:srgbClr val="0033CC"/>
                </a:solidFill>
              </a:rPr>
              <a:t>（</a:t>
            </a:r>
            <a:r>
              <a:rPr lang="en-US" altLang="zh-CN" sz="1400" b="1" dirty="0">
                <a:solidFill>
                  <a:srgbClr val="0033CC"/>
                </a:solidFill>
              </a:rPr>
              <a:t>e</a:t>
            </a:r>
            <a:r>
              <a:rPr lang="zh-CN" altLang="en-US" sz="1400" b="1" dirty="0">
                <a:solidFill>
                  <a:srgbClr val="0033CC"/>
                </a:solidFill>
              </a:rPr>
              <a:t>）</a:t>
            </a:r>
            <a:r>
              <a:rPr lang="zh-CN" altLang="zh-CN" sz="1400" b="1" dirty="0">
                <a:solidFill>
                  <a:srgbClr val="0033CC"/>
                </a:solidFill>
              </a:rPr>
              <a:t>受感染系统上的可执行程序：</a:t>
            </a:r>
            <a:r>
              <a:rPr lang="zh-CN" altLang="zh-CN" sz="1400" b="1" dirty="0"/>
              <a:t>受感染系统上的可执行程序，如文件传输等，可以被蠕虫作为为自己</a:t>
            </a:r>
            <a:endParaRPr lang="en-US" altLang="zh-CN" sz="1400" b="1" dirty="0"/>
          </a:p>
          <a:p>
            <a:pPr indent="-36195">
              <a:buFont typeface="Wingdings" panose="05000000000000000000" pitchFamily="2" charset="2"/>
              <a:buNone/>
              <a:defRPr/>
            </a:pPr>
            <a:r>
              <a:rPr lang="en-US" altLang="zh-CN" sz="1400" b="1" dirty="0"/>
              <a:t>                                                      </a:t>
            </a:r>
            <a:r>
              <a:rPr lang="zh-CN" altLang="zh-CN" sz="1400" b="1" dirty="0"/>
              <a:t>的组成部分。</a:t>
            </a:r>
          </a:p>
          <a:p>
            <a:pPr indent="-36195">
              <a:buFont typeface="Wingdings" panose="05000000000000000000" pitchFamily="2" charset="2"/>
              <a:buChar char="Ø"/>
              <a:defRPr/>
            </a:pPr>
            <a:r>
              <a:rPr lang="zh-CN" altLang="en-US" sz="1400" b="1" dirty="0">
                <a:solidFill>
                  <a:srgbClr val="0033CC"/>
                </a:solidFill>
              </a:rPr>
              <a:t>（</a:t>
            </a:r>
            <a:r>
              <a:rPr lang="en-US" altLang="zh-CN" sz="1400" b="1" dirty="0">
                <a:solidFill>
                  <a:srgbClr val="0033CC"/>
                </a:solidFill>
              </a:rPr>
              <a:t>f</a:t>
            </a:r>
            <a:r>
              <a:rPr lang="zh-CN" altLang="en-US" sz="1400" b="1" dirty="0">
                <a:solidFill>
                  <a:srgbClr val="0033CC"/>
                </a:solidFill>
              </a:rPr>
              <a:t>）</a:t>
            </a:r>
            <a:r>
              <a:rPr lang="zh-CN" altLang="zh-CN" sz="1400" b="1" dirty="0">
                <a:solidFill>
                  <a:srgbClr val="0033CC"/>
                </a:solidFill>
              </a:rPr>
              <a:t>信息数据：</a:t>
            </a:r>
            <a:r>
              <a:rPr lang="zh-CN" altLang="zh-CN" sz="1400" b="1" dirty="0"/>
              <a:t>包括已经破解的口令、要攻击的地址列表、蠕虫自身的压缩包等。</a:t>
            </a:r>
          </a:p>
          <a:p>
            <a:pPr>
              <a:buFont typeface="Arial" panose="020B0604020202020204" pitchFamily="34" charset="0"/>
              <a:buChar char="•"/>
              <a:defRPr/>
            </a:pPr>
            <a:endParaRPr lang="zh-CN" altLang="zh-CN" b="1" dirty="0"/>
          </a:p>
        </p:txBody>
      </p:sp>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9.4.3 </a:t>
            </a:r>
            <a:r>
              <a:rPr altLang="en-US" sz="2000" dirty="0"/>
              <a:t>蠕虫的机理与防治</a:t>
            </a:r>
          </a:p>
        </p:txBody>
      </p:sp>
      <p:grpSp>
        <p:nvGrpSpPr>
          <p:cNvPr id="73733" name="组合 7"/>
          <p:cNvGrpSpPr/>
          <p:nvPr/>
        </p:nvGrpSpPr>
        <p:grpSpPr bwMode="auto">
          <a:xfrm>
            <a:off x="1143000" y="571500"/>
            <a:ext cx="6929438" cy="1143000"/>
            <a:chOff x="1142976" y="2714626"/>
            <a:chExt cx="6929486" cy="1143008"/>
          </a:xfrm>
        </p:grpSpPr>
        <p:sp>
          <p:nvSpPr>
            <p:cNvPr id="73734" name="矩形 8"/>
            <p:cNvSpPr>
              <a:spLocks noChangeArrowheads="1"/>
            </p:cNvSpPr>
            <p:nvPr/>
          </p:nvSpPr>
          <p:spPr bwMode="auto">
            <a:xfrm>
              <a:off x="1142976" y="3429006"/>
              <a:ext cx="1000132"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solidFill>
                    <a:srgbClr val="0033CC"/>
                  </a:solidFill>
                </a:rPr>
                <a:t>未编译的</a:t>
              </a:r>
              <a:endParaRPr lang="en-US" altLang="zh-CN" sz="1200" b="1">
                <a:solidFill>
                  <a:srgbClr val="0033CC"/>
                </a:solidFill>
              </a:endParaRPr>
            </a:p>
            <a:p>
              <a:pPr algn="ctr" eaLnBrk="1" hangingPunct="1"/>
              <a:r>
                <a:rPr lang="zh-CN" altLang="en-US" sz="1200" b="1">
                  <a:solidFill>
                    <a:srgbClr val="0033CC"/>
                  </a:solidFill>
                </a:rPr>
                <a:t>源代码</a:t>
              </a:r>
            </a:p>
          </p:txBody>
        </p:sp>
        <p:sp>
          <p:nvSpPr>
            <p:cNvPr id="73735" name="矩形 9"/>
            <p:cNvSpPr>
              <a:spLocks noChangeArrowheads="1"/>
            </p:cNvSpPr>
            <p:nvPr/>
          </p:nvSpPr>
          <p:spPr bwMode="auto">
            <a:xfrm>
              <a:off x="2285984" y="3429006"/>
              <a:ext cx="1143008"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solidFill>
                    <a:srgbClr val="0033CC"/>
                  </a:solidFill>
                </a:rPr>
                <a:t>已编译的连接</a:t>
              </a:r>
              <a:endParaRPr lang="en-US" altLang="zh-CN" sz="1200" b="1">
                <a:solidFill>
                  <a:srgbClr val="0033CC"/>
                </a:solidFill>
              </a:endParaRPr>
            </a:p>
            <a:p>
              <a:pPr algn="ctr" eaLnBrk="1" hangingPunct="1"/>
              <a:r>
                <a:rPr lang="zh-CN" altLang="en-US" sz="1200" b="1">
                  <a:solidFill>
                    <a:srgbClr val="0033CC"/>
                  </a:solidFill>
                </a:rPr>
                <a:t>模块</a:t>
              </a:r>
            </a:p>
          </p:txBody>
        </p:sp>
        <p:sp>
          <p:nvSpPr>
            <p:cNvPr id="73736" name="矩形 10"/>
            <p:cNvSpPr>
              <a:spLocks noChangeArrowheads="1"/>
            </p:cNvSpPr>
            <p:nvPr/>
          </p:nvSpPr>
          <p:spPr bwMode="auto">
            <a:xfrm>
              <a:off x="3571868" y="3429006"/>
              <a:ext cx="1000132"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solidFill>
                    <a:srgbClr val="0033CC"/>
                  </a:solidFill>
                </a:rPr>
                <a:t>可运行的</a:t>
              </a:r>
              <a:endParaRPr lang="en-US" altLang="zh-CN" sz="1200" b="1">
                <a:solidFill>
                  <a:srgbClr val="0033CC"/>
                </a:solidFill>
              </a:endParaRPr>
            </a:p>
            <a:p>
              <a:pPr algn="ctr" eaLnBrk="1" hangingPunct="1"/>
              <a:r>
                <a:rPr lang="zh-CN" altLang="en-US" sz="1200" b="1">
                  <a:solidFill>
                    <a:srgbClr val="0033CC"/>
                  </a:solidFill>
                </a:rPr>
                <a:t>代码</a:t>
              </a:r>
            </a:p>
          </p:txBody>
        </p:sp>
        <p:sp>
          <p:nvSpPr>
            <p:cNvPr id="73737" name="矩形 11"/>
            <p:cNvSpPr>
              <a:spLocks noChangeArrowheads="1"/>
            </p:cNvSpPr>
            <p:nvPr/>
          </p:nvSpPr>
          <p:spPr bwMode="auto">
            <a:xfrm>
              <a:off x="4786314" y="3429006"/>
              <a:ext cx="785818"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solidFill>
                    <a:srgbClr val="0033CC"/>
                  </a:solidFill>
                </a:rPr>
                <a:t>脚本</a:t>
              </a:r>
            </a:p>
          </p:txBody>
        </p:sp>
        <p:sp>
          <p:nvSpPr>
            <p:cNvPr id="73738" name="矩形 12"/>
            <p:cNvSpPr>
              <a:spLocks noChangeArrowheads="1"/>
            </p:cNvSpPr>
            <p:nvPr/>
          </p:nvSpPr>
          <p:spPr bwMode="auto">
            <a:xfrm>
              <a:off x="5715008" y="3429006"/>
              <a:ext cx="1285884"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solidFill>
                    <a:srgbClr val="0033CC"/>
                  </a:solidFill>
                </a:rPr>
                <a:t>受感染系统上的</a:t>
              </a:r>
              <a:endParaRPr lang="en-US" altLang="zh-CN" sz="1200" b="1">
                <a:solidFill>
                  <a:srgbClr val="0033CC"/>
                </a:solidFill>
              </a:endParaRPr>
            </a:p>
            <a:p>
              <a:pPr algn="ctr" eaLnBrk="1" hangingPunct="1"/>
              <a:r>
                <a:rPr lang="zh-CN" altLang="en-US" sz="1200" b="1">
                  <a:solidFill>
                    <a:srgbClr val="0033CC"/>
                  </a:solidFill>
                </a:rPr>
                <a:t>可执行程序</a:t>
              </a:r>
            </a:p>
          </p:txBody>
        </p:sp>
        <p:sp>
          <p:nvSpPr>
            <p:cNvPr id="73739" name="矩形 13"/>
            <p:cNvSpPr>
              <a:spLocks noChangeArrowheads="1"/>
            </p:cNvSpPr>
            <p:nvPr/>
          </p:nvSpPr>
          <p:spPr bwMode="auto">
            <a:xfrm>
              <a:off x="7215206" y="3429006"/>
              <a:ext cx="857256"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solidFill>
                    <a:srgbClr val="0033CC"/>
                  </a:solidFill>
                </a:rPr>
                <a:t>信息数据</a:t>
              </a:r>
            </a:p>
          </p:txBody>
        </p:sp>
        <p:sp>
          <p:nvSpPr>
            <p:cNvPr id="73740" name="矩形 14"/>
            <p:cNvSpPr>
              <a:spLocks noChangeArrowheads="1"/>
            </p:cNvSpPr>
            <p:nvPr/>
          </p:nvSpPr>
          <p:spPr bwMode="auto">
            <a:xfrm>
              <a:off x="4071934" y="2714626"/>
              <a:ext cx="1285884" cy="285752"/>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solidFill>
                    <a:srgbClr val="FF0000"/>
                  </a:solidFill>
                </a:rPr>
                <a:t>蠕虫实体结构</a:t>
              </a:r>
            </a:p>
          </p:txBody>
        </p:sp>
        <p:cxnSp>
          <p:nvCxnSpPr>
            <p:cNvPr id="73741" name="直接连接符 15"/>
            <p:cNvCxnSpPr>
              <a:cxnSpLocks noChangeShapeType="1"/>
            </p:cNvCxnSpPr>
            <p:nvPr/>
          </p:nvCxnSpPr>
          <p:spPr bwMode="auto">
            <a:xfrm rot="5400000">
              <a:off x="4608513" y="310674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3742" name="直接连接符 16"/>
            <p:cNvCxnSpPr>
              <a:cxnSpLocks noChangeShapeType="1"/>
            </p:cNvCxnSpPr>
            <p:nvPr/>
          </p:nvCxnSpPr>
          <p:spPr bwMode="auto">
            <a:xfrm rot="10800000">
              <a:off x="1643042" y="3214692"/>
              <a:ext cx="6000792"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3743" name="直接连接符 17"/>
            <p:cNvCxnSpPr>
              <a:cxnSpLocks noChangeShapeType="1"/>
            </p:cNvCxnSpPr>
            <p:nvPr/>
          </p:nvCxnSpPr>
          <p:spPr bwMode="auto">
            <a:xfrm rot="5400000">
              <a:off x="3965571"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3744" name="直接连接符 18"/>
            <p:cNvCxnSpPr>
              <a:cxnSpLocks noChangeShapeType="1"/>
            </p:cNvCxnSpPr>
            <p:nvPr/>
          </p:nvCxnSpPr>
          <p:spPr bwMode="auto">
            <a:xfrm rot="5400000">
              <a:off x="1536679"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3745" name="直接连接符 19"/>
            <p:cNvCxnSpPr>
              <a:cxnSpLocks noChangeShapeType="1"/>
            </p:cNvCxnSpPr>
            <p:nvPr/>
          </p:nvCxnSpPr>
          <p:spPr bwMode="auto">
            <a:xfrm rot="5400000">
              <a:off x="7537471"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3746" name="直接连接符 20"/>
            <p:cNvCxnSpPr>
              <a:cxnSpLocks noChangeShapeType="1"/>
            </p:cNvCxnSpPr>
            <p:nvPr/>
          </p:nvCxnSpPr>
          <p:spPr bwMode="auto">
            <a:xfrm rot="5400000">
              <a:off x="2751125"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3747" name="直接连接符 21"/>
            <p:cNvCxnSpPr>
              <a:cxnSpLocks noChangeShapeType="1"/>
            </p:cNvCxnSpPr>
            <p:nvPr/>
          </p:nvCxnSpPr>
          <p:spPr bwMode="auto">
            <a:xfrm rot="5400000">
              <a:off x="5037141"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3748" name="直接连接符 22"/>
            <p:cNvCxnSpPr>
              <a:cxnSpLocks noChangeShapeType="1"/>
            </p:cNvCxnSpPr>
            <p:nvPr/>
          </p:nvCxnSpPr>
          <p:spPr bwMode="auto">
            <a:xfrm rot="5400000">
              <a:off x="6180149"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gr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Effect transition="in" filter="fade">
                                      <p:cBhvr>
                                        <p:cTn id="7" dur="500"/>
                                        <p:tgtEl>
                                          <p:spTgt spid="55299">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5299">
                                            <p:txEl>
                                              <p:pRg st="1" end="1"/>
                                            </p:txEl>
                                          </p:spTgt>
                                        </p:tgtEl>
                                        <p:attrNameLst>
                                          <p:attrName>style.visibility</p:attrName>
                                        </p:attrNameLst>
                                      </p:cBhvr>
                                      <p:to>
                                        <p:strVal val="visible"/>
                                      </p:to>
                                    </p:set>
                                    <p:animEffect transition="in" filter="fade">
                                      <p:cBhvr>
                                        <p:cTn id="11" dur="500"/>
                                        <p:tgtEl>
                                          <p:spTgt spid="5529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5299">
                                            <p:txEl>
                                              <p:pRg st="2" end="2"/>
                                            </p:txEl>
                                          </p:spTgt>
                                        </p:tgtEl>
                                        <p:attrNameLst>
                                          <p:attrName>style.visibility</p:attrName>
                                        </p:attrNameLst>
                                      </p:cBhvr>
                                      <p:to>
                                        <p:strVal val="visible"/>
                                      </p:to>
                                    </p:set>
                                    <p:animEffect transition="in" filter="fade">
                                      <p:cBhvr>
                                        <p:cTn id="16" dur="500"/>
                                        <p:tgtEl>
                                          <p:spTgt spid="55299">
                                            <p:txEl>
                                              <p:pRg st="2" end="2"/>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55299">
                                            <p:txEl>
                                              <p:pRg st="3" end="3"/>
                                            </p:txEl>
                                          </p:spTgt>
                                        </p:tgtEl>
                                        <p:attrNameLst>
                                          <p:attrName>style.visibility</p:attrName>
                                        </p:attrNameLst>
                                      </p:cBhvr>
                                      <p:to>
                                        <p:strVal val="visible"/>
                                      </p:to>
                                    </p:set>
                                    <p:animEffect transition="in" filter="fade">
                                      <p:cBhvr>
                                        <p:cTn id="20" dur="500"/>
                                        <p:tgtEl>
                                          <p:spTgt spid="55299">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5299">
                                            <p:txEl>
                                              <p:pRg st="4" end="4"/>
                                            </p:txEl>
                                          </p:spTgt>
                                        </p:tgtEl>
                                        <p:attrNameLst>
                                          <p:attrName>style.visibility</p:attrName>
                                        </p:attrNameLst>
                                      </p:cBhvr>
                                      <p:to>
                                        <p:strVal val="visible"/>
                                      </p:to>
                                    </p:set>
                                    <p:animEffect transition="in" filter="fade">
                                      <p:cBhvr>
                                        <p:cTn id="25" dur="500"/>
                                        <p:tgtEl>
                                          <p:spTgt spid="55299">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5299">
                                            <p:txEl>
                                              <p:pRg st="5" end="5"/>
                                            </p:txEl>
                                          </p:spTgt>
                                        </p:tgtEl>
                                        <p:attrNameLst>
                                          <p:attrName>style.visibility</p:attrName>
                                        </p:attrNameLst>
                                      </p:cBhvr>
                                      <p:to>
                                        <p:strVal val="visible"/>
                                      </p:to>
                                    </p:set>
                                    <p:animEffect transition="in" filter="fade">
                                      <p:cBhvr>
                                        <p:cTn id="30" dur="500"/>
                                        <p:tgtEl>
                                          <p:spTgt spid="55299">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5299">
                                            <p:txEl>
                                              <p:pRg st="6" end="6"/>
                                            </p:txEl>
                                          </p:spTgt>
                                        </p:tgtEl>
                                        <p:attrNameLst>
                                          <p:attrName>style.visibility</p:attrName>
                                        </p:attrNameLst>
                                      </p:cBhvr>
                                      <p:to>
                                        <p:strVal val="visible"/>
                                      </p:to>
                                    </p:set>
                                    <p:animEffect transition="in" filter="fade">
                                      <p:cBhvr>
                                        <p:cTn id="35" dur="500"/>
                                        <p:tgtEl>
                                          <p:spTgt spid="55299">
                                            <p:txEl>
                                              <p:pRg st="6" end="6"/>
                                            </p:txEl>
                                          </p:spTgt>
                                        </p:tgtEl>
                                      </p:cBhvr>
                                    </p:animEffect>
                                  </p:childTnLst>
                                </p:cTn>
                              </p:par>
                            </p:childTnLst>
                          </p:cTn>
                        </p:par>
                        <p:par>
                          <p:cTn id="36" fill="hold">
                            <p:stCondLst>
                              <p:cond delay="500"/>
                            </p:stCondLst>
                            <p:childTnLst>
                              <p:par>
                                <p:cTn id="37" presetID="10" presetClass="entr" presetSubtype="0" fill="hold" nodeType="afterEffect">
                                  <p:stCondLst>
                                    <p:cond delay="0"/>
                                  </p:stCondLst>
                                  <p:childTnLst>
                                    <p:set>
                                      <p:cBhvr>
                                        <p:cTn id="38" dur="1" fill="hold">
                                          <p:stCondLst>
                                            <p:cond delay="0"/>
                                          </p:stCondLst>
                                        </p:cTn>
                                        <p:tgtEl>
                                          <p:spTgt spid="55299">
                                            <p:txEl>
                                              <p:pRg st="7" end="7"/>
                                            </p:txEl>
                                          </p:spTgt>
                                        </p:tgtEl>
                                        <p:attrNameLst>
                                          <p:attrName>style.visibility</p:attrName>
                                        </p:attrNameLst>
                                      </p:cBhvr>
                                      <p:to>
                                        <p:strVal val="visible"/>
                                      </p:to>
                                    </p:set>
                                    <p:animEffect transition="in" filter="fade">
                                      <p:cBhvr>
                                        <p:cTn id="39" dur="500"/>
                                        <p:tgtEl>
                                          <p:spTgt spid="55299">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55299">
                                            <p:txEl>
                                              <p:pRg st="8" end="8"/>
                                            </p:txEl>
                                          </p:spTgt>
                                        </p:tgtEl>
                                        <p:attrNameLst>
                                          <p:attrName>style.visibility</p:attrName>
                                        </p:attrNameLst>
                                      </p:cBhvr>
                                      <p:to>
                                        <p:strVal val="visible"/>
                                      </p:to>
                                    </p:set>
                                    <p:animEffect transition="in" filter="fade">
                                      <p:cBhvr>
                                        <p:cTn id="44" dur="500"/>
                                        <p:tgtEl>
                                          <p:spTgt spid="5529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矩形 36"/>
          <p:cNvSpPr>
            <a:spLocks noChangeArrowheads="1"/>
          </p:cNvSpPr>
          <p:nvPr/>
        </p:nvSpPr>
        <p:spPr bwMode="auto">
          <a:xfrm>
            <a:off x="684213" y="2787650"/>
            <a:ext cx="1150937" cy="1655763"/>
          </a:xfrm>
          <a:prstGeom prst="rect">
            <a:avLst/>
          </a:prstGeom>
          <a:solidFill>
            <a:srgbClr val="FFFF00"/>
          </a:solidFill>
          <a:ln w="38100" algn="ctr">
            <a:solidFill>
              <a:srgbClr val="FF0000"/>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2000" b="1">
                <a:solidFill>
                  <a:srgbClr val="FF0000"/>
                </a:solidFill>
              </a:rPr>
              <a:t>原版</a:t>
            </a:r>
            <a:endParaRPr lang="en-US" altLang="zh-CN" sz="2000" b="1">
              <a:solidFill>
                <a:srgbClr val="FF0000"/>
              </a:solidFill>
            </a:endParaRPr>
          </a:p>
          <a:p>
            <a:pPr algn="ctr" eaLnBrk="1" hangingPunct="1"/>
            <a:r>
              <a:rPr lang="zh-CN" altLang="en-US" sz="2000" b="1">
                <a:solidFill>
                  <a:srgbClr val="FF0000"/>
                </a:solidFill>
              </a:rPr>
              <a:t>熊猫烧香</a:t>
            </a:r>
            <a:endParaRPr lang="en-US" altLang="zh-CN" sz="2000" b="1">
              <a:solidFill>
                <a:srgbClr val="FF0000"/>
              </a:solidFill>
            </a:endParaRPr>
          </a:p>
          <a:p>
            <a:pPr algn="ctr" eaLnBrk="1" hangingPunct="1"/>
            <a:endParaRPr lang="en-US" altLang="zh-CN" sz="2000">
              <a:solidFill>
                <a:srgbClr val="FF0000"/>
              </a:solidFill>
            </a:endParaRPr>
          </a:p>
          <a:p>
            <a:pPr algn="ctr" eaLnBrk="1" hangingPunct="1"/>
            <a:endParaRPr lang="en-US" altLang="zh-CN" sz="2000">
              <a:solidFill>
                <a:srgbClr val="FF0000"/>
              </a:solidFill>
            </a:endParaRPr>
          </a:p>
          <a:p>
            <a:pPr algn="ctr" eaLnBrk="1" hangingPunct="1"/>
            <a:endParaRPr lang="zh-CN" altLang="en-US" sz="2000">
              <a:solidFill>
                <a:srgbClr val="FF0000"/>
              </a:solidFill>
            </a:endParaRPr>
          </a:p>
        </p:txBody>
      </p:sp>
      <p:sp>
        <p:nvSpPr>
          <p:cNvPr id="56323" name="内容占位符 2"/>
          <p:cNvSpPr>
            <a:spLocks noGrp="1"/>
          </p:cNvSpPr>
          <p:nvPr>
            <p:ph idx="1"/>
          </p:nvPr>
        </p:nvSpPr>
        <p:spPr>
          <a:xfrm>
            <a:off x="214313" y="928688"/>
            <a:ext cx="8572500" cy="1428750"/>
          </a:xfrm>
        </p:spPr>
        <p:txBody>
          <a:bodyPr/>
          <a:lstStyle/>
          <a:p>
            <a:pPr>
              <a:buFont typeface="Wingdings" panose="05000000000000000000" pitchFamily="2" charset="2"/>
              <a:buNone/>
              <a:defRPr/>
            </a:pPr>
            <a:r>
              <a:rPr lang="zh-CN" altLang="en-US" sz="1800" b="1" dirty="0">
                <a:solidFill>
                  <a:schemeClr val="bg2">
                    <a:lumMod val="25000"/>
                  </a:schemeClr>
                </a:solidFill>
              </a:rPr>
              <a:t>（</a:t>
            </a:r>
            <a:r>
              <a:rPr lang="en-US" altLang="zh-CN" sz="1800" b="1" dirty="0">
                <a:solidFill>
                  <a:schemeClr val="bg2">
                    <a:lumMod val="25000"/>
                  </a:schemeClr>
                </a:solidFill>
              </a:rPr>
              <a:t>2</a:t>
            </a:r>
            <a:r>
              <a:rPr lang="zh-CN" altLang="en-US" sz="1800" b="1" dirty="0">
                <a:solidFill>
                  <a:schemeClr val="bg2">
                    <a:lumMod val="25000"/>
                  </a:schemeClr>
                </a:solidFill>
              </a:rPr>
              <a:t>）</a:t>
            </a:r>
            <a:r>
              <a:rPr lang="zh-CN" altLang="zh-CN" sz="1800" b="1" dirty="0">
                <a:solidFill>
                  <a:schemeClr val="bg2">
                    <a:lumMod val="25000"/>
                  </a:schemeClr>
                </a:solidFill>
              </a:rPr>
              <a:t>蠕虫的功能结构</a:t>
            </a:r>
          </a:p>
          <a:p>
            <a:pPr indent="-36195">
              <a:defRPr/>
            </a:pPr>
            <a:r>
              <a:rPr lang="zh-CN" altLang="zh-CN" sz="1500" b="1" dirty="0"/>
              <a:t>蠕虫在功能上可以分为</a:t>
            </a:r>
            <a:r>
              <a:rPr lang="zh-CN" altLang="zh-CN" sz="1500" b="1" dirty="0">
                <a:solidFill>
                  <a:srgbClr val="0033CC"/>
                </a:solidFill>
              </a:rPr>
              <a:t>基本功能模块</a:t>
            </a:r>
            <a:r>
              <a:rPr lang="zh-CN" altLang="zh-CN" sz="1500" b="1" dirty="0"/>
              <a:t>和</a:t>
            </a:r>
            <a:r>
              <a:rPr lang="zh-CN" altLang="zh-CN" sz="1500" b="1" dirty="0">
                <a:solidFill>
                  <a:srgbClr val="0033CC"/>
                </a:solidFill>
              </a:rPr>
              <a:t>扩展功能模块</a:t>
            </a:r>
            <a:r>
              <a:rPr lang="zh-CN" altLang="zh-CN" sz="1500" b="1" dirty="0"/>
              <a:t>。实现了基本功能模块的蠕虫程序就能完成复制传播流程，包含扩展功能模块的蠕虫程序则具有更强的生存能力和破坏力。蠕虫程序的功能结构如图所示。</a:t>
            </a:r>
          </a:p>
          <a:p>
            <a:pPr>
              <a:buFont typeface="Arial" panose="020B0604020202020204" pitchFamily="34" charset="0"/>
              <a:buChar char="•"/>
              <a:defRPr/>
            </a:pPr>
            <a:endParaRPr lang="zh-CN" altLang="zh-CN" b="1" dirty="0"/>
          </a:p>
        </p:txBody>
      </p:sp>
      <p:sp>
        <p:nvSpPr>
          <p:cNvPr id="7"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9.4.3 </a:t>
            </a:r>
            <a:r>
              <a:rPr altLang="en-US" sz="2000" dirty="0"/>
              <a:t>蠕虫的机理与防治</a:t>
            </a:r>
          </a:p>
        </p:txBody>
      </p:sp>
      <p:grpSp>
        <p:nvGrpSpPr>
          <p:cNvPr id="2" name="组合 52"/>
          <p:cNvGrpSpPr/>
          <p:nvPr/>
        </p:nvGrpSpPr>
        <p:grpSpPr bwMode="auto">
          <a:xfrm>
            <a:off x="1928813" y="2286000"/>
            <a:ext cx="5286375" cy="2357438"/>
            <a:chOff x="1857356" y="2285998"/>
            <a:chExt cx="5286412" cy="2357454"/>
          </a:xfrm>
        </p:grpSpPr>
        <p:cxnSp>
          <p:nvCxnSpPr>
            <p:cNvPr id="74762" name="直接连接符 46"/>
            <p:cNvCxnSpPr>
              <a:cxnSpLocks noChangeShapeType="1"/>
            </p:cNvCxnSpPr>
            <p:nvPr/>
          </p:nvCxnSpPr>
          <p:spPr bwMode="auto">
            <a:xfrm rot="5400000">
              <a:off x="5965835" y="2892427"/>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grpSp>
          <p:nvGrpSpPr>
            <p:cNvPr id="74763" name="组合 51"/>
            <p:cNvGrpSpPr/>
            <p:nvPr/>
          </p:nvGrpSpPr>
          <p:grpSpPr bwMode="auto">
            <a:xfrm>
              <a:off x="1857356" y="2285998"/>
              <a:ext cx="5286412" cy="2357454"/>
              <a:chOff x="1714480" y="2143122"/>
              <a:chExt cx="5286412" cy="2357454"/>
            </a:xfrm>
          </p:grpSpPr>
          <p:sp>
            <p:nvSpPr>
              <p:cNvPr id="74764" name="矩形 9"/>
              <p:cNvSpPr>
                <a:spLocks noChangeArrowheads="1"/>
              </p:cNvSpPr>
              <p:nvPr/>
            </p:nvSpPr>
            <p:spPr bwMode="auto">
              <a:xfrm>
                <a:off x="1714480"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扫描</a:t>
                </a:r>
                <a:endParaRPr lang="en-US" altLang="zh-CN" sz="1200" b="1"/>
              </a:p>
              <a:p>
                <a:pPr algn="ctr" eaLnBrk="1" hangingPunct="1"/>
                <a:r>
                  <a:rPr lang="zh-CN" altLang="en-US" sz="1200" b="1"/>
                  <a:t>搜索</a:t>
                </a:r>
                <a:endParaRPr lang="en-US" altLang="zh-CN" sz="1200" b="1"/>
              </a:p>
              <a:p>
                <a:pPr algn="ctr" eaLnBrk="1" hangingPunct="1"/>
                <a:r>
                  <a:rPr lang="zh-CN" altLang="en-US" sz="1200" b="1"/>
                  <a:t>模块</a:t>
                </a:r>
              </a:p>
            </p:txBody>
          </p:sp>
          <p:sp>
            <p:nvSpPr>
              <p:cNvPr id="74765" name="矩形 15"/>
              <p:cNvSpPr>
                <a:spLocks noChangeArrowheads="1"/>
              </p:cNvSpPr>
              <p:nvPr/>
            </p:nvSpPr>
            <p:spPr bwMode="auto">
              <a:xfrm>
                <a:off x="2428860" y="2857502"/>
                <a:ext cx="1285884" cy="285752"/>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solidFill>
                      <a:srgbClr val="0033CC"/>
                    </a:solidFill>
                  </a:rPr>
                  <a:t>基本功能模块</a:t>
                </a:r>
              </a:p>
            </p:txBody>
          </p:sp>
          <p:cxnSp>
            <p:nvCxnSpPr>
              <p:cNvPr id="74766" name="直接连接符 16"/>
              <p:cNvCxnSpPr>
                <a:cxnSpLocks noChangeShapeType="1"/>
              </p:cNvCxnSpPr>
              <p:nvPr/>
            </p:nvCxnSpPr>
            <p:spPr bwMode="auto">
              <a:xfrm rot="5400000">
                <a:off x="3536943"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4767" name="直接连接符 17"/>
              <p:cNvCxnSpPr>
                <a:cxnSpLocks noChangeShapeType="1"/>
              </p:cNvCxnSpPr>
              <p:nvPr/>
            </p:nvCxnSpPr>
            <p:spPr bwMode="auto">
              <a:xfrm rot="10800000">
                <a:off x="3071802" y="2643188"/>
                <a:ext cx="2857520"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4768" name="直接连接符 18"/>
              <p:cNvCxnSpPr>
                <a:cxnSpLocks noChangeShapeType="1"/>
              </p:cNvCxnSpPr>
              <p:nvPr/>
            </p:nvCxnSpPr>
            <p:spPr bwMode="auto">
              <a:xfrm rot="5400000">
                <a:off x="2965439"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4769" name="直接连接符 19"/>
              <p:cNvCxnSpPr>
                <a:cxnSpLocks noChangeShapeType="1"/>
              </p:cNvCxnSpPr>
              <p:nvPr/>
            </p:nvCxnSpPr>
            <p:spPr bwMode="auto">
              <a:xfrm rot="5400000">
                <a:off x="1821637" y="346472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4770" name="直接连接符 20"/>
              <p:cNvCxnSpPr>
                <a:cxnSpLocks noChangeShapeType="1"/>
              </p:cNvCxnSpPr>
              <p:nvPr/>
            </p:nvCxnSpPr>
            <p:spPr bwMode="auto">
              <a:xfrm rot="5400000">
                <a:off x="4965703"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4771" name="直接连接符 21"/>
              <p:cNvCxnSpPr>
                <a:cxnSpLocks noChangeShapeType="1"/>
              </p:cNvCxnSpPr>
              <p:nvPr/>
            </p:nvCxnSpPr>
            <p:spPr bwMode="auto">
              <a:xfrm rot="5400000">
                <a:off x="2393935"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4772" name="直接连接符 22"/>
              <p:cNvCxnSpPr>
                <a:cxnSpLocks noChangeShapeType="1"/>
              </p:cNvCxnSpPr>
              <p:nvPr/>
            </p:nvCxnSpPr>
            <p:spPr bwMode="auto">
              <a:xfrm rot="5400000">
                <a:off x="4108447"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4773" name="直接连接符 23"/>
              <p:cNvCxnSpPr>
                <a:cxnSpLocks noChangeShapeType="1"/>
              </p:cNvCxnSpPr>
              <p:nvPr/>
            </p:nvCxnSpPr>
            <p:spPr bwMode="auto">
              <a:xfrm rot="5400000">
                <a:off x="2965439" y="3249617"/>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sp>
            <p:nvSpPr>
              <p:cNvPr id="74774" name="矩形 25"/>
              <p:cNvSpPr>
                <a:spLocks noChangeArrowheads="1"/>
              </p:cNvSpPr>
              <p:nvPr/>
            </p:nvSpPr>
            <p:spPr bwMode="auto">
              <a:xfrm>
                <a:off x="2285984"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攻击</a:t>
                </a:r>
                <a:endParaRPr lang="en-US" altLang="zh-CN" sz="1200" b="1"/>
              </a:p>
              <a:p>
                <a:pPr algn="ctr" eaLnBrk="1" hangingPunct="1"/>
                <a:r>
                  <a:rPr lang="zh-CN" altLang="en-US" sz="1200" b="1"/>
                  <a:t>模块</a:t>
                </a:r>
              </a:p>
            </p:txBody>
          </p:sp>
          <p:sp>
            <p:nvSpPr>
              <p:cNvPr id="74775" name="矩形 26"/>
              <p:cNvSpPr>
                <a:spLocks noChangeArrowheads="1"/>
              </p:cNvSpPr>
              <p:nvPr/>
            </p:nvSpPr>
            <p:spPr bwMode="auto">
              <a:xfrm>
                <a:off x="2857488"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传输</a:t>
                </a:r>
                <a:endParaRPr lang="en-US" altLang="zh-CN" sz="1200" b="1"/>
              </a:p>
              <a:p>
                <a:pPr algn="ctr" eaLnBrk="1" hangingPunct="1"/>
                <a:r>
                  <a:rPr lang="zh-CN" altLang="en-US" sz="1200" b="1"/>
                  <a:t>模块</a:t>
                </a:r>
              </a:p>
            </p:txBody>
          </p:sp>
          <p:sp>
            <p:nvSpPr>
              <p:cNvPr id="74776" name="矩形 27"/>
              <p:cNvSpPr>
                <a:spLocks noChangeArrowheads="1"/>
              </p:cNvSpPr>
              <p:nvPr/>
            </p:nvSpPr>
            <p:spPr bwMode="auto">
              <a:xfrm>
                <a:off x="3428992"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信息</a:t>
                </a:r>
                <a:endParaRPr lang="en-US" altLang="zh-CN" sz="1200" b="1"/>
              </a:p>
              <a:p>
                <a:pPr algn="ctr" eaLnBrk="1" hangingPunct="1"/>
                <a:r>
                  <a:rPr lang="zh-CN" altLang="en-US" sz="1200" b="1"/>
                  <a:t>收集</a:t>
                </a:r>
                <a:endParaRPr lang="en-US" altLang="zh-CN" sz="1200" b="1"/>
              </a:p>
              <a:p>
                <a:pPr algn="ctr" eaLnBrk="1" hangingPunct="1"/>
                <a:r>
                  <a:rPr lang="zh-CN" altLang="en-US" sz="1200" b="1"/>
                  <a:t>模块</a:t>
                </a:r>
              </a:p>
            </p:txBody>
          </p:sp>
          <p:sp>
            <p:nvSpPr>
              <p:cNvPr id="74777" name="矩形 28"/>
              <p:cNvSpPr>
                <a:spLocks noChangeArrowheads="1"/>
              </p:cNvSpPr>
              <p:nvPr/>
            </p:nvSpPr>
            <p:spPr bwMode="auto">
              <a:xfrm>
                <a:off x="4000496"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繁殖</a:t>
                </a:r>
                <a:endParaRPr lang="en-US" altLang="zh-CN" sz="1200" b="1"/>
              </a:p>
              <a:p>
                <a:pPr algn="ctr" eaLnBrk="1" hangingPunct="1"/>
                <a:r>
                  <a:rPr lang="zh-CN" altLang="en-US" sz="1200" b="1"/>
                  <a:t>模块</a:t>
                </a:r>
              </a:p>
            </p:txBody>
          </p:sp>
          <p:sp>
            <p:nvSpPr>
              <p:cNvPr id="74778" name="矩形 29"/>
              <p:cNvSpPr>
                <a:spLocks noChangeArrowheads="1"/>
              </p:cNvSpPr>
              <p:nvPr/>
            </p:nvSpPr>
            <p:spPr bwMode="auto">
              <a:xfrm>
                <a:off x="4857752"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隐藏</a:t>
                </a:r>
                <a:endParaRPr lang="en-US" altLang="zh-CN" sz="1200" b="1"/>
              </a:p>
              <a:p>
                <a:pPr algn="ctr" eaLnBrk="1" hangingPunct="1"/>
                <a:r>
                  <a:rPr lang="zh-CN" altLang="en-US" sz="1200" b="1"/>
                  <a:t>模块</a:t>
                </a:r>
              </a:p>
            </p:txBody>
          </p:sp>
          <p:sp>
            <p:nvSpPr>
              <p:cNvPr id="74779" name="矩形 30"/>
              <p:cNvSpPr>
                <a:spLocks noChangeArrowheads="1"/>
              </p:cNvSpPr>
              <p:nvPr/>
            </p:nvSpPr>
            <p:spPr bwMode="auto">
              <a:xfrm>
                <a:off x="5429256"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破坏</a:t>
                </a:r>
                <a:endParaRPr lang="en-US" altLang="zh-CN" sz="1200" b="1"/>
              </a:p>
              <a:p>
                <a:pPr algn="ctr" eaLnBrk="1" hangingPunct="1"/>
                <a:r>
                  <a:rPr lang="zh-CN" altLang="en-US" sz="1200" b="1"/>
                  <a:t>模块</a:t>
                </a:r>
              </a:p>
            </p:txBody>
          </p:sp>
          <p:sp>
            <p:nvSpPr>
              <p:cNvPr id="74780" name="矩形 31"/>
              <p:cNvSpPr>
                <a:spLocks noChangeArrowheads="1"/>
              </p:cNvSpPr>
              <p:nvPr/>
            </p:nvSpPr>
            <p:spPr bwMode="auto">
              <a:xfrm>
                <a:off x="6000760"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通信</a:t>
                </a:r>
                <a:endParaRPr lang="en-US" altLang="zh-CN" sz="1200" b="1"/>
              </a:p>
              <a:p>
                <a:pPr algn="ctr" eaLnBrk="1" hangingPunct="1"/>
                <a:r>
                  <a:rPr lang="zh-CN" altLang="en-US" sz="1200" b="1"/>
                  <a:t>模块</a:t>
                </a:r>
              </a:p>
            </p:txBody>
          </p:sp>
          <p:sp>
            <p:nvSpPr>
              <p:cNvPr id="74781" name="矩形 32"/>
              <p:cNvSpPr>
                <a:spLocks noChangeArrowheads="1"/>
              </p:cNvSpPr>
              <p:nvPr/>
            </p:nvSpPr>
            <p:spPr bwMode="auto">
              <a:xfrm>
                <a:off x="6572264"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控制</a:t>
                </a:r>
                <a:endParaRPr lang="en-US" altLang="zh-CN" sz="1200" b="1"/>
              </a:p>
              <a:p>
                <a:pPr algn="ctr" eaLnBrk="1" hangingPunct="1"/>
                <a:r>
                  <a:rPr lang="zh-CN" altLang="en-US" sz="1200" b="1"/>
                  <a:t>模块</a:t>
                </a:r>
              </a:p>
            </p:txBody>
          </p:sp>
          <p:sp>
            <p:nvSpPr>
              <p:cNvPr id="74782" name="矩形 33"/>
              <p:cNvSpPr>
                <a:spLocks noChangeArrowheads="1"/>
              </p:cNvSpPr>
              <p:nvPr/>
            </p:nvSpPr>
            <p:spPr bwMode="auto">
              <a:xfrm>
                <a:off x="5286380" y="2857502"/>
                <a:ext cx="1285884" cy="285752"/>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solidFill>
                      <a:srgbClr val="0033CC"/>
                    </a:solidFill>
                  </a:rPr>
                  <a:t>扩展功能模块</a:t>
                </a:r>
              </a:p>
            </p:txBody>
          </p:sp>
          <p:sp>
            <p:nvSpPr>
              <p:cNvPr id="74783" name="矩形 34"/>
              <p:cNvSpPr>
                <a:spLocks noChangeArrowheads="1"/>
              </p:cNvSpPr>
              <p:nvPr/>
            </p:nvSpPr>
            <p:spPr bwMode="auto">
              <a:xfrm>
                <a:off x="3857620" y="2143122"/>
                <a:ext cx="1428760" cy="285752"/>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1200" b="1"/>
                  <a:t>蠕虫程序功能结构</a:t>
                </a:r>
              </a:p>
            </p:txBody>
          </p:sp>
          <p:cxnSp>
            <p:nvCxnSpPr>
              <p:cNvPr id="74784" name="直接连接符 36"/>
              <p:cNvCxnSpPr>
                <a:cxnSpLocks noChangeShapeType="1"/>
              </p:cNvCxnSpPr>
              <p:nvPr/>
            </p:nvCxnSpPr>
            <p:spPr bwMode="auto">
              <a:xfrm rot="10800000">
                <a:off x="1928794" y="3357568"/>
                <a:ext cx="2286016"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4785" name="直接连接符 38"/>
              <p:cNvCxnSpPr>
                <a:cxnSpLocks noChangeShapeType="1"/>
              </p:cNvCxnSpPr>
              <p:nvPr/>
            </p:nvCxnSpPr>
            <p:spPr bwMode="auto">
              <a:xfrm rot="5400000">
                <a:off x="5537207"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4786" name="直接连接符 39"/>
              <p:cNvCxnSpPr>
                <a:cxnSpLocks noChangeShapeType="1"/>
              </p:cNvCxnSpPr>
              <p:nvPr/>
            </p:nvCxnSpPr>
            <p:spPr bwMode="auto">
              <a:xfrm rot="5400000">
                <a:off x="6108711"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4787" name="直接连接符 40"/>
              <p:cNvCxnSpPr>
                <a:cxnSpLocks noChangeShapeType="1"/>
              </p:cNvCxnSpPr>
              <p:nvPr/>
            </p:nvCxnSpPr>
            <p:spPr bwMode="auto">
              <a:xfrm rot="5400000">
                <a:off x="6680215"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4788" name="直接连接符 41"/>
              <p:cNvCxnSpPr>
                <a:cxnSpLocks noChangeShapeType="1"/>
              </p:cNvCxnSpPr>
              <p:nvPr/>
            </p:nvCxnSpPr>
            <p:spPr bwMode="auto">
              <a:xfrm rot="10800000">
                <a:off x="5072066" y="3357568"/>
                <a:ext cx="1714512"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4789" name="直接连接符 44"/>
              <p:cNvCxnSpPr>
                <a:cxnSpLocks noChangeShapeType="1"/>
              </p:cNvCxnSpPr>
              <p:nvPr/>
            </p:nvCxnSpPr>
            <p:spPr bwMode="auto">
              <a:xfrm rot="5400000">
                <a:off x="5822959" y="3249617"/>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4790" name="直接连接符 45"/>
              <p:cNvCxnSpPr>
                <a:cxnSpLocks noChangeShapeType="1"/>
              </p:cNvCxnSpPr>
              <p:nvPr/>
            </p:nvCxnSpPr>
            <p:spPr bwMode="auto">
              <a:xfrm rot="5400000">
                <a:off x="2965439" y="274955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4791" name="直接连接符 50"/>
              <p:cNvCxnSpPr>
                <a:cxnSpLocks noChangeShapeType="1"/>
              </p:cNvCxnSpPr>
              <p:nvPr/>
            </p:nvCxnSpPr>
            <p:spPr bwMode="auto">
              <a:xfrm rot="5400000">
                <a:off x="4465637" y="2535237"/>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grpSp>
      </p:grpSp>
      <p:pic>
        <p:nvPicPr>
          <p:cNvPr id="74759" name="Picture 5" descr="C:\Users\P51\AppData\Roaming\Tencent\Users\173375927\QQ\WinTemp\RichOle\6DFH%MDA19Z]86[Q{$K}$O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3455988"/>
            <a:ext cx="87630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60" name="矩形 37"/>
          <p:cNvSpPr>
            <a:spLocks noChangeArrowheads="1"/>
          </p:cNvSpPr>
          <p:nvPr/>
        </p:nvSpPr>
        <p:spPr bwMode="auto">
          <a:xfrm>
            <a:off x="7596188" y="2859088"/>
            <a:ext cx="1152525" cy="1657350"/>
          </a:xfrm>
          <a:prstGeom prst="rect">
            <a:avLst/>
          </a:prstGeom>
          <a:solidFill>
            <a:srgbClr val="FFFF00"/>
          </a:solidFill>
          <a:ln w="38100" algn="ctr">
            <a:solidFill>
              <a:srgbClr val="FF0000"/>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2000" b="1">
                <a:solidFill>
                  <a:srgbClr val="FF0000"/>
                </a:solidFill>
              </a:rPr>
              <a:t>变形</a:t>
            </a:r>
            <a:endParaRPr lang="en-US" altLang="zh-CN" sz="2000" b="1">
              <a:solidFill>
                <a:srgbClr val="FF0000"/>
              </a:solidFill>
            </a:endParaRPr>
          </a:p>
          <a:p>
            <a:pPr algn="ctr" eaLnBrk="1" hangingPunct="1"/>
            <a:r>
              <a:rPr lang="zh-CN" altLang="en-US" sz="2000" b="1">
                <a:solidFill>
                  <a:srgbClr val="FF0000"/>
                </a:solidFill>
              </a:rPr>
              <a:t>熊猫烧香</a:t>
            </a:r>
            <a:endParaRPr lang="en-US" altLang="zh-CN" sz="2000" b="1">
              <a:solidFill>
                <a:srgbClr val="FF0000"/>
              </a:solidFill>
            </a:endParaRPr>
          </a:p>
          <a:p>
            <a:pPr algn="ctr" eaLnBrk="1" hangingPunct="1"/>
            <a:endParaRPr lang="en-US" altLang="zh-CN" sz="2000">
              <a:solidFill>
                <a:srgbClr val="FF0000"/>
              </a:solidFill>
            </a:endParaRPr>
          </a:p>
          <a:p>
            <a:pPr algn="ctr" eaLnBrk="1" hangingPunct="1"/>
            <a:endParaRPr lang="en-US" altLang="zh-CN" sz="2000">
              <a:solidFill>
                <a:srgbClr val="FF0000"/>
              </a:solidFill>
            </a:endParaRPr>
          </a:p>
          <a:p>
            <a:pPr algn="ctr" eaLnBrk="1" hangingPunct="1"/>
            <a:endParaRPr lang="zh-CN" altLang="en-US" sz="2000">
              <a:solidFill>
                <a:srgbClr val="FF0000"/>
              </a:solidFill>
            </a:endParaRPr>
          </a:p>
        </p:txBody>
      </p:sp>
      <p:pic>
        <p:nvPicPr>
          <p:cNvPr id="74761" name="Picture 5" descr="C:\Users\P51\AppData\Roaming\Tencent\Users\173375927\QQ\WinTemp\RichOle\6DFH%MDA19Z]86[Q{$K}$O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7950" y="3529013"/>
            <a:ext cx="8763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animEffect transition="in" filter="fade">
                                      <p:cBhvr>
                                        <p:cTn id="7" dur="500"/>
                                        <p:tgtEl>
                                          <p:spTgt spid="5632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6323">
                                            <p:txEl>
                                              <p:pRg st="1" end="1"/>
                                            </p:txEl>
                                          </p:spTgt>
                                        </p:tgtEl>
                                        <p:attrNameLst>
                                          <p:attrName>style.visibility</p:attrName>
                                        </p:attrNameLst>
                                      </p:cBhvr>
                                      <p:to>
                                        <p:strVal val="visible"/>
                                      </p:to>
                                    </p:set>
                                    <p:animEffect transition="in" filter="fade">
                                      <p:cBhvr>
                                        <p:cTn id="11" dur="500"/>
                                        <p:tgtEl>
                                          <p:spTgt spid="5632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anim calcmode="lin" valueType="num">
                                      <p:cBhvr>
                                        <p:cTn id="17" dur="1000" fill="hold"/>
                                        <p:tgtEl>
                                          <p:spTgt spid="2"/>
                                        </p:tgtEl>
                                        <p:attrNameLst>
                                          <p:attrName>ppt_x</p:attrName>
                                        </p:attrNameLst>
                                      </p:cBhvr>
                                      <p:tavLst>
                                        <p:tav tm="0">
                                          <p:val>
                                            <p:strVal val="#ppt_x"/>
                                          </p:val>
                                        </p:tav>
                                        <p:tav tm="100000">
                                          <p:val>
                                            <p:strVal val="#ppt_x"/>
                                          </p:val>
                                        </p:tav>
                                      </p:tavLst>
                                    </p:anim>
                                    <p:anim calcmode="lin" valueType="num">
                                      <p:cBhvr>
                                        <p:cTn id="1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内容占位符 2"/>
          <p:cNvSpPr>
            <a:spLocks noGrp="1"/>
          </p:cNvSpPr>
          <p:nvPr>
            <p:ph idx="1"/>
          </p:nvPr>
        </p:nvSpPr>
        <p:spPr>
          <a:xfrm>
            <a:off x="0" y="785813"/>
            <a:ext cx="9144000" cy="428625"/>
          </a:xfrm>
        </p:spPr>
        <p:txBody>
          <a:bodyPr/>
          <a:lstStyle/>
          <a:p>
            <a:pPr algn="ctr">
              <a:buFont typeface="Wingdings" panose="05000000000000000000" pitchFamily="2" charset="2"/>
              <a:buChar char="l"/>
            </a:pPr>
            <a:r>
              <a:rPr lang="zh-CN" altLang="zh-CN" b="1">
                <a:solidFill>
                  <a:srgbClr val="FF0000"/>
                </a:solidFill>
              </a:rPr>
              <a:t>基本功能</a:t>
            </a:r>
            <a:r>
              <a:rPr lang="zh-CN" altLang="zh-CN" b="1">
                <a:solidFill>
                  <a:srgbClr val="0033CC"/>
                </a:solidFill>
              </a:rPr>
              <a:t>由</a:t>
            </a:r>
            <a:r>
              <a:rPr lang="en-US" altLang="zh-CN" b="1">
                <a:solidFill>
                  <a:srgbClr val="0033CC"/>
                </a:solidFill>
              </a:rPr>
              <a:t>5</a:t>
            </a:r>
            <a:r>
              <a:rPr lang="zh-CN" altLang="zh-CN" b="1">
                <a:solidFill>
                  <a:srgbClr val="0033CC"/>
                </a:solidFill>
              </a:rPr>
              <a:t>个功能模块组成：</a:t>
            </a: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9.4.3 </a:t>
            </a:r>
            <a:r>
              <a:rPr altLang="en-US" sz="2000" dirty="0"/>
              <a:t>蠕虫的机理与防治</a:t>
            </a:r>
          </a:p>
        </p:txBody>
      </p:sp>
      <p:sp>
        <p:nvSpPr>
          <p:cNvPr id="8" name="左大括号 4"/>
          <p:cNvSpPr/>
          <p:nvPr/>
        </p:nvSpPr>
        <p:spPr bwMode="auto">
          <a:xfrm>
            <a:off x="357188" y="1285875"/>
            <a:ext cx="214312" cy="1357313"/>
          </a:xfrm>
          <a:prstGeom prst="leftBrace">
            <a:avLst>
              <a:gd name="adj1" fmla="val 64653"/>
              <a:gd name="adj2" fmla="val 50000"/>
            </a:avLst>
          </a:prstGeom>
          <a:noFill/>
          <a:ln w="28575" algn="ctr">
            <a:solidFill>
              <a:srgbClr val="C00000"/>
            </a:solidFill>
            <a:round/>
          </a:ln>
        </p:spPr>
        <p:txBody>
          <a:bodyPr wrap="none" anchor="ctr"/>
          <a:lstStyle/>
          <a:p>
            <a:pPr>
              <a:defRPr/>
            </a:pPr>
            <a:endParaRPr lang="zh-CN" altLang="en-US" b="1" u="sng">
              <a:solidFill>
                <a:srgbClr val="0033CC"/>
              </a:solidFill>
              <a:effectLst>
                <a:outerShdw blurRad="38100" dist="38100" dir="2700000" algn="tl">
                  <a:srgbClr val="000000">
                    <a:alpha val="43137"/>
                  </a:srgbClr>
                </a:outerShdw>
              </a:effectLst>
              <a:latin typeface="Arial" panose="020B0604020202020204" pitchFamily="34" charset="0"/>
            </a:endParaRPr>
          </a:p>
        </p:txBody>
      </p:sp>
      <p:sp>
        <p:nvSpPr>
          <p:cNvPr id="9" name="TextBox 6"/>
          <p:cNvSpPr txBox="1">
            <a:spLocks noChangeArrowheads="1"/>
          </p:cNvSpPr>
          <p:nvPr/>
        </p:nvSpPr>
        <p:spPr bwMode="auto">
          <a:xfrm>
            <a:off x="500063" y="1143000"/>
            <a:ext cx="1357312" cy="323850"/>
          </a:xfrm>
          <a:prstGeom prst="rect">
            <a:avLst/>
          </a:prstGeom>
          <a:noFill/>
          <a:ln w="9525">
            <a:noFill/>
            <a:miter lim="800000"/>
          </a:ln>
        </p:spPr>
        <p:txBody>
          <a:bodyPr>
            <a:spAutoFit/>
          </a:bodyPr>
          <a:lstStyle/>
          <a:p>
            <a:pPr>
              <a:defRPr/>
            </a:pPr>
            <a:r>
              <a:rPr lang="zh-CN" altLang="zh-CN" sz="1500" b="1" u="sng" dirty="0">
                <a:solidFill>
                  <a:srgbClr val="0033CC"/>
                </a:solidFill>
                <a:effectLst>
                  <a:outerShdw blurRad="38100" dist="38100" dir="2700000" algn="tl">
                    <a:srgbClr val="000000">
                      <a:alpha val="43137"/>
                    </a:srgbClr>
                  </a:outerShdw>
                </a:effectLst>
                <a:latin typeface="Arial" panose="020B0604020202020204" pitchFamily="34" charset="0"/>
              </a:rPr>
              <a:t>扫描搜索模块</a:t>
            </a:r>
          </a:p>
        </p:txBody>
      </p:sp>
      <p:sp>
        <p:nvSpPr>
          <p:cNvPr id="12" name="TextBox 6"/>
          <p:cNvSpPr txBox="1">
            <a:spLocks noChangeArrowheads="1"/>
          </p:cNvSpPr>
          <p:nvPr/>
        </p:nvSpPr>
        <p:spPr bwMode="auto">
          <a:xfrm>
            <a:off x="500063" y="1500188"/>
            <a:ext cx="1000125" cy="323850"/>
          </a:xfrm>
          <a:prstGeom prst="rect">
            <a:avLst/>
          </a:prstGeom>
          <a:noFill/>
          <a:ln w="9525">
            <a:noFill/>
            <a:miter lim="800000"/>
          </a:ln>
        </p:spPr>
        <p:txBody>
          <a:bodyPr>
            <a:spAutoFit/>
          </a:bodyPr>
          <a:lstStyle/>
          <a:p>
            <a:pPr>
              <a:defRPr/>
            </a:pPr>
            <a:r>
              <a:rPr lang="zh-CN" altLang="zh-CN" sz="1500" b="1" u="sng" dirty="0">
                <a:solidFill>
                  <a:srgbClr val="0033CC"/>
                </a:solidFill>
                <a:effectLst>
                  <a:outerShdw blurRad="38100" dist="38100" dir="2700000" algn="tl">
                    <a:srgbClr val="000000">
                      <a:alpha val="43137"/>
                    </a:srgbClr>
                  </a:outerShdw>
                </a:effectLst>
                <a:latin typeface="Arial" panose="020B0604020202020204" pitchFamily="34" charset="0"/>
              </a:rPr>
              <a:t>攻击模块</a:t>
            </a:r>
          </a:p>
        </p:txBody>
      </p:sp>
      <p:sp>
        <p:nvSpPr>
          <p:cNvPr id="13" name="TextBox 6"/>
          <p:cNvSpPr txBox="1">
            <a:spLocks noChangeArrowheads="1"/>
          </p:cNvSpPr>
          <p:nvPr/>
        </p:nvSpPr>
        <p:spPr bwMode="auto">
          <a:xfrm>
            <a:off x="500063" y="1857375"/>
            <a:ext cx="1000125" cy="323850"/>
          </a:xfrm>
          <a:prstGeom prst="rect">
            <a:avLst/>
          </a:prstGeom>
          <a:noFill/>
          <a:ln w="9525">
            <a:noFill/>
            <a:miter lim="800000"/>
          </a:ln>
        </p:spPr>
        <p:txBody>
          <a:bodyPr>
            <a:spAutoFit/>
          </a:bodyPr>
          <a:lstStyle/>
          <a:p>
            <a:pPr>
              <a:defRPr/>
            </a:pPr>
            <a:r>
              <a:rPr lang="zh-CN" altLang="zh-CN" sz="1500" b="1" u="sng" dirty="0">
                <a:solidFill>
                  <a:srgbClr val="0033CC"/>
                </a:solidFill>
                <a:effectLst>
                  <a:outerShdw blurRad="38100" dist="38100" dir="2700000" algn="tl">
                    <a:srgbClr val="000000">
                      <a:alpha val="43137"/>
                    </a:srgbClr>
                  </a:outerShdw>
                </a:effectLst>
                <a:latin typeface="Arial" panose="020B0604020202020204" pitchFamily="34" charset="0"/>
              </a:rPr>
              <a:t>传输模块</a:t>
            </a:r>
          </a:p>
        </p:txBody>
      </p:sp>
      <p:sp>
        <p:nvSpPr>
          <p:cNvPr id="14" name="TextBox 6"/>
          <p:cNvSpPr txBox="1">
            <a:spLocks noChangeArrowheads="1"/>
          </p:cNvSpPr>
          <p:nvPr/>
        </p:nvSpPr>
        <p:spPr bwMode="auto">
          <a:xfrm>
            <a:off x="500063" y="2214563"/>
            <a:ext cx="1357312" cy="323850"/>
          </a:xfrm>
          <a:prstGeom prst="rect">
            <a:avLst/>
          </a:prstGeom>
          <a:noFill/>
          <a:ln w="9525">
            <a:noFill/>
            <a:miter lim="800000"/>
          </a:ln>
        </p:spPr>
        <p:txBody>
          <a:bodyPr>
            <a:spAutoFit/>
          </a:bodyPr>
          <a:lstStyle/>
          <a:p>
            <a:pPr>
              <a:defRPr/>
            </a:pPr>
            <a:r>
              <a:rPr lang="zh-CN" altLang="zh-CN" sz="1500" b="1" u="sng" dirty="0">
                <a:solidFill>
                  <a:srgbClr val="0033CC"/>
                </a:solidFill>
                <a:effectLst>
                  <a:outerShdw blurRad="38100" dist="38100" dir="2700000" algn="tl">
                    <a:srgbClr val="000000">
                      <a:alpha val="43137"/>
                    </a:srgbClr>
                  </a:outerShdw>
                </a:effectLst>
                <a:latin typeface="Arial" panose="020B0604020202020204" pitchFamily="34" charset="0"/>
              </a:rPr>
              <a:t>信息收集模块</a:t>
            </a:r>
          </a:p>
        </p:txBody>
      </p:sp>
      <p:sp>
        <p:nvSpPr>
          <p:cNvPr id="15" name="TextBox 6"/>
          <p:cNvSpPr txBox="1">
            <a:spLocks noChangeArrowheads="1"/>
          </p:cNvSpPr>
          <p:nvPr/>
        </p:nvSpPr>
        <p:spPr bwMode="auto">
          <a:xfrm>
            <a:off x="500063" y="2500313"/>
            <a:ext cx="1000125" cy="323850"/>
          </a:xfrm>
          <a:prstGeom prst="rect">
            <a:avLst/>
          </a:prstGeom>
          <a:noFill/>
          <a:ln w="9525">
            <a:noFill/>
            <a:miter lim="800000"/>
          </a:ln>
        </p:spPr>
        <p:txBody>
          <a:bodyPr>
            <a:spAutoFit/>
          </a:bodyPr>
          <a:lstStyle/>
          <a:p>
            <a:pPr>
              <a:defRPr/>
            </a:pPr>
            <a:r>
              <a:rPr lang="zh-CN" altLang="zh-CN" sz="1500" b="1" u="sng" dirty="0">
                <a:solidFill>
                  <a:srgbClr val="0033CC"/>
                </a:solidFill>
                <a:effectLst>
                  <a:outerShdw blurRad="38100" dist="38100" dir="2700000" algn="tl">
                    <a:srgbClr val="000000">
                      <a:alpha val="43137"/>
                    </a:srgbClr>
                  </a:outerShdw>
                </a:effectLst>
                <a:latin typeface="Arial" panose="020B0604020202020204" pitchFamily="34" charset="0"/>
              </a:rPr>
              <a:t>繁殖模块</a:t>
            </a:r>
          </a:p>
        </p:txBody>
      </p:sp>
      <p:sp>
        <p:nvSpPr>
          <p:cNvPr id="16" name="TextBox 6"/>
          <p:cNvSpPr txBox="1">
            <a:spLocks noChangeArrowheads="1"/>
          </p:cNvSpPr>
          <p:nvPr/>
        </p:nvSpPr>
        <p:spPr bwMode="auto">
          <a:xfrm>
            <a:off x="2143125" y="1143000"/>
            <a:ext cx="5643563" cy="307975"/>
          </a:xfrm>
          <a:prstGeom prst="rect">
            <a:avLst/>
          </a:prstGeom>
          <a:noFill/>
          <a:ln w="9525">
            <a:noFill/>
            <a:miter lim="800000"/>
          </a:ln>
        </p:spPr>
        <p:txBody>
          <a:bodyPr>
            <a:spAutoFit/>
          </a:bodyPr>
          <a:lstStyle/>
          <a:p>
            <a:pPr>
              <a:defRPr/>
            </a:pPr>
            <a:r>
              <a:rPr lang="zh-CN" altLang="zh-CN" sz="1400" b="1" dirty="0">
                <a:latin typeface="Arial" panose="020B0604020202020204" pitchFamily="34" charset="0"/>
              </a:rPr>
              <a:t>寻找下一台要传染的计算机，为提高搜索效率，可以采用搜索算法。</a:t>
            </a:r>
            <a:endParaRPr lang="zh-CN" altLang="zh-CN" sz="1400" b="1" dirty="0">
              <a:solidFill>
                <a:schemeClr val="bg2">
                  <a:lumMod val="25000"/>
                </a:schemeClr>
              </a:solidFill>
              <a:latin typeface="Arial" panose="020B0604020202020204" pitchFamily="34" charset="0"/>
            </a:endParaRPr>
          </a:p>
        </p:txBody>
      </p:sp>
      <p:sp>
        <p:nvSpPr>
          <p:cNvPr id="17" name="TextBox 6"/>
          <p:cNvSpPr txBox="1">
            <a:spLocks noChangeArrowheads="1"/>
          </p:cNvSpPr>
          <p:nvPr/>
        </p:nvSpPr>
        <p:spPr bwMode="auto">
          <a:xfrm>
            <a:off x="2143125" y="1500188"/>
            <a:ext cx="6786563" cy="307975"/>
          </a:xfrm>
          <a:prstGeom prst="rect">
            <a:avLst/>
          </a:prstGeom>
          <a:noFill/>
          <a:ln w="9525">
            <a:noFill/>
            <a:miter lim="800000"/>
          </a:ln>
        </p:spPr>
        <p:txBody>
          <a:bodyPr>
            <a:spAutoFit/>
          </a:bodyPr>
          <a:lstStyle/>
          <a:p>
            <a:pPr>
              <a:defRPr/>
            </a:pPr>
            <a:r>
              <a:rPr lang="zh-CN" altLang="zh-CN" sz="1400" b="1" dirty="0">
                <a:latin typeface="Arial" panose="020B0604020202020204" pitchFamily="34" charset="0"/>
              </a:rPr>
              <a:t>在被感染的计算机上建立传输通道，为减少传染数据传输量，可以采用引导式结构。</a:t>
            </a:r>
            <a:endParaRPr lang="zh-CN" altLang="zh-CN" sz="1400" b="1" dirty="0">
              <a:solidFill>
                <a:schemeClr val="bg2">
                  <a:lumMod val="25000"/>
                </a:schemeClr>
              </a:solidFill>
              <a:latin typeface="Arial" panose="020B0604020202020204" pitchFamily="34" charset="0"/>
            </a:endParaRPr>
          </a:p>
        </p:txBody>
      </p:sp>
      <p:sp>
        <p:nvSpPr>
          <p:cNvPr id="18" name="TextBox 6"/>
          <p:cNvSpPr txBox="1">
            <a:spLocks noChangeArrowheads="1"/>
          </p:cNvSpPr>
          <p:nvPr/>
        </p:nvSpPr>
        <p:spPr bwMode="auto">
          <a:xfrm>
            <a:off x="2143125" y="1857375"/>
            <a:ext cx="2643188" cy="307975"/>
          </a:xfrm>
          <a:prstGeom prst="rect">
            <a:avLst/>
          </a:prstGeom>
          <a:noFill/>
          <a:ln w="9525">
            <a:noFill/>
            <a:miter lim="800000"/>
          </a:ln>
        </p:spPr>
        <p:txBody>
          <a:bodyPr>
            <a:spAutoFit/>
          </a:bodyPr>
          <a:lstStyle/>
          <a:p>
            <a:pPr>
              <a:defRPr/>
            </a:pPr>
            <a:r>
              <a:rPr lang="zh-CN" altLang="zh-CN" sz="1400" b="1" dirty="0">
                <a:latin typeface="Arial" panose="020B0604020202020204" pitchFamily="34" charset="0"/>
              </a:rPr>
              <a:t>计算机之间的蠕虫程序复制。</a:t>
            </a:r>
            <a:endParaRPr lang="zh-CN" altLang="zh-CN" sz="1400" b="1" dirty="0">
              <a:solidFill>
                <a:schemeClr val="bg2">
                  <a:lumMod val="25000"/>
                </a:schemeClr>
              </a:solidFill>
              <a:latin typeface="Arial" panose="020B0604020202020204" pitchFamily="34" charset="0"/>
            </a:endParaRPr>
          </a:p>
        </p:txBody>
      </p:sp>
      <p:sp>
        <p:nvSpPr>
          <p:cNvPr id="19" name="TextBox 6"/>
          <p:cNvSpPr txBox="1">
            <a:spLocks noChangeArrowheads="1"/>
          </p:cNvSpPr>
          <p:nvPr/>
        </p:nvSpPr>
        <p:spPr bwMode="auto">
          <a:xfrm>
            <a:off x="2143125" y="2214563"/>
            <a:ext cx="3000375" cy="307975"/>
          </a:xfrm>
          <a:prstGeom prst="rect">
            <a:avLst/>
          </a:prstGeom>
          <a:noFill/>
          <a:ln w="9525">
            <a:noFill/>
            <a:miter lim="800000"/>
          </a:ln>
        </p:spPr>
        <p:txBody>
          <a:bodyPr>
            <a:spAutoFit/>
          </a:bodyPr>
          <a:lstStyle/>
          <a:p>
            <a:pPr>
              <a:defRPr/>
            </a:pPr>
            <a:r>
              <a:rPr lang="zh-CN" altLang="zh-CN" sz="1400" b="1" dirty="0">
                <a:latin typeface="Arial" panose="020B0604020202020204" pitchFamily="34" charset="0"/>
              </a:rPr>
              <a:t>搜寻和建立被传染计算机的信息。</a:t>
            </a:r>
            <a:endParaRPr lang="zh-CN" altLang="zh-CN" sz="1400" b="1" dirty="0">
              <a:solidFill>
                <a:schemeClr val="bg2">
                  <a:lumMod val="25000"/>
                </a:schemeClr>
              </a:solidFill>
              <a:latin typeface="Arial" panose="020B0604020202020204" pitchFamily="34" charset="0"/>
            </a:endParaRPr>
          </a:p>
        </p:txBody>
      </p:sp>
      <p:sp>
        <p:nvSpPr>
          <p:cNvPr id="20" name="TextBox 6"/>
          <p:cNvSpPr txBox="1">
            <a:spLocks noChangeArrowheads="1"/>
          </p:cNvSpPr>
          <p:nvPr/>
        </p:nvSpPr>
        <p:spPr bwMode="auto">
          <a:xfrm>
            <a:off x="2143125" y="2500313"/>
            <a:ext cx="6000750" cy="307975"/>
          </a:xfrm>
          <a:prstGeom prst="rect">
            <a:avLst/>
          </a:prstGeom>
          <a:noFill/>
          <a:ln w="9525">
            <a:noFill/>
            <a:miter lim="800000"/>
          </a:ln>
        </p:spPr>
        <p:txBody>
          <a:bodyPr>
            <a:spAutoFit/>
          </a:bodyPr>
          <a:lstStyle/>
          <a:p>
            <a:pPr>
              <a:defRPr/>
            </a:pPr>
            <a:r>
              <a:rPr lang="zh-CN" altLang="zh-CN" sz="1400" b="1" dirty="0">
                <a:latin typeface="Arial" panose="020B0604020202020204" pitchFamily="34" charset="0"/>
              </a:rPr>
              <a:t>建立自身的多个副本。</a:t>
            </a:r>
            <a:endParaRPr lang="zh-CN" altLang="zh-CN" sz="1400" b="1" dirty="0">
              <a:solidFill>
                <a:schemeClr val="bg2">
                  <a:lumMod val="25000"/>
                </a:schemeClr>
              </a:solidFill>
              <a:latin typeface="Arial" panose="020B0604020202020204" pitchFamily="34" charset="0"/>
            </a:endParaRPr>
          </a:p>
        </p:txBody>
      </p:sp>
      <p:cxnSp>
        <p:nvCxnSpPr>
          <p:cNvPr id="22" name="直接箭头连接符 21"/>
          <p:cNvCxnSpPr>
            <a:cxnSpLocks noChangeShapeType="1"/>
            <a:stCxn id="9" idx="3"/>
            <a:endCxn id="16" idx="1"/>
          </p:cNvCxnSpPr>
          <p:nvPr/>
        </p:nvCxnSpPr>
        <p:spPr bwMode="auto">
          <a:xfrm flipV="1">
            <a:off x="1857375" y="1296988"/>
            <a:ext cx="285750" cy="7937"/>
          </a:xfrm>
          <a:prstGeom prst="straightConnector1">
            <a:avLst/>
          </a:prstGeom>
          <a:noFill/>
          <a:ln w="38100" algn="ctr">
            <a:solidFill>
              <a:srgbClr val="00B050"/>
            </a:solidFill>
            <a:round/>
            <a:tailEnd type="arrow" w="med" len="med"/>
          </a:ln>
          <a:extLst>
            <a:ext uri="{909E8E84-426E-40DD-AFC4-6F175D3DCCD1}">
              <a14:hiddenFill xmlns:a14="http://schemas.microsoft.com/office/drawing/2010/main">
                <a:noFill/>
              </a14:hiddenFill>
            </a:ext>
          </a:extLst>
        </p:spPr>
      </p:cxnSp>
      <p:cxnSp>
        <p:nvCxnSpPr>
          <p:cNvPr id="26" name="直接箭头连接符 25"/>
          <p:cNvCxnSpPr>
            <a:cxnSpLocks noChangeShapeType="1"/>
            <a:stCxn id="12" idx="3"/>
            <a:endCxn id="17" idx="1"/>
          </p:cNvCxnSpPr>
          <p:nvPr/>
        </p:nvCxnSpPr>
        <p:spPr bwMode="auto">
          <a:xfrm flipV="1">
            <a:off x="1500188" y="1654175"/>
            <a:ext cx="642937" cy="7938"/>
          </a:xfrm>
          <a:prstGeom prst="straightConnector1">
            <a:avLst/>
          </a:prstGeom>
          <a:noFill/>
          <a:ln w="38100" algn="ctr">
            <a:solidFill>
              <a:srgbClr val="00B050"/>
            </a:solidFill>
            <a:round/>
            <a:tailEnd type="arrow" w="med" len="med"/>
          </a:ln>
          <a:extLst>
            <a:ext uri="{909E8E84-426E-40DD-AFC4-6F175D3DCCD1}">
              <a14:hiddenFill xmlns:a14="http://schemas.microsoft.com/office/drawing/2010/main">
                <a:noFill/>
              </a14:hiddenFill>
            </a:ext>
          </a:extLst>
        </p:spPr>
      </p:cxnSp>
      <p:cxnSp>
        <p:nvCxnSpPr>
          <p:cNvPr id="28" name="直接箭头连接符 27"/>
          <p:cNvCxnSpPr>
            <a:cxnSpLocks noChangeShapeType="1"/>
            <a:stCxn id="13" idx="3"/>
            <a:endCxn id="18" idx="1"/>
          </p:cNvCxnSpPr>
          <p:nvPr/>
        </p:nvCxnSpPr>
        <p:spPr bwMode="auto">
          <a:xfrm flipV="1">
            <a:off x="1500188" y="2011363"/>
            <a:ext cx="642937" cy="7937"/>
          </a:xfrm>
          <a:prstGeom prst="straightConnector1">
            <a:avLst/>
          </a:prstGeom>
          <a:noFill/>
          <a:ln w="38100" algn="ctr">
            <a:solidFill>
              <a:srgbClr val="00B050"/>
            </a:solidFill>
            <a:round/>
            <a:tailEnd type="arrow" w="med" len="med"/>
          </a:ln>
          <a:extLst>
            <a:ext uri="{909E8E84-426E-40DD-AFC4-6F175D3DCCD1}">
              <a14:hiddenFill xmlns:a14="http://schemas.microsoft.com/office/drawing/2010/main">
                <a:noFill/>
              </a14:hiddenFill>
            </a:ext>
          </a:extLst>
        </p:spPr>
      </p:cxnSp>
      <p:cxnSp>
        <p:nvCxnSpPr>
          <p:cNvPr id="37" name="直接箭头连接符 36"/>
          <p:cNvCxnSpPr>
            <a:cxnSpLocks noChangeShapeType="1"/>
            <a:stCxn id="14" idx="3"/>
          </p:cNvCxnSpPr>
          <p:nvPr/>
        </p:nvCxnSpPr>
        <p:spPr bwMode="auto">
          <a:xfrm flipV="1">
            <a:off x="1857375" y="2368550"/>
            <a:ext cx="285750" cy="7938"/>
          </a:xfrm>
          <a:prstGeom prst="straightConnector1">
            <a:avLst/>
          </a:prstGeom>
          <a:noFill/>
          <a:ln w="38100" algn="ctr">
            <a:solidFill>
              <a:srgbClr val="00B050"/>
            </a:solidFill>
            <a:round/>
            <a:tailEnd type="arrow" w="med" len="med"/>
          </a:ln>
          <a:extLst>
            <a:ext uri="{909E8E84-426E-40DD-AFC4-6F175D3DCCD1}">
              <a14:hiddenFill xmlns:a14="http://schemas.microsoft.com/office/drawing/2010/main">
                <a:noFill/>
              </a14:hiddenFill>
            </a:ext>
          </a:extLst>
        </p:spPr>
      </p:cxnSp>
      <p:cxnSp>
        <p:nvCxnSpPr>
          <p:cNvPr id="42" name="直接箭头连接符 41"/>
          <p:cNvCxnSpPr>
            <a:cxnSpLocks noChangeShapeType="1"/>
            <a:stCxn id="15" idx="3"/>
            <a:endCxn id="20" idx="1"/>
          </p:cNvCxnSpPr>
          <p:nvPr/>
        </p:nvCxnSpPr>
        <p:spPr bwMode="auto">
          <a:xfrm flipV="1">
            <a:off x="1500188" y="2654300"/>
            <a:ext cx="642937" cy="7938"/>
          </a:xfrm>
          <a:prstGeom prst="straightConnector1">
            <a:avLst/>
          </a:prstGeom>
          <a:noFill/>
          <a:ln w="38100" algn="ctr">
            <a:solidFill>
              <a:srgbClr val="00B050"/>
            </a:solidFill>
            <a:round/>
            <a:tailEnd type="arrow" w="med" len="med"/>
          </a:ln>
          <a:extLst>
            <a:ext uri="{909E8E84-426E-40DD-AFC4-6F175D3DCCD1}">
              <a14:hiddenFill xmlns:a14="http://schemas.microsoft.com/office/drawing/2010/main">
                <a:noFill/>
              </a14:hiddenFill>
            </a:ext>
          </a:extLst>
        </p:spPr>
      </p:cxnSp>
      <p:sp>
        <p:nvSpPr>
          <p:cNvPr id="47" name="内容占位符 2"/>
          <p:cNvSpPr txBox="1"/>
          <p:nvPr/>
        </p:nvSpPr>
        <p:spPr bwMode="auto">
          <a:xfrm>
            <a:off x="0" y="2786063"/>
            <a:ext cx="9144000" cy="357187"/>
          </a:xfrm>
          <a:prstGeom prst="rect">
            <a:avLst/>
          </a:prstGeom>
          <a:noFill/>
          <a:ln w="9525">
            <a:noFill/>
            <a:miter lim="800000"/>
          </a:ln>
        </p:spPr>
        <p:txBody>
          <a:bodyPr/>
          <a:lstStyle/>
          <a:p>
            <a:pPr marL="342900" indent="-342900" algn="ctr">
              <a:lnSpc>
                <a:spcPct val="150000"/>
              </a:lnSpc>
              <a:buClr>
                <a:srgbClr val="E46C0A"/>
              </a:buClr>
              <a:buFont typeface="Wingdings" panose="05000000000000000000" pitchFamily="2" charset="2"/>
              <a:buChar char="l"/>
              <a:defRPr/>
            </a:pPr>
            <a:r>
              <a:rPr lang="zh-CN" altLang="en-US" sz="1600" b="1" kern="0" dirty="0">
                <a:solidFill>
                  <a:srgbClr val="FF0000"/>
                </a:solidFill>
                <a:latin typeface="+mj-ea"/>
                <a:ea typeface="+mj-ea"/>
              </a:rPr>
              <a:t>扩展功能模块</a:t>
            </a:r>
            <a:r>
              <a:rPr lang="zh-CN" altLang="en-US" sz="1600" b="1" kern="0" dirty="0">
                <a:solidFill>
                  <a:srgbClr val="0033CC"/>
                </a:solidFill>
                <a:latin typeface="+mj-ea"/>
                <a:ea typeface="+mj-ea"/>
              </a:rPr>
              <a:t>由</a:t>
            </a:r>
            <a:r>
              <a:rPr lang="en-US" altLang="zh-CN" sz="1600" b="1" kern="0" dirty="0">
                <a:solidFill>
                  <a:srgbClr val="0033CC"/>
                </a:solidFill>
                <a:latin typeface="+mj-ea"/>
                <a:ea typeface="+mj-ea"/>
              </a:rPr>
              <a:t>4</a:t>
            </a:r>
            <a:r>
              <a:rPr lang="zh-CN" altLang="en-US" sz="1600" b="1" kern="0" dirty="0">
                <a:solidFill>
                  <a:srgbClr val="0033CC"/>
                </a:solidFill>
                <a:latin typeface="+mj-ea"/>
                <a:ea typeface="+mj-ea"/>
              </a:rPr>
              <a:t>个部分</a:t>
            </a:r>
            <a:r>
              <a:rPr lang="zh-CN" altLang="zh-CN" sz="1600" b="1" kern="0" dirty="0">
                <a:solidFill>
                  <a:srgbClr val="0033CC"/>
                </a:solidFill>
                <a:latin typeface="+mj-ea"/>
                <a:ea typeface="+mj-ea"/>
              </a:rPr>
              <a:t>组成：</a:t>
            </a:r>
          </a:p>
        </p:txBody>
      </p:sp>
      <p:sp>
        <p:nvSpPr>
          <p:cNvPr id="48" name="左大括号 4"/>
          <p:cNvSpPr/>
          <p:nvPr/>
        </p:nvSpPr>
        <p:spPr bwMode="auto">
          <a:xfrm>
            <a:off x="357188" y="3357563"/>
            <a:ext cx="214312" cy="1143000"/>
          </a:xfrm>
          <a:prstGeom prst="leftBrace">
            <a:avLst>
              <a:gd name="adj1" fmla="val 64667"/>
              <a:gd name="adj2" fmla="val 50000"/>
            </a:avLst>
          </a:prstGeom>
          <a:noFill/>
          <a:ln w="28575" algn="ctr">
            <a:solidFill>
              <a:srgbClr val="C00000"/>
            </a:solidFill>
            <a:round/>
          </a:ln>
        </p:spPr>
        <p:txBody>
          <a:bodyPr wrap="none" anchor="ctr"/>
          <a:lstStyle/>
          <a:p>
            <a:pPr>
              <a:defRPr/>
            </a:pPr>
            <a:endParaRPr lang="zh-CN" altLang="en-US" b="1" u="sng">
              <a:solidFill>
                <a:srgbClr val="0033CC"/>
              </a:solidFill>
              <a:effectLst>
                <a:outerShdw blurRad="38100" dist="38100" dir="2700000" algn="tl">
                  <a:srgbClr val="000000">
                    <a:alpha val="43137"/>
                  </a:srgbClr>
                </a:outerShdw>
              </a:effectLst>
              <a:latin typeface="Arial" panose="020B0604020202020204" pitchFamily="34" charset="0"/>
            </a:endParaRPr>
          </a:p>
        </p:txBody>
      </p:sp>
      <p:sp>
        <p:nvSpPr>
          <p:cNvPr id="49" name="TextBox 6"/>
          <p:cNvSpPr txBox="1">
            <a:spLocks noChangeArrowheads="1"/>
          </p:cNvSpPr>
          <p:nvPr/>
        </p:nvSpPr>
        <p:spPr bwMode="auto">
          <a:xfrm>
            <a:off x="500063" y="3214688"/>
            <a:ext cx="1000125" cy="323850"/>
          </a:xfrm>
          <a:prstGeom prst="rect">
            <a:avLst/>
          </a:prstGeom>
          <a:noFill/>
          <a:ln w="9525">
            <a:noFill/>
            <a:miter lim="800000"/>
          </a:ln>
        </p:spPr>
        <p:txBody>
          <a:bodyPr>
            <a:spAutoFit/>
          </a:bodyPr>
          <a:lstStyle/>
          <a:p>
            <a:pPr>
              <a:defRPr/>
            </a:pPr>
            <a:r>
              <a:rPr lang="zh-CN" altLang="zh-CN" sz="1500" b="1" u="sng" dirty="0">
                <a:solidFill>
                  <a:srgbClr val="0033CC"/>
                </a:solidFill>
                <a:effectLst>
                  <a:outerShdw blurRad="38100" dist="38100" dir="2700000" algn="tl">
                    <a:srgbClr val="000000">
                      <a:alpha val="43137"/>
                    </a:srgbClr>
                  </a:outerShdw>
                </a:effectLst>
                <a:latin typeface="Arial" panose="020B0604020202020204" pitchFamily="34" charset="0"/>
              </a:rPr>
              <a:t>隐藏模块</a:t>
            </a:r>
          </a:p>
        </p:txBody>
      </p:sp>
      <p:sp>
        <p:nvSpPr>
          <p:cNvPr id="50" name="TextBox 6"/>
          <p:cNvSpPr txBox="1">
            <a:spLocks noChangeArrowheads="1"/>
          </p:cNvSpPr>
          <p:nvPr/>
        </p:nvSpPr>
        <p:spPr bwMode="auto">
          <a:xfrm>
            <a:off x="500063" y="3571875"/>
            <a:ext cx="1000125" cy="323850"/>
          </a:xfrm>
          <a:prstGeom prst="rect">
            <a:avLst/>
          </a:prstGeom>
          <a:noFill/>
          <a:ln w="9525">
            <a:noFill/>
            <a:miter lim="800000"/>
          </a:ln>
        </p:spPr>
        <p:txBody>
          <a:bodyPr>
            <a:spAutoFit/>
          </a:bodyPr>
          <a:lstStyle/>
          <a:p>
            <a:pPr>
              <a:defRPr/>
            </a:pPr>
            <a:r>
              <a:rPr lang="zh-CN" altLang="zh-CN" sz="1500" b="1" u="sng" dirty="0">
                <a:solidFill>
                  <a:srgbClr val="0033CC"/>
                </a:solidFill>
                <a:effectLst>
                  <a:outerShdw blurRad="38100" dist="38100" dir="2700000" algn="tl">
                    <a:srgbClr val="000000">
                      <a:alpha val="43137"/>
                    </a:srgbClr>
                  </a:outerShdw>
                </a:effectLst>
                <a:latin typeface="Arial" panose="020B0604020202020204" pitchFamily="34" charset="0"/>
              </a:rPr>
              <a:t>破坏模块</a:t>
            </a:r>
          </a:p>
        </p:txBody>
      </p:sp>
      <p:sp>
        <p:nvSpPr>
          <p:cNvPr id="51" name="TextBox 6"/>
          <p:cNvSpPr txBox="1">
            <a:spLocks noChangeArrowheads="1"/>
          </p:cNvSpPr>
          <p:nvPr/>
        </p:nvSpPr>
        <p:spPr bwMode="auto">
          <a:xfrm>
            <a:off x="500063" y="3929063"/>
            <a:ext cx="1000125" cy="323850"/>
          </a:xfrm>
          <a:prstGeom prst="rect">
            <a:avLst/>
          </a:prstGeom>
          <a:noFill/>
          <a:ln w="9525">
            <a:noFill/>
            <a:miter lim="800000"/>
          </a:ln>
        </p:spPr>
        <p:txBody>
          <a:bodyPr>
            <a:spAutoFit/>
          </a:bodyPr>
          <a:lstStyle/>
          <a:p>
            <a:pPr>
              <a:defRPr/>
            </a:pPr>
            <a:r>
              <a:rPr lang="zh-CN" altLang="zh-CN" sz="1500" b="1" u="sng" dirty="0">
                <a:solidFill>
                  <a:srgbClr val="0033CC"/>
                </a:solidFill>
                <a:effectLst>
                  <a:outerShdw blurRad="38100" dist="38100" dir="2700000" algn="tl">
                    <a:srgbClr val="000000">
                      <a:alpha val="43137"/>
                    </a:srgbClr>
                  </a:outerShdw>
                </a:effectLst>
                <a:latin typeface="Arial" panose="020B0604020202020204" pitchFamily="34" charset="0"/>
              </a:rPr>
              <a:t>通信模块</a:t>
            </a:r>
          </a:p>
        </p:txBody>
      </p:sp>
      <p:sp>
        <p:nvSpPr>
          <p:cNvPr id="52" name="TextBox 6"/>
          <p:cNvSpPr txBox="1">
            <a:spLocks noChangeArrowheads="1"/>
          </p:cNvSpPr>
          <p:nvPr/>
        </p:nvSpPr>
        <p:spPr bwMode="auto">
          <a:xfrm>
            <a:off x="500063" y="4286250"/>
            <a:ext cx="1000125" cy="323850"/>
          </a:xfrm>
          <a:prstGeom prst="rect">
            <a:avLst/>
          </a:prstGeom>
          <a:noFill/>
          <a:ln w="9525">
            <a:noFill/>
            <a:miter lim="800000"/>
          </a:ln>
        </p:spPr>
        <p:txBody>
          <a:bodyPr>
            <a:spAutoFit/>
          </a:bodyPr>
          <a:lstStyle/>
          <a:p>
            <a:pPr>
              <a:defRPr/>
            </a:pPr>
            <a:r>
              <a:rPr lang="zh-CN" altLang="zh-CN" sz="1500" b="1" u="sng" dirty="0">
                <a:solidFill>
                  <a:srgbClr val="0033CC"/>
                </a:solidFill>
                <a:effectLst>
                  <a:outerShdw blurRad="38100" dist="38100" dir="2700000" algn="tl">
                    <a:srgbClr val="000000">
                      <a:alpha val="43137"/>
                    </a:srgbClr>
                  </a:outerShdw>
                </a:effectLst>
                <a:latin typeface="Arial" panose="020B0604020202020204" pitchFamily="34" charset="0"/>
              </a:rPr>
              <a:t>控制模块</a:t>
            </a:r>
          </a:p>
        </p:txBody>
      </p:sp>
      <p:sp>
        <p:nvSpPr>
          <p:cNvPr id="53" name="TextBox 6"/>
          <p:cNvSpPr txBox="1">
            <a:spLocks noChangeArrowheads="1"/>
          </p:cNvSpPr>
          <p:nvPr/>
        </p:nvSpPr>
        <p:spPr bwMode="auto">
          <a:xfrm>
            <a:off x="2143125" y="3214688"/>
            <a:ext cx="5643563" cy="307975"/>
          </a:xfrm>
          <a:prstGeom prst="rect">
            <a:avLst/>
          </a:prstGeom>
          <a:noFill/>
          <a:ln w="9525">
            <a:noFill/>
            <a:miter lim="800000"/>
          </a:ln>
        </p:spPr>
        <p:txBody>
          <a:bodyPr>
            <a:spAutoFit/>
          </a:bodyPr>
          <a:lstStyle/>
          <a:p>
            <a:pPr>
              <a:defRPr/>
            </a:pPr>
            <a:r>
              <a:rPr lang="zh-CN" altLang="zh-CN" sz="1400" b="1" dirty="0">
                <a:latin typeface="Arial" panose="020B0604020202020204" pitchFamily="34" charset="0"/>
              </a:rPr>
              <a:t>隐藏蠕虫程序，使简单的检测不能发现蠕虫。</a:t>
            </a:r>
            <a:endParaRPr lang="zh-CN" altLang="zh-CN" sz="1400" b="1" dirty="0">
              <a:solidFill>
                <a:schemeClr val="bg2">
                  <a:lumMod val="25000"/>
                </a:schemeClr>
              </a:solidFill>
              <a:latin typeface="Arial" panose="020B0604020202020204" pitchFamily="34" charset="0"/>
            </a:endParaRPr>
          </a:p>
        </p:txBody>
      </p:sp>
      <p:sp>
        <p:nvSpPr>
          <p:cNvPr id="54" name="TextBox 6"/>
          <p:cNvSpPr txBox="1">
            <a:spLocks noChangeArrowheads="1"/>
          </p:cNvSpPr>
          <p:nvPr/>
        </p:nvSpPr>
        <p:spPr bwMode="auto">
          <a:xfrm>
            <a:off x="2143125" y="3571875"/>
            <a:ext cx="6786563" cy="307975"/>
          </a:xfrm>
          <a:prstGeom prst="rect">
            <a:avLst/>
          </a:prstGeom>
          <a:noFill/>
          <a:ln w="9525">
            <a:noFill/>
            <a:miter lim="800000"/>
          </a:ln>
        </p:spPr>
        <p:txBody>
          <a:bodyPr>
            <a:spAutoFit/>
          </a:bodyPr>
          <a:lstStyle/>
          <a:p>
            <a:pPr>
              <a:defRPr/>
            </a:pPr>
            <a:r>
              <a:rPr lang="zh-CN" altLang="zh-CN" sz="1400" b="1" dirty="0">
                <a:latin typeface="Arial" panose="020B0604020202020204" pitchFamily="34" charset="0"/>
              </a:rPr>
              <a:t>摧毁或破坏被感染计算机，或在被感染计算机上留下后面程序等。</a:t>
            </a:r>
            <a:endParaRPr lang="zh-CN" altLang="zh-CN" sz="1400" b="1" dirty="0">
              <a:solidFill>
                <a:schemeClr val="bg2">
                  <a:lumMod val="25000"/>
                </a:schemeClr>
              </a:solidFill>
              <a:latin typeface="Arial" panose="020B0604020202020204" pitchFamily="34" charset="0"/>
            </a:endParaRPr>
          </a:p>
        </p:txBody>
      </p:sp>
      <p:sp>
        <p:nvSpPr>
          <p:cNvPr id="55" name="TextBox 6"/>
          <p:cNvSpPr txBox="1">
            <a:spLocks noChangeArrowheads="1"/>
          </p:cNvSpPr>
          <p:nvPr/>
        </p:nvSpPr>
        <p:spPr bwMode="auto">
          <a:xfrm>
            <a:off x="2143125" y="3929063"/>
            <a:ext cx="5857875" cy="307975"/>
          </a:xfrm>
          <a:prstGeom prst="rect">
            <a:avLst/>
          </a:prstGeom>
          <a:noFill/>
          <a:ln w="9525">
            <a:noFill/>
            <a:miter lim="800000"/>
          </a:ln>
        </p:spPr>
        <p:txBody>
          <a:bodyPr>
            <a:spAutoFit/>
          </a:bodyPr>
          <a:lstStyle/>
          <a:p>
            <a:pPr>
              <a:defRPr/>
            </a:pPr>
            <a:r>
              <a:rPr lang="zh-CN" altLang="zh-CN" sz="1400" b="1" dirty="0">
                <a:latin typeface="Arial" panose="020B0604020202020204" pitchFamily="34" charset="0"/>
              </a:rPr>
              <a:t>蠕虫之间、蠕虫同黑客之间进行交流，这可能是未来蠕虫发展重点。</a:t>
            </a:r>
            <a:endParaRPr lang="zh-CN" altLang="zh-CN" sz="1400" b="1" dirty="0">
              <a:solidFill>
                <a:schemeClr val="bg2">
                  <a:lumMod val="25000"/>
                </a:schemeClr>
              </a:solidFill>
              <a:latin typeface="Arial" panose="020B0604020202020204" pitchFamily="34" charset="0"/>
            </a:endParaRPr>
          </a:p>
        </p:txBody>
      </p:sp>
      <p:sp>
        <p:nvSpPr>
          <p:cNvPr id="56" name="TextBox 6"/>
          <p:cNvSpPr txBox="1">
            <a:spLocks noChangeArrowheads="1"/>
          </p:cNvSpPr>
          <p:nvPr/>
        </p:nvSpPr>
        <p:spPr bwMode="auto">
          <a:xfrm>
            <a:off x="2143125" y="4286250"/>
            <a:ext cx="4786313" cy="307975"/>
          </a:xfrm>
          <a:prstGeom prst="rect">
            <a:avLst/>
          </a:prstGeom>
          <a:noFill/>
          <a:ln w="9525">
            <a:noFill/>
            <a:miter lim="800000"/>
          </a:ln>
        </p:spPr>
        <p:txBody>
          <a:bodyPr>
            <a:spAutoFit/>
          </a:bodyPr>
          <a:lstStyle/>
          <a:p>
            <a:pPr>
              <a:defRPr/>
            </a:pPr>
            <a:r>
              <a:rPr lang="zh-CN" altLang="zh-CN" sz="1400" b="1" dirty="0">
                <a:latin typeface="Arial" panose="020B0604020202020204" pitchFamily="34" charset="0"/>
              </a:rPr>
              <a:t>调整蠕虫行为，更新其他功能模块，控制被感染计算机。</a:t>
            </a:r>
            <a:endParaRPr lang="zh-CN" altLang="zh-CN" sz="1400" b="1" dirty="0">
              <a:solidFill>
                <a:schemeClr val="bg2">
                  <a:lumMod val="25000"/>
                </a:schemeClr>
              </a:solidFill>
              <a:latin typeface="Arial" panose="020B0604020202020204" pitchFamily="34" charset="0"/>
            </a:endParaRPr>
          </a:p>
        </p:txBody>
      </p:sp>
      <p:cxnSp>
        <p:nvCxnSpPr>
          <p:cNvPr id="57" name="直接箭头连接符 56"/>
          <p:cNvCxnSpPr>
            <a:cxnSpLocks noChangeShapeType="1"/>
            <a:stCxn id="49" idx="3"/>
            <a:endCxn id="53" idx="1"/>
          </p:cNvCxnSpPr>
          <p:nvPr/>
        </p:nvCxnSpPr>
        <p:spPr bwMode="auto">
          <a:xfrm flipV="1">
            <a:off x="1500188" y="3368675"/>
            <a:ext cx="642937" cy="7938"/>
          </a:xfrm>
          <a:prstGeom prst="straightConnector1">
            <a:avLst/>
          </a:prstGeom>
          <a:noFill/>
          <a:ln w="38100" algn="ctr">
            <a:solidFill>
              <a:srgbClr val="00B050"/>
            </a:solidFill>
            <a:round/>
            <a:tailEnd type="arrow" w="med" len="med"/>
          </a:ln>
          <a:extLst>
            <a:ext uri="{909E8E84-426E-40DD-AFC4-6F175D3DCCD1}">
              <a14:hiddenFill xmlns:a14="http://schemas.microsoft.com/office/drawing/2010/main">
                <a:noFill/>
              </a14:hiddenFill>
            </a:ext>
          </a:extLst>
        </p:spPr>
      </p:cxnSp>
      <p:cxnSp>
        <p:nvCxnSpPr>
          <p:cNvPr id="58" name="直接箭头连接符 57"/>
          <p:cNvCxnSpPr>
            <a:cxnSpLocks noChangeShapeType="1"/>
            <a:stCxn id="50" idx="3"/>
            <a:endCxn id="54" idx="1"/>
          </p:cNvCxnSpPr>
          <p:nvPr/>
        </p:nvCxnSpPr>
        <p:spPr bwMode="auto">
          <a:xfrm flipV="1">
            <a:off x="1500188" y="3725863"/>
            <a:ext cx="642937" cy="7937"/>
          </a:xfrm>
          <a:prstGeom prst="straightConnector1">
            <a:avLst/>
          </a:prstGeom>
          <a:noFill/>
          <a:ln w="38100" algn="ctr">
            <a:solidFill>
              <a:srgbClr val="00B050"/>
            </a:solidFill>
            <a:round/>
            <a:tailEnd type="arrow" w="med" len="med"/>
          </a:ln>
          <a:extLst>
            <a:ext uri="{909E8E84-426E-40DD-AFC4-6F175D3DCCD1}">
              <a14:hiddenFill xmlns:a14="http://schemas.microsoft.com/office/drawing/2010/main">
                <a:noFill/>
              </a14:hiddenFill>
            </a:ext>
          </a:extLst>
        </p:spPr>
      </p:cxnSp>
      <p:cxnSp>
        <p:nvCxnSpPr>
          <p:cNvPr id="59" name="直接箭头连接符 58"/>
          <p:cNvCxnSpPr>
            <a:cxnSpLocks noChangeShapeType="1"/>
            <a:stCxn id="51" idx="3"/>
            <a:endCxn id="55" idx="1"/>
          </p:cNvCxnSpPr>
          <p:nvPr/>
        </p:nvCxnSpPr>
        <p:spPr bwMode="auto">
          <a:xfrm flipV="1">
            <a:off x="1500188" y="4083050"/>
            <a:ext cx="642937" cy="7938"/>
          </a:xfrm>
          <a:prstGeom prst="straightConnector1">
            <a:avLst/>
          </a:prstGeom>
          <a:noFill/>
          <a:ln w="38100" algn="ctr">
            <a:solidFill>
              <a:srgbClr val="00B050"/>
            </a:solidFill>
            <a:round/>
            <a:tailEnd type="arrow" w="med" len="med"/>
          </a:ln>
          <a:extLst>
            <a:ext uri="{909E8E84-426E-40DD-AFC4-6F175D3DCCD1}">
              <a14:hiddenFill xmlns:a14="http://schemas.microsoft.com/office/drawing/2010/main">
                <a:noFill/>
              </a14:hiddenFill>
            </a:ext>
          </a:extLst>
        </p:spPr>
      </p:cxnSp>
      <p:cxnSp>
        <p:nvCxnSpPr>
          <p:cNvPr id="60" name="直接箭头连接符 59"/>
          <p:cNvCxnSpPr>
            <a:cxnSpLocks noChangeShapeType="1"/>
            <a:stCxn id="52" idx="3"/>
          </p:cNvCxnSpPr>
          <p:nvPr/>
        </p:nvCxnSpPr>
        <p:spPr bwMode="auto">
          <a:xfrm flipV="1">
            <a:off x="1500188" y="4440238"/>
            <a:ext cx="642937" cy="7937"/>
          </a:xfrm>
          <a:prstGeom prst="straightConnector1">
            <a:avLst/>
          </a:prstGeom>
          <a:noFill/>
          <a:ln w="38100" algn="ctr">
            <a:solidFill>
              <a:srgbClr val="00B050"/>
            </a:solidFill>
            <a:round/>
            <a:tailEnd type="arrow" w="med" len="med"/>
          </a:ln>
          <a:extLst>
            <a:ext uri="{909E8E84-426E-40DD-AFC4-6F175D3DCCD1}">
              <a14:hiddenFill xmlns:a14="http://schemas.microsoft.com/office/drawing/2010/main">
                <a:noFill/>
              </a14:hiddenFill>
            </a:ext>
          </a:extLst>
        </p:spPr>
      </p:cxnSp>
      <p:grpSp>
        <p:nvGrpSpPr>
          <p:cNvPr id="2" name="组合 52"/>
          <p:cNvGrpSpPr/>
          <p:nvPr/>
        </p:nvGrpSpPr>
        <p:grpSpPr bwMode="auto">
          <a:xfrm>
            <a:off x="6084888" y="1851025"/>
            <a:ext cx="3024187" cy="1352550"/>
            <a:chOff x="1857356" y="2285998"/>
            <a:chExt cx="5286412" cy="2357454"/>
          </a:xfrm>
        </p:grpSpPr>
        <p:cxnSp>
          <p:nvCxnSpPr>
            <p:cNvPr id="75817" name="直接连接符 46"/>
            <p:cNvCxnSpPr>
              <a:cxnSpLocks noChangeShapeType="1"/>
            </p:cNvCxnSpPr>
            <p:nvPr/>
          </p:nvCxnSpPr>
          <p:spPr bwMode="auto">
            <a:xfrm rot="5400000">
              <a:off x="5965835" y="2892427"/>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grpSp>
          <p:nvGrpSpPr>
            <p:cNvPr id="75818" name="组合 51"/>
            <p:cNvGrpSpPr/>
            <p:nvPr/>
          </p:nvGrpSpPr>
          <p:grpSpPr bwMode="auto">
            <a:xfrm>
              <a:off x="1857356" y="2285998"/>
              <a:ext cx="5286412" cy="2357454"/>
              <a:chOff x="1714480" y="2143122"/>
              <a:chExt cx="5286412" cy="2357454"/>
            </a:xfrm>
          </p:grpSpPr>
          <p:sp>
            <p:nvSpPr>
              <p:cNvPr id="75819" name="矩形 9"/>
              <p:cNvSpPr>
                <a:spLocks noChangeArrowheads="1"/>
              </p:cNvSpPr>
              <p:nvPr/>
            </p:nvSpPr>
            <p:spPr bwMode="auto">
              <a:xfrm>
                <a:off x="1714480"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扫描</a:t>
                </a:r>
                <a:endParaRPr lang="en-US" altLang="zh-CN" sz="800" b="1">
                  <a:solidFill>
                    <a:srgbClr val="0033CC"/>
                  </a:solidFill>
                </a:endParaRPr>
              </a:p>
              <a:p>
                <a:pPr algn="ctr" eaLnBrk="1" hangingPunct="1"/>
                <a:r>
                  <a:rPr lang="zh-CN" altLang="en-US" sz="800" b="1">
                    <a:solidFill>
                      <a:srgbClr val="0033CC"/>
                    </a:solidFill>
                  </a:rPr>
                  <a:t>搜索</a:t>
                </a:r>
                <a:endParaRPr lang="en-US" altLang="zh-CN" sz="800" b="1">
                  <a:solidFill>
                    <a:srgbClr val="0033CC"/>
                  </a:solidFill>
                </a:endParaRPr>
              </a:p>
              <a:p>
                <a:pPr algn="ctr" eaLnBrk="1" hangingPunct="1"/>
                <a:r>
                  <a:rPr lang="zh-CN" altLang="en-US" sz="800" b="1">
                    <a:solidFill>
                      <a:srgbClr val="0033CC"/>
                    </a:solidFill>
                  </a:rPr>
                  <a:t>模块</a:t>
                </a:r>
              </a:p>
            </p:txBody>
          </p:sp>
          <p:sp>
            <p:nvSpPr>
              <p:cNvPr id="75820" name="矩形 15"/>
              <p:cNvSpPr>
                <a:spLocks noChangeArrowheads="1"/>
              </p:cNvSpPr>
              <p:nvPr/>
            </p:nvSpPr>
            <p:spPr bwMode="auto">
              <a:xfrm>
                <a:off x="2428860" y="2857502"/>
                <a:ext cx="1285884" cy="285752"/>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FF0000"/>
                    </a:solidFill>
                  </a:rPr>
                  <a:t>基本功能模块</a:t>
                </a:r>
              </a:p>
            </p:txBody>
          </p:sp>
          <p:cxnSp>
            <p:nvCxnSpPr>
              <p:cNvPr id="75821" name="直接连接符 16"/>
              <p:cNvCxnSpPr>
                <a:cxnSpLocks noChangeShapeType="1"/>
              </p:cNvCxnSpPr>
              <p:nvPr/>
            </p:nvCxnSpPr>
            <p:spPr bwMode="auto">
              <a:xfrm rot="5400000">
                <a:off x="3536943"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5822" name="直接连接符 17"/>
              <p:cNvCxnSpPr>
                <a:cxnSpLocks noChangeShapeType="1"/>
              </p:cNvCxnSpPr>
              <p:nvPr/>
            </p:nvCxnSpPr>
            <p:spPr bwMode="auto">
              <a:xfrm rot="10800000">
                <a:off x="3071802" y="2643188"/>
                <a:ext cx="2857520"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5823" name="直接连接符 18"/>
              <p:cNvCxnSpPr>
                <a:cxnSpLocks noChangeShapeType="1"/>
              </p:cNvCxnSpPr>
              <p:nvPr/>
            </p:nvCxnSpPr>
            <p:spPr bwMode="auto">
              <a:xfrm rot="5400000">
                <a:off x="2965439"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5824" name="直接连接符 19"/>
              <p:cNvCxnSpPr>
                <a:cxnSpLocks noChangeShapeType="1"/>
              </p:cNvCxnSpPr>
              <p:nvPr/>
            </p:nvCxnSpPr>
            <p:spPr bwMode="auto">
              <a:xfrm rot="5400000">
                <a:off x="1821637" y="346472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5825" name="直接连接符 20"/>
              <p:cNvCxnSpPr>
                <a:cxnSpLocks noChangeShapeType="1"/>
              </p:cNvCxnSpPr>
              <p:nvPr/>
            </p:nvCxnSpPr>
            <p:spPr bwMode="auto">
              <a:xfrm rot="5400000">
                <a:off x="4965703"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5826" name="直接连接符 21"/>
              <p:cNvCxnSpPr>
                <a:cxnSpLocks noChangeShapeType="1"/>
              </p:cNvCxnSpPr>
              <p:nvPr/>
            </p:nvCxnSpPr>
            <p:spPr bwMode="auto">
              <a:xfrm rot="5400000">
                <a:off x="2393935"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5827" name="直接连接符 22"/>
              <p:cNvCxnSpPr>
                <a:cxnSpLocks noChangeShapeType="1"/>
              </p:cNvCxnSpPr>
              <p:nvPr/>
            </p:nvCxnSpPr>
            <p:spPr bwMode="auto">
              <a:xfrm rot="5400000">
                <a:off x="4108447"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5828" name="直接连接符 23"/>
              <p:cNvCxnSpPr>
                <a:cxnSpLocks noChangeShapeType="1"/>
              </p:cNvCxnSpPr>
              <p:nvPr/>
            </p:nvCxnSpPr>
            <p:spPr bwMode="auto">
              <a:xfrm rot="5400000">
                <a:off x="2965439" y="3249617"/>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sp>
            <p:nvSpPr>
              <p:cNvPr id="75829" name="矩形 25"/>
              <p:cNvSpPr>
                <a:spLocks noChangeArrowheads="1"/>
              </p:cNvSpPr>
              <p:nvPr/>
            </p:nvSpPr>
            <p:spPr bwMode="auto">
              <a:xfrm>
                <a:off x="2285984"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攻击</a:t>
                </a:r>
                <a:endParaRPr lang="en-US" altLang="zh-CN" sz="800" b="1">
                  <a:solidFill>
                    <a:srgbClr val="0033CC"/>
                  </a:solidFill>
                </a:endParaRPr>
              </a:p>
              <a:p>
                <a:pPr algn="ctr" eaLnBrk="1" hangingPunct="1"/>
                <a:r>
                  <a:rPr lang="zh-CN" altLang="en-US" sz="800" b="1">
                    <a:solidFill>
                      <a:srgbClr val="0033CC"/>
                    </a:solidFill>
                  </a:rPr>
                  <a:t>模块</a:t>
                </a:r>
              </a:p>
            </p:txBody>
          </p:sp>
          <p:sp>
            <p:nvSpPr>
              <p:cNvPr id="75830" name="矩形 26"/>
              <p:cNvSpPr>
                <a:spLocks noChangeArrowheads="1"/>
              </p:cNvSpPr>
              <p:nvPr/>
            </p:nvSpPr>
            <p:spPr bwMode="auto">
              <a:xfrm>
                <a:off x="2857488"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传输</a:t>
                </a:r>
                <a:endParaRPr lang="en-US" altLang="zh-CN" sz="800" b="1">
                  <a:solidFill>
                    <a:srgbClr val="0033CC"/>
                  </a:solidFill>
                </a:endParaRPr>
              </a:p>
              <a:p>
                <a:pPr algn="ctr" eaLnBrk="1" hangingPunct="1"/>
                <a:r>
                  <a:rPr lang="zh-CN" altLang="en-US" sz="800" b="1">
                    <a:solidFill>
                      <a:srgbClr val="0033CC"/>
                    </a:solidFill>
                  </a:rPr>
                  <a:t>模块</a:t>
                </a:r>
              </a:p>
            </p:txBody>
          </p:sp>
          <p:sp>
            <p:nvSpPr>
              <p:cNvPr id="75831" name="矩形 27"/>
              <p:cNvSpPr>
                <a:spLocks noChangeArrowheads="1"/>
              </p:cNvSpPr>
              <p:nvPr/>
            </p:nvSpPr>
            <p:spPr bwMode="auto">
              <a:xfrm>
                <a:off x="3428992"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信息</a:t>
                </a:r>
                <a:endParaRPr lang="en-US" altLang="zh-CN" sz="800" b="1">
                  <a:solidFill>
                    <a:srgbClr val="0033CC"/>
                  </a:solidFill>
                </a:endParaRPr>
              </a:p>
              <a:p>
                <a:pPr algn="ctr" eaLnBrk="1" hangingPunct="1"/>
                <a:r>
                  <a:rPr lang="zh-CN" altLang="en-US" sz="800" b="1">
                    <a:solidFill>
                      <a:srgbClr val="0033CC"/>
                    </a:solidFill>
                  </a:rPr>
                  <a:t>收集</a:t>
                </a:r>
                <a:endParaRPr lang="en-US" altLang="zh-CN" sz="800" b="1">
                  <a:solidFill>
                    <a:srgbClr val="0033CC"/>
                  </a:solidFill>
                </a:endParaRPr>
              </a:p>
              <a:p>
                <a:pPr algn="ctr" eaLnBrk="1" hangingPunct="1"/>
                <a:r>
                  <a:rPr lang="zh-CN" altLang="en-US" sz="800" b="1">
                    <a:solidFill>
                      <a:srgbClr val="0033CC"/>
                    </a:solidFill>
                  </a:rPr>
                  <a:t>模块</a:t>
                </a:r>
              </a:p>
            </p:txBody>
          </p:sp>
          <p:sp>
            <p:nvSpPr>
              <p:cNvPr id="75832" name="矩形 28"/>
              <p:cNvSpPr>
                <a:spLocks noChangeArrowheads="1"/>
              </p:cNvSpPr>
              <p:nvPr/>
            </p:nvSpPr>
            <p:spPr bwMode="auto">
              <a:xfrm>
                <a:off x="4000496"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繁殖</a:t>
                </a:r>
                <a:endParaRPr lang="en-US" altLang="zh-CN" sz="800" b="1">
                  <a:solidFill>
                    <a:srgbClr val="0033CC"/>
                  </a:solidFill>
                </a:endParaRPr>
              </a:p>
              <a:p>
                <a:pPr algn="ctr" eaLnBrk="1" hangingPunct="1"/>
                <a:r>
                  <a:rPr lang="zh-CN" altLang="en-US" sz="800" b="1">
                    <a:solidFill>
                      <a:srgbClr val="0033CC"/>
                    </a:solidFill>
                  </a:rPr>
                  <a:t>模块</a:t>
                </a:r>
              </a:p>
            </p:txBody>
          </p:sp>
          <p:sp>
            <p:nvSpPr>
              <p:cNvPr id="75833" name="矩形 29"/>
              <p:cNvSpPr>
                <a:spLocks noChangeArrowheads="1"/>
              </p:cNvSpPr>
              <p:nvPr/>
            </p:nvSpPr>
            <p:spPr bwMode="auto">
              <a:xfrm>
                <a:off x="4857752"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隐藏</a:t>
                </a:r>
                <a:endParaRPr lang="en-US" altLang="zh-CN" sz="800" b="1">
                  <a:solidFill>
                    <a:srgbClr val="0033CC"/>
                  </a:solidFill>
                </a:endParaRPr>
              </a:p>
              <a:p>
                <a:pPr algn="ctr" eaLnBrk="1" hangingPunct="1"/>
                <a:r>
                  <a:rPr lang="zh-CN" altLang="en-US" sz="800" b="1">
                    <a:solidFill>
                      <a:srgbClr val="0033CC"/>
                    </a:solidFill>
                  </a:rPr>
                  <a:t>模块</a:t>
                </a:r>
              </a:p>
            </p:txBody>
          </p:sp>
          <p:sp>
            <p:nvSpPr>
              <p:cNvPr id="75834" name="矩形 30"/>
              <p:cNvSpPr>
                <a:spLocks noChangeArrowheads="1"/>
              </p:cNvSpPr>
              <p:nvPr/>
            </p:nvSpPr>
            <p:spPr bwMode="auto">
              <a:xfrm>
                <a:off x="5429256"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破坏</a:t>
                </a:r>
                <a:endParaRPr lang="en-US" altLang="zh-CN" sz="800" b="1">
                  <a:solidFill>
                    <a:srgbClr val="0033CC"/>
                  </a:solidFill>
                </a:endParaRPr>
              </a:p>
              <a:p>
                <a:pPr algn="ctr" eaLnBrk="1" hangingPunct="1"/>
                <a:r>
                  <a:rPr lang="zh-CN" altLang="en-US" sz="800" b="1">
                    <a:solidFill>
                      <a:srgbClr val="0033CC"/>
                    </a:solidFill>
                  </a:rPr>
                  <a:t>模块</a:t>
                </a:r>
              </a:p>
            </p:txBody>
          </p:sp>
          <p:sp>
            <p:nvSpPr>
              <p:cNvPr id="75835" name="矩形 31"/>
              <p:cNvSpPr>
                <a:spLocks noChangeArrowheads="1"/>
              </p:cNvSpPr>
              <p:nvPr/>
            </p:nvSpPr>
            <p:spPr bwMode="auto">
              <a:xfrm>
                <a:off x="6000760"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通信</a:t>
                </a:r>
                <a:endParaRPr lang="en-US" altLang="zh-CN" sz="800" b="1">
                  <a:solidFill>
                    <a:srgbClr val="0033CC"/>
                  </a:solidFill>
                </a:endParaRPr>
              </a:p>
              <a:p>
                <a:pPr algn="ctr" eaLnBrk="1" hangingPunct="1"/>
                <a:r>
                  <a:rPr lang="zh-CN" altLang="en-US" sz="800" b="1">
                    <a:solidFill>
                      <a:srgbClr val="0033CC"/>
                    </a:solidFill>
                  </a:rPr>
                  <a:t>模块</a:t>
                </a:r>
              </a:p>
            </p:txBody>
          </p:sp>
          <p:sp>
            <p:nvSpPr>
              <p:cNvPr id="75836" name="矩形 32"/>
              <p:cNvSpPr>
                <a:spLocks noChangeArrowheads="1"/>
              </p:cNvSpPr>
              <p:nvPr/>
            </p:nvSpPr>
            <p:spPr bwMode="auto">
              <a:xfrm>
                <a:off x="6572264"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控制</a:t>
                </a:r>
                <a:endParaRPr lang="en-US" altLang="zh-CN" sz="800" b="1">
                  <a:solidFill>
                    <a:srgbClr val="0033CC"/>
                  </a:solidFill>
                </a:endParaRPr>
              </a:p>
              <a:p>
                <a:pPr algn="ctr" eaLnBrk="1" hangingPunct="1"/>
                <a:r>
                  <a:rPr lang="zh-CN" altLang="en-US" sz="800" b="1">
                    <a:solidFill>
                      <a:srgbClr val="0033CC"/>
                    </a:solidFill>
                  </a:rPr>
                  <a:t>模块</a:t>
                </a:r>
              </a:p>
            </p:txBody>
          </p:sp>
          <p:sp>
            <p:nvSpPr>
              <p:cNvPr id="75837" name="矩形 33"/>
              <p:cNvSpPr>
                <a:spLocks noChangeArrowheads="1"/>
              </p:cNvSpPr>
              <p:nvPr/>
            </p:nvSpPr>
            <p:spPr bwMode="auto">
              <a:xfrm>
                <a:off x="5286380" y="2857502"/>
                <a:ext cx="1285884" cy="285752"/>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FF0000"/>
                    </a:solidFill>
                  </a:rPr>
                  <a:t>扩展功能模块</a:t>
                </a:r>
              </a:p>
            </p:txBody>
          </p:sp>
          <p:sp>
            <p:nvSpPr>
              <p:cNvPr id="75838" name="矩形 34"/>
              <p:cNvSpPr>
                <a:spLocks noChangeArrowheads="1"/>
              </p:cNvSpPr>
              <p:nvPr/>
            </p:nvSpPr>
            <p:spPr bwMode="auto">
              <a:xfrm>
                <a:off x="3857620" y="2143122"/>
                <a:ext cx="1428760" cy="285752"/>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t>蠕虫程序功能结构</a:t>
                </a:r>
              </a:p>
            </p:txBody>
          </p:sp>
          <p:cxnSp>
            <p:nvCxnSpPr>
              <p:cNvPr id="75839" name="直接连接符 36"/>
              <p:cNvCxnSpPr>
                <a:cxnSpLocks noChangeShapeType="1"/>
              </p:cNvCxnSpPr>
              <p:nvPr/>
            </p:nvCxnSpPr>
            <p:spPr bwMode="auto">
              <a:xfrm rot="10800000">
                <a:off x="1928794" y="3357568"/>
                <a:ext cx="2286016"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5840" name="直接连接符 38"/>
              <p:cNvCxnSpPr>
                <a:cxnSpLocks noChangeShapeType="1"/>
              </p:cNvCxnSpPr>
              <p:nvPr/>
            </p:nvCxnSpPr>
            <p:spPr bwMode="auto">
              <a:xfrm rot="5400000">
                <a:off x="5537207"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5841" name="直接连接符 39"/>
              <p:cNvCxnSpPr>
                <a:cxnSpLocks noChangeShapeType="1"/>
              </p:cNvCxnSpPr>
              <p:nvPr/>
            </p:nvCxnSpPr>
            <p:spPr bwMode="auto">
              <a:xfrm rot="5400000">
                <a:off x="6108711"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5842" name="直接连接符 40"/>
              <p:cNvCxnSpPr>
                <a:cxnSpLocks noChangeShapeType="1"/>
              </p:cNvCxnSpPr>
              <p:nvPr/>
            </p:nvCxnSpPr>
            <p:spPr bwMode="auto">
              <a:xfrm rot="5400000">
                <a:off x="6680215"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5843" name="直接连接符 41"/>
              <p:cNvCxnSpPr>
                <a:cxnSpLocks noChangeShapeType="1"/>
              </p:cNvCxnSpPr>
              <p:nvPr/>
            </p:nvCxnSpPr>
            <p:spPr bwMode="auto">
              <a:xfrm rot="10800000">
                <a:off x="5072066" y="3357568"/>
                <a:ext cx="1714512"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5844" name="直接连接符 44"/>
              <p:cNvCxnSpPr>
                <a:cxnSpLocks noChangeShapeType="1"/>
              </p:cNvCxnSpPr>
              <p:nvPr/>
            </p:nvCxnSpPr>
            <p:spPr bwMode="auto">
              <a:xfrm rot="5400000">
                <a:off x="5822959" y="3249617"/>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5845" name="直接连接符 45"/>
              <p:cNvCxnSpPr>
                <a:cxnSpLocks noChangeShapeType="1"/>
              </p:cNvCxnSpPr>
              <p:nvPr/>
            </p:nvCxnSpPr>
            <p:spPr bwMode="auto">
              <a:xfrm rot="5400000">
                <a:off x="2965439" y="274955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5846" name="直接连接符 50"/>
              <p:cNvCxnSpPr>
                <a:cxnSpLocks noChangeShapeType="1"/>
              </p:cNvCxnSpPr>
              <p:nvPr/>
            </p:nvCxnSpPr>
            <p:spPr bwMode="auto">
              <a:xfrm rot="5400000">
                <a:off x="4465637" y="2535237"/>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grpSp>
      </p:gr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57347">
                                            <p:txEl>
                                              <p:pRg st="0" end="0"/>
                                            </p:txEl>
                                          </p:spTgt>
                                        </p:tgtEl>
                                        <p:attrNameLst>
                                          <p:attrName>style.visibility</p:attrName>
                                        </p:attrNameLst>
                                      </p:cBhvr>
                                      <p:to>
                                        <p:strVal val="visible"/>
                                      </p:to>
                                    </p:set>
                                    <p:animEffect transition="in" filter="fade">
                                      <p:cBhvr>
                                        <p:cTn id="13" dur="500"/>
                                        <p:tgtEl>
                                          <p:spTgt spid="5734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strips(downRight)">
                                      <p:cBhvr>
                                        <p:cTn id="18" dur="500"/>
                                        <p:tgtEl>
                                          <p:spTgt spid="8"/>
                                        </p:tgtEl>
                                      </p:cBhvr>
                                    </p:animEffect>
                                  </p:childTnLst>
                                </p:cTn>
                              </p:par>
                            </p:childTnLst>
                          </p:cTn>
                        </p:par>
                        <p:par>
                          <p:cTn id="19" fill="hold">
                            <p:stCondLst>
                              <p:cond delay="500"/>
                            </p:stCondLst>
                            <p:childTnLst>
                              <p:par>
                                <p:cTn id="20" presetID="18" presetClass="entr" presetSubtype="6"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trips(downRight)">
                                      <p:cBhvr>
                                        <p:cTn id="22" dur="500"/>
                                        <p:tgtEl>
                                          <p:spTgt spid="9"/>
                                        </p:tgtEl>
                                      </p:cBhvr>
                                    </p:animEffect>
                                  </p:childTnLst>
                                </p:cTn>
                              </p:par>
                            </p:childTnLst>
                          </p:cTn>
                        </p:par>
                        <p:par>
                          <p:cTn id="23" fill="hold">
                            <p:stCondLst>
                              <p:cond delay="1000"/>
                            </p:stCondLst>
                            <p:childTnLst>
                              <p:par>
                                <p:cTn id="24" presetID="18" presetClass="entr" presetSubtype="6" fill="hold" grpId="0" nodeType="after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strips(downRight)">
                                      <p:cBhvr>
                                        <p:cTn id="26" dur="500"/>
                                        <p:tgtEl>
                                          <p:spTgt spid="12"/>
                                        </p:tgtEl>
                                      </p:cBhvr>
                                    </p:animEffect>
                                  </p:childTnLst>
                                </p:cTn>
                              </p:par>
                            </p:childTnLst>
                          </p:cTn>
                        </p:par>
                        <p:par>
                          <p:cTn id="27" fill="hold">
                            <p:stCondLst>
                              <p:cond delay="1500"/>
                            </p:stCondLst>
                            <p:childTnLst>
                              <p:par>
                                <p:cTn id="28" presetID="18" presetClass="entr" presetSubtype="6"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strips(downRight)">
                                      <p:cBhvr>
                                        <p:cTn id="30" dur="500"/>
                                        <p:tgtEl>
                                          <p:spTgt spid="13"/>
                                        </p:tgtEl>
                                      </p:cBhvr>
                                    </p:animEffect>
                                  </p:childTnLst>
                                </p:cTn>
                              </p:par>
                            </p:childTnLst>
                          </p:cTn>
                        </p:par>
                        <p:par>
                          <p:cTn id="31" fill="hold">
                            <p:stCondLst>
                              <p:cond delay="2000"/>
                            </p:stCondLst>
                            <p:childTnLst>
                              <p:par>
                                <p:cTn id="32" presetID="18" presetClass="entr" presetSubtype="6"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strips(downRight)">
                                      <p:cBhvr>
                                        <p:cTn id="34" dur="500"/>
                                        <p:tgtEl>
                                          <p:spTgt spid="14"/>
                                        </p:tgtEl>
                                      </p:cBhvr>
                                    </p:animEffect>
                                  </p:childTnLst>
                                </p:cTn>
                              </p:par>
                            </p:childTnLst>
                          </p:cTn>
                        </p:par>
                        <p:par>
                          <p:cTn id="35" fill="hold">
                            <p:stCondLst>
                              <p:cond delay="2500"/>
                            </p:stCondLst>
                            <p:childTnLst>
                              <p:par>
                                <p:cTn id="36" presetID="18" presetClass="entr" presetSubtype="6"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strips(downRight)">
                                      <p:cBhvr>
                                        <p:cTn id="38" dur="500"/>
                                        <p:tgtEl>
                                          <p:spTgt spid="15"/>
                                        </p:tgtEl>
                                      </p:cBhvr>
                                    </p:animEffect>
                                  </p:childTnLst>
                                </p:cTn>
                              </p:par>
                            </p:childTnLst>
                          </p:cTn>
                        </p:par>
                      </p:childTnLst>
                    </p:cTn>
                  </p:par>
                  <p:par>
                    <p:cTn id="39" fill="hold">
                      <p:stCondLst>
                        <p:cond delay="indefinite"/>
                      </p:stCondLst>
                      <p:childTnLst>
                        <p:par>
                          <p:cTn id="40" fill="hold">
                            <p:stCondLst>
                              <p:cond delay="0"/>
                            </p:stCondLst>
                            <p:childTnLst>
                              <p:par>
                                <p:cTn id="41" presetID="18" presetClass="entr" presetSubtype="6"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strips(downRight)">
                                      <p:cBhvr>
                                        <p:cTn id="43" dur="500"/>
                                        <p:tgtEl>
                                          <p:spTgt spid="22"/>
                                        </p:tgtEl>
                                      </p:cBhvr>
                                    </p:animEffect>
                                  </p:childTnLst>
                                </p:cTn>
                              </p:par>
                            </p:childTnLst>
                          </p:cTn>
                        </p:par>
                        <p:par>
                          <p:cTn id="44" fill="hold">
                            <p:stCondLst>
                              <p:cond delay="500"/>
                            </p:stCondLst>
                            <p:childTnLst>
                              <p:par>
                                <p:cTn id="45" presetID="18" presetClass="entr" presetSubtype="6" fill="hold" grpId="0" nodeType="after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strips(downRight)">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strips(downRight)">
                                      <p:cBhvr>
                                        <p:cTn id="52" dur="500"/>
                                        <p:tgtEl>
                                          <p:spTgt spid="26"/>
                                        </p:tgtEl>
                                      </p:cBhvr>
                                    </p:animEffect>
                                  </p:childTnLst>
                                </p:cTn>
                              </p:par>
                            </p:childTnLst>
                          </p:cTn>
                        </p:par>
                        <p:par>
                          <p:cTn id="53" fill="hold">
                            <p:stCondLst>
                              <p:cond delay="500"/>
                            </p:stCondLst>
                            <p:childTnLst>
                              <p:par>
                                <p:cTn id="54" presetID="18" presetClass="entr" presetSubtype="6" fill="hold" grpId="0" nodeType="after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strips(downRight)">
                                      <p:cBhvr>
                                        <p:cTn id="56" dur="500"/>
                                        <p:tgtEl>
                                          <p:spTgt spid="17"/>
                                        </p:tgtEl>
                                      </p:cBhvr>
                                    </p:animEffect>
                                  </p:childTnLst>
                                </p:cTn>
                              </p:par>
                            </p:childTnLst>
                          </p:cTn>
                        </p:par>
                      </p:childTnLst>
                    </p:cTn>
                  </p:par>
                  <p:par>
                    <p:cTn id="57" fill="hold">
                      <p:stCondLst>
                        <p:cond delay="indefinite"/>
                      </p:stCondLst>
                      <p:childTnLst>
                        <p:par>
                          <p:cTn id="58" fill="hold">
                            <p:stCondLst>
                              <p:cond delay="0"/>
                            </p:stCondLst>
                            <p:childTnLst>
                              <p:par>
                                <p:cTn id="59" presetID="18" presetClass="entr" presetSubtype="6" fill="hold" nodeType="click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strips(downRight)">
                                      <p:cBhvr>
                                        <p:cTn id="61" dur="500"/>
                                        <p:tgtEl>
                                          <p:spTgt spid="28"/>
                                        </p:tgtEl>
                                      </p:cBhvr>
                                    </p:animEffect>
                                  </p:childTnLst>
                                </p:cTn>
                              </p:par>
                            </p:childTnLst>
                          </p:cTn>
                        </p:par>
                        <p:par>
                          <p:cTn id="62" fill="hold">
                            <p:stCondLst>
                              <p:cond delay="500"/>
                            </p:stCondLst>
                            <p:childTnLst>
                              <p:par>
                                <p:cTn id="63" presetID="18" presetClass="entr" presetSubtype="6" fill="hold" grpId="0" nodeType="after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strips(downRight)">
                                      <p:cBhvr>
                                        <p:cTn id="65" dur="500"/>
                                        <p:tgtEl>
                                          <p:spTgt spid="18"/>
                                        </p:tgtEl>
                                      </p:cBhvr>
                                    </p:animEffect>
                                  </p:childTnLst>
                                </p:cTn>
                              </p:par>
                            </p:childTnLst>
                          </p:cTn>
                        </p:par>
                      </p:childTnLst>
                    </p:cTn>
                  </p:par>
                  <p:par>
                    <p:cTn id="66" fill="hold">
                      <p:stCondLst>
                        <p:cond delay="indefinite"/>
                      </p:stCondLst>
                      <p:childTnLst>
                        <p:par>
                          <p:cTn id="67" fill="hold">
                            <p:stCondLst>
                              <p:cond delay="0"/>
                            </p:stCondLst>
                            <p:childTnLst>
                              <p:par>
                                <p:cTn id="68" presetID="18" presetClass="entr" presetSubtype="6" fill="hold" nodeType="click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strips(downRight)">
                                      <p:cBhvr>
                                        <p:cTn id="70" dur="500"/>
                                        <p:tgtEl>
                                          <p:spTgt spid="37"/>
                                        </p:tgtEl>
                                      </p:cBhvr>
                                    </p:animEffect>
                                  </p:childTnLst>
                                </p:cTn>
                              </p:par>
                            </p:childTnLst>
                          </p:cTn>
                        </p:par>
                        <p:par>
                          <p:cTn id="71" fill="hold">
                            <p:stCondLst>
                              <p:cond delay="500"/>
                            </p:stCondLst>
                            <p:childTnLst>
                              <p:par>
                                <p:cTn id="72" presetID="18" presetClass="entr" presetSubtype="6" fill="hold" grpId="0"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strips(downRight)">
                                      <p:cBhvr>
                                        <p:cTn id="74" dur="500"/>
                                        <p:tgtEl>
                                          <p:spTgt spid="19"/>
                                        </p:tgtEl>
                                      </p:cBhvr>
                                    </p:animEffect>
                                  </p:childTnLst>
                                </p:cTn>
                              </p:par>
                            </p:childTnLst>
                          </p:cTn>
                        </p:par>
                      </p:childTnLst>
                    </p:cTn>
                  </p:par>
                  <p:par>
                    <p:cTn id="75" fill="hold">
                      <p:stCondLst>
                        <p:cond delay="indefinite"/>
                      </p:stCondLst>
                      <p:childTnLst>
                        <p:par>
                          <p:cTn id="76" fill="hold">
                            <p:stCondLst>
                              <p:cond delay="0"/>
                            </p:stCondLst>
                            <p:childTnLst>
                              <p:par>
                                <p:cTn id="77" presetID="18" presetClass="entr" presetSubtype="6" fill="hold" nodeType="clickEffect">
                                  <p:stCondLst>
                                    <p:cond delay="0"/>
                                  </p:stCondLst>
                                  <p:childTnLst>
                                    <p:set>
                                      <p:cBhvr>
                                        <p:cTn id="78" dur="1" fill="hold">
                                          <p:stCondLst>
                                            <p:cond delay="0"/>
                                          </p:stCondLst>
                                        </p:cTn>
                                        <p:tgtEl>
                                          <p:spTgt spid="42"/>
                                        </p:tgtEl>
                                        <p:attrNameLst>
                                          <p:attrName>style.visibility</p:attrName>
                                        </p:attrNameLst>
                                      </p:cBhvr>
                                      <p:to>
                                        <p:strVal val="visible"/>
                                      </p:to>
                                    </p:set>
                                    <p:animEffect transition="in" filter="strips(downRight)">
                                      <p:cBhvr>
                                        <p:cTn id="79" dur="500"/>
                                        <p:tgtEl>
                                          <p:spTgt spid="42"/>
                                        </p:tgtEl>
                                      </p:cBhvr>
                                    </p:animEffect>
                                  </p:childTnLst>
                                </p:cTn>
                              </p:par>
                            </p:childTnLst>
                          </p:cTn>
                        </p:par>
                        <p:par>
                          <p:cTn id="80" fill="hold">
                            <p:stCondLst>
                              <p:cond delay="500"/>
                            </p:stCondLst>
                            <p:childTnLst>
                              <p:par>
                                <p:cTn id="81" presetID="18" presetClass="entr" presetSubtype="6" fill="hold" grpId="0" nodeType="after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strips(downRight)">
                                      <p:cBhvr>
                                        <p:cTn id="83" dur="500"/>
                                        <p:tgtEl>
                                          <p:spTgt spid="20"/>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47"/>
                                        </p:tgtEl>
                                        <p:attrNameLst>
                                          <p:attrName>style.visibility</p:attrName>
                                        </p:attrNameLst>
                                      </p:cBhvr>
                                      <p:to>
                                        <p:strVal val="visible"/>
                                      </p:to>
                                    </p:set>
                                    <p:animEffect transition="in" filter="fade">
                                      <p:cBhvr>
                                        <p:cTn id="88" dur="500"/>
                                        <p:tgtEl>
                                          <p:spTgt spid="47"/>
                                        </p:tgtEl>
                                      </p:cBhvr>
                                    </p:animEffect>
                                  </p:childTnLst>
                                </p:cTn>
                              </p:par>
                            </p:childTnLst>
                          </p:cTn>
                        </p:par>
                      </p:childTnLst>
                    </p:cTn>
                  </p:par>
                  <p:par>
                    <p:cTn id="89" fill="hold">
                      <p:stCondLst>
                        <p:cond delay="indefinite"/>
                      </p:stCondLst>
                      <p:childTnLst>
                        <p:par>
                          <p:cTn id="90" fill="hold">
                            <p:stCondLst>
                              <p:cond delay="0"/>
                            </p:stCondLst>
                            <p:childTnLst>
                              <p:par>
                                <p:cTn id="91" presetID="18" presetClass="entr" presetSubtype="6" fill="hold" grpId="0" nodeType="clickEffect">
                                  <p:stCondLst>
                                    <p:cond delay="0"/>
                                  </p:stCondLst>
                                  <p:childTnLst>
                                    <p:set>
                                      <p:cBhvr>
                                        <p:cTn id="92" dur="1" fill="hold">
                                          <p:stCondLst>
                                            <p:cond delay="0"/>
                                          </p:stCondLst>
                                        </p:cTn>
                                        <p:tgtEl>
                                          <p:spTgt spid="48"/>
                                        </p:tgtEl>
                                        <p:attrNameLst>
                                          <p:attrName>style.visibility</p:attrName>
                                        </p:attrNameLst>
                                      </p:cBhvr>
                                      <p:to>
                                        <p:strVal val="visible"/>
                                      </p:to>
                                    </p:set>
                                    <p:animEffect transition="in" filter="strips(downRight)">
                                      <p:cBhvr>
                                        <p:cTn id="93" dur="500"/>
                                        <p:tgtEl>
                                          <p:spTgt spid="48"/>
                                        </p:tgtEl>
                                      </p:cBhvr>
                                    </p:animEffect>
                                  </p:childTnLst>
                                </p:cTn>
                              </p:par>
                            </p:childTnLst>
                          </p:cTn>
                        </p:par>
                        <p:par>
                          <p:cTn id="94" fill="hold">
                            <p:stCondLst>
                              <p:cond delay="500"/>
                            </p:stCondLst>
                            <p:childTnLst>
                              <p:par>
                                <p:cTn id="95" presetID="18" presetClass="entr" presetSubtype="6" fill="hold" grpId="0" nodeType="afterEffect">
                                  <p:stCondLst>
                                    <p:cond delay="0"/>
                                  </p:stCondLst>
                                  <p:childTnLst>
                                    <p:set>
                                      <p:cBhvr>
                                        <p:cTn id="96" dur="1" fill="hold">
                                          <p:stCondLst>
                                            <p:cond delay="0"/>
                                          </p:stCondLst>
                                        </p:cTn>
                                        <p:tgtEl>
                                          <p:spTgt spid="49"/>
                                        </p:tgtEl>
                                        <p:attrNameLst>
                                          <p:attrName>style.visibility</p:attrName>
                                        </p:attrNameLst>
                                      </p:cBhvr>
                                      <p:to>
                                        <p:strVal val="visible"/>
                                      </p:to>
                                    </p:set>
                                    <p:animEffect transition="in" filter="strips(downRight)">
                                      <p:cBhvr>
                                        <p:cTn id="97" dur="500"/>
                                        <p:tgtEl>
                                          <p:spTgt spid="49"/>
                                        </p:tgtEl>
                                      </p:cBhvr>
                                    </p:animEffect>
                                  </p:childTnLst>
                                </p:cTn>
                              </p:par>
                            </p:childTnLst>
                          </p:cTn>
                        </p:par>
                        <p:par>
                          <p:cTn id="98" fill="hold">
                            <p:stCondLst>
                              <p:cond delay="1000"/>
                            </p:stCondLst>
                            <p:childTnLst>
                              <p:par>
                                <p:cTn id="99" presetID="18" presetClass="entr" presetSubtype="6" fill="hold" grpId="0" nodeType="afterEffect">
                                  <p:stCondLst>
                                    <p:cond delay="0"/>
                                  </p:stCondLst>
                                  <p:childTnLst>
                                    <p:set>
                                      <p:cBhvr>
                                        <p:cTn id="100" dur="1" fill="hold">
                                          <p:stCondLst>
                                            <p:cond delay="0"/>
                                          </p:stCondLst>
                                        </p:cTn>
                                        <p:tgtEl>
                                          <p:spTgt spid="50"/>
                                        </p:tgtEl>
                                        <p:attrNameLst>
                                          <p:attrName>style.visibility</p:attrName>
                                        </p:attrNameLst>
                                      </p:cBhvr>
                                      <p:to>
                                        <p:strVal val="visible"/>
                                      </p:to>
                                    </p:set>
                                    <p:animEffect transition="in" filter="strips(downRight)">
                                      <p:cBhvr>
                                        <p:cTn id="101" dur="500"/>
                                        <p:tgtEl>
                                          <p:spTgt spid="50"/>
                                        </p:tgtEl>
                                      </p:cBhvr>
                                    </p:animEffect>
                                  </p:childTnLst>
                                </p:cTn>
                              </p:par>
                            </p:childTnLst>
                          </p:cTn>
                        </p:par>
                        <p:par>
                          <p:cTn id="102" fill="hold">
                            <p:stCondLst>
                              <p:cond delay="1500"/>
                            </p:stCondLst>
                            <p:childTnLst>
                              <p:par>
                                <p:cTn id="103" presetID="18" presetClass="entr" presetSubtype="6" fill="hold" grpId="0" nodeType="afterEffect">
                                  <p:stCondLst>
                                    <p:cond delay="0"/>
                                  </p:stCondLst>
                                  <p:childTnLst>
                                    <p:set>
                                      <p:cBhvr>
                                        <p:cTn id="104" dur="1" fill="hold">
                                          <p:stCondLst>
                                            <p:cond delay="0"/>
                                          </p:stCondLst>
                                        </p:cTn>
                                        <p:tgtEl>
                                          <p:spTgt spid="51"/>
                                        </p:tgtEl>
                                        <p:attrNameLst>
                                          <p:attrName>style.visibility</p:attrName>
                                        </p:attrNameLst>
                                      </p:cBhvr>
                                      <p:to>
                                        <p:strVal val="visible"/>
                                      </p:to>
                                    </p:set>
                                    <p:animEffect transition="in" filter="strips(downRight)">
                                      <p:cBhvr>
                                        <p:cTn id="105" dur="500"/>
                                        <p:tgtEl>
                                          <p:spTgt spid="51"/>
                                        </p:tgtEl>
                                      </p:cBhvr>
                                    </p:animEffect>
                                  </p:childTnLst>
                                </p:cTn>
                              </p:par>
                            </p:childTnLst>
                          </p:cTn>
                        </p:par>
                        <p:par>
                          <p:cTn id="106" fill="hold">
                            <p:stCondLst>
                              <p:cond delay="2000"/>
                            </p:stCondLst>
                            <p:childTnLst>
                              <p:par>
                                <p:cTn id="107" presetID="18" presetClass="entr" presetSubtype="6" fill="hold" grpId="0" nodeType="afterEffect">
                                  <p:stCondLst>
                                    <p:cond delay="0"/>
                                  </p:stCondLst>
                                  <p:childTnLst>
                                    <p:set>
                                      <p:cBhvr>
                                        <p:cTn id="108" dur="1" fill="hold">
                                          <p:stCondLst>
                                            <p:cond delay="0"/>
                                          </p:stCondLst>
                                        </p:cTn>
                                        <p:tgtEl>
                                          <p:spTgt spid="52"/>
                                        </p:tgtEl>
                                        <p:attrNameLst>
                                          <p:attrName>style.visibility</p:attrName>
                                        </p:attrNameLst>
                                      </p:cBhvr>
                                      <p:to>
                                        <p:strVal val="visible"/>
                                      </p:to>
                                    </p:set>
                                    <p:animEffect transition="in" filter="strips(downRight)">
                                      <p:cBhvr>
                                        <p:cTn id="109" dur="500"/>
                                        <p:tgtEl>
                                          <p:spTgt spid="52"/>
                                        </p:tgtEl>
                                      </p:cBhvr>
                                    </p:animEffect>
                                  </p:childTnLst>
                                </p:cTn>
                              </p:par>
                            </p:childTnLst>
                          </p:cTn>
                        </p:par>
                      </p:childTnLst>
                    </p:cTn>
                  </p:par>
                  <p:par>
                    <p:cTn id="110" fill="hold">
                      <p:stCondLst>
                        <p:cond delay="indefinite"/>
                      </p:stCondLst>
                      <p:childTnLst>
                        <p:par>
                          <p:cTn id="111" fill="hold">
                            <p:stCondLst>
                              <p:cond delay="0"/>
                            </p:stCondLst>
                            <p:childTnLst>
                              <p:par>
                                <p:cTn id="112" presetID="18" presetClass="entr" presetSubtype="6" fill="hold" nodeType="clickEffect">
                                  <p:stCondLst>
                                    <p:cond delay="0"/>
                                  </p:stCondLst>
                                  <p:childTnLst>
                                    <p:set>
                                      <p:cBhvr>
                                        <p:cTn id="113" dur="1" fill="hold">
                                          <p:stCondLst>
                                            <p:cond delay="0"/>
                                          </p:stCondLst>
                                        </p:cTn>
                                        <p:tgtEl>
                                          <p:spTgt spid="57"/>
                                        </p:tgtEl>
                                        <p:attrNameLst>
                                          <p:attrName>style.visibility</p:attrName>
                                        </p:attrNameLst>
                                      </p:cBhvr>
                                      <p:to>
                                        <p:strVal val="visible"/>
                                      </p:to>
                                    </p:set>
                                    <p:animEffect transition="in" filter="strips(downRight)">
                                      <p:cBhvr>
                                        <p:cTn id="114" dur="500"/>
                                        <p:tgtEl>
                                          <p:spTgt spid="57"/>
                                        </p:tgtEl>
                                      </p:cBhvr>
                                    </p:animEffect>
                                  </p:childTnLst>
                                </p:cTn>
                              </p:par>
                            </p:childTnLst>
                          </p:cTn>
                        </p:par>
                        <p:par>
                          <p:cTn id="115" fill="hold">
                            <p:stCondLst>
                              <p:cond delay="500"/>
                            </p:stCondLst>
                            <p:childTnLst>
                              <p:par>
                                <p:cTn id="116" presetID="18" presetClass="entr" presetSubtype="6" fill="hold" grpId="0" nodeType="afterEffect">
                                  <p:stCondLst>
                                    <p:cond delay="0"/>
                                  </p:stCondLst>
                                  <p:childTnLst>
                                    <p:set>
                                      <p:cBhvr>
                                        <p:cTn id="117" dur="1" fill="hold">
                                          <p:stCondLst>
                                            <p:cond delay="0"/>
                                          </p:stCondLst>
                                        </p:cTn>
                                        <p:tgtEl>
                                          <p:spTgt spid="53"/>
                                        </p:tgtEl>
                                        <p:attrNameLst>
                                          <p:attrName>style.visibility</p:attrName>
                                        </p:attrNameLst>
                                      </p:cBhvr>
                                      <p:to>
                                        <p:strVal val="visible"/>
                                      </p:to>
                                    </p:set>
                                    <p:animEffect transition="in" filter="strips(downRight)">
                                      <p:cBhvr>
                                        <p:cTn id="118" dur="500"/>
                                        <p:tgtEl>
                                          <p:spTgt spid="53"/>
                                        </p:tgtEl>
                                      </p:cBhvr>
                                    </p:animEffect>
                                  </p:childTnLst>
                                </p:cTn>
                              </p:par>
                            </p:childTnLst>
                          </p:cTn>
                        </p:par>
                      </p:childTnLst>
                    </p:cTn>
                  </p:par>
                  <p:par>
                    <p:cTn id="119" fill="hold">
                      <p:stCondLst>
                        <p:cond delay="indefinite"/>
                      </p:stCondLst>
                      <p:childTnLst>
                        <p:par>
                          <p:cTn id="120" fill="hold">
                            <p:stCondLst>
                              <p:cond delay="0"/>
                            </p:stCondLst>
                            <p:childTnLst>
                              <p:par>
                                <p:cTn id="121" presetID="18" presetClass="entr" presetSubtype="6" fill="hold" nodeType="clickEffect">
                                  <p:stCondLst>
                                    <p:cond delay="0"/>
                                  </p:stCondLst>
                                  <p:childTnLst>
                                    <p:set>
                                      <p:cBhvr>
                                        <p:cTn id="122" dur="1" fill="hold">
                                          <p:stCondLst>
                                            <p:cond delay="0"/>
                                          </p:stCondLst>
                                        </p:cTn>
                                        <p:tgtEl>
                                          <p:spTgt spid="58"/>
                                        </p:tgtEl>
                                        <p:attrNameLst>
                                          <p:attrName>style.visibility</p:attrName>
                                        </p:attrNameLst>
                                      </p:cBhvr>
                                      <p:to>
                                        <p:strVal val="visible"/>
                                      </p:to>
                                    </p:set>
                                    <p:animEffect transition="in" filter="strips(downRight)">
                                      <p:cBhvr>
                                        <p:cTn id="123" dur="500"/>
                                        <p:tgtEl>
                                          <p:spTgt spid="58"/>
                                        </p:tgtEl>
                                      </p:cBhvr>
                                    </p:animEffect>
                                  </p:childTnLst>
                                </p:cTn>
                              </p:par>
                            </p:childTnLst>
                          </p:cTn>
                        </p:par>
                        <p:par>
                          <p:cTn id="124" fill="hold">
                            <p:stCondLst>
                              <p:cond delay="500"/>
                            </p:stCondLst>
                            <p:childTnLst>
                              <p:par>
                                <p:cTn id="125" presetID="18" presetClass="entr" presetSubtype="6" fill="hold" grpId="0" nodeType="afterEffect">
                                  <p:stCondLst>
                                    <p:cond delay="0"/>
                                  </p:stCondLst>
                                  <p:childTnLst>
                                    <p:set>
                                      <p:cBhvr>
                                        <p:cTn id="126" dur="1" fill="hold">
                                          <p:stCondLst>
                                            <p:cond delay="0"/>
                                          </p:stCondLst>
                                        </p:cTn>
                                        <p:tgtEl>
                                          <p:spTgt spid="54"/>
                                        </p:tgtEl>
                                        <p:attrNameLst>
                                          <p:attrName>style.visibility</p:attrName>
                                        </p:attrNameLst>
                                      </p:cBhvr>
                                      <p:to>
                                        <p:strVal val="visible"/>
                                      </p:to>
                                    </p:set>
                                    <p:animEffect transition="in" filter="strips(downRight)">
                                      <p:cBhvr>
                                        <p:cTn id="127" dur="500"/>
                                        <p:tgtEl>
                                          <p:spTgt spid="54"/>
                                        </p:tgtEl>
                                      </p:cBhvr>
                                    </p:animEffect>
                                  </p:childTnLst>
                                </p:cTn>
                              </p:par>
                            </p:childTnLst>
                          </p:cTn>
                        </p:par>
                      </p:childTnLst>
                    </p:cTn>
                  </p:par>
                  <p:par>
                    <p:cTn id="128" fill="hold">
                      <p:stCondLst>
                        <p:cond delay="indefinite"/>
                      </p:stCondLst>
                      <p:childTnLst>
                        <p:par>
                          <p:cTn id="129" fill="hold">
                            <p:stCondLst>
                              <p:cond delay="0"/>
                            </p:stCondLst>
                            <p:childTnLst>
                              <p:par>
                                <p:cTn id="130" presetID="18" presetClass="entr" presetSubtype="6" fill="hold" nodeType="clickEffect">
                                  <p:stCondLst>
                                    <p:cond delay="0"/>
                                  </p:stCondLst>
                                  <p:childTnLst>
                                    <p:set>
                                      <p:cBhvr>
                                        <p:cTn id="131" dur="1" fill="hold">
                                          <p:stCondLst>
                                            <p:cond delay="0"/>
                                          </p:stCondLst>
                                        </p:cTn>
                                        <p:tgtEl>
                                          <p:spTgt spid="59"/>
                                        </p:tgtEl>
                                        <p:attrNameLst>
                                          <p:attrName>style.visibility</p:attrName>
                                        </p:attrNameLst>
                                      </p:cBhvr>
                                      <p:to>
                                        <p:strVal val="visible"/>
                                      </p:to>
                                    </p:set>
                                    <p:animEffect transition="in" filter="strips(downRight)">
                                      <p:cBhvr>
                                        <p:cTn id="132" dur="500"/>
                                        <p:tgtEl>
                                          <p:spTgt spid="59"/>
                                        </p:tgtEl>
                                      </p:cBhvr>
                                    </p:animEffect>
                                  </p:childTnLst>
                                </p:cTn>
                              </p:par>
                            </p:childTnLst>
                          </p:cTn>
                        </p:par>
                        <p:par>
                          <p:cTn id="133" fill="hold">
                            <p:stCondLst>
                              <p:cond delay="500"/>
                            </p:stCondLst>
                            <p:childTnLst>
                              <p:par>
                                <p:cTn id="134" presetID="18" presetClass="entr" presetSubtype="6" fill="hold" grpId="0" nodeType="afterEffect">
                                  <p:stCondLst>
                                    <p:cond delay="0"/>
                                  </p:stCondLst>
                                  <p:childTnLst>
                                    <p:set>
                                      <p:cBhvr>
                                        <p:cTn id="135" dur="1" fill="hold">
                                          <p:stCondLst>
                                            <p:cond delay="0"/>
                                          </p:stCondLst>
                                        </p:cTn>
                                        <p:tgtEl>
                                          <p:spTgt spid="55"/>
                                        </p:tgtEl>
                                        <p:attrNameLst>
                                          <p:attrName>style.visibility</p:attrName>
                                        </p:attrNameLst>
                                      </p:cBhvr>
                                      <p:to>
                                        <p:strVal val="visible"/>
                                      </p:to>
                                    </p:set>
                                    <p:animEffect transition="in" filter="strips(downRight)">
                                      <p:cBhvr>
                                        <p:cTn id="136" dur="500"/>
                                        <p:tgtEl>
                                          <p:spTgt spid="55"/>
                                        </p:tgtEl>
                                      </p:cBhvr>
                                    </p:animEffect>
                                  </p:childTnLst>
                                </p:cTn>
                              </p:par>
                            </p:childTnLst>
                          </p:cTn>
                        </p:par>
                      </p:childTnLst>
                    </p:cTn>
                  </p:par>
                  <p:par>
                    <p:cTn id="137" fill="hold">
                      <p:stCondLst>
                        <p:cond delay="indefinite"/>
                      </p:stCondLst>
                      <p:childTnLst>
                        <p:par>
                          <p:cTn id="138" fill="hold">
                            <p:stCondLst>
                              <p:cond delay="0"/>
                            </p:stCondLst>
                            <p:childTnLst>
                              <p:par>
                                <p:cTn id="139" presetID="18" presetClass="entr" presetSubtype="6" fill="hold" nodeType="clickEffect">
                                  <p:stCondLst>
                                    <p:cond delay="0"/>
                                  </p:stCondLst>
                                  <p:childTnLst>
                                    <p:set>
                                      <p:cBhvr>
                                        <p:cTn id="140" dur="1" fill="hold">
                                          <p:stCondLst>
                                            <p:cond delay="0"/>
                                          </p:stCondLst>
                                        </p:cTn>
                                        <p:tgtEl>
                                          <p:spTgt spid="60"/>
                                        </p:tgtEl>
                                        <p:attrNameLst>
                                          <p:attrName>style.visibility</p:attrName>
                                        </p:attrNameLst>
                                      </p:cBhvr>
                                      <p:to>
                                        <p:strVal val="visible"/>
                                      </p:to>
                                    </p:set>
                                    <p:animEffect transition="in" filter="strips(downRight)">
                                      <p:cBhvr>
                                        <p:cTn id="141" dur="500"/>
                                        <p:tgtEl>
                                          <p:spTgt spid="60"/>
                                        </p:tgtEl>
                                      </p:cBhvr>
                                    </p:animEffect>
                                  </p:childTnLst>
                                </p:cTn>
                              </p:par>
                            </p:childTnLst>
                          </p:cTn>
                        </p:par>
                        <p:par>
                          <p:cTn id="142" fill="hold">
                            <p:stCondLst>
                              <p:cond delay="500"/>
                            </p:stCondLst>
                            <p:childTnLst>
                              <p:par>
                                <p:cTn id="143" presetID="18" presetClass="entr" presetSubtype="6" fill="hold" grpId="0" nodeType="afterEffect">
                                  <p:stCondLst>
                                    <p:cond delay="0"/>
                                  </p:stCondLst>
                                  <p:childTnLst>
                                    <p:set>
                                      <p:cBhvr>
                                        <p:cTn id="144" dur="1" fill="hold">
                                          <p:stCondLst>
                                            <p:cond delay="0"/>
                                          </p:stCondLst>
                                        </p:cTn>
                                        <p:tgtEl>
                                          <p:spTgt spid="56"/>
                                        </p:tgtEl>
                                        <p:attrNameLst>
                                          <p:attrName>style.visibility</p:attrName>
                                        </p:attrNameLst>
                                      </p:cBhvr>
                                      <p:to>
                                        <p:strVal val="visible"/>
                                      </p:to>
                                    </p:set>
                                    <p:animEffect transition="in" filter="strips(downRight)">
                                      <p:cBhvr>
                                        <p:cTn id="145"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p:bldP spid="8" grpId="0" animBg="1"/>
      <p:bldP spid="9" grpId="0"/>
      <p:bldP spid="12" grpId="0"/>
      <p:bldP spid="13" grpId="0"/>
      <p:bldP spid="14" grpId="0"/>
      <p:bldP spid="15" grpId="0"/>
      <p:bldP spid="16" grpId="0"/>
      <p:bldP spid="17" grpId="0"/>
      <p:bldP spid="18" grpId="0"/>
      <p:bldP spid="19" grpId="0"/>
      <p:bldP spid="20" grpId="0"/>
      <p:bldP spid="47" grpId="0"/>
      <p:bldP spid="48" grpId="0" animBg="1"/>
      <p:bldP spid="49" grpId="0"/>
      <p:bldP spid="50" grpId="0"/>
      <p:bldP spid="51" grpId="0"/>
      <p:bldP spid="52" grpId="0"/>
      <p:bldP spid="53" grpId="0"/>
      <p:bldP spid="54" grpId="0"/>
      <p:bldP spid="55" grpId="0"/>
      <p:bldP spid="5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内容占位符 2"/>
          <p:cNvSpPr>
            <a:spLocks noGrp="1"/>
          </p:cNvSpPr>
          <p:nvPr>
            <p:ph idx="1"/>
          </p:nvPr>
        </p:nvSpPr>
        <p:spPr>
          <a:xfrm>
            <a:off x="214313" y="1071563"/>
            <a:ext cx="8786812" cy="2857500"/>
          </a:xfrm>
        </p:spPr>
        <p:txBody>
          <a:bodyPr/>
          <a:lstStyle/>
          <a:p>
            <a:pPr>
              <a:buFont typeface="Wingdings" panose="05000000000000000000" pitchFamily="2" charset="2"/>
              <a:buNone/>
              <a:defRPr/>
            </a:pPr>
            <a:r>
              <a:rPr lang="en-US" altLang="zh-CN" sz="2000" b="1" dirty="0">
                <a:solidFill>
                  <a:schemeClr val="accent6"/>
                </a:solidFill>
              </a:rPr>
              <a:t>5. </a:t>
            </a:r>
            <a:r>
              <a:rPr lang="zh-CN" altLang="zh-CN" sz="2000" b="1" dirty="0">
                <a:solidFill>
                  <a:schemeClr val="accent6"/>
                </a:solidFill>
              </a:rPr>
              <a:t>蠕虫的防治与检测</a:t>
            </a:r>
          </a:p>
          <a:p>
            <a:pPr indent="-144145">
              <a:buFont typeface="Wingdings" panose="05000000000000000000" pitchFamily="2" charset="2"/>
              <a:buNone/>
              <a:defRPr/>
            </a:pPr>
            <a:r>
              <a:rPr lang="zh-CN" altLang="en-US" sz="1800" b="1" dirty="0">
                <a:solidFill>
                  <a:srgbClr val="FF0000"/>
                </a:solidFill>
              </a:rPr>
              <a:t>（</a:t>
            </a:r>
            <a:r>
              <a:rPr lang="en-US" altLang="zh-CN" sz="1800" b="1" dirty="0">
                <a:solidFill>
                  <a:srgbClr val="FF0000"/>
                </a:solidFill>
              </a:rPr>
              <a:t>1</a:t>
            </a:r>
            <a:r>
              <a:rPr lang="zh-CN" altLang="en-US" sz="1800" b="1" dirty="0">
                <a:solidFill>
                  <a:srgbClr val="FF0000"/>
                </a:solidFill>
              </a:rPr>
              <a:t>）</a:t>
            </a:r>
            <a:r>
              <a:rPr lang="zh-CN" altLang="zh-CN" sz="1800" b="1" dirty="0">
                <a:solidFill>
                  <a:srgbClr val="FF0000"/>
                </a:solidFill>
              </a:rPr>
              <a:t>蠕虫防治的方案</a:t>
            </a:r>
          </a:p>
          <a:p>
            <a:pPr indent="-36195">
              <a:defRPr/>
            </a:pPr>
            <a:r>
              <a:rPr lang="zh-CN" altLang="zh-CN" b="1" dirty="0"/>
              <a:t>蠕虫防治方案可以从两个方面来考虑：</a:t>
            </a:r>
            <a:endParaRPr lang="en-US" altLang="zh-CN" b="1" dirty="0"/>
          </a:p>
          <a:p>
            <a:pPr indent="-36195">
              <a:defRPr/>
            </a:pPr>
            <a:r>
              <a:rPr lang="zh-CN" altLang="zh-CN" b="1" dirty="0">
                <a:solidFill>
                  <a:srgbClr val="FF0000"/>
                </a:solidFill>
              </a:rPr>
              <a:t>第一</a:t>
            </a:r>
            <a:r>
              <a:rPr lang="zh-CN" altLang="zh-CN" b="1" dirty="0"/>
              <a:t>，</a:t>
            </a:r>
            <a:r>
              <a:rPr lang="zh-CN" altLang="zh-CN" b="1" dirty="0">
                <a:solidFill>
                  <a:srgbClr val="0033CC"/>
                </a:solidFill>
              </a:rPr>
              <a:t>从它的实体结构来考虑</a:t>
            </a:r>
            <a:r>
              <a:rPr lang="en-US" altLang="zh-CN" b="1" dirty="0"/>
              <a:t> </a:t>
            </a:r>
            <a:r>
              <a:rPr lang="en-US" altLang="zh-CN" b="1" dirty="0">
                <a:solidFill>
                  <a:srgbClr val="FF0000"/>
                </a:solidFill>
                <a:sym typeface="Wingdings" panose="05000000000000000000" pitchFamily="2" charset="2"/>
              </a:rPr>
              <a:t></a:t>
            </a:r>
            <a:r>
              <a:rPr lang="en-US" altLang="zh-CN" b="1" dirty="0">
                <a:sym typeface="Wingdings" panose="05000000000000000000" pitchFamily="2" charset="2"/>
              </a:rPr>
              <a:t> </a:t>
            </a:r>
            <a:r>
              <a:rPr lang="zh-CN" altLang="zh-CN" b="1" dirty="0"/>
              <a:t>如果</a:t>
            </a:r>
            <a:r>
              <a:rPr lang="zh-CN" altLang="zh-CN" b="1" dirty="0">
                <a:solidFill>
                  <a:srgbClr val="FF0000"/>
                </a:solidFill>
              </a:rPr>
              <a:t>破坏</a:t>
            </a:r>
            <a:r>
              <a:rPr lang="zh-CN" altLang="zh-CN" b="1" dirty="0"/>
              <a:t>了它的</a:t>
            </a:r>
            <a:r>
              <a:rPr lang="zh-CN" altLang="zh-CN" b="1" dirty="0">
                <a:solidFill>
                  <a:srgbClr val="0033CC"/>
                </a:solidFill>
              </a:rPr>
              <a:t>实体组成的一个部分</a:t>
            </a:r>
            <a:r>
              <a:rPr lang="zh-CN" altLang="zh-CN" b="1" dirty="0"/>
              <a:t>，则破坏了其完整性，使其不能正常工作，从而达到阻止其传播的目的；</a:t>
            </a:r>
            <a:endParaRPr lang="en-US" altLang="zh-CN" b="1" dirty="0"/>
          </a:p>
          <a:p>
            <a:pPr indent="-36195">
              <a:defRPr/>
            </a:pPr>
            <a:r>
              <a:rPr lang="zh-CN" altLang="zh-CN" b="1" dirty="0">
                <a:solidFill>
                  <a:srgbClr val="FF0000"/>
                </a:solidFill>
              </a:rPr>
              <a:t>第二</a:t>
            </a:r>
            <a:r>
              <a:rPr lang="zh-CN" altLang="zh-CN" b="1" dirty="0"/>
              <a:t>，</a:t>
            </a:r>
            <a:r>
              <a:rPr lang="zh-CN" altLang="zh-CN" b="1" dirty="0">
                <a:solidFill>
                  <a:srgbClr val="0033CC"/>
                </a:solidFill>
              </a:rPr>
              <a:t>从它的功能组成来考虑</a:t>
            </a:r>
            <a:r>
              <a:rPr lang="en-US" altLang="zh-CN" b="1" dirty="0"/>
              <a:t>  </a:t>
            </a:r>
            <a:r>
              <a:rPr lang="en-US" altLang="zh-CN" b="1" dirty="0">
                <a:solidFill>
                  <a:srgbClr val="FF0000"/>
                </a:solidFill>
                <a:sym typeface="Wingdings" panose="05000000000000000000" pitchFamily="2" charset="2"/>
              </a:rPr>
              <a:t></a:t>
            </a:r>
            <a:r>
              <a:rPr lang="en-US" altLang="zh-CN" b="1" dirty="0">
                <a:sym typeface="Wingdings" panose="05000000000000000000" pitchFamily="2" charset="2"/>
              </a:rPr>
              <a:t> </a:t>
            </a:r>
            <a:r>
              <a:rPr lang="zh-CN" altLang="zh-CN" b="1" dirty="0">
                <a:solidFill>
                  <a:srgbClr val="FF0000"/>
                </a:solidFill>
              </a:rPr>
              <a:t>使其</a:t>
            </a:r>
            <a:r>
              <a:rPr lang="zh-CN" altLang="zh-CN" b="1" dirty="0">
                <a:solidFill>
                  <a:srgbClr val="0033CC"/>
                </a:solidFill>
              </a:rPr>
              <a:t>某个功能组成部分</a:t>
            </a:r>
            <a:r>
              <a:rPr lang="zh-CN" altLang="zh-CN" b="1" dirty="0">
                <a:solidFill>
                  <a:srgbClr val="FF0000"/>
                </a:solidFill>
              </a:rPr>
              <a:t>不能正常工作</a:t>
            </a:r>
            <a:r>
              <a:rPr lang="zh-CN" altLang="zh-CN" b="1" dirty="0"/>
              <a:t>，也同样能达到阻止其传播的目的。具体可以分为如下一些措施。</a:t>
            </a:r>
          </a:p>
        </p:txBody>
      </p:sp>
      <p:sp>
        <p:nvSpPr>
          <p:cNvPr id="8"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9"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9.4.3 </a:t>
            </a:r>
            <a:r>
              <a:rPr altLang="en-US" sz="2000" dirty="0"/>
              <a:t>蠕虫的机理与防治</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fade">
                                      <p:cBhvr>
                                        <p:cTn id="7" dur="500"/>
                                        <p:tgtEl>
                                          <p:spTgt spid="60419">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0419">
                                            <p:txEl>
                                              <p:pRg st="1" end="1"/>
                                            </p:txEl>
                                          </p:spTgt>
                                        </p:tgtEl>
                                        <p:attrNameLst>
                                          <p:attrName>style.visibility</p:attrName>
                                        </p:attrNameLst>
                                      </p:cBhvr>
                                      <p:to>
                                        <p:strVal val="visible"/>
                                      </p:to>
                                    </p:set>
                                    <p:animEffect transition="in" filter="fade">
                                      <p:cBhvr>
                                        <p:cTn id="11" dur="500"/>
                                        <p:tgtEl>
                                          <p:spTgt spid="6041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0419">
                                            <p:txEl>
                                              <p:pRg st="2" end="2"/>
                                            </p:txEl>
                                          </p:spTgt>
                                        </p:tgtEl>
                                        <p:attrNameLst>
                                          <p:attrName>style.visibility</p:attrName>
                                        </p:attrNameLst>
                                      </p:cBhvr>
                                      <p:to>
                                        <p:strVal val="visible"/>
                                      </p:to>
                                    </p:set>
                                    <p:animEffect transition="in" filter="fade">
                                      <p:cBhvr>
                                        <p:cTn id="16" dur="500"/>
                                        <p:tgtEl>
                                          <p:spTgt spid="6041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0419">
                                            <p:txEl>
                                              <p:pRg st="3" end="3"/>
                                            </p:txEl>
                                          </p:spTgt>
                                        </p:tgtEl>
                                        <p:attrNameLst>
                                          <p:attrName>style.visibility</p:attrName>
                                        </p:attrNameLst>
                                      </p:cBhvr>
                                      <p:to>
                                        <p:strVal val="visible"/>
                                      </p:to>
                                    </p:set>
                                    <p:animEffect transition="in" filter="fade">
                                      <p:cBhvr>
                                        <p:cTn id="21" dur="500"/>
                                        <p:tgtEl>
                                          <p:spTgt spid="6041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0419">
                                            <p:txEl>
                                              <p:pRg st="4" end="4"/>
                                            </p:txEl>
                                          </p:spTgt>
                                        </p:tgtEl>
                                        <p:attrNameLst>
                                          <p:attrName>style.visibility</p:attrName>
                                        </p:attrNameLst>
                                      </p:cBhvr>
                                      <p:to>
                                        <p:strVal val="visible"/>
                                      </p:to>
                                    </p:set>
                                    <p:animEffect transition="in" filter="fade">
                                      <p:cBhvr>
                                        <p:cTn id="26" dur="500"/>
                                        <p:tgtEl>
                                          <p:spTgt spid="604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左大括号 4"/>
          <p:cNvSpPr/>
          <p:nvPr/>
        </p:nvSpPr>
        <p:spPr bwMode="auto">
          <a:xfrm>
            <a:off x="857250" y="1492250"/>
            <a:ext cx="357188" cy="2857500"/>
          </a:xfrm>
          <a:prstGeom prst="leftBrace">
            <a:avLst>
              <a:gd name="adj1" fmla="val 64667"/>
              <a:gd name="adj2" fmla="val 50000"/>
            </a:avLst>
          </a:prstGeom>
          <a:noFill/>
          <a:ln w="28575" algn="ctr">
            <a:solidFill>
              <a:srgbClr val="C00000"/>
            </a:solidFill>
            <a:round/>
          </a:ln>
        </p:spPr>
        <p:txBody>
          <a:bodyPr wrap="none" anchor="ctr"/>
          <a:lstStyle/>
          <a:p>
            <a:pPr>
              <a:defRPr/>
            </a:pPr>
            <a:endParaRPr lang="zh-CN" altLang="en-US" b="1" u="sng">
              <a:effectLst>
                <a:outerShdw blurRad="38100" dist="38100" dir="2700000" algn="tl">
                  <a:srgbClr val="000000">
                    <a:alpha val="43137"/>
                  </a:srgbClr>
                </a:outerShdw>
              </a:effectLst>
              <a:latin typeface="Arial" panose="020B0604020202020204" pitchFamily="34" charset="0"/>
            </a:endParaRPr>
          </a:p>
        </p:txBody>
      </p:sp>
      <p:sp>
        <p:nvSpPr>
          <p:cNvPr id="9" name="TextBox 6"/>
          <p:cNvSpPr txBox="1">
            <a:spLocks noChangeArrowheads="1"/>
          </p:cNvSpPr>
          <p:nvPr/>
        </p:nvSpPr>
        <p:spPr bwMode="auto">
          <a:xfrm>
            <a:off x="1143000" y="1420813"/>
            <a:ext cx="928688" cy="58420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a:defRPr/>
            </a:pPr>
            <a:r>
              <a:rPr lang="zh-CN" altLang="zh-CN" sz="1600" b="1" u="sng" dirty="0">
                <a:solidFill>
                  <a:srgbClr val="0033CC"/>
                </a:solidFill>
                <a:effectLst>
                  <a:outerShdw blurRad="38100" dist="38100" dir="2700000" algn="tl">
                    <a:srgbClr val="000000">
                      <a:alpha val="43137"/>
                    </a:srgbClr>
                  </a:outerShdw>
                </a:effectLst>
                <a:latin typeface="+mj-ea"/>
                <a:ea typeface="+mj-ea"/>
              </a:rPr>
              <a:t>修补系统漏洞</a:t>
            </a:r>
            <a:endParaRPr lang="zh-CN" altLang="zh-CN" sz="1500" b="1" u="sng" dirty="0">
              <a:solidFill>
                <a:srgbClr val="0033CC"/>
              </a:solidFill>
              <a:effectLst>
                <a:outerShdw blurRad="38100" dist="38100" dir="2700000" algn="tl">
                  <a:srgbClr val="000000">
                    <a:alpha val="43137"/>
                  </a:srgbClr>
                </a:outerShdw>
              </a:effectLst>
              <a:latin typeface="+mj-ea"/>
              <a:ea typeface="+mj-ea"/>
            </a:endParaRPr>
          </a:p>
        </p:txBody>
      </p:sp>
      <p:sp>
        <p:nvSpPr>
          <p:cNvPr id="10" name="TextBox 6"/>
          <p:cNvSpPr txBox="1">
            <a:spLocks noChangeArrowheads="1"/>
          </p:cNvSpPr>
          <p:nvPr/>
        </p:nvSpPr>
        <p:spPr bwMode="auto">
          <a:xfrm>
            <a:off x="2571750" y="1420813"/>
            <a:ext cx="5715000" cy="523875"/>
          </a:xfrm>
          <a:prstGeom prst="rect">
            <a:avLst/>
          </a:prstGeom>
          <a:noFill/>
          <a:ln w="12700">
            <a:solidFill>
              <a:srgbClr val="0033CC"/>
            </a:solidFill>
            <a:miter lim="800000"/>
          </a:ln>
        </p:spPr>
        <p:txBody>
          <a:bodyPr>
            <a:spAutoFit/>
          </a:bodyPr>
          <a:lstStyle/>
          <a:p>
            <a:pPr>
              <a:defRPr/>
            </a:pPr>
            <a:r>
              <a:rPr lang="zh-CN" altLang="zh-CN" sz="1400" b="1" dirty="0">
                <a:latin typeface="Arial" panose="020B0604020202020204" pitchFamily="34" charset="0"/>
              </a:rPr>
              <a:t>主要是由系统服务提供商负责，及时提供系统漏洞补丁程序，用户及时安装补丁。</a:t>
            </a:r>
            <a:endParaRPr lang="zh-CN" altLang="zh-CN" sz="1400" b="1" dirty="0">
              <a:solidFill>
                <a:schemeClr val="bg2">
                  <a:lumMod val="25000"/>
                </a:schemeClr>
              </a:solidFill>
              <a:latin typeface="Arial" panose="020B0604020202020204" pitchFamily="34" charset="0"/>
            </a:endParaRPr>
          </a:p>
        </p:txBody>
      </p:sp>
      <p:sp>
        <p:nvSpPr>
          <p:cNvPr id="12" name="TextBox 6"/>
          <p:cNvSpPr txBox="1">
            <a:spLocks noChangeArrowheads="1"/>
          </p:cNvSpPr>
          <p:nvPr/>
        </p:nvSpPr>
        <p:spPr bwMode="auto">
          <a:xfrm>
            <a:off x="1143000" y="2135188"/>
            <a:ext cx="928688" cy="584200"/>
          </a:xfrm>
          <a:prstGeom prst="rect">
            <a:avLst/>
          </a:prstGeom>
          <a:noFill/>
          <a:ln w="9525">
            <a:noFill/>
            <a:miter lim="800000"/>
          </a:ln>
        </p:spPr>
        <p:txBody>
          <a:bodyPr>
            <a:spAutoFit/>
          </a:bodyPr>
          <a:lstStyle/>
          <a:p>
            <a:pPr>
              <a:defRPr/>
            </a:pPr>
            <a:r>
              <a:rPr lang="zh-CN" altLang="zh-CN" sz="1600" b="1" u="sng" dirty="0">
                <a:solidFill>
                  <a:srgbClr val="0033CC"/>
                </a:solidFill>
                <a:effectLst>
                  <a:outerShdw blurRad="38100" dist="38100" dir="2700000" algn="tl">
                    <a:srgbClr val="000000">
                      <a:alpha val="43137"/>
                    </a:srgbClr>
                  </a:outerShdw>
                </a:effectLst>
                <a:latin typeface="Arial" panose="020B0604020202020204" pitchFamily="34" charset="0"/>
              </a:rPr>
              <a:t>分析蠕虫行为</a:t>
            </a:r>
            <a:endParaRPr lang="zh-CN" altLang="zh-CN" sz="1500" b="1" u="sng" dirty="0">
              <a:solidFill>
                <a:srgbClr val="0033CC"/>
              </a:solidFill>
              <a:effectLst>
                <a:outerShdw blurRad="38100" dist="38100" dir="2700000" algn="tl">
                  <a:srgbClr val="000000">
                    <a:alpha val="43137"/>
                  </a:srgbClr>
                </a:outerShdw>
              </a:effectLst>
              <a:latin typeface="Arial" panose="020B0604020202020204" pitchFamily="34" charset="0"/>
            </a:endParaRPr>
          </a:p>
        </p:txBody>
      </p:sp>
      <p:sp>
        <p:nvSpPr>
          <p:cNvPr id="13" name="TextBox 6"/>
          <p:cNvSpPr txBox="1">
            <a:spLocks noChangeArrowheads="1"/>
          </p:cNvSpPr>
          <p:nvPr/>
        </p:nvSpPr>
        <p:spPr bwMode="auto">
          <a:xfrm>
            <a:off x="1071563" y="2778125"/>
            <a:ext cx="1071562" cy="830263"/>
          </a:xfrm>
          <a:prstGeom prst="rect">
            <a:avLst/>
          </a:prstGeom>
          <a:noFill/>
          <a:ln w="9525">
            <a:noFill/>
            <a:miter lim="800000"/>
          </a:ln>
        </p:spPr>
        <p:txBody>
          <a:bodyPr>
            <a:spAutoFit/>
          </a:bodyPr>
          <a:lstStyle/>
          <a:p>
            <a:pPr>
              <a:defRPr/>
            </a:pPr>
            <a:r>
              <a:rPr lang="zh-CN" altLang="zh-CN" sz="1600" b="1" u="sng" dirty="0">
                <a:solidFill>
                  <a:srgbClr val="0033CC"/>
                </a:solidFill>
                <a:effectLst>
                  <a:outerShdw blurRad="38100" dist="38100" dir="2700000" algn="tl">
                    <a:srgbClr val="000000">
                      <a:alpha val="43137"/>
                    </a:srgbClr>
                  </a:outerShdw>
                </a:effectLst>
                <a:latin typeface="Arial" panose="020B0604020202020204" pitchFamily="34" charset="0"/>
              </a:rPr>
              <a:t>重命名或者删除命令解释器</a:t>
            </a:r>
            <a:endParaRPr lang="zh-CN" altLang="zh-CN" sz="1500" b="1" u="sng" dirty="0">
              <a:solidFill>
                <a:srgbClr val="0033CC"/>
              </a:solidFill>
              <a:effectLst>
                <a:outerShdw blurRad="38100" dist="38100" dir="2700000" algn="tl">
                  <a:srgbClr val="000000">
                    <a:alpha val="43137"/>
                  </a:srgbClr>
                </a:outerShdw>
              </a:effectLst>
              <a:latin typeface="Arial" panose="020B0604020202020204" pitchFamily="34" charset="0"/>
            </a:endParaRPr>
          </a:p>
        </p:txBody>
      </p:sp>
      <p:sp>
        <p:nvSpPr>
          <p:cNvPr id="14" name="TextBox 6"/>
          <p:cNvSpPr txBox="1">
            <a:spLocks noChangeArrowheads="1"/>
          </p:cNvSpPr>
          <p:nvPr/>
        </p:nvSpPr>
        <p:spPr bwMode="auto">
          <a:xfrm>
            <a:off x="1143000" y="3706813"/>
            <a:ext cx="857250" cy="338137"/>
          </a:xfrm>
          <a:prstGeom prst="rect">
            <a:avLst/>
          </a:prstGeom>
          <a:noFill/>
          <a:ln w="9525">
            <a:noFill/>
            <a:miter lim="800000"/>
          </a:ln>
        </p:spPr>
        <p:txBody>
          <a:bodyPr>
            <a:spAutoFit/>
          </a:bodyPr>
          <a:lstStyle/>
          <a:p>
            <a:pPr>
              <a:defRPr/>
            </a:pPr>
            <a:r>
              <a:rPr lang="zh-CN" altLang="zh-CN" sz="1600" b="1" u="sng" dirty="0">
                <a:solidFill>
                  <a:srgbClr val="0033CC"/>
                </a:solidFill>
                <a:effectLst>
                  <a:outerShdw blurRad="38100" dist="38100" dir="2700000" algn="tl">
                    <a:srgbClr val="000000">
                      <a:alpha val="43137"/>
                    </a:srgbClr>
                  </a:outerShdw>
                </a:effectLst>
                <a:latin typeface="Arial" panose="020B0604020202020204" pitchFamily="34" charset="0"/>
              </a:rPr>
              <a:t>防火墙</a:t>
            </a:r>
            <a:endParaRPr lang="zh-CN" altLang="zh-CN" sz="1500" b="1" u="sng" dirty="0">
              <a:solidFill>
                <a:srgbClr val="0033CC"/>
              </a:solidFill>
              <a:effectLst>
                <a:outerShdw blurRad="38100" dist="38100" dir="2700000" algn="tl">
                  <a:srgbClr val="000000">
                    <a:alpha val="43137"/>
                  </a:srgbClr>
                </a:outerShdw>
              </a:effectLst>
              <a:latin typeface="Arial" panose="020B0604020202020204" pitchFamily="34" charset="0"/>
            </a:endParaRPr>
          </a:p>
        </p:txBody>
      </p:sp>
      <p:sp>
        <p:nvSpPr>
          <p:cNvPr id="15" name="TextBox 6"/>
          <p:cNvSpPr txBox="1">
            <a:spLocks noChangeArrowheads="1"/>
          </p:cNvSpPr>
          <p:nvPr/>
        </p:nvSpPr>
        <p:spPr bwMode="auto">
          <a:xfrm>
            <a:off x="1214438" y="4135438"/>
            <a:ext cx="642937" cy="338137"/>
          </a:xfrm>
          <a:prstGeom prst="rect">
            <a:avLst/>
          </a:prstGeom>
          <a:noFill/>
          <a:ln w="9525">
            <a:noFill/>
            <a:miter lim="800000"/>
          </a:ln>
        </p:spPr>
        <p:txBody>
          <a:bodyPr>
            <a:spAutoFit/>
          </a:bodyPr>
          <a:lstStyle/>
          <a:p>
            <a:pPr>
              <a:defRPr/>
            </a:pPr>
            <a:r>
              <a:rPr lang="zh-CN" altLang="zh-CN" sz="1600" b="1" u="sng" dirty="0">
                <a:solidFill>
                  <a:srgbClr val="0033CC"/>
                </a:solidFill>
                <a:effectLst>
                  <a:outerShdw blurRad="38100" dist="38100" dir="2700000" algn="tl">
                    <a:srgbClr val="000000">
                      <a:alpha val="43137"/>
                    </a:srgbClr>
                  </a:outerShdw>
                </a:effectLst>
                <a:latin typeface="Arial" panose="020B0604020202020204" pitchFamily="34" charset="0"/>
              </a:rPr>
              <a:t>公告</a:t>
            </a:r>
            <a:endParaRPr lang="zh-CN" altLang="zh-CN" sz="1500" b="1" u="sng" dirty="0">
              <a:solidFill>
                <a:srgbClr val="0033CC"/>
              </a:solidFill>
              <a:effectLst>
                <a:outerShdw blurRad="38100" dist="38100" dir="2700000" algn="tl">
                  <a:srgbClr val="000000">
                    <a:alpha val="43137"/>
                  </a:srgbClr>
                </a:outerShdw>
              </a:effectLst>
              <a:latin typeface="Arial" panose="020B0604020202020204" pitchFamily="34" charset="0"/>
            </a:endParaRPr>
          </a:p>
        </p:txBody>
      </p:sp>
      <p:sp>
        <p:nvSpPr>
          <p:cNvPr id="16" name="TextBox 6"/>
          <p:cNvSpPr txBox="1">
            <a:spLocks noChangeArrowheads="1"/>
          </p:cNvSpPr>
          <p:nvPr/>
        </p:nvSpPr>
        <p:spPr bwMode="auto">
          <a:xfrm>
            <a:off x="2571750" y="2135188"/>
            <a:ext cx="5715000" cy="523875"/>
          </a:xfrm>
          <a:prstGeom prst="rect">
            <a:avLst/>
          </a:prstGeom>
          <a:noFill/>
          <a:ln w="12700">
            <a:solidFill>
              <a:srgbClr val="0033CC"/>
            </a:solidFill>
            <a:miter lim="800000"/>
          </a:ln>
        </p:spPr>
        <p:txBody>
          <a:bodyPr>
            <a:spAutoFit/>
          </a:bodyPr>
          <a:lstStyle/>
          <a:p>
            <a:pPr>
              <a:defRPr/>
            </a:pPr>
            <a:r>
              <a:rPr lang="zh-CN" altLang="zh-CN" sz="1400" b="1" dirty="0">
                <a:latin typeface="Arial" panose="020B0604020202020204" pitchFamily="34" charset="0"/>
              </a:rPr>
              <a:t>通过分析特定蠕虫的行为，给出有针对性的预防措施。例如，预先建立蠕虫判断目标计算机系统是否已经感染时设立的标记。</a:t>
            </a:r>
            <a:endParaRPr lang="zh-CN" altLang="zh-CN" sz="1400" b="1" dirty="0">
              <a:solidFill>
                <a:schemeClr val="bg2">
                  <a:lumMod val="25000"/>
                </a:schemeClr>
              </a:solidFill>
              <a:latin typeface="Arial" panose="020B0604020202020204" pitchFamily="34" charset="0"/>
            </a:endParaRPr>
          </a:p>
        </p:txBody>
      </p:sp>
      <p:sp>
        <p:nvSpPr>
          <p:cNvPr id="17" name="TextBox 6"/>
          <p:cNvSpPr txBox="1">
            <a:spLocks noChangeArrowheads="1"/>
          </p:cNvSpPr>
          <p:nvPr/>
        </p:nvSpPr>
        <p:spPr bwMode="auto">
          <a:xfrm>
            <a:off x="2571750" y="2921000"/>
            <a:ext cx="5715000" cy="523875"/>
          </a:xfrm>
          <a:prstGeom prst="rect">
            <a:avLst/>
          </a:prstGeom>
          <a:noFill/>
          <a:ln w="12700">
            <a:solidFill>
              <a:srgbClr val="0033CC"/>
            </a:solidFill>
            <a:miter lim="800000"/>
          </a:ln>
        </p:spPr>
        <p:txBody>
          <a:bodyPr>
            <a:spAutoFit/>
          </a:bodyPr>
          <a:lstStyle/>
          <a:p>
            <a:pPr>
              <a:defRPr/>
            </a:pPr>
            <a:r>
              <a:rPr lang="zh-CN" altLang="zh-CN" sz="1400" b="1" dirty="0">
                <a:latin typeface="Arial" panose="020B0604020202020204" pitchFamily="34" charset="0"/>
              </a:rPr>
              <a:t>如</a:t>
            </a:r>
            <a:r>
              <a:rPr lang="en-US" altLang="zh-CN" sz="1400" b="1" dirty="0">
                <a:latin typeface="Arial" panose="020B0604020202020204" pitchFamily="34" charset="0"/>
              </a:rPr>
              <a:t>UNIX</a:t>
            </a:r>
            <a:r>
              <a:rPr lang="zh-CN" altLang="zh-CN" sz="1400" b="1" dirty="0">
                <a:latin typeface="Arial" panose="020B0604020202020204" pitchFamily="34" charset="0"/>
              </a:rPr>
              <a:t>系统下的</a:t>
            </a:r>
            <a:r>
              <a:rPr lang="en-US" altLang="zh-CN" sz="1400" b="1" dirty="0">
                <a:latin typeface="Arial" panose="020B0604020202020204" pitchFamily="34" charset="0"/>
              </a:rPr>
              <a:t>shell</a:t>
            </a:r>
            <a:r>
              <a:rPr lang="zh-CN" altLang="zh-CN" sz="1400" b="1" dirty="0">
                <a:latin typeface="Arial" panose="020B0604020202020204" pitchFamily="34" charset="0"/>
              </a:rPr>
              <a:t>、</a:t>
            </a:r>
            <a:r>
              <a:rPr lang="en-US" altLang="zh-CN" sz="1400" b="1" dirty="0">
                <a:latin typeface="Arial" panose="020B0604020202020204" pitchFamily="34" charset="0"/>
              </a:rPr>
              <a:t>Windows</a:t>
            </a:r>
            <a:r>
              <a:rPr lang="zh-CN" altLang="zh-CN" sz="1400" b="1" dirty="0">
                <a:latin typeface="Arial" panose="020B0604020202020204" pitchFamily="34" charset="0"/>
              </a:rPr>
              <a:t>系统下的</a:t>
            </a:r>
            <a:r>
              <a:rPr lang="en-US" altLang="zh-CN" sz="1400" b="1" dirty="0">
                <a:latin typeface="Arial" panose="020B0604020202020204" pitchFamily="34" charset="0"/>
              </a:rPr>
              <a:t>WScript.exe</a:t>
            </a:r>
            <a:r>
              <a:rPr lang="zh-CN" altLang="zh-CN" sz="1400" b="1" dirty="0">
                <a:latin typeface="Arial" panose="020B0604020202020204" pitchFamily="34" charset="0"/>
              </a:rPr>
              <a:t>。重命名和删除命令解释器，可以避免执行蠕虫实体中的脚本。</a:t>
            </a:r>
            <a:endParaRPr lang="zh-CN" altLang="zh-CN" sz="1400" b="1" dirty="0">
              <a:solidFill>
                <a:schemeClr val="bg2">
                  <a:lumMod val="25000"/>
                </a:schemeClr>
              </a:solidFill>
              <a:latin typeface="Arial" panose="020B0604020202020204" pitchFamily="34" charset="0"/>
            </a:endParaRPr>
          </a:p>
        </p:txBody>
      </p:sp>
      <p:sp>
        <p:nvSpPr>
          <p:cNvPr id="18" name="TextBox 6"/>
          <p:cNvSpPr txBox="1">
            <a:spLocks noChangeArrowheads="1"/>
          </p:cNvSpPr>
          <p:nvPr/>
        </p:nvSpPr>
        <p:spPr bwMode="auto">
          <a:xfrm>
            <a:off x="2571750" y="3706813"/>
            <a:ext cx="5715000" cy="307975"/>
          </a:xfrm>
          <a:prstGeom prst="rect">
            <a:avLst/>
          </a:prstGeom>
          <a:noFill/>
          <a:ln w="12700">
            <a:solidFill>
              <a:srgbClr val="0033CC"/>
            </a:solidFill>
            <a:miter lim="800000"/>
          </a:ln>
        </p:spPr>
        <p:txBody>
          <a:bodyPr>
            <a:spAutoFit/>
          </a:bodyPr>
          <a:lstStyle/>
          <a:p>
            <a:pPr>
              <a:defRPr/>
            </a:pPr>
            <a:r>
              <a:rPr lang="zh-CN" altLang="zh-CN" sz="1400" b="1" dirty="0">
                <a:latin typeface="Arial" panose="020B0604020202020204" pitchFamily="34" charset="0"/>
              </a:rPr>
              <a:t>禁止除服务端口外的其他端口，这将切断蠕虫的传播通道和通信通道。</a:t>
            </a:r>
            <a:endParaRPr lang="zh-CN" altLang="zh-CN" sz="1400" b="1" dirty="0">
              <a:solidFill>
                <a:schemeClr val="bg2">
                  <a:lumMod val="25000"/>
                </a:schemeClr>
              </a:solidFill>
              <a:latin typeface="Arial" panose="020B0604020202020204" pitchFamily="34" charset="0"/>
            </a:endParaRPr>
          </a:p>
        </p:txBody>
      </p:sp>
      <p:sp>
        <p:nvSpPr>
          <p:cNvPr id="19" name="TextBox 6"/>
          <p:cNvSpPr txBox="1">
            <a:spLocks noChangeArrowheads="1"/>
          </p:cNvSpPr>
          <p:nvPr/>
        </p:nvSpPr>
        <p:spPr bwMode="auto">
          <a:xfrm>
            <a:off x="2571750" y="4135438"/>
            <a:ext cx="5715000" cy="523875"/>
          </a:xfrm>
          <a:prstGeom prst="rect">
            <a:avLst/>
          </a:prstGeom>
          <a:noFill/>
          <a:ln w="12700">
            <a:solidFill>
              <a:srgbClr val="0033CC"/>
            </a:solidFill>
            <a:miter lim="800000"/>
          </a:ln>
        </p:spPr>
        <p:txBody>
          <a:bodyPr>
            <a:spAutoFit/>
          </a:bodyPr>
          <a:lstStyle/>
          <a:p>
            <a:pPr>
              <a:defRPr/>
            </a:pPr>
            <a:r>
              <a:rPr lang="zh-CN" altLang="zh-CN" sz="1400" b="1" dirty="0">
                <a:latin typeface="Arial" panose="020B0604020202020204" pitchFamily="34" charset="0"/>
              </a:rPr>
              <a:t>通过邮件列表等公告措施，加快、协调技术人员之间的信息交流和对蠕虫攻击的对抗工作。</a:t>
            </a:r>
            <a:endParaRPr lang="zh-CN" altLang="zh-CN" sz="1400" b="1" dirty="0">
              <a:solidFill>
                <a:schemeClr val="bg2">
                  <a:lumMod val="25000"/>
                </a:schemeClr>
              </a:solidFill>
              <a:latin typeface="Arial" panose="020B0604020202020204" pitchFamily="34" charset="0"/>
            </a:endParaRPr>
          </a:p>
        </p:txBody>
      </p:sp>
      <p:cxnSp>
        <p:nvCxnSpPr>
          <p:cNvPr id="20" name="直接箭头连接符 19"/>
          <p:cNvCxnSpPr>
            <a:cxnSpLocks noChangeShapeType="1"/>
          </p:cNvCxnSpPr>
          <p:nvPr/>
        </p:nvCxnSpPr>
        <p:spPr bwMode="auto">
          <a:xfrm flipV="1">
            <a:off x="1928813" y="1706563"/>
            <a:ext cx="642937" cy="7937"/>
          </a:xfrm>
          <a:prstGeom prst="straightConnector1">
            <a:avLst/>
          </a:prstGeom>
          <a:noFill/>
          <a:ln w="38100" algn="ctr">
            <a:solidFill>
              <a:srgbClr val="00B050"/>
            </a:solidFill>
            <a:round/>
            <a:tailEnd type="arrow" w="med" len="med"/>
          </a:ln>
          <a:extLst>
            <a:ext uri="{909E8E84-426E-40DD-AFC4-6F175D3DCCD1}">
              <a14:hiddenFill xmlns:a14="http://schemas.microsoft.com/office/drawing/2010/main">
                <a:noFill/>
              </a14:hiddenFill>
            </a:ext>
          </a:extLst>
        </p:spPr>
      </p:cxnSp>
      <p:cxnSp>
        <p:nvCxnSpPr>
          <p:cNvPr id="21" name="直接箭头连接符 20"/>
          <p:cNvCxnSpPr>
            <a:cxnSpLocks noChangeShapeType="1"/>
          </p:cNvCxnSpPr>
          <p:nvPr/>
        </p:nvCxnSpPr>
        <p:spPr bwMode="auto">
          <a:xfrm flipV="1">
            <a:off x="1928813" y="2420938"/>
            <a:ext cx="642937" cy="7937"/>
          </a:xfrm>
          <a:prstGeom prst="straightConnector1">
            <a:avLst/>
          </a:prstGeom>
          <a:noFill/>
          <a:ln w="38100" algn="ctr">
            <a:solidFill>
              <a:srgbClr val="00B050"/>
            </a:solidFill>
            <a:round/>
            <a:tailEnd type="arrow" w="med" len="med"/>
          </a:ln>
          <a:extLst>
            <a:ext uri="{909E8E84-426E-40DD-AFC4-6F175D3DCCD1}">
              <a14:hiddenFill xmlns:a14="http://schemas.microsoft.com/office/drawing/2010/main">
                <a:noFill/>
              </a14:hiddenFill>
            </a:ext>
          </a:extLst>
        </p:spPr>
      </p:cxnSp>
      <p:cxnSp>
        <p:nvCxnSpPr>
          <p:cNvPr id="22" name="直接箭头连接符 21"/>
          <p:cNvCxnSpPr>
            <a:cxnSpLocks noChangeShapeType="1"/>
          </p:cNvCxnSpPr>
          <p:nvPr/>
        </p:nvCxnSpPr>
        <p:spPr bwMode="auto">
          <a:xfrm>
            <a:off x="1979613" y="3219450"/>
            <a:ext cx="576262" cy="0"/>
          </a:xfrm>
          <a:prstGeom prst="straightConnector1">
            <a:avLst/>
          </a:prstGeom>
          <a:noFill/>
          <a:ln w="38100" algn="ctr">
            <a:solidFill>
              <a:srgbClr val="00B050"/>
            </a:solidFill>
            <a:round/>
            <a:tailEnd type="arrow" w="med" len="med"/>
          </a:ln>
          <a:extLst>
            <a:ext uri="{909E8E84-426E-40DD-AFC4-6F175D3DCCD1}">
              <a14:hiddenFill xmlns:a14="http://schemas.microsoft.com/office/drawing/2010/main">
                <a:noFill/>
              </a14:hiddenFill>
            </a:ext>
          </a:extLst>
        </p:spPr>
      </p:cxnSp>
      <p:cxnSp>
        <p:nvCxnSpPr>
          <p:cNvPr id="31" name="直接箭头连接符 30"/>
          <p:cNvCxnSpPr>
            <a:cxnSpLocks noChangeShapeType="1"/>
          </p:cNvCxnSpPr>
          <p:nvPr/>
        </p:nvCxnSpPr>
        <p:spPr bwMode="auto">
          <a:xfrm flipV="1">
            <a:off x="1928813" y="3849688"/>
            <a:ext cx="642937" cy="7937"/>
          </a:xfrm>
          <a:prstGeom prst="straightConnector1">
            <a:avLst/>
          </a:prstGeom>
          <a:noFill/>
          <a:ln w="38100" algn="ctr">
            <a:solidFill>
              <a:srgbClr val="00B050"/>
            </a:solidFill>
            <a:round/>
            <a:tailEnd type="arrow" w="med" len="med"/>
          </a:ln>
          <a:extLst>
            <a:ext uri="{909E8E84-426E-40DD-AFC4-6F175D3DCCD1}">
              <a14:hiddenFill xmlns:a14="http://schemas.microsoft.com/office/drawing/2010/main">
                <a:noFill/>
              </a14:hiddenFill>
            </a:ext>
          </a:extLst>
        </p:spPr>
      </p:cxnSp>
      <p:cxnSp>
        <p:nvCxnSpPr>
          <p:cNvPr id="37" name="直接箭头连接符 36"/>
          <p:cNvCxnSpPr>
            <a:cxnSpLocks noChangeShapeType="1"/>
          </p:cNvCxnSpPr>
          <p:nvPr/>
        </p:nvCxnSpPr>
        <p:spPr bwMode="auto">
          <a:xfrm flipV="1">
            <a:off x="1928813" y="4349750"/>
            <a:ext cx="642937" cy="7938"/>
          </a:xfrm>
          <a:prstGeom prst="straightConnector1">
            <a:avLst/>
          </a:prstGeom>
          <a:noFill/>
          <a:ln w="38100" algn="ctr">
            <a:solidFill>
              <a:srgbClr val="00B050"/>
            </a:solidFill>
            <a:round/>
            <a:tailEnd type="arrow" w="med" len="med"/>
          </a:ln>
          <a:extLst>
            <a:ext uri="{909E8E84-426E-40DD-AFC4-6F175D3DCCD1}">
              <a14:hiddenFill xmlns:a14="http://schemas.microsoft.com/office/drawing/2010/main">
                <a:noFill/>
              </a14:hiddenFill>
            </a:ext>
          </a:extLst>
        </p:spPr>
      </p:cxnSp>
      <p:sp>
        <p:nvSpPr>
          <p:cNvPr id="23" name="TextBox 22"/>
          <p:cNvSpPr txBox="1"/>
          <p:nvPr/>
        </p:nvSpPr>
        <p:spPr>
          <a:xfrm>
            <a:off x="0" y="2635250"/>
            <a:ext cx="1000125" cy="584200"/>
          </a:xfrm>
          <a:prstGeom prst="rect">
            <a:avLst/>
          </a:prstGeom>
          <a:noFill/>
        </p:spPr>
        <p:txBody>
          <a:bodyPr>
            <a:spAutoFit/>
          </a:bodyPr>
          <a:lstStyle/>
          <a:p>
            <a:pPr>
              <a:defRPr/>
            </a:pPr>
            <a:r>
              <a:rPr lang="zh-CN" altLang="zh-CN" sz="1600" b="1" dirty="0">
                <a:solidFill>
                  <a:srgbClr val="FF0000"/>
                </a:solidFill>
                <a:latin typeface="+mj-ea"/>
                <a:ea typeface="+mj-ea"/>
              </a:rPr>
              <a:t>蠕虫防治的方案</a:t>
            </a:r>
          </a:p>
        </p:txBody>
      </p:sp>
      <p:grpSp>
        <p:nvGrpSpPr>
          <p:cNvPr id="78867" name="组合 7"/>
          <p:cNvGrpSpPr/>
          <p:nvPr/>
        </p:nvGrpSpPr>
        <p:grpSpPr bwMode="auto">
          <a:xfrm>
            <a:off x="34925" y="195263"/>
            <a:ext cx="4941888" cy="863600"/>
            <a:chOff x="1142976" y="2714626"/>
            <a:chExt cx="6929486" cy="1143008"/>
          </a:xfrm>
        </p:grpSpPr>
        <p:sp>
          <p:nvSpPr>
            <p:cNvPr id="78899" name="矩形 8"/>
            <p:cNvSpPr>
              <a:spLocks noChangeArrowheads="1"/>
            </p:cNvSpPr>
            <p:nvPr/>
          </p:nvSpPr>
          <p:spPr bwMode="auto">
            <a:xfrm>
              <a:off x="1142976" y="3429006"/>
              <a:ext cx="1000132"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solidFill>
                    <a:srgbClr val="0033CC"/>
                  </a:solidFill>
                </a:rPr>
                <a:t>未编译的</a:t>
              </a:r>
              <a:endParaRPr lang="en-US" altLang="zh-CN" b="1">
                <a:solidFill>
                  <a:srgbClr val="0033CC"/>
                </a:solidFill>
              </a:endParaRPr>
            </a:p>
            <a:p>
              <a:pPr algn="ctr" eaLnBrk="1" hangingPunct="1"/>
              <a:r>
                <a:rPr lang="zh-CN" altLang="en-US" b="1">
                  <a:solidFill>
                    <a:srgbClr val="0033CC"/>
                  </a:solidFill>
                </a:rPr>
                <a:t>源代码</a:t>
              </a:r>
            </a:p>
          </p:txBody>
        </p:sp>
        <p:sp>
          <p:nvSpPr>
            <p:cNvPr id="78900" name="矩形 9"/>
            <p:cNvSpPr>
              <a:spLocks noChangeArrowheads="1"/>
            </p:cNvSpPr>
            <p:nvPr/>
          </p:nvSpPr>
          <p:spPr bwMode="auto">
            <a:xfrm>
              <a:off x="2285984" y="3429006"/>
              <a:ext cx="1143008"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solidFill>
                    <a:srgbClr val="0033CC"/>
                  </a:solidFill>
                </a:rPr>
                <a:t>已编译的连接</a:t>
              </a:r>
              <a:endParaRPr lang="en-US" altLang="zh-CN" b="1">
                <a:solidFill>
                  <a:srgbClr val="0033CC"/>
                </a:solidFill>
              </a:endParaRPr>
            </a:p>
            <a:p>
              <a:pPr algn="ctr" eaLnBrk="1" hangingPunct="1"/>
              <a:r>
                <a:rPr lang="zh-CN" altLang="en-US" b="1">
                  <a:solidFill>
                    <a:srgbClr val="0033CC"/>
                  </a:solidFill>
                </a:rPr>
                <a:t>模块</a:t>
              </a:r>
            </a:p>
          </p:txBody>
        </p:sp>
        <p:sp>
          <p:nvSpPr>
            <p:cNvPr id="78901" name="矩形 10"/>
            <p:cNvSpPr>
              <a:spLocks noChangeArrowheads="1"/>
            </p:cNvSpPr>
            <p:nvPr/>
          </p:nvSpPr>
          <p:spPr bwMode="auto">
            <a:xfrm>
              <a:off x="3571868" y="3429006"/>
              <a:ext cx="1000132"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solidFill>
                    <a:srgbClr val="0033CC"/>
                  </a:solidFill>
                </a:rPr>
                <a:t>可运行的</a:t>
              </a:r>
              <a:endParaRPr lang="en-US" altLang="zh-CN" b="1">
                <a:solidFill>
                  <a:srgbClr val="0033CC"/>
                </a:solidFill>
              </a:endParaRPr>
            </a:p>
            <a:p>
              <a:pPr algn="ctr" eaLnBrk="1" hangingPunct="1"/>
              <a:r>
                <a:rPr lang="zh-CN" altLang="en-US" b="1">
                  <a:solidFill>
                    <a:srgbClr val="0033CC"/>
                  </a:solidFill>
                </a:rPr>
                <a:t>代码</a:t>
              </a:r>
            </a:p>
          </p:txBody>
        </p:sp>
        <p:sp>
          <p:nvSpPr>
            <p:cNvPr id="78902" name="矩形 11"/>
            <p:cNvSpPr>
              <a:spLocks noChangeArrowheads="1"/>
            </p:cNvSpPr>
            <p:nvPr/>
          </p:nvSpPr>
          <p:spPr bwMode="auto">
            <a:xfrm>
              <a:off x="4786314" y="3429006"/>
              <a:ext cx="785818"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solidFill>
                    <a:srgbClr val="0033CC"/>
                  </a:solidFill>
                </a:rPr>
                <a:t>脚本</a:t>
              </a:r>
            </a:p>
          </p:txBody>
        </p:sp>
        <p:sp>
          <p:nvSpPr>
            <p:cNvPr id="78903" name="矩形 12"/>
            <p:cNvSpPr>
              <a:spLocks noChangeArrowheads="1"/>
            </p:cNvSpPr>
            <p:nvPr/>
          </p:nvSpPr>
          <p:spPr bwMode="auto">
            <a:xfrm>
              <a:off x="5715008" y="3429006"/>
              <a:ext cx="1285884"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solidFill>
                    <a:srgbClr val="0033CC"/>
                  </a:solidFill>
                </a:rPr>
                <a:t>受感染系统上的</a:t>
              </a:r>
              <a:endParaRPr lang="en-US" altLang="zh-CN" b="1">
                <a:solidFill>
                  <a:srgbClr val="0033CC"/>
                </a:solidFill>
              </a:endParaRPr>
            </a:p>
            <a:p>
              <a:pPr algn="ctr" eaLnBrk="1" hangingPunct="1"/>
              <a:r>
                <a:rPr lang="zh-CN" altLang="en-US" b="1">
                  <a:solidFill>
                    <a:srgbClr val="0033CC"/>
                  </a:solidFill>
                </a:rPr>
                <a:t>可执行程序</a:t>
              </a:r>
            </a:p>
          </p:txBody>
        </p:sp>
        <p:sp>
          <p:nvSpPr>
            <p:cNvPr id="78904" name="矩形 13"/>
            <p:cNvSpPr>
              <a:spLocks noChangeArrowheads="1"/>
            </p:cNvSpPr>
            <p:nvPr/>
          </p:nvSpPr>
          <p:spPr bwMode="auto">
            <a:xfrm>
              <a:off x="7215206" y="3429006"/>
              <a:ext cx="857256" cy="428628"/>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solidFill>
                    <a:srgbClr val="0033CC"/>
                  </a:solidFill>
                </a:rPr>
                <a:t>信息数据</a:t>
              </a:r>
            </a:p>
          </p:txBody>
        </p:sp>
        <p:sp>
          <p:nvSpPr>
            <p:cNvPr id="78905" name="矩形 14"/>
            <p:cNvSpPr>
              <a:spLocks noChangeArrowheads="1"/>
            </p:cNvSpPr>
            <p:nvPr/>
          </p:nvSpPr>
          <p:spPr bwMode="auto">
            <a:xfrm>
              <a:off x="4071934" y="2714626"/>
              <a:ext cx="1285884" cy="285752"/>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b="1">
                  <a:solidFill>
                    <a:srgbClr val="FF0000"/>
                  </a:solidFill>
                </a:rPr>
                <a:t>蠕虫实体结构</a:t>
              </a:r>
            </a:p>
          </p:txBody>
        </p:sp>
        <p:cxnSp>
          <p:nvCxnSpPr>
            <p:cNvPr id="78906" name="直接连接符 15"/>
            <p:cNvCxnSpPr>
              <a:cxnSpLocks noChangeShapeType="1"/>
            </p:cNvCxnSpPr>
            <p:nvPr/>
          </p:nvCxnSpPr>
          <p:spPr bwMode="auto">
            <a:xfrm rot="5400000">
              <a:off x="4608513" y="310674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907" name="直接连接符 16"/>
            <p:cNvCxnSpPr>
              <a:cxnSpLocks noChangeShapeType="1"/>
            </p:cNvCxnSpPr>
            <p:nvPr/>
          </p:nvCxnSpPr>
          <p:spPr bwMode="auto">
            <a:xfrm rot="10800000">
              <a:off x="1643042" y="3214692"/>
              <a:ext cx="6000792"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908" name="直接连接符 17"/>
            <p:cNvCxnSpPr>
              <a:cxnSpLocks noChangeShapeType="1"/>
            </p:cNvCxnSpPr>
            <p:nvPr/>
          </p:nvCxnSpPr>
          <p:spPr bwMode="auto">
            <a:xfrm rot="5400000">
              <a:off x="3965571"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909" name="直接连接符 18"/>
            <p:cNvCxnSpPr>
              <a:cxnSpLocks noChangeShapeType="1"/>
            </p:cNvCxnSpPr>
            <p:nvPr/>
          </p:nvCxnSpPr>
          <p:spPr bwMode="auto">
            <a:xfrm rot="5400000">
              <a:off x="1536679"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910" name="直接连接符 19"/>
            <p:cNvCxnSpPr>
              <a:cxnSpLocks noChangeShapeType="1"/>
            </p:cNvCxnSpPr>
            <p:nvPr/>
          </p:nvCxnSpPr>
          <p:spPr bwMode="auto">
            <a:xfrm rot="5400000">
              <a:off x="7537471"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911" name="直接连接符 20"/>
            <p:cNvCxnSpPr>
              <a:cxnSpLocks noChangeShapeType="1"/>
            </p:cNvCxnSpPr>
            <p:nvPr/>
          </p:nvCxnSpPr>
          <p:spPr bwMode="auto">
            <a:xfrm rot="5400000">
              <a:off x="2751125"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912" name="直接连接符 21"/>
            <p:cNvCxnSpPr>
              <a:cxnSpLocks noChangeShapeType="1"/>
            </p:cNvCxnSpPr>
            <p:nvPr/>
          </p:nvCxnSpPr>
          <p:spPr bwMode="auto">
            <a:xfrm rot="5400000">
              <a:off x="5037141"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913" name="直接连接符 22"/>
            <p:cNvCxnSpPr>
              <a:cxnSpLocks noChangeShapeType="1"/>
            </p:cNvCxnSpPr>
            <p:nvPr/>
          </p:nvCxnSpPr>
          <p:spPr bwMode="auto">
            <a:xfrm rot="5400000">
              <a:off x="6180149" y="332105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grpSp>
      <p:grpSp>
        <p:nvGrpSpPr>
          <p:cNvPr id="78868" name="组合 52"/>
          <p:cNvGrpSpPr/>
          <p:nvPr/>
        </p:nvGrpSpPr>
        <p:grpSpPr bwMode="auto">
          <a:xfrm>
            <a:off x="5435600" y="50800"/>
            <a:ext cx="3457575" cy="1352550"/>
            <a:chOff x="1857356" y="2285998"/>
            <a:chExt cx="5286412" cy="2357454"/>
          </a:xfrm>
        </p:grpSpPr>
        <p:cxnSp>
          <p:nvCxnSpPr>
            <p:cNvPr id="78869" name="直接连接符 46"/>
            <p:cNvCxnSpPr>
              <a:cxnSpLocks noChangeShapeType="1"/>
            </p:cNvCxnSpPr>
            <p:nvPr/>
          </p:nvCxnSpPr>
          <p:spPr bwMode="auto">
            <a:xfrm rot="5400000">
              <a:off x="5965835" y="2892427"/>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grpSp>
          <p:nvGrpSpPr>
            <p:cNvPr id="78870" name="组合 51"/>
            <p:cNvGrpSpPr/>
            <p:nvPr/>
          </p:nvGrpSpPr>
          <p:grpSpPr bwMode="auto">
            <a:xfrm>
              <a:off x="1857356" y="2285998"/>
              <a:ext cx="5286412" cy="2357454"/>
              <a:chOff x="1714480" y="2143122"/>
              <a:chExt cx="5286412" cy="2357454"/>
            </a:xfrm>
          </p:grpSpPr>
          <p:sp>
            <p:nvSpPr>
              <p:cNvPr id="78871" name="矩形 9"/>
              <p:cNvSpPr>
                <a:spLocks noChangeArrowheads="1"/>
              </p:cNvSpPr>
              <p:nvPr/>
            </p:nvSpPr>
            <p:spPr bwMode="auto">
              <a:xfrm>
                <a:off x="1714480"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扫描</a:t>
                </a:r>
                <a:endParaRPr lang="en-US" altLang="zh-CN" sz="800" b="1">
                  <a:solidFill>
                    <a:srgbClr val="0033CC"/>
                  </a:solidFill>
                </a:endParaRPr>
              </a:p>
              <a:p>
                <a:pPr algn="ctr" eaLnBrk="1" hangingPunct="1"/>
                <a:r>
                  <a:rPr lang="zh-CN" altLang="en-US" sz="800" b="1">
                    <a:solidFill>
                      <a:srgbClr val="0033CC"/>
                    </a:solidFill>
                  </a:rPr>
                  <a:t>搜索</a:t>
                </a:r>
                <a:endParaRPr lang="en-US" altLang="zh-CN" sz="800" b="1">
                  <a:solidFill>
                    <a:srgbClr val="0033CC"/>
                  </a:solidFill>
                </a:endParaRPr>
              </a:p>
              <a:p>
                <a:pPr algn="ctr" eaLnBrk="1" hangingPunct="1"/>
                <a:r>
                  <a:rPr lang="zh-CN" altLang="en-US" sz="800" b="1">
                    <a:solidFill>
                      <a:srgbClr val="0033CC"/>
                    </a:solidFill>
                  </a:rPr>
                  <a:t>模块</a:t>
                </a:r>
              </a:p>
            </p:txBody>
          </p:sp>
          <p:sp>
            <p:nvSpPr>
              <p:cNvPr id="78872" name="矩形 15"/>
              <p:cNvSpPr>
                <a:spLocks noChangeArrowheads="1"/>
              </p:cNvSpPr>
              <p:nvPr/>
            </p:nvSpPr>
            <p:spPr bwMode="auto">
              <a:xfrm>
                <a:off x="2428860" y="2857502"/>
                <a:ext cx="1285884" cy="285752"/>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FF0000"/>
                    </a:solidFill>
                  </a:rPr>
                  <a:t>基本功能模块</a:t>
                </a:r>
              </a:p>
            </p:txBody>
          </p:sp>
          <p:cxnSp>
            <p:nvCxnSpPr>
              <p:cNvPr id="78873" name="直接连接符 16"/>
              <p:cNvCxnSpPr>
                <a:cxnSpLocks noChangeShapeType="1"/>
              </p:cNvCxnSpPr>
              <p:nvPr/>
            </p:nvCxnSpPr>
            <p:spPr bwMode="auto">
              <a:xfrm rot="5400000">
                <a:off x="3536943"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874" name="直接连接符 17"/>
              <p:cNvCxnSpPr>
                <a:cxnSpLocks noChangeShapeType="1"/>
              </p:cNvCxnSpPr>
              <p:nvPr/>
            </p:nvCxnSpPr>
            <p:spPr bwMode="auto">
              <a:xfrm rot="10800000">
                <a:off x="3071802" y="2643188"/>
                <a:ext cx="2857520"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875" name="直接连接符 18"/>
              <p:cNvCxnSpPr>
                <a:cxnSpLocks noChangeShapeType="1"/>
              </p:cNvCxnSpPr>
              <p:nvPr/>
            </p:nvCxnSpPr>
            <p:spPr bwMode="auto">
              <a:xfrm rot="5400000">
                <a:off x="2965439"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876" name="直接连接符 19"/>
              <p:cNvCxnSpPr>
                <a:cxnSpLocks noChangeShapeType="1"/>
              </p:cNvCxnSpPr>
              <p:nvPr/>
            </p:nvCxnSpPr>
            <p:spPr bwMode="auto">
              <a:xfrm rot="5400000">
                <a:off x="1821637" y="3464725"/>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877" name="直接连接符 20"/>
              <p:cNvCxnSpPr>
                <a:cxnSpLocks noChangeShapeType="1"/>
              </p:cNvCxnSpPr>
              <p:nvPr/>
            </p:nvCxnSpPr>
            <p:spPr bwMode="auto">
              <a:xfrm rot="5400000">
                <a:off x="4965703"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878" name="直接连接符 21"/>
              <p:cNvCxnSpPr>
                <a:cxnSpLocks noChangeShapeType="1"/>
              </p:cNvCxnSpPr>
              <p:nvPr/>
            </p:nvCxnSpPr>
            <p:spPr bwMode="auto">
              <a:xfrm rot="5400000">
                <a:off x="2393935"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879" name="直接连接符 22"/>
              <p:cNvCxnSpPr>
                <a:cxnSpLocks noChangeShapeType="1"/>
              </p:cNvCxnSpPr>
              <p:nvPr/>
            </p:nvCxnSpPr>
            <p:spPr bwMode="auto">
              <a:xfrm rot="5400000">
                <a:off x="4108447"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880" name="直接连接符 23"/>
              <p:cNvCxnSpPr>
                <a:cxnSpLocks noChangeShapeType="1"/>
              </p:cNvCxnSpPr>
              <p:nvPr/>
            </p:nvCxnSpPr>
            <p:spPr bwMode="auto">
              <a:xfrm rot="5400000">
                <a:off x="2965439" y="3249617"/>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sp>
            <p:nvSpPr>
              <p:cNvPr id="78881" name="矩形 25"/>
              <p:cNvSpPr>
                <a:spLocks noChangeArrowheads="1"/>
              </p:cNvSpPr>
              <p:nvPr/>
            </p:nvSpPr>
            <p:spPr bwMode="auto">
              <a:xfrm>
                <a:off x="2285984"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攻击</a:t>
                </a:r>
                <a:endParaRPr lang="en-US" altLang="zh-CN" sz="800" b="1">
                  <a:solidFill>
                    <a:srgbClr val="0033CC"/>
                  </a:solidFill>
                </a:endParaRPr>
              </a:p>
              <a:p>
                <a:pPr algn="ctr" eaLnBrk="1" hangingPunct="1"/>
                <a:r>
                  <a:rPr lang="zh-CN" altLang="en-US" sz="800" b="1">
                    <a:solidFill>
                      <a:srgbClr val="0033CC"/>
                    </a:solidFill>
                  </a:rPr>
                  <a:t>模块</a:t>
                </a:r>
              </a:p>
            </p:txBody>
          </p:sp>
          <p:sp>
            <p:nvSpPr>
              <p:cNvPr id="78882" name="矩形 26"/>
              <p:cNvSpPr>
                <a:spLocks noChangeArrowheads="1"/>
              </p:cNvSpPr>
              <p:nvPr/>
            </p:nvSpPr>
            <p:spPr bwMode="auto">
              <a:xfrm>
                <a:off x="2857488"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传输</a:t>
                </a:r>
                <a:endParaRPr lang="en-US" altLang="zh-CN" sz="800" b="1">
                  <a:solidFill>
                    <a:srgbClr val="0033CC"/>
                  </a:solidFill>
                </a:endParaRPr>
              </a:p>
              <a:p>
                <a:pPr algn="ctr" eaLnBrk="1" hangingPunct="1"/>
                <a:r>
                  <a:rPr lang="zh-CN" altLang="en-US" sz="800" b="1">
                    <a:solidFill>
                      <a:srgbClr val="0033CC"/>
                    </a:solidFill>
                  </a:rPr>
                  <a:t>模块</a:t>
                </a:r>
              </a:p>
            </p:txBody>
          </p:sp>
          <p:sp>
            <p:nvSpPr>
              <p:cNvPr id="78883" name="矩形 27"/>
              <p:cNvSpPr>
                <a:spLocks noChangeArrowheads="1"/>
              </p:cNvSpPr>
              <p:nvPr/>
            </p:nvSpPr>
            <p:spPr bwMode="auto">
              <a:xfrm>
                <a:off x="3428992"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信息</a:t>
                </a:r>
                <a:endParaRPr lang="en-US" altLang="zh-CN" sz="800" b="1">
                  <a:solidFill>
                    <a:srgbClr val="0033CC"/>
                  </a:solidFill>
                </a:endParaRPr>
              </a:p>
              <a:p>
                <a:pPr algn="ctr" eaLnBrk="1" hangingPunct="1"/>
                <a:r>
                  <a:rPr lang="zh-CN" altLang="en-US" sz="800" b="1">
                    <a:solidFill>
                      <a:srgbClr val="0033CC"/>
                    </a:solidFill>
                  </a:rPr>
                  <a:t>收集</a:t>
                </a:r>
                <a:endParaRPr lang="en-US" altLang="zh-CN" sz="800" b="1">
                  <a:solidFill>
                    <a:srgbClr val="0033CC"/>
                  </a:solidFill>
                </a:endParaRPr>
              </a:p>
              <a:p>
                <a:pPr algn="ctr" eaLnBrk="1" hangingPunct="1"/>
                <a:r>
                  <a:rPr lang="zh-CN" altLang="en-US" sz="800" b="1">
                    <a:solidFill>
                      <a:srgbClr val="0033CC"/>
                    </a:solidFill>
                  </a:rPr>
                  <a:t>模块</a:t>
                </a:r>
              </a:p>
            </p:txBody>
          </p:sp>
          <p:sp>
            <p:nvSpPr>
              <p:cNvPr id="78884" name="矩形 28"/>
              <p:cNvSpPr>
                <a:spLocks noChangeArrowheads="1"/>
              </p:cNvSpPr>
              <p:nvPr/>
            </p:nvSpPr>
            <p:spPr bwMode="auto">
              <a:xfrm>
                <a:off x="4000496"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繁殖</a:t>
                </a:r>
                <a:endParaRPr lang="en-US" altLang="zh-CN" sz="800" b="1">
                  <a:solidFill>
                    <a:srgbClr val="0033CC"/>
                  </a:solidFill>
                </a:endParaRPr>
              </a:p>
              <a:p>
                <a:pPr algn="ctr" eaLnBrk="1" hangingPunct="1"/>
                <a:r>
                  <a:rPr lang="zh-CN" altLang="en-US" sz="800" b="1">
                    <a:solidFill>
                      <a:srgbClr val="0033CC"/>
                    </a:solidFill>
                  </a:rPr>
                  <a:t>模块</a:t>
                </a:r>
              </a:p>
            </p:txBody>
          </p:sp>
          <p:sp>
            <p:nvSpPr>
              <p:cNvPr id="78885" name="矩形 29"/>
              <p:cNvSpPr>
                <a:spLocks noChangeArrowheads="1"/>
              </p:cNvSpPr>
              <p:nvPr/>
            </p:nvSpPr>
            <p:spPr bwMode="auto">
              <a:xfrm>
                <a:off x="4857752"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隐藏</a:t>
                </a:r>
                <a:endParaRPr lang="en-US" altLang="zh-CN" sz="800" b="1">
                  <a:solidFill>
                    <a:srgbClr val="0033CC"/>
                  </a:solidFill>
                </a:endParaRPr>
              </a:p>
              <a:p>
                <a:pPr algn="ctr" eaLnBrk="1" hangingPunct="1"/>
                <a:r>
                  <a:rPr lang="zh-CN" altLang="en-US" sz="800" b="1">
                    <a:solidFill>
                      <a:srgbClr val="0033CC"/>
                    </a:solidFill>
                  </a:rPr>
                  <a:t>模块</a:t>
                </a:r>
              </a:p>
            </p:txBody>
          </p:sp>
          <p:sp>
            <p:nvSpPr>
              <p:cNvPr id="78886" name="矩形 30"/>
              <p:cNvSpPr>
                <a:spLocks noChangeArrowheads="1"/>
              </p:cNvSpPr>
              <p:nvPr/>
            </p:nvSpPr>
            <p:spPr bwMode="auto">
              <a:xfrm>
                <a:off x="5429256"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破坏</a:t>
                </a:r>
                <a:endParaRPr lang="en-US" altLang="zh-CN" sz="800" b="1">
                  <a:solidFill>
                    <a:srgbClr val="0033CC"/>
                  </a:solidFill>
                </a:endParaRPr>
              </a:p>
              <a:p>
                <a:pPr algn="ctr" eaLnBrk="1" hangingPunct="1"/>
                <a:r>
                  <a:rPr lang="zh-CN" altLang="en-US" sz="800" b="1">
                    <a:solidFill>
                      <a:srgbClr val="0033CC"/>
                    </a:solidFill>
                  </a:rPr>
                  <a:t>模块</a:t>
                </a:r>
              </a:p>
            </p:txBody>
          </p:sp>
          <p:sp>
            <p:nvSpPr>
              <p:cNvPr id="78887" name="矩形 31"/>
              <p:cNvSpPr>
                <a:spLocks noChangeArrowheads="1"/>
              </p:cNvSpPr>
              <p:nvPr/>
            </p:nvSpPr>
            <p:spPr bwMode="auto">
              <a:xfrm>
                <a:off x="6000760"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通信</a:t>
                </a:r>
                <a:endParaRPr lang="en-US" altLang="zh-CN" sz="800" b="1">
                  <a:solidFill>
                    <a:srgbClr val="0033CC"/>
                  </a:solidFill>
                </a:endParaRPr>
              </a:p>
              <a:p>
                <a:pPr algn="ctr" eaLnBrk="1" hangingPunct="1"/>
                <a:r>
                  <a:rPr lang="zh-CN" altLang="en-US" sz="800" b="1">
                    <a:solidFill>
                      <a:srgbClr val="0033CC"/>
                    </a:solidFill>
                  </a:rPr>
                  <a:t>模块</a:t>
                </a:r>
              </a:p>
            </p:txBody>
          </p:sp>
          <p:sp>
            <p:nvSpPr>
              <p:cNvPr id="78888" name="矩形 32"/>
              <p:cNvSpPr>
                <a:spLocks noChangeArrowheads="1"/>
              </p:cNvSpPr>
              <p:nvPr/>
            </p:nvSpPr>
            <p:spPr bwMode="auto">
              <a:xfrm>
                <a:off x="6572264" y="3571882"/>
                <a:ext cx="428628" cy="92869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0033CC"/>
                    </a:solidFill>
                  </a:rPr>
                  <a:t>控制</a:t>
                </a:r>
                <a:endParaRPr lang="en-US" altLang="zh-CN" sz="800" b="1">
                  <a:solidFill>
                    <a:srgbClr val="0033CC"/>
                  </a:solidFill>
                </a:endParaRPr>
              </a:p>
              <a:p>
                <a:pPr algn="ctr" eaLnBrk="1" hangingPunct="1"/>
                <a:r>
                  <a:rPr lang="zh-CN" altLang="en-US" sz="800" b="1">
                    <a:solidFill>
                      <a:srgbClr val="0033CC"/>
                    </a:solidFill>
                  </a:rPr>
                  <a:t>模块</a:t>
                </a:r>
              </a:p>
            </p:txBody>
          </p:sp>
          <p:sp>
            <p:nvSpPr>
              <p:cNvPr id="78889" name="矩形 33"/>
              <p:cNvSpPr>
                <a:spLocks noChangeArrowheads="1"/>
              </p:cNvSpPr>
              <p:nvPr/>
            </p:nvSpPr>
            <p:spPr bwMode="auto">
              <a:xfrm>
                <a:off x="5286380" y="2857502"/>
                <a:ext cx="1285884" cy="285752"/>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FF0000"/>
                    </a:solidFill>
                  </a:rPr>
                  <a:t>扩展功能模块</a:t>
                </a:r>
              </a:p>
            </p:txBody>
          </p:sp>
          <p:sp>
            <p:nvSpPr>
              <p:cNvPr id="78890" name="矩形 34"/>
              <p:cNvSpPr>
                <a:spLocks noChangeArrowheads="1"/>
              </p:cNvSpPr>
              <p:nvPr/>
            </p:nvSpPr>
            <p:spPr bwMode="auto">
              <a:xfrm>
                <a:off x="3857620" y="2143122"/>
                <a:ext cx="1428760" cy="285752"/>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r>
                  <a:rPr lang="zh-CN" altLang="en-US" sz="800" b="1">
                    <a:solidFill>
                      <a:srgbClr val="FF0000"/>
                    </a:solidFill>
                  </a:rPr>
                  <a:t>蠕虫程序功能结构</a:t>
                </a:r>
              </a:p>
            </p:txBody>
          </p:sp>
          <p:cxnSp>
            <p:nvCxnSpPr>
              <p:cNvPr id="78891" name="直接连接符 36"/>
              <p:cNvCxnSpPr>
                <a:cxnSpLocks noChangeShapeType="1"/>
              </p:cNvCxnSpPr>
              <p:nvPr/>
            </p:nvCxnSpPr>
            <p:spPr bwMode="auto">
              <a:xfrm rot="10800000">
                <a:off x="1928794" y="3357568"/>
                <a:ext cx="2286016"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892" name="直接连接符 38"/>
              <p:cNvCxnSpPr>
                <a:cxnSpLocks noChangeShapeType="1"/>
              </p:cNvCxnSpPr>
              <p:nvPr/>
            </p:nvCxnSpPr>
            <p:spPr bwMode="auto">
              <a:xfrm rot="5400000">
                <a:off x="5537207"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893" name="直接连接符 39"/>
              <p:cNvCxnSpPr>
                <a:cxnSpLocks noChangeShapeType="1"/>
              </p:cNvCxnSpPr>
              <p:nvPr/>
            </p:nvCxnSpPr>
            <p:spPr bwMode="auto">
              <a:xfrm rot="5400000">
                <a:off x="6108711"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894" name="直接连接符 40"/>
              <p:cNvCxnSpPr>
                <a:cxnSpLocks noChangeShapeType="1"/>
              </p:cNvCxnSpPr>
              <p:nvPr/>
            </p:nvCxnSpPr>
            <p:spPr bwMode="auto">
              <a:xfrm rot="5400000">
                <a:off x="6680215" y="346393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895" name="直接连接符 41"/>
              <p:cNvCxnSpPr>
                <a:cxnSpLocks noChangeShapeType="1"/>
              </p:cNvCxnSpPr>
              <p:nvPr/>
            </p:nvCxnSpPr>
            <p:spPr bwMode="auto">
              <a:xfrm rot="10800000">
                <a:off x="5072066" y="3357568"/>
                <a:ext cx="1714512"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896" name="直接连接符 44"/>
              <p:cNvCxnSpPr>
                <a:cxnSpLocks noChangeShapeType="1"/>
              </p:cNvCxnSpPr>
              <p:nvPr/>
            </p:nvCxnSpPr>
            <p:spPr bwMode="auto">
              <a:xfrm rot="5400000">
                <a:off x="5822959" y="3249617"/>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897" name="直接连接符 45"/>
              <p:cNvCxnSpPr>
                <a:cxnSpLocks noChangeShapeType="1"/>
              </p:cNvCxnSpPr>
              <p:nvPr/>
            </p:nvCxnSpPr>
            <p:spPr bwMode="auto">
              <a:xfrm rot="5400000">
                <a:off x="2965439" y="2749551"/>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78898" name="直接连接符 50"/>
              <p:cNvCxnSpPr>
                <a:cxnSpLocks noChangeShapeType="1"/>
              </p:cNvCxnSpPr>
              <p:nvPr/>
            </p:nvCxnSpPr>
            <p:spPr bwMode="auto">
              <a:xfrm rot="5400000">
                <a:off x="4465637" y="2535237"/>
                <a:ext cx="214314"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grpSp>
      </p:gr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strips(downRight)">
                                      <p:cBhvr>
                                        <p:cTn id="11" dur="500"/>
                                        <p:tgtEl>
                                          <p:spTgt spid="9"/>
                                        </p:tgtEl>
                                      </p:cBhvr>
                                    </p:animEffect>
                                  </p:childTnLst>
                                </p:cTn>
                              </p:par>
                            </p:childTnLst>
                          </p:cTn>
                        </p:par>
                        <p:par>
                          <p:cTn id="12" fill="hold">
                            <p:stCondLst>
                              <p:cond delay="1000"/>
                            </p:stCondLst>
                            <p:childTnLst>
                              <p:par>
                                <p:cTn id="13" presetID="18" presetClass="entr" presetSubtype="6"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strips(downRight)">
                                      <p:cBhvr>
                                        <p:cTn id="15" dur="500"/>
                                        <p:tgtEl>
                                          <p:spTgt spid="12"/>
                                        </p:tgtEl>
                                      </p:cBhvr>
                                    </p:animEffect>
                                  </p:childTnLst>
                                </p:cTn>
                              </p:par>
                            </p:childTnLst>
                          </p:cTn>
                        </p:par>
                        <p:par>
                          <p:cTn id="16" fill="hold">
                            <p:stCondLst>
                              <p:cond delay="1500"/>
                            </p:stCondLst>
                            <p:childTnLst>
                              <p:par>
                                <p:cTn id="17" presetID="18" presetClass="entr" presetSubtype="6"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strips(downRight)">
                                      <p:cBhvr>
                                        <p:cTn id="19" dur="500"/>
                                        <p:tgtEl>
                                          <p:spTgt spid="13"/>
                                        </p:tgtEl>
                                      </p:cBhvr>
                                    </p:animEffect>
                                  </p:childTnLst>
                                </p:cTn>
                              </p:par>
                            </p:childTnLst>
                          </p:cTn>
                        </p:par>
                        <p:par>
                          <p:cTn id="20" fill="hold">
                            <p:stCondLst>
                              <p:cond delay="2000"/>
                            </p:stCondLst>
                            <p:childTnLst>
                              <p:par>
                                <p:cTn id="21" presetID="18" presetClass="entr" presetSubtype="6"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strips(downRight)">
                                      <p:cBhvr>
                                        <p:cTn id="23" dur="500"/>
                                        <p:tgtEl>
                                          <p:spTgt spid="14"/>
                                        </p:tgtEl>
                                      </p:cBhvr>
                                    </p:animEffect>
                                  </p:childTnLst>
                                </p:cTn>
                              </p:par>
                            </p:childTnLst>
                          </p:cTn>
                        </p:par>
                        <p:par>
                          <p:cTn id="24" fill="hold">
                            <p:stCondLst>
                              <p:cond delay="2500"/>
                            </p:stCondLst>
                            <p:childTnLst>
                              <p:par>
                                <p:cTn id="25" presetID="18" presetClass="entr" presetSubtype="6"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strips(downRigh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strips(downRight)">
                                      <p:cBhvr>
                                        <p:cTn id="32" dur="500"/>
                                        <p:tgtEl>
                                          <p:spTgt spid="20"/>
                                        </p:tgtEl>
                                      </p:cBhvr>
                                    </p:animEffect>
                                  </p:childTnLst>
                                </p:cTn>
                              </p:par>
                            </p:childTnLst>
                          </p:cTn>
                        </p:par>
                        <p:par>
                          <p:cTn id="33" fill="hold">
                            <p:stCondLst>
                              <p:cond delay="500"/>
                            </p:stCondLst>
                            <p:childTnLst>
                              <p:par>
                                <p:cTn id="34" presetID="18" presetClass="entr" presetSubtype="6"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strips(downRight)">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6"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strips(downRight)">
                                      <p:cBhvr>
                                        <p:cTn id="41" dur="500"/>
                                        <p:tgtEl>
                                          <p:spTgt spid="21"/>
                                        </p:tgtEl>
                                      </p:cBhvr>
                                    </p:animEffect>
                                  </p:childTnLst>
                                </p:cTn>
                              </p:par>
                            </p:childTnLst>
                          </p:cTn>
                        </p:par>
                        <p:par>
                          <p:cTn id="42" fill="hold">
                            <p:stCondLst>
                              <p:cond delay="500"/>
                            </p:stCondLst>
                            <p:childTnLst>
                              <p:par>
                                <p:cTn id="43" presetID="18" presetClass="entr" presetSubtype="6"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strips(downRight)">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18" presetClass="entr" presetSubtype="6" fill="hold"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strips(downRight)">
                                      <p:cBhvr>
                                        <p:cTn id="50" dur="500"/>
                                        <p:tgtEl>
                                          <p:spTgt spid="22"/>
                                        </p:tgtEl>
                                      </p:cBhvr>
                                    </p:animEffect>
                                  </p:childTnLst>
                                </p:cTn>
                              </p:par>
                            </p:childTnLst>
                          </p:cTn>
                        </p:par>
                        <p:par>
                          <p:cTn id="51" fill="hold">
                            <p:stCondLst>
                              <p:cond delay="500"/>
                            </p:stCondLst>
                            <p:childTnLst>
                              <p:par>
                                <p:cTn id="52" presetID="18" presetClass="entr" presetSubtype="6" fill="hold" grpId="0" nodeType="after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strips(downRight)">
                                      <p:cBhvr>
                                        <p:cTn id="54" dur="500"/>
                                        <p:tgtEl>
                                          <p:spTgt spid="17"/>
                                        </p:tgtEl>
                                      </p:cBhvr>
                                    </p:animEffect>
                                  </p:childTnLst>
                                </p:cTn>
                              </p:par>
                            </p:childTnLst>
                          </p:cTn>
                        </p:par>
                      </p:childTnLst>
                    </p:cTn>
                  </p:par>
                  <p:par>
                    <p:cTn id="55" fill="hold">
                      <p:stCondLst>
                        <p:cond delay="indefinite"/>
                      </p:stCondLst>
                      <p:childTnLst>
                        <p:par>
                          <p:cTn id="56" fill="hold">
                            <p:stCondLst>
                              <p:cond delay="0"/>
                            </p:stCondLst>
                            <p:childTnLst>
                              <p:par>
                                <p:cTn id="57" presetID="18" presetClass="entr" presetSubtype="6" fill="hold" nodeType="click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strips(downRight)">
                                      <p:cBhvr>
                                        <p:cTn id="59" dur="500"/>
                                        <p:tgtEl>
                                          <p:spTgt spid="31"/>
                                        </p:tgtEl>
                                      </p:cBhvr>
                                    </p:animEffect>
                                  </p:childTnLst>
                                </p:cTn>
                              </p:par>
                            </p:childTnLst>
                          </p:cTn>
                        </p:par>
                        <p:par>
                          <p:cTn id="60" fill="hold">
                            <p:stCondLst>
                              <p:cond delay="500"/>
                            </p:stCondLst>
                            <p:childTnLst>
                              <p:par>
                                <p:cTn id="61" presetID="18" presetClass="entr" presetSubtype="6" fill="hold" grpId="0" nodeType="after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strips(downRight)">
                                      <p:cBhvr>
                                        <p:cTn id="63" dur="5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18" presetClass="entr" presetSubtype="6" fill="hold" nodeType="click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strips(downRight)">
                                      <p:cBhvr>
                                        <p:cTn id="68" dur="500"/>
                                        <p:tgtEl>
                                          <p:spTgt spid="37"/>
                                        </p:tgtEl>
                                      </p:cBhvr>
                                    </p:animEffect>
                                  </p:childTnLst>
                                </p:cTn>
                              </p:par>
                            </p:childTnLst>
                          </p:cTn>
                        </p:par>
                        <p:par>
                          <p:cTn id="69" fill="hold">
                            <p:stCondLst>
                              <p:cond delay="500"/>
                            </p:stCondLst>
                            <p:childTnLst>
                              <p:par>
                                <p:cTn id="70" presetID="18" presetClass="entr" presetSubtype="6" fill="hold" grpId="0" nodeType="after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strips(downRight)">
                                      <p:cBhvr>
                                        <p:cTn id="7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2" grpId="0"/>
      <p:bldP spid="13" grpId="0"/>
      <p:bldP spid="14" grpId="0"/>
      <p:bldP spid="15" grpId="0"/>
      <p:bldP spid="16" grpId="0" animBg="1"/>
      <p:bldP spid="17" grpId="0" animBg="1"/>
      <p:bldP spid="18" grpId="0" animBg="1"/>
      <p:bldP spid="19"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dirty="0">
                <a:solidFill>
                  <a:srgbClr val="C00000"/>
                </a:solidFill>
                <a:effectLst>
                  <a:reflection blurRad="6350" stA="50000" endA="300" endPos="50000" dist="60007" dir="5400000" sy="-100000" algn="bl" rotWithShape="0"/>
                </a:effectLst>
                <a:latin typeface="+mj-ea"/>
                <a:ea typeface="+mj-ea"/>
                <a:cs typeface="+mj-cs"/>
              </a:rPr>
              <a:t>9.4 </a:t>
            </a:r>
            <a:r>
              <a:rPr lang="zh-CN" altLang="en-US" sz="2000" b="1" dirty="0">
                <a:solidFill>
                  <a:srgbClr val="C00000"/>
                </a:solidFill>
                <a:effectLst>
                  <a:reflection blurRad="6350" stA="50000" endA="300" endPos="50000" dist="60007" dir="5400000" sy="-100000" algn="bl" rotWithShape="0"/>
                </a:effectLst>
                <a:latin typeface="+mj-ea"/>
                <a:ea typeface="+mj-ea"/>
                <a:cs typeface="+mj-cs"/>
              </a:rPr>
              <a:t>恶意代码分析</a:t>
            </a: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9.4.3 </a:t>
            </a:r>
            <a:r>
              <a:rPr altLang="en-US" sz="2000" dirty="0"/>
              <a:t>蠕虫的机理与防治</a:t>
            </a:r>
          </a:p>
        </p:txBody>
      </p:sp>
      <p:sp>
        <p:nvSpPr>
          <p:cNvPr id="8" name="左大括号 4"/>
          <p:cNvSpPr/>
          <p:nvPr/>
        </p:nvSpPr>
        <p:spPr bwMode="auto">
          <a:xfrm>
            <a:off x="785813" y="2143125"/>
            <a:ext cx="357187" cy="2143125"/>
          </a:xfrm>
          <a:prstGeom prst="leftBrace">
            <a:avLst>
              <a:gd name="adj1" fmla="val 77778"/>
              <a:gd name="adj2" fmla="val 50000"/>
            </a:avLst>
          </a:prstGeom>
          <a:noFill/>
          <a:ln w="28575" algn="ctr">
            <a:solidFill>
              <a:srgbClr val="C00000"/>
            </a:solidFill>
            <a:round/>
          </a:ln>
        </p:spPr>
        <p:txBody>
          <a:bodyPr wrap="none" anchor="ctr"/>
          <a:lstStyle/>
          <a:p>
            <a:pPr>
              <a:defRPr/>
            </a:pPr>
            <a:endParaRPr lang="zh-CN" altLang="en-US" b="1" u="sng">
              <a:effectLst>
                <a:outerShdw blurRad="38100" dist="38100" dir="2700000" algn="tl">
                  <a:srgbClr val="000000">
                    <a:alpha val="43137"/>
                  </a:srgbClr>
                </a:outerShdw>
              </a:effectLst>
              <a:latin typeface="Arial" panose="020B0604020202020204" pitchFamily="34" charset="0"/>
            </a:endParaRPr>
          </a:p>
        </p:txBody>
      </p:sp>
      <p:sp>
        <p:nvSpPr>
          <p:cNvPr id="9" name="TextBox 6"/>
          <p:cNvSpPr txBox="1">
            <a:spLocks noChangeArrowheads="1"/>
          </p:cNvSpPr>
          <p:nvPr/>
        </p:nvSpPr>
        <p:spPr bwMode="auto">
          <a:xfrm>
            <a:off x="1071563" y="1857375"/>
            <a:ext cx="714375" cy="58420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a:defRPr/>
            </a:pPr>
            <a:r>
              <a:rPr lang="zh-CN" altLang="zh-CN" sz="1600" b="1" u="sng" dirty="0">
                <a:solidFill>
                  <a:srgbClr val="0033CC"/>
                </a:solidFill>
                <a:effectLst>
                  <a:outerShdw blurRad="38100" dist="38100" dir="2700000" algn="tl">
                    <a:srgbClr val="000000">
                      <a:alpha val="43137"/>
                    </a:srgbClr>
                  </a:outerShdw>
                </a:effectLst>
                <a:latin typeface="+mj-ea"/>
                <a:ea typeface="+mj-ea"/>
              </a:rPr>
              <a:t>预防阶段</a:t>
            </a:r>
            <a:endParaRPr lang="zh-CN" altLang="zh-CN" sz="1500" b="1" u="sng" dirty="0">
              <a:solidFill>
                <a:srgbClr val="0033CC"/>
              </a:solidFill>
              <a:effectLst>
                <a:outerShdw blurRad="38100" dist="38100" dir="2700000" algn="tl">
                  <a:srgbClr val="000000">
                    <a:alpha val="43137"/>
                  </a:srgbClr>
                </a:outerShdw>
              </a:effectLst>
              <a:latin typeface="+mj-ea"/>
              <a:ea typeface="+mj-ea"/>
            </a:endParaRPr>
          </a:p>
        </p:txBody>
      </p:sp>
      <p:sp>
        <p:nvSpPr>
          <p:cNvPr id="10" name="TextBox 6"/>
          <p:cNvSpPr txBox="1">
            <a:spLocks noChangeArrowheads="1"/>
          </p:cNvSpPr>
          <p:nvPr/>
        </p:nvSpPr>
        <p:spPr bwMode="auto">
          <a:xfrm>
            <a:off x="2500313" y="1857375"/>
            <a:ext cx="5929312" cy="523875"/>
          </a:xfrm>
          <a:prstGeom prst="rect">
            <a:avLst/>
          </a:prstGeom>
          <a:noFill/>
          <a:ln w="12700">
            <a:solidFill>
              <a:srgbClr val="92D050"/>
            </a:solidFill>
            <a:miter lim="800000"/>
          </a:ln>
        </p:spPr>
        <p:txBody>
          <a:bodyPr>
            <a:spAutoFit/>
          </a:bodyPr>
          <a:lstStyle/>
          <a:p>
            <a:pPr>
              <a:defRPr/>
            </a:pPr>
            <a:r>
              <a:rPr lang="zh-CN" altLang="zh-CN" sz="1400" b="1" dirty="0">
                <a:latin typeface="Arial" panose="020B0604020202020204" pitchFamily="34" charset="0"/>
              </a:rPr>
              <a:t>在利用某个漏洞进行攻击的蠕虫产生之间，积极主动地升级系统、安装防火墙、安装入侵检测系统等</a:t>
            </a:r>
            <a:r>
              <a:rPr lang="zh-CN" altLang="en-US" sz="1400" b="1" dirty="0">
                <a:latin typeface="Arial" panose="020B0604020202020204" pitchFamily="34" charset="0"/>
              </a:rPr>
              <a:t>。</a:t>
            </a:r>
            <a:endParaRPr lang="zh-CN" altLang="zh-CN" sz="1400" b="1" dirty="0">
              <a:solidFill>
                <a:schemeClr val="bg2">
                  <a:lumMod val="25000"/>
                </a:schemeClr>
              </a:solidFill>
              <a:latin typeface="Arial" panose="020B0604020202020204" pitchFamily="34" charset="0"/>
            </a:endParaRPr>
          </a:p>
        </p:txBody>
      </p:sp>
      <p:sp>
        <p:nvSpPr>
          <p:cNvPr id="11" name="TextBox 6"/>
          <p:cNvSpPr txBox="1">
            <a:spLocks noChangeArrowheads="1"/>
          </p:cNvSpPr>
          <p:nvPr/>
        </p:nvSpPr>
        <p:spPr bwMode="auto">
          <a:xfrm>
            <a:off x="1071563" y="2500313"/>
            <a:ext cx="642937" cy="584200"/>
          </a:xfrm>
          <a:prstGeom prst="rect">
            <a:avLst/>
          </a:prstGeom>
          <a:noFill/>
          <a:ln w="9525">
            <a:noFill/>
            <a:miter lim="800000"/>
          </a:ln>
        </p:spPr>
        <p:txBody>
          <a:bodyPr>
            <a:spAutoFit/>
          </a:bodyPr>
          <a:lstStyle/>
          <a:p>
            <a:pPr>
              <a:defRPr/>
            </a:pPr>
            <a:r>
              <a:rPr lang="zh-CN" altLang="zh-CN" sz="1600" b="1" u="sng" dirty="0">
                <a:solidFill>
                  <a:srgbClr val="0033CC"/>
                </a:solidFill>
                <a:effectLst>
                  <a:outerShdw blurRad="38100" dist="38100" dir="2700000" algn="tl">
                    <a:srgbClr val="000000">
                      <a:alpha val="43137"/>
                    </a:srgbClr>
                  </a:outerShdw>
                </a:effectLst>
                <a:latin typeface="Arial" panose="020B0604020202020204" pitchFamily="34" charset="0"/>
              </a:rPr>
              <a:t>检测阶段</a:t>
            </a:r>
            <a:endParaRPr lang="zh-CN" altLang="zh-CN" sz="1500" b="1" u="sng" dirty="0">
              <a:solidFill>
                <a:srgbClr val="0033CC"/>
              </a:solidFill>
              <a:effectLst>
                <a:outerShdw blurRad="38100" dist="38100" dir="2700000" algn="tl">
                  <a:srgbClr val="000000">
                    <a:alpha val="43137"/>
                  </a:srgbClr>
                </a:outerShdw>
              </a:effectLst>
              <a:latin typeface="Arial" panose="020B0604020202020204" pitchFamily="34" charset="0"/>
            </a:endParaRPr>
          </a:p>
        </p:txBody>
      </p:sp>
      <p:sp>
        <p:nvSpPr>
          <p:cNvPr id="12" name="TextBox 6"/>
          <p:cNvSpPr txBox="1">
            <a:spLocks noChangeArrowheads="1"/>
          </p:cNvSpPr>
          <p:nvPr/>
        </p:nvSpPr>
        <p:spPr bwMode="auto">
          <a:xfrm>
            <a:off x="1071563" y="3214688"/>
            <a:ext cx="642937" cy="584200"/>
          </a:xfrm>
          <a:prstGeom prst="rect">
            <a:avLst/>
          </a:prstGeom>
          <a:noFill/>
          <a:ln w="9525">
            <a:noFill/>
            <a:miter lim="800000"/>
          </a:ln>
        </p:spPr>
        <p:txBody>
          <a:bodyPr>
            <a:spAutoFit/>
          </a:bodyPr>
          <a:lstStyle/>
          <a:p>
            <a:pPr>
              <a:defRPr/>
            </a:pPr>
            <a:r>
              <a:rPr lang="zh-CN" altLang="zh-CN" sz="1600" b="1" u="sng" dirty="0">
                <a:solidFill>
                  <a:srgbClr val="0033CC"/>
                </a:solidFill>
                <a:effectLst>
                  <a:outerShdw blurRad="38100" dist="38100" dir="2700000" algn="tl">
                    <a:srgbClr val="000000">
                      <a:alpha val="43137"/>
                    </a:srgbClr>
                  </a:outerShdw>
                </a:effectLst>
                <a:latin typeface="Arial" panose="020B0604020202020204" pitchFamily="34" charset="0"/>
              </a:rPr>
              <a:t>遏制阶段</a:t>
            </a:r>
            <a:endParaRPr lang="zh-CN" altLang="zh-CN" sz="1500" b="1" u="sng" dirty="0">
              <a:solidFill>
                <a:srgbClr val="0033CC"/>
              </a:solidFill>
              <a:effectLst>
                <a:outerShdw blurRad="38100" dist="38100" dir="2700000" algn="tl">
                  <a:srgbClr val="000000">
                    <a:alpha val="43137"/>
                  </a:srgbClr>
                </a:outerShdw>
              </a:effectLst>
              <a:latin typeface="Arial" panose="020B0604020202020204" pitchFamily="34" charset="0"/>
            </a:endParaRPr>
          </a:p>
        </p:txBody>
      </p:sp>
      <p:sp>
        <p:nvSpPr>
          <p:cNvPr id="13" name="TextBox 6"/>
          <p:cNvSpPr txBox="1">
            <a:spLocks noChangeArrowheads="1"/>
          </p:cNvSpPr>
          <p:nvPr/>
        </p:nvSpPr>
        <p:spPr bwMode="auto">
          <a:xfrm>
            <a:off x="1071563" y="3929063"/>
            <a:ext cx="642937" cy="584200"/>
          </a:xfrm>
          <a:prstGeom prst="rect">
            <a:avLst/>
          </a:prstGeom>
          <a:noFill/>
          <a:ln w="9525">
            <a:noFill/>
            <a:miter lim="800000"/>
          </a:ln>
        </p:spPr>
        <p:txBody>
          <a:bodyPr>
            <a:spAutoFit/>
          </a:bodyPr>
          <a:lstStyle/>
          <a:p>
            <a:pPr>
              <a:defRPr/>
            </a:pPr>
            <a:r>
              <a:rPr lang="zh-CN" altLang="zh-CN" sz="1600" b="1" u="sng" dirty="0">
                <a:solidFill>
                  <a:srgbClr val="0033CC"/>
                </a:solidFill>
                <a:effectLst>
                  <a:outerShdw blurRad="38100" dist="38100" dir="2700000" algn="tl">
                    <a:srgbClr val="000000">
                      <a:alpha val="43137"/>
                    </a:srgbClr>
                  </a:outerShdw>
                </a:effectLst>
                <a:latin typeface="Arial" panose="020B0604020202020204" pitchFamily="34" charset="0"/>
              </a:rPr>
              <a:t>清除阶段</a:t>
            </a:r>
            <a:endParaRPr lang="zh-CN" altLang="zh-CN" sz="1500" b="1" u="sng" dirty="0">
              <a:solidFill>
                <a:srgbClr val="0033CC"/>
              </a:solidFill>
              <a:effectLst>
                <a:outerShdw blurRad="38100" dist="38100" dir="2700000" algn="tl">
                  <a:srgbClr val="000000">
                    <a:alpha val="43137"/>
                  </a:srgbClr>
                </a:outerShdw>
              </a:effectLst>
              <a:latin typeface="Arial" panose="020B0604020202020204" pitchFamily="34" charset="0"/>
            </a:endParaRPr>
          </a:p>
        </p:txBody>
      </p:sp>
      <p:sp>
        <p:nvSpPr>
          <p:cNvPr id="14" name="TextBox 6"/>
          <p:cNvSpPr txBox="1">
            <a:spLocks noChangeArrowheads="1"/>
          </p:cNvSpPr>
          <p:nvPr/>
        </p:nvSpPr>
        <p:spPr bwMode="auto">
          <a:xfrm>
            <a:off x="2500313" y="2571750"/>
            <a:ext cx="5929312" cy="523875"/>
          </a:xfrm>
          <a:prstGeom prst="rect">
            <a:avLst/>
          </a:prstGeom>
          <a:noFill/>
          <a:ln w="12700">
            <a:solidFill>
              <a:srgbClr val="92D050"/>
            </a:solidFill>
            <a:miter lim="800000"/>
          </a:ln>
        </p:spPr>
        <p:txBody>
          <a:bodyPr>
            <a:spAutoFit/>
          </a:bodyPr>
          <a:lstStyle/>
          <a:p>
            <a:pPr>
              <a:defRPr/>
            </a:pPr>
            <a:r>
              <a:rPr lang="zh-CN" altLang="zh-CN" sz="1400" b="1" dirty="0">
                <a:latin typeface="Arial" panose="020B0604020202020204" pitchFamily="34" charset="0"/>
              </a:rPr>
              <a:t>密切注意网络流量异常、</a:t>
            </a:r>
            <a:r>
              <a:rPr lang="en-US" altLang="zh-CN" sz="1400" b="1" dirty="0">
                <a:latin typeface="Arial" panose="020B0604020202020204" pitchFamily="34" charset="0"/>
              </a:rPr>
              <a:t>TCP</a:t>
            </a:r>
            <a:r>
              <a:rPr lang="zh-CN" altLang="zh-CN" sz="1400" b="1" dirty="0">
                <a:latin typeface="Arial" panose="020B0604020202020204" pitchFamily="34" charset="0"/>
              </a:rPr>
              <a:t>连接异常等异常现象，尽量在蠕虫的缓慢启动期发现蠕虫。</a:t>
            </a:r>
            <a:endParaRPr lang="zh-CN" altLang="zh-CN" sz="1400" b="1" dirty="0">
              <a:solidFill>
                <a:schemeClr val="bg2">
                  <a:lumMod val="25000"/>
                </a:schemeClr>
              </a:solidFill>
              <a:latin typeface="Arial" panose="020B0604020202020204" pitchFamily="34" charset="0"/>
            </a:endParaRPr>
          </a:p>
        </p:txBody>
      </p:sp>
      <p:sp>
        <p:nvSpPr>
          <p:cNvPr id="15" name="TextBox 6"/>
          <p:cNvSpPr txBox="1">
            <a:spLocks noChangeArrowheads="1"/>
          </p:cNvSpPr>
          <p:nvPr/>
        </p:nvSpPr>
        <p:spPr bwMode="auto">
          <a:xfrm>
            <a:off x="2500313" y="3357563"/>
            <a:ext cx="5929312" cy="307975"/>
          </a:xfrm>
          <a:prstGeom prst="rect">
            <a:avLst/>
          </a:prstGeom>
          <a:noFill/>
          <a:ln w="12700">
            <a:solidFill>
              <a:srgbClr val="92D050"/>
            </a:solidFill>
            <a:miter lim="800000"/>
          </a:ln>
        </p:spPr>
        <p:txBody>
          <a:bodyPr>
            <a:spAutoFit/>
          </a:bodyPr>
          <a:lstStyle/>
          <a:p>
            <a:pPr>
              <a:defRPr/>
            </a:pPr>
            <a:r>
              <a:rPr lang="zh-CN" altLang="zh-CN" sz="1400" b="1" dirty="0">
                <a:latin typeface="Arial" panose="020B0604020202020204" pitchFamily="34" charset="0"/>
              </a:rPr>
              <a:t>在蠕虫的快速传播期，通过各种手段遏制蠕虫的快速传播。</a:t>
            </a:r>
            <a:endParaRPr lang="zh-CN" altLang="zh-CN" sz="1400" b="1" dirty="0">
              <a:solidFill>
                <a:schemeClr val="bg2">
                  <a:lumMod val="25000"/>
                </a:schemeClr>
              </a:solidFill>
              <a:latin typeface="Arial" panose="020B0604020202020204" pitchFamily="34" charset="0"/>
            </a:endParaRPr>
          </a:p>
        </p:txBody>
      </p:sp>
      <p:sp>
        <p:nvSpPr>
          <p:cNvPr id="16" name="TextBox 6"/>
          <p:cNvSpPr txBox="1">
            <a:spLocks noChangeArrowheads="1"/>
          </p:cNvSpPr>
          <p:nvPr/>
        </p:nvSpPr>
        <p:spPr bwMode="auto">
          <a:xfrm>
            <a:off x="2500313" y="4000500"/>
            <a:ext cx="5929312" cy="523875"/>
          </a:xfrm>
          <a:prstGeom prst="rect">
            <a:avLst/>
          </a:prstGeom>
          <a:noFill/>
          <a:ln w="12700">
            <a:solidFill>
              <a:srgbClr val="92D050"/>
            </a:solidFill>
            <a:miter lim="800000"/>
          </a:ln>
        </p:spPr>
        <p:txBody>
          <a:bodyPr>
            <a:spAutoFit/>
          </a:bodyPr>
          <a:lstStyle/>
          <a:p>
            <a:pPr>
              <a:defRPr/>
            </a:pPr>
            <a:r>
              <a:rPr lang="zh-CN" altLang="zh-CN" sz="1400" b="1" dirty="0">
                <a:latin typeface="Arial" panose="020B0604020202020204" pitchFamily="34" charset="0"/>
              </a:rPr>
              <a:t>清除已感染主机中的蠕虫，通过打补丁等手段，杜绝易感染主机的存在，最终清除蠕虫。</a:t>
            </a:r>
            <a:endParaRPr lang="zh-CN" altLang="zh-CN" sz="1400" b="1" dirty="0">
              <a:solidFill>
                <a:schemeClr val="bg2">
                  <a:lumMod val="25000"/>
                </a:schemeClr>
              </a:solidFill>
              <a:latin typeface="Arial" panose="020B0604020202020204" pitchFamily="34" charset="0"/>
            </a:endParaRPr>
          </a:p>
        </p:txBody>
      </p:sp>
      <p:cxnSp>
        <p:nvCxnSpPr>
          <p:cNvPr id="17" name="直接箭头连接符 16"/>
          <p:cNvCxnSpPr>
            <a:cxnSpLocks noChangeShapeType="1"/>
          </p:cNvCxnSpPr>
          <p:nvPr/>
        </p:nvCxnSpPr>
        <p:spPr bwMode="auto">
          <a:xfrm flipV="1">
            <a:off x="1643063" y="2143125"/>
            <a:ext cx="785812" cy="7938"/>
          </a:xfrm>
          <a:prstGeom prst="straightConnector1">
            <a:avLst/>
          </a:prstGeom>
          <a:noFill/>
          <a:ln w="38100" algn="ctr">
            <a:solidFill>
              <a:srgbClr val="E46C0A"/>
            </a:solidFill>
            <a:round/>
            <a:tailEnd type="arrow" w="med" len="med"/>
          </a:ln>
          <a:extLst>
            <a:ext uri="{909E8E84-426E-40DD-AFC4-6F175D3DCCD1}">
              <a14:hiddenFill xmlns:a14="http://schemas.microsoft.com/office/drawing/2010/main">
                <a:noFill/>
              </a14:hiddenFill>
            </a:ext>
          </a:extLst>
        </p:spPr>
      </p:cxnSp>
      <p:cxnSp>
        <p:nvCxnSpPr>
          <p:cNvPr id="27" name="直接箭头连接符 26"/>
          <p:cNvCxnSpPr>
            <a:cxnSpLocks noChangeShapeType="1"/>
          </p:cNvCxnSpPr>
          <p:nvPr/>
        </p:nvCxnSpPr>
        <p:spPr bwMode="auto">
          <a:xfrm flipV="1">
            <a:off x="1643063" y="2786063"/>
            <a:ext cx="785812" cy="7937"/>
          </a:xfrm>
          <a:prstGeom prst="straightConnector1">
            <a:avLst/>
          </a:prstGeom>
          <a:noFill/>
          <a:ln w="38100" algn="ctr">
            <a:solidFill>
              <a:srgbClr val="E46C0A"/>
            </a:solidFill>
            <a:round/>
            <a:tailEnd type="arrow" w="med" len="med"/>
          </a:ln>
          <a:extLst>
            <a:ext uri="{909E8E84-426E-40DD-AFC4-6F175D3DCCD1}">
              <a14:hiddenFill xmlns:a14="http://schemas.microsoft.com/office/drawing/2010/main">
                <a:noFill/>
              </a14:hiddenFill>
            </a:ext>
          </a:extLst>
        </p:spPr>
      </p:cxnSp>
      <p:cxnSp>
        <p:nvCxnSpPr>
          <p:cNvPr id="28" name="直接箭头连接符 27"/>
          <p:cNvCxnSpPr>
            <a:cxnSpLocks noChangeShapeType="1"/>
          </p:cNvCxnSpPr>
          <p:nvPr/>
        </p:nvCxnSpPr>
        <p:spPr bwMode="auto">
          <a:xfrm flipV="1">
            <a:off x="1643063" y="3500438"/>
            <a:ext cx="785812" cy="7937"/>
          </a:xfrm>
          <a:prstGeom prst="straightConnector1">
            <a:avLst/>
          </a:prstGeom>
          <a:noFill/>
          <a:ln w="38100" algn="ctr">
            <a:solidFill>
              <a:srgbClr val="E46C0A"/>
            </a:solidFill>
            <a:round/>
            <a:tailEnd type="arrow" w="med" len="med"/>
          </a:ln>
          <a:extLst>
            <a:ext uri="{909E8E84-426E-40DD-AFC4-6F175D3DCCD1}">
              <a14:hiddenFill xmlns:a14="http://schemas.microsoft.com/office/drawing/2010/main">
                <a:noFill/>
              </a14:hiddenFill>
            </a:ext>
          </a:extLst>
        </p:spPr>
      </p:cxnSp>
      <p:cxnSp>
        <p:nvCxnSpPr>
          <p:cNvPr id="29" name="直接箭头连接符 28"/>
          <p:cNvCxnSpPr>
            <a:cxnSpLocks noChangeShapeType="1"/>
          </p:cNvCxnSpPr>
          <p:nvPr/>
        </p:nvCxnSpPr>
        <p:spPr bwMode="auto">
          <a:xfrm flipV="1">
            <a:off x="1571625" y="4214813"/>
            <a:ext cx="785813" cy="7937"/>
          </a:xfrm>
          <a:prstGeom prst="straightConnector1">
            <a:avLst/>
          </a:prstGeom>
          <a:noFill/>
          <a:ln w="38100" algn="ctr">
            <a:solidFill>
              <a:srgbClr val="E46C0A"/>
            </a:solidFill>
            <a:round/>
            <a:tailEnd type="arrow" w="med" len="med"/>
          </a:ln>
          <a:extLst>
            <a:ext uri="{909E8E84-426E-40DD-AFC4-6F175D3DCCD1}">
              <a14:hiddenFill xmlns:a14="http://schemas.microsoft.com/office/drawing/2010/main">
                <a:noFill/>
              </a14:hiddenFill>
            </a:ext>
          </a:extLst>
        </p:spPr>
      </p:cxnSp>
      <p:sp>
        <p:nvSpPr>
          <p:cNvPr id="32" name="内容占位符 2"/>
          <p:cNvSpPr>
            <a:spLocks noGrp="1"/>
          </p:cNvSpPr>
          <p:nvPr>
            <p:ph idx="1"/>
          </p:nvPr>
        </p:nvSpPr>
        <p:spPr>
          <a:xfrm>
            <a:off x="357188" y="1000125"/>
            <a:ext cx="8001000" cy="785813"/>
          </a:xfrm>
        </p:spPr>
        <p:txBody>
          <a:bodyPr/>
          <a:lstStyle/>
          <a:p>
            <a:pPr>
              <a:buFont typeface="Wingdings" panose="05000000000000000000" pitchFamily="2" charset="2"/>
              <a:buNone/>
              <a:defRPr/>
            </a:pPr>
            <a:r>
              <a:rPr lang="zh-CN" altLang="en-US" sz="1800" b="1" dirty="0">
                <a:solidFill>
                  <a:srgbClr val="FF0000"/>
                </a:solidFill>
              </a:rPr>
              <a:t>（</a:t>
            </a:r>
            <a:r>
              <a:rPr lang="en-US" altLang="zh-CN" sz="1800" b="1" dirty="0">
                <a:solidFill>
                  <a:srgbClr val="FF0000"/>
                </a:solidFill>
              </a:rPr>
              <a:t>2</a:t>
            </a:r>
            <a:r>
              <a:rPr lang="zh-CN" altLang="en-US" sz="1800" b="1" dirty="0">
                <a:solidFill>
                  <a:srgbClr val="FF0000"/>
                </a:solidFill>
              </a:rPr>
              <a:t>）</a:t>
            </a:r>
            <a:r>
              <a:rPr lang="zh-CN" altLang="zh-CN" sz="1800" b="1" dirty="0">
                <a:solidFill>
                  <a:srgbClr val="FF0000"/>
                </a:solidFill>
              </a:rPr>
              <a:t>蠕虫的防治周期</a:t>
            </a:r>
          </a:p>
          <a:p>
            <a:pPr indent="-107950">
              <a:defRPr/>
            </a:pPr>
            <a:r>
              <a:rPr lang="zh-CN" altLang="zh-CN" b="1" dirty="0"/>
              <a:t>蠕虫的防治周期可分为</a:t>
            </a:r>
            <a:r>
              <a:rPr lang="en-US" altLang="zh-CN" b="1" dirty="0"/>
              <a:t>4</a:t>
            </a:r>
            <a:r>
              <a:rPr lang="zh-CN" altLang="zh-CN" b="1" dirty="0"/>
              <a:t>个阶段。</a:t>
            </a:r>
            <a:endParaRPr lang="zh-CN" altLang="zh-CN" sz="1400" b="1" dirty="0"/>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500"/>
                                        <p:tgtEl>
                                          <p:spTgt spid="32">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
                                            <p:txEl>
                                              <p:pRg st="1" end="1"/>
                                            </p:txEl>
                                          </p:spTgt>
                                        </p:tgtEl>
                                        <p:attrNameLst>
                                          <p:attrName>style.visibility</p:attrName>
                                        </p:attrNameLst>
                                      </p:cBhvr>
                                      <p:to>
                                        <p:strVal val="visible"/>
                                      </p:to>
                                    </p:set>
                                    <p:animEffect transition="in" filter="fade">
                                      <p:cBhvr>
                                        <p:cTn id="11" dur="500"/>
                                        <p:tgtEl>
                                          <p:spTgt spid="3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strips(downRight)">
                                      <p:cBhvr>
                                        <p:cTn id="16" dur="500"/>
                                        <p:tgtEl>
                                          <p:spTgt spid="8"/>
                                        </p:tgtEl>
                                      </p:cBhvr>
                                    </p:animEffect>
                                  </p:childTnLst>
                                </p:cTn>
                              </p:par>
                            </p:childTnLst>
                          </p:cTn>
                        </p:par>
                        <p:par>
                          <p:cTn id="17" fill="hold">
                            <p:stCondLst>
                              <p:cond delay="500"/>
                            </p:stCondLst>
                            <p:childTnLst>
                              <p:par>
                                <p:cTn id="18" presetID="18" presetClass="entr" presetSubtype="6"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strips(downRight)">
                                      <p:cBhvr>
                                        <p:cTn id="20" dur="500"/>
                                        <p:tgtEl>
                                          <p:spTgt spid="9"/>
                                        </p:tgtEl>
                                      </p:cBhvr>
                                    </p:animEffect>
                                  </p:childTnLst>
                                </p:cTn>
                              </p:par>
                            </p:childTnLst>
                          </p:cTn>
                        </p:par>
                        <p:par>
                          <p:cTn id="21" fill="hold">
                            <p:stCondLst>
                              <p:cond delay="1000"/>
                            </p:stCondLst>
                            <p:childTnLst>
                              <p:par>
                                <p:cTn id="22" presetID="18" presetClass="entr" presetSubtype="6"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strips(downRight)">
                                      <p:cBhvr>
                                        <p:cTn id="24" dur="500"/>
                                        <p:tgtEl>
                                          <p:spTgt spid="11"/>
                                        </p:tgtEl>
                                      </p:cBhvr>
                                    </p:animEffect>
                                  </p:childTnLst>
                                </p:cTn>
                              </p:par>
                            </p:childTnLst>
                          </p:cTn>
                        </p:par>
                        <p:par>
                          <p:cTn id="25" fill="hold">
                            <p:stCondLst>
                              <p:cond delay="1500"/>
                            </p:stCondLst>
                            <p:childTnLst>
                              <p:par>
                                <p:cTn id="26" presetID="18" presetClass="entr" presetSubtype="6"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strips(downRight)">
                                      <p:cBhvr>
                                        <p:cTn id="28" dur="500"/>
                                        <p:tgtEl>
                                          <p:spTgt spid="12"/>
                                        </p:tgtEl>
                                      </p:cBhvr>
                                    </p:animEffect>
                                  </p:childTnLst>
                                </p:cTn>
                              </p:par>
                            </p:childTnLst>
                          </p:cTn>
                        </p:par>
                        <p:par>
                          <p:cTn id="29" fill="hold">
                            <p:stCondLst>
                              <p:cond delay="2000"/>
                            </p:stCondLst>
                            <p:childTnLst>
                              <p:par>
                                <p:cTn id="30" presetID="18" presetClass="entr" presetSubtype="6"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strips(downRigh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strips(downRight)">
                                      <p:cBhvr>
                                        <p:cTn id="37" dur="500"/>
                                        <p:tgtEl>
                                          <p:spTgt spid="17"/>
                                        </p:tgtEl>
                                      </p:cBhvr>
                                    </p:animEffect>
                                  </p:childTnLst>
                                </p:cTn>
                              </p:par>
                            </p:childTnLst>
                          </p:cTn>
                        </p:par>
                        <p:par>
                          <p:cTn id="38" fill="hold">
                            <p:stCondLst>
                              <p:cond delay="500"/>
                            </p:stCondLst>
                            <p:childTnLst>
                              <p:par>
                                <p:cTn id="39" presetID="18" presetClass="entr" presetSubtype="6"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strips(downRight)">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18" presetClass="entr" presetSubtype="6" fill="hold"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strips(downRight)">
                                      <p:cBhvr>
                                        <p:cTn id="46" dur="500"/>
                                        <p:tgtEl>
                                          <p:spTgt spid="27"/>
                                        </p:tgtEl>
                                      </p:cBhvr>
                                    </p:animEffect>
                                  </p:childTnLst>
                                </p:cTn>
                              </p:par>
                            </p:childTnLst>
                          </p:cTn>
                        </p:par>
                        <p:par>
                          <p:cTn id="47" fill="hold">
                            <p:stCondLst>
                              <p:cond delay="500"/>
                            </p:stCondLst>
                            <p:childTnLst>
                              <p:par>
                                <p:cTn id="48" presetID="18" presetClass="entr" presetSubtype="6"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strips(downRight)">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18" presetClass="entr" presetSubtype="6" fill="hold" nodeType="click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strips(downRight)">
                                      <p:cBhvr>
                                        <p:cTn id="55" dur="500"/>
                                        <p:tgtEl>
                                          <p:spTgt spid="28"/>
                                        </p:tgtEl>
                                      </p:cBhvr>
                                    </p:animEffect>
                                  </p:childTnLst>
                                </p:cTn>
                              </p:par>
                            </p:childTnLst>
                          </p:cTn>
                        </p:par>
                        <p:par>
                          <p:cTn id="56" fill="hold">
                            <p:stCondLst>
                              <p:cond delay="500"/>
                            </p:stCondLst>
                            <p:childTnLst>
                              <p:par>
                                <p:cTn id="57" presetID="18" presetClass="entr" presetSubtype="6" fill="hold" grpId="0" nodeType="after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strips(downRight)">
                                      <p:cBhvr>
                                        <p:cTn id="59" dur="500"/>
                                        <p:tgtEl>
                                          <p:spTgt spid="15"/>
                                        </p:tgtEl>
                                      </p:cBhvr>
                                    </p:animEffect>
                                  </p:childTnLst>
                                </p:cTn>
                              </p:par>
                            </p:childTnLst>
                          </p:cTn>
                        </p:par>
                      </p:childTnLst>
                    </p:cTn>
                  </p:par>
                  <p:par>
                    <p:cTn id="60" fill="hold">
                      <p:stCondLst>
                        <p:cond delay="indefinite"/>
                      </p:stCondLst>
                      <p:childTnLst>
                        <p:par>
                          <p:cTn id="61" fill="hold">
                            <p:stCondLst>
                              <p:cond delay="0"/>
                            </p:stCondLst>
                            <p:childTnLst>
                              <p:par>
                                <p:cTn id="62" presetID="18" presetClass="entr" presetSubtype="6" fill="hold"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strips(downRight)">
                                      <p:cBhvr>
                                        <p:cTn id="64" dur="500"/>
                                        <p:tgtEl>
                                          <p:spTgt spid="29"/>
                                        </p:tgtEl>
                                      </p:cBhvr>
                                    </p:animEffect>
                                  </p:childTnLst>
                                </p:cTn>
                              </p:par>
                            </p:childTnLst>
                          </p:cTn>
                        </p:par>
                        <p:par>
                          <p:cTn id="65" fill="hold">
                            <p:stCondLst>
                              <p:cond delay="500"/>
                            </p:stCondLst>
                            <p:childTnLst>
                              <p:par>
                                <p:cTn id="66" presetID="18" presetClass="entr" presetSubtype="6" fill="hold" grpId="0"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strips(downRight)">
                                      <p:cBhvr>
                                        <p:cTn id="6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1" grpId="0"/>
      <p:bldP spid="12" grpId="0"/>
      <p:bldP spid="13" grpId="0"/>
      <p:bldP spid="14" grpId="0" animBg="1"/>
      <p:bldP spid="15" grpId="0" animBg="1"/>
      <p:bldP spid="16"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内容占位符 2"/>
          <p:cNvSpPr>
            <a:spLocks noGrp="1"/>
          </p:cNvSpPr>
          <p:nvPr>
            <p:ph idx="1"/>
          </p:nvPr>
        </p:nvSpPr>
        <p:spPr>
          <a:xfrm>
            <a:off x="357188" y="1000125"/>
            <a:ext cx="8001000" cy="2357438"/>
          </a:xfrm>
        </p:spPr>
        <p:txBody>
          <a:bodyPr/>
          <a:lstStyle/>
          <a:p>
            <a:pPr>
              <a:buFont typeface="Wingdings" panose="05000000000000000000" pitchFamily="2" charset="2"/>
              <a:buNone/>
              <a:defRPr/>
            </a:pPr>
            <a:r>
              <a:rPr lang="zh-CN" altLang="en-US" sz="1800" b="1" dirty="0">
                <a:solidFill>
                  <a:schemeClr val="bg2">
                    <a:lumMod val="25000"/>
                  </a:schemeClr>
                </a:solidFill>
              </a:rPr>
              <a:t>（</a:t>
            </a:r>
            <a:r>
              <a:rPr lang="en-US" altLang="zh-CN" sz="1800" b="1" dirty="0">
                <a:solidFill>
                  <a:schemeClr val="bg2">
                    <a:lumMod val="25000"/>
                  </a:schemeClr>
                </a:solidFill>
              </a:rPr>
              <a:t>2</a:t>
            </a:r>
            <a:r>
              <a:rPr lang="zh-CN" altLang="en-US" sz="1800" b="1" dirty="0">
                <a:solidFill>
                  <a:schemeClr val="bg2">
                    <a:lumMod val="25000"/>
                  </a:schemeClr>
                </a:solidFill>
              </a:rPr>
              <a:t>）</a:t>
            </a:r>
            <a:r>
              <a:rPr lang="zh-CN" altLang="zh-CN" sz="1800" b="1" dirty="0">
                <a:solidFill>
                  <a:schemeClr val="bg2">
                    <a:lumMod val="25000"/>
                  </a:schemeClr>
                </a:solidFill>
              </a:rPr>
              <a:t>蠕虫的防治周期</a:t>
            </a:r>
          </a:p>
          <a:p>
            <a:pPr indent="-107950">
              <a:defRPr/>
            </a:pPr>
            <a:r>
              <a:rPr lang="zh-CN" altLang="zh-CN" b="1" dirty="0"/>
              <a:t>蠕虫的防治周期可分为</a:t>
            </a:r>
            <a:r>
              <a:rPr lang="en-US" altLang="zh-CN" b="1" dirty="0"/>
              <a:t>4</a:t>
            </a:r>
            <a:r>
              <a:rPr lang="zh-CN" altLang="zh-CN" b="1" dirty="0"/>
              <a:t>个阶段。</a:t>
            </a:r>
            <a:endParaRPr lang="en-US" altLang="zh-CN" b="1" dirty="0"/>
          </a:p>
          <a:p>
            <a:pPr>
              <a:buFont typeface="Wingdings" panose="05000000000000000000" pitchFamily="2" charset="2"/>
              <a:buNone/>
              <a:defRPr/>
            </a:pPr>
            <a:r>
              <a:rPr lang="zh-CN" altLang="en-US" sz="1800" b="1" dirty="0">
                <a:solidFill>
                  <a:srgbClr val="FF0000"/>
                </a:solidFill>
              </a:rPr>
              <a:t>（</a:t>
            </a:r>
            <a:r>
              <a:rPr lang="en-US" altLang="zh-CN" sz="1800" b="1" dirty="0">
                <a:solidFill>
                  <a:srgbClr val="FF0000"/>
                </a:solidFill>
              </a:rPr>
              <a:t>3</a:t>
            </a:r>
            <a:r>
              <a:rPr lang="zh-CN" altLang="en-US" sz="1800" b="1" dirty="0">
                <a:solidFill>
                  <a:srgbClr val="FF0000"/>
                </a:solidFill>
              </a:rPr>
              <a:t>）</a:t>
            </a:r>
            <a:r>
              <a:rPr lang="zh-CN" altLang="zh-CN" sz="1800" b="1" dirty="0">
                <a:solidFill>
                  <a:srgbClr val="FF0000"/>
                </a:solidFill>
              </a:rPr>
              <a:t>对未知蠕虫的检测</a:t>
            </a:r>
          </a:p>
          <a:p>
            <a:pPr indent="-71755">
              <a:defRPr/>
            </a:pPr>
            <a:r>
              <a:rPr lang="zh-CN" altLang="zh-CN" b="1" dirty="0"/>
              <a:t>比较通用的方式是</a:t>
            </a:r>
            <a:r>
              <a:rPr lang="zh-CN" altLang="zh-CN" b="1" u="sng" dirty="0">
                <a:effectLst>
                  <a:outerShdw blurRad="38100" dist="38100" dir="2700000" algn="tl">
                    <a:srgbClr val="000000">
                      <a:alpha val="43137"/>
                    </a:srgbClr>
                  </a:outerShdw>
                </a:effectLst>
              </a:rPr>
              <a:t>对流量异常的统计分析</a:t>
            </a:r>
            <a:r>
              <a:rPr lang="zh-CN" altLang="zh-CN" b="1" dirty="0"/>
              <a:t>、</a:t>
            </a:r>
            <a:r>
              <a:rPr lang="zh-CN" altLang="zh-CN" b="1" u="sng" dirty="0">
                <a:effectLst>
                  <a:outerShdw blurRad="38100" dist="38100" dir="2700000" algn="tl">
                    <a:srgbClr val="000000">
                      <a:alpha val="43137"/>
                    </a:srgbClr>
                  </a:outerShdw>
                </a:effectLst>
              </a:rPr>
              <a:t>对</a:t>
            </a:r>
            <a:r>
              <a:rPr lang="en-US" altLang="zh-CN" b="1" u="sng" dirty="0">
                <a:effectLst>
                  <a:outerShdw blurRad="38100" dist="38100" dir="2700000" algn="tl">
                    <a:srgbClr val="000000">
                      <a:alpha val="43137"/>
                    </a:srgbClr>
                  </a:outerShdw>
                </a:effectLst>
              </a:rPr>
              <a:t>TCP</a:t>
            </a:r>
            <a:r>
              <a:rPr lang="zh-CN" altLang="zh-CN" b="1" u="sng" dirty="0">
                <a:effectLst>
                  <a:outerShdw blurRad="38100" dist="38100" dir="2700000" algn="tl">
                    <a:srgbClr val="000000">
                      <a:alpha val="43137"/>
                    </a:srgbClr>
                  </a:outerShdw>
                </a:effectLst>
              </a:rPr>
              <a:t>连接异常的分析</a:t>
            </a:r>
            <a:r>
              <a:rPr lang="zh-CN" altLang="zh-CN" b="1" dirty="0"/>
              <a:t>、</a:t>
            </a:r>
            <a:r>
              <a:rPr lang="zh-CN" altLang="zh-CN" b="1" u="sng" dirty="0">
                <a:effectLst>
                  <a:outerShdw blurRad="38100" dist="38100" dir="2700000" algn="tl">
                    <a:srgbClr val="000000">
                      <a:alpha val="43137"/>
                    </a:srgbClr>
                  </a:outerShdw>
                </a:effectLst>
              </a:rPr>
              <a:t>对</a:t>
            </a:r>
            <a:r>
              <a:rPr lang="en-US" altLang="zh-CN" b="1" u="sng" dirty="0">
                <a:effectLst>
                  <a:outerShdw blurRad="38100" dist="38100" dir="2700000" algn="tl">
                    <a:srgbClr val="000000">
                      <a:alpha val="43137"/>
                    </a:srgbClr>
                  </a:outerShdw>
                </a:effectLst>
              </a:rPr>
              <a:t>ICMP</a:t>
            </a:r>
            <a:r>
              <a:rPr lang="zh-CN" altLang="zh-CN" b="1" u="sng" dirty="0">
                <a:effectLst>
                  <a:outerShdw blurRad="38100" dist="38100" dir="2700000" algn="tl">
                    <a:srgbClr val="000000">
                      <a:alpha val="43137"/>
                    </a:srgbClr>
                  </a:outerShdw>
                </a:effectLst>
              </a:rPr>
              <a:t>数据异常的分析</a:t>
            </a:r>
            <a:r>
              <a:rPr lang="zh-CN" altLang="zh-CN" b="1" dirty="0"/>
              <a:t>等</a:t>
            </a:r>
            <a:r>
              <a:rPr lang="zh-CN" altLang="en-US" b="1" dirty="0"/>
              <a:t>（</a:t>
            </a:r>
            <a:r>
              <a:rPr lang="zh-CN" altLang="en-US" b="1" dirty="0">
                <a:solidFill>
                  <a:srgbClr val="FF0000"/>
                </a:solidFill>
              </a:rPr>
              <a:t>具体措施</a:t>
            </a:r>
            <a:r>
              <a:rPr lang="zh-CN" altLang="en-US" b="1" dirty="0"/>
              <a:t>：</a:t>
            </a:r>
            <a:r>
              <a:rPr lang="zh-CN" altLang="en-US" b="1" dirty="0">
                <a:solidFill>
                  <a:srgbClr val="0033CC"/>
                </a:solidFill>
              </a:rPr>
              <a:t>入侵检测</a:t>
            </a:r>
            <a:r>
              <a:rPr lang="zh-CN" altLang="en-US" b="1" dirty="0"/>
              <a:t>）</a:t>
            </a:r>
            <a:endParaRPr lang="zh-CN" altLang="zh-CN" b="1" dirty="0"/>
          </a:p>
          <a:p>
            <a:pPr>
              <a:buFont typeface="Arial" panose="020B0604020202020204" pitchFamily="34" charset="0"/>
              <a:buChar char="•"/>
              <a:defRPr/>
            </a:pPr>
            <a:endParaRPr lang="zh-CN" altLang="zh-CN" sz="1400" b="1" dirty="0"/>
          </a:p>
        </p:txBody>
      </p:sp>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9.4.3 </a:t>
            </a:r>
            <a:r>
              <a:rPr altLang="en-US" sz="2000" dirty="0"/>
              <a:t>蠕虫的机理与防治</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2467">
                                            <p:txEl>
                                              <p:pRg st="2" end="2"/>
                                            </p:txEl>
                                          </p:spTgt>
                                        </p:tgtEl>
                                        <p:attrNameLst>
                                          <p:attrName>style.visibility</p:attrName>
                                        </p:attrNameLst>
                                      </p:cBhvr>
                                      <p:to>
                                        <p:strVal val="visible"/>
                                      </p:to>
                                    </p:set>
                                    <p:animEffect transition="in" filter="fade">
                                      <p:cBhvr>
                                        <p:cTn id="7" dur="500"/>
                                        <p:tgtEl>
                                          <p:spTgt spid="62467">
                                            <p:txEl>
                                              <p:pRg st="2" end="2"/>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2467">
                                            <p:txEl>
                                              <p:pRg st="3" end="3"/>
                                            </p:txEl>
                                          </p:spTgt>
                                        </p:tgtEl>
                                        <p:attrNameLst>
                                          <p:attrName>style.visibility</p:attrName>
                                        </p:attrNameLst>
                                      </p:cBhvr>
                                      <p:to>
                                        <p:strVal val="visible"/>
                                      </p:to>
                                    </p:set>
                                    <p:animEffect transition="in" filter="fade">
                                      <p:cBhvr>
                                        <p:cTn id="11" dur="500"/>
                                        <p:tgtEl>
                                          <p:spTgt spid="624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430306" y="571497"/>
            <a:ext cx="3709646"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lgn="l">
              <a:defRPr/>
            </a:pPr>
            <a:r>
              <a:rPr lang="zh-CN" altLang="en-US" sz="2000" dirty="0"/>
              <a:t>蠕虫的演化 </a:t>
            </a:r>
            <a:r>
              <a:rPr lang="en-US" altLang="zh-CN" sz="2000" dirty="0">
                <a:sym typeface="Wingdings" panose="05000000000000000000" pitchFamily="2" charset="2"/>
              </a:rPr>
              <a:t> </a:t>
            </a:r>
            <a:r>
              <a:rPr lang="zh-CN" altLang="en-US" sz="2000" dirty="0">
                <a:sym typeface="Wingdings" panose="05000000000000000000" pitchFamily="2" charset="2"/>
              </a:rPr>
              <a:t>勒索软件</a:t>
            </a:r>
            <a:endParaRPr altLang="en-US" sz="2000" dirty="0"/>
          </a:p>
        </p:txBody>
      </p:sp>
      <p:sp>
        <p:nvSpPr>
          <p:cNvPr id="8" name="内容占位符 2"/>
          <p:cNvSpPr>
            <a:spLocks noGrp="1"/>
          </p:cNvSpPr>
          <p:nvPr>
            <p:ph idx="1"/>
          </p:nvPr>
        </p:nvSpPr>
        <p:spPr>
          <a:xfrm>
            <a:off x="357188" y="1000125"/>
            <a:ext cx="8679308" cy="2357438"/>
          </a:xfrm>
        </p:spPr>
        <p:txBody>
          <a:bodyPr/>
          <a:lstStyle/>
          <a:p>
            <a:pPr>
              <a:buFont typeface="Wingdings" panose="05000000000000000000" pitchFamily="2" charset="2"/>
              <a:buChar char="l"/>
              <a:defRPr/>
            </a:pPr>
            <a:r>
              <a:rPr lang="zh-CN" altLang="en-US" sz="1800" b="1" dirty="0">
                <a:solidFill>
                  <a:srgbClr val="0033CC"/>
                </a:solidFill>
              </a:rPr>
              <a:t>单纯破坏计算机系统跟不上形势，如何牟利成为黑客关心的问题</a:t>
            </a:r>
            <a:endParaRPr lang="zh-CN" altLang="zh-CN" sz="1800" b="1" dirty="0">
              <a:solidFill>
                <a:srgbClr val="0033CC"/>
              </a:solidFill>
            </a:endParaRPr>
          </a:p>
          <a:p>
            <a:pPr indent="-107950">
              <a:defRPr/>
            </a:pPr>
            <a:r>
              <a:rPr lang="en-US" altLang="zh-CN" b="1" dirty="0"/>
              <a:t> </a:t>
            </a:r>
            <a:r>
              <a:rPr lang="zh-CN" altLang="en-US" b="1" dirty="0"/>
              <a:t>比特币等数字货币的发展，使得黑客的资金账户失去了监管</a:t>
            </a:r>
            <a:endParaRPr lang="en-US" altLang="zh-CN" b="1" dirty="0"/>
          </a:p>
          <a:p>
            <a:pPr indent="-107950">
              <a:defRPr/>
            </a:pPr>
            <a:r>
              <a:rPr lang="en-US" altLang="zh-CN" b="1" dirty="0"/>
              <a:t> </a:t>
            </a:r>
            <a:r>
              <a:rPr lang="zh-CN" altLang="en-US" b="1" dirty="0"/>
              <a:t>黑客将破坏能力转化为控制力，通过控制阻止用户正常使用计算机，强迫用户缴纳赎金</a:t>
            </a:r>
            <a:endParaRPr lang="en-US" altLang="zh-CN" b="1" dirty="0"/>
          </a:p>
          <a:p>
            <a:pPr indent="-107950">
              <a:defRPr/>
            </a:pPr>
            <a:r>
              <a:rPr lang="en-US" altLang="zh-CN" b="1" dirty="0"/>
              <a:t> </a:t>
            </a:r>
            <a:r>
              <a:rPr lang="zh-CN" altLang="en-US" b="1" dirty="0"/>
              <a:t>勒索软件成为一种趋势</a:t>
            </a:r>
            <a:endParaRPr lang="en-US" altLang="zh-CN" b="1" dirty="0"/>
          </a:p>
          <a:p>
            <a:pPr>
              <a:buFont typeface="Wingdings" panose="05000000000000000000" pitchFamily="2" charset="2"/>
              <a:buChar char="l"/>
              <a:defRPr/>
            </a:pPr>
            <a:r>
              <a:rPr lang="zh-CN" altLang="en-US" sz="1800" b="1" dirty="0">
                <a:solidFill>
                  <a:srgbClr val="0033CC"/>
                </a:solidFill>
              </a:rPr>
              <a:t>勒索软件分类</a:t>
            </a:r>
            <a:endParaRPr lang="zh-CN" altLang="zh-CN" sz="1800" b="1" dirty="0">
              <a:solidFill>
                <a:srgbClr val="0033CC"/>
              </a:solidFill>
            </a:endParaRPr>
          </a:p>
          <a:p>
            <a:pPr indent="-71755">
              <a:defRPr/>
            </a:pPr>
            <a:r>
              <a:rPr lang="zh-CN" altLang="en-US" b="1" dirty="0"/>
              <a:t> </a:t>
            </a:r>
            <a:r>
              <a:rPr lang="zh-CN" altLang="en-US" b="1" u="sng" dirty="0"/>
              <a:t>屏幕锁定器</a:t>
            </a:r>
            <a:r>
              <a:rPr lang="zh-CN" altLang="en-US" b="1" dirty="0"/>
              <a:t>：阻止用户访问系统，要求付费才能访问</a:t>
            </a:r>
            <a:endParaRPr lang="en-US" altLang="zh-CN" b="1" dirty="0"/>
          </a:p>
          <a:p>
            <a:pPr indent="-71755">
              <a:defRPr/>
            </a:pPr>
            <a:r>
              <a:rPr lang="en-US" altLang="zh-CN" b="1" dirty="0"/>
              <a:t> </a:t>
            </a:r>
            <a:r>
              <a:rPr lang="zh-CN" altLang="en-US" b="1" u="sng" dirty="0"/>
              <a:t>文件加密器</a:t>
            </a:r>
            <a:r>
              <a:rPr lang="zh-CN" altLang="en-US" b="1" dirty="0"/>
              <a:t>：阻止用户访问个人文件或整个硬盘驱动器，要求用户支付赎金才能恢复数据</a:t>
            </a:r>
            <a:endParaRPr lang="zh-CN" altLang="zh-CN" b="1" dirty="0"/>
          </a:p>
          <a:p>
            <a:pPr marL="0" indent="0">
              <a:buNone/>
              <a:defRPr/>
            </a:pPr>
            <a:endParaRPr lang="zh-CN" altLang="zh-CN" sz="1800" b="1" dirty="0">
              <a:solidFill>
                <a:srgbClr val="FF0000"/>
              </a:solidFill>
            </a:endParaRPr>
          </a:p>
        </p:txBody>
      </p:sp>
    </p:spTree>
  </p:cSld>
  <p:clrMapOvr>
    <a:masterClrMapping/>
  </p:clrMapOvr>
  <p:transition spd="med">
    <p:randomBar dir="ver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430306" y="571497"/>
            <a:ext cx="3709646"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lgn="l">
              <a:defRPr/>
            </a:pPr>
            <a:r>
              <a:rPr lang="zh-CN" altLang="en-US" sz="2000" dirty="0"/>
              <a:t>蠕虫的演化 </a:t>
            </a:r>
            <a:r>
              <a:rPr lang="en-US" altLang="zh-CN" sz="2000" dirty="0">
                <a:sym typeface="Wingdings" panose="05000000000000000000" pitchFamily="2" charset="2"/>
              </a:rPr>
              <a:t> </a:t>
            </a:r>
            <a:r>
              <a:rPr lang="zh-CN" altLang="en-US" sz="2000" dirty="0">
                <a:sym typeface="Wingdings" panose="05000000000000000000" pitchFamily="2" charset="2"/>
              </a:rPr>
              <a:t>勒索软件</a:t>
            </a:r>
            <a:endParaRPr altLang="en-US" sz="2000" dirty="0"/>
          </a:p>
        </p:txBody>
      </p:sp>
      <p:sp>
        <p:nvSpPr>
          <p:cNvPr id="8" name="内容占位符 2"/>
          <p:cNvSpPr>
            <a:spLocks noGrp="1"/>
          </p:cNvSpPr>
          <p:nvPr>
            <p:ph idx="1"/>
          </p:nvPr>
        </p:nvSpPr>
        <p:spPr>
          <a:xfrm>
            <a:off x="357188" y="1000125"/>
            <a:ext cx="8679308" cy="2357438"/>
          </a:xfrm>
        </p:spPr>
        <p:txBody>
          <a:bodyPr/>
          <a:lstStyle/>
          <a:p>
            <a:pPr>
              <a:buFont typeface="Wingdings" panose="05000000000000000000" pitchFamily="2" charset="2"/>
              <a:buChar char="l"/>
              <a:defRPr/>
            </a:pPr>
            <a:r>
              <a:rPr lang="zh-CN" altLang="en-US" sz="1800" b="1" dirty="0">
                <a:solidFill>
                  <a:srgbClr val="0033CC"/>
                </a:solidFill>
              </a:rPr>
              <a:t>单纯破坏计算机系统跟不上形势，如何牟利成为黑客关心的问题</a:t>
            </a:r>
            <a:endParaRPr lang="zh-CN" altLang="zh-CN" sz="1800" b="1" dirty="0">
              <a:solidFill>
                <a:srgbClr val="0033CC"/>
              </a:solidFill>
            </a:endParaRPr>
          </a:p>
          <a:p>
            <a:pPr indent="-107950">
              <a:defRPr/>
            </a:pPr>
            <a:r>
              <a:rPr lang="en-US" altLang="zh-CN" b="1" dirty="0"/>
              <a:t> </a:t>
            </a:r>
            <a:r>
              <a:rPr lang="zh-CN" altLang="en-US" b="1" dirty="0"/>
              <a:t>比特币等数字货币的发展，使得黑客的资金账户失去了监管</a:t>
            </a:r>
            <a:endParaRPr lang="en-US" altLang="zh-CN" b="1" dirty="0"/>
          </a:p>
          <a:p>
            <a:pPr indent="-107950">
              <a:defRPr/>
            </a:pPr>
            <a:r>
              <a:rPr lang="en-US" altLang="zh-CN" b="1" dirty="0"/>
              <a:t> </a:t>
            </a:r>
            <a:r>
              <a:rPr lang="zh-CN" altLang="en-US" b="1" dirty="0"/>
              <a:t>黑客将破坏能力转化为控制力，通过控制阻止用户正常使用计算机，强迫用户缴纳赎金</a:t>
            </a:r>
            <a:endParaRPr lang="en-US" altLang="zh-CN" b="1" dirty="0"/>
          </a:p>
          <a:p>
            <a:pPr indent="-107950">
              <a:defRPr/>
            </a:pPr>
            <a:r>
              <a:rPr lang="en-US" altLang="zh-CN" b="1" dirty="0"/>
              <a:t> </a:t>
            </a:r>
            <a:r>
              <a:rPr lang="zh-CN" altLang="en-US" b="1" dirty="0"/>
              <a:t>勒索软件成为一种趋势</a:t>
            </a:r>
            <a:endParaRPr lang="en-US" altLang="zh-CN" b="1" dirty="0"/>
          </a:p>
          <a:p>
            <a:pPr>
              <a:buFont typeface="Wingdings" panose="05000000000000000000" pitchFamily="2" charset="2"/>
              <a:buChar char="l"/>
              <a:defRPr/>
            </a:pPr>
            <a:r>
              <a:rPr lang="zh-CN" altLang="en-US" sz="1800" b="1" dirty="0">
                <a:solidFill>
                  <a:srgbClr val="0033CC"/>
                </a:solidFill>
              </a:rPr>
              <a:t>勒索软件分类</a:t>
            </a:r>
            <a:endParaRPr lang="zh-CN" altLang="zh-CN" sz="1800" b="1" dirty="0">
              <a:solidFill>
                <a:srgbClr val="0033CC"/>
              </a:solidFill>
            </a:endParaRPr>
          </a:p>
          <a:p>
            <a:pPr indent="-71755">
              <a:defRPr/>
            </a:pPr>
            <a:r>
              <a:rPr lang="zh-CN" altLang="en-US" b="1" dirty="0"/>
              <a:t> </a:t>
            </a:r>
            <a:r>
              <a:rPr lang="zh-CN" altLang="en-US" b="1" u="sng" dirty="0"/>
              <a:t>屏幕锁定器</a:t>
            </a:r>
            <a:r>
              <a:rPr lang="zh-CN" altLang="en-US" b="1" dirty="0"/>
              <a:t>：阻止用户访问系统，要求付费才能访问</a:t>
            </a:r>
            <a:endParaRPr lang="en-US" altLang="zh-CN" b="1" dirty="0"/>
          </a:p>
          <a:p>
            <a:pPr indent="-71755">
              <a:defRPr/>
            </a:pPr>
            <a:r>
              <a:rPr lang="en-US" altLang="zh-CN" b="1" dirty="0"/>
              <a:t> </a:t>
            </a:r>
            <a:r>
              <a:rPr lang="zh-CN" altLang="en-US" b="1" u="sng" dirty="0"/>
              <a:t>文件加密器</a:t>
            </a:r>
            <a:r>
              <a:rPr lang="zh-CN" altLang="en-US" b="1" dirty="0"/>
              <a:t>：阻止用户访问个人文件或整个硬盘驱动器，要求用户支付赎金才能恢复数据</a:t>
            </a:r>
            <a:endParaRPr lang="zh-CN" altLang="zh-CN" b="1" dirty="0"/>
          </a:p>
          <a:p>
            <a:pPr marL="0" indent="0">
              <a:buNone/>
              <a:defRPr/>
            </a:pPr>
            <a:endParaRPr lang="zh-CN" altLang="zh-CN" sz="1800" b="1" dirty="0">
              <a:solidFill>
                <a:srgbClr val="FF0000"/>
              </a:solidFill>
            </a:endParaRPr>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rcRect b="6807"/>
          <a:stretch>
            <a:fillRect/>
          </a:stretch>
        </p:blipFill>
        <p:spPr>
          <a:xfrm>
            <a:off x="2123728" y="39474"/>
            <a:ext cx="6963884" cy="4574398"/>
          </a:xfrm>
          <a:prstGeom prst="rect">
            <a:avLst/>
          </a:prstGeom>
        </p:spPr>
      </p:pic>
      <p:sp>
        <p:nvSpPr>
          <p:cNvPr id="2" name="矩形 1"/>
          <p:cNvSpPr/>
          <p:nvPr/>
        </p:nvSpPr>
        <p:spPr bwMode="auto">
          <a:xfrm>
            <a:off x="4139952" y="869241"/>
            <a:ext cx="4855578" cy="559512"/>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endParaRPr>
          </a:p>
        </p:txBody>
      </p:sp>
      <p:sp>
        <p:nvSpPr>
          <p:cNvPr id="3" name="矩形 2"/>
          <p:cNvSpPr/>
          <p:nvPr/>
        </p:nvSpPr>
        <p:spPr bwMode="auto">
          <a:xfrm>
            <a:off x="4139952" y="2643758"/>
            <a:ext cx="4680520" cy="432048"/>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endParaRPr>
          </a:p>
        </p:txBody>
      </p:sp>
      <p:sp>
        <p:nvSpPr>
          <p:cNvPr id="5" name="矩形 4"/>
          <p:cNvSpPr/>
          <p:nvPr/>
        </p:nvSpPr>
        <p:spPr bwMode="auto">
          <a:xfrm>
            <a:off x="4139952" y="3939902"/>
            <a:ext cx="4947660" cy="673969"/>
          </a:xfrm>
          <a:prstGeom prst="rect">
            <a:avLst/>
          </a:prstGeom>
          <a:noFill/>
          <a:ln w="38100" cap="flat" cmpd="sng" algn="ctr">
            <a:solidFill>
              <a:srgbClr val="FFFF00"/>
            </a:solidFill>
            <a:prstDash val="solid"/>
            <a:round/>
            <a:headEnd type="none" w="med" len="med"/>
            <a:tailEnd type="none" w="med" len="med"/>
          </a:ln>
          <a:effectLst/>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endParaRPr>
          </a:p>
        </p:txBody>
      </p:sp>
    </p:spTree>
  </p:cSld>
  <p:clrMapOvr>
    <a:masterClrMapping/>
  </p:clrMapOvr>
  <p:transition spd="med">
    <p:randomBar dir="vert"/>
  </p:transition>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1" name="内容占位符 2"/>
          <p:cNvSpPr>
            <a:spLocks noGrp="1"/>
          </p:cNvSpPr>
          <p:nvPr>
            <p:ph idx="1"/>
          </p:nvPr>
        </p:nvSpPr>
        <p:spPr>
          <a:xfrm>
            <a:off x="285750" y="1071563"/>
            <a:ext cx="8572500" cy="2571750"/>
          </a:xfrm>
        </p:spPr>
        <p:txBody>
          <a:bodyPr/>
          <a:lstStyle/>
          <a:p>
            <a:pPr>
              <a:buFont typeface="Wingdings" panose="05000000000000000000" pitchFamily="2" charset="2"/>
              <a:buNone/>
              <a:defRPr/>
            </a:pPr>
            <a:r>
              <a:rPr lang="en-US" altLang="zh-CN" sz="2000" b="1" dirty="0">
                <a:solidFill>
                  <a:srgbClr val="FF0000"/>
                </a:solidFill>
              </a:rPr>
              <a:t>1. </a:t>
            </a:r>
            <a:r>
              <a:rPr lang="zh-CN" altLang="en-US" sz="2000" b="1" dirty="0">
                <a:solidFill>
                  <a:srgbClr val="FF0000"/>
                </a:solidFill>
              </a:rPr>
              <a:t>木马的定义</a:t>
            </a:r>
          </a:p>
          <a:p>
            <a:pPr indent="-71755">
              <a:defRPr/>
            </a:pPr>
            <a:r>
              <a:rPr lang="zh-CN" altLang="en-US" b="1" dirty="0"/>
              <a:t> 木马是一种恶意程序，是</a:t>
            </a:r>
            <a:r>
              <a:rPr lang="zh-CN" altLang="en-US" b="1" dirty="0">
                <a:solidFill>
                  <a:srgbClr val="FF0000"/>
                </a:solidFill>
              </a:rPr>
              <a:t>一种基于远程控制</a:t>
            </a:r>
            <a:r>
              <a:rPr lang="zh-CN" altLang="en-US" b="1" dirty="0"/>
              <a:t>的</a:t>
            </a:r>
            <a:r>
              <a:rPr lang="zh-CN" altLang="en-US" b="1" u="sng" dirty="0">
                <a:effectLst>
                  <a:outerShdw blurRad="38100" dist="38100" dir="2700000" algn="tl">
                    <a:srgbClr val="000000">
                      <a:alpha val="43137"/>
                    </a:srgbClr>
                  </a:outerShdw>
                </a:effectLst>
              </a:rPr>
              <a:t>攻击工具</a:t>
            </a:r>
            <a:r>
              <a:rPr lang="zh-CN" altLang="en-US" b="1" dirty="0"/>
              <a:t>，它</a:t>
            </a:r>
            <a:r>
              <a:rPr lang="zh-CN" altLang="en-US" b="1" dirty="0">
                <a:solidFill>
                  <a:srgbClr val="FF0000"/>
                </a:solidFill>
              </a:rPr>
              <a:t>一旦入侵</a:t>
            </a:r>
            <a:r>
              <a:rPr lang="zh-CN" altLang="en-US" b="1" u="sng" dirty="0">
                <a:effectLst>
                  <a:outerShdw blurRad="38100" dist="38100" dir="2700000" algn="tl">
                    <a:srgbClr val="000000">
                      <a:alpha val="43137"/>
                    </a:srgbClr>
                  </a:outerShdw>
                </a:effectLst>
              </a:rPr>
              <a:t>用户的计算机</a:t>
            </a:r>
            <a:r>
              <a:rPr lang="zh-CN" altLang="en-US" b="1" dirty="0"/>
              <a:t>，就悄悄地在宿主计算机上运行，</a:t>
            </a:r>
            <a:r>
              <a:rPr lang="zh-CN" altLang="en-US" b="1" dirty="0">
                <a:solidFill>
                  <a:srgbClr val="FF0000"/>
                </a:solidFill>
              </a:rPr>
              <a:t>在用户毫无觉察的情况下</a:t>
            </a:r>
            <a:r>
              <a:rPr lang="zh-CN" altLang="en-US" b="1" dirty="0"/>
              <a:t>，</a:t>
            </a:r>
            <a:r>
              <a:rPr lang="zh-CN" altLang="en-US" b="1" dirty="0">
                <a:solidFill>
                  <a:srgbClr val="FF0000"/>
                </a:solidFill>
              </a:rPr>
              <a:t>让</a:t>
            </a:r>
            <a:r>
              <a:rPr lang="zh-CN" altLang="en-US" b="1" dirty="0">
                <a:solidFill>
                  <a:srgbClr val="0033CC"/>
                </a:solidFill>
              </a:rPr>
              <a:t>攻击者</a:t>
            </a:r>
            <a:r>
              <a:rPr lang="zh-CN" altLang="en-US" b="1" dirty="0">
                <a:solidFill>
                  <a:srgbClr val="FF0000"/>
                </a:solidFill>
              </a:rPr>
              <a:t>获得</a:t>
            </a:r>
            <a:r>
              <a:rPr lang="zh-CN" altLang="en-US" b="1" dirty="0">
                <a:solidFill>
                  <a:srgbClr val="0033CC"/>
                </a:solidFill>
              </a:rPr>
              <a:t>远程访问和控制系统的权限 </a:t>
            </a:r>
            <a:r>
              <a:rPr lang="en-US" altLang="zh-CN" b="1" dirty="0">
                <a:solidFill>
                  <a:srgbClr val="FF0000"/>
                </a:solidFill>
                <a:sym typeface="Wingdings" panose="05000000000000000000" pitchFamily="2" charset="2"/>
              </a:rPr>
              <a:t></a:t>
            </a:r>
            <a:r>
              <a:rPr lang="en-US" altLang="zh-CN" b="1" dirty="0">
                <a:sym typeface="Wingdings" panose="05000000000000000000" pitchFamily="2" charset="2"/>
              </a:rPr>
              <a:t> </a:t>
            </a:r>
            <a:r>
              <a:rPr lang="zh-CN" altLang="en-US" b="1" dirty="0">
                <a:solidFill>
                  <a:srgbClr val="FF0000"/>
                </a:solidFill>
              </a:rPr>
              <a:t>进而</a:t>
            </a:r>
            <a:r>
              <a:rPr lang="zh-CN" altLang="en-US" b="1" dirty="0"/>
              <a:t>在用户的计算机中修改文件、注册表、控制鼠标、监视</a:t>
            </a:r>
            <a:r>
              <a:rPr lang="en-US" altLang="zh-CN" b="1" dirty="0"/>
              <a:t>/</a:t>
            </a:r>
            <a:r>
              <a:rPr lang="zh-CN" altLang="en-US" b="1" dirty="0"/>
              <a:t>控制键盘，或窃取用户信息，乃至实施远程控制。</a:t>
            </a:r>
            <a:endParaRPr lang="en-US" altLang="zh-CN" b="1" dirty="0"/>
          </a:p>
          <a:p>
            <a:pPr indent="-71755">
              <a:defRPr/>
            </a:pPr>
            <a:r>
              <a:rPr lang="en-US" altLang="zh-CN" b="1" dirty="0"/>
              <a:t> </a:t>
            </a:r>
            <a:r>
              <a:rPr lang="zh-CN" altLang="en-US" b="1" dirty="0"/>
              <a:t>它是攻击者的主要攻击手段之一，具有隐蔽性和非授权性等特点。</a:t>
            </a:r>
            <a:endParaRPr lang="en-US" altLang="zh-CN" b="1" dirty="0"/>
          </a:p>
          <a:p>
            <a:pPr indent="-71755">
              <a:defRPr/>
            </a:pPr>
            <a:r>
              <a:rPr lang="en-US" altLang="zh-CN" b="1" dirty="0"/>
              <a:t> </a:t>
            </a:r>
            <a:r>
              <a:rPr lang="zh-CN" altLang="en-US" b="1" dirty="0"/>
              <a:t>木马</a:t>
            </a:r>
            <a:r>
              <a:rPr lang="zh-CN" altLang="en-US" b="1" u="sng" dirty="0">
                <a:solidFill>
                  <a:srgbClr val="FF0000"/>
                </a:solidFill>
                <a:effectLst>
                  <a:outerShdw blurRad="38100" dist="38100" dir="2700000" algn="tl">
                    <a:srgbClr val="000000">
                      <a:alpha val="43137"/>
                    </a:srgbClr>
                  </a:outerShdw>
                </a:effectLst>
              </a:rPr>
              <a:t>不进行</a:t>
            </a:r>
            <a:r>
              <a:rPr lang="zh-CN" altLang="en-US" b="1" dirty="0">
                <a:solidFill>
                  <a:srgbClr val="0033CC"/>
                </a:solidFill>
              </a:rPr>
              <a:t>自我复制</a:t>
            </a:r>
            <a:r>
              <a:rPr lang="zh-CN" altLang="en-US" b="1" dirty="0"/>
              <a:t>。</a:t>
            </a:r>
          </a:p>
          <a:p>
            <a:pPr>
              <a:buFont typeface="Arial" panose="020B0604020202020204" pitchFamily="34" charset="0"/>
              <a:buChar char="•"/>
              <a:defRPr/>
            </a:pPr>
            <a:endParaRPr lang="zh-CN" altLang="zh-CN" sz="1400" b="1" dirty="0"/>
          </a:p>
        </p:txBody>
      </p:sp>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pic>
        <p:nvPicPr>
          <p:cNvPr id="81925" name="Picture 5" descr="C:\Users\P51\AppData\Roaming\Tencent\Users\173375927\QQ\WinTemp\RichOle\9D7O60RG]L{D8I9[BK$V__X.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2588" y="2932113"/>
            <a:ext cx="2278062"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634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内容占位符 2"/>
          <p:cNvSpPr>
            <a:spLocks noGrp="1"/>
          </p:cNvSpPr>
          <p:nvPr>
            <p:ph idx="1"/>
          </p:nvPr>
        </p:nvSpPr>
        <p:spPr>
          <a:xfrm>
            <a:off x="357188" y="1571625"/>
            <a:ext cx="5286375" cy="1958975"/>
          </a:xfrm>
        </p:spPr>
        <p:txBody>
          <a:bodyPr/>
          <a:lstStyle/>
          <a:p>
            <a:pPr>
              <a:buFont typeface="Wingdings" panose="05000000000000000000" pitchFamily="2" charset="2"/>
              <a:buNone/>
              <a:defRPr/>
            </a:pPr>
            <a:r>
              <a:rPr lang="en-US" altLang="zh-CN" sz="2000" b="1" dirty="0">
                <a:solidFill>
                  <a:srgbClr val="FF0000"/>
                </a:solidFill>
              </a:rPr>
              <a:t>2. </a:t>
            </a:r>
            <a:r>
              <a:rPr lang="zh-CN" altLang="zh-CN" sz="2000" b="1" dirty="0">
                <a:solidFill>
                  <a:srgbClr val="FF0000"/>
                </a:solidFill>
              </a:rPr>
              <a:t>木马的结构</a:t>
            </a:r>
          </a:p>
          <a:p>
            <a:pPr indent="-107950">
              <a:defRPr/>
            </a:pPr>
            <a:r>
              <a:rPr lang="zh-CN" altLang="zh-CN" b="1" dirty="0"/>
              <a:t>木马系统通常采用</a:t>
            </a:r>
            <a:r>
              <a:rPr lang="en-US" altLang="zh-CN" b="1" dirty="0">
                <a:solidFill>
                  <a:srgbClr val="FF0000"/>
                </a:solidFill>
              </a:rPr>
              <a:t>C/S</a:t>
            </a:r>
            <a:r>
              <a:rPr lang="zh-CN" altLang="zh-CN" b="1" dirty="0">
                <a:solidFill>
                  <a:srgbClr val="FF0000"/>
                </a:solidFill>
              </a:rPr>
              <a:t>结构</a:t>
            </a:r>
            <a:r>
              <a:rPr lang="zh-CN" altLang="zh-CN" b="1" dirty="0"/>
              <a:t>。即分为服务端和客户端。通常功能上由</a:t>
            </a:r>
            <a:r>
              <a:rPr lang="zh-CN" altLang="zh-CN" b="1" dirty="0">
                <a:solidFill>
                  <a:srgbClr val="0033CC"/>
                </a:solidFill>
              </a:rPr>
              <a:t>木马配置程序</a:t>
            </a:r>
            <a:r>
              <a:rPr lang="zh-CN" altLang="zh-CN" b="1" dirty="0"/>
              <a:t>、</a:t>
            </a:r>
            <a:r>
              <a:rPr lang="zh-CN" altLang="zh-CN" b="1" dirty="0">
                <a:solidFill>
                  <a:srgbClr val="0033CC"/>
                </a:solidFill>
              </a:rPr>
              <a:t>控制程序</a:t>
            </a:r>
            <a:r>
              <a:rPr lang="zh-CN" altLang="zh-CN" b="1" dirty="0"/>
              <a:t>和</a:t>
            </a:r>
            <a:r>
              <a:rPr lang="zh-CN" altLang="zh-CN" b="1" dirty="0">
                <a:solidFill>
                  <a:srgbClr val="0033CC"/>
                </a:solidFill>
              </a:rPr>
              <a:t>木马程序</a:t>
            </a:r>
            <a:r>
              <a:rPr lang="en-US" altLang="zh-CN" b="1" dirty="0">
                <a:solidFill>
                  <a:srgbClr val="FF0000"/>
                </a:solidFill>
              </a:rPr>
              <a:t>3</a:t>
            </a:r>
            <a:r>
              <a:rPr lang="zh-CN" altLang="zh-CN" b="1" dirty="0">
                <a:solidFill>
                  <a:srgbClr val="FF0000"/>
                </a:solidFill>
              </a:rPr>
              <a:t>个部分组成</a:t>
            </a:r>
            <a:r>
              <a:rPr lang="zh-CN" altLang="zh-CN" b="1" dirty="0"/>
              <a:t>，如图所示。</a:t>
            </a:r>
          </a:p>
          <a:p>
            <a:pPr>
              <a:buFont typeface="Arial" panose="020B0604020202020204" pitchFamily="34" charset="0"/>
              <a:buChar char="•"/>
              <a:defRPr/>
            </a:pPr>
            <a:endParaRPr lang="zh-CN" altLang="zh-CN" sz="1400" b="1" dirty="0"/>
          </a:p>
        </p:txBody>
      </p:sp>
      <p:sp>
        <p:nvSpPr>
          <p:cNvPr id="7"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pic>
        <p:nvPicPr>
          <p:cNvPr id="9"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86438" y="1285875"/>
            <a:ext cx="3152775" cy="313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animEffect transition="in" filter="fade">
                                      <p:cBhvr>
                                        <p:cTn id="7" dur="500"/>
                                        <p:tgtEl>
                                          <p:spTgt spid="6451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4515">
                                            <p:txEl>
                                              <p:pRg st="1" end="1"/>
                                            </p:txEl>
                                          </p:spTgt>
                                        </p:tgtEl>
                                        <p:attrNameLst>
                                          <p:attrName>style.visibility</p:attrName>
                                        </p:attrNameLst>
                                      </p:cBhvr>
                                      <p:to>
                                        <p:strVal val="visible"/>
                                      </p:to>
                                    </p:set>
                                    <p:animEffect transition="in" filter="fade">
                                      <p:cBhvr>
                                        <p:cTn id="11" dur="500"/>
                                        <p:tgtEl>
                                          <p:spTgt spid="64515">
                                            <p:txEl>
                                              <p:pRg st="1" end="1"/>
                                            </p:txEl>
                                          </p:spTgt>
                                        </p:tgtEl>
                                      </p:cBhvr>
                                    </p:animEffect>
                                  </p:childTnLst>
                                </p:cTn>
                              </p:par>
                            </p:childTnLst>
                          </p:cTn>
                        </p:par>
                        <p:par>
                          <p:cTn id="12" fill="hold">
                            <p:stCondLst>
                              <p:cond delay="1000"/>
                            </p:stCondLst>
                            <p:childTnLst>
                              <p:par>
                                <p:cTn id="13" presetID="47"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1000"/>
                                        <p:tgtEl>
                                          <p:spTgt spid="9"/>
                                        </p:tgtEl>
                                      </p:cBhvr>
                                    </p:animEffect>
                                    <p:anim calcmode="lin" valueType="num">
                                      <p:cBhvr>
                                        <p:cTn id="16" dur="1000" fill="hold"/>
                                        <p:tgtEl>
                                          <p:spTgt spid="9"/>
                                        </p:tgtEl>
                                        <p:attrNameLst>
                                          <p:attrName>ppt_x</p:attrName>
                                        </p:attrNameLst>
                                      </p:cBhvr>
                                      <p:tavLst>
                                        <p:tav tm="0">
                                          <p:val>
                                            <p:strVal val="#ppt_x"/>
                                          </p:val>
                                        </p:tav>
                                        <p:tav tm="100000">
                                          <p:val>
                                            <p:strVal val="#ppt_x"/>
                                          </p:val>
                                        </p:tav>
                                      </p:tavLst>
                                    </p:anim>
                                    <p:anim calcmode="lin" valueType="num">
                                      <p:cBhvr>
                                        <p:cTn id="1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86438" y="1143000"/>
            <a:ext cx="3152775" cy="313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39" name="内容占位符 2"/>
          <p:cNvSpPr>
            <a:spLocks noGrp="1"/>
          </p:cNvSpPr>
          <p:nvPr>
            <p:ph idx="1"/>
          </p:nvPr>
        </p:nvSpPr>
        <p:spPr>
          <a:xfrm>
            <a:off x="214313" y="1143000"/>
            <a:ext cx="5357812" cy="3429000"/>
          </a:xfrm>
        </p:spPr>
        <p:txBody>
          <a:bodyPr/>
          <a:lstStyle/>
          <a:p>
            <a:pPr marL="71755" indent="-71755">
              <a:defRPr/>
            </a:pPr>
            <a:r>
              <a:rPr lang="zh-CN" altLang="en-US" b="1" dirty="0">
                <a:solidFill>
                  <a:srgbClr val="FF0000"/>
                </a:solidFill>
              </a:rPr>
              <a:t>（</a:t>
            </a:r>
            <a:r>
              <a:rPr lang="en-US" altLang="zh-CN" b="1" dirty="0">
                <a:solidFill>
                  <a:srgbClr val="FF0000"/>
                </a:solidFill>
              </a:rPr>
              <a:t>1</a:t>
            </a:r>
            <a:r>
              <a:rPr lang="zh-CN" altLang="en-US" b="1" dirty="0">
                <a:solidFill>
                  <a:srgbClr val="FF0000"/>
                </a:solidFill>
              </a:rPr>
              <a:t>）</a:t>
            </a:r>
            <a:r>
              <a:rPr lang="zh-CN" altLang="zh-CN" b="1" dirty="0">
                <a:solidFill>
                  <a:srgbClr val="FF0000"/>
                </a:solidFill>
              </a:rPr>
              <a:t>木马程序</a:t>
            </a:r>
            <a:r>
              <a:rPr lang="zh-CN" altLang="zh-CN" b="1" dirty="0">
                <a:solidFill>
                  <a:schemeClr val="bg2">
                    <a:lumMod val="25000"/>
                  </a:schemeClr>
                </a:solidFill>
              </a:rPr>
              <a:t>。</a:t>
            </a:r>
            <a:r>
              <a:rPr lang="zh-CN" altLang="zh-CN" b="1" dirty="0"/>
              <a:t>也称为服务器程序，驻留在受害者的系统中，非法获取其操作权限，</a:t>
            </a:r>
            <a:r>
              <a:rPr lang="zh-CN" altLang="zh-CN" b="1" dirty="0">
                <a:solidFill>
                  <a:srgbClr val="0033CC"/>
                </a:solidFill>
              </a:rPr>
              <a:t>负责接收</a:t>
            </a:r>
            <a:r>
              <a:rPr lang="zh-CN" altLang="zh-CN" b="1" dirty="0"/>
              <a:t>控制指令，并</a:t>
            </a:r>
            <a:r>
              <a:rPr lang="zh-CN" altLang="zh-CN" b="1" dirty="0">
                <a:solidFill>
                  <a:srgbClr val="0033CC"/>
                </a:solidFill>
              </a:rPr>
              <a:t>根据</a:t>
            </a:r>
            <a:r>
              <a:rPr lang="zh-CN" altLang="zh-CN" b="1" dirty="0"/>
              <a:t>指令或配置</a:t>
            </a:r>
            <a:r>
              <a:rPr lang="zh-CN" altLang="zh-CN" b="1" dirty="0">
                <a:solidFill>
                  <a:srgbClr val="0033CC"/>
                </a:solidFill>
              </a:rPr>
              <a:t>发送</a:t>
            </a:r>
            <a:r>
              <a:rPr lang="zh-CN" altLang="zh-CN" b="1" dirty="0"/>
              <a:t>数据给控制端。</a:t>
            </a:r>
            <a:endParaRPr lang="zh-CN" altLang="zh-CN" sz="1800" b="1" dirty="0"/>
          </a:p>
          <a:p>
            <a:pPr marL="71755" indent="-71755">
              <a:defRPr/>
            </a:pPr>
            <a:r>
              <a:rPr lang="zh-CN" altLang="en-US" b="1" dirty="0">
                <a:solidFill>
                  <a:srgbClr val="FF0000"/>
                </a:solidFill>
              </a:rPr>
              <a:t>（</a:t>
            </a:r>
            <a:r>
              <a:rPr lang="en-US" altLang="zh-CN" b="1" dirty="0">
                <a:solidFill>
                  <a:srgbClr val="FF0000"/>
                </a:solidFill>
              </a:rPr>
              <a:t>2</a:t>
            </a:r>
            <a:r>
              <a:rPr lang="zh-CN" altLang="en-US" b="1" dirty="0">
                <a:solidFill>
                  <a:srgbClr val="FF0000"/>
                </a:solidFill>
              </a:rPr>
              <a:t>）</a:t>
            </a:r>
            <a:r>
              <a:rPr lang="zh-CN" altLang="zh-CN" b="1" dirty="0">
                <a:solidFill>
                  <a:srgbClr val="FF0000"/>
                </a:solidFill>
              </a:rPr>
              <a:t>木马配置程序</a:t>
            </a:r>
            <a:r>
              <a:rPr lang="zh-CN" altLang="zh-CN" b="1" dirty="0">
                <a:solidFill>
                  <a:schemeClr val="bg2">
                    <a:lumMod val="25000"/>
                  </a:schemeClr>
                </a:solidFill>
              </a:rPr>
              <a:t>。</a:t>
            </a:r>
            <a:r>
              <a:rPr lang="zh-CN" altLang="zh-CN" b="1" dirty="0"/>
              <a:t>木马配置程序</a:t>
            </a:r>
            <a:r>
              <a:rPr lang="zh-CN" altLang="zh-CN" b="1" dirty="0">
                <a:solidFill>
                  <a:srgbClr val="0033CC"/>
                </a:solidFill>
              </a:rPr>
              <a:t>设置</a:t>
            </a:r>
            <a:r>
              <a:rPr lang="zh-CN" altLang="zh-CN" b="1" dirty="0"/>
              <a:t>木马程序的端口号、触发条件、木马名称等，使其在服务器端隐藏得</a:t>
            </a:r>
            <a:r>
              <a:rPr lang="zh-CN" altLang="zh-CN" b="1" dirty="0">
                <a:solidFill>
                  <a:srgbClr val="0033CC"/>
                </a:solidFill>
              </a:rPr>
              <a:t>更隐蔽</a:t>
            </a:r>
            <a:r>
              <a:rPr lang="zh-CN" altLang="zh-CN" b="1" dirty="0"/>
              <a:t>。</a:t>
            </a:r>
            <a:endParaRPr lang="zh-CN" altLang="zh-CN" sz="1800" b="1" dirty="0"/>
          </a:p>
          <a:p>
            <a:pPr marL="71755" indent="-71755">
              <a:defRPr/>
            </a:pPr>
            <a:r>
              <a:rPr lang="zh-CN" altLang="en-US" b="1" dirty="0">
                <a:solidFill>
                  <a:srgbClr val="FF0000"/>
                </a:solidFill>
              </a:rPr>
              <a:t>（</a:t>
            </a:r>
            <a:r>
              <a:rPr lang="en-US" altLang="zh-CN" b="1" dirty="0">
                <a:solidFill>
                  <a:srgbClr val="FF0000"/>
                </a:solidFill>
              </a:rPr>
              <a:t>3</a:t>
            </a:r>
            <a:r>
              <a:rPr lang="zh-CN" altLang="en-US" b="1" dirty="0">
                <a:solidFill>
                  <a:srgbClr val="FF0000"/>
                </a:solidFill>
              </a:rPr>
              <a:t>）木</a:t>
            </a:r>
            <a:r>
              <a:rPr lang="zh-CN" altLang="zh-CN" b="1" dirty="0">
                <a:solidFill>
                  <a:srgbClr val="FF0000"/>
                </a:solidFill>
              </a:rPr>
              <a:t>马控制程序</a:t>
            </a:r>
            <a:r>
              <a:rPr lang="zh-CN" altLang="zh-CN" b="1" dirty="0">
                <a:solidFill>
                  <a:schemeClr val="bg2">
                    <a:lumMod val="25000"/>
                  </a:schemeClr>
                </a:solidFill>
              </a:rPr>
              <a:t>。</a:t>
            </a:r>
            <a:r>
              <a:rPr lang="zh-CN" altLang="en-US" b="1" dirty="0">
                <a:solidFill>
                  <a:schemeClr val="bg2">
                    <a:lumMod val="25000"/>
                  </a:schemeClr>
                </a:solidFill>
              </a:rPr>
              <a:t>“</a:t>
            </a:r>
            <a:r>
              <a:rPr lang="zh-CN" altLang="zh-CN" b="1" dirty="0"/>
              <a:t>控制程序</a:t>
            </a:r>
            <a:r>
              <a:rPr lang="zh-CN" altLang="en-US" b="1" dirty="0"/>
              <a:t>”</a:t>
            </a:r>
            <a:r>
              <a:rPr lang="zh-CN" altLang="zh-CN" b="1" dirty="0"/>
              <a:t>控制远程木马服务器统称为控制端（客户端）程序，负责配置服务器、给服务器发送指令，同时接收服务器传过来的数据。</a:t>
            </a:r>
            <a:endParaRPr lang="zh-CN" altLang="zh-CN" sz="1800" b="1" dirty="0"/>
          </a:p>
          <a:p>
            <a:pPr>
              <a:buFont typeface="Arial" panose="020B0604020202020204" pitchFamily="34" charset="0"/>
              <a:buChar char="•"/>
              <a:defRPr/>
            </a:pPr>
            <a:endParaRPr lang="zh-CN" altLang="zh-CN" sz="1400" b="1" dirty="0"/>
          </a:p>
        </p:txBody>
      </p:sp>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dirty="0">
                <a:solidFill>
                  <a:srgbClr val="C00000"/>
                </a:solidFill>
                <a:effectLst>
                  <a:reflection blurRad="6350" stA="50000" endA="300" endPos="50000" dist="60007" dir="5400000" sy="-100000" algn="bl" rotWithShape="0"/>
                </a:effectLst>
                <a:latin typeface="+mj-ea"/>
                <a:ea typeface="+mj-ea"/>
                <a:cs typeface="+mj-cs"/>
              </a:rPr>
              <a:t>9.4 </a:t>
            </a:r>
            <a:r>
              <a:rPr lang="zh-CN" altLang="en-US" sz="2000" b="1" dirty="0">
                <a:solidFill>
                  <a:srgbClr val="C00000"/>
                </a:solidFill>
                <a:effectLst>
                  <a:reflection blurRad="6350" stA="50000" endA="300" endPos="50000" dist="60007" dir="5400000" sy="-100000" algn="bl" rotWithShape="0"/>
                </a:effectLst>
                <a:latin typeface="+mj-ea"/>
                <a:ea typeface="+mj-ea"/>
                <a:cs typeface="+mj-cs"/>
              </a:rPr>
              <a:t>恶意代码分析</a:t>
            </a: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sp>
        <p:nvSpPr>
          <p:cNvPr id="8" name="TextBox 7"/>
          <p:cNvSpPr txBox="1">
            <a:spLocks noChangeArrowheads="1"/>
          </p:cNvSpPr>
          <p:nvPr/>
        </p:nvSpPr>
        <p:spPr bwMode="auto">
          <a:xfrm>
            <a:off x="6429375" y="4143375"/>
            <a:ext cx="12144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600" b="1">
                <a:solidFill>
                  <a:srgbClr val="FF0000"/>
                </a:solidFill>
              </a:rPr>
              <a:t>木马的结构</a:t>
            </a:r>
          </a:p>
        </p:txBody>
      </p:sp>
      <p:sp>
        <p:nvSpPr>
          <p:cNvPr id="10" name="矩形 9"/>
          <p:cNvSpPr/>
          <p:nvPr/>
        </p:nvSpPr>
        <p:spPr bwMode="auto">
          <a:xfrm>
            <a:off x="7596188" y="657225"/>
            <a:ext cx="1368425" cy="474663"/>
          </a:xfrm>
          <a:prstGeom prst="rect">
            <a:avLst/>
          </a:prstGeom>
          <a:noFill/>
          <a:ln w="38100" cap="flat" cmpd="sng" algn="ctr">
            <a:solidFill>
              <a:srgbClr val="FF0000"/>
            </a:solidFill>
            <a:prstDash val="solid"/>
            <a:round/>
            <a:headEnd type="none" w="med" len="med"/>
            <a:tailEnd type="none" w="med" len="med"/>
          </a:ln>
          <a:effectLst/>
        </p:spPr>
        <p:txBody>
          <a:bodyPr wrap="none" anchor="ctr"/>
          <a:lstStyle/>
          <a:p>
            <a:pPr algn="ctr" eaLnBrk="1" hangingPunct="1">
              <a:defRPr/>
            </a:pPr>
            <a:r>
              <a:rPr lang="zh-CN" altLang="en-US" sz="1200" b="1" u="sng" dirty="0">
                <a:solidFill>
                  <a:srgbClr val="FF0000"/>
                </a:solidFill>
                <a:effectLst>
                  <a:outerShdw blurRad="38100" dist="38100" dir="2700000" algn="tl">
                    <a:srgbClr val="000000">
                      <a:alpha val="43137"/>
                    </a:srgbClr>
                  </a:outerShdw>
                </a:effectLst>
              </a:rPr>
              <a:t>配置</a:t>
            </a:r>
            <a:r>
              <a:rPr lang="en-US" altLang="zh-CN" sz="1200" b="1" u="sng" dirty="0">
                <a:solidFill>
                  <a:srgbClr val="FF0000"/>
                </a:solidFill>
                <a:effectLst>
                  <a:outerShdw blurRad="38100" dist="38100" dir="2700000" algn="tl">
                    <a:srgbClr val="000000">
                      <a:alpha val="43137"/>
                    </a:srgbClr>
                  </a:outerShdw>
                </a:effectLst>
              </a:rPr>
              <a:t>/</a:t>
            </a:r>
            <a:r>
              <a:rPr lang="zh-CN" altLang="en-US" sz="1200" b="1" u="sng" dirty="0">
                <a:solidFill>
                  <a:srgbClr val="FF0000"/>
                </a:solidFill>
                <a:effectLst>
                  <a:outerShdw blurRad="38100" dist="38100" dir="2700000" algn="tl">
                    <a:srgbClr val="000000">
                      <a:alpha val="43137"/>
                    </a:srgbClr>
                  </a:outerShdw>
                </a:effectLst>
              </a:rPr>
              <a:t>控制程序</a:t>
            </a:r>
            <a:endParaRPr lang="en-US" altLang="zh-CN" sz="1200" b="1" u="sng" dirty="0">
              <a:solidFill>
                <a:srgbClr val="FF0000"/>
              </a:solidFill>
              <a:effectLst>
                <a:outerShdw blurRad="38100" dist="38100" dir="2700000" algn="tl">
                  <a:srgbClr val="000000">
                    <a:alpha val="43137"/>
                  </a:srgbClr>
                </a:outerShdw>
              </a:effectLst>
            </a:endParaRPr>
          </a:p>
          <a:p>
            <a:pPr algn="ctr" eaLnBrk="1" hangingPunct="1">
              <a:defRPr/>
            </a:pPr>
            <a:r>
              <a:rPr lang="zh-CN" altLang="en-US" sz="1200" b="1" dirty="0">
                <a:solidFill>
                  <a:srgbClr val="FF0000"/>
                </a:solidFill>
              </a:rPr>
              <a:t>（在攻击者控制下）</a:t>
            </a:r>
          </a:p>
        </p:txBody>
      </p:sp>
      <p:sp>
        <p:nvSpPr>
          <p:cNvPr id="12" name="矩形 11"/>
          <p:cNvSpPr/>
          <p:nvPr/>
        </p:nvSpPr>
        <p:spPr bwMode="auto">
          <a:xfrm>
            <a:off x="5651500" y="1563688"/>
            <a:ext cx="1441450" cy="546100"/>
          </a:xfrm>
          <a:prstGeom prst="rect">
            <a:avLst/>
          </a:prstGeom>
          <a:noFill/>
          <a:ln w="38100" cap="flat" cmpd="sng" algn="ctr">
            <a:solidFill>
              <a:srgbClr val="FF0000"/>
            </a:solidFill>
            <a:prstDash val="solid"/>
            <a:round/>
            <a:headEnd type="none" w="med" len="med"/>
            <a:tailEnd type="none" w="med" len="med"/>
          </a:ln>
          <a:effectLst/>
        </p:spPr>
        <p:txBody>
          <a:bodyPr wrap="none" anchor="ctr"/>
          <a:lstStyle/>
          <a:p>
            <a:pPr algn="ctr" eaLnBrk="1" hangingPunct="1">
              <a:defRPr/>
            </a:pPr>
            <a:r>
              <a:rPr lang="zh-CN" altLang="en-US" sz="1200" b="1" u="sng" dirty="0">
                <a:solidFill>
                  <a:srgbClr val="FF0000"/>
                </a:solidFill>
                <a:effectLst>
                  <a:outerShdw blurRad="38100" dist="38100" dir="2700000" algn="tl">
                    <a:srgbClr val="000000">
                      <a:alpha val="43137"/>
                    </a:srgbClr>
                  </a:outerShdw>
                </a:effectLst>
              </a:rPr>
              <a:t>服务器程序</a:t>
            </a:r>
            <a:endParaRPr lang="en-US" altLang="zh-CN" sz="1200" b="1" u="sng" dirty="0">
              <a:solidFill>
                <a:srgbClr val="FF0000"/>
              </a:solidFill>
              <a:effectLst>
                <a:outerShdw blurRad="38100" dist="38100" dir="2700000" algn="tl">
                  <a:srgbClr val="000000">
                    <a:alpha val="43137"/>
                  </a:srgbClr>
                </a:outerShdw>
              </a:effectLst>
            </a:endParaRPr>
          </a:p>
          <a:p>
            <a:pPr algn="ctr" eaLnBrk="1" hangingPunct="1">
              <a:defRPr/>
            </a:pPr>
            <a:r>
              <a:rPr lang="zh-CN" altLang="en-US" sz="1200" b="1" dirty="0">
                <a:solidFill>
                  <a:srgbClr val="FF0000"/>
                </a:solidFill>
              </a:rPr>
              <a:t>（在受攻击者机器上）</a:t>
            </a: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5539">
                                            <p:txEl>
                                              <p:pRg st="0" end="0"/>
                                            </p:txEl>
                                          </p:spTgt>
                                        </p:tgtEl>
                                        <p:attrNameLst>
                                          <p:attrName>style.visibility</p:attrName>
                                        </p:attrNameLst>
                                      </p:cBhvr>
                                      <p:to>
                                        <p:strVal val="visible"/>
                                      </p:to>
                                    </p:set>
                                    <p:animEffect transition="in" filter="fade">
                                      <p:cBhvr>
                                        <p:cTn id="17" dur="500"/>
                                        <p:tgtEl>
                                          <p:spTgt spid="6553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5539">
                                            <p:txEl>
                                              <p:pRg st="1" end="1"/>
                                            </p:txEl>
                                          </p:spTgt>
                                        </p:tgtEl>
                                        <p:attrNameLst>
                                          <p:attrName>style.visibility</p:attrName>
                                        </p:attrNameLst>
                                      </p:cBhvr>
                                      <p:to>
                                        <p:strVal val="visible"/>
                                      </p:to>
                                    </p:set>
                                    <p:animEffect transition="in" filter="fade">
                                      <p:cBhvr>
                                        <p:cTn id="22" dur="500"/>
                                        <p:tgtEl>
                                          <p:spTgt spid="6553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5539">
                                            <p:txEl>
                                              <p:pRg st="2" end="2"/>
                                            </p:txEl>
                                          </p:spTgt>
                                        </p:tgtEl>
                                        <p:attrNameLst>
                                          <p:attrName>style.visibility</p:attrName>
                                        </p:attrNameLst>
                                      </p:cBhvr>
                                      <p:to>
                                        <p:strVal val="visible"/>
                                      </p:to>
                                    </p:set>
                                    <p:animEffect transition="in" filter="fade">
                                      <p:cBhvr>
                                        <p:cTn id="27" dur="500"/>
                                        <p:tgtEl>
                                          <p:spTgt spid="655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内容占位符 2"/>
          <p:cNvSpPr>
            <a:spLocks noGrp="1"/>
          </p:cNvSpPr>
          <p:nvPr>
            <p:ph idx="1"/>
          </p:nvPr>
        </p:nvSpPr>
        <p:spPr>
          <a:xfrm>
            <a:off x="214313" y="1000125"/>
            <a:ext cx="8715375" cy="3286125"/>
          </a:xfrm>
        </p:spPr>
        <p:txBody>
          <a:bodyPr/>
          <a:lstStyle/>
          <a:p>
            <a:pPr>
              <a:buFont typeface="Wingdings" panose="05000000000000000000" pitchFamily="2" charset="2"/>
              <a:buNone/>
              <a:defRPr/>
            </a:pPr>
            <a:r>
              <a:rPr lang="en-US" altLang="zh-CN" sz="2000" b="1" dirty="0">
                <a:solidFill>
                  <a:schemeClr val="accent6"/>
                </a:solidFill>
              </a:rPr>
              <a:t>3. </a:t>
            </a:r>
            <a:r>
              <a:rPr lang="zh-CN" altLang="zh-CN" sz="2000" b="1" dirty="0">
                <a:solidFill>
                  <a:schemeClr val="accent6"/>
                </a:solidFill>
              </a:rPr>
              <a:t>木马的基本原理</a:t>
            </a:r>
          </a:p>
          <a:p>
            <a:pPr indent="-36195">
              <a:defRPr/>
            </a:pPr>
            <a:r>
              <a:rPr lang="zh-CN" altLang="zh-CN" b="1" dirty="0"/>
              <a:t>多数木马包括客户端和服务器端两个部分，即采用</a:t>
            </a:r>
            <a:r>
              <a:rPr lang="en-US" altLang="zh-CN" b="1" dirty="0">
                <a:solidFill>
                  <a:srgbClr val="FF0000"/>
                </a:solidFill>
              </a:rPr>
              <a:t>C/S</a:t>
            </a:r>
            <a:r>
              <a:rPr lang="zh-CN" altLang="zh-CN" b="1" dirty="0">
                <a:solidFill>
                  <a:srgbClr val="FF0000"/>
                </a:solidFill>
              </a:rPr>
              <a:t>结构</a:t>
            </a:r>
            <a:r>
              <a:rPr lang="zh-CN" altLang="zh-CN" b="1" dirty="0"/>
              <a:t>。</a:t>
            </a:r>
            <a:endParaRPr lang="en-US" altLang="zh-CN" b="1" dirty="0"/>
          </a:p>
          <a:p>
            <a:pPr indent="-36195">
              <a:defRPr/>
            </a:pPr>
            <a:r>
              <a:rPr lang="zh-CN" altLang="zh-CN" b="1" dirty="0"/>
              <a:t>攻击者要利用客户端控制服务器，通常是需要先建立一个通信连接。</a:t>
            </a:r>
            <a:r>
              <a:rPr lang="zh-CN" altLang="en-US" b="1" dirty="0">
                <a:solidFill>
                  <a:srgbClr val="FF0000"/>
                </a:solidFill>
              </a:rPr>
              <a:t>尝试</a:t>
            </a:r>
            <a:r>
              <a:rPr lang="zh-CN" altLang="zh-CN" b="1" dirty="0">
                <a:solidFill>
                  <a:srgbClr val="FF0000"/>
                </a:solidFill>
              </a:rPr>
              <a:t>建立木马连接</a:t>
            </a:r>
            <a:r>
              <a:rPr lang="zh-CN" altLang="zh-CN" b="1" dirty="0"/>
              <a:t>，需要知道木马的计算机的</a:t>
            </a:r>
            <a:r>
              <a:rPr lang="en-US" altLang="zh-CN" b="1" dirty="0"/>
              <a:t>IP</a:t>
            </a:r>
            <a:r>
              <a:rPr lang="zh-CN" altLang="zh-CN" b="1" dirty="0"/>
              <a:t>地址，这个可以通过端口扫描来搜寻，因为木马服务器端</a:t>
            </a:r>
            <a:r>
              <a:rPr lang="zh-CN" altLang="en-US" b="1" dirty="0">
                <a:solidFill>
                  <a:srgbClr val="0033CC"/>
                </a:solidFill>
              </a:rPr>
              <a:t>（</a:t>
            </a:r>
            <a:r>
              <a:rPr lang="zh-CN" altLang="en-US" b="1" dirty="0">
                <a:solidFill>
                  <a:srgbClr val="FF0000"/>
                </a:solidFill>
              </a:rPr>
              <a:t>通常</a:t>
            </a:r>
            <a:r>
              <a:rPr lang="zh-CN" altLang="en-US" b="1" dirty="0">
                <a:solidFill>
                  <a:srgbClr val="0033CC"/>
                </a:solidFill>
              </a:rPr>
              <a:t>受害者</a:t>
            </a:r>
            <a:r>
              <a:rPr lang="zh-CN" altLang="en-US" b="1" dirty="0">
                <a:solidFill>
                  <a:srgbClr val="FF0000"/>
                </a:solidFill>
              </a:rPr>
              <a:t>通过</a:t>
            </a:r>
            <a:r>
              <a:rPr lang="zh-CN" altLang="en-US" b="1" dirty="0">
                <a:solidFill>
                  <a:srgbClr val="0033CC"/>
                </a:solidFill>
              </a:rPr>
              <a:t>一些异常途径等途径</a:t>
            </a:r>
            <a:r>
              <a:rPr lang="zh-CN" altLang="en-US" b="1" dirty="0">
                <a:solidFill>
                  <a:srgbClr val="FF0000"/>
                </a:solidFill>
              </a:rPr>
              <a:t>感染木马</a:t>
            </a:r>
            <a:r>
              <a:rPr lang="zh-CN" altLang="en-US" b="1" dirty="0">
                <a:solidFill>
                  <a:srgbClr val="0033CC"/>
                </a:solidFill>
              </a:rPr>
              <a:t>）</a:t>
            </a:r>
            <a:r>
              <a:rPr lang="zh-CN" altLang="zh-CN" b="1" dirty="0"/>
              <a:t>会开放一些特殊的端口。</a:t>
            </a:r>
            <a:endParaRPr lang="en-US" altLang="zh-CN" b="1" dirty="0"/>
          </a:p>
          <a:p>
            <a:pPr indent="-36195">
              <a:defRPr/>
            </a:pPr>
            <a:r>
              <a:rPr lang="zh-CN" altLang="zh-CN" b="1" dirty="0"/>
              <a:t>一旦</a:t>
            </a:r>
            <a:r>
              <a:rPr lang="zh-CN" altLang="zh-CN" b="1" dirty="0">
                <a:solidFill>
                  <a:srgbClr val="0033CC"/>
                </a:solidFill>
              </a:rPr>
              <a:t>客户端</a:t>
            </a:r>
            <a:r>
              <a:rPr lang="zh-CN" altLang="zh-CN" b="1" dirty="0"/>
              <a:t>的</a:t>
            </a:r>
            <a:r>
              <a:rPr lang="zh-CN" altLang="zh-CN" b="1" dirty="0">
                <a:solidFill>
                  <a:srgbClr val="0033CC"/>
                </a:solidFill>
              </a:rPr>
              <a:t>扫描功能</a:t>
            </a:r>
            <a:r>
              <a:rPr lang="zh-CN" altLang="zh-CN" b="1" dirty="0">
                <a:solidFill>
                  <a:srgbClr val="FF0000"/>
                </a:solidFill>
              </a:rPr>
              <a:t>发现</a:t>
            </a:r>
            <a:r>
              <a:rPr lang="zh-CN" altLang="zh-CN" b="1" dirty="0"/>
              <a:t>有些</a:t>
            </a:r>
            <a:r>
              <a:rPr lang="en-US" altLang="zh-CN" b="1" dirty="0">
                <a:solidFill>
                  <a:srgbClr val="0033CC"/>
                </a:solidFill>
              </a:rPr>
              <a:t>IP</a:t>
            </a:r>
            <a:r>
              <a:rPr lang="zh-CN" altLang="zh-CN" b="1" dirty="0">
                <a:solidFill>
                  <a:srgbClr val="0033CC"/>
                </a:solidFill>
              </a:rPr>
              <a:t>地址的特定端口</a:t>
            </a:r>
            <a:r>
              <a:rPr lang="zh-CN" altLang="zh-CN" b="1" dirty="0">
                <a:solidFill>
                  <a:srgbClr val="FF0000"/>
                </a:solidFill>
              </a:rPr>
              <a:t>处于开放状态</a:t>
            </a:r>
            <a:r>
              <a:rPr lang="zh-CN" altLang="zh-CN" b="1" dirty="0"/>
              <a:t>，说明这些</a:t>
            </a:r>
            <a:r>
              <a:rPr lang="en-US" altLang="zh-CN" b="1" dirty="0"/>
              <a:t>IP</a:t>
            </a:r>
            <a:r>
              <a:rPr lang="zh-CN" altLang="zh-CN" b="1" dirty="0"/>
              <a:t>地址的机器可能中了木马。</a:t>
            </a:r>
          </a:p>
          <a:p>
            <a:pPr indent="-36195">
              <a:defRPr/>
            </a:pPr>
            <a:r>
              <a:rPr lang="zh-CN" altLang="zh-CN" b="1" dirty="0"/>
              <a:t>获取木马服务器信息后，</a:t>
            </a:r>
            <a:r>
              <a:rPr lang="zh-CN" altLang="zh-CN" b="1" dirty="0">
                <a:solidFill>
                  <a:srgbClr val="FF0000"/>
                </a:solidFill>
              </a:rPr>
              <a:t>建立</a:t>
            </a:r>
            <a:r>
              <a:rPr lang="zh-CN" altLang="zh-CN" b="1" dirty="0">
                <a:solidFill>
                  <a:srgbClr val="0033CC"/>
                </a:solidFill>
              </a:rPr>
              <a:t>服务端</a:t>
            </a:r>
            <a:r>
              <a:rPr lang="zh-CN" altLang="zh-CN" b="1" dirty="0">
                <a:solidFill>
                  <a:srgbClr val="FF0000"/>
                </a:solidFill>
              </a:rPr>
              <a:t>和</a:t>
            </a:r>
            <a:r>
              <a:rPr lang="zh-CN" altLang="zh-CN" b="1" dirty="0">
                <a:solidFill>
                  <a:srgbClr val="0033CC"/>
                </a:solidFill>
              </a:rPr>
              <a:t>客户端</a:t>
            </a:r>
            <a:r>
              <a:rPr lang="zh-CN" altLang="zh-CN" b="1" dirty="0">
                <a:solidFill>
                  <a:srgbClr val="FF0000"/>
                </a:solidFill>
              </a:rPr>
              <a:t>的连接</a:t>
            </a:r>
            <a:r>
              <a:rPr lang="zh-CN" altLang="zh-CN" b="1" dirty="0"/>
              <a:t>，控制端便可以进行一系列远程控制了。</a:t>
            </a:r>
            <a:endParaRPr lang="zh-CN" altLang="zh-CN" sz="1200" b="1" dirty="0"/>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pic>
        <p:nvPicPr>
          <p:cNvPr id="5"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88125" y="-20638"/>
            <a:ext cx="2135188" cy="2120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7" name="矩形 7"/>
          <p:cNvSpPr>
            <a:spLocks noChangeArrowheads="1"/>
          </p:cNvSpPr>
          <p:nvPr/>
        </p:nvSpPr>
        <p:spPr bwMode="auto">
          <a:xfrm>
            <a:off x="5940425" y="915988"/>
            <a:ext cx="5762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en-US" altLang="zh-CN" sz="1600" b="1" dirty="0">
                <a:solidFill>
                  <a:srgbClr val="FF0000"/>
                </a:solidFill>
              </a:rPr>
              <a:t>S</a:t>
            </a:r>
            <a:r>
              <a:rPr lang="zh-CN" altLang="en-US" sz="1600" b="1" dirty="0">
                <a:solidFill>
                  <a:srgbClr val="FF0000"/>
                </a:solidFill>
              </a:rPr>
              <a:t>端</a:t>
            </a:r>
            <a:endParaRPr lang="zh-CN" altLang="en-US" sz="1600" dirty="0"/>
          </a:p>
        </p:txBody>
      </p:sp>
      <p:sp>
        <p:nvSpPr>
          <p:cNvPr id="84998" name="矩形 8"/>
          <p:cNvSpPr>
            <a:spLocks noChangeArrowheads="1"/>
          </p:cNvSpPr>
          <p:nvPr/>
        </p:nvSpPr>
        <p:spPr bwMode="auto">
          <a:xfrm>
            <a:off x="8027988" y="865188"/>
            <a:ext cx="5762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en-US" altLang="zh-CN" sz="1600" b="1" dirty="0">
                <a:solidFill>
                  <a:srgbClr val="FF0000"/>
                </a:solidFill>
              </a:rPr>
              <a:t>C</a:t>
            </a:r>
            <a:r>
              <a:rPr lang="zh-CN" altLang="en-US" sz="1600" b="1" dirty="0">
                <a:solidFill>
                  <a:srgbClr val="FF0000"/>
                </a:solidFill>
              </a:rPr>
              <a:t>端</a:t>
            </a:r>
            <a:endParaRPr lang="zh-CN" altLang="en-US" sz="1600" dirty="0"/>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fade">
                                      <p:cBhvr>
                                        <p:cTn id="7" dur="500"/>
                                        <p:tgtEl>
                                          <p:spTgt spid="6656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6563">
                                            <p:txEl>
                                              <p:pRg st="1" end="1"/>
                                            </p:txEl>
                                          </p:spTgt>
                                        </p:tgtEl>
                                        <p:attrNameLst>
                                          <p:attrName>style.visibility</p:attrName>
                                        </p:attrNameLst>
                                      </p:cBhvr>
                                      <p:to>
                                        <p:strVal val="visible"/>
                                      </p:to>
                                    </p:set>
                                    <p:animEffect transition="in" filter="fade">
                                      <p:cBhvr>
                                        <p:cTn id="11" dur="500"/>
                                        <p:tgtEl>
                                          <p:spTgt spid="6656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6563">
                                            <p:txEl>
                                              <p:pRg st="2" end="2"/>
                                            </p:txEl>
                                          </p:spTgt>
                                        </p:tgtEl>
                                        <p:attrNameLst>
                                          <p:attrName>style.visibility</p:attrName>
                                        </p:attrNameLst>
                                      </p:cBhvr>
                                      <p:to>
                                        <p:strVal val="visible"/>
                                      </p:to>
                                    </p:set>
                                    <p:animEffect transition="in" filter="fade">
                                      <p:cBhvr>
                                        <p:cTn id="16" dur="500"/>
                                        <p:tgtEl>
                                          <p:spTgt spid="6656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6563">
                                            <p:txEl>
                                              <p:pRg st="3" end="3"/>
                                            </p:txEl>
                                          </p:spTgt>
                                        </p:tgtEl>
                                        <p:attrNameLst>
                                          <p:attrName>style.visibility</p:attrName>
                                        </p:attrNameLst>
                                      </p:cBhvr>
                                      <p:to>
                                        <p:strVal val="visible"/>
                                      </p:to>
                                    </p:set>
                                    <p:animEffect transition="in" filter="fade">
                                      <p:cBhvr>
                                        <p:cTn id="21" dur="500"/>
                                        <p:tgtEl>
                                          <p:spTgt spid="6656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6563">
                                            <p:txEl>
                                              <p:pRg st="4" end="4"/>
                                            </p:txEl>
                                          </p:spTgt>
                                        </p:tgtEl>
                                        <p:attrNameLst>
                                          <p:attrName>style.visibility</p:attrName>
                                        </p:attrNameLst>
                                      </p:cBhvr>
                                      <p:to>
                                        <p:strVal val="visible"/>
                                      </p:to>
                                    </p:set>
                                    <p:animEffect transition="in" filter="fade">
                                      <p:cBhvr>
                                        <p:cTn id="26" dur="500"/>
                                        <p:tgtEl>
                                          <p:spTgt spid="66563">
                                            <p:txEl>
                                              <p:pRg st="4" end="4"/>
                                            </p:txEl>
                                          </p:spTgt>
                                        </p:tgtEl>
                                      </p:cBhvr>
                                    </p:animEffect>
                                  </p:childTnLst>
                                </p:cTn>
                              </p:par>
                            </p:childTnLst>
                          </p:cTn>
                        </p:par>
                        <p:par>
                          <p:cTn id="27" fill="hold">
                            <p:stCondLst>
                              <p:cond delay="500"/>
                            </p:stCondLst>
                            <p:childTnLst>
                              <p:par>
                                <p:cTn id="28" presetID="47" presetClass="entr" presetSubtype="0" fill="hold"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anim calcmode="lin" valueType="num">
                                      <p:cBhvr>
                                        <p:cTn id="31" dur="500" fill="hold"/>
                                        <p:tgtEl>
                                          <p:spTgt spid="5"/>
                                        </p:tgtEl>
                                        <p:attrNameLst>
                                          <p:attrName>ppt_x</p:attrName>
                                        </p:attrNameLst>
                                      </p:cBhvr>
                                      <p:tavLst>
                                        <p:tav tm="0">
                                          <p:val>
                                            <p:strVal val="#ppt_x"/>
                                          </p:val>
                                        </p:tav>
                                        <p:tav tm="100000">
                                          <p:val>
                                            <p:strVal val="#ppt_x"/>
                                          </p:val>
                                        </p:tav>
                                      </p:tavLst>
                                    </p:anim>
                                    <p:anim calcmode="lin" valueType="num">
                                      <p:cBhvr>
                                        <p:cTn id="32"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内容占位符 2"/>
          <p:cNvSpPr>
            <a:spLocks noGrp="1"/>
          </p:cNvSpPr>
          <p:nvPr>
            <p:ph idx="1"/>
          </p:nvPr>
        </p:nvSpPr>
        <p:spPr>
          <a:xfrm>
            <a:off x="214313" y="1000125"/>
            <a:ext cx="8715375" cy="3286125"/>
          </a:xfrm>
        </p:spPr>
        <p:txBody>
          <a:bodyPr/>
          <a:lstStyle/>
          <a:p>
            <a:pPr>
              <a:buFont typeface="Wingdings" panose="05000000000000000000" pitchFamily="2" charset="2"/>
              <a:buNone/>
              <a:defRPr/>
            </a:pPr>
            <a:r>
              <a:rPr lang="en-US" altLang="zh-CN" sz="2000" b="1" dirty="0">
                <a:solidFill>
                  <a:schemeClr val="accent6"/>
                </a:solidFill>
              </a:rPr>
              <a:t>4. </a:t>
            </a:r>
            <a:r>
              <a:rPr lang="zh-CN" altLang="zh-CN" sz="2000" b="1" dirty="0">
                <a:solidFill>
                  <a:schemeClr val="accent6"/>
                </a:solidFill>
              </a:rPr>
              <a:t>木马的</a:t>
            </a:r>
            <a:r>
              <a:rPr lang="zh-CN" altLang="en-US" sz="2000" b="1" dirty="0">
                <a:solidFill>
                  <a:schemeClr val="accent6"/>
                </a:solidFill>
              </a:rPr>
              <a:t>举例 </a:t>
            </a:r>
            <a:r>
              <a:rPr lang="en-US" altLang="zh-CN" sz="2000" b="1" dirty="0">
                <a:solidFill>
                  <a:schemeClr val="accent6"/>
                </a:solidFill>
              </a:rPr>
              <a:t>– </a:t>
            </a:r>
            <a:r>
              <a:rPr lang="zh-CN" altLang="en-US" sz="2000" b="1" dirty="0">
                <a:solidFill>
                  <a:schemeClr val="accent6"/>
                </a:solidFill>
              </a:rPr>
              <a:t>冰河木马</a:t>
            </a:r>
            <a:endParaRPr lang="zh-CN" altLang="zh-CN" sz="2000" b="1" dirty="0">
              <a:solidFill>
                <a:schemeClr val="accent6"/>
              </a:solidFill>
            </a:endParaRPr>
          </a:p>
          <a:p>
            <a:pPr indent="-36195">
              <a:defRPr/>
            </a:pPr>
            <a:r>
              <a:rPr lang="zh-CN" altLang="en-US" b="1" dirty="0"/>
              <a:t> 冰河木马开发于</a:t>
            </a:r>
            <a:r>
              <a:rPr lang="en-US" altLang="zh-CN" b="1" dirty="0"/>
              <a:t>1999</a:t>
            </a:r>
            <a:r>
              <a:rPr lang="zh-CN" altLang="en-US" b="1" dirty="0"/>
              <a:t>年，跟灰鸽子类似，在设计之初，开发者的本意是编写一个功能强大的</a:t>
            </a:r>
            <a:r>
              <a:rPr lang="zh-CN" altLang="en-US" b="1" dirty="0">
                <a:solidFill>
                  <a:srgbClr val="FF0000"/>
                </a:solidFill>
              </a:rPr>
              <a:t>远程控制软件</a:t>
            </a:r>
            <a:r>
              <a:rPr lang="zh-CN" altLang="en-US" b="1" dirty="0"/>
              <a:t>。</a:t>
            </a:r>
            <a:endParaRPr lang="en-US" altLang="zh-CN" b="1" dirty="0"/>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pic>
        <p:nvPicPr>
          <p:cNvPr id="2" name="图片 1"/>
          <p:cNvPicPr>
            <a:picLocks noChangeAspect="1"/>
          </p:cNvPicPr>
          <p:nvPr/>
        </p:nvPicPr>
        <p:blipFill>
          <a:blip r:embed="rId3"/>
          <a:srcRect b="40907"/>
          <a:stretch>
            <a:fillRect/>
          </a:stretch>
        </p:blipFill>
        <p:spPr>
          <a:xfrm>
            <a:off x="1914398" y="2283718"/>
            <a:ext cx="6991661" cy="2770176"/>
          </a:xfrm>
          <a:prstGeom prst="rect">
            <a:avLst/>
          </a:prstGeom>
          <a:noFill/>
          <a:ln>
            <a:noFill/>
          </a:ln>
        </p:spPr>
      </p:pic>
      <p:sp>
        <p:nvSpPr>
          <p:cNvPr id="6" name="内容占位符 2"/>
          <p:cNvSpPr txBox="1"/>
          <p:nvPr/>
        </p:nvSpPr>
        <p:spPr bwMode="auto">
          <a:xfrm>
            <a:off x="214282" y="2643758"/>
            <a:ext cx="1693422" cy="194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50000"/>
              </a:lnSpc>
              <a:spcBef>
                <a:spcPct val="0"/>
              </a:spcBef>
              <a:spcAft>
                <a:spcPct val="0"/>
              </a:spcAft>
              <a:buClr>
                <a:srgbClr val="C00000"/>
              </a:buClr>
              <a:buFont typeface="Wingdings" panose="05000000000000000000" pitchFamily="2" charset="2"/>
              <a:buChar char="n"/>
              <a:defRPr sz="1600">
                <a:solidFill>
                  <a:schemeClr val="tx1"/>
                </a:solidFill>
                <a:latin typeface="+mj-ea"/>
                <a:ea typeface="+mj-ea"/>
                <a:cs typeface="+mn-cs"/>
              </a:defRPr>
            </a:lvl1pPr>
            <a:lvl2pPr marL="742950" indent="-285750" algn="l" rtl="0" eaLnBrk="0" fontAlgn="base" hangingPunct="0">
              <a:lnSpc>
                <a:spcPct val="150000"/>
              </a:lnSpc>
              <a:spcBef>
                <a:spcPct val="0"/>
              </a:spcBef>
              <a:spcAft>
                <a:spcPct val="0"/>
              </a:spcAft>
              <a:buClr>
                <a:srgbClr val="C00000"/>
              </a:buClr>
              <a:buFont typeface="Wingdings" panose="05000000000000000000" pitchFamily="2" charset="2"/>
              <a:buChar char="Ø"/>
              <a:defRPr sz="1600">
                <a:solidFill>
                  <a:schemeClr val="tx1"/>
                </a:solidFill>
                <a:latin typeface="+mj-ea"/>
                <a:ea typeface="+mj-ea"/>
              </a:defRPr>
            </a:lvl2pPr>
            <a:lvl3pPr marL="1143000" indent="-228600" algn="l" rtl="0" eaLnBrk="0" fontAlgn="base" hangingPunct="0">
              <a:lnSpc>
                <a:spcPct val="150000"/>
              </a:lnSpc>
              <a:spcBef>
                <a:spcPct val="0"/>
              </a:spcBef>
              <a:spcAft>
                <a:spcPct val="0"/>
              </a:spcAft>
              <a:buClr>
                <a:srgbClr val="C00000"/>
              </a:buClr>
              <a:buFont typeface="Wingdings" panose="05000000000000000000" pitchFamily="2" charset="2"/>
              <a:buChar char="ü"/>
              <a:defRPr sz="1600">
                <a:solidFill>
                  <a:schemeClr val="tx1"/>
                </a:solidFill>
                <a:latin typeface="+mj-ea"/>
                <a:ea typeface="+mj-ea"/>
              </a:defRPr>
            </a:lvl3pPr>
            <a:lvl4pPr marL="16002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4pPr>
            <a:lvl5pPr marL="20574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5pPr>
            <a:lvl6pPr marL="25146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6pPr>
            <a:lvl7pPr marL="29718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7pPr>
            <a:lvl8pPr marL="34290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8pPr>
            <a:lvl9pPr marL="38862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9pPr>
          </a:lstStyle>
          <a:p>
            <a:pPr marL="0" indent="0" algn="ctr">
              <a:buNone/>
              <a:defRPr/>
            </a:pPr>
            <a:r>
              <a:rPr lang="zh-CN" altLang="en-US" sz="1800" b="1" kern="0" dirty="0">
                <a:solidFill>
                  <a:srgbClr val="FF0000"/>
                </a:solidFill>
              </a:rPr>
              <a:t>使用</a:t>
            </a:r>
            <a:r>
              <a:rPr lang="en-US" altLang="zh-CN" sz="1800" b="1" kern="0" dirty="0" err="1">
                <a:solidFill>
                  <a:srgbClr val="FF0000"/>
                </a:solidFill>
              </a:rPr>
              <a:t>NTscan</a:t>
            </a:r>
            <a:r>
              <a:rPr lang="zh-CN" altLang="en-US" sz="1800" b="1" kern="0" dirty="0">
                <a:solidFill>
                  <a:srgbClr val="FF0000"/>
                </a:solidFill>
              </a:rPr>
              <a:t>工具扫描局域网下所有的主机</a:t>
            </a:r>
            <a:endParaRPr lang="en-US" altLang="zh-CN" sz="1400" b="1" kern="0" dirty="0">
              <a:solidFill>
                <a:srgbClr val="FF0000"/>
              </a:solidFill>
            </a:endParaRPr>
          </a:p>
        </p:txBody>
      </p:sp>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fade">
                                      <p:cBhvr>
                                        <p:cTn id="7" dur="500"/>
                                        <p:tgtEl>
                                          <p:spTgt spid="6656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6563">
                                            <p:txEl>
                                              <p:pRg st="1" end="1"/>
                                            </p:txEl>
                                          </p:spTgt>
                                        </p:tgtEl>
                                        <p:attrNameLst>
                                          <p:attrName>style.visibility</p:attrName>
                                        </p:attrNameLst>
                                      </p:cBhvr>
                                      <p:to>
                                        <p:strVal val="visible"/>
                                      </p:to>
                                    </p:set>
                                    <p:animEffect transition="in" filter="fade">
                                      <p:cBhvr>
                                        <p:cTn id="11" dur="500"/>
                                        <p:tgtEl>
                                          <p:spTgt spid="6656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内容占位符 2"/>
          <p:cNvSpPr>
            <a:spLocks noGrp="1"/>
          </p:cNvSpPr>
          <p:nvPr>
            <p:ph idx="1"/>
          </p:nvPr>
        </p:nvSpPr>
        <p:spPr>
          <a:xfrm>
            <a:off x="214313" y="1000125"/>
            <a:ext cx="8715375" cy="3286125"/>
          </a:xfrm>
        </p:spPr>
        <p:txBody>
          <a:bodyPr/>
          <a:lstStyle/>
          <a:p>
            <a:pPr>
              <a:buFont typeface="Wingdings" panose="05000000000000000000" pitchFamily="2" charset="2"/>
              <a:buNone/>
              <a:defRPr/>
            </a:pPr>
            <a:r>
              <a:rPr lang="en-US" altLang="zh-CN" sz="2000" b="1" dirty="0">
                <a:solidFill>
                  <a:schemeClr val="accent6"/>
                </a:solidFill>
              </a:rPr>
              <a:t>4. </a:t>
            </a:r>
            <a:r>
              <a:rPr lang="zh-CN" altLang="zh-CN" sz="2000" b="1" dirty="0">
                <a:solidFill>
                  <a:schemeClr val="accent6"/>
                </a:solidFill>
              </a:rPr>
              <a:t>木马的</a:t>
            </a:r>
            <a:r>
              <a:rPr lang="zh-CN" altLang="en-US" sz="2000" b="1" dirty="0">
                <a:solidFill>
                  <a:schemeClr val="accent6"/>
                </a:solidFill>
              </a:rPr>
              <a:t>举例 </a:t>
            </a:r>
            <a:r>
              <a:rPr lang="en-US" altLang="zh-CN" sz="2000" b="1" dirty="0">
                <a:solidFill>
                  <a:schemeClr val="accent6"/>
                </a:solidFill>
              </a:rPr>
              <a:t>– </a:t>
            </a:r>
            <a:r>
              <a:rPr lang="zh-CN" altLang="en-US" sz="2000" b="1" dirty="0">
                <a:solidFill>
                  <a:schemeClr val="accent6"/>
                </a:solidFill>
              </a:rPr>
              <a:t>冰河木马</a:t>
            </a:r>
            <a:endParaRPr lang="zh-CN" altLang="zh-CN" sz="2000" b="1" dirty="0">
              <a:solidFill>
                <a:schemeClr val="accent6"/>
              </a:solidFill>
            </a:endParaRPr>
          </a:p>
          <a:p>
            <a:pPr indent="-36195">
              <a:defRPr/>
            </a:pPr>
            <a:r>
              <a:rPr lang="zh-CN" altLang="en-US" b="1" dirty="0"/>
              <a:t> 冰河木马开发于</a:t>
            </a:r>
            <a:r>
              <a:rPr lang="en-US" altLang="zh-CN" b="1" dirty="0"/>
              <a:t>1999</a:t>
            </a:r>
            <a:r>
              <a:rPr lang="zh-CN" altLang="en-US" b="1" dirty="0"/>
              <a:t>年，跟灰鸽子类似，在设计之初，开发者的本意是编写一个功能强大的</a:t>
            </a:r>
            <a:r>
              <a:rPr lang="zh-CN" altLang="en-US" b="1" dirty="0">
                <a:solidFill>
                  <a:srgbClr val="FF0000"/>
                </a:solidFill>
              </a:rPr>
              <a:t>远程控制软件</a:t>
            </a:r>
            <a:r>
              <a:rPr lang="zh-CN" altLang="en-US" b="1" dirty="0"/>
              <a:t>。</a:t>
            </a:r>
            <a:endParaRPr lang="en-US" altLang="zh-CN" b="1" dirty="0"/>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sp>
        <p:nvSpPr>
          <p:cNvPr id="6" name="内容占位符 2"/>
          <p:cNvSpPr txBox="1"/>
          <p:nvPr/>
        </p:nvSpPr>
        <p:spPr bwMode="auto">
          <a:xfrm>
            <a:off x="646345" y="2636056"/>
            <a:ext cx="1477398" cy="1368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50000"/>
              </a:lnSpc>
              <a:spcBef>
                <a:spcPct val="0"/>
              </a:spcBef>
              <a:spcAft>
                <a:spcPct val="0"/>
              </a:spcAft>
              <a:buClr>
                <a:srgbClr val="C00000"/>
              </a:buClr>
              <a:buFont typeface="Wingdings" panose="05000000000000000000" pitchFamily="2" charset="2"/>
              <a:buChar char="n"/>
              <a:defRPr sz="1600">
                <a:solidFill>
                  <a:schemeClr val="tx1"/>
                </a:solidFill>
                <a:latin typeface="+mj-ea"/>
                <a:ea typeface="+mj-ea"/>
                <a:cs typeface="+mn-cs"/>
              </a:defRPr>
            </a:lvl1pPr>
            <a:lvl2pPr marL="742950" indent="-285750" algn="l" rtl="0" eaLnBrk="0" fontAlgn="base" hangingPunct="0">
              <a:lnSpc>
                <a:spcPct val="150000"/>
              </a:lnSpc>
              <a:spcBef>
                <a:spcPct val="0"/>
              </a:spcBef>
              <a:spcAft>
                <a:spcPct val="0"/>
              </a:spcAft>
              <a:buClr>
                <a:srgbClr val="C00000"/>
              </a:buClr>
              <a:buFont typeface="Wingdings" panose="05000000000000000000" pitchFamily="2" charset="2"/>
              <a:buChar char="Ø"/>
              <a:defRPr sz="1600">
                <a:solidFill>
                  <a:schemeClr val="tx1"/>
                </a:solidFill>
                <a:latin typeface="+mj-ea"/>
                <a:ea typeface="+mj-ea"/>
              </a:defRPr>
            </a:lvl2pPr>
            <a:lvl3pPr marL="1143000" indent="-228600" algn="l" rtl="0" eaLnBrk="0" fontAlgn="base" hangingPunct="0">
              <a:lnSpc>
                <a:spcPct val="150000"/>
              </a:lnSpc>
              <a:spcBef>
                <a:spcPct val="0"/>
              </a:spcBef>
              <a:spcAft>
                <a:spcPct val="0"/>
              </a:spcAft>
              <a:buClr>
                <a:srgbClr val="C00000"/>
              </a:buClr>
              <a:buFont typeface="Wingdings" panose="05000000000000000000" pitchFamily="2" charset="2"/>
              <a:buChar char="ü"/>
              <a:defRPr sz="1600">
                <a:solidFill>
                  <a:schemeClr val="tx1"/>
                </a:solidFill>
                <a:latin typeface="+mj-ea"/>
                <a:ea typeface="+mj-ea"/>
              </a:defRPr>
            </a:lvl3pPr>
            <a:lvl4pPr marL="16002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4pPr>
            <a:lvl5pPr marL="20574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5pPr>
            <a:lvl6pPr marL="25146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6pPr>
            <a:lvl7pPr marL="29718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7pPr>
            <a:lvl8pPr marL="34290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8pPr>
            <a:lvl9pPr marL="38862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9pPr>
          </a:lstStyle>
          <a:p>
            <a:pPr marL="0" indent="0" algn="ctr">
              <a:buNone/>
              <a:defRPr/>
            </a:pPr>
            <a:r>
              <a:rPr lang="zh-CN" altLang="en-US" sz="1800" b="1" kern="0" dirty="0">
                <a:solidFill>
                  <a:srgbClr val="FF0000"/>
                </a:solidFill>
              </a:rPr>
              <a:t>使用弱口令，登录被侵害的主机</a:t>
            </a:r>
            <a:endParaRPr lang="en-US" altLang="zh-CN" sz="1400" b="1" kern="0" dirty="0">
              <a:solidFill>
                <a:srgbClr val="FF0000"/>
              </a:solidFill>
            </a:endParaRPr>
          </a:p>
        </p:txBody>
      </p:sp>
      <p:pic>
        <p:nvPicPr>
          <p:cNvPr id="4" name="图片 3"/>
          <p:cNvPicPr>
            <a:picLocks noChangeAspect="1"/>
          </p:cNvPicPr>
          <p:nvPr/>
        </p:nvPicPr>
        <p:blipFill>
          <a:blip r:embed="rId3"/>
          <a:stretch>
            <a:fillRect/>
          </a:stretch>
        </p:blipFill>
        <p:spPr>
          <a:xfrm>
            <a:off x="2555775" y="1915022"/>
            <a:ext cx="6035145" cy="1016767"/>
          </a:xfrm>
          <a:prstGeom prst="rect">
            <a:avLst/>
          </a:prstGeom>
          <a:noFill/>
          <a:ln>
            <a:noFill/>
          </a:ln>
        </p:spPr>
      </p:pic>
      <p:pic>
        <p:nvPicPr>
          <p:cNvPr id="3" name="图片 2"/>
          <p:cNvPicPr>
            <a:picLocks noChangeAspect="1"/>
          </p:cNvPicPr>
          <p:nvPr/>
        </p:nvPicPr>
        <p:blipFill>
          <a:blip r:embed="rId4"/>
          <a:stretch>
            <a:fillRect/>
          </a:stretch>
        </p:blipFill>
        <p:spPr>
          <a:xfrm>
            <a:off x="2555776" y="2678990"/>
            <a:ext cx="6035144" cy="2413040"/>
          </a:xfrm>
          <a:prstGeom prst="rect">
            <a:avLst/>
          </a:prstGeom>
          <a:noFill/>
          <a:ln>
            <a:noFill/>
          </a:ln>
        </p:spPr>
      </p:pic>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fade">
                                      <p:cBhvr>
                                        <p:cTn id="7" dur="500"/>
                                        <p:tgtEl>
                                          <p:spTgt spid="6656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6563">
                                            <p:txEl>
                                              <p:pRg st="1" end="1"/>
                                            </p:txEl>
                                          </p:spTgt>
                                        </p:tgtEl>
                                        <p:attrNameLst>
                                          <p:attrName>style.visibility</p:attrName>
                                        </p:attrNameLst>
                                      </p:cBhvr>
                                      <p:to>
                                        <p:strVal val="visible"/>
                                      </p:to>
                                    </p:set>
                                    <p:animEffect transition="in" filter="fade">
                                      <p:cBhvr>
                                        <p:cTn id="11" dur="500"/>
                                        <p:tgtEl>
                                          <p:spTgt spid="6656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内容占位符 2"/>
          <p:cNvSpPr>
            <a:spLocks noGrp="1"/>
          </p:cNvSpPr>
          <p:nvPr>
            <p:ph idx="1"/>
          </p:nvPr>
        </p:nvSpPr>
        <p:spPr>
          <a:xfrm>
            <a:off x="214313" y="1000125"/>
            <a:ext cx="8715375" cy="3286125"/>
          </a:xfrm>
        </p:spPr>
        <p:txBody>
          <a:bodyPr/>
          <a:lstStyle/>
          <a:p>
            <a:pPr>
              <a:buFont typeface="Wingdings" panose="05000000000000000000" pitchFamily="2" charset="2"/>
              <a:buNone/>
              <a:defRPr/>
            </a:pPr>
            <a:r>
              <a:rPr lang="en-US" altLang="zh-CN" sz="2000" b="1" dirty="0">
                <a:solidFill>
                  <a:schemeClr val="accent6"/>
                </a:solidFill>
              </a:rPr>
              <a:t>4. </a:t>
            </a:r>
            <a:r>
              <a:rPr lang="zh-CN" altLang="zh-CN" sz="2000" b="1" dirty="0">
                <a:solidFill>
                  <a:schemeClr val="accent6"/>
                </a:solidFill>
              </a:rPr>
              <a:t>木马的</a:t>
            </a:r>
            <a:r>
              <a:rPr lang="zh-CN" altLang="en-US" sz="2000" b="1" dirty="0">
                <a:solidFill>
                  <a:schemeClr val="accent6"/>
                </a:solidFill>
              </a:rPr>
              <a:t>举例 </a:t>
            </a:r>
            <a:r>
              <a:rPr lang="en-US" altLang="zh-CN" sz="2000" b="1" dirty="0">
                <a:solidFill>
                  <a:schemeClr val="accent6"/>
                </a:solidFill>
              </a:rPr>
              <a:t>– </a:t>
            </a:r>
            <a:r>
              <a:rPr lang="zh-CN" altLang="en-US" sz="2000" b="1" dirty="0">
                <a:solidFill>
                  <a:schemeClr val="accent6"/>
                </a:solidFill>
              </a:rPr>
              <a:t>冰河木马</a:t>
            </a:r>
            <a:endParaRPr lang="zh-CN" altLang="zh-CN" sz="2000" b="1" dirty="0">
              <a:solidFill>
                <a:schemeClr val="accent6"/>
              </a:solidFill>
            </a:endParaRPr>
          </a:p>
          <a:p>
            <a:pPr indent="-36195">
              <a:defRPr/>
            </a:pPr>
            <a:r>
              <a:rPr lang="zh-CN" altLang="en-US" b="1" dirty="0"/>
              <a:t> 冰河木马开发于</a:t>
            </a:r>
            <a:r>
              <a:rPr lang="en-US" altLang="zh-CN" b="1" dirty="0"/>
              <a:t>1999</a:t>
            </a:r>
            <a:r>
              <a:rPr lang="zh-CN" altLang="en-US" b="1" dirty="0"/>
              <a:t>年，跟灰鸽子类似，在设计之初，开发者的本意是编写一个功能强大的</a:t>
            </a:r>
            <a:r>
              <a:rPr lang="zh-CN" altLang="en-US" b="1" dirty="0">
                <a:solidFill>
                  <a:srgbClr val="FF0000"/>
                </a:solidFill>
              </a:rPr>
              <a:t>远程控制软件</a:t>
            </a:r>
            <a:r>
              <a:rPr lang="zh-CN" altLang="en-US" b="1" dirty="0"/>
              <a:t>。</a:t>
            </a:r>
            <a:endParaRPr lang="en-US" altLang="zh-CN" b="1" dirty="0"/>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sp>
        <p:nvSpPr>
          <p:cNvPr id="6" name="内容占位符 2"/>
          <p:cNvSpPr txBox="1"/>
          <p:nvPr/>
        </p:nvSpPr>
        <p:spPr bwMode="auto">
          <a:xfrm>
            <a:off x="646344" y="2636056"/>
            <a:ext cx="2341479" cy="193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50000"/>
              </a:lnSpc>
              <a:spcBef>
                <a:spcPct val="0"/>
              </a:spcBef>
              <a:spcAft>
                <a:spcPct val="0"/>
              </a:spcAft>
              <a:buClr>
                <a:srgbClr val="C00000"/>
              </a:buClr>
              <a:buFont typeface="Wingdings" panose="05000000000000000000" pitchFamily="2" charset="2"/>
              <a:buChar char="n"/>
              <a:defRPr sz="1600">
                <a:solidFill>
                  <a:schemeClr val="tx1"/>
                </a:solidFill>
                <a:latin typeface="+mj-ea"/>
                <a:ea typeface="+mj-ea"/>
                <a:cs typeface="+mn-cs"/>
              </a:defRPr>
            </a:lvl1pPr>
            <a:lvl2pPr marL="742950" indent="-285750" algn="l" rtl="0" eaLnBrk="0" fontAlgn="base" hangingPunct="0">
              <a:lnSpc>
                <a:spcPct val="150000"/>
              </a:lnSpc>
              <a:spcBef>
                <a:spcPct val="0"/>
              </a:spcBef>
              <a:spcAft>
                <a:spcPct val="0"/>
              </a:spcAft>
              <a:buClr>
                <a:srgbClr val="C00000"/>
              </a:buClr>
              <a:buFont typeface="Wingdings" panose="05000000000000000000" pitchFamily="2" charset="2"/>
              <a:buChar char="Ø"/>
              <a:defRPr sz="1600">
                <a:solidFill>
                  <a:schemeClr val="tx1"/>
                </a:solidFill>
                <a:latin typeface="+mj-ea"/>
                <a:ea typeface="+mj-ea"/>
              </a:defRPr>
            </a:lvl2pPr>
            <a:lvl3pPr marL="1143000" indent="-228600" algn="l" rtl="0" eaLnBrk="0" fontAlgn="base" hangingPunct="0">
              <a:lnSpc>
                <a:spcPct val="150000"/>
              </a:lnSpc>
              <a:spcBef>
                <a:spcPct val="0"/>
              </a:spcBef>
              <a:spcAft>
                <a:spcPct val="0"/>
              </a:spcAft>
              <a:buClr>
                <a:srgbClr val="C00000"/>
              </a:buClr>
              <a:buFont typeface="Wingdings" panose="05000000000000000000" pitchFamily="2" charset="2"/>
              <a:buChar char="ü"/>
              <a:defRPr sz="1600">
                <a:solidFill>
                  <a:schemeClr val="tx1"/>
                </a:solidFill>
                <a:latin typeface="+mj-ea"/>
                <a:ea typeface="+mj-ea"/>
              </a:defRPr>
            </a:lvl3pPr>
            <a:lvl4pPr marL="16002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4pPr>
            <a:lvl5pPr marL="20574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5pPr>
            <a:lvl6pPr marL="25146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6pPr>
            <a:lvl7pPr marL="29718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7pPr>
            <a:lvl8pPr marL="34290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8pPr>
            <a:lvl9pPr marL="38862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9pPr>
          </a:lstStyle>
          <a:p>
            <a:pPr marL="0" indent="0" algn="ctr">
              <a:buNone/>
              <a:defRPr/>
            </a:pPr>
            <a:r>
              <a:rPr lang="zh-CN" altLang="en-US" sz="1800" b="1" kern="0" dirty="0">
                <a:solidFill>
                  <a:srgbClr val="FF0000"/>
                </a:solidFill>
              </a:rPr>
              <a:t>把木马的</a:t>
            </a:r>
            <a:r>
              <a:rPr lang="zh-CN" altLang="en-US" sz="1800" b="1" u="sng" kern="0" dirty="0">
                <a:solidFill>
                  <a:srgbClr val="FF0000"/>
                </a:solidFill>
                <a:effectLst>
                  <a:outerShdw blurRad="38100" dist="38100" dir="2700000" algn="tl">
                    <a:srgbClr val="000000">
                      <a:alpha val="43137"/>
                    </a:srgbClr>
                  </a:outerShdw>
                </a:effectLst>
              </a:rPr>
              <a:t>服务端</a:t>
            </a:r>
            <a:r>
              <a:rPr lang="en-US" altLang="zh-CN" sz="1800" b="1" u="sng" kern="0" dirty="0">
                <a:solidFill>
                  <a:srgbClr val="FF0000"/>
                </a:solidFill>
                <a:effectLst>
                  <a:outerShdw blurRad="38100" dist="38100" dir="2700000" algn="tl">
                    <a:srgbClr val="000000">
                      <a:alpha val="43137"/>
                    </a:srgbClr>
                  </a:outerShdw>
                </a:effectLst>
              </a:rPr>
              <a:t>Server</a:t>
            </a:r>
            <a:r>
              <a:rPr lang="zh-CN" altLang="en-US" sz="1800" b="1" kern="0" dirty="0">
                <a:solidFill>
                  <a:srgbClr val="FF0000"/>
                </a:solidFill>
              </a:rPr>
              <a:t>，复制进受害主机中</a:t>
            </a:r>
            <a:endParaRPr lang="en-US" altLang="zh-CN" sz="1400" b="1" kern="0" dirty="0">
              <a:solidFill>
                <a:srgbClr val="FF0000"/>
              </a:solidFill>
            </a:endParaRPr>
          </a:p>
        </p:txBody>
      </p:sp>
      <p:pic>
        <p:nvPicPr>
          <p:cNvPr id="2" name="图片 1"/>
          <p:cNvPicPr>
            <a:picLocks noChangeAspect="1"/>
          </p:cNvPicPr>
          <p:nvPr/>
        </p:nvPicPr>
        <p:blipFill>
          <a:blip r:embed="rId3"/>
          <a:stretch>
            <a:fillRect/>
          </a:stretch>
        </p:blipFill>
        <p:spPr>
          <a:xfrm>
            <a:off x="3275856" y="473698"/>
            <a:ext cx="5747006" cy="4638858"/>
          </a:xfrm>
          <a:prstGeom prst="rect">
            <a:avLst/>
          </a:prstGeom>
          <a:noFill/>
          <a:ln>
            <a:noFill/>
          </a:ln>
        </p:spPr>
      </p:pic>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fade">
                                      <p:cBhvr>
                                        <p:cTn id="7" dur="500"/>
                                        <p:tgtEl>
                                          <p:spTgt spid="6656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6563">
                                            <p:txEl>
                                              <p:pRg st="1" end="1"/>
                                            </p:txEl>
                                          </p:spTgt>
                                        </p:tgtEl>
                                        <p:attrNameLst>
                                          <p:attrName>style.visibility</p:attrName>
                                        </p:attrNameLst>
                                      </p:cBhvr>
                                      <p:to>
                                        <p:strVal val="visible"/>
                                      </p:to>
                                    </p:set>
                                    <p:animEffect transition="in" filter="fade">
                                      <p:cBhvr>
                                        <p:cTn id="11" dur="500"/>
                                        <p:tgtEl>
                                          <p:spTgt spid="6656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内容占位符 2"/>
          <p:cNvSpPr>
            <a:spLocks noGrp="1"/>
          </p:cNvSpPr>
          <p:nvPr>
            <p:ph idx="1"/>
          </p:nvPr>
        </p:nvSpPr>
        <p:spPr>
          <a:xfrm>
            <a:off x="214313" y="1000125"/>
            <a:ext cx="8715375" cy="3286125"/>
          </a:xfrm>
        </p:spPr>
        <p:txBody>
          <a:bodyPr/>
          <a:lstStyle/>
          <a:p>
            <a:pPr>
              <a:buFont typeface="Wingdings" panose="05000000000000000000" pitchFamily="2" charset="2"/>
              <a:buNone/>
              <a:defRPr/>
            </a:pPr>
            <a:r>
              <a:rPr lang="en-US" altLang="zh-CN" sz="2000" b="1" dirty="0">
                <a:solidFill>
                  <a:schemeClr val="accent6"/>
                </a:solidFill>
              </a:rPr>
              <a:t>4. </a:t>
            </a:r>
            <a:r>
              <a:rPr lang="zh-CN" altLang="zh-CN" sz="2000" b="1" dirty="0">
                <a:solidFill>
                  <a:schemeClr val="accent6"/>
                </a:solidFill>
              </a:rPr>
              <a:t>木马的</a:t>
            </a:r>
            <a:r>
              <a:rPr lang="zh-CN" altLang="en-US" sz="2000" b="1" dirty="0">
                <a:solidFill>
                  <a:schemeClr val="accent6"/>
                </a:solidFill>
              </a:rPr>
              <a:t>举例 </a:t>
            </a:r>
            <a:r>
              <a:rPr lang="en-US" altLang="zh-CN" sz="2000" b="1" dirty="0">
                <a:solidFill>
                  <a:schemeClr val="accent6"/>
                </a:solidFill>
              </a:rPr>
              <a:t>– </a:t>
            </a:r>
            <a:r>
              <a:rPr lang="zh-CN" altLang="en-US" sz="2000" b="1" dirty="0">
                <a:solidFill>
                  <a:schemeClr val="accent6"/>
                </a:solidFill>
              </a:rPr>
              <a:t>冰河木马</a:t>
            </a:r>
            <a:endParaRPr lang="zh-CN" altLang="zh-CN" sz="2000" b="1" dirty="0">
              <a:solidFill>
                <a:schemeClr val="accent6"/>
              </a:solidFill>
            </a:endParaRPr>
          </a:p>
          <a:p>
            <a:pPr indent="-36195">
              <a:defRPr/>
            </a:pPr>
            <a:r>
              <a:rPr lang="zh-CN" altLang="en-US" b="1" dirty="0"/>
              <a:t> 冰河木马开发于</a:t>
            </a:r>
            <a:r>
              <a:rPr lang="en-US" altLang="zh-CN" b="1" dirty="0"/>
              <a:t>1999</a:t>
            </a:r>
            <a:r>
              <a:rPr lang="zh-CN" altLang="en-US" b="1" dirty="0"/>
              <a:t>年，跟灰鸽子类似，在设计之初，开发者的本意是编写一个功能强大的</a:t>
            </a:r>
            <a:r>
              <a:rPr lang="zh-CN" altLang="en-US" b="1" dirty="0">
                <a:solidFill>
                  <a:srgbClr val="FF0000"/>
                </a:solidFill>
              </a:rPr>
              <a:t>远程控制软件</a:t>
            </a:r>
            <a:r>
              <a:rPr lang="zh-CN" altLang="en-US" b="1" dirty="0"/>
              <a:t>。</a:t>
            </a:r>
            <a:endParaRPr lang="en-US" altLang="zh-CN" b="1" dirty="0"/>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sp>
        <p:nvSpPr>
          <p:cNvPr id="6" name="内容占位符 2"/>
          <p:cNvSpPr txBox="1"/>
          <p:nvPr/>
        </p:nvSpPr>
        <p:spPr bwMode="auto">
          <a:xfrm>
            <a:off x="646344" y="2283718"/>
            <a:ext cx="2485496" cy="244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50000"/>
              </a:lnSpc>
              <a:spcBef>
                <a:spcPct val="0"/>
              </a:spcBef>
              <a:spcAft>
                <a:spcPct val="0"/>
              </a:spcAft>
              <a:buClr>
                <a:srgbClr val="C00000"/>
              </a:buClr>
              <a:buFont typeface="Wingdings" panose="05000000000000000000" pitchFamily="2" charset="2"/>
              <a:buChar char="n"/>
              <a:defRPr sz="1600">
                <a:solidFill>
                  <a:schemeClr val="tx1"/>
                </a:solidFill>
                <a:latin typeface="+mj-ea"/>
                <a:ea typeface="+mj-ea"/>
                <a:cs typeface="+mn-cs"/>
              </a:defRPr>
            </a:lvl1pPr>
            <a:lvl2pPr marL="742950" indent="-285750" algn="l" rtl="0" eaLnBrk="0" fontAlgn="base" hangingPunct="0">
              <a:lnSpc>
                <a:spcPct val="150000"/>
              </a:lnSpc>
              <a:spcBef>
                <a:spcPct val="0"/>
              </a:spcBef>
              <a:spcAft>
                <a:spcPct val="0"/>
              </a:spcAft>
              <a:buClr>
                <a:srgbClr val="C00000"/>
              </a:buClr>
              <a:buFont typeface="Wingdings" panose="05000000000000000000" pitchFamily="2" charset="2"/>
              <a:buChar char="Ø"/>
              <a:defRPr sz="1600">
                <a:solidFill>
                  <a:schemeClr val="tx1"/>
                </a:solidFill>
                <a:latin typeface="+mj-ea"/>
                <a:ea typeface="+mj-ea"/>
              </a:defRPr>
            </a:lvl2pPr>
            <a:lvl3pPr marL="1143000" indent="-228600" algn="l" rtl="0" eaLnBrk="0" fontAlgn="base" hangingPunct="0">
              <a:lnSpc>
                <a:spcPct val="150000"/>
              </a:lnSpc>
              <a:spcBef>
                <a:spcPct val="0"/>
              </a:spcBef>
              <a:spcAft>
                <a:spcPct val="0"/>
              </a:spcAft>
              <a:buClr>
                <a:srgbClr val="C00000"/>
              </a:buClr>
              <a:buFont typeface="Wingdings" panose="05000000000000000000" pitchFamily="2" charset="2"/>
              <a:buChar char="ü"/>
              <a:defRPr sz="1600">
                <a:solidFill>
                  <a:schemeClr val="tx1"/>
                </a:solidFill>
                <a:latin typeface="+mj-ea"/>
                <a:ea typeface="+mj-ea"/>
              </a:defRPr>
            </a:lvl3pPr>
            <a:lvl4pPr marL="16002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4pPr>
            <a:lvl5pPr marL="20574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5pPr>
            <a:lvl6pPr marL="25146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6pPr>
            <a:lvl7pPr marL="29718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7pPr>
            <a:lvl8pPr marL="34290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8pPr>
            <a:lvl9pPr marL="38862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9pPr>
          </a:lstStyle>
          <a:p>
            <a:pPr marL="0" indent="0" algn="ctr">
              <a:buNone/>
              <a:defRPr/>
            </a:pPr>
            <a:r>
              <a:rPr lang="zh-CN" altLang="en-US" sz="1800" b="1" kern="0" dirty="0"/>
              <a:t>通过</a:t>
            </a:r>
            <a:r>
              <a:rPr lang="zh-CN" altLang="en-US" sz="1800" b="1" u="sng" kern="0" dirty="0">
                <a:solidFill>
                  <a:srgbClr val="FF0000"/>
                </a:solidFill>
                <a:effectLst>
                  <a:outerShdw blurRad="38100" dist="38100" dir="2700000" algn="tl">
                    <a:srgbClr val="000000">
                      <a:alpha val="43137"/>
                    </a:srgbClr>
                  </a:outerShdw>
                </a:effectLst>
              </a:rPr>
              <a:t>木马的客户端</a:t>
            </a:r>
            <a:r>
              <a:rPr lang="en-US" altLang="zh-CN" sz="1800" b="1" u="sng" kern="0" dirty="0">
                <a:solidFill>
                  <a:srgbClr val="FF0000"/>
                </a:solidFill>
                <a:effectLst>
                  <a:outerShdw blurRad="38100" dist="38100" dir="2700000" algn="tl">
                    <a:srgbClr val="000000">
                      <a:alpha val="43137"/>
                    </a:srgbClr>
                  </a:outerShdw>
                </a:effectLst>
              </a:rPr>
              <a:t>Client</a:t>
            </a:r>
            <a:r>
              <a:rPr lang="zh-CN" altLang="en-US" sz="1800" b="1" kern="0" dirty="0"/>
              <a:t>连接</a:t>
            </a:r>
            <a:r>
              <a:rPr lang="en-US" altLang="zh-CN" sz="1800" b="1" kern="0" dirty="0">
                <a:solidFill>
                  <a:srgbClr val="FF0000"/>
                </a:solidFill>
              </a:rPr>
              <a:t>Server</a:t>
            </a:r>
            <a:r>
              <a:rPr lang="zh-CN" altLang="en-US" sz="1800" b="1" kern="0" dirty="0">
                <a:solidFill>
                  <a:srgbClr val="FF0000"/>
                </a:solidFill>
              </a:rPr>
              <a:t>，查看</a:t>
            </a:r>
            <a:r>
              <a:rPr lang="en-US" altLang="zh-CN" sz="1800" b="1" kern="0" dirty="0">
                <a:solidFill>
                  <a:srgbClr val="FF0000"/>
                </a:solidFill>
              </a:rPr>
              <a:t>/</a:t>
            </a:r>
            <a:r>
              <a:rPr lang="zh-CN" altLang="en-US" sz="1800" b="1" kern="0" dirty="0">
                <a:solidFill>
                  <a:srgbClr val="FF0000"/>
                </a:solidFill>
              </a:rPr>
              <a:t>窃取</a:t>
            </a:r>
            <a:r>
              <a:rPr lang="zh-CN" altLang="en-US" sz="1800" b="1" kern="0" dirty="0"/>
              <a:t>受害主中机中的</a:t>
            </a:r>
            <a:r>
              <a:rPr lang="zh-CN" altLang="en-US" sz="1800" b="1" kern="0" dirty="0">
                <a:solidFill>
                  <a:srgbClr val="FF0000"/>
                </a:solidFill>
              </a:rPr>
              <a:t>文件 </a:t>
            </a:r>
            <a:r>
              <a:rPr lang="en-US" altLang="zh-CN" sz="1200" b="1" kern="0" dirty="0">
                <a:solidFill>
                  <a:srgbClr val="FF0000"/>
                </a:solidFill>
              </a:rPr>
              <a:t>(</a:t>
            </a:r>
            <a:r>
              <a:rPr lang="zh-CN" altLang="en-US" sz="1200" b="1" kern="0" dirty="0">
                <a:solidFill>
                  <a:srgbClr val="FF0000"/>
                </a:solidFill>
              </a:rPr>
              <a:t>同时限制系统功能</a:t>
            </a:r>
            <a:r>
              <a:rPr lang="zh-CN" altLang="en-US" sz="1200" b="1" kern="0" dirty="0"/>
              <a:t>：包括远程关机、远程重启计算机、锁定鼠标等多项功能限制</a:t>
            </a:r>
            <a:r>
              <a:rPr lang="en-US" altLang="zh-CN" sz="1200" b="1" kern="0" dirty="0">
                <a:solidFill>
                  <a:srgbClr val="FF0000"/>
                </a:solidFill>
              </a:rPr>
              <a:t>)</a:t>
            </a:r>
          </a:p>
        </p:txBody>
      </p:sp>
      <p:pic>
        <p:nvPicPr>
          <p:cNvPr id="3" name="图片 2"/>
          <p:cNvPicPr>
            <a:picLocks noChangeAspect="1"/>
          </p:cNvPicPr>
          <p:nvPr/>
        </p:nvPicPr>
        <p:blipFill>
          <a:blip r:embed="rId3"/>
          <a:stretch>
            <a:fillRect/>
          </a:stretch>
        </p:blipFill>
        <p:spPr>
          <a:xfrm>
            <a:off x="3214692" y="1031533"/>
            <a:ext cx="5929308" cy="3889377"/>
          </a:xfrm>
          <a:prstGeom prst="rect">
            <a:avLst/>
          </a:prstGeom>
          <a:noFill/>
          <a:ln>
            <a:noFill/>
          </a:ln>
        </p:spPr>
      </p:pic>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fade">
                                      <p:cBhvr>
                                        <p:cTn id="7" dur="500"/>
                                        <p:tgtEl>
                                          <p:spTgt spid="6656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6563">
                                            <p:txEl>
                                              <p:pRg st="1" end="1"/>
                                            </p:txEl>
                                          </p:spTgt>
                                        </p:tgtEl>
                                        <p:attrNameLst>
                                          <p:attrName>style.visibility</p:attrName>
                                        </p:attrNameLst>
                                      </p:cBhvr>
                                      <p:to>
                                        <p:strVal val="visible"/>
                                      </p:to>
                                    </p:set>
                                    <p:animEffect transition="in" filter="fade">
                                      <p:cBhvr>
                                        <p:cTn id="11" dur="500"/>
                                        <p:tgtEl>
                                          <p:spTgt spid="6656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内容占位符 2"/>
          <p:cNvSpPr>
            <a:spLocks noGrp="1"/>
          </p:cNvSpPr>
          <p:nvPr>
            <p:ph idx="1"/>
          </p:nvPr>
        </p:nvSpPr>
        <p:spPr>
          <a:xfrm>
            <a:off x="214313" y="1000125"/>
            <a:ext cx="8715375" cy="3286125"/>
          </a:xfrm>
        </p:spPr>
        <p:txBody>
          <a:bodyPr/>
          <a:lstStyle/>
          <a:p>
            <a:pPr>
              <a:buFont typeface="Wingdings" panose="05000000000000000000" pitchFamily="2" charset="2"/>
              <a:buNone/>
              <a:defRPr/>
            </a:pPr>
            <a:r>
              <a:rPr lang="en-US" altLang="zh-CN" sz="2000" b="1" dirty="0">
                <a:solidFill>
                  <a:schemeClr val="accent6"/>
                </a:solidFill>
              </a:rPr>
              <a:t>4. </a:t>
            </a:r>
            <a:r>
              <a:rPr lang="zh-CN" altLang="zh-CN" sz="2000" b="1" dirty="0">
                <a:solidFill>
                  <a:schemeClr val="accent6"/>
                </a:solidFill>
              </a:rPr>
              <a:t>木马的</a:t>
            </a:r>
            <a:r>
              <a:rPr lang="zh-CN" altLang="en-US" sz="2000" b="1" dirty="0">
                <a:solidFill>
                  <a:schemeClr val="accent6"/>
                </a:solidFill>
              </a:rPr>
              <a:t>举例 </a:t>
            </a:r>
            <a:r>
              <a:rPr lang="en-US" altLang="zh-CN" sz="2000" b="1" dirty="0">
                <a:solidFill>
                  <a:schemeClr val="accent6"/>
                </a:solidFill>
              </a:rPr>
              <a:t>– </a:t>
            </a:r>
            <a:r>
              <a:rPr lang="zh-CN" altLang="en-US" sz="2000" b="1" dirty="0">
                <a:solidFill>
                  <a:schemeClr val="accent6"/>
                </a:solidFill>
              </a:rPr>
              <a:t>冰河木马</a:t>
            </a:r>
            <a:endParaRPr lang="zh-CN" altLang="zh-CN" sz="2000" b="1" dirty="0">
              <a:solidFill>
                <a:schemeClr val="accent6"/>
              </a:solidFill>
            </a:endParaRPr>
          </a:p>
          <a:p>
            <a:pPr indent="-36195">
              <a:defRPr/>
            </a:pPr>
            <a:r>
              <a:rPr lang="zh-CN" altLang="en-US" b="1" dirty="0"/>
              <a:t> 冰河木马开发于</a:t>
            </a:r>
            <a:r>
              <a:rPr lang="en-US" altLang="zh-CN" b="1" dirty="0"/>
              <a:t>1999</a:t>
            </a:r>
            <a:r>
              <a:rPr lang="zh-CN" altLang="en-US" b="1" dirty="0"/>
              <a:t>年，跟灰鸽子类似，在设计之初，开发者的本意是编写一个功能强大的</a:t>
            </a:r>
            <a:r>
              <a:rPr lang="zh-CN" altLang="en-US" b="1" dirty="0">
                <a:solidFill>
                  <a:srgbClr val="FF0000"/>
                </a:solidFill>
              </a:rPr>
              <a:t>远程控制软件</a:t>
            </a:r>
            <a:r>
              <a:rPr lang="zh-CN" altLang="en-US" b="1" dirty="0"/>
              <a:t>。</a:t>
            </a:r>
            <a:endParaRPr lang="en-US" altLang="zh-CN" b="1" dirty="0"/>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sp>
        <p:nvSpPr>
          <p:cNvPr id="6" name="内容占位符 2"/>
          <p:cNvSpPr txBox="1"/>
          <p:nvPr/>
        </p:nvSpPr>
        <p:spPr bwMode="auto">
          <a:xfrm>
            <a:off x="646344" y="2283718"/>
            <a:ext cx="2485496" cy="244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50000"/>
              </a:lnSpc>
              <a:spcBef>
                <a:spcPct val="0"/>
              </a:spcBef>
              <a:spcAft>
                <a:spcPct val="0"/>
              </a:spcAft>
              <a:buClr>
                <a:srgbClr val="C00000"/>
              </a:buClr>
              <a:buFont typeface="Wingdings" panose="05000000000000000000" pitchFamily="2" charset="2"/>
              <a:buChar char="n"/>
              <a:defRPr sz="1600">
                <a:solidFill>
                  <a:schemeClr val="tx1"/>
                </a:solidFill>
                <a:latin typeface="+mj-ea"/>
                <a:ea typeface="+mj-ea"/>
                <a:cs typeface="+mn-cs"/>
              </a:defRPr>
            </a:lvl1pPr>
            <a:lvl2pPr marL="742950" indent="-285750" algn="l" rtl="0" eaLnBrk="0" fontAlgn="base" hangingPunct="0">
              <a:lnSpc>
                <a:spcPct val="150000"/>
              </a:lnSpc>
              <a:spcBef>
                <a:spcPct val="0"/>
              </a:spcBef>
              <a:spcAft>
                <a:spcPct val="0"/>
              </a:spcAft>
              <a:buClr>
                <a:srgbClr val="C00000"/>
              </a:buClr>
              <a:buFont typeface="Wingdings" panose="05000000000000000000" pitchFamily="2" charset="2"/>
              <a:buChar char="Ø"/>
              <a:defRPr sz="1600">
                <a:solidFill>
                  <a:schemeClr val="tx1"/>
                </a:solidFill>
                <a:latin typeface="+mj-ea"/>
                <a:ea typeface="+mj-ea"/>
              </a:defRPr>
            </a:lvl2pPr>
            <a:lvl3pPr marL="1143000" indent="-228600" algn="l" rtl="0" eaLnBrk="0" fontAlgn="base" hangingPunct="0">
              <a:lnSpc>
                <a:spcPct val="150000"/>
              </a:lnSpc>
              <a:spcBef>
                <a:spcPct val="0"/>
              </a:spcBef>
              <a:spcAft>
                <a:spcPct val="0"/>
              </a:spcAft>
              <a:buClr>
                <a:srgbClr val="C00000"/>
              </a:buClr>
              <a:buFont typeface="Wingdings" panose="05000000000000000000" pitchFamily="2" charset="2"/>
              <a:buChar char="ü"/>
              <a:defRPr sz="1600">
                <a:solidFill>
                  <a:schemeClr val="tx1"/>
                </a:solidFill>
                <a:latin typeface="+mj-ea"/>
                <a:ea typeface="+mj-ea"/>
              </a:defRPr>
            </a:lvl3pPr>
            <a:lvl4pPr marL="16002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4pPr>
            <a:lvl5pPr marL="20574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5pPr>
            <a:lvl6pPr marL="25146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6pPr>
            <a:lvl7pPr marL="29718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7pPr>
            <a:lvl8pPr marL="34290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8pPr>
            <a:lvl9pPr marL="38862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9pPr>
          </a:lstStyle>
          <a:p>
            <a:pPr marL="0" indent="0" algn="ctr">
              <a:buNone/>
              <a:defRPr/>
            </a:pPr>
            <a:r>
              <a:rPr lang="zh-CN" altLang="en-US" sz="1800" b="1" kern="0" dirty="0"/>
              <a:t>通过</a:t>
            </a:r>
            <a:r>
              <a:rPr lang="zh-CN" altLang="en-US" sz="1800" b="1" u="sng" kern="0" dirty="0">
                <a:solidFill>
                  <a:srgbClr val="FF0000"/>
                </a:solidFill>
                <a:effectLst>
                  <a:outerShdw blurRad="38100" dist="38100" dir="2700000" algn="tl">
                    <a:srgbClr val="000000">
                      <a:alpha val="43137"/>
                    </a:srgbClr>
                  </a:outerShdw>
                </a:effectLst>
              </a:rPr>
              <a:t>木马的客户端</a:t>
            </a:r>
            <a:r>
              <a:rPr lang="en-US" altLang="zh-CN" sz="1800" b="1" u="sng" kern="0" dirty="0">
                <a:solidFill>
                  <a:srgbClr val="FF0000"/>
                </a:solidFill>
                <a:effectLst>
                  <a:outerShdw blurRad="38100" dist="38100" dir="2700000" algn="tl">
                    <a:srgbClr val="000000">
                      <a:alpha val="43137"/>
                    </a:srgbClr>
                  </a:outerShdw>
                </a:effectLst>
              </a:rPr>
              <a:t>Client</a:t>
            </a:r>
            <a:r>
              <a:rPr lang="zh-CN" altLang="en-US" sz="1800" b="1" kern="0" dirty="0"/>
              <a:t>连接</a:t>
            </a:r>
            <a:r>
              <a:rPr lang="en-US" altLang="zh-CN" sz="1800" b="1" kern="0" dirty="0">
                <a:solidFill>
                  <a:srgbClr val="FF0000"/>
                </a:solidFill>
              </a:rPr>
              <a:t>Server</a:t>
            </a:r>
            <a:r>
              <a:rPr lang="zh-CN" altLang="en-US" sz="1800" b="1" kern="0" dirty="0">
                <a:solidFill>
                  <a:srgbClr val="FF0000"/>
                </a:solidFill>
              </a:rPr>
              <a:t>，查看</a:t>
            </a:r>
            <a:r>
              <a:rPr lang="en-US" altLang="zh-CN" sz="1800" b="1" kern="0" dirty="0">
                <a:solidFill>
                  <a:srgbClr val="FF0000"/>
                </a:solidFill>
              </a:rPr>
              <a:t>/</a:t>
            </a:r>
            <a:r>
              <a:rPr lang="zh-CN" altLang="en-US" sz="1800" b="1" kern="0" dirty="0">
                <a:solidFill>
                  <a:srgbClr val="FF0000"/>
                </a:solidFill>
              </a:rPr>
              <a:t>窃取</a:t>
            </a:r>
            <a:r>
              <a:rPr lang="zh-CN" altLang="en-US" sz="1800" b="1" kern="0" dirty="0"/>
              <a:t>受害主中机中的</a:t>
            </a:r>
            <a:r>
              <a:rPr lang="zh-CN" altLang="en-US" sz="1800" b="1" kern="0" dirty="0">
                <a:solidFill>
                  <a:srgbClr val="FF0000"/>
                </a:solidFill>
              </a:rPr>
              <a:t>文件 </a:t>
            </a:r>
            <a:r>
              <a:rPr lang="en-US" altLang="zh-CN" sz="1200" b="1" kern="0" dirty="0">
                <a:solidFill>
                  <a:srgbClr val="FF0000"/>
                </a:solidFill>
              </a:rPr>
              <a:t>(</a:t>
            </a:r>
            <a:r>
              <a:rPr lang="zh-CN" altLang="en-US" sz="1200" b="1" kern="0" dirty="0">
                <a:solidFill>
                  <a:srgbClr val="FF0000"/>
                </a:solidFill>
              </a:rPr>
              <a:t>同时限制系统功能</a:t>
            </a:r>
            <a:r>
              <a:rPr lang="zh-CN" altLang="en-US" sz="1200" b="1" kern="0" dirty="0"/>
              <a:t>：包括远程关机、远程重启计算机、锁定鼠标等多项功能限制</a:t>
            </a:r>
            <a:r>
              <a:rPr lang="en-US" altLang="zh-CN" sz="1200" b="1" kern="0" dirty="0">
                <a:solidFill>
                  <a:srgbClr val="FF0000"/>
                </a:solidFill>
              </a:rPr>
              <a:t>)</a:t>
            </a:r>
          </a:p>
        </p:txBody>
      </p:sp>
      <p:pic>
        <p:nvPicPr>
          <p:cNvPr id="2" name="图片 1"/>
          <p:cNvPicPr>
            <a:picLocks noChangeAspect="1"/>
          </p:cNvPicPr>
          <p:nvPr/>
        </p:nvPicPr>
        <p:blipFill>
          <a:blip r:embed="rId3"/>
          <a:srcRect b="12711"/>
          <a:stretch>
            <a:fillRect/>
          </a:stretch>
        </p:blipFill>
        <p:spPr>
          <a:xfrm>
            <a:off x="3995936" y="0"/>
            <a:ext cx="4843860" cy="5109039"/>
          </a:xfrm>
          <a:prstGeom prst="rect">
            <a:avLst/>
          </a:prstGeom>
          <a:noFill/>
          <a:ln>
            <a:noFill/>
          </a:ln>
        </p:spPr>
      </p:pic>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fade">
                                      <p:cBhvr>
                                        <p:cTn id="7" dur="500"/>
                                        <p:tgtEl>
                                          <p:spTgt spid="6656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6563">
                                            <p:txEl>
                                              <p:pRg st="1" end="1"/>
                                            </p:txEl>
                                          </p:spTgt>
                                        </p:tgtEl>
                                        <p:attrNameLst>
                                          <p:attrName>style.visibility</p:attrName>
                                        </p:attrNameLst>
                                      </p:cBhvr>
                                      <p:to>
                                        <p:strVal val="visible"/>
                                      </p:to>
                                    </p:set>
                                    <p:animEffect transition="in" filter="fade">
                                      <p:cBhvr>
                                        <p:cTn id="11" dur="500"/>
                                        <p:tgtEl>
                                          <p:spTgt spid="6656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内容占位符 2"/>
          <p:cNvSpPr>
            <a:spLocks noGrp="1"/>
          </p:cNvSpPr>
          <p:nvPr>
            <p:ph idx="1"/>
          </p:nvPr>
        </p:nvSpPr>
        <p:spPr>
          <a:xfrm>
            <a:off x="214313" y="1000125"/>
            <a:ext cx="8715375" cy="3286125"/>
          </a:xfrm>
        </p:spPr>
        <p:txBody>
          <a:bodyPr/>
          <a:lstStyle/>
          <a:p>
            <a:pPr>
              <a:buFont typeface="Wingdings" panose="05000000000000000000" pitchFamily="2" charset="2"/>
              <a:buNone/>
              <a:defRPr/>
            </a:pPr>
            <a:r>
              <a:rPr lang="en-US" altLang="zh-CN" sz="2000" b="1" dirty="0">
                <a:solidFill>
                  <a:schemeClr val="accent6"/>
                </a:solidFill>
              </a:rPr>
              <a:t>4. </a:t>
            </a:r>
            <a:r>
              <a:rPr lang="zh-CN" altLang="zh-CN" sz="2000" b="1" dirty="0">
                <a:solidFill>
                  <a:schemeClr val="accent6"/>
                </a:solidFill>
              </a:rPr>
              <a:t>木马的</a:t>
            </a:r>
            <a:r>
              <a:rPr lang="zh-CN" altLang="en-US" sz="2000" b="1" dirty="0">
                <a:solidFill>
                  <a:schemeClr val="accent6"/>
                </a:solidFill>
              </a:rPr>
              <a:t>举例 </a:t>
            </a:r>
            <a:r>
              <a:rPr lang="en-US" altLang="zh-CN" sz="2000" b="1" dirty="0">
                <a:solidFill>
                  <a:schemeClr val="accent6"/>
                </a:solidFill>
              </a:rPr>
              <a:t>– </a:t>
            </a:r>
            <a:r>
              <a:rPr lang="zh-CN" altLang="en-US" sz="2000" b="1" dirty="0">
                <a:solidFill>
                  <a:schemeClr val="accent6"/>
                </a:solidFill>
              </a:rPr>
              <a:t>冰河木马</a:t>
            </a:r>
            <a:endParaRPr lang="zh-CN" altLang="zh-CN" sz="2000" b="1" dirty="0">
              <a:solidFill>
                <a:schemeClr val="accent6"/>
              </a:solidFill>
            </a:endParaRPr>
          </a:p>
          <a:p>
            <a:pPr indent="-36195">
              <a:defRPr/>
            </a:pPr>
            <a:r>
              <a:rPr lang="zh-CN" altLang="en-US" b="1" dirty="0"/>
              <a:t> 冰河木马开发于</a:t>
            </a:r>
            <a:r>
              <a:rPr lang="en-US" altLang="zh-CN" b="1" dirty="0"/>
              <a:t>1999</a:t>
            </a:r>
            <a:r>
              <a:rPr lang="zh-CN" altLang="en-US" b="1" dirty="0"/>
              <a:t>年，跟灰鸽子类似，在设计之初，开发者的本意是编写一个功能强大的</a:t>
            </a:r>
            <a:r>
              <a:rPr lang="zh-CN" altLang="en-US" b="1" dirty="0">
                <a:solidFill>
                  <a:srgbClr val="FF0000"/>
                </a:solidFill>
              </a:rPr>
              <a:t>远程控制软件</a:t>
            </a:r>
            <a:r>
              <a:rPr lang="zh-CN" altLang="en-US" b="1" dirty="0"/>
              <a:t>。</a:t>
            </a:r>
            <a:endParaRPr lang="en-US" altLang="zh-CN" b="1" dirty="0"/>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sp>
        <p:nvSpPr>
          <p:cNvPr id="6" name="内容占位符 2"/>
          <p:cNvSpPr txBox="1"/>
          <p:nvPr/>
        </p:nvSpPr>
        <p:spPr bwMode="auto">
          <a:xfrm>
            <a:off x="646344" y="2283718"/>
            <a:ext cx="2485496" cy="244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50000"/>
              </a:lnSpc>
              <a:spcBef>
                <a:spcPct val="0"/>
              </a:spcBef>
              <a:spcAft>
                <a:spcPct val="0"/>
              </a:spcAft>
              <a:buClr>
                <a:srgbClr val="C00000"/>
              </a:buClr>
              <a:buFont typeface="Wingdings" panose="05000000000000000000" pitchFamily="2" charset="2"/>
              <a:buChar char="n"/>
              <a:defRPr sz="1600">
                <a:solidFill>
                  <a:schemeClr val="tx1"/>
                </a:solidFill>
                <a:latin typeface="+mj-ea"/>
                <a:ea typeface="+mj-ea"/>
                <a:cs typeface="+mn-cs"/>
              </a:defRPr>
            </a:lvl1pPr>
            <a:lvl2pPr marL="742950" indent="-285750" algn="l" rtl="0" eaLnBrk="0" fontAlgn="base" hangingPunct="0">
              <a:lnSpc>
                <a:spcPct val="150000"/>
              </a:lnSpc>
              <a:spcBef>
                <a:spcPct val="0"/>
              </a:spcBef>
              <a:spcAft>
                <a:spcPct val="0"/>
              </a:spcAft>
              <a:buClr>
                <a:srgbClr val="C00000"/>
              </a:buClr>
              <a:buFont typeface="Wingdings" panose="05000000000000000000" pitchFamily="2" charset="2"/>
              <a:buChar char="Ø"/>
              <a:defRPr sz="1600">
                <a:solidFill>
                  <a:schemeClr val="tx1"/>
                </a:solidFill>
                <a:latin typeface="+mj-ea"/>
                <a:ea typeface="+mj-ea"/>
              </a:defRPr>
            </a:lvl2pPr>
            <a:lvl3pPr marL="1143000" indent="-228600" algn="l" rtl="0" eaLnBrk="0" fontAlgn="base" hangingPunct="0">
              <a:lnSpc>
                <a:spcPct val="150000"/>
              </a:lnSpc>
              <a:spcBef>
                <a:spcPct val="0"/>
              </a:spcBef>
              <a:spcAft>
                <a:spcPct val="0"/>
              </a:spcAft>
              <a:buClr>
                <a:srgbClr val="C00000"/>
              </a:buClr>
              <a:buFont typeface="Wingdings" panose="05000000000000000000" pitchFamily="2" charset="2"/>
              <a:buChar char="ü"/>
              <a:defRPr sz="1600">
                <a:solidFill>
                  <a:schemeClr val="tx1"/>
                </a:solidFill>
                <a:latin typeface="+mj-ea"/>
                <a:ea typeface="+mj-ea"/>
              </a:defRPr>
            </a:lvl3pPr>
            <a:lvl4pPr marL="16002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4pPr>
            <a:lvl5pPr marL="2057400" indent="-228600" algn="l" rtl="0" eaLnBrk="0" fontAlgn="base" hangingPunct="0">
              <a:lnSpc>
                <a:spcPct val="150000"/>
              </a:lnSpc>
              <a:spcBef>
                <a:spcPct val="0"/>
              </a:spcBef>
              <a:spcAft>
                <a:spcPct val="0"/>
              </a:spcAft>
              <a:buClr>
                <a:srgbClr val="C00000"/>
              </a:buClr>
              <a:buFont typeface="Arial" panose="020B0604020202020204" pitchFamily="34" charset="0"/>
              <a:buChar char="•"/>
              <a:defRPr sz="1600">
                <a:solidFill>
                  <a:schemeClr val="tx1"/>
                </a:solidFill>
                <a:latin typeface="+mj-ea"/>
                <a:ea typeface="+mj-ea"/>
              </a:defRPr>
            </a:lvl5pPr>
            <a:lvl6pPr marL="25146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6pPr>
            <a:lvl7pPr marL="29718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7pPr>
            <a:lvl8pPr marL="34290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8pPr>
            <a:lvl9pPr marL="3886200" indent="-228600" algn="l" rtl="0" eaLnBrk="0" fontAlgn="base" hangingPunct="0">
              <a:spcBef>
                <a:spcPct val="20000"/>
              </a:spcBef>
              <a:spcAft>
                <a:spcPct val="0"/>
              </a:spcAft>
              <a:buClr>
                <a:srgbClr val="E46C0A"/>
              </a:buClr>
              <a:buFont typeface="Wingdings" panose="05000000000000000000" pitchFamily="2" charset="2"/>
              <a:buChar char="ü"/>
              <a:defRPr sz="2000">
                <a:solidFill>
                  <a:schemeClr val="tx1"/>
                </a:solidFill>
                <a:latin typeface="+mn-lt"/>
                <a:ea typeface="+mn-ea"/>
              </a:defRPr>
            </a:lvl9pPr>
          </a:lstStyle>
          <a:p>
            <a:pPr marL="0" indent="0" algn="ctr">
              <a:buNone/>
              <a:defRPr/>
            </a:pPr>
            <a:r>
              <a:rPr lang="zh-CN" altLang="en-US" sz="1800" b="1" kern="0" dirty="0"/>
              <a:t>通过</a:t>
            </a:r>
            <a:r>
              <a:rPr lang="zh-CN" altLang="en-US" sz="1800" b="1" u="sng" kern="0" dirty="0">
                <a:solidFill>
                  <a:srgbClr val="FF0000"/>
                </a:solidFill>
                <a:effectLst>
                  <a:outerShdw blurRad="38100" dist="38100" dir="2700000" algn="tl">
                    <a:srgbClr val="000000">
                      <a:alpha val="43137"/>
                    </a:srgbClr>
                  </a:outerShdw>
                </a:effectLst>
              </a:rPr>
              <a:t>木马的客户端</a:t>
            </a:r>
            <a:r>
              <a:rPr lang="en-US" altLang="zh-CN" sz="1800" b="1" u="sng" kern="0" dirty="0">
                <a:solidFill>
                  <a:srgbClr val="FF0000"/>
                </a:solidFill>
                <a:effectLst>
                  <a:outerShdw blurRad="38100" dist="38100" dir="2700000" algn="tl">
                    <a:srgbClr val="000000">
                      <a:alpha val="43137"/>
                    </a:srgbClr>
                  </a:outerShdw>
                </a:effectLst>
              </a:rPr>
              <a:t>Client</a:t>
            </a:r>
            <a:r>
              <a:rPr lang="zh-CN" altLang="en-US" sz="1800" b="1" kern="0" dirty="0"/>
              <a:t>连接</a:t>
            </a:r>
            <a:r>
              <a:rPr lang="en-US" altLang="zh-CN" sz="1800" b="1" kern="0" dirty="0">
                <a:solidFill>
                  <a:srgbClr val="FF0000"/>
                </a:solidFill>
              </a:rPr>
              <a:t>Server</a:t>
            </a:r>
            <a:r>
              <a:rPr lang="zh-CN" altLang="en-US" sz="1800" b="1" kern="0" dirty="0">
                <a:solidFill>
                  <a:srgbClr val="FF0000"/>
                </a:solidFill>
              </a:rPr>
              <a:t>，查看</a:t>
            </a:r>
            <a:r>
              <a:rPr lang="en-US" altLang="zh-CN" sz="1800" b="1" kern="0" dirty="0">
                <a:solidFill>
                  <a:srgbClr val="FF0000"/>
                </a:solidFill>
              </a:rPr>
              <a:t>/</a:t>
            </a:r>
            <a:r>
              <a:rPr lang="zh-CN" altLang="en-US" sz="1800" b="1" kern="0" dirty="0">
                <a:solidFill>
                  <a:srgbClr val="FF0000"/>
                </a:solidFill>
              </a:rPr>
              <a:t>窃取</a:t>
            </a:r>
            <a:r>
              <a:rPr lang="zh-CN" altLang="en-US" sz="1800" b="1" kern="0" dirty="0"/>
              <a:t>受害主中机中的</a:t>
            </a:r>
            <a:r>
              <a:rPr lang="zh-CN" altLang="en-US" sz="1800" b="1" kern="0" dirty="0">
                <a:solidFill>
                  <a:srgbClr val="FF0000"/>
                </a:solidFill>
              </a:rPr>
              <a:t>文件 </a:t>
            </a:r>
            <a:r>
              <a:rPr lang="en-US" altLang="zh-CN" sz="1200" b="1" kern="0" dirty="0">
                <a:solidFill>
                  <a:srgbClr val="FF0000"/>
                </a:solidFill>
              </a:rPr>
              <a:t>(</a:t>
            </a:r>
            <a:r>
              <a:rPr lang="zh-CN" altLang="en-US" sz="1200" b="1" kern="0" dirty="0">
                <a:solidFill>
                  <a:srgbClr val="FF0000"/>
                </a:solidFill>
              </a:rPr>
              <a:t>同时限制系统功能</a:t>
            </a:r>
            <a:r>
              <a:rPr lang="zh-CN" altLang="en-US" sz="1200" b="1" kern="0" dirty="0"/>
              <a:t>：包括远程关机、远程重启计算机、锁定鼠标等多项功能限制</a:t>
            </a:r>
            <a:r>
              <a:rPr lang="en-US" altLang="zh-CN" sz="1200" b="1" kern="0" dirty="0">
                <a:solidFill>
                  <a:srgbClr val="FF0000"/>
                </a:solidFill>
              </a:rPr>
              <a:t>)</a:t>
            </a:r>
          </a:p>
        </p:txBody>
      </p:sp>
      <p:pic>
        <p:nvPicPr>
          <p:cNvPr id="3" name="图片 2"/>
          <p:cNvPicPr>
            <a:picLocks noChangeAspect="1"/>
          </p:cNvPicPr>
          <p:nvPr/>
        </p:nvPicPr>
        <p:blipFill>
          <a:blip r:embed="rId3"/>
          <a:stretch>
            <a:fillRect/>
          </a:stretch>
        </p:blipFill>
        <p:spPr>
          <a:xfrm>
            <a:off x="3563871" y="190182"/>
            <a:ext cx="5274310" cy="4763135"/>
          </a:xfrm>
          <a:prstGeom prst="rect">
            <a:avLst/>
          </a:prstGeom>
          <a:noFill/>
          <a:ln>
            <a:noFill/>
          </a:ln>
        </p:spPr>
      </p:pic>
    </p:spTree>
  </p:cSld>
  <p:clrMapOvr>
    <a:masterClrMapping/>
  </p:clrMapOvr>
  <p:transition spd="med">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fade">
                                      <p:cBhvr>
                                        <p:cTn id="7" dur="500"/>
                                        <p:tgtEl>
                                          <p:spTgt spid="6656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6563">
                                            <p:txEl>
                                              <p:pRg st="1" end="1"/>
                                            </p:txEl>
                                          </p:spTgt>
                                        </p:tgtEl>
                                        <p:attrNameLst>
                                          <p:attrName>style.visibility</p:attrName>
                                        </p:attrNameLst>
                                      </p:cBhvr>
                                      <p:to>
                                        <p:strVal val="visible"/>
                                      </p:to>
                                    </p:set>
                                    <p:animEffect transition="in" filter="fade">
                                      <p:cBhvr>
                                        <p:cTn id="11" dur="500"/>
                                        <p:tgtEl>
                                          <p:spTgt spid="6656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内容占位符 2"/>
          <p:cNvSpPr>
            <a:spLocks noGrp="1"/>
          </p:cNvSpPr>
          <p:nvPr>
            <p:ph idx="1"/>
          </p:nvPr>
        </p:nvSpPr>
        <p:spPr>
          <a:xfrm>
            <a:off x="142875" y="1928813"/>
            <a:ext cx="4357688" cy="1063625"/>
          </a:xfrm>
        </p:spPr>
        <p:txBody>
          <a:bodyPr/>
          <a:lstStyle/>
          <a:p>
            <a:pPr>
              <a:buFont typeface="Wingdings" panose="05000000000000000000" pitchFamily="2" charset="2"/>
              <a:buNone/>
              <a:defRPr/>
            </a:pPr>
            <a:r>
              <a:rPr lang="en-US" altLang="zh-CN" sz="2000" b="1" dirty="0">
                <a:solidFill>
                  <a:schemeClr val="accent6"/>
                </a:solidFill>
              </a:rPr>
              <a:t>5. </a:t>
            </a:r>
            <a:r>
              <a:rPr lang="zh-CN" altLang="zh-CN" sz="2000" b="1" dirty="0">
                <a:solidFill>
                  <a:schemeClr val="accent6"/>
                </a:solidFill>
              </a:rPr>
              <a:t>木马实施网络入侵的基本步骤</a:t>
            </a:r>
          </a:p>
          <a:p>
            <a:pPr indent="-71755">
              <a:defRPr/>
            </a:pPr>
            <a:r>
              <a:rPr lang="zh-CN" altLang="zh-CN" b="1" dirty="0"/>
              <a:t>用木马入侵网络，通常包括</a:t>
            </a:r>
            <a:r>
              <a:rPr lang="en-US" altLang="zh-CN" b="1" dirty="0">
                <a:solidFill>
                  <a:srgbClr val="FF0000"/>
                </a:solidFill>
              </a:rPr>
              <a:t>6</a:t>
            </a:r>
            <a:r>
              <a:rPr lang="zh-CN" altLang="zh-CN" b="1" dirty="0">
                <a:solidFill>
                  <a:srgbClr val="FF0000"/>
                </a:solidFill>
              </a:rPr>
              <a:t>个步骤</a:t>
            </a:r>
            <a:r>
              <a:rPr lang="zh-CN" altLang="zh-CN" b="1" dirty="0"/>
              <a:t>，如图所示。</a:t>
            </a:r>
          </a:p>
        </p:txBody>
      </p:sp>
      <p:pic>
        <p:nvPicPr>
          <p:cNvPr id="86019"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27538" y="69850"/>
            <a:ext cx="4321175" cy="480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sp>
        <p:nvSpPr>
          <p:cNvPr id="86021" name="TextBox 5"/>
          <p:cNvSpPr txBox="1">
            <a:spLocks noChangeArrowheads="1"/>
          </p:cNvSpPr>
          <p:nvPr/>
        </p:nvSpPr>
        <p:spPr bwMode="auto">
          <a:xfrm>
            <a:off x="5745163" y="4803775"/>
            <a:ext cx="25717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r>
              <a:rPr lang="zh-CN" altLang="en-US" sz="1400" b="1">
                <a:solidFill>
                  <a:schemeClr val="bg1"/>
                </a:solidFill>
              </a:rPr>
              <a:t>木马入侵网络的基本步骤</a:t>
            </a:r>
          </a:p>
        </p:txBody>
      </p:sp>
      <p:sp>
        <p:nvSpPr>
          <p:cNvPr id="86022" name="矩形 5"/>
          <p:cNvSpPr>
            <a:spLocks noChangeArrowheads="1"/>
          </p:cNvSpPr>
          <p:nvPr/>
        </p:nvSpPr>
        <p:spPr bwMode="auto">
          <a:xfrm>
            <a:off x="4427538" y="339725"/>
            <a:ext cx="865187" cy="4248150"/>
          </a:xfrm>
          <a:prstGeom prst="rect">
            <a:avLst/>
          </a:prstGeom>
          <a:noFill/>
          <a:ln w="38100"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sz="1200" b="1">
              <a:solidFill>
                <a:srgbClr val="FF0000"/>
              </a:solidFill>
            </a:endParaRPr>
          </a:p>
        </p:txBody>
      </p:sp>
    </p:spTree>
  </p:cSld>
  <p:clrMapOvr>
    <a:masterClrMapping/>
  </p:clrMapOvr>
  <p:transition spd="med">
    <p:randomBar dir="vert"/>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sp>
        <p:nvSpPr>
          <p:cNvPr id="8" name="圆角矩形 7"/>
          <p:cNvSpPr/>
          <p:nvPr/>
        </p:nvSpPr>
        <p:spPr bwMode="auto">
          <a:xfrm>
            <a:off x="642938" y="1071563"/>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(1)</a:t>
            </a:r>
            <a:r>
              <a:rPr lang="zh-CN" altLang="en-US" sz="1600" b="1" dirty="0">
                <a:solidFill>
                  <a:schemeClr val="bg2">
                    <a:lumMod val="25000"/>
                  </a:schemeClr>
                </a:solidFill>
              </a:rPr>
              <a:t>配置木马</a:t>
            </a:r>
          </a:p>
        </p:txBody>
      </p:sp>
      <p:sp>
        <p:nvSpPr>
          <p:cNvPr id="19" name="圆角矩形 18"/>
          <p:cNvSpPr/>
          <p:nvPr/>
        </p:nvSpPr>
        <p:spPr bwMode="auto">
          <a:xfrm>
            <a:off x="395288" y="1492250"/>
            <a:ext cx="6121400" cy="714375"/>
          </a:xfrm>
          <a:prstGeom prst="roundRect">
            <a:avLst/>
          </a:prstGeom>
          <a:noFill/>
          <a:ln w="12700" cap="flat" cmpd="sng" algn="ctr">
            <a:solidFill>
              <a:srgbClr val="E46C0A"/>
            </a:solidFill>
            <a:prstDash val="solid"/>
            <a:round/>
            <a:headEnd type="none" w="med" len="med"/>
            <a:tailEnd type="none" w="med" len="med"/>
          </a:ln>
          <a:effectLst>
            <a:outerShdw blurRad="50800" dist="38100" dir="5400000" algn="t" rotWithShape="0">
              <a:prstClr val="black">
                <a:alpha val="40000"/>
              </a:prstClr>
            </a:outerShdw>
          </a:effectLst>
        </p:spPr>
        <p:txBody>
          <a:bodyPr wrap="none" anchor="ctr"/>
          <a:lstStyle/>
          <a:p>
            <a:pPr algn="ctr" eaLnBrk="1" hangingPunct="1">
              <a:lnSpc>
                <a:spcPct val="150000"/>
              </a:lnSpc>
              <a:defRPr/>
            </a:pPr>
            <a:r>
              <a:rPr lang="zh-CN" altLang="en-US" sz="1400" b="1" dirty="0"/>
              <a:t>主要实现两个功能：</a:t>
            </a:r>
            <a:r>
              <a:rPr lang="zh-CN" altLang="en-US" sz="1400" b="1" dirty="0">
                <a:solidFill>
                  <a:srgbClr val="0033CC"/>
                </a:solidFill>
              </a:rPr>
              <a:t>木马伪装</a:t>
            </a:r>
            <a:r>
              <a:rPr lang="zh-CN" altLang="en-US" sz="1400" b="1" dirty="0"/>
              <a:t>，即让木马在服务器尽可能隐藏得更加隐蔽；</a:t>
            </a:r>
            <a:endParaRPr lang="en-US" altLang="zh-CN" sz="1400" b="1" dirty="0"/>
          </a:p>
          <a:p>
            <a:pPr algn="ctr" eaLnBrk="1" hangingPunct="1">
              <a:lnSpc>
                <a:spcPct val="150000"/>
              </a:lnSpc>
              <a:defRPr/>
            </a:pPr>
            <a:r>
              <a:rPr lang="en-US" altLang="zh-CN" sz="1400" b="1" dirty="0"/>
              <a:t>               </a:t>
            </a:r>
            <a:r>
              <a:rPr lang="zh-CN" altLang="en-US" sz="1400" b="1" dirty="0">
                <a:solidFill>
                  <a:srgbClr val="0033CC"/>
                </a:solidFill>
              </a:rPr>
              <a:t>信息反馈</a:t>
            </a:r>
            <a:r>
              <a:rPr lang="zh-CN" altLang="en-US" sz="1400" b="1" dirty="0"/>
              <a:t>，即设置信息反馈的方式或地址。</a:t>
            </a:r>
          </a:p>
        </p:txBody>
      </p:sp>
      <p:pic>
        <p:nvPicPr>
          <p:cNvPr id="87046"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64275" y="881063"/>
            <a:ext cx="2879725" cy="363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7" name="矩形 5"/>
          <p:cNvSpPr>
            <a:spLocks noChangeArrowheads="1"/>
          </p:cNvSpPr>
          <p:nvPr/>
        </p:nvSpPr>
        <p:spPr bwMode="auto">
          <a:xfrm>
            <a:off x="6300788" y="1058863"/>
            <a:ext cx="576262" cy="433387"/>
          </a:xfrm>
          <a:prstGeom prst="rect">
            <a:avLst/>
          </a:prstGeom>
          <a:noFill/>
          <a:ln w="38100"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sz="1200" b="1">
              <a:solidFill>
                <a:srgbClr val="FF0000"/>
              </a:solidFill>
            </a:endParaRPr>
          </a:p>
        </p:txBody>
      </p:sp>
    </p:spTree>
  </p:cSld>
  <p:clrMapOvr>
    <a:masterClrMapping/>
  </p:clrMapOvr>
  <p:transition spd="med">
    <p:randomBar dir="vert"/>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sp>
        <p:nvSpPr>
          <p:cNvPr id="8" name="圆角矩形 7"/>
          <p:cNvSpPr/>
          <p:nvPr/>
        </p:nvSpPr>
        <p:spPr bwMode="auto">
          <a:xfrm>
            <a:off x="642938" y="1071563"/>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(1)</a:t>
            </a:r>
            <a:r>
              <a:rPr lang="zh-CN" altLang="en-US" sz="1600" b="1" dirty="0">
                <a:solidFill>
                  <a:schemeClr val="bg2">
                    <a:lumMod val="25000"/>
                  </a:schemeClr>
                </a:solidFill>
              </a:rPr>
              <a:t>配置木马</a:t>
            </a:r>
          </a:p>
        </p:txBody>
      </p:sp>
      <p:sp>
        <p:nvSpPr>
          <p:cNvPr id="10" name="圆角矩形 9"/>
          <p:cNvSpPr/>
          <p:nvPr/>
        </p:nvSpPr>
        <p:spPr bwMode="auto">
          <a:xfrm>
            <a:off x="642938" y="1571625"/>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(2)</a:t>
            </a:r>
            <a:r>
              <a:rPr lang="zh-CN" altLang="en-US" sz="1600" b="1" dirty="0">
                <a:solidFill>
                  <a:schemeClr val="bg2">
                    <a:lumMod val="25000"/>
                  </a:schemeClr>
                </a:solidFill>
              </a:rPr>
              <a:t>传播木马</a:t>
            </a:r>
          </a:p>
        </p:txBody>
      </p:sp>
      <p:sp>
        <p:nvSpPr>
          <p:cNvPr id="18" name="圆角矩形 17"/>
          <p:cNvSpPr/>
          <p:nvPr/>
        </p:nvSpPr>
        <p:spPr bwMode="auto">
          <a:xfrm>
            <a:off x="468313" y="1924050"/>
            <a:ext cx="5688012" cy="428625"/>
          </a:xfrm>
          <a:prstGeom prst="roundRect">
            <a:avLst/>
          </a:prstGeom>
          <a:noFill/>
          <a:ln w="12700" cap="flat" cmpd="sng" algn="ctr">
            <a:solidFill>
              <a:srgbClr val="E46C0A"/>
            </a:solidFill>
            <a:prstDash val="solid"/>
            <a:round/>
            <a:headEnd type="none" w="med" len="med"/>
            <a:tailEnd type="none" w="med" len="med"/>
          </a:ln>
          <a:effectLst>
            <a:outerShdw blurRad="50800" dist="38100" dir="5400000" algn="t" rotWithShape="0">
              <a:prstClr val="black">
                <a:alpha val="40000"/>
              </a:prstClr>
            </a:outerShdw>
          </a:effectLst>
        </p:spPr>
        <p:txBody>
          <a:bodyPr wrap="none" anchor="ctr"/>
          <a:lstStyle/>
          <a:p>
            <a:pPr eaLnBrk="1" hangingPunct="1">
              <a:lnSpc>
                <a:spcPct val="150000"/>
              </a:lnSpc>
              <a:defRPr/>
            </a:pPr>
            <a:r>
              <a:rPr lang="zh-CN" altLang="en-US" sz="1400" b="1" dirty="0"/>
              <a:t>使用各种传播方式，</a:t>
            </a:r>
            <a:r>
              <a:rPr lang="zh-CN" altLang="en-US" sz="1400" b="1" dirty="0">
                <a:solidFill>
                  <a:srgbClr val="FF0000"/>
                </a:solidFill>
              </a:rPr>
              <a:t>将</a:t>
            </a:r>
            <a:r>
              <a:rPr lang="zh-CN" altLang="en-US" sz="1400" b="1" dirty="0">
                <a:solidFill>
                  <a:srgbClr val="0033CC"/>
                </a:solidFill>
              </a:rPr>
              <a:t>配置好的木马</a:t>
            </a:r>
            <a:r>
              <a:rPr lang="zh-CN" altLang="en-US" sz="1400" b="1" dirty="0">
                <a:solidFill>
                  <a:srgbClr val="FF0000"/>
                </a:solidFill>
              </a:rPr>
              <a:t>传播出去</a:t>
            </a:r>
            <a:r>
              <a:rPr lang="zh-CN" altLang="en-US" sz="1400" b="1" dirty="0"/>
              <a:t>。</a:t>
            </a:r>
            <a:r>
              <a:rPr lang="en-US" altLang="zh-CN" b="1" dirty="0">
                <a:solidFill>
                  <a:srgbClr val="FF0000"/>
                </a:solidFill>
              </a:rPr>
              <a:t>(</a:t>
            </a:r>
            <a:r>
              <a:rPr lang="zh-CN" altLang="en-US" b="1" dirty="0">
                <a:solidFill>
                  <a:srgbClr val="FF0000"/>
                </a:solidFill>
              </a:rPr>
              <a:t>通过伪网站和伪装应用传播</a:t>
            </a:r>
            <a:r>
              <a:rPr lang="en-US" altLang="zh-CN" b="1" dirty="0">
                <a:solidFill>
                  <a:srgbClr val="FF0000"/>
                </a:solidFill>
              </a:rPr>
              <a:t>)</a:t>
            </a:r>
            <a:endParaRPr lang="zh-CN" altLang="en-US" b="1" dirty="0"/>
          </a:p>
        </p:txBody>
      </p:sp>
      <p:pic>
        <p:nvPicPr>
          <p:cNvPr id="88071"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64275" y="881063"/>
            <a:ext cx="2879725" cy="363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2" name="矩形 5"/>
          <p:cNvSpPr>
            <a:spLocks noChangeArrowheads="1"/>
          </p:cNvSpPr>
          <p:nvPr/>
        </p:nvSpPr>
        <p:spPr bwMode="auto">
          <a:xfrm>
            <a:off x="6300788" y="1058863"/>
            <a:ext cx="576262" cy="433387"/>
          </a:xfrm>
          <a:prstGeom prst="rect">
            <a:avLst/>
          </a:prstGeom>
          <a:noFill/>
          <a:ln w="38100"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sz="1200" b="1">
              <a:solidFill>
                <a:srgbClr val="FF0000"/>
              </a:solidFill>
            </a:endParaRPr>
          </a:p>
        </p:txBody>
      </p:sp>
    </p:spTree>
  </p:cSld>
  <p:clrMapOvr>
    <a:masterClrMapping/>
  </p:clrMapOvr>
  <p:transition spd="med">
    <p:randomBar dir="vert"/>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sp>
        <p:nvSpPr>
          <p:cNvPr id="8" name="圆角矩形 7"/>
          <p:cNvSpPr/>
          <p:nvPr/>
        </p:nvSpPr>
        <p:spPr bwMode="auto">
          <a:xfrm>
            <a:off x="642938" y="1071563"/>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(1)</a:t>
            </a:r>
            <a:r>
              <a:rPr lang="zh-CN" altLang="en-US" sz="1600" b="1" dirty="0">
                <a:solidFill>
                  <a:schemeClr val="bg2">
                    <a:lumMod val="25000"/>
                  </a:schemeClr>
                </a:solidFill>
              </a:rPr>
              <a:t>配置木马</a:t>
            </a:r>
          </a:p>
        </p:txBody>
      </p:sp>
      <p:sp>
        <p:nvSpPr>
          <p:cNvPr id="10" name="圆角矩形 9"/>
          <p:cNvSpPr/>
          <p:nvPr/>
        </p:nvSpPr>
        <p:spPr bwMode="auto">
          <a:xfrm>
            <a:off x="642938" y="1571625"/>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(2)</a:t>
            </a:r>
            <a:r>
              <a:rPr lang="zh-CN" altLang="en-US" sz="1600" b="1" dirty="0">
                <a:solidFill>
                  <a:schemeClr val="bg2">
                    <a:lumMod val="25000"/>
                  </a:schemeClr>
                </a:solidFill>
              </a:rPr>
              <a:t>传播木马</a:t>
            </a:r>
          </a:p>
        </p:txBody>
      </p:sp>
      <p:sp>
        <p:nvSpPr>
          <p:cNvPr id="9" name="圆角矩形 8"/>
          <p:cNvSpPr/>
          <p:nvPr/>
        </p:nvSpPr>
        <p:spPr bwMode="auto">
          <a:xfrm>
            <a:off x="642938" y="2071688"/>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(3)</a:t>
            </a:r>
            <a:r>
              <a:rPr lang="zh-CN" altLang="en-US" sz="1600" b="1" dirty="0">
                <a:solidFill>
                  <a:schemeClr val="bg2">
                    <a:lumMod val="25000"/>
                  </a:schemeClr>
                </a:solidFill>
              </a:rPr>
              <a:t>运行木马</a:t>
            </a:r>
          </a:p>
        </p:txBody>
      </p:sp>
      <p:sp>
        <p:nvSpPr>
          <p:cNvPr id="17" name="圆角矩形 16"/>
          <p:cNvSpPr/>
          <p:nvPr/>
        </p:nvSpPr>
        <p:spPr bwMode="auto">
          <a:xfrm>
            <a:off x="522288" y="2500313"/>
            <a:ext cx="5562600" cy="1727200"/>
          </a:xfrm>
          <a:prstGeom prst="roundRect">
            <a:avLst/>
          </a:prstGeom>
          <a:noFill/>
          <a:ln w="12700" cap="flat" cmpd="sng" algn="ctr">
            <a:solidFill>
              <a:srgbClr val="E46C0A"/>
            </a:solidFill>
            <a:prstDash val="solid"/>
            <a:round/>
            <a:headEnd type="none" w="med" len="med"/>
            <a:tailEnd type="none" w="med" len="med"/>
          </a:ln>
          <a:effectLst>
            <a:outerShdw blurRad="50800" dist="38100" dir="5400000" algn="t" rotWithShape="0">
              <a:prstClr val="black">
                <a:alpha val="40000"/>
              </a:prstClr>
            </a:outerShdw>
          </a:effectLst>
        </p:spPr>
        <p:txBody>
          <a:bodyPr wrap="none" anchor="ctr"/>
          <a:lstStyle/>
          <a:p>
            <a:pPr eaLnBrk="1" hangingPunct="1">
              <a:lnSpc>
                <a:spcPct val="150000"/>
              </a:lnSpc>
              <a:defRPr/>
            </a:pPr>
            <a:r>
              <a:rPr lang="zh-CN" altLang="en-US" sz="1400" b="1" dirty="0">
                <a:solidFill>
                  <a:srgbClr val="0033CC"/>
                </a:solidFill>
              </a:rPr>
              <a:t>木马</a:t>
            </a:r>
            <a:r>
              <a:rPr lang="zh-CN" altLang="en-US" sz="1400" b="1" dirty="0">
                <a:solidFill>
                  <a:srgbClr val="FF0000"/>
                </a:solidFill>
              </a:rPr>
              <a:t>将自己复制到</a:t>
            </a:r>
            <a:r>
              <a:rPr lang="en-US" altLang="zh-CN" sz="1400" b="1" dirty="0">
                <a:solidFill>
                  <a:srgbClr val="0033CC"/>
                </a:solidFill>
              </a:rPr>
              <a:t>Windows</a:t>
            </a:r>
            <a:r>
              <a:rPr lang="zh-CN" altLang="en-US" sz="1400" b="1" dirty="0">
                <a:solidFill>
                  <a:srgbClr val="0033CC"/>
                </a:solidFill>
              </a:rPr>
              <a:t>的系统文件夹中</a:t>
            </a:r>
            <a:r>
              <a:rPr lang="zh-CN" altLang="en-US" sz="1400" b="1" dirty="0"/>
              <a:t>，然后在注册表、</a:t>
            </a:r>
            <a:endParaRPr lang="en-US" altLang="zh-CN" sz="1400" b="1" dirty="0"/>
          </a:p>
          <a:p>
            <a:pPr eaLnBrk="1" hangingPunct="1">
              <a:lnSpc>
                <a:spcPct val="150000"/>
              </a:lnSpc>
              <a:defRPr/>
            </a:pPr>
            <a:r>
              <a:rPr lang="zh-CN" altLang="en-US" sz="1400" b="1" dirty="0"/>
              <a:t>启动组、非启动组等位置设置木马的触发启动条件，</a:t>
            </a:r>
            <a:r>
              <a:rPr lang="zh-CN" altLang="en-US" sz="1400" b="1" dirty="0">
                <a:solidFill>
                  <a:srgbClr val="FF0000"/>
                </a:solidFill>
              </a:rPr>
              <a:t>完成</a:t>
            </a:r>
            <a:r>
              <a:rPr lang="zh-CN" altLang="en-US" sz="1400" b="1" dirty="0">
                <a:solidFill>
                  <a:srgbClr val="0033CC"/>
                </a:solidFill>
              </a:rPr>
              <a:t>木马服务器</a:t>
            </a:r>
            <a:endParaRPr lang="en-US" altLang="zh-CN" sz="1400" b="1" dirty="0">
              <a:solidFill>
                <a:srgbClr val="0033CC"/>
              </a:solidFill>
            </a:endParaRPr>
          </a:p>
          <a:p>
            <a:pPr eaLnBrk="1" hangingPunct="1">
              <a:lnSpc>
                <a:spcPct val="150000"/>
              </a:lnSpc>
              <a:defRPr/>
            </a:pPr>
            <a:r>
              <a:rPr lang="zh-CN" altLang="en-US" sz="1400" b="1" dirty="0">
                <a:solidFill>
                  <a:srgbClr val="0033CC"/>
                </a:solidFill>
              </a:rPr>
              <a:t>的</a:t>
            </a:r>
            <a:r>
              <a:rPr lang="zh-CN" altLang="en-US" sz="1400" b="1" dirty="0">
                <a:solidFill>
                  <a:srgbClr val="FF0000"/>
                </a:solidFill>
              </a:rPr>
              <a:t>安装</a:t>
            </a:r>
            <a:r>
              <a:rPr lang="zh-CN" altLang="en-US" sz="1400" b="1" dirty="0"/>
              <a:t>。安装后即可启动木马。木马被激活后，进入内存，开启并</a:t>
            </a:r>
            <a:endParaRPr lang="en-US" altLang="zh-CN" sz="1400" b="1" dirty="0"/>
          </a:p>
          <a:p>
            <a:pPr eaLnBrk="1" hangingPunct="1">
              <a:lnSpc>
                <a:spcPct val="150000"/>
              </a:lnSpc>
              <a:defRPr/>
            </a:pPr>
            <a:r>
              <a:rPr lang="zh-CN" altLang="en-US" sz="1400" b="1" dirty="0"/>
              <a:t>监听预先定义的木马端口，准备与控制端建立连接。</a:t>
            </a:r>
          </a:p>
        </p:txBody>
      </p:sp>
      <p:pic>
        <p:nvPicPr>
          <p:cNvPr id="89096"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64275" y="881063"/>
            <a:ext cx="2879725" cy="363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7" name="矩形 5"/>
          <p:cNvSpPr>
            <a:spLocks noChangeArrowheads="1"/>
          </p:cNvSpPr>
          <p:nvPr/>
        </p:nvSpPr>
        <p:spPr bwMode="auto">
          <a:xfrm>
            <a:off x="6291263" y="1851025"/>
            <a:ext cx="576262" cy="433388"/>
          </a:xfrm>
          <a:prstGeom prst="rect">
            <a:avLst/>
          </a:prstGeom>
          <a:noFill/>
          <a:ln w="38100"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sz="1200" b="1">
              <a:solidFill>
                <a:srgbClr val="FF0000"/>
              </a:solidFill>
            </a:endParaRPr>
          </a:p>
        </p:txBody>
      </p:sp>
    </p:spTree>
  </p:cSld>
  <p:clrMapOvr>
    <a:masterClrMapping/>
  </p:clrMapOvr>
  <p:transition spd="med">
    <p:randomBar dir="vert"/>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sp>
        <p:nvSpPr>
          <p:cNvPr id="8" name="圆角矩形 7"/>
          <p:cNvSpPr/>
          <p:nvPr/>
        </p:nvSpPr>
        <p:spPr bwMode="auto">
          <a:xfrm>
            <a:off x="642938" y="1071563"/>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(1)</a:t>
            </a:r>
            <a:r>
              <a:rPr lang="zh-CN" altLang="en-US" sz="1600" b="1" dirty="0">
                <a:solidFill>
                  <a:schemeClr val="bg2">
                    <a:lumMod val="25000"/>
                  </a:schemeClr>
                </a:solidFill>
              </a:rPr>
              <a:t>配置木马</a:t>
            </a:r>
          </a:p>
        </p:txBody>
      </p:sp>
      <p:sp>
        <p:nvSpPr>
          <p:cNvPr id="10" name="圆角矩形 9"/>
          <p:cNvSpPr/>
          <p:nvPr/>
        </p:nvSpPr>
        <p:spPr bwMode="auto">
          <a:xfrm>
            <a:off x="642938" y="1571625"/>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(2)</a:t>
            </a:r>
            <a:r>
              <a:rPr lang="zh-CN" altLang="en-US" sz="1600" b="1" dirty="0">
                <a:solidFill>
                  <a:schemeClr val="bg2">
                    <a:lumMod val="25000"/>
                  </a:schemeClr>
                </a:solidFill>
              </a:rPr>
              <a:t>传播木马</a:t>
            </a:r>
          </a:p>
        </p:txBody>
      </p:sp>
      <p:sp>
        <p:nvSpPr>
          <p:cNvPr id="9" name="圆角矩形 8"/>
          <p:cNvSpPr/>
          <p:nvPr/>
        </p:nvSpPr>
        <p:spPr bwMode="auto">
          <a:xfrm>
            <a:off x="642938" y="2071688"/>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(3)</a:t>
            </a:r>
            <a:r>
              <a:rPr lang="zh-CN" altLang="en-US" sz="1600" b="1" dirty="0">
                <a:solidFill>
                  <a:schemeClr val="bg2">
                    <a:lumMod val="25000"/>
                  </a:schemeClr>
                </a:solidFill>
              </a:rPr>
              <a:t>运行木马</a:t>
            </a:r>
          </a:p>
        </p:txBody>
      </p:sp>
      <p:sp>
        <p:nvSpPr>
          <p:cNvPr id="12" name="圆角矩形 11"/>
          <p:cNvSpPr/>
          <p:nvPr/>
        </p:nvSpPr>
        <p:spPr bwMode="auto">
          <a:xfrm>
            <a:off x="642938" y="2571750"/>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(4)</a:t>
            </a:r>
            <a:r>
              <a:rPr lang="zh-CN" altLang="en-US" sz="1600" b="1" dirty="0">
                <a:solidFill>
                  <a:schemeClr val="bg2">
                    <a:lumMod val="25000"/>
                  </a:schemeClr>
                </a:solidFill>
              </a:rPr>
              <a:t>信息反馈</a:t>
            </a:r>
          </a:p>
        </p:txBody>
      </p:sp>
      <p:sp>
        <p:nvSpPr>
          <p:cNvPr id="16" name="圆角矩形 15"/>
          <p:cNvSpPr/>
          <p:nvPr/>
        </p:nvSpPr>
        <p:spPr bwMode="auto">
          <a:xfrm>
            <a:off x="593725" y="3076575"/>
            <a:ext cx="4841875" cy="642938"/>
          </a:xfrm>
          <a:prstGeom prst="roundRect">
            <a:avLst/>
          </a:prstGeom>
          <a:noFill/>
          <a:ln w="12700" cap="flat" cmpd="sng" algn="ctr">
            <a:solidFill>
              <a:srgbClr val="E46C0A"/>
            </a:solidFill>
            <a:prstDash val="solid"/>
            <a:round/>
            <a:headEnd type="none" w="med" len="med"/>
            <a:tailEnd type="none" w="med" len="med"/>
          </a:ln>
          <a:effectLst>
            <a:outerShdw blurRad="50800" dist="38100" dir="5400000" algn="t" rotWithShape="0">
              <a:prstClr val="black">
                <a:alpha val="40000"/>
              </a:prstClr>
            </a:outerShdw>
          </a:effectLst>
        </p:spPr>
        <p:txBody>
          <a:bodyPr wrap="none" anchor="ctr"/>
          <a:lstStyle/>
          <a:p>
            <a:pPr eaLnBrk="1" hangingPunct="1">
              <a:lnSpc>
                <a:spcPct val="150000"/>
              </a:lnSpc>
              <a:defRPr/>
            </a:pPr>
            <a:r>
              <a:rPr lang="zh-CN" altLang="en-US" sz="1400" b="1" dirty="0"/>
              <a:t>是指</a:t>
            </a:r>
            <a:r>
              <a:rPr lang="zh-CN" altLang="en-US" sz="1400" b="1" dirty="0">
                <a:solidFill>
                  <a:srgbClr val="0033CC"/>
                </a:solidFill>
              </a:rPr>
              <a:t>木马</a:t>
            </a:r>
            <a:r>
              <a:rPr lang="zh-CN" altLang="en-US" sz="1400" b="1" dirty="0"/>
              <a:t>成功安装后会</a:t>
            </a:r>
            <a:r>
              <a:rPr lang="zh-CN" altLang="en-US" sz="1400" b="1" dirty="0">
                <a:solidFill>
                  <a:srgbClr val="FF0000"/>
                </a:solidFill>
              </a:rPr>
              <a:t>收集</a:t>
            </a:r>
            <a:r>
              <a:rPr lang="zh-CN" altLang="en-US" sz="1400" b="1" dirty="0">
                <a:solidFill>
                  <a:srgbClr val="0033CC"/>
                </a:solidFill>
              </a:rPr>
              <a:t>一些服务端的软硬件信息</a:t>
            </a:r>
            <a:r>
              <a:rPr lang="zh-CN" altLang="en-US" sz="1400" b="1" dirty="0"/>
              <a:t>，</a:t>
            </a:r>
            <a:endParaRPr lang="en-US" altLang="zh-CN" sz="1400" b="1" dirty="0"/>
          </a:p>
          <a:p>
            <a:pPr eaLnBrk="1" hangingPunct="1">
              <a:lnSpc>
                <a:spcPct val="150000"/>
              </a:lnSpc>
              <a:defRPr/>
            </a:pPr>
            <a:r>
              <a:rPr lang="zh-CN" altLang="en-US" sz="1400" b="1" dirty="0"/>
              <a:t>并</a:t>
            </a:r>
            <a:r>
              <a:rPr lang="zh-CN" altLang="en-US" sz="1400" b="1" dirty="0">
                <a:solidFill>
                  <a:srgbClr val="FF0000"/>
                </a:solidFill>
              </a:rPr>
              <a:t>通过</a:t>
            </a:r>
            <a:r>
              <a:rPr lang="en-US" altLang="zh-CN" sz="1400" b="1" dirty="0">
                <a:solidFill>
                  <a:srgbClr val="0033CC"/>
                </a:solidFill>
              </a:rPr>
              <a:t>Email</a:t>
            </a:r>
            <a:r>
              <a:rPr lang="zh-CN" altLang="en-US" sz="1400" b="1" dirty="0">
                <a:solidFill>
                  <a:srgbClr val="0033CC"/>
                </a:solidFill>
              </a:rPr>
              <a:t>、</a:t>
            </a:r>
            <a:r>
              <a:rPr lang="en-US" altLang="zh-CN" sz="1400" b="1" dirty="0">
                <a:solidFill>
                  <a:srgbClr val="0033CC"/>
                </a:solidFill>
              </a:rPr>
              <a:t>QQ</a:t>
            </a:r>
            <a:r>
              <a:rPr lang="zh-CN" altLang="en-US" sz="1400" b="1" dirty="0">
                <a:solidFill>
                  <a:srgbClr val="0033CC"/>
                </a:solidFill>
              </a:rPr>
              <a:t>等网络手段</a:t>
            </a:r>
            <a:r>
              <a:rPr lang="zh-CN" altLang="en-US" sz="1400" b="1" dirty="0">
                <a:solidFill>
                  <a:srgbClr val="FF0000"/>
                </a:solidFill>
              </a:rPr>
              <a:t>告知</a:t>
            </a:r>
            <a:r>
              <a:rPr lang="zh-CN" altLang="en-US" sz="1400" b="1" dirty="0">
                <a:solidFill>
                  <a:srgbClr val="0033CC"/>
                </a:solidFill>
              </a:rPr>
              <a:t>控制端的攻击者</a:t>
            </a:r>
          </a:p>
        </p:txBody>
      </p:sp>
      <p:pic>
        <p:nvPicPr>
          <p:cNvPr id="90121"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64275" y="881063"/>
            <a:ext cx="2879725" cy="363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22" name="矩形 5"/>
          <p:cNvSpPr>
            <a:spLocks noChangeArrowheads="1"/>
          </p:cNvSpPr>
          <p:nvPr/>
        </p:nvSpPr>
        <p:spPr bwMode="auto">
          <a:xfrm>
            <a:off x="6283325" y="2500313"/>
            <a:ext cx="576263" cy="431800"/>
          </a:xfrm>
          <a:prstGeom prst="rect">
            <a:avLst/>
          </a:prstGeom>
          <a:noFill/>
          <a:ln w="38100"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sz="1200" b="1">
              <a:solidFill>
                <a:srgbClr val="FF0000"/>
              </a:solidFill>
            </a:endParaRPr>
          </a:p>
        </p:txBody>
      </p:sp>
    </p:spTree>
  </p:cSld>
  <p:clrMapOvr>
    <a:masterClrMapping/>
  </p:clrMapOvr>
  <p:transition spd="med">
    <p:randomBar dir="vert"/>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sp>
        <p:nvSpPr>
          <p:cNvPr id="8" name="圆角矩形 7"/>
          <p:cNvSpPr/>
          <p:nvPr/>
        </p:nvSpPr>
        <p:spPr bwMode="auto">
          <a:xfrm>
            <a:off x="642938" y="1071563"/>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(1)</a:t>
            </a:r>
            <a:r>
              <a:rPr lang="zh-CN" altLang="en-US" sz="1600" b="1" dirty="0">
                <a:solidFill>
                  <a:schemeClr val="bg2">
                    <a:lumMod val="25000"/>
                  </a:schemeClr>
                </a:solidFill>
              </a:rPr>
              <a:t>配置木马</a:t>
            </a:r>
          </a:p>
        </p:txBody>
      </p:sp>
      <p:sp>
        <p:nvSpPr>
          <p:cNvPr id="10" name="圆角矩形 9"/>
          <p:cNvSpPr/>
          <p:nvPr/>
        </p:nvSpPr>
        <p:spPr bwMode="auto">
          <a:xfrm>
            <a:off x="642938" y="1571625"/>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(2)</a:t>
            </a:r>
            <a:r>
              <a:rPr lang="zh-CN" altLang="en-US" sz="1600" b="1" dirty="0">
                <a:solidFill>
                  <a:schemeClr val="bg2">
                    <a:lumMod val="25000"/>
                  </a:schemeClr>
                </a:solidFill>
              </a:rPr>
              <a:t>传播木马</a:t>
            </a:r>
          </a:p>
        </p:txBody>
      </p:sp>
      <p:sp>
        <p:nvSpPr>
          <p:cNvPr id="9" name="圆角矩形 8"/>
          <p:cNvSpPr/>
          <p:nvPr/>
        </p:nvSpPr>
        <p:spPr bwMode="auto">
          <a:xfrm>
            <a:off x="642938" y="2071688"/>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(3)</a:t>
            </a:r>
            <a:r>
              <a:rPr lang="zh-CN" altLang="en-US" sz="1600" b="1" dirty="0">
                <a:solidFill>
                  <a:schemeClr val="bg2">
                    <a:lumMod val="25000"/>
                  </a:schemeClr>
                </a:solidFill>
              </a:rPr>
              <a:t>运行木马</a:t>
            </a:r>
          </a:p>
        </p:txBody>
      </p:sp>
      <p:sp>
        <p:nvSpPr>
          <p:cNvPr id="12" name="圆角矩形 11"/>
          <p:cNvSpPr/>
          <p:nvPr/>
        </p:nvSpPr>
        <p:spPr bwMode="auto">
          <a:xfrm>
            <a:off x="642938" y="2571750"/>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(4)</a:t>
            </a:r>
            <a:r>
              <a:rPr lang="zh-CN" altLang="en-US" sz="1600" b="1" dirty="0">
                <a:solidFill>
                  <a:schemeClr val="bg2">
                    <a:lumMod val="25000"/>
                  </a:schemeClr>
                </a:solidFill>
              </a:rPr>
              <a:t>信息反馈</a:t>
            </a:r>
          </a:p>
        </p:txBody>
      </p:sp>
      <p:sp>
        <p:nvSpPr>
          <p:cNvPr id="13" name="圆角矩形 12"/>
          <p:cNvSpPr/>
          <p:nvPr/>
        </p:nvSpPr>
        <p:spPr bwMode="auto">
          <a:xfrm>
            <a:off x="642938" y="3071813"/>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(5)</a:t>
            </a:r>
            <a:r>
              <a:rPr lang="zh-CN" altLang="en-US" sz="1600" b="1" dirty="0">
                <a:solidFill>
                  <a:schemeClr val="bg2">
                    <a:lumMod val="25000"/>
                  </a:schemeClr>
                </a:solidFill>
              </a:rPr>
              <a:t>建立连接</a:t>
            </a:r>
          </a:p>
        </p:txBody>
      </p:sp>
      <p:sp>
        <p:nvSpPr>
          <p:cNvPr id="15" name="圆角矩形 14"/>
          <p:cNvSpPr/>
          <p:nvPr/>
        </p:nvSpPr>
        <p:spPr bwMode="auto">
          <a:xfrm>
            <a:off x="539750" y="3435350"/>
            <a:ext cx="5040313" cy="1081088"/>
          </a:xfrm>
          <a:prstGeom prst="roundRect">
            <a:avLst/>
          </a:prstGeom>
          <a:noFill/>
          <a:ln w="12700" cap="flat" cmpd="sng" algn="ctr">
            <a:solidFill>
              <a:srgbClr val="E46C0A"/>
            </a:solidFill>
            <a:prstDash val="solid"/>
            <a:round/>
            <a:headEnd type="none" w="med" len="med"/>
            <a:tailEnd type="none" w="med" len="med"/>
          </a:ln>
          <a:effectLst>
            <a:outerShdw blurRad="50800" dist="38100" dir="5400000" algn="t" rotWithShape="0">
              <a:prstClr val="black">
                <a:alpha val="40000"/>
              </a:prstClr>
            </a:outerShdw>
          </a:effectLst>
        </p:spPr>
        <p:txBody>
          <a:bodyPr wrap="none" anchor="ctr"/>
          <a:lstStyle/>
          <a:p>
            <a:pPr eaLnBrk="1" hangingPunct="1">
              <a:lnSpc>
                <a:spcPct val="150000"/>
              </a:lnSpc>
              <a:defRPr/>
            </a:pPr>
            <a:r>
              <a:rPr lang="zh-CN" altLang="en-US" sz="1400" b="1" dirty="0">
                <a:solidFill>
                  <a:srgbClr val="0033CC"/>
                </a:solidFill>
              </a:rPr>
              <a:t>必须具备两个条件：</a:t>
            </a:r>
            <a:r>
              <a:rPr lang="zh-CN" altLang="en-US" sz="1400" b="1" dirty="0"/>
              <a:t>第一，服务端已经安装了木马程序；</a:t>
            </a:r>
            <a:endParaRPr lang="en-US" altLang="zh-CN" sz="1400" b="1" dirty="0"/>
          </a:p>
          <a:p>
            <a:pPr eaLnBrk="1" hangingPunct="1">
              <a:lnSpc>
                <a:spcPct val="150000"/>
              </a:lnSpc>
              <a:defRPr/>
            </a:pPr>
            <a:r>
              <a:rPr lang="zh-CN" altLang="en-US" sz="1400" b="1" dirty="0"/>
              <a:t>第二，控制端、服务端都在线。</a:t>
            </a:r>
            <a:endParaRPr lang="en-US" altLang="zh-CN" sz="1400" b="1" dirty="0"/>
          </a:p>
          <a:p>
            <a:pPr eaLnBrk="1" hangingPunct="1">
              <a:lnSpc>
                <a:spcPct val="150000"/>
              </a:lnSpc>
              <a:defRPr/>
            </a:pPr>
            <a:r>
              <a:rPr lang="zh-CN" altLang="en-US" sz="1400" b="1" dirty="0">
                <a:solidFill>
                  <a:srgbClr val="0033CC"/>
                </a:solidFill>
              </a:rPr>
              <a:t>获得服务端</a:t>
            </a:r>
            <a:r>
              <a:rPr lang="en-US" altLang="zh-CN" sz="1400" b="1" dirty="0">
                <a:solidFill>
                  <a:srgbClr val="0033CC"/>
                </a:solidFill>
              </a:rPr>
              <a:t>IP</a:t>
            </a:r>
            <a:r>
              <a:rPr lang="zh-CN" altLang="en-US" sz="1400" b="1" dirty="0">
                <a:solidFill>
                  <a:srgbClr val="0033CC"/>
                </a:solidFill>
              </a:rPr>
              <a:t>地址主要有两种方法：</a:t>
            </a:r>
            <a:r>
              <a:rPr lang="en-US" altLang="zh-CN" sz="1400" b="1" dirty="0"/>
              <a:t>IP</a:t>
            </a:r>
            <a:r>
              <a:rPr lang="zh-CN" altLang="en-US" sz="1400" b="1" dirty="0"/>
              <a:t>扫描和信息反馈。</a:t>
            </a:r>
          </a:p>
        </p:txBody>
      </p:sp>
      <p:pic>
        <p:nvPicPr>
          <p:cNvPr id="91146"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64275" y="881063"/>
            <a:ext cx="2879725" cy="363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7" name="矩形 5"/>
          <p:cNvSpPr>
            <a:spLocks noChangeArrowheads="1"/>
          </p:cNvSpPr>
          <p:nvPr/>
        </p:nvSpPr>
        <p:spPr bwMode="auto">
          <a:xfrm>
            <a:off x="6275388" y="3219450"/>
            <a:ext cx="574675" cy="431800"/>
          </a:xfrm>
          <a:prstGeom prst="rect">
            <a:avLst/>
          </a:prstGeom>
          <a:noFill/>
          <a:ln w="38100"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sz="1200" b="1">
              <a:solidFill>
                <a:srgbClr val="FF0000"/>
              </a:solidFill>
            </a:endParaRPr>
          </a:p>
        </p:txBody>
      </p:sp>
    </p:spTree>
  </p:cSld>
  <p:clrMapOvr>
    <a:masterClrMapping/>
  </p:clrMapOvr>
  <p:transition spd="med">
    <p:randomBar dir="vert"/>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a:solidFill>
                  <a:srgbClr val="C00000"/>
                </a:solidFill>
                <a:effectLst>
                  <a:reflection blurRad="6350" stA="50000" endA="300" endPos="50000" dist="60007" dir="5400000" sy="-100000" algn="bl" rotWithShape="0"/>
                </a:effectLst>
                <a:latin typeface="+mj-ea"/>
                <a:ea typeface="+mj-ea"/>
                <a:cs typeface="+mj-cs"/>
              </a:rPr>
              <a:t>9.4 </a:t>
            </a:r>
            <a:r>
              <a:rPr lang="zh-CN" altLang="en-US" sz="2000" b="1">
                <a:solidFill>
                  <a:srgbClr val="C00000"/>
                </a:solidFill>
                <a:effectLst>
                  <a:reflection blurRad="6350" stA="50000" endA="300" endPos="50000" dist="60007" dir="5400000" sy="-100000" algn="bl" rotWithShape="0"/>
                </a:effectLst>
                <a:latin typeface="+mj-ea"/>
                <a:ea typeface="+mj-ea"/>
                <a:cs typeface="+mj-cs"/>
              </a:rPr>
              <a:t>恶意代码分析</a:t>
            </a:r>
            <a:endParaRPr lang="zh-CN" altLang="en-US" sz="2000" b="1" dirty="0">
              <a:solidFill>
                <a:srgbClr val="C00000"/>
              </a:solidFill>
              <a:effectLst>
                <a:reflection blurRad="6350" stA="50000" endA="300" endPos="50000" dist="60007" dir="5400000" sy="-100000" algn="bl" rotWithShape="0"/>
              </a:effectLst>
              <a:latin typeface="+mj-ea"/>
              <a:ea typeface="+mj-ea"/>
              <a:cs typeface="+mj-cs"/>
            </a:endParaRP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sp>
        <p:nvSpPr>
          <p:cNvPr id="8" name="圆角矩形 7"/>
          <p:cNvSpPr/>
          <p:nvPr/>
        </p:nvSpPr>
        <p:spPr bwMode="auto">
          <a:xfrm>
            <a:off x="642938" y="1071563"/>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(1)</a:t>
            </a:r>
            <a:r>
              <a:rPr lang="zh-CN" altLang="en-US" sz="1600" b="1" dirty="0">
                <a:solidFill>
                  <a:schemeClr val="bg2">
                    <a:lumMod val="25000"/>
                  </a:schemeClr>
                </a:solidFill>
              </a:rPr>
              <a:t>配置木马</a:t>
            </a:r>
          </a:p>
        </p:txBody>
      </p:sp>
      <p:sp>
        <p:nvSpPr>
          <p:cNvPr id="10" name="圆角矩形 9"/>
          <p:cNvSpPr/>
          <p:nvPr/>
        </p:nvSpPr>
        <p:spPr bwMode="auto">
          <a:xfrm>
            <a:off x="642938" y="1571625"/>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(2)</a:t>
            </a:r>
            <a:r>
              <a:rPr lang="zh-CN" altLang="en-US" sz="1600" b="1" dirty="0">
                <a:solidFill>
                  <a:schemeClr val="bg2">
                    <a:lumMod val="25000"/>
                  </a:schemeClr>
                </a:solidFill>
              </a:rPr>
              <a:t>传播木马</a:t>
            </a:r>
          </a:p>
        </p:txBody>
      </p:sp>
      <p:sp>
        <p:nvSpPr>
          <p:cNvPr id="11" name="圆角矩形 10"/>
          <p:cNvSpPr/>
          <p:nvPr/>
        </p:nvSpPr>
        <p:spPr bwMode="auto">
          <a:xfrm>
            <a:off x="539750" y="3944938"/>
            <a:ext cx="5545138" cy="642937"/>
          </a:xfrm>
          <a:prstGeom prst="roundRect">
            <a:avLst/>
          </a:prstGeom>
          <a:noFill/>
          <a:ln w="12700" cap="flat" cmpd="sng" algn="ctr">
            <a:solidFill>
              <a:srgbClr val="E46C0A"/>
            </a:solidFill>
            <a:prstDash val="solid"/>
            <a:round/>
            <a:headEnd type="none" w="med" len="med"/>
            <a:tailEnd type="none" w="med" len="med"/>
          </a:ln>
          <a:effectLst>
            <a:outerShdw blurRad="50800" dist="38100" dir="5400000" algn="t" rotWithShape="0">
              <a:prstClr val="black">
                <a:alpha val="40000"/>
              </a:prstClr>
            </a:outerShdw>
          </a:effectLst>
        </p:spPr>
        <p:txBody>
          <a:bodyPr wrap="none" anchor="ctr"/>
          <a:lstStyle/>
          <a:p>
            <a:pPr eaLnBrk="1" hangingPunct="1">
              <a:lnSpc>
                <a:spcPct val="150000"/>
              </a:lnSpc>
              <a:defRPr/>
            </a:pPr>
            <a:r>
              <a:rPr lang="zh-CN" altLang="en-US" sz="1400" b="1" dirty="0"/>
              <a:t>木马连接建立后，</a:t>
            </a:r>
            <a:r>
              <a:rPr lang="zh-CN" altLang="en-US" sz="1400" b="1" dirty="0">
                <a:solidFill>
                  <a:srgbClr val="0033CC"/>
                </a:solidFill>
              </a:rPr>
              <a:t>控制端端口</a:t>
            </a:r>
            <a:r>
              <a:rPr lang="zh-CN" altLang="en-US" sz="1400" b="1" dirty="0"/>
              <a:t>和</a:t>
            </a:r>
            <a:r>
              <a:rPr lang="zh-CN" altLang="en-US" sz="1400" b="1" dirty="0">
                <a:solidFill>
                  <a:srgbClr val="0033CC"/>
                </a:solidFill>
              </a:rPr>
              <a:t>木马端</a:t>
            </a:r>
            <a:r>
              <a:rPr lang="zh-CN" altLang="en-US" sz="1400" b="1" dirty="0">
                <a:solidFill>
                  <a:srgbClr val="FF0000"/>
                </a:solidFill>
              </a:rPr>
              <a:t>之间将会出现</a:t>
            </a:r>
            <a:r>
              <a:rPr lang="zh-CN" altLang="en-US" sz="1400" b="1" dirty="0">
                <a:solidFill>
                  <a:srgbClr val="0033CC"/>
                </a:solidFill>
              </a:rPr>
              <a:t>一条通信通道</a:t>
            </a:r>
            <a:r>
              <a:rPr lang="zh-CN" altLang="en-US" sz="1400" b="1" dirty="0"/>
              <a:t>。</a:t>
            </a:r>
            <a:endParaRPr lang="en-US" altLang="zh-CN" sz="1400" b="1" dirty="0"/>
          </a:p>
          <a:p>
            <a:pPr eaLnBrk="1" hangingPunct="1">
              <a:lnSpc>
                <a:spcPct val="150000"/>
              </a:lnSpc>
              <a:defRPr/>
            </a:pPr>
            <a:r>
              <a:rPr lang="zh-CN" altLang="en-US" sz="1400" b="1" dirty="0">
                <a:solidFill>
                  <a:srgbClr val="0033CC"/>
                </a:solidFill>
              </a:rPr>
              <a:t>控制端程序</a:t>
            </a:r>
            <a:r>
              <a:rPr lang="zh-CN" altLang="en-US" sz="1400" b="1" dirty="0"/>
              <a:t>可通过这条通道以及木马程序</a:t>
            </a:r>
            <a:r>
              <a:rPr lang="zh-CN" altLang="en-US" sz="1400" b="1" dirty="0">
                <a:solidFill>
                  <a:srgbClr val="FF0000"/>
                </a:solidFill>
              </a:rPr>
              <a:t>对</a:t>
            </a:r>
            <a:r>
              <a:rPr lang="zh-CN" altLang="en-US" sz="1400" b="1" dirty="0">
                <a:solidFill>
                  <a:srgbClr val="0033CC"/>
                </a:solidFill>
              </a:rPr>
              <a:t>服务端</a:t>
            </a:r>
            <a:r>
              <a:rPr lang="zh-CN" altLang="en-US" sz="1400" b="1" dirty="0">
                <a:solidFill>
                  <a:srgbClr val="FF0000"/>
                </a:solidFill>
              </a:rPr>
              <a:t>进行远程控制</a:t>
            </a:r>
            <a:r>
              <a:rPr lang="zh-CN" altLang="en-US" sz="1400" b="1" dirty="0"/>
              <a:t>。</a:t>
            </a:r>
            <a:endParaRPr lang="en-US" altLang="zh-CN" sz="1400" b="1" dirty="0"/>
          </a:p>
        </p:txBody>
      </p:sp>
      <p:sp>
        <p:nvSpPr>
          <p:cNvPr id="9" name="圆角矩形 8"/>
          <p:cNvSpPr/>
          <p:nvPr/>
        </p:nvSpPr>
        <p:spPr bwMode="auto">
          <a:xfrm>
            <a:off x="642938" y="2071688"/>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(3)</a:t>
            </a:r>
            <a:r>
              <a:rPr lang="zh-CN" altLang="en-US" sz="1600" b="1" dirty="0">
                <a:solidFill>
                  <a:schemeClr val="bg2">
                    <a:lumMod val="25000"/>
                  </a:schemeClr>
                </a:solidFill>
              </a:rPr>
              <a:t>运行木马</a:t>
            </a:r>
          </a:p>
        </p:txBody>
      </p:sp>
      <p:sp>
        <p:nvSpPr>
          <p:cNvPr id="12" name="圆角矩形 11"/>
          <p:cNvSpPr/>
          <p:nvPr/>
        </p:nvSpPr>
        <p:spPr bwMode="auto">
          <a:xfrm>
            <a:off x="642938" y="2571750"/>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(4)</a:t>
            </a:r>
            <a:r>
              <a:rPr lang="zh-CN" altLang="en-US" sz="1600" b="1" dirty="0">
                <a:solidFill>
                  <a:schemeClr val="bg2">
                    <a:lumMod val="25000"/>
                  </a:schemeClr>
                </a:solidFill>
              </a:rPr>
              <a:t>信息反馈</a:t>
            </a:r>
          </a:p>
        </p:txBody>
      </p:sp>
      <p:sp>
        <p:nvSpPr>
          <p:cNvPr id="13" name="圆角矩形 12"/>
          <p:cNvSpPr/>
          <p:nvPr/>
        </p:nvSpPr>
        <p:spPr bwMode="auto">
          <a:xfrm>
            <a:off x="642938" y="3071813"/>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(5)</a:t>
            </a:r>
            <a:r>
              <a:rPr lang="zh-CN" altLang="en-US" sz="1600" b="1" dirty="0">
                <a:solidFill>
                  <a:schemeClr val="bg2">
                    <a:lumMod val="25000"/>
                  </a:schemeClr>
                </a:solidFill>
              </a:rPr>
              <a:t>建立连接</a:t>
            </a:r>
          </a:p>
        </p:txBody>
      </p:sp>
      <p:sp>
        <p:nvSpPr>
          <p:cNvPr id="14" name="圆角矩形 13"/>
          <p:cNvSpPr/>
          <p:nvPr/>
        </p:nvSpPr>
        <p:spPr bwMode="auto">
          <a:xfrm>
            <a:off x="642938" y="3571875"/>
            <a:ext cx="1071562" cy="428625"/>
          </a:xfrm>
          <a:prstGeom prst="roundRect">
            <a:avLst/>
          </a:prstGeom>
          <a:noFill/>
          <a:ln w="9525" cap="flat" cmpd="sng" algn="ctr">
            <a:noFill/>
            <a:prstDash val="solid"/>
            <a:round/>
            <a:headEnd type="none" w="med" len="med"/>
            <a:tailEnd type="none" w="med" len="med"/>
          </a:ln>
          <a:effectLst/>
        </p:spPr>
        <p:txBody>
          <a:bodyPr wrap="none" anchor="ctr"/>
          <a:lstStyle/>
          <a:p>
            <a:pPr algn="ctr" eaLnBrk="1" hangingPunct="1">
              <a:defRPr/>
            </a:pPr>
            <a:r>
              <a:rPr lang="en-US" altLang="zh-CN" sz="1600" b="1" dirty="0">
                <a:solidFill>
                  <a:schemeClr val="bg2">
                    <a:lumMod val="25000"/>
                  </a:schemeClr>
                </a:solidFill>
              </a:rPr>
              <a:t>(6)</a:t>
            </a:r>
            <a:r>
              <a:rPr lang="zh-CN" altLang="en-US" sz="1600" b="1" dirty="0">
                <a:solidFill>
                  <a:schemeClr val="bg2">
                    <a:lumMod val="25000"/>
                  </a:schemeClr>
                </a:solidFill>
              </a:rPr>
              <a:t>远程控制</a:t>
            </a:r>
          </a:p>
        </p:txBody>
      </p:sp>
      <p:pic>
        <p:nvPicPr>
          <p:cNvPr id="92171"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64275" y="881063"/>
            <a:ext cx="2879725" cy="363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72" name="矩形 5"/>
          <p:cNvSpPr>
            <a:spLocks noChangeArrowheads="1"/>
          </p:cNvSpPr>
          <p:nvPr/>
        </p:nvSpPr>
        <p:spPr bwMode="auto">
          <a:xfrm>
            <a:off x="6275388" y="3816350"/>
            <a:ext cx="574675" cy="433388"/>
          </a:xfrm>
          <a:prstGeom prst="rect">
            <a:avLst/>
          </a:prstGeom>
          <a:noFill/>
          <a:ln w="38100"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sz="1200" b="1">
              <a:solidFill>
                <a:srgbClr val="FF0000"/>
              </a:solidFill>
            </a:endParaRPr>
          </a:p>
        </p:txBody>
      </p:sp>
    </p:spTree>
  </p:cSld>
  <p:clrMapOvr>
    <a:masterClrMapping/>
  </p:clrMapOvr>
  <p:transition spd="med">
    <p:randomBar dir="vert"/>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内容占位符 2"/>
          <p:cNvSpPr>
            <a:spLocks noGrp="1"/>
          </p:cNvSpPr>
          <p:nvPr>
            <p:ph idx="1"/>
          </p:nvPr>
        </p:nvSpPr>
        <p:spPr>
          <a:xfrm>
            <a:off x="285750" y="1000125"/>
            <a:ext cx="8143875" cy="3143250"/>
          </a:xfrm>
        </p:spPr>
        <p:txBody>
          <a:bodyPr/>
          <a:lstStyle/>
          <a:p>
            <a:pPr>
              <a:buFont typeface="Wingdings" panose="05000000000000000000" pitchFamily="2" charset="2"/>
              <a:buNone/>
              <a:defRPr/>
            </a:pPr>
            <a:r>
              <a:rPr lang="en-US" altLang="zh-CN" sz="2000" b="1" dirty="0">
                <a:solidFill>
                  <a:schemeClr val="accent6"/>
                </a:solidFill>
              </a:rPr>
              <a:t>6. </a:t>
            </a:r>
            <a:r>
              <a:rPr lang="zh-CN" altLang="en-US" sz="2000" b="1" dirty="0">
                <a:solidFill>
                  <a:schemeClr val="accent6"/>
                </a:solidFill>
              </a:rPr>
              <a:t>木马的传播方式与防治</a:t>
            </a:r>
          </a:p>
          <a:p>
            <a:pPr>
              <a:defRPr/>
            </a:pPr>
            <a:r>
              <a:rPr lang="zh-CN" altLang="en-US" sz="1800" b="1" dirty="0"/>
              <a:t>传统木马的传播方式包括以下几个方面：</a:t>
            </a:r>
          </a:p>
          <a:p>
            <a:pPr indent="-36195">
              <a:buFont typeface="Wingdings" panose="05000000000000000000" pitchFamily="2" charset="2"/>
              <a:buNone/>
              <a:defRPr/>
            </a:pPr>
            <a:r>
              <a:rPr lang="zh-CN" altLang="en-US" sz="1800" b="1" dirty="0"/>
              <a:t>（</a:t>
            </a:r>
            <a:r>
              <a:rPr lang="en-US" altLang="zh-CN" sz="1800" b="1" dirty="0"/>
              <a:t>1</a:t>
            </a:r>
            <a:r>
              <a:rPr lang="zh-CN" altLang="en-US" sz="1800" b="1" dirty="0"/>
              <a:t>）以邮件的附件形式传播。</a:t>
            </a:r>
          </a:p>
          <a:p>
            <a:pPr indent="-36195">
              <a:buFont typeface="Wingdings" panose="05000000000000000000" pitchFamily="2" charset="2"/>
              <a:buNone/>
              <a:defRPr/>
            </a:pPr>
            <a:r>
              <a:rPr lang="zh-CN" altLang="en-US" sz="1800" b="1" dirty="0"/>
              <a:t>（</a:t>
            </a:r>
            <a:r>
              <a:rPr lang="en-US" altLang="zh-CN" sz="1800" b="1" dirty="0"/>
              <a:t>2</a:t>
            </a:r>
            <a:r>
              <a:rPr lang="zh-CN" altLang="en-US" sz="1800" b="1" dirty="0"/>
              <a:t>）通过聊天工具传播。</a:t>
            </a:r>
          </a:p>
          <a:p>
            <a:pPr indent="-36195">
              <a:buFont typeface="Wingdings" panose="05000000000000000000" pitchFamily="2" charset="2"/>
              <a:buNone/>
              <a:defRPr/>
            </a:pPr>
            <a:r>
              <a:rPr lang="zh-CN" altLang="en-US" sz="1800" b="1" dirty="0"/>
              <a:t>（</a:t>
            </a:r>
            <a:r>
              <a:rPr lang="en-US" altLang="zh-CN" sz="1800" b="1" dirty="0"/>
              <a:t>3</a:t>
            </a:r>
            <a:r>
              <a:rPr lang="zh-CN" altLang="en-US" sz="1800" b="1" dirty="0"/>
              <a:t>）通过软件下载网站传播。</a:t>
            </a:r>
            <a:endParaRPr lang="en-US" altLang="zh-CN" sz="1800" b="1" dirty="0"/>
          </a:p>
          <a:p>
            <a:pPr indent="-36195">
              <a:buFont typeface="Wingdings" panose="05000000000000000000" pitchFamily="2" charset="2"/>
              <a:buNone/>
              <a:defRPr/>
            </a:pPr>
            <a:r>
              <a:rPr lang="zh-CN" altLang="en-US" sz="1800" b="1" dirty="0"/>
              <a:t>（</a:t>
            </a:r>
            <a:r>
              <a:rPr lang="en-US" altLang="zh-CN" sz="1800" b="1" dirty="0"/>
              <a:t>4</a:t>
            </a:r>
            <a:r>
              <a:rPr lang="zh-CN" altLang="en-US" sz="1800" b="1" dirty="0"/>
              <a:t>）通过一般的病毒和蠕虫传播。</a:t>
            </a:r>
          </a:p>
          <a:p>
            <a:pPr indent="-36195">
              <a:buFont typeface="Wingdings" panose="05000000000000000000" pitchFamily="2" charset="2"/>
              <a:buNone/>
              <a:defRPr/>
            </a:pPr>
            <a:r>
              <a:rPr lang="zh-CN" altLang="en-US" sz="1800" b="1" dirty="0"/>
              <a:t>（</a:t>
            </a:r>
            <a:r>
              <a:rPr lang="en-US" altLang="zh-CN" sz="1800" b="1" dirty="0"/>
              <a:t>5</a:t>
            </a:r>
            <a:r>
              <a:rPr lang="zh-CN" altLang="en-US" sz="1800" b="1" dirty="0"/>
              <a:t>）通过带木马</a:t>
            </a:r>
            <a:r>
              <a:rPr lang="en-US" altLang="zh-CN" sz="1800" b="1" dirty="0"/>
              <a:t>U</a:t>
            </a:r>
            <a:r>
              <a:rPr lang="zh-CN" altLang="en-US" sz="1800" b="1" dirty="0"/>
              <a:t>盘和光盘传播。</a:t>
            </a:r>
          </a:p>
          <a:p>
            <a:pPr>
              <a:buFont typeface="Arial" panose="020B0604020202020204" pitchFamily="34" charset="0"/>
              <a:buChar char="•"/>
              <a:defRPr/>
            </a:pPr>
            <a:endParaRPr lang="zh-CN" altLang="en-US" b="1" dirty="0"/>
          </a:p>
          <a:p>
            <a:pPr>
              <a:defRPr/>
            </a:pPr>
            <a:endParaRPr lang="en-US" altLang="zh-CN" b="1" dirty="0"/>
          </a:p>
        </p:txBody>
      </p:sp>
      <p:sp>
        <p:nvSpPr>
          <p:cNvPr id="6" name="标题 1"/>
          <p:cNvSpPr txBox="1"/>
          <p:nvPr/>
        </p:nvSpPr>
        <p:spPr bwMode="auto">
          <a:xfrm>
            <a:off x="6572264" y="142858"/>
            <a:ext cx="2423266" cy="560706"/>
          </a:xfrm>
          <a:prstGeom prst="rect">
            <a:avLst/>
          </a:prstGeom>
          <a:noFill/>
          <a:ln w="9525">
            <a:noFill/>
            <a:miter lim="800000"/>
          </a:ln>
        </p:spPr>
        <p:txBody>
          <a:bodyPr anchor="ctr"/>
          <a:lstStyle/>
          <a:p>
            <a:pPr algn="ctr">
              <a:defRPr/>
            </a:pPr>
            <a:r>
              <a:rPr lang="en-US" altLang="zh-CN" sz="2000" b="1" dirty="0">
                <a:solidFill>
                  <a:srgbClr val="C00000"/>
                </a:solidFill>
                <a:effectLst>
                  <a:reflection blurRad="6350" stA="50000" endA="300" endPos="50000" dist="60007" dir="5400000" sy="-100000" algn="bl" rotWithShape="0"/>
                </a:effectLst>
                <a:latin typeface="+mj-ea"/>
                <a:ea typeface="+mj-ea"/>
                <a:cs typeface="+mj-cs"/>
              </a:rPr>
              <a:t>9.4 </a:t>
            </a:r>
            <a:r>
              <a:rPr lang="zh-CN" altLang="en-US" sz="2000" b="1" dirty="0">
                <a:solidFill>
                  <a:srgbClr val="C00000"/>
                </a:solidFill>
                <a:effectLst>
                  <a:reflection blurRad="6350" stA="50000" endA="300" endPos="50000" dist="60007" dir="5400000" sy="-100000" algn="bl" rotWithShape="0"/>
                </a:effectLst>
                <a:latin typeface="+mj-ea"/>
                <a:ea typeface="+mj-ea"/>
                <a:cs typeface="+mj-cs"/>
              </a:rPr>
              <a:t>恶意代码分析</a:t>
            </a:r>
          </a:p>
        </p:txBody>
      </p:sp>
      <p:sp>
        <p:nvSpPr>
          <p:cNvPr id="7" name="标题 1"/>
          <p:cNvSpPr txBox="1"/>
          <p:nvPr/>
        </p:nvSpPr>
        <p:spPr bwMode="auto">
          <a:xfrm>
            <a:off x="214282" y="571486"/>
            <a:ext cx="3143272"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defRPr/>
            </a:pPr>
            <a:r>
              <a:rPr lang="en-US" sz="2000" dirty="0"/>
              <a:t>9.4.4 </a:t>
            </a:r>
            <a:r>
              <a:rPr altLang="en-US" sz="2000" dirty="0"/>
              <a:t>木马的机理与防治</a:t>
            </a:r>
          </a:p>
        </p:txBody>
      </p:sp>
      <p:sp>
        <p:nvSpPr>
          <p:cNvPr id="93189" name="右箭头 4"/>
          <p:cNvSpPr>
            <a:spLocks noChangeArrowheads="1"/>
          </p:cNvSpPr>
          <p:nvPr/>
        </p:nvSpPr>
        <p:spPr bwMode="auto">
          <a:xfrm>
            <a:off x="4716463" y="2500313"/>
            <a:ext cx="576262" cy="358775"/>
          </a:xfrm>
          <a:prstGeom prst="rightArrow">
            <a:avLst>
              <a:gd name="adj1" fmla="val 50000"/>
              <a:gd name="adj2" fmla="val 50194"/>
            </a:avLst>
          </a:prstGeom>
          <a:solidFill>
            <a:schemeClr val="accent1"/>
          </a:solidFill>
          <a:ln w="952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eaLnBrk="1" hangingPunct="1"/>
            <a:endParaRPr lang="zh-CN" altLang="en-US"/>
          </a:p>
        </p:txBody>
      </p:sp>
      <p:sp>
        <p:nvSpPr>
          <p:cNvPr id="93190" name="矩形 7"/>
          <p:cNvSpPr>
            <a:spLocks noChangeArrowheads="1"/>
          </p:cNvSpPr>
          <p:nvPr/>
        </p:nvSpPr>
        <p:spPr bwMode="auto">
          <a:xfrm>
            <a:off x="6011863" y="2520950"/>
            <a:ext cx="17287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600" b="1">
                <a:solidFill>
                  <a:srgbClr val="FF0000"/>
                </a:solidFill>
              </a:rPr>
              <a:t>对应防治手段？</a:t>
            </a:r>
          </a:p>
        </p:txBody>
      </p:sp>
    </p:spTree>
  </p:cSld>
  <p:clrMapOvr>
    <a:masterClrMapping/>
  </p:clrMapOvr>
  <p:transition spd="med">
    <p:randomBar dir="vert"/>
  </p:transition>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标题 1"/>
          <p:cNvSpPr txBox="1"/>
          <p:nvPr/>
        </p:nvSpPr>
        <p:spPr bwMode="auto">
          <a:xfrm>
            <a:off x="214282" y="123478"/>
            <a:ext cx="4069686" cy="428628"/>
          </a:xfrm>
          <a:prstGeom prst="rect">
            <a:avLst/>
          </a:prstGeom>
          <a:noFill/>
          <a:ln w="9525">
            <a:noFill/>
            <a:miter lim="800000"/>
          </a:ln>
        </p:spPr>
        <p:txBody>
          <a:bodyPr anchor="ctr"/>
          <a:lstStyle>
            <a:lvl1pPr algn="ctr" rtl="0" eaLnBrk="0" fontAlgn="base" hangingPunct="0">
              <a:spcBef>
                <a:spcPct val="0"/>
              </a:spcBef>
              <a:spcAft>
                <a:spcPct val="0"/>
              </a:spcAft>
              <a:defRPr lang="zh-CN" altLang="zh-CN" sz="3200" b="1" kern="1200">
                <a:solidFill>
                  <a:srgbClr val="C00000"/>
                </a:solidFill>
                <a:effectLst>
                  <a:reflection blurRad="6350" stA="50000" endA="300" endPos="50000" dist="60007" dir="5400000" sy="-100000" algn="bl" rotWithShape="0"/>
                </a:effectLst>
                <a:latin typeface="+mj-ea"/>
                <a:ea typeface="+mj-ea"/>
                <a:cs typeface="+mj-cs"/>
              </a:defRPr>
            </a:lvl1pPr>
            <a:lvl2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3000" b="1">
                <a:solidFill>
                  <a:srgbClr val="C00000"/>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eaLnBrk="0" fontAlgn="base" hangingPunct="0">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a:lstStyle>
          <a:p>
            <a:pPr algn="l">
              <a:defRPr/>
            </a:pPr>
            <a:r>
              <a:rPr altLang="en-US" sz="2000" dirty="0"/>
              <a:t>病毒，蠕虫和木马的区别</a:t>
            </a:r>
          </a:p>
        </p:txBody>
      </p:sp>
      <p:graphicFrame>
        <p:nvGraphicFramePr>
          <p:cNvPr id="196" name="表格 195"/>
          <p:cNvGraphicFramePr>
            <a:graphicFrameLocks noGrp="1"/>
          </p:cNvGraphicFramePr>
          <p:nvPr/>
        </p:nvGraphicFramePr>
        <p:xfrm>
          <a:off x="35496" y="555625"/>
          <a:ext cx="9001000" cy="4364038"/>
        </p:xfrm>
        <a:graphic>
          <a:graphicData uri="http://schemas.openxmlformats.org/drawingml/2006/table">
            <a:tbl>
              <a:tblPr firstRow="1" bandRow="1">
                <a:tableStyleId>{5C22544A-7EE6-4342-B048-85BDC9FD1C3A}</a:tableStyleId>
              </a:tblPr>
              <a:tblGrid>
                <a:gridCol w="1656124">
                  <a:extLst>
                    <a:ext uri="{9D8B030D-6E8A-4147-A177-3AD203B41FA5}">
                      <a16:colId xmlns:a16="http://schemas.microsoft.com/office/drawing/2014/main" val="20000"/>
                    </a:ext>
                  </a:extLst>
                </a:gridCol>
                <a:gridCol w="2520464">
                  <a:extLst>
                    <a:ext uri="{9D8B030D-6E8A-4147-A177-3AD203B41FA5}">
                      <a16:colId xmlns:a16="http://schemas.microsoft.com/office/drawing/2014/main" val="20001"/>
                    </a:ext>
                  </a:extLst>
                </a:gridCol>
                <a:gridCol w="2232124">
                  <a:extLst>
                    <a:ext uri="{9D8B030D-6E8A-4147-A177-3AD203B41FA5}">
                      <a16:colId xmlns:a16="http://schemas.microsoft.com/office/drawing/2014/main" val="20002"/>
                    </a:ext>
                  </a:extLst>
                </a:gridCol>
                <a:gridCol w="2592288">
                  <a:extLst>
                    <a:ext uri="{9D8B030D-6E8A-4147-A177-3AD203B41FA5}">
                      <a16:colId xmlns:a16="http://schemas.microsoft.com/office/drawing/2014/main" val="20003"/>
                    </a:ext>
                  </a:extLst>
                </a:gridCol>
              </a:tblGrid>
              <a:tr h="370867">
                <a:tc>
                  <a:txBody>
                    <a:bodyPr/>
                    <a:lstStyle/>
                    <a:p>
                      <a:pPr algn="ctr"/>
                      <a:r>
                        <a:rPr lang="zh-CN" altLang="en-US" sz="1800" dirty="0"/>
                        <a:t>属性</a:t>
                      </a:r>
                    </a:p>
                  </a:txBody>
                  <a:tcPr marL="91437" marR="91437" marT="45723" marB="45723"/>
                </a:tc>
                <a:tc>
                  <a:txBody>
                    <a:bodyPr/>
                    <a:lstStyle/>
                    <a:p>
                      <a:pPr algn="ctr"/>
                      <a:r>
                        <a:rPr lang="zh-CN" altLang="en-US" sz="1800" dirty="0"/>
                        <a:t>病毒</a:t>
                      </a:r>
                    </a:p>
                  </a:txBody>
                  <a:tcPr marL="91437" marR="91437" marT="45723" marB="45723"/>
                </a:tc>
                <a:tc>
                  <a:txBody>
                    <a:bodyPr/>
                    <a:lstStyle/>
                    <a:p>
                      <a:pPr algn="ctr"/>
                      <a:r>
                        <a:rPr lang="zh-CN" altLang="en-US" sz="1800" dirty="0"/>
                        <a:t>蠕虫</a:t>
                      </a:r>
                    </a:p>
                  </a:txBody>
                  <a:tcPr marL="91437" marR="91437" marT="45723" marB="45723"/>
                </a:tc>
                <a:tc>
                  <a:txBody>
                    <a:bodyPr/>
                    <a:lstStyle/>
                    <a:p>
                      <a:pPr algn="ctr"/>
                      <a:r>
                        <a:rPr lang="zh-CN" altLang="en-US" sz="1800" dirty="0"/>
                        <a:t>木马</a:t>
                      </a:r>
                    </a:p>
                  </a:txBody>
                  <a:tcPr marL="91437" marR="91437" marT="45723" marB="45723"/>
                </a:tc>
                <a:extLst>
                  <a:ext uri="{0D108BD9-81ED-4DB2-BD59-A6C34878D82A}">
                    <a16:rowId xmlns:a16="http://schemas.microsoft.com/office/drawing/2014/main" val="10000"/>
                  </a:ext>
                </a:extLst>
              </a:tr>
              <a:tr h="370867">
                <a:tc>
                  <a:txBody>
                    <a:bodyPr/>
                    <a:lstStyle/>
                    <a:p>
                      <a:pPr algn="l"/>
                      <a:r>
                        <a:rPr lang="zh-CN" altLang="en-US" sz="1400" b="1" u="sng" dirty="0">
                          <a:solidFill>
                            <a:srgbClr val="FF0000"/>
                          </a:solidFill>
                          <a:effectLst>
                            <a:outerShdw blurRad="38100" dist="38100" dir="2700000" algn="tl">
                              <a:srgbClr val="000000">
                                <a:alpha val="43137"/>
                              </a:srgbClr>
                            </a:outerShdw>
                          </a:effectLst>
                          <a:latin typeface="+mj-ea"/>
                          <a:ea typeface="+mj-ea"/>
                        </a:rPr>
                        <a:t>存在形式</a:t>
                      </a:r>
                    </a:p>
                  </a:txBody>
                  <a:tcPr marL="91437" marR="91437" marT="45723" marB="45723"/>
                </a:tc>
                <a:tc>
                  <a:txBody>
                    <a:bodyPr/>
                    <a:lstStyle/>
                    <a:p>
                      <a:pPr algn="l"/>
                      <a:r>
                        <a:rPr lang="zh-CN" altLang="en-US" sz="1400" b="1" dirty="0">
                          <a:solidFill>
                            <a:srgbClr val="FF0000"/>
                          </a:solidFill>
                          <a:latin typeface="+mj-ea"/>
                          <a:ea typeface="+mj-ea"/>
                        </a:rPr>
                        <a:t>寄生</a:t>
                      </a:r>
                    </a:p>
                  </a:txBody>
                  <a:tcPr marL="91437" marR="91437" marT="45723" marB="45723"/>
                </a:tc>
                <a:tc>
                  <a:txBody>
                    <a:bodyPr/>
                    <a:lstStyle/>
                    <a:p>
                      <a:pPr algn="l"/>
                      <a:r>
                        <a:rPr lang="zh-CN" altLang="en-US" sz="1400" b="1" dirty="0">
                          <a:solidFill>
                            <a:srgbClr val="FF0000"/>
                          </a:solidFill>
                          <a:latin typeface="+mj-ea"/>
                          <a:ea typeface="+mj-ea"/>
                        </a:rPr>
                        <a:t>独立个体</a:t>
                      </a:r>
                    </a:p>
                  </a:txBody>
                  <a:tcPr marL="91437" marR="91437" marT="45723" marB="45723"/>
                </a:tc>
                <a:tc>
                  <a:txBody>
                    <a:bodyPr/>
                    <a:lstStyle/>
                    <a:p>
                      <a:pPr algn="l"/>
                      <a:r>
                        <a:rPr lang="zh-CN" altLang="en-US" sz="1400" b="1" dirty="0">
                          <a:solidFill>
                            <a:srgbClr val="FF0000"/>
                          </a:solidFill>
                          <a:latin typeface="+mj-ea"/>
                          <a:ea typeface="+mj-ea"/>
                        </a:rPr>
                        <a:t>独立个体</a:t>
                      </a:r>
                    </a:p>
                  </a:txBody>
                  <a:tcPr marL="91437" marR="91437" marT="45723" marB="45723"/>
                </a:tc>
                <a:extLst>
                  <a:ext uri="{0D108BD9-81ED-4DB2-BD59-A6C34878D82A}">
                    <a16:rowId xmlns:a16="http://schemas.microsoft.com/office/drawing/2014/main" val="10001"/>
                  </a:ext>
                </a:extLst>
              </a:tr>
              <a:tr h="370867">
                <a:tc>
                  <a:txBody>
                    <a:bodyPr/>
                    <a:lstStyle/>
                    <a:p>
                      <a:pPr algn="l"/>
                      <a:r>
                        <a:rPr lang="zh-CN" altLang="en-US" sz="1400" b="1" u="sng" dirty="0">
                          <a:solidFill>
                            <a:srgbClr val="FF0000"/>
                          </a:solidFill>
                          <a:effectLst>
                            <a:outerShdw blurRad="38100" dist="38100" dir="2700000" algn="tl">
                              <a:srgbClr val="000000">
                                <a:alpha val="43137"/>
                              </a:srgbClr>
                            </a:outerShdw>
                          </a:effectLst>
                          <a:latin typeface="+mj-ea"/>
                          <a:ea typeface="+mj-ea"/>
                        </a:rPr>
                        <a:t>复制机制</a:t>
                      </a:r>
                    </a:p>
                  </a:txBody>
                  <a:tcPr marL="91437" marR="91437" marT="45723" marB="45723"/>
                </a:tc>
                <a:tc>
                  <a:txBody>
                    <a:bodyPr/>
                    <a:lstStyle/>
                    <a:p>
                      <a:pPr algn="l"/>
                      <a:r>
                        <a:rPr lang="zh-CN" altLang="en-US" sz="1400" b="1" u="sng" dirty="0">
                          <a:solidFill>
                            <a:srgbClr val="FF0000"/>
                          </a:solidFill>
                          <a:latin typeface="+mj-ea"/>
                          <a:ea typeface="+mj-ea"/>
                        </a:rPr>
                        <a:t>复制</a:t>
                      </a:r>
                      <a:r>
                        <a:rPr lang="zh-CN" altLang="en-US" sz="1400" b="1" dirty="0">
                          <a:solidFill>
                            <a:srgbClr val="FF0000"/>
                          </a:solidFill>
                          <a:latin typeface="+mj-ea"/>
                          <a:ea typeface="+mj-ea"/>
                        </a:rPr>
                        <a:t>插入到宿主程序</a:t>
                      </a:r>
                      <a:r>
                        <a:rPr lang="en-US" altLang="zh-CN" sz="1400" b="1" dirty="0">
                          <a:solidFill>
                            <a:srgbClr val="FF0000"/>
                          </a:solidFill>
                          <a:latin typeface="+mj-ea"/>
                          <a:ea typeface="+mj-ea"/>
                        </a:rPr>
                        <a:t>(</a:t>
                      </a:r>
                      <a:r>
                        <a:rPr lang="zh-CN" altLang="en-US" sz="1400" b="1" dirty="0">
                          <a:solidFill>
                            <a:srgbClr val="FF0000"/>
                          </a:solidFill>
                          <a:latin typeface="+mj-ea"/>
                          <a:ea typeface="+mj-ea"/>
                        </a:rPr>
                        <a:t>文件</a:t>
                      </a:r>
                      <a:r>
                        <a:rPr lang="en-US" altLang="zh-CN" sz="1400" b="1" dirty="0">
                          <a:solidFill>
                            <a:srgbClr val="FF0000"/>
                          </a:solidFill>
                          <a:latin typeface="+mj-ea"/>
                          <a:ea typeface="+mj-ea"/>
                        </a:rPr>
                        <a:t>)</a:t>
                      </a:r>
                      <a:r>
                        <a:rPr lang="zh-CN" altLang="en-US" sz="1400" b="1" dirty="0">
                          <a:solidFill>
                            <a:srgbClr val="FF0000"/>
                          </a:solidFill>
                          <a:latin typeface="+mj-ea"/>
                          <a:ea typeface="+mj-ea"/>
                        </a:rPr>
                        <a:t>中</a:t>
                      </a:r>
                    </a:p>
                  </a:txBody>
                  <a:tcPr marL="91437" marR="91437" marT="45723" marB="45723"/>
                </a:tc>
                <a:tc>
                  <a:txBody>
                    <a:bodyPr/>
                    <a:lstStyle/>
                    <a:p>
                      <a:pPr algn="l"/>
                      <a:r>
                        <a:rPr lang="zh-CN" altLang="en-US" sz="1400" b="1" dirty="0">
                          <a:solidFill>
                            <a:srgbClr val="FF0000"/>
                          </a:solidFill>
                          <a:latin typeface="+mj-ea"/>
                          <a:ea typeface="+mj-ea"/>
                        </a:rPr>
                        <a:t>进行</a:t>
                      </a:r>
                      <a:r>
                        <a:rPr lang="zh-CN" altLang="en-US" sz="1400" b="1" u="sng" dirty="0">
                          <a:solidFill>
                            <a:srgbClr val="FF0000"/>
                          </a:solidFill>
                          <a:latin typeface="+mj-ea"/>
                          <a:ea typeface="+mj-ea"/>
                        </a:rPr>
                        <a:t>自身复制</a:t>
                      </a:r>
                    </a:p>
                  </a:txBody>
                  <a:tcPr marL="91437" marR="91437" marT="45723" marB="45723"/>
                </a:tc>
                <a:tc>
                  <a:txBody>
                    <a:bodyPr/>
                    <a:lstStyle/>
                    <a:p>
                      <a:pPr algn="l"/>
                      <a:r>
                        <a:rPr lang="zh-CN" altLang="en-US" sz="1400" b="1" u="sng" dirty="0">
                          <a:solidFill>
                            <a:srgbClr val="FF0000"/>
                          </a:solidFill>
                          <a:latin typeface="+mj-ea"/>
                          <a:ea typeface="+mj-ea"/>
                        </a:rPr>
                        <a:t>不进行自身复制</a:t>
                      </a:r>
                    </a:p>
                  </a:txBody>
                  <a:tcPr marL="91437" marR="91437" marT="45723" marB="45723"/>
                </a:tc>
                <a:extLst>
                  <a:ext uri="{0D108BD9-81ED-4DB2-BD59-A6C34878D82A}">
                    <a16:rowId xmlns:a16="http://schemas.microsoft.com/office/drawing/2014/main" val="10002"/>
                  </a:ext>
                </a:extLst>
              </a:tr>
              <a:tr h="731573">
                <a:tc>
                  <a:txBody>
                    <a:bodyPr/>
                    <a:lstStyle/>
                    <a:p>
                      <a:pPr algn="l"/>
                      <a:r>
                        <a:rPr lang="zh-CN" altLang="en-US" sz="1400" b="1" u="sng" dirty="0">
                          <a:solidFill>
                            <a:srgbClr val="0033CC"/>
                          </a:solidFill>
                          <a:effectLst>
                            <a:outerShdw blurRad="38100" dist="38100" dir="2700000" algn="tl">
                              <a:srgbClr val="000000">
                                <a:alpha val="43137"/>
                              </a:srgbClr>
                            </a:outerShdw>
                          </a:effectLst>
                          <a:latin typeface="+mj-ea"/>
                          <a:ea typeface="+mj-ea"/>
                        </a:rPr>
                        <a:t>传染机制</a:t>
                      </a:r>
                    </a:p>
                  </a:txBody>
                  <a:tcPr marL="91437" marR="91437" marT="45723" marB="45723"/>
                </a:tc>
                <a:tc>
                  <a:txBody>
                    <a:bodyPr/>
                    <a:lstStyle/>
                    <a:p>
                      <a:pPr algn="l"/>
                      <a:r>
                        <a:rPr lang="zh-CN" altLang="en-US" sz="1400" b="1" dirty="0">
                          <a:solidFill>
                            <a:srgbClr val="0033CC"/>
                          </a:solidFill>
                          <a:latin typeface="+mj-ea"/>
                          <a:ea typeface="+mj-ea"/>
                        </a:rPr>
                        <a:t>随着宿主程序运行而运行</a:t>
                      </a:r>
                    </a:p>
                  </a:txBody>
                  <a:tcPr marL="91437" marR="91437" marT="45723" marB="45723"/>
                </a:tc>
                <a:tc>
                  <a:txBody>
                    <a:bodyPr/>
                    <a:lstStyle/>
                    <a:p>
                      <a:pPr algn="l"/>
                      <a:r>
                        <a:rPr lang="zh-CN" altLang="en-US" sz="1400" b="1" dirty="0">
                          <a:solidFill>
                            <a:srgbClr val="0033CC"/>
                          </a:solidFill>
                          <a:latin typeface="+mj-ea"/>
                          <a:ea typeface="+mj-ea"/>
                        </a:rPr>
                        <a:t>搜索系统存在漏洞进行传播</a:t>
                      </a:r>
                    </a:p>
                  </a:txBody>
                  <a:tcPr marL="91437" marR="91437" marT="45723" marB="45723"/>
                </a:tc>
                <a:tc>
                  <a:txBody>
                    <a:bodyPr/>
                    <a:lstStyle/>
                    <a:p>
                      <a:pPr algn="l"/>
                      <a:r>
                        <a:rPr lang="zh-CN" altLang="en-US" sz="1400" b="1" dirty="0">
                          <a:solidFill>
                            <a:srgbClr val="0033CC"/>
                          </a:solidFill>
                          <a:latin typeface="+mj-ea"/>
                          <a:ea typeface="+mj-ea"/>
                        </a:rPr>
                        <a:t>通过用户登录恶意网站，使用含有木马的</a:t>
                      </a:r>
                      <a:r>
                        <a:rPr lang="en-US" altLang="zh-CN" sz="1400" b="1" dirty="0">
                          <a:solidFill>
                            <a:srgbClr val="0033CC"/>
                          </a:solidFill>
                          <a:latin typeface="+mj-ea"/>
                          <a:ea typeface="+mj-ea"/>
                        </a:rPr>
                        <a:t>U</a:t>
                      </a:r>
                      <a:r>
                        <a:rPr lang="zh-CN" altLang="en-US" sz="1400" b="1" dirty="0">
                          <a:solidFill>
                            <a:srgbClr val="0033CC"/>
                          </a:solidFill>
                          <a:latin typeface="+mj-ea"/>
                          <a:ea typeface="+mj-ea"/>
                        </a:rPr>
                        <a:t>盘等方式感染木马</a:t>
                      </a:r>
                    </a:p>
                  </a:txBody>
                  <a:tcPr marL="91437" marR="91437" marT="45723" marB="45723"/>
                </a:tc>
                <a:extLst>
                  <a:ext uri="{0D108BD9-81ED-4DB2-BD59-A6C34878D82A}">
                    <a16:rowId xmlns:a16="http://schemas.microsoft.com/office/drawing/2014/main" val="10003"/>
                  </a:ext>
                </a:extLst>
              </a:tr>
              <a:tr h="518198">
                <a:tc>
                  <a:txBody>
                    <a:bodyPr/>
                    <a:lstStyle/>
                    <a:p>
                      <a:pPr algn="l"/>
                      <a:r>
                        <a:rPr lang="zh-CN" altLang="en-US" sz="1400" b="1" u="sng" dirty="0">
                          <a:solidFill>
                            <a:srgbClr val="0033CC"/>
                          </a:solidFill>
                          <a:effectLst>
                            <a:outerShdw blurRad="38100" dist="38100" dir="2700000" algn="tl">
                              <a:srgbClr val="000000">
                                <a:alpha val="43137"/>
                              </a:srgbClr>
                            </a:outerShdw>
                          </a:effectLst>
                          <a:latin typeface="+mj-ea"/>
                          <a:ea typeface="+mj-ea"/>
                        </a:rPr>
                        <a:t>搜索机制</a:t>
                      </a:r>
                    </a:p>
                  </a:txBody>
                  <a:tcPr marL="91437" marR="91437" marT="45723" marB="45723"/>
                </a:tc>
                <a:tc>
                  <a:txBody>
                    <a:bodyPr/>
                    <a:lstStyle/>
                    <a:p>
                      <a:pPr algn="l"/>
                      <a:r>
                        <a:rPr lang="zh-CN" altLang="en-US" sz="1400" b="1" dirty="0">
                          <a:solidFill>
                            <a:srgbClr val="0033CC"/>
                          </a:solidFill>
                          <a:latin typeface="+mj-ea"/>
                          <a:ea typeface="+mj-ea"/>
                        </a:rPr>
                        <a:t>主要搜索本地文件进行感染</a:t>
                      </a:r>
                    </a:p>
                  </a:txBody>
                  <a:tcPr marL="91437" marR="91437" marT="45723" marB="45723"/>
                </a:tc>
                <a:tc>
                  <a:txBody>
                    <a:bodyPr/>
                    <a:lstStyle/>
                    <a:p>
                      <a:pPr algn="l"/>
                      <a:r>
                        <a:rPr lang="zh-CN" altLang="en-US" sz="1400" b="1" dirty="0">
                          <a:solidFill>
                            <a:srgbClr val="0033CC"/>
                          </a:solidFill>
                          <a:latin typeface="+mj-ea"/>
                          <a:ea typeface="+mj-ea"/>
                        </a:rPr>
                        <a:t>主要搜索网络上的计算机进行传播</a:t>
                      </a:r>
                    </a:p>
                  </a:txBody>
                  <a:tcPr marL="91437" marR="91437" marT="45723" marB="45723"/>
                </a:tc>
                <a:tc>
                  <a:txBody>
                    <a:bodyPr/>
                    <a:lstStyle/>
                    <a:p>
                      <a:pPr algn="l"/>
                      <a:r>
                        <a:rPr lang="zh-CN" altLang="en-US" sz="1400" b="1" dirty="0">
                          <a:solidFill>
                            <a:srgbClr val="0033CC"/>
                          </a:solidFill>
                          <a:latin typeface="+mj-ea"/>
                          <a:ea typeface="+mj-ea"/>
                        </a:rPr>
                        <a:t>主要搜索本地的计算机配置和关键和秘密数据</a:t>
                      </a:r>
                    </a:p>
                  </a:txBody>
                  <a:tcPr marL="91437" marR="91437" marT="45723" marB="45723"/>
                </a:tc>
                <a:extLst>
                  <a:ext uri="{0D108BD9-81ED-4DB2-BD59-A6C34878D82A}">
                    <a16:rowId xmlns:a16="http://schemas.microsoft.com/office/drawing/2014/main" val="10004"/>
                  </a:ext>
                </a:extLst>
              </a:tr>
              <a:tr h="370867">
                <a:tc>
                  <a:txBody>
                    <a:bodyPr/>
                    <a:lstStyle/>
                    <a:p>
                      <a:pPr algn="l"/>
                      <a:r>
                        <a:rPr lang="zh-CN" altLang="en-US" sz="1400" b="1" u="sng" dirty="0">
                          <a:solidFill>
                            <a:srgbClr val="0033CC"/>
                          </a:solidFill>
                          <a:effectLst>
                            <a:outerShdw blurRad="38100" dist="38100" dir="2700000" algn="tl">
                              <a:srgbClr val="000000">
                                <a:alpha val="43137"/>
                              </a:srgbClr>
                            </a:outerShdw>
                          </a:effectLst>
                          <a:latin typeface="+mj-ea"/>
                          <a:ea typeface="+mj-ea"/>
                        </a:rPr>
                        <a:t>触发传染</a:t>
                      </a:r>
                    </a:p>
                  </a:txBody>
                  <a:tcPr marL="91437" marR="91437" marT="45723" marB="45723"/>
                </a:tc>
                <a:tc>
                  <a:txBody>
                    <a:bodyPr/>
                    <a:lstStyle/>
                    <a:p>
                      <a:pPr algn="l"/>
                      <a:r>
                        <a:rPr lang="zh-CN" altLang="en-US" sz="1400" b="1" dirty="0">
                          <a:solidFill>
                            <a:srgbClr val="0033CC"/>
                          </a:solidFill>
                          <a:latin typeface="+mj-ea"/>
                          <a:ea typeface="+mj-ea"/>
                        </a:rPr>
                        <a:t>计算机使用者</a:t>
                      </a:r>
                    </a:p>
                  </a:txBody>
                  <a:tcPr marL="91437" marR="91437" marT="45723" marB="45723"/>
                </a:tc>
                <a:tc>
                  <a:txBody>
                    <a:bodyPr/>
                    <a:lstStyle/>
                    <a:p>
                      <a:pPr algn="l"/>
                      <a:r>
                        <a:rPr lang="zh-CN" altLang="en-US" sz="1400" b="1" dirty="0">
                          <a:solidFill>
                            <a:srgbClr val="0033CC"/>
                          </a:solidFill>
                          <a:latin typeface="+mj-ea"/>
                          <a:ea typeface="+mj-ea"/>
                        </a:rPr>
                        <a:t>程序自身</a:t>
                      </a:r>
                    </a:p>
                  </a:txBody>
                  <a:tcPr marL="91437" marR="91437" marT="45723" marB="45723"/>
                </a:tc>
                <a:tc>
                  <a:txBody>
                    <a:bodyPr/>
                    <a:lstStyle/>
                    <a:p>
                      <a:pPr algn="l"/>
                      <a:r>
                        <a:rPr lang="zh-CN" altLang="en-US" sz="1400" b="1" dirty="0">
                          <a:solidFill>
                            <a:srgbClr val="0033CC"/>
                          </a:solidFill>
                          <a:latin typeface="+mj-ea"/>
                          <a:ea typeface="+mj-ea"/>
                        </a:rPr>
                        <a:t>计算机使用者</a:t>
                      </a:r>
                    </a:p>
                  </a:txBody>
                  <a:tcPr marL="91437" marR="91437" marT="45723" marB="45723"/>
                </a:tc>
                <a:extLst>
                  <a:ext uri="{0D108BD9-81ED-4DB2-BD59-A6C34878D82A}">
                    <a16:rowId xmlns:a16="http://schemas.microsoft.com/office/drawing/2014/main" val="10005"/>
                  </a:ext>
                </a:extLst>
              </a:tr>
              <a:tr h="370867">
                <a:tc>
                  <a:txBody>
                    <a:bodyPr/>
                    <a:lstStyle/>
                    <a:p>
                      <a:pPr algn="l"/>
                      <a:r>
                        <a:rPr lang="zh-CN" altLang="en-US" sz="1400" b="1" u="sng" dirty="0">
                          <a:solidFill>
                            <a:srgbClr val="0033CC"/>
                          </a:solidFill>
                          <a:effectLst>
                            <a:outerShdw blurRad="38100" dist="38100" dir="2700000" algn="tl">
                              <a:srgbClr val="000000">
                                <a:alpha val="43137"/>
                              </a:srgbClr>
                            </a:outerShdw>
                          </a:effectLst>
                          <a:latin typeface="+mj-ea"/>
                          <a:ea typeface="+mj-ea"/>
                        </a:rPr>
                        <a:t>影响重点</a:t>
                      </a:r>
                    </a:p>
                  </a:txBody>
                  <a:tcPr marL="91437" marR="91437" marT="45723" marB="45723"/>
                </a:tc>
                <a:tc>
                  <a:txBody>
                    <a:bodyPr/>
                    <a:lstStyle/>
                    <a:p>
                      <a:pPr algn="l"/>
                      <a:r>
                        <a:rPr lang="zh-CN" altLang="en-US" sz="1400" b="1" dirty="0">
                          <a:solidFill>
                            <a:srgbClr val="0033CC"/>
                          </a:solidFill>
                          <a:latin typeface="+mj-ea"/>
                          <a:ea typeface="+mj-ea"/>
                        </a:rPr>
                        <a:t>破坏文件系统</a:t>
                      </a:r>
                    </a:p>
                  </a:txBody>
                  <a:tcPr marL="91437" marR="91437" marT="45723" marB="45723"/>
                </a:tc>
                <a:tc>
                  <a:txBody>
                    <a:bodyPr/>
                    <a:lstStyle/>
                    <a:p>
                      <a:pPr algn="l"/>
                      <a:r>
                        <a:rPr lang="zh-CN" altLang="en-US" sz="1400" b="1" dirty="0">
                          <a:solidFill>
                            <a:srgbClr val="0033CC"/>
                          </a:solidFill>
                          <a:latin typeface="+mj-ea"/>
                          <a:ea typeface="+mj-ea"/>
                        </a:rPr>
                        <a:t>影响网络性能，系统性能</a:t>
                      </a:r>
                    </a:p>
                  </a:txBody>
                  <a:tcPr marL="91437" marR="91437" marT="45723" marB="45723"/>
                </a:tc>
                <a:tc>
                  <a:txBody>
                    <a:bodyPr/>
                    <a:lstStyle/>
                    <a:p>
                      <a:pPr algn="l"/>
                      <a:r>
                        <a:rPr lang="zh-CN" altLang="en-US" sz="1400" b="1" dirty="0">
                          <a:solidFill>
                            <a:srgbClr val="0033CC"/>
                          </a:solidFill>
                          <a:latin typeface="+mj-ea"/>
                          <a:ea typeface="+mj-ea"/>
                        </a:rPr>
                        <a:t>窃取计算机内关键和秘密数据</a:t>
                      </a:r>
                    </a:p>
                  </a:txBody>
                  <a:tcPr marL="91437" marR="91437" marT="45723" marB="45723"/>
                </a:tc>
                <a:extLst>
                  <a:ext uri="{0D108BD9-81ED-4DB2-BD59-A6C34878D82A}">
                    <a16:rowId xmlns:a16="http://schemas.microsoft.com/office/drawing/2014/main" val="10006"/>
                  </a:ext>
                </a:extLst>
              </a:tr>
              <a:tr h="518198">
                <a:tc>
                  <a:txBody>
                    <a:bodyPr/>
                    <a:lstStyle/>
                    <a:p>
                      <a:pPr algn="l"/>
                      <a:r>
                        <a:rPr lang="zh-CN" altLang="en-US" sz="1400" b="1" u="sng" dirty="0">
                          <a:solidFill>
                            <a:srgbClr val="0033CC"/>
                          </a:solidFill>
                          <a:effectLst>
                            <a:outerShdw blurRad="38100" dist="38100" dir="2700000" algn="tl">
                              <a:srgbClr val="000000">
                                <a:alpha val="43137"/>
                              </a:srgbClr>
                            </a:outerShdw>
                          </a:effectLst>
                          <a:latin typeface="+mj-ea"/>
                          <a:ea typeface="+mj-ea"/>
                        </a:rPr>
                        <a:t>计算机使用者角色</a:t>
                      </a:r>
                    </a:p>
                  </a:txBody>
                  <a:tcPr marL="91437" marR="91437" marT="45723" marB="45723"/>
                </a:tc>
                <a:tc>
                  <a:txBody>
                    <a:bodyPr/>
                    <a:lstStyle/>
                    <a:p>
                      <a:pPr algn="l"/>
                      <a:r>
                        <a:rPr lang="zh-CN" altLang="en-US" sz="1400" b="1" dirty="0">
                          <a:solidFill>
                            <a:srgbClr val="0033CC"/>
                          </a:solidFill>
                          <a:latin typeface="+mj-ea"/>
                          <a:ea typeface="+mj-ea"/>
                        </a:rPr>
                        <a:t>触发病毒复制传播的关键环节</a:t>
                      </a:r>
                    </a:p>
                  </a:txBody>
                  <a:tcPr marL="91437" marR="91437" marT="45723" marB="45723"/>
                </a:tc>
                <a:tc>
                  <a:txBody>
                    <a:bodyPr/>
                    <a:lstStyle/>
                    <a:p>
                      <a:pPr algn="l"/>
                      <a:r>
                        <a:rPr lang="zh-CN" altLang="en-US" sz="1400" b="1" dirty="0">
                          <a:solidFill>
                            <a:srgbClr val="0033CC"/>
                          </a:solidFill>
                          <a:latin typeface="+mj-ea"/>
                          <a:ea typeface="+mj-ea"/>
                        </a:rPr>
                        <a:t>无关</a:t>
                      </a:r>
                    </a:p>
                  </a:txBody>
                  <a:tcPr marL="91437" marR="91437" marT="45723" marB="45723"/>
                </a:tc>
                <a:tc>
                  <a:txBody>
                    <a:bodyPr/>
                    <a:lstStyle/>
                    <a:p>
                      <a:pPr algn="l"/>
                      <a:r>
                        <a:rPr lang="zh-CN" altLang="en-US" sz="1400" b="1" dirty="0">
                          <a:solidFill>
                            <a:srgbClr val="0033CC"/>
                          </a:solidFill>
                          <a:latin typeface="+mj-ea"/>
                          <a:ea typeface="+mj-ea"/>
                        </a:rPr>
                        <a:t>触发计算机感染木马的关键环节</a:t>
                      </a:r>
                    </a:p>
                  </a:txBody>
                  <a:tcPr marL="91437" marR="91437" marT="45723" marB="45723"/>
                </a:tc>
                <a:extLst>
                  <a:ext uri="{0D108BD9-81ED-4DB2-BD59-A6C34878D82A}">
                    <a16:rowId xmlns:a16="http://schemas.microsoft.com/office/drawing/2014/main" val="10007"/>
                  </a:ext>
                </a:extLst>
              </a:tr>
              <a:tr h="370867">
                <a:tc>
                  <a:txBody>
                    <a:bodyPr/>
                    <a:lstStyle/>
                    <a:p>
                      <a:pPr algn="l"/>
                      <a:r>
                        <a:rPr lang="zh-CN" altLang="en-US" sz="1400" b="1" u="sng" dirty="0">
                          <a:solidFill>
                            <a:srgbClr val="0033CC"/>
                          </a:solidFill>
                          <a:effectLst>
                            <a:outerShdw blurRad="38100" dist="38100" dir="2700000" algn="tl">
                              <a:srgbClr val="000000">
                                <a:alpha val="43137"/>
                              </a:srgbClr>
                            </a:outerShdw>
                          </a:effectLst>
                          <a:latin typeface="+mj-ea"/>
                          <a:ea typeface="+mj-ea"/>
                        </a:rPr>
                        <a:t>防止措施</a:t>
                      </a:r>
                    </a:p>
                  </a:txBody>
                  <a:tcPr marL="91437" marR="91437" marT="45723" marB="45723"/>
                </a:tc>
                <a:tc>
                  <a:txBody>
                    <a:bodyPr/>
                    <a:lstStyle/>
                    <a:p>
                      <a:pPr algn="l"/>
                      <a:r>
                        <a:rPr lang="zh-CN" altLang="en-US" sz="1400" b="1" dirty="0">
                          <a:solidFill>
                            <a:srgbClr val="0033CC"/>
                          </a:solidFill>
                          <a:latin typeface="+mj-ea"/>
                          <a:ea typeface="+mj-ea"/>
                        </a:rPr>
                        <a:t>从宿主程序中摘除病毒</a:t>
                      </a:r>
                    </a:p>
                  </a:txBody>
                  <a:tcPr marL="91437" marR="91437" marT="45723" marB="45723"/>
                </a:tc>
                <a:tc>
                  <a:txBody>
                    <a:bodyPr/>
                    <a:lstStyle/>
                    <a:p>
                      <a:pPr algn="l"/>
                      <a:r>
                        <a:rPr lang="zh-CN" altLang="en-US" sz="1400" b="1" dirty="0">
                          <a:solidFill>
                            <a:srgbClr val="0033CC"/>
                          </a:solidFill>
                          <a:latin typeface="+mj-ea"/>
                          <a:ea typeface="+mj-ea"/>
                        </a:rPr>
                        <a:t>为系统漏洞打补丁</a:t>
                      </a:r>
                    </a:p>
                  </a:txBody>
                  <a:tcPr marL="91437" marR="91437" marT="45723" marB="45723"/>
                </a:tc>
                <a:tc>
                  <a:txBody>
                    <a:bodyPr/>
                    <a:lstStyle/>
                    <a:p>
                      <a:pPr algn="l"/>
                      <a:r>
                        <a:rPr lang="zh-CN" altLang="en-US" sz="1400" b="1" dirty="0">
                          <a:solidFill>
                            <a:srgbClr val="0033CC"/>
                          </a:solidFill>
                          <a:latin typeface="+mj-ea"/>
                          <a:ea typeface="+mj-ea"/>
                        </a:rPr>
                        <a:t>使用经过认证的网络、</a:t>
                      </a:r>
                      <a:r>
                        <a:rPr lang="en-US" altLang="zh-CN" sz="1400" b="1" dirty="0">
                          <a:solidFill>
                            <a:srgbClr val="0033CC"/>
                          </a:solidFill>
                          <a:latin typeface="+mj-ea"/>
                          <a:ea typeface="+mj-ea"/>
                        </a:rPr>
                        <a:t>U</a:t>
                      </a:r>
                      <a:r>
                        <a:rPr lang="zh-CN" altLang="en-US" sz="1400" b="1" dirty="0">
                          <a:solidFill>
                            <a:srgbClr val="0033CC"/>
                          </a:solidFill>
                          <a:latin typeface="+mj-ea"/>
                          <a:ea typeface="+mj-ea"/>
                        </a:rPr>
                        <a:t>盘等</a:t>
                      </a:r>
                    </a:p>
                  </a:txBody>
                  <a:tcPr marL="91437" marR="91437" marT="45723" marB="45723"/>
                </a:tc>
                <a:extLst>
                  <a:ext uri="{0D108BD9-81ED-4DB2-BD59-A6C34878D82A}">
                    <a16:rowId xmlns:a16="http://schemas.microsoft.com/office/drawing/2014/main" val="10008"/>
                  </a:ext>
                </a:extLst>
              </a:tr>
              <a:tr h="370867">
                <a:tc>
                  <a:txBody>
                    <a:bodyPr/>
                    <a:lstStyle/>
                    <a:p>
                      <a:pPr algn="l"/>
                      <a:r>
                        <a:rPr lang="zh-CN" altLang="en-US" sz="1400" b="1" u="sng" dirty="0">
                          <a:solidFill>
                            <a:srgbClr val="0033CC"/>
                          </a:solidFill>
                          <a:effectLst>
                            <a:outerShdw blurRad="38100" dist="38100" dir="2700000" algn="tl">
                              <a:srgbClr val="000000">
                                <a:alpha val="43137"/>
                              </a:srgbClr>
                            </a:outerShdw>
                          </a:effectLst>
                          <a:latin typeface="+mj-ea"/>
                          <a:ea typeface="+mj-ea"/>
                        </a:rPr>
                        <a:t>对抗主体</a:t>
                      </a:r>
                    </a:p>
                  </a:txBody>
                  <a:tcPr marL="91437" marR="91437" marT="45723" marB="45723"/>
                </a:tc>
                <a:tc>
                  <a:txBody>
                    <a:bodyPr/>
                    <a:lstStyle/>
                    <a:p>
                      <a:pPr algn="l"/>
                      <a:r>
                        <a:rPr lang="zh-CN" altLang="en-US" sz="1400" b="1" dirty="0">
                          <a:solidFill>
                            <a:srgbClr val="0033CC"/>
                          </a:solidFill>
                          <a:latin typeface="+mj-ea"/>
                          <a:ea typeface="+mj-ea"/>
                        </a:rPr>
                        <a:t>计算机使用者、反病毒厂商</a:t>
                      </a:r>
                    </a:p>
                  </a:txBody>
                  <a:tcPr marL="91437" marR="91437" marT="45723" marB="45723"/>
                </a:tc>
                <a:tc>
                  <a:txBody>
                    <a:bodyPr/>
                    <a:lstStyle/>
                    <a:p>
                      <a:pPr algn="l"/>
                      <a:r>
                        <a:rPr lang="zh-CN" altLang="en-US" sz="1400" b="1" dirty="0">
                          <a:solidFill>
                            <a:srgbClr val="0033CC"/>
                          </a:solidFill>
                          <a:latin typeface="+mj-ea"/>
                          <a:ea typeface="+mj-ea"/>
                        </a:rPr>
                        <a:t>系统提供商，网络管理员</a:t>
                      </a:r>
                    </a:p>
                  </a:txBody>
                  <a:tcPr marL="91437" marR="91437" marT="45723" marB="45723"/>
                </a:tc>
                <a:tc>
                  <a:txBody>
                    <a:bodyPr/>
                    <a:lstStyle/>
                    <a:p>
                      <a:pPr algn="l"/>
                      <a:r>
                        <a:rPr lang="zh-CN" altLang="en-US" sz="1400" b="1" dirty="0">
                          <a:solidFill>
                            <a:srgbClr val="0033CC"/>
                          </a:solidFill>
                          <a:latin typeface="+mj-ea"/>
                          <a:ea typeface="+mj-ea"/>
                        </a:rPr>
                        <a:t>计算机使用者</a:t>
                      </a:r>
                    </a:p>
                  </a:txBody>
                  <a:tcPr marL="91437" marR="91437" marT="45723" marB="45723"/>
                </a:tc>
                <a:extLst>
                  <a:ext uri="{0D108BD9-81ED-4DB2-BD59-A6C34878D82A}">
                    <a16:rowId xmlns:a16="http://schemas.microsoft.com/office/drawing/2014/main" val="10009"/>
                  </a:ext>
                </a:extLst>
              </a:tr>
            </a:tbl>
          </a:graphicData>
        </a:graphic>
      </p:graphicFrame>
    </p:spTree>
  </p:cSld>
  <p:clrMapOvr>
    <a:masterClrMapping/>
  </p:clrMapOvr>
  <p:transition spd="med">
    <p:randomBar dir="vert"/>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0169" y="500048"/>
            <a:ext cx="5614987" cy="857250"/>
          </a:xfrm>
        </p:spPr>
        <p:txBody>
          <a:bodyPr/>
          <a:lstStyle/>
          <a:p>
            <a:pPr>
              <a:defRPr/>
            </a:pPr>
            <a:r>
              <a:rPr altLang="en-US" sz="2800" dirty="0"/>
              <a:t>内容提纲</a:t>
            </a:r>
          </a:p>
        </p:txBody>
      </p:sp>
      <p:sp>
        <p:nvSpPr>
          <p:cNvPr id="94211" name="五边形 3"/>
          <p:cNvSpPr>
            <a:spLocks noChangeArrowheads="1"/>
          </p:cNvSpPr>
          <p:nvPr/>
        </p:nvSpPr>
        <p:spPr bwMode="auto">
          <a:xfrm rot="10800000">
            <a:off x="2286000" y="3929063"/>
            <a:ext cx="4071938" cy="428625"/>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4212" name="椭圆 4"/>
          <p:cNvSpPr>
            <a:spLocks noChangeArrowheads="1"/>
          </p:cNvSpPr>
          <p:nvPr/>
        </p:nvSpPr>
        <p:spPr bwMode="auto">
          <a:xfrm>
            <a:off x="2071688" y="3929063"/>
            <a:ext cx="428625" cy="428625"/>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4213" name="TextBox 6"/>
          <p:cNvSpPr txBox="1">
            <a:spLocks noChangeArrowheads="1"/>
          </p:cNvSpPr>
          <p:nvPr/>
        </p:nvSpPr>
        <p:spPr bwMode="auto">
          <a:xfrm>
            <a:off x="3214688" y="3929063"/>
            <a:ext cx="2152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solidFill>
                  <a:srgbClr val="FF0000"/>
                </a:solidFill>
                <a:latin typeface="黑体" panose="02010609060101010101" pitchFamily="49" charset="-122"/>
                <a:ea typeface="黑体" panose="02010609060101010101" pitchFamily="49" charset="-122"/>
              </a:rPr>
              <a:t>本章小结</a:t>
            </a:r>
          </a:p>
        </p:txBody>
      </p:sp>
      <p:grpSp>
        <p:nvGrpSpPr>
          <p:cNvPr id="94214" name="组合 8"/>
          <p:cNvGrpSpPr/>
          <p:nvPr/>
        </p:nvGrpSpPr>
        <p:grpSpPr bwMode="auto">
          <a:xfrm>
            <a:off x="2071688" y="2143125"/>
            <a:ext cx="4286250" cy="428625"/>
            <a:chOff x="571472" y="1142990"/>
            <a:chExt cx="4286280" cy="428628"/>
          </a:xfrm>
        </p:grpSpPr>
        <p:sp>
          <p:nvSpPr>
            <p:cNvPr id="94227" name="五边形 9"/>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4228" name="椭圆 10"/>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4229" name="TextBox 11"/>
            <p:cNvSpPr txBox="1">
              <a:spLocks noChangeArrowheads="1"/>
            </p:cNvSpPr>
            <p:nvPr/>
          </p:nvSpPr>
          <p:spPr bwMode="auto">
            <a:xfrm>
              <a:off x="1714480" y="1142990"/>
              <a:ext cx="2152664"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黑体" panose="02010609060101010101" pitchFamily="49" charset="-122"/>
                  <a:ea typeface="黑体" panose="02010609060101010101" pitchFamily="49" charset="-122"/>
                </a:rPr>
                <a:t>软件体系安全分析</a:t>
              </a:r>
            </a:p>
          </p:txBody>
        </p:sp>
      </p:grpSp>
      <p:grpSp>
        <p:nvGrpSpPr>
          <p:cNvPr id="94215" name="组合 12"/>
          <p:cNvGrpSpPr/>
          <p:nvPr/>
        </p:nvGrpSpPr>
        <p:grpSpPr bwMode="auto">
          <a:xfrm>
            <a:off x="2071688" y="2786063"/>
            <a:ext cx="4286250" cy="428625"/>
            <a:chOff x="571472" y="1142990"/>
            <a:chExt cx="4286280" cy="428628"/>
          </a:xfrm>
        </p:grpSpPr>
        <p:sp>
          <p:nvSpPr>
            <p:cNvPr id="94224" name="五边形 13"/>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4225" name="椭圆 14"/>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4226" name="TextBox 15"/>
            <p:cNvSpPr txBox="1">
              <a:spLocks noChangeArrowheads="1"/>
            </p:cNvSpPr>
            <p:nvPr/>
          </p:nvSpPr>
          <p:spPr bwMode="auto">
            <a:xfrm>
              <a:off x="1500154" y="1142991"/>
              <a:ext cx="2714653"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黑体" panose="02010609060101010101" pitchFamily="49" charset="-122"/>
                  <a:ea typeface="黑体" panose="02010609060101010101" pitchFamily="49" charset="-122"/>
                </a:rPr>
                <a:t>安全软件开发生命周期</a:t>
              </a:r>
            </a:p>
          </p:txBody>
        </p:sp>
      </p:grpSp>
      <p:grpSp>
        <p:nvGrpSpPr>
          <p:cNvPr id="94216" name="组合 16"/>
          <p:cNvGrpSpPr/>
          <p:nvPr/>
        </p:nvGrpSpPr>
        <p:grpSpPr bwMode="auto">
          <a:xfrm>
            <a:off x="2071688" y="1571625"/>
            <a:ext cx="4286250" cy="428625"/>
            <a:chOff x="571472" y="1142990"/>
            <a:chExt cx="4286280" cy="428628"/>
          </a:xfrm>
        </p:grpSpPr>
        <p:sp>
          <p:nvSpPr>
            <p:cNvPr id="94221" name="五边形 17"/>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4222" name="椭圆 18"/>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4223" name="TextBox 19"/>
            <p:cNvSpPr txBox="1">
              <a:spLocks noChangeArrowheads="1"/>
            </p:cNvSpPr>
            <p:nvPr/>
          </p:nvSpPr>
          <p:spPr bwMode="auto">
            <a:xfrm>
              <a:off x="1714470" y="1142995"/>
              <a:ext cx="2152664"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黑体" panose="02010609060101010101" pitchFamily="49" charset="-122"/>
                  <a:ea typeface="黑体" panose="02010609060101010101" pitchFamily="49" charset="-122"/>
                </a:rPr>
                <a:t>软件安全概述</a:t>
              </a:r>
            </a:p>
          </p:txBody>
        </p:sp>
      </p:grpSp>
      <p:grpSp>
        <p:nvGrpSpPr>
          <p:cNvPr id="94217" name="组合 20"/>
          <p:cNvGrpSpPr/>
          <p:nvPr/>
        </p:nvGrpSpPr>
        <p:grpSpPr bwMode="auto">
          <a:xfrm>
            <a:off x="2071688" y="3357563"/>
            <a:ext cx="4286250" cy="428625"/>
            <a:chOff x="571472" y="1142990"/>
            <a:chExt cx="4286280" cy="428628"/>
          </a:xfrm>
        </p:grpSpPr>
        <p:sp>
          <p:nvSpPr>
            <p:cNvPr id="94218" name="五边形 21"/>
            <p:cNvSpPr>
              <a:spLocks noChangeArrowheads="1"/>
            </p:cNvSpPr>
            <p:nvPr/>
          </p:nvSpPr>
          <p:spPr bwMode="auto">
            <a:xfrm rot="10800000">
              <a:off x="785786" y="1142990"/>
              <a:ext cx="4071966" cy="428628"/>
            </a:xfrm>
            <a:prstGeom prst="homePlate">
              <a:avLst>
                <a:gd name="adj" fmla="val 50007"/>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4219" name="椭圆 22"/>
            <p:cNvSpPr>
              <a:spLocks noChangeArrowheads="1"/>
            </p:cNvSpPr>
            <p:nvPr/>
          </p:nvSpPr>
          <p:spPr bwMode="auto">
            <a:xfrm>
              <a:off x="571472" y="1142990"/>
              <a:ext cx="428628" cy="428628"/>
            </a:xfrm>
            <a:prstGeom prst="ellipse">
              <a:avLst/>
            </a:prstGeom>
            <a:solidFill>
              <a:schemeClr val="bg1"/>
            </a:solidFill>
            <a:ln w="28575" algn="ctr">
              <a:solidFill>
                <a:schemeClr val="tx1"/>
              </a:solidFill>
              <a:round/>
            </a:ln>
          </p:spPr>
          <p:txBody>
            <a:bodyPr wrap="none" anchor="ct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endParaRPr lang="zh-CN" altLang="en-US" b="1"/>
            </a:p>
          </p:txBody>
        </p:sp>
        <p:sp>
          <p:nvSpPr>
            <p:cNvPr id="94220" name="TextBox 23"/>
            <p:cNvSpPr txBox="1">
              <a:spLocks noChangeArrowheads="1"/>
            </p:cNvSpPr>
            <p:nvPr/>
          </p:nvSpPr>
          <p:spPr bwMode="auto">
            <a:xfrm>
              <a:off x="1714480" y="1142990"/>
              <a:ext cx="2152664"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algn="ctr"/>
              <a:r>
                <a:rPr lang="zh-CN" altLang="en-US" sz="1800" b="1">
                  <a:latin typeface="黑体" panose="02010609060101010101" pitchFamily="49" charset="-122"/>
                  <a:ea typeface="黑体" panose="02010609060101010101" pitchFamily="49" charset="-122"/>
                </a:rPr>
                <a:t>恶意代码分析</a:t>
              </a:r>
            </a:p>
          </p:txBody>
        </p:sp>
      </p:grpSp>
    </p:spTree>
  </p:cSld>
  <p:clrMapOvr>
    <a:masterClrMapping/>
  </p:clrMapOvr>
  <p:transition spd="med">
    <p:randomBar dir="vert"/>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内容占位符 5"/>
          <p:cNvSpPr>
            <a:spLocks noGrp="1"/>
          </p:cNvSpPr>
          <p:nvPr>
            <p:ph idx="1"/>
          </p:nvPr>
        </p:nvSpPr>
        <p:spPr>
          <a:xfrm>
            <a:off x="-26938" y="843558"/>
            <a:ext cx="9144000" cy="3308350"/>
          </a:xfrm>
        </p:spPr>
        <p:txBody>
          <a:bodyPr/>
          <a:lstStyle/>
          <a:p>
            <a:pPr>
              <a:buFont typeface="Wingdings" panose="05000000000000000000" pitchFamily="2" charset="2"/>
              <a:buChar char="Ø"/>
              <a:defRPr/>
            </a:pPr>
            <a:r>
              <a:rPr lang="zh-CN" altLang="zh-CN" b="1" dirty="0"/>
              <a:t>本章介绍了当前软件安全严峻的现状，包括恶意软件、漏洞、威胁等的统计数据。</a:t>
            </a:r>
            <a:r>
              <a:rPr lang="zh-CN" altLang="zh-CN" b="1" dirty="0">
                <a:solidFill>
                  <a:srgbClr val="FF0000"/>
                </a:solidFill>
              </a:rPr>
              <a:t>明确软件安全的概念和研究的内容</a:t>
            </a:r>
            <a:r>
              <a:rPr lang="zh-CN" altLang="zh-CN" b="1" dirty="0"/>
              <a:t>。并从多个方面如软件工程、软件保证、软件质量、软件可靠性等介绍了与软件安全相关的领域。</a:t>
            </a:r>
            <a:endParaRPr lang="en-US" altLang="zh-CN" b="1" dirty="0"/>
          </a:p>
          <a:p>
            <a:pPr>
              <a:buFont typeface="Wingdings" panose="05000000000000000000" pitchFamily="2" charset="2"/>
              <a:buChar char="Ø"/>
              <a:defRPr/>
            </a:pPr>
            <a:r>
              <a:rPr lang="zh-CN" altLang="zh-CN" b="1" dirty="0"/>
              <a:t>接下来，从软件安全体系结构分析的角度出发，介绍了风险分析在软件安全分析中的作用。其实，</a:t>
            </a:r>
            <a:r>
              <a:rPr lang="zh-CN" altLang="zh-CN" b="1" dirty="0">
                <a:solidFill>
                  <a:srgbClr val="0033CC"/>
                </a:solidFill>
              </a:rPr>
              <a:t>风险分析</a:t>
            </a:r>
            <a:r>
              <a:rPr lang="zh-CN" altLang="zh-CN" b="1" dirty="0"/>
              <a:t>可以运用到</a:t>
            </a:r>
            <a:r>
              <a:rPr lang="zh-CN" altLang="zh-CN" b="1" dirty="0">
                <a:solidFill>
                  <a:srgbClr val="0033CC"/>
                </a:solidFill>
              </a:rPr>
              <a:t>软件开发生命周期的多个阶段</a:t>
            </a:r>
            <a:r>
              <a:rPr lang="zh-CN" altLang="zh-CN" b="1" dirty="0"/>
              <a:t>，因此以其作为背景，又引入了</a:t>
            </a:r>
            <a:r>
              <a:rPr lang="zh-CN" altLang="zh-CN" b="1" dirty="0">
                <a:solidFill>
                  <a:srgbClr val="0033CC"/>
                </a:solidFill>
              </a:rPr>
              <a:t>安全软件开发生命周期</a:t>
            </a:r>
            <a:r>
              <a:rPr lang="zh-CN" altLang="zh-CN" b="1" dirty="0"/>
              <a:t>。</a:t>
            </a:r>
            <a:endParaRPr lang="en-US" altLang="zh-CN" b="1" dirty="0"/>
          </a:p>
          <a:p>
            <a:pPr>
              <a:buFont typeface="Wingdings" panose="05000000000000000000" pitchFamily="2" charset="2"/>
              <a:buChar char="Ø"/>
              <a:defRPr/>
            </a:pPr>
            <a:r>
              <a:rPr lang="zh-CN" altLang="zh-CN" b="1" dirty="0"/>
              <a:t>最后，</a:t>
            </a:r>
            <a:r>
              <a:rPr lang="zh-CN" altLang="zh-CN" b="1" dirty="0">
                <a:solidFill>
                  <a:srgbClr val="FF0000"/>
                </a:solidFill>
              </a:rPr>
              <a:t>介绍了恶意代码的相关知识</a:t>
            </a:r>
            <a:r>
              <a:rPr lang="zh-CN" altLang="zh-CN" b="1" dirty="0"/>
              <a:t>，</a:t>
            </a:r>
            <a:r>
              <a:rPr lang="zh-CN" altLang="zh-CN" b="1" u="sng" dirty="0">
                <a:solidFill>
                  <a:srgbClr val="FF0000"/>
                </a:solidFill>
                <a:effectLst>
                  <a:outerShdw blurRad="38100" dist="38100" dir="2700000" algn="tl">
                    <a:srgbClr val="000000">
                      <a:alpha val="43137"/>
                    </a:srgbClr>
                  </a:outerShdw>
                </a:effectLst>
              </a:rPr>
              <a:t>包括</a:t>
            </a:r>
            <a:r>
              <a:rPr lang="zh-CN" altLang="zh-CN" b="1" dirty="0">
                <a:solidFill>
                  <a:srgbClr val="0033CC"/>
                </a:solidFill>
              </a:rPr>
              <a:t>恶意软件的分类和区别</a:t>
            </a:r>
            <a:r>
              <a:rPr lang="zh-CN" altLang="zh-CN" b="1" dirty="0"/>
              <a:t>、</a:t>
            </a:r>
            <a:r>
              <a:rPr lang="zh-CN" altLang="zh-CN" b="1" dirty="0">
                <a:solidFill>
                  <a:srgbClr val="0033CC"/>
                </a:solidFill>
              </a:rPr>
              <a:t>病毒的分析和检测</a:t>
            </a:r>
            <a:r>
              <a:rPr lang="zh-CN" altLang="zh-CN" b="1" dirty="0"/>
              <a:t>、</a:t>
            </a:r>
            <a:r>
              <a:rPr lang="zh-CN" altLang="zh-CN" b="1" dirty="0">
                <a:solidFill>
                  <a:srgbClr val="0033CC"/>
                </a:solidFill>
              </a:rPr>
              <a:t>蠕虫的机理和防治</a:t>
            </a:r>
            <a:r>
              <a:rPr lang="zh-CN" altLang="zh-CN" b="1" dirty="0"/>
              <a:t>、</a:t>
            </a:r>
            <a:r>
              <a:rPr lang="zh-CN" altLang="zh-CN" b="1" dirty="0">
                <a:solidFill>
                  <a:srgbClr val="0033CC"/>
                </a:solidFill>
              </a:rPr>
              <a:t>木马的机理和防治</a:t>
            </a:r>
            <a:r>
              <a:rPr lang="zh-CN" altLang="zh-CN" b="1" dirty="0"/>
              <a:t>，并概括了恶意代码分析的方法。</a:t>
            </a:r>
            <a:endParaRPr lang="en-US" altLang="zh-CN" b="1" dirty="0"/>
          </a:p>
          <a:p>
            <a:pPr>
              <a:buFont typeface="Arial" panose="020B0604020202020204" pitchFamily="34" charset="0"/>
              <a:buChar char="•"/>
              <a:defRPr/>
            </a:pPr>
            <a:endParaRPr lang="en-US" altLang="zh-CN" b="1" dirty="0"/>
          </a:p>
          <a:p>
            <a:pPr>
              <a:defRPr/>
            </a:pPr>
            <a:r>
              <a:rPr lang="zh-CN" altLang="en-US" b="1" dirty="0"/>
              <a:t>更多研究热点：</a:t>
            </a:r>
            <a:r>
              <a:rPr lang="zh-CN" altLang="en-US" b="1" dirty="0">
                <a:solidFill>
                  <a:srgbClr val="FF0000"/>
                </a:solidFill>
              </a:rPr>
              <a:t>勒索软件</a:t>
            </a:r>
            <a:r>
              <a:rPr lang="zh-CN" altLang="en-US" b="1" dirty="0"/>
              <a:t>、</a:t>
            </a:r>
            <a:r>
              <a:rPr lang="zh-CN" altLang="en-US" b="1" dirty="0">
                <a:solidFill>
                  <a:srgbClr val="FF0000"/>
                </a:solidFill>
              </a:rPr>
              <a:t>高级持续性威胁（</a:t>
            </a:r>
            <a:r>
              <a:rPr lang="en-US" altLang="zh-CN" b="1" dirty="0">
                <a:solidFill>
                  <a:srgbClr val="FF0000"/>
                </a:solidFill>
              </a:rPr>
              <a:t>Advanced Persistent Threat</a:t>
            </a:r>
            <a:r>
              <a:rPr lang="zh-CN" altLang="en-US" b="1" dirty="0">
                <a:solidFill>
                  <a:srgbClr val="FF0000"/>
                </a:solidFill>
              </a:rPr>
              <a:t>，</a:t>
            </a:r>
            <a:r>
              <a:rPr lang="en-US" altLang="zh-CN" b="1">
                <a:solidFill>
                  <a:srgbClr val="FF0000"/>
                </a:solidFill>
              </a:rPr>
              <a:t>APT</a:t>
            </a:r>
            <a:r>
              <a:rPr lang="zh-CN" altLang="en-US" b="1">
                <a:solidFill>
                  <a:srgbClr val="FF0000"/>
                </a:solidFill>
              </a:rPr>
              <a:t>）</a:t>
            </a:r>
            <a:r>
              <a:rPr lang="zh-CN" altLang="en-US" b="1"/>
              <a:t>等</a:t>
            </a:r>
            <a:endParaRPr lang="zh-CN" altLang="zh-CN" b="1" dirty="0"/>
          </a:p>
          <a:p>
            <a:pPr>
              <a:defRPr/>
            </a:pPr>
            <a:endParaRPr lang="zh-CN" altLang="zh-CN" sz="1200" b="1" dirty="0"/>
          </a:p>
          <a:p>
            <a:pPr>
              <a:defRPr/>
            </a:pPr>
            <a:endParaRPr lang="zh-CN" altLang="zh-CN" sz="1200" b="1" dirty="0"/>
          </a:p>
        </p:txBody>
      </p:sp>
      <p:sp>
        <p:nvSpPr>
          <p:cNvPr id="4" name="标题 1"/>
          <p:cNvSpPr txBox="1"/>
          <p:nvPr/>
        </p:nvSpPr>
        <p:spPr bwMode="auto">
          <a:xfrm>
            <a:off x="7429520" y="142858"/>
            <a:ext cx="1566010" cy="560706"/>
          </a:xfrm>
          <a:prstGeom prst="rect">
            <a:avLst/>
          </a:prstGeom>
          <a:noFill/>
          <a:ln w="9525">
            <a:noFill/>
            <a:miter lim="800000"/>
          </a:ln>
        </p:spPr>
        <p:txBody>
          <a:bodyPr anchor="ctr"/>
          <a:lstStyle/>
          <a:p>
            <a:pPr algn="ctr">
              <a:defRPr/>
            </a:pPr>
            <a:r>
              <a:rPr lang="en-US" altLang="zh-CN" sz="2000" b="1" dirty="0">
                <a:solidFill>
                  <a:srgbClr val="C00000"/>
                </a:solidFill>
                <a:effectLst>
                  <a:reflection blurRad="6350" stA="50000" endA="300" endPos="50000" dist="60007" dir="5400000" sy="-100000" algn="bl" rotWithShape="0"/>
                </a:effectLst>
                <a:latin typeface="+mj-ea"/>
                <a:ea typeface="+mj-ea"/>
                <a:cs typeface="+mj-cs"/>
              </a:rPr>
              <a:t>9.5 </a:t>
            </a:r>
            <a:r>
              <a:rPr lang="zh-CN" altLang="en-US" sz="2000" b="1" dirty="0">
                <a:solidFill>
                  <a:srgbClr val="C00000"/>
                </a:solidFill>
                <a:effectLst>
                  <a:reflection blurRad="6350" stA="50000" endA="300" endPos="50000" dist="60007" dir="5400000" sy="-100000" algn="bl" rotWithShape="0"/>
                </a:effectLst>
                <a:latin typeface="+mj-ea"/>
                <a:ea typeface="+mj-ea"/>
                <a:cs typeface="+mj-cs"/>
              </a:rPr>
              <a:t>小结</a:t>
            </a:r>
          </a:p>
        </p:txBody>
      </p:sp>
    </p:spTree>
  </p:cSld>
  <p:clrMapOvr>
    <a:masterClrMapping/>
  </p:clrMapOvr>
  <p:transition spd="med">
    <p:randomBar dir="vert"/>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Office 主题">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000" b="0" i="0" u="none" strike="noStrike" cap="none" normalizeH="0" baseline="0" smtClean="0">
            <a:ln>
              <a:noFill/>
            </a:ln>
            <a:solidFill>
              <a:schemeClr val="tx1"/>
            </a:solidFill>
            <a:effectLst/>
            <a:latin typeface="Arial" panose="020B0604020202020204" pitchFamily="34" charset="0"/>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000" b="0" i="0" u="none" strike="noStrike" cap="none" normalizeH="0" baseline="0" smtClean="0">
            <a:ln>
              <a:noFill/>
            </a:ln>
            <a:solidFill>
              <a:schemeClr val="tx1"/>
            </a:solidFill>
            <a:effectLst/>
            <a:latin typeface="Arial" panose="020B0604020202020204" pitchFamily="34" charset="0"/>
            <a:ea typeface="微软雅黑" panose="020B0503020204020204" pitchFamily="34" charset="-122"/>
          </a:defRPr>
        </a:defPPr>
      </a:lstStyle>
    </a:lnDef>
  </a:objectDefaults>
  <a:extraClrSchemeLst>
    <a:extraClrScheme>
      <a:clrScheme name="1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11341</Words>
  <Application>Microsoft Office PowerPoint</Application>
  <PresentationFormat>全屏显示(16:9)</PresentationFormat>
  <Paragraphs>1363</Paragraphs>
  <Slides>107</Slides>
  <Notes>50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107</vt:i4>
      </vt:variant>
    </vt:vector>
  </HeadingPairs>
  <TitlesOfParts>
    <vt:vector size="120" baseType="lpstr">
      <vt:lpstr>-apple-system</vt:lpstr>
      <vt:lpstr>PingFang SC</vt:lpstr>
      <vt:lpstr>黑体</vt:lpstr>
      <vt:lpstr>宋体</vt:lpstr>
      <vt:lpstr>微软雅黑</vt:lpstr>
      <vt:lpstr>Arial</vt:lpstr>
      <vt:lpstr>Calibri</vt:lpstr>
      <vt:lpstr>Cambria Math</vt:lpstr>
      <vt:lpstr>Comic Sans MS</vt:lpstr>
      <vt:lpstr>Times New Roman</vt:lpstr>
      <vt:lpstr>Wingdings</vt:lpstr>
      <vt:lpstr>1_Office 主题</vt:lpstr>
      <vt:lpstr>Visio</vt:lpstr>
      <vt:lpstr>信息安全导论  Introduction to Information Security</vt:lpstr>
      <vt:lpstr>PowerPoint 演示文稿</vt:lpstr>
      <vt:lpstr>内容提纲</vt:lpstr>
      <vt:lpstr>软件的重要性</vt:lpstr>
      <vt:lpstr>PowerPoint 演示文稿</vt:lpstr>
      <vt:lpstr>PowerPoint 演示文稿</vt:lpstr>
      <vt:lpstr>内容提纲</vt:lpstr>
      <vt:lpstr>9.2   软件体系安全分析</vt:lpstr>
      <vt:lpstr>9.2 软件体系安全分析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内容提纲</vt:lpstr>
      <vt:lpstr>PowerPoint 演示文稿</vt:lpstr>
      <vt:lpstr>软件危机</vt:lpstr>
      <vt:lpstr>系统工程思想及应用</vt:lpstr>
      <vt:lpstr>信息系统开发的一般规律 </vt:lpstr>
      <vt:lpstr>软件开发的生命周期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内容提纲</vt:lpstr>
      <vt:lpstr>9.4   恶意代码分析</vt:lpstr>
      <vt:lpstr>9.4 恶意代码分析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内容提纲</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P51</dc:creator>
  <cp:lastModifiedBy>Eric Xu</cp:lastModifiedBy>
  <cp:revision>997</cp:revision>
  <cp:lastPrinted>2411-12-30T00:00:00Z</cp:lastPrinted>
  <dcterms:created xsi:type="dcterms:W3CDTF">2009-12-06T10:38:00Z</dcterms:created>
  <dcterms:modified xsi:type="dcterms:W3CDTF">2025-11-13T09:42:05Z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CAFD9E6145624C06B385BE983D1CA254_12</vt:lpwstr>
  </property>
</Properties>
</file>