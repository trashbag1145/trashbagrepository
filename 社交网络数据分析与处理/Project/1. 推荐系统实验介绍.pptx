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1741" r:id="rId3"/>
    <p:sldId id="1729" r:id="rId4"/>
    <p:sldId id="1730" r:id="rId5"/>
    <p:sldId id="1733" r:id="rId6"/>
    <p:sldId id="1735" r:id="rId7"/>
    <p:sldId id="1737" r:id="rId8"/>
    <p:sldId id="1739" r:id="rId9"/>
    <p:sldId id="1736" r:id="rId10"/>
    <p:sldId id="25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90" userDrawn="1">
          <p15:clr>
            <a:srgbClr val="A4A3A4"/>
          </p15:clr>
        </p15:guide>
        <p15:guide id="2" pos="6060" userDrawn="1">
          <p15:clr>
            <a:srgbClr val="A4A3A4"/>
          </p15:clr>
        </p15:guide>
        <p15:guide id="3" pos="796" userDrawn="1">
          <p15:clr>
            <a:srgbClr val="A4A3A4"/>
          </p15:clr>
        </p15:guide>
        <p15:guide id="4" pos="6953" userDrawn="1">
          <p15:clr>
            <a:srgbClr val="A4A3A4"/>
          </p15:clr>
        </p15:guide>
        <p15:guide id="5" orient="horz" pos="554" userDrawn="1">
          <p15:clr>
            <a:srgbClr val="A4A3A4"/>
          </p15:clr>
        </p15:guide>
        <p15:guide id="6" orient="horz" pos="152" userDrawn="1">
          <p15:clr>
            <a:srgbClr val="A4A3A4"/>
          </p15:clr>
        </p15:guide>
        <p15:guide id="7" orient="horz" pos="1110" userDrawn="1">
          <p15:clr>
            <a:srgbClr val="A4A3A4"/>
          </p15:clr>
        </p15:guide>
        <p15:guide id="8" orient="horz" pos="3194" userDrawn="1">
          <p15:clr>
            <a:srgbClr val="A4A3A4"/>
          </p15:clr>
        </p15:guide>
        <p15:guide id="9" pos="2771" userDrawn="1">
          <p15:clr>
            <a:srgbClr val="A4A3A4"/>
          </p15:clr>
        </p15:guide>
        <p15:guide id="10" pos="5099" userDrawn="1">
          <p15:clr>
            <a:srgbClr val="A4A3A4"/>
          </p15:clr>
        </p15:guide>
        <p15:guide id="11" orient="horz" pos="1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77"/>
    <a:srgbClr val="ED7D31"/>
    <a:srgbClr val="006D33"/>
    <a:srgbClr val="D9D9D9"/>
    <a:srgbClr val="F4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-126" y="-168"/>
      </p:cViewPr>
      <p:guideLst>
        <p:guide orient="horz" pos="2390"/>
        <p:guide orient="horz" pos="554"/>
        <p:guide orient="horz" pos="152"/>
        <p:guide orient="horz" pos="1110"/>
        <p:guide orient="horz" pos="3194"/>
        <p:guide orient="horz" pos="1815"/>
        <p:guide pos="6060"/>
        <p:guide pos="796"/>
        <p:guide pos="6953"/>
        <p:guide pos="2771"/>
        <p:guide pos="509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07C9B-F267-4A03-AD17-089EEDB418EC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4DF3B-20F9-4663-ACCD-B16856B4F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72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6230319"/>
            <a:ext cx="12192000" cy="627681"/>
            <a:chOff x="0" y="5888735"/>
            <a:chExt cx="12192000" cy="969265"/>
          </a:xfrm>
        </p:grpSpPr>
        <p:sp>
          <p:nvSpPr>
            <p:cNvPr id="7" name="任意多边形: 形状 6"/>
            <p:cNvSpPr/>
            <p:nvPr/>
          </p:nvSpPr>
          <p:spPr>
            <a:xfrm>
              <a:off x="0" y="5888736"/>
              <a:ext cx="12192000" cy="969264"/>
            </a:xfrm>
            <a:custGeom>
              <a:avLst/>
              <a:gdLst>
                <a:gd name="connsiteX0" fmla="*/ 12192000 w 12192000"/>
                <a:gd name="connsiteY0" fmla="*/ 0 h 834158"/>
                <a:gd name="connsiteX1" fmla="*/ 12192000 w 12192000"/>
                <a:gd name="connsiteY1" fmla="*/ 834158 h 834158"/>
                <a:gd name="connsiteX2" fmla="*/ 0 w 12192000"/>
                <a:gd name="connsiteY2" fmla="*/ 834158 h 834158"/>
                <a:gd name="connsiteX3" fmla="*/ 0 w 12192000"/>
                <a:gd name="connsiteY3" fmla="*/ 421770 h 834158"/>
                <a:gd name="connsiteX4" fmla="*/ 703930 w 12192000"/>
                <a:gd name="connsiteY4" fmla="*/ 493800 h 834158"/>
                <a:gd name="connsiteX5" fmla="*/ 4867275 w 12192000"/>
                <a:gd name="connsiteY5" fmla="*/ 671363 h 834158"/>
                <a:gd name="connsiteX6" fmla="*/ 12109997 w 12192000"/>
                <a:gd name="connsiteY6" fmla="*/ 22736 h 83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34158">
                  <a:moveTo>
                    <a:pt x="12192000" y="0"/>
                  </a:moveTo>
                  <a:lnTo>
                    <a:pt x="12192000" y="834158"/>
                  </a:lnTo>
                  <a:lnTo>
                    <a:pt x="0" y="834158"/>
                  </a:lnTo>
                  <a:lnTo>
                    <a:pt x="0" y="421770"/>
                  </a:lnTo>
                  <a:lnTo>
                    <a:pt x="703930" y="493800"/>
                  </a:lnTo>
                  <a:cubicBezTo>
                    <a:pt x="1941539" y="607040"/>
                    <a:pt x="3359810" y="671363"/>
                    <a:pt x="4867275" y="671363"/>
                  </a:cubicBezTo>
                  <a:cubicBezTo>
                    <a:pt x="7882206" y="671363"/>
                    <a:pt x="10540358" y="414071"/>
                    <a:pt x="12109997" y="22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1" y="5888735"/>
              <a:ext cx="6540284" cy="693261"/>
            </a:xfrm>
            <a:custGeom>
              <a:avLst/>
              <a:gdLst>
                <a:gd name="connsiteX0" fmla="*/ 0 w 5170531"/>
                <a:gd name="connsiteY0" fmla="*/ 0 h 794504"/>
                <a:gd name="connsiteX1" fmla="*/ 509126 w 5170531"/>
                <a:gd name="connsiteY1" fmla="*/ 127114 h 794504"/>
                <a:gd name="connsiteX2" fmla="*/ 4499910 w 5170531"/>
                <a:gd name="connsiteY2" fmla="*/ 720789 h 794504"/>
                <a:gd name="connsiteX3" fmla="*/ 5170531 w 5170531"/>
                <a:gd name="connsiteY3" fmla="*/ 768690 h 794504"/>
                <a:gd name="connsiteX4" fmla="*/ 4943847 w 5170531"/>
                <a:gd name="connsiteY4" fmla="*/ 779391 h 794504"/>
                <a:gd name="connsiteX5" fmla="*/ 3958041 w 5170531"/>
                <a:gd name="connsiteY5" fmla="*/ 794504 h 794504"/>
                <a:gd name="connsiteX6" fmla="*/ 499235 w 5170531"/>
                <a:gd name="connsiteY6" fmla="*/ 576626 h 794504"/>
                <a:gd name="connsiteX7" fmla="*/ 0 w 5170531"/>
                <a:gd name="connsiteY7" fmla="*/ 484608 h 79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70531" h="794504">
                  <a:moveTo>
                    <a:pt x="0" y="0"/>
                  </a:moveTo>
                  <a:lnTo>
                    <a:pt x="509126" y="127114"/>
                  </a:lnTo>
                  <a:cubicBezTo>
                    <a:pt x="1656276" y="394427"/>
                    <a:pt x="3011164" y="598944"/>
                    <a:pt x="4499910" y="720789"/>
                  </a:cubicBezTo>
                  <a:lnTo>
                    <a:pt x="5170531" y="768690"/>
                  </a:lnTo>
                  <a:lnTo>
                    <a:pt x="4943847" y="779391"/>
                  </a:lnTo>
                  <a:cubicBezTo>
                    <a:pt x="4625423" y="789300"/>
                    <a:pt x="4295728" y="794504"/>
                    <a:pt x="3958041" y="794504"/>
                  </a:cubicBezTo>
                  <a:cubicBezTo>
                    <a:pt x="2607293" y="794504"/>
                    <a:pt x="1384420" y="711242"/>
                    <a:pt x="499235" y="576626"/>
                  </a:cubicBezTo>
                  <a:lnTo>
                    <a:pt x="0" y="48460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梯形 9"/>
          <p:cNvSpPr/>
          <p:nvPr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DIN Light"/>
              <a:ea typeface="微软雅黑 Light" panose="020B0502040204020203" charset="-122"/>
            </a:endParaRPr>
          </a:p>
        </p:txBody>
      </p:sp>
      <p:sp>
        <p:nvSpPr>
          <p:cNvPr id="11" name="梯形 10"/>
          <p:cNvSpPr/>
          <p:nvPr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flip="none"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Light"/>
              <a:ea typeface="微软雅黑 Light" panose="020B0502040204020203" charset="-122"/>
              <a:cs typeface="+mn-cs"/>
            </a:endParaRPr>
          </a:p>
        </p:txBody>
      </p:sp>
      <p:pic>
        <p:nvPicPr>
          <p:cNvPr id="12" name="Picture 2" descr="https://timgsa.baidu.com/timg?image&amp;quality=80&amp;size=b9999_10000&amp;sec=1543772355175&amp;di=c79abbaff2a9fe46052298e3846c46fe&amp;imgtype=0&amp;src=http%3A%2F%2Fpic44.photophoto.cn%2F20170707%2F0007019917203103_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"/>
          <a:stretch>
            <a:fillRect/>
          </a:stretch>
        </p:blipFill>
        <p:spPr bwMode="auto">
          <a:xfrm>
            <a:off x="11263773" y="205156"/>
            <a:ext cx="635716" cy="6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灯片编号占位符 5"/>
          <p:cNvSpPr>
            <a:spLocks noGrp="1"/>
          </p:cNvSpPr>
          <p:nvPr userDrawn="1"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8F10FC4-DD5C-4C24-B849-D8A0B2DC98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26" Type="http://schemas.openxmlformats.org/officeDocument/2006/relationships/image" Target="../media/image7.png"/><Relationship Id="rId3" Type="http://schemas.openxmlformats.org/officeDocument/2006/relationships/tags" Target="../tags/tag31.xml"/><Relationship Id="rId21" Type="http://schemas.openxmlformats.org/officeDocument/2006/relationships/tags" Target="../tags/tag49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image" Target="../media/image8.svg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0" Type="http://schemas.openxmlformats.org/officeDocument/2006/relationships/tags" Target="../tags/tag48.xml"/><Relationship Id="rId29" Type="http://schemas.openxmlformats.org/officeDocument/2006/relationships/image" Target="../media/image12.sv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24" Type="http://schemas.openxmlformats.org/officeDocument/2006/relationships/image" Target="../media/image6.png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23" Type="http://schemas.openxmlformats.org/officeDocument/2006/relationships/slideLayout" Target="../slideLayouts/slideLayout6.xml"/><Relationship Id="rId28" Type="http://schemas.openxmlformats.org/officeDocument/2006/relationships/image" Target="../media/image8.png"/><Relationship Id="rId10" Type="http://schemas.openxmlformats.org/officeDocument/2006/relationships/tags" Target="../tags/tag38.xml"/><Relationship Id="rId19" Type="http://schemas.openxmlformats.org/officeDocument/2006/relationships/tags" Target="../tags/tag47.xml"/><Relationship Id="rId31" Type="http://schemas.openxmlformats.org/officeDocument/2006/relationships/image" Target="../media/image14.sv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image" Target="../media/image10.svg"/><Relationship Id="rId30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tags" Target="../tags/tag72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notesSlide" Target="../notesSlides/notesSlide1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1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"/>
          <p:cNvSpPr/>
          <p:nvPr/>
        </p:nvSpPr>
        <p:spPr>
          <a:xfrm>
            <a:off x="388427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6" r="37185"/>
          <a:stretch>
            <a:fillRect/>
          </a:stretch>
        </p:blipFill>
        <p:spPr>
          <a:xfrm>
            <a:off x="0" y="0"/>
            <a:ext cx="4215539" cy="6858000"/>
          </a:xfrm>
          <a:custGeom>
            <a:avLst/>
            <a:gdLst>
              <a:gd name="connsiteX0" fmla="*/ 0 w 4215539"/>
              <a:gd name="connsiteY0" fmla="*/ 0 h 6858000"/>
              <a:gd name="connsiteX1" fmla="*/ 4215539 w 4215539"/>
              <a:gd name="connsiteY1" fmla="*/ 0 h 6858000"/>
              <a:gd name="connsiteX2" fmla="*/ 4215539 w 4215539"/>
              <a:gd name="connsiteY2" fmla="*/ 6858000 h 6858000"/>
              <a:gd name="connsiteX3" fmla="*/ 0 w 42155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539" h="6858000">
                <a:moveTo>
                  <a:pt x="0" y="0"/>
                </a:moveTo>
                <a:lnTo>
                  <a:pt x="4215539" y="0"/>
                </a:lnTo>
                <a:lnTo>
                  <a:pt x="42155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圆角矩形 1"/>
          <p:cNvSpPr/>
          <p:nvPr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/>
              <a:ea typeface="思源黑体 CN Light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0" y="1443841"/>
            <a:ext cx="5205274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  </a:t>
            </a:r>
            <a:r>
              <a:rPr lang="zh-CN" altLang="en-US" sz="2800" kern="0" spc="3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推荐系统</a:t>
            </a: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第二部分    </a:t>
            </a:r>
            <a:r>
              <a:rPr lang="zh-CN" altLang="en-US" sz="2800" kern="0" spc="3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常见方法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第三部分    </a:t>
            </a:r>
            <a:r>
              <a:rPr lang="zh-CN" altLang="en-US" sz="2800" kern="0" spc="3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矩阵分解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第四部分    </a:t>
            </a: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评价指标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第五部分    </a:t>
            </a:r>
            <a:r>
              <a:rPr lang="zh-CN" altLang="en-US" sz="2800" kern="0" spc="3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案例代码</a:t>
            </a:r>
            <a:endParaRPr kumimoji="0" lang="zh-CN" altLang="en-US" sz="2800" b="0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152195" y="2043428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8" name="直接连接符 7"/>
          <p:cNvCxnSpPr/>
          <p:nvPr/>
        </p:nvCxnSpPr>
        <p:spPr>
          <a:xfrm>
            <a:off x="6152195" y="2889457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6152195" y="3793892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10" name="直接连接符 9"/>
          <p:cNvCxnSpPr/>
          <p:nvPr/>
        </p:nvCxnSpPr>
        <p:spPr>
          <a:xfrm>
            <a:off x="6152195" y="4637953"/>
            <a:ext cx="4495409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/>
        </p:nvCxnSpPr>
        <p:spPr>
          <a:xfrm>
            <a:off x="6152195" y="5483949"/>
            <a:ext cx="4631888" cy="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grpSp>
        <p:nvGrpSpPr>
          <p:cNvPr id="108" name="组合 107"/>
          <p:cNvGrpSpPr/>
          <p:nvPr/>
        </p:nvGrpSpPr>
        <p:grpSpPr>
          <a:xfrm>
            <a:off x="1235075" y="2818465"/>
            <a:ext cx="1843088" cy="1221070"/>
            <a:chOff x="1185596" y="2806967"/>
            <a:chExt cx="1843088" cy="1221070"/>
          </a:xfrm>
        </p:grpSpPr>
        <p:sp>
          <p:nvSpPr>
            <p:cNvPr id="105" name="文本框 104"/>
            <p:cNvSpPr txBox="1"/>
            <p:nvPr/>
          </p:nvSpPr>
          <p:spPr>
            <a:xfrm>
              <a:off x="1185596" y="2806967"/>
              <a:ext cx="18430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目录</a:t>
              </a: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1305170" y="3689483"/>
              <a:ext cx="1536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+mn-cs"/>
                </a:rPr>
                <a:t>CONTENTS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flipV="1">
            <a:off x="2890500" y="2149889"/>
            <a:ext cx="844416" cy="6304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97050" y="4244942"/>
            <a:ext cx="569277" cy="4249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038335" y="4065446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2943108" y="2543622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推荐系统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六边形 35"/>
          <p:cNvSpPr/>
          <p:nvPr>
            <p:custDataLst>
              <p:tags r:id="rId1"/>
            </p:custDataLst>
          </p:nvPr>
        </p:nvSpPr>
        <p:spPr>
          <a:xfrm>
            <a:off x="3380624" y="3189590"/>
            <a:ext cx="1796565" cy="1548762"/>
          </a:xfrm>
          <a:prstGeom prst="hex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电子商务平台</a:t>
            </a:r>
          </a:p>
        </p:txBody>
      </p:sp>
      <p:sp>
        <p:nvSpPr>
          <p:cNvPr id="33" name="六边形 32"/>
          <p:cNvSpPr/>
          <p:nvPr>
            <p:custDataLst>
              <p:tags r:id="rId2"/>
            </p:custDataLst>
          </p:nvPr>
        </p:nvSpPr>
        <p:spPr>
          <a:xfrm>
            <a:off x="4829174" y="3991628"/>
            <a:ext cx="1796565" cy="1548762"/>
          </a:xfrm>
          <a:prstGeom prst="hex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在线视频平台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4" name="六边形 33"/>
          <p:cNvSpPr/>
          <p:nvPr>
            <p:custDataLst>
              <p:tags r:id="rId3"/>
            </p:custDataLst>
          </p:nvPr>
        </p:nvSpPr>
        <p:spPr>
          <a:xfrm>
            <a:off x="6280032" y="3189590"/>
            <a:ext cx="1796565" cy="1548762"/>
          </a:xfrm>
          <a:prstGeom prst="hex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音乐流媒体平台</a:t>
            </a:r>
          </a:p>
        </p:txBody>
      </p:sp>
      <p:sp>
        <p:nvSpPr>
          <p:cNvPr id="31" name="六边形 30"/>
          <p:cNvSpPr/>
          <p:nvPr>
            <p:custDataLst>
              <p:tags r:id="rId4"/>
            </p:custDataLst>
          </p:nvPr>
        </p:nvSpPr>
        <p:spPr>
          <a:xfrm>
            <a:off x="7724741" y="3991628"/>
            <a:ext cx="1796565" cy="1548762"/>
          </a:xfrm>
          <a:prstGeom prst="hex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新闻网站</a:t>
            </a:r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 flipH="1">
            <a:off x="1475105" y="1328420"/>
            <a:ext cx="8627745" cy="13633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n/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000" dirty="0">
                <a:ln/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推荐系统是一种信息过滤系统，它的目标是预测用户对物品（如商品、服务、信息等）的评分或偏好，并向用户推荐他们可能感兴趣的物品。推荐系统在各领域都有广泛的应用。以下是一些常见的应用场景：</a:t>
            </a:r>
          </a:p>
        </p:txBody>
      </p:sp>
      <p:sp>
        <p:nvSpPr>
          <p:cNvPr id="4" name="六边形 3"/>
          <p:cNvSpPr/>
          <p:nvPr>
            <p:custDataLst>
              <p:tags r:id="rId6"/>
            </p:custDataLst>
          </p:nvPr>
        </p:nvSpPr>
        <p:spPr>
          <a:xfrm>
            <a:off x="1933541" y="3991628"/>
            <a:ext cx="1796565" cy="1548762"/>
          </a:xfrm>
          <a:prstGeom prst="hexagon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社交媒体平台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常见方法</a:t>
            </a:r>
          </a:p>
        </p:txBody>
      </p:sp>
      <p:sp>
        <p:nvSpPr>
          <p:cNvPr id="21" name="椭圆 20"/>
          <p:cNvSpPr/>
          <p:nvPr>
            <p:custDataLst>
              <p:tags r:id="rId1"/>
            </p:custDataLst>
          </p:nvPr>
        </p:nvSpPr>
        <p:spPr>
          <a:xfrm>
            <a:off x="863145" y="1335675"/>
            <a:ext cx="1466850" cy="14668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22" name="椭圆 21"/>
          <p:cNvSpPr/>
          <p:nvPr>
            <p:custDataLst>
              <p:tags r:id="rId2"/>
            </p:custDataLst>
          </p:nvPr>
        </p:nvSpPr>
        <p:spPr>
          <a:xfrm>
            <a:off x="3112860" y="1335675"/>
            <a:ext cx="1466850" cy="1466850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23" name="椭圆 22"/>
          <p:cNvSpPr/>
          <p:nvPr>
            <p:custDataLst>
              <p:tags r:id="rId3"/>
            </p:custDataLst>
          </p:nvPr>
        </p:nvSpPr>
        <p:spPr>
          <a:xfrm>
            <a:off x="5362575" y="1335675"/>
            <a:ext cx="1466850" cy="14668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24" name="椭圆 23"/>
          <p:cNvSpPr/>
          <p:nvPr>
            <p:custDataLst>
              <p:tags r:id="rId4"/>
            </p:custDataLst>
          </p:nvPr>
        </p:nvSpPr>
        <p:spPr>
          <a:xfrm>
            <a:off x="7612290" y="1335675"/>
            <a:ext cx="1466850" cy="1466850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25" name="椭圆 24"/>
          <p:cNvSpPr/>
          <p:nvPr>
            <p:custDataLst>
              <p:tags r:id="rId5"/>
            </p:custDataLst>
          </p:nvPr>
        </p:nvSpPr>
        <p:spPr>
          <a:xfrm>
            <a:off x="9862005" y="1335675"/>
            <a:ext cx="1466850" cy="14668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0" name="矩形 29"/>
          <p:cNvSpPr/>
          <p:nvPr>
            <p:custDataLst>
              <p:tags r:id="rId6"/>
            </p:custDataLst>
          </p:nvPr>
        </p:nvSpPr>
        <p:spPr>
          <a:xfrm>
            <a:off x="714375" y="3012075"/>
            <a:ext cx="10763250" cy="4953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1" name="箭头: V 形 30"/>
          <p:cNvSpPr/>
          <p:nvPr>
            <p:custDataLst>
              <p:tags r:id="rId7"/>
            </p:custDataLst>
          </p:nvPr>
        </p:nvSpPr>
        <p:spPr>
          <a:xfrm rot="5400000">
            <a:off x="1423968" y="3017291"/>
            <a:ext cx="345204" cy="484868"/>
          </a:xfrm>
          <a:prstGeom prst="chevron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2" name="箭头: V 形 31"/>
          <p:cNvSpPr/>
          <p:nvPr>
            <p:custDataLst>
              <p:tags r:id="rId8"/>
            </p:custDataLst>
          </p:nvPr>
        </p:nvSpPr>
        <p:spPr>
          <a:xfrm rot="5400000">
            <a:off x="3673683" y="3017291"/>
            <a:ext cx="345204" cy="484868"/>
          </a:xfrm>
          <a:prstGeom prst="chevron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3" name="箭头: V 形 32"/>
          <p:cNvSpPr/>
          <p:nvPr>
            <p:custDataLst>
              <p:tags r:id="rId9"/>
            </p:custDataLst>
          </p:nvPr>
        </p:nvSpPr>
        <p:spPr>
          <a:xfrm rot="5400000">
            <a:off x="5923398" y="3017291"/>
            <a:ext cx="345204" cy="484868"/>
          </a:xfrm>
          <a:prstGeom prst="chevron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4" name="箭头: V 形 33"/>
          <p:cNvSpPr/>
          <p:nvPr>
            <p:custDataLst>
              <p:tags r:id="rId10"/>
            </p:custDataLst>
          </p:nvPr>
        </p:nvSpPr>
        <p:spPr>
          <a:xfrm rot="5400000">
            <a:off x="8173113" y="3017291"/>
            <a:ext cx="345204" cy="484868"/>
          </a:xfrm>
          <a:prstGeom prst="chevron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5" name="箭头: V 形 34"/>
          <p:cNvSpPr/>
          <p:nvPr>
            <p:custDataLst>
              <p:tags r:id="rId11"/>
            </p:custDataLst>
          </p:nvPr>
        </p:nvSpPr>
        <p:spPr>
          <a:xfrm rot="5400000">
            <a:off x="10422828" y="3017291"/>
            <a:ext cx="345204" cy="484868"/>
          </a:xfrm>
          <a:prstGeom prst="chevron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/>
              <a:ea typeface="思源黑体 CN Light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12"/>
            </p:custDataLst>
          </p:nvPr>
        </p:nvSpPr>
        <p:spPr>
          <a:xfrm>
            <a:off x="644315" y="1851264"/>
            <a:ext cx="1904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基于内容</a:t>
            </a:r>
          </a:p>
        </p:txBody>
      </p:sp>
      <p:sp>
        <p:nvSpPr>
          <p:cNvPr id="37" name="文本框 36"/>
          <p:cNvSpPr txBox="1"/>
          <p:nvPr>
            <p:custDataLst>
              <p:tags r:id="rId13"/>
            </p:custDataLst>
          </p:nvPr>
        </p:nvSpPr>
        <p:spPr>
          <a:xfrm>
            <a:off x="2921334" y="1856979"/>
            <a:ext cx="1904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协同过滤</a:t>
            </a:r>
          </a:p>
        </p:txBody>
      </p: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5143743" y="1875394"/>
            <a:ext cx="1904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矩阵分解</a:t>
            </a:r>
          </a:p>
        </p:txBody>
      </p:sp>
      <p:sp>
        <p:nvSpPr>
          <p:cNvPr id="39" name="文本框 38"/>
          <p:cNvSpPr txBox="1"/>
          <p:nvPr>
            <p:custDataLst>
              <p:tags r:id="rId15"/>
            </p:custDataLst>
          </p:nvPr>
        </p:nvSpPr>
        <p:spPr>
          <a:xfrm>
            <a:off x="7445530" y="1875394"/>
            <a:ext cx="1904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9643745" y="1875155"/>
            <a:ext cx="1904365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混合推荐</a:t>
            </a:r>
          </a:p>
        </p:txBody>
      </p:sp>
      <p:sp>
        <p:nvSpPr>
          <p:cNvPr id="41" name="文本框 40"/>
          <p:cNvSpPr txBox="1"/>
          <p:nvPr>
            <p:custDataLst>
              <p:tags r:id="rId17"/>
            </p:custDataLst>
          </p:nvPr>
        </p:nvSpPr>
        <p:spPr>
          <a:xfrm>
            <a:off x="571860" y="3632169"/>
            <a:ext cx="2049420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根据物品的特征和用户的历史偏好来推荐相似的物品。例如，根据电影的类型、导演、演员等特征，推荐给用户他们可能喜欢的电影。</a:t>
            </a:r>
          </a:p>
        </p:txBody>
      </p:sp>
      <p:sp>
        <p:nvSpPr>
          <p:cNvPr id="42" name="文本框 41"/>
          <p:cNvSpPr txBox="1"/>
          <p:nvPr>
            <p:custDataLst>
              <p:tags r:id="rId18"/>
            </p:custDataLst>
          </p:nvPr>
        </p:nvSpPr>
        <p:spPr>
          <a:xfrm>
            <a:off x="2812049" y="3632169"/>
            <a:ext cx="2049420" cy="23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根据用户的历史行为来发现用户之间的相似性，然后向用户推荐与他们相似的其他用户喜欢的物品。</a:t>
            </a:r>
          </a:p>
          <a:p>
            <a:pPr indent="0" algn="l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当用户-物品交互矩阵非常稀疏时，难以找到有效的相似用户或物品。</a:t>
            </a:r>
          </a:p>
        </p:txBody>
      </p:sp>
      <p:sp>
        <p:nvSpPr>
          <p:cNvPr id="43" name="文本框 42"/>
          <p:cNvSpPr txBox="1"/>
          <p:nvPr>
            <p:custDataLst>
              <p:tags r:id="rId19"/>
            </p:custDataLst>
          </p:nvPr>
        </p:nvSpPr>
        <p:spPr>
          <a:xfrm>
            <a:off x="5071290" y="3632169"/>
            <a:ext cx="2049420" cy="204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通过将用户-物品交互矩阵分解为两个低维度的矩阵，学习用户和物品的潜在特征向量，从而实现推荐。矩阵分解方法常用于处理稀疏的交互数据。</a:t>
            </a:r>
          </a:p>
        </p:txBody>
      </p:sp>
      <p:sp>
        <p:nvSpPr>
          <p:cNvPr id="44" name="文本框 43"/>
          <p:cNvSpPr txBox="1"/>
          <p:nvPr>
            <p:custDataLst>
              <p:tags r:id="rId20"/>
            </p:custDataLst>
          </p:nvPr>
        </p:nvSpPr>
        <p:spPr>
          <a:xfrm>
            <a:off x="7321005" y="3632169"/>
            <a:ext cx="2049420" cy="23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利用深度学习模型（如神经网络）来学习用户和物品之间的复杂关系，从而实现推荐。深度学习推荐方法通常可以处理大规模、高维度的数据，并能够学习到更复杂的特征表示。</a:t>
            </a:r>
          </a:p>
        </p:txBody>
      </p:sp>
      <p:sp>
        <p:nvSpPr>
          <p:cNvPr id="45" name="文本框 44"/>
          <p:cNvSpPr txBox="1"/>
          <p:nvPr>
            <p:custDataLst>
              <p:tags r:id="rId21"/>
            </p:custDataLst>
          </p:nvPr>
        </p:nvSpPr>
        <p:spPr>
          <a:xfrm>
            <a:off x="9564372" y="3632169"/>
            <a:ext cx="2049420" cy="23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结合多种推荐方法，例如将基于内容的推荐和协同过滤推荐结合起来，以利用它们各自的优点来提高推荐效果。混合推荐方法可以灵活地适应不同的推荐场景和需求。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747395" y="241935"/>
            <a:ext cx="10179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矩阵分解</a:t>
            </a:r>
            <a:r>
              <a:rPr lang="en-US" altLang="zh-CN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将用户-物品交互矩阵分解为两个低维度的矩阵</a:t>
            </a:r>
          </a:p>
        </p:txBody>
      </p:sp>
      <p:sp>
        <p:nvSpPr>
          <p:cNvPr id="43" name="椭圆 42"/>
          <p:cNvSpPr/>
          <p:nvPr>
            <p:custDataLst>
              <p:tags r:id="rId1"/>
            </p:custDataLst>
          </p:nvPr>
        </p:nvSpPr>
        <p:spPr>
          <a:xfrm>
            <a:off x="1685925" y="2743465"/>
            <a:ext cx="1333500" cy="133350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4" name="椭圆 43"/>
          <p:cNvSpPr/>
          <p:nvPr>
            <p:custDataLst>
              <p:tags r:id="rId2"/>
            </p:custDataLst>
          </p:nvPr>
        </p:nvSpPr>
        <p:spPr>
          <a:xfrm>
            <a:off x="4181475" y="2743465"/>
            <a:ext cx="1333500" cy="133350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5" name="椭圆 44"/>
          <p:cNvSpPr/>
          <p:nvPr>
            <p:custDataLst>
              <p:tags r:id="rId3"/>
            </p:custDataLst>
          </p:nvPr>
        </p:nvSpPr>
        <p:spPr>
          <a:xfrm>
            <a:off x="6677025" y="2743465"/>
            <a:ext cx="1333500" cy="133350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6" name="椭圆 45"/>
          <p:cNvSpPr/>
          <p:nvPr>
            <p:custDataLst>
              <p:tags r:id="rId4"/>
            </p:custDataLst>
          </p:nvPr>
        </p:nvSpPr>
        <p:spPr>
          <a:xfrm>
            <a:off x="9172575" y="2743465"/>
            <a:ext cx="1333500" cy="133350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7" name="弧形 46"/>
          <p:cNvSpPr/>
          <p:nvPr>
            <p:custDataLst>
              <p:tags r:id="rId5"/>
            </p:custDataLst>
          </p:nvPr>
        </p:nvSpPr>
        <p:spPr>
          <a:xfrm rot="19127225">
            <a:off x="1271587" y="2329127"/>
            <a:ext cx="2162175" cy="2162175"/>
          </a:xfrm>
          <a:prstGeom prst="arc">
            <a:avLst>
              <a:gd name="adj1" fmla="val 15370780"/>
              <a:gd name="adj2" fmla="val 40634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headEnd type="none"/>
            <a:tailEnd type="arrow" w="med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8" name="弧形 47"/>
          <p:cNvSpPr/>
          <p:nvPr>
            <p:custDataLst>
              <p:tags r:id="rId6"/>
            </p:custDataLst>
          </p:nvPr>
        </p:nvSpPr>
        <p:spPr>
          <a:xfrm rot="2472775" flipV="1">
            <a:off x="3767136" y="2329127"/>
            <a:ext cx="2162175" cy="2162175"/>
          </a:xfrm>
          <a:prstGeom prst="arc">
            <a:avLst>
              <a:gd name="adj1" fmla="val 15370780"/>
              <a:gd name="adj2" fmla="val 40634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headEnd type="none"/>
            <a:tailEnd type="arrow" w="med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49" name="弧形 48"/>
          <p:cNvSpPr/>
          <p:nvPr>
            <p:custDataLst>
              <p:tags r:id="rId7"/>
            </p:custDataLst>
          </p:nvPr>
        </p:nvSpPr>
        <p:spPr>
          <a:xfrm rot="19127225">
            <a:off x="6262689" y="2329127"/>
            <a:ext cx="2162175" cy="2162175"/>
          </a:xfrm>
          <a:prstGeom prst="arc">
            <a:avLst>
              <a:gd name="adj1" fmla="val 15370780"/>
              <a:gd name="adj2" fmla="val 40634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headEnd type="none"/>
            <a:tailEnd type="arrow" w="med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50" name="弧形 49"/>
          <p:cNvSpPr/>
          <p:nvPr>
            <p:custDataLst>
              <p:tags r:id="rId8"/>
            </p:custDataLst>
          </p:nvPr>
        </p:nvSpPr>
        <p:spPr>
          <a:xfrm rot="2472775" flipV="1">
            <a:off x="8758238" y="2329127"/>
            <a:ext cx="2162175" cy="2162175"/>
          </a:xfrm>
          <a:prstGeom prst="arc">
            <a:avLst>
              <a:gd name="adj1" fmla="val 15370780"/>
              <a:gd name="adj2" fmla="val 406341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headEnd type="none"/>
            <a:tailEnd type="arrow" w="med" len="lg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51" name="图形 5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2009771" y="3067312"/>
            <a:ext cx="685804" cy="685804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4505320" y="3067312"/>
            <a:ext cx="685804" cy="685804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7034249" y="3100688"/>
            <a:ext cx="619052" cy="619052"/>
          </a:xfrm>
          <a:prstGeom prst="rect">
            <a:avLst/>
          </a:prstGeom>
        </p:spPr>
      </p:pic>
      <p:pic>
        <p:nvPicPr>
          <p:cNvPr id="54" name="图形 5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9440899" y="3011788"/>
            <a:ext cx="796852" cy="796852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13"/>
            </p:custDataLst>
          </p:nvPr>
        </p:nvSpPr>
        <p:spPr>
          <a:xfrm flipH="1">
            <a:off x="1183100" y="4292875"/>
            <a:ext cx="193446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特征值分解</a:t>
            </a:r>
          </a:p>
        </p:txBody>
      </p:sp>
      <p:sp>
        <p:nvSpPr>
          <p:cNvPr id="56" name="文本框 55"/>
          <p:cNvSpPr txBox="1"/>
          <p:nvPr>
            <p:custDataLst>
              <p:tags r:id="rId14"/>
            </p:custDataLst>
          </p:nvPr>
        </p:nvSpPr>
        <p:spPr>
          <a:xfrm flipH="1">
            <a:off x="173720" y="4686138"/>
            <a:ext cx="3947696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只适用于方阵</a:t>
            </a:r>
          </a:p>
        </p:txBody>
      </p:sp>
      <p:sp>
        <p:nvSpPr>
          <p:cNvPr id="57" name="文本框 56"/>
          <p:cNvSpPr txBox="1"/>
          <p:nvPr>
            <p:custDataLst>
              <p:tags r:id="rId15"/>
            </p:custDataLst>
          </p:nvPr>
        </p:nvSpPr>
        <p:spPr>
          <a:xfrm flipH="1">
            <a:off x="6379307" y="4412890"/>
            <a:ext cx="193446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RSVD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6"/>
            </p:custDataLst>
          </p:nvPr>
        </p:nvSpPr>
        <p:spPr>
          <a:xfrm flipH="1">
            <a:off x="5346065" y="4810760"/>
            <a:ext cx="4544695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加入正则化参数惩罚项，防止过拟合。</a:t>
            </a: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加入偏置项，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消除用户评分和物品得分偏差。</a:t>
            </a: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（不同用户打分标准不同，不同物品衡量标准不同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。）</a:t>
            </a:r>
          </a:p>
        </p:txBody>
      </p:sp>
      <p:sp>
        <p:nvSpPr>
          <p:cNvPr id="59" name="文本框 58"/>
          <p:cNvSpPr txBox="1"/>
          <p:nvPr>
            <p:custDataLst>
              <p:tags r:id="rId17"/>
            </p:custDataLst>
          </p:nvPr>
        </p:nvSpPr>
        <p:spPr>
          <a:xfrm flipH="1">
            <a:off x="977900" y="5111750"/>
            <a:ext cx="2345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奇异值分解</a:t>
            </a:r>
          </a:p>
        </p:txBody>
      </p:sp>
      <p:sp>
        <p:nvSpPr>
          <p:cNvPr id="60" name="文本框 59"/>
          <p:cNvSpPr txBox="1"/>
          <p:nvPr>
            <p:custDataLst>
              <p:tags r:id="rId18"/>
            </p:custDataLst>
          </p:nvPr>
        </p:nvSpPr>
        <p:spPr>
          <a:xfrm flipH="1">
            <a:off x="233413" y="5510301"/>
            <a:ext cx="3947696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传统SVD分解要求原始矩阵是稠密的</a:t>
            </a:r>
          </a:p>
        </p:txBody>
      </p:sp>
      <p:sp>
        <p:nvSpPr>
          <p:cNvPr id="61" name="文本框 60"/>
          <p:cNvSpPr txBox="1"/>
          <p:nvPr>
            <p:custDataLst>
              <p:tags r:id="rId19"/>
            </p:custDataLst>
          </p:nvPr>
        </p:nvSpPr>
        <p:spPr>
          <a:xfrm flipH="1">
            <a:off x="8874859" y="1418798"/>
            <a:ext cx="193446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SVD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</a:p>
        </p:txBody>
      </p:sp>
      <p:sp>
        <p:nvSpPr>
          <p:cNvPr id="62" name="文本框 61"/>
          <p:cNvSpPr txBox="1"/>
          <p:nvPr>
            <p:custDataLst>
              <p:tags r:id="rId20"/>
            </p:custDataLst>
          </p:nvPr>
        </p:nvSpPr>
        <p:spPr>
          <a:xfrm flipH="1">
            <a:off x="7865479" y="1812061"/>
            <a:ext cx="3947696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用户的浏览历史等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隐式反馈信息，并对其进行加权。更全面地描述用户的兴趣和偏好。</a:t>
            </a:r>
          </a:p>
        </p:txBody>
      </p:sp>
      <p:sp>
        <p:nvSpPr>
          <p:cNvPr id="3" name="文本框 2"/>
          <p:cNvSpPr txBox="1"/>
          <p:nvPr>
            <p:custDataLst>
              <p:tags r:id="rId21"/>
            </p:custDataLst>
          </p:nvPr>
        </p:nvSpPr>
        <p:spPr>
          <a:xfrm flipH="1">
            <a:off x="3404235" y="1076960"/>
            <a:ext cx="3096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Basic SVD（Funk SVD）</a:t>
            </a:r>
          </a:p>
        </p:txBody>
      </p:sp>
      <p:sp>
        <p:nvSpPr>
          <p:cNvPr id="4" name="文本框 3"/>
          <p:cNvSpPr txBox="1"/>
          <p:nvPr>
            <p:custDataLst>
              <p:tags r:id="rId22"/>
            </p:custDataLst>
          </p:nvPr>
        </p:nvSpPr>
        <p:spPr>
          <a:xfrm flipH="1">
            <a:off x="3019425" y="1418590"/>
            <a:ext cx="3658235" cy="1262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将矩阵分解问题转化为最优化问题，即找到一组特征向量，使得它们的乘积近似等于原始评分矩阵。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通过梯度下降进行优化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，最小化预测评分与实际评分之间的差异。</a:t>
            </a:r>
          </a:p>
          <a:p>
            <a:pPr algn="ctr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矩阵分解</a:t>
            </a:r>
            <a:r>
              <a:rPr lang="en-US" altLang="zh-CN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28470" y="1348105"/>
            <a:ext cx="8427720" cy="34886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文本框 27"/>
          <p:cNvSpPr txBox="1"/>
          <p:nvPr/>
        </p:nvSpPr>
        <p:spPr>
          <a:xfrm>
            <a:off x="1816100" y="5105400"/>
            <a:ext cx="8559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矩阵分解的目标是将一个大的用户-物品交互矩阵分解为两个低维度的矩阵的乘积，从而学习到用户和物品的潜在特征表示。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0" y="3693330"/>
            <a:ext cx="12192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 flipV="1">
            <a:off x="840017" y="1528667"/>
            <a:ext cx="2539997" cy="1678631"/>
          </a:xfrm>
          <a:custGeom>
            <a:avLst/>
            <a:gdLst>
              <a:gd name="connsiteX0" fmla="*/ 0 w 2539997"/>
              <a:gd name="connsiteY0" fmla="*/ 1678631 h 1678631"/>
              <a:gd name="connsiteX1" fmla="*/ 2539997 w 2539997"/>
              <a:gd name="connsiteY1" fmla="*/ 1678631 h 1678631"/>
              <a:gd name="connsiteX2" fmla="*/ 2539997 w 2539997"/>
              <a:gd name="connsiteY2" fmla="*/ 167903 h 1678631"/>
              <a:gd name="connsiteX3" fmla="*/ 1367382 w 2539997"/>
              <a:gd name="connsiteY3" fmla="*/ 167903 h 1678631"/>
              <a:gd name="connsiteX4" fmla="*/ 1269998 w 2539997"/>
              <a:gd name="connsiteY4" fmla="*/ 0 h 1678631"/>
              <a:gd name="connsiteX5" fmla="*/ 1172614 w 2539997"/>
              <a:gd name="connsiteY5" fmla="*/ 167903 h 1678631"/>
              <a:gd name="connsiteX6" fmla="*/ 0 w 2539997"/>
              <a:gd name="connsiteY6" fmla="*/ 167903 h 16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9997" h="1678631">
                <a:moveTo>
                  <a:pt x="0" y="1678631"/>
                </a:moveTo>
                <a:lnTo>
                  <a:pt x="2539997" y="1678631"/>
                </a:lnTo>
                <a:lnTo>
                  <a:pt x="2539997" y="167903"/>
                </a:lnTo>
                <a:lnTo>
                  <a:pt x="1367382" y="167903"/>
                </a:lnTo>
                <a:lnTo>
                  <a:pt x="1269998" y="0"/>
                </a:lnTo>
                <a:lnTo>
                  <a:pt x="1172614" y="167903"/>
                </a:lnTo>
                <a:lnTo>
                  <a:pt x="0" y="16790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 flipH="1">
            <a:off x="1999344" y="3582659"/>
            <a:ext cx="221343" cy="22134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 rot="10800000" flipV="1">
            <a:off x="2833009" y="4131576"/>
            <a:ext cx="2539997" cy="1678631"/>
          </a:xfrm>
          <a:custGeom>
            <a:avLst/>
            <a:gdLst>
              <a:gd name="connsiteX0" fmla="*/ 0 w 2539997"/>
              <a:gd name="connsiteY0" fmla="*/ 1678631 h 1678631"/>
              <a:gd name="connsiteX1" fmla="*/ 2539997 w 2539997"/>
              <a:gd name="connsiteY1" fmla="*/ 1678631 h 1678631"/>
              <a:gd name="connsiteX2" fmla="*/ 2539997 w 2539997"/>
              <a:gd name="connsiteY2" fmla="*/ 167903 h 1678631"/>
              <a:gd name="connsiteX3" fmla="*/ 1367382 w 2539997"/>
              <a:gd name="connsiteY3" fmla="*/ 167903 h 1678631"/>
              <a:gd name="connsiteX4" fmla="*/ 1269998 w 2539997"/>
              <a:gd name="connsiteY4" fmla="*/ 0 h 1678631"/>
              <a:gd name="connsiteX5" fmla="*/ 1172614 w 2539997"/>
              <a:gd name="connsiteY5" fmla="*/ 167903 h 1678631"/>
              <a:gd name="connsiteX6" fmla="*/ 0 w 2539997"/>
              <a:gd name="connsiteY6" fmla="*/ 167903 h 16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9997" h="1678631">
                <a:moveTo>
                  <a:pt x="0" y="1678631"/>
                </a:moveTo>
                <a:lnTo>
                  <a:pt x="2539997" y="1678631"/>
                </a:lnTo>
                <a:lnTo>
                  <a:pt x="2539997" y="167903"/>
                </a:lnTo>
                <a:lnTo>
                  <a:pt x="1367382" y="167903"/>
                </a:lnTo>
                <a:lnTo>
                  <a:pt x="1269998" y="0"/>
                </a:lnTo>
                <a:lnTo>
                  <a:pt x="1172614" y="167903"/>
                </a:lnTo>
                <a:lnTo>
                  <a:pt x="0" y="16790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 flipH="1">
            <a:off x="3992335" y="3582659"/>
            <a:ext cx="221343" cy="22134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 flipV="1">
            <a:off x="4826001" y="1528667"/>
            <a:ext cx="2539997" cy="1678631"/>
          </a:xfrm>
          <a:custGeom>
            <a:avLst/>
            <a:gdLst>
              <a:gd name="connsiteX0" fmla="*/ 0 w 2539997"/>
              <a:gd name="connsiteY0" fmla="*/ 1678631 h 1678631"/>
              <a:gd name="connsiteX1" fmla="*/ 2539997 w 2539997"/>
              <a:gd name="connsiteY1" fmla="*/ 1678631 h 1678631"/>
              <a:gd name="connsiteX2" fmla="*/ 2539997 w 2539997"/>
              <a:gd name="connsiteY2" fmla="*/ 167903 h 1678631"/>
              <a:gd name="connsiteX3" fmla="*/ 1367382 w 2539997"/>
              <a:gd name="connsiteY3" fmla="*/ 167903 h 1678631"/>
              <a:gd name="connsiteX4" fmla="*/ 1269998 w 2539997"/>
              <a:gd name="connsiteY4" fmla="*/ 0 h 1678631"/>
              <a:gd name="connsiteX5" fmla="*/ 1172614 w 2539997"/>
              <a:gd name="connsiteY5" fmla="*/ 167903 h 1678631"/>
              <a:gd name="connsiteX6" fmla="*/ 0 w 2539997"/>
              <a:gd name="connsiteY6" fmla="*/ 167903 h 16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9997" h="1678631">
                <a:moveTo>
                  <a:pt x="0" y="1678631"/>
                </a:moveTo>
                <a:lnTo>
                  <a:pt x="2539997" y="1678631"/>
                </a:lnTo>
                <a:lnTo>
                  <a:pt x="2539997" y="167903"/>
                </a:lnTo>
                <a:lnTo>
                  <a:pt x="1367382" y="167903"/>
                </a:lnTo>
                <a:lnTo>
                  <a:pt x="1269998" y="0"/>
                </a:lnTo>
                <a:lnTo>
                  <a:pt x="1172614" y="167903"/>
                </a:lnTo>
                <a:lnTo>
                  <a:pt x="0" y="16790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椭圆 7"/>
          <p:cNvSpPr/>
          <p:nvPr>
            <p:custDataLst>
              <p:tags r:id="rId7"/>
            </p:custDataLst>
          </p:nvPr>
        </p:nvSpPr>
        <p:spPr>
          <a:xfrm flipH="1">
            <a:off x="5985328" y="3582659"/>
            <a:ext cx="221343" cy="22134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任意多边形: 形状 8"/>
          <p:cNvSpPr/>
          <p:nvPr>
            <p:custDataLst>
              <p:tags r:id="rId8"/>
            </p:custDataLst>
          </p:nvPr>
        </p:nvSpPr>
        <p:spPr>
          <a:xfrm rot="10800000" flipV="1">
            <a:off x="6818993" y="4131576"/>
            <a:ext cx="2539997" cy="1678631"/>
          </a:xfrm>
          <a:custGeom>
            <a:avLst/>
            <a:gdLst>
              <a:gd name="connsiteX0" fmla="*/ 0 w 2539997"/>
              <a:gd name="connsiteY0" fmla="*/ 1678631 h 1678631"/>
              <a:gd name="connsiteX1" fmla="*/ 2539997 w 2539997"/>
              <a:gd name="connsiteY1" fmla="*/ 1678631 h 1678631"/>
              <a:gd name="connsiteX2" fmla="*/ 2539997 w 2539997"/>
              <a:gd name="connsiteY2" fmla="*/ 167903 h 1678631"/>
              <a:gd name="connsiteX3" fmla="*/ 1367382 w 2539997"/>
              <a:gd name="connsiteY3" fmla="*/ 167903 h 1678631"/>
              <a:gd name="connsiteX4" fmla="*/ 1269998 w 2539997"/>
              <a:gd name="connsiteY4" fmla="*/ 0 h 1678631"/>
              <a:gd name="connsiteX5" fmla="*/ 1172614 w 2539997"/>
              <a:gd name="connsiteY5" fmla="*/ 167903 h 1678631"/>
              <a:gd name="connsiteX6" fmla="*/ 0 w 2539997"/>
              <a:gd name="connsiteY6" fmla="*/ 167903 h 16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9997" h="1678631">
                <a:moveTo>
                  <a:pt x="0" y="1678631"/>
                </a:moveTo>
                <a:lnTo>
                  <a:pt x="2539997" y="1678631"/>
                </a:lnTo>
                <a:lnTo>
                  <a:pt x="2539997" y="167903"/>
                </a:lnTo>
                <a:lnTo>
                  <a:pt x="1367382" y="167903"/>
                </a:lnTo>
                <a:lnTo>
                  <a:pt x="1269998" y="0"/>
                </a:lnTo>
                <a:lnTo>
                  <a:pt x="1172614" y="167903"/>
                </a:lnTo>
                <a:lnTo>
                  <a:pt x="0" y="16790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椭圆 9"/>
          <p:cNvSpPr/>
          <p:nvPr>
            <p:custDataLst>
              <p:tags r:id="rId9"/>
            </p:custDataLst>
          </p:nvPr>
        </p:nvSpPr>
        <p:spPr>
          <a:xfrm flipH="1">
            <a:off x="7978320" y="3582659"/>
            <a:ext cx="221343" cy="22134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0"/>
            </p:custDataLst>
          </p:nvPr>
        </p:nvSpPr>
        <p:spPr>
          <a:xfrm flipV="1">
            <a:off x="8811617" y="1528667"/>
            <a:ext cx="2539997" cy="1678631"/>
          </a:xfrm>
          <a:custGeom>
            <a:avLst/>
            <a:gdLst>
              <a:gd name="connsiteX0" fmla="*/ 0 w 2539997"/>
              <a:gd name="connsiteY0" fmla="*/ 1678631 h 1678631"/>
              <a:gd name="connsiteX1" fmla="*/ 2539997 w 2539997"/>
              <a:gd name="connsiteY1" fmla="*/ 1678631 h 1678631"/>
              <a:gd name="connsiteX2" fmla="*/ 2539997 w 2539997"/>
              <a:gd name="connsiteY2" fmla="*/ 167903 h 1678631"/>
              <a:gd name="connsiteX3" fmla="*/ 1367382 w 2539997"/>
              <a:gd name="connsiteY3" fmla="*/ 167903 h 1678631"/>
              <a:gd name="connsiteX4" fmla="*/ 1269998 w 2539997"/>
              <a:gd name="connsiteY4" fmla="*/ 0 h 1678631"/>
              <a:gd name="connsiteX5" fmla="*/ 1172614 w 2539997"/>
              <a:gd name="connsiteY5" fmla="*/ 167903 h 1678631"/>
              <a:gd name="connsiteX6" fmla="*/ 0 w 2539997"/>
              <a:gd name="connsiteY6" fmla="*/ 167903 h 16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9997" h="1678631">
                <a:moveTo>
                  <a:pt x="0" y="1678631"/>
                </a:moveTo>
                <a:lnTo>
                  <a:pt x="2539997" y="1678631"/>
                </a:lnTo>
                <a:lnTo>
                  <a:pt x="2539997" y="167903"/>
                </a:lnTo>
                <a:lnTo>
                  <a:pt x="1367382" y="167903"/>
                </a:lnTo>
                <a:lnTo>
                  <a:pt x="1269998" y="0"/>
                </a:lnTo>
                <a:lnTo>
                  <a:pt x="1172614" y="167903"/>
                </a:lnTo>
                <a:lnTo>
                  <a:pt x="0" y="167903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椭圆 11"/>
          <p:cNvSpPr/>
          <p:nvPr>
            <p:custDataLst>
              <p:tags r:id="rId11"/>
            </p:custDataLst>
          </p:nvPr>
        </p:nvSpPr>
        <p:spPr>
          <a:xfrm flipH="1">
            <a:off x="9970944" y="3582659"/>
            <a:ext cx="221343" cy="22134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41300" dist="88900" dir="2700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445410" y="1675051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STEP 01</a:t>
            </a:r>
            <a:endParaRPr lang="zh-CN" altLang="en-US" sz="2400" b="1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1060620" y="2188705"/>
            <a:ext cx="2098791" cy="410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构造原始评分矩阵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5431394" y="1675051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STEP 03</a:t>
            </a:r>
            <a:endParaRPr lang="zh-CN" altLang="en-US" sz="2400" b="1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5046345" y="2188845"/>
            <a:ext cx="2185670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Q乘积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矩阵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R’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之间的误差</a:t>
            </a: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9417010" y="1675051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STEP 05</a:t>
            </a:r>
            <a:endParaRPr lang="zh-CN" altLang="en-US" sz="2400" b="1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9032875" y="2136775"/>
            <a:ext cx="210883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根据矩阵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，推荐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TopK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相关物品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3438402" y="4421450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STEP 02</a:t>
            </a:r>
            <a:endParaRPr lang="zh-CN" altLang="en-US" sz="2400" b="1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9"/>
            </p:custDataLst>
          </p:nvPr>
        </p:nvSpPr>
        <p:spPr>
          <a:xfrm>
            <a:off x="3053612" y="4935104"/>
            <a:ext cx="2098791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初始化用户矩阵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和物品矩阵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7424386" y="4421450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STEP 04</a:t>
            </a:r>
            <a:endParaRPr lang="zh-CN" altLang="en-US" sz="2400" b="1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21"/>
            </p:custDataLst>
          </p:nvPr>
        </p:nvSpPr>
        <p:spPr>
          <a:xfrm>
            <a:off x="7030720" y="4935220"/>
            <a:ext cx="219519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不断优化，使得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Q的乘积近似等于矩阵R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7252" y="241858"/>
            <a:ext cx="32151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矩阵分解</a:t>
            </a:r>
            <a:r>
              <a:rPr lang="en-US" altLang="zh-CN" sz="28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 rot="13200000">
            <a:off x="3429209" y="1878408"/>
            <a:ext cx="3265803" cy="3602255"/>
            <a:chOff x="7425" y="3192"/>
            <a:chExt cx="5143" cy="5673"/>
          </a:xfrm>
        </p:grpSpPr>
        <p:sp>
          <p:nvSpPr>
            <p:cNvPr id="2" name="形状 1"/>
            <p:cNvSpPr/>
            <p:nvPr/>
          </p:nvSpPr>
          <p:spPr>
            <a:xfrm rot="17160000" flipH="1">
              <a:off x="6833" y="5172"/>
              <a:ext cx="3910" cy="2727"/>
            </a:xfrm>
            <a:prstGeom prst="swooshArrow">
              <a:avLst>
                <a:gd name="adj1" fmla="val 16310"/>
                <a:gd name="adj2" fmla="val 3137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3" name="形状 2"/>
            <p:cNvSpPr/>
            <p:nvPr/>
          </p:nvSpPr>
          <p:spPr>
            <a:xfrm rot="20400000" flipV="1">
              <a:off x="8658" y="6138"/>
              <a:ext cx="3910" cy="2727"/>
            </a:xfrm>
            <a:prstGeom prst="swooshArrow">
              <a:avLst>
                <a:gd name="adj1" fmla="val 16310"/>
                <a:gd name="adj2" fmla="val 3137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5" name="形状 4"/>
            <p:cNvSpPr/>
            <p:nvPr/>
          </p:nvSpPr>
          <p:spPr>
            <a:xfrm rot="13680000" flipV="1">
              <a:off x="8582" y="3783"/>
              <a:ext cx="3910" cy="2727"/>
            </a:xfrm>
            <a:prstGeom prst="swooshArrow">
              <a:avLst>
                <a:gd name="adj1" fmla="val 16310"/>
                <a:gd name="adj2" fmla="val 3137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</p:sp>
        <p:sp>
          <p:nvSpPr>
            <p:cNvPr id="6" name="矩形 5"/>
            <p:cNvSpPr/>
            <p:nvPr/>
          </p:nvSpPr>
          <p:spPr>
            <a:xfrm rot="8340000">
              <a:off x="8951" y="5845"/>
              <a:ext cx="1804" cy="15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1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评价指标</a:t>
              </a:r>
              <a:endPara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92730" y="256540"/>
            <a:ext cx="5219065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推荐给用户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K个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项目，这些推荐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依据用户对项目的“评分”进行从高到低排序。</a:t>
            </a:r>
          </a:p>
        </p:txBody>
      </p:sp>
      <p:sp>
        <p:nvSpPr>
          <p:cNvPr id="11" name="矩形 10"/>
          <p:cNvSpPr/>
          <p:nvPr/>
        </p:nvSpPr>
        <p:spPr>
          <a:xfrm>
            <a:off x="702310" y="4678045"/>
            <a:ext cx="23558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Recall 召回率</a:t>
            </a:r>
            <a:endParaRPr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7395" y="241935"/>
            <a:ext cx="3805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TopK推荐</a:t>
            </a:r>
            <a:endParaRPr lang="zh-CN" altLang="en-US" sz="28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l="4561" t="6548" r="26049" b="49523"/>
          <a:stretch>
            <a:fillRect/>
          </a:stretch>
        </p:blipFill>
        <p:spPr>
          <a:xfrm>
            <a:off x="810260" y="2035810"/>
            <a:ext cx="2782570" cy="61341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5485" y="3048000"/>
            <a:ext cx="3106420" cy="1116330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7312025" y="1529080"/>
            <a:ext cx="399923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归一化折损累计增益(NDCG)</a:t>
            </a:r>
          </a:p>
        </p:txBody>
      </p:sp>
      <p:sp>
        <p:nvSpPr>
          <p:cNvPr id="36" name="矩形 35"/>
          <p:cNvSpPr/>
          <p:nvPr>
            <p:custDataLst>
              <p:tags r:id="rId4"/>
            </p:custDataLst>
          </p:nvPr>
        </p:nvSpPr>
        <p:spPr>
          <a:xfrm>
            <a:off x="7164705" y="2034540"/>
            <a:ext cx="4497070" cy="370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对于推荐列表中的每个物品，根据其在列表中的位置赋予不同的权重。通常，位置较靠前的物品权重较高。</a:t>
            </a: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对每个物品的权重进行折损，以反映用户对位于推荐列表前面的物品更感兴趣的事实。通常，折损系数为对数函数，即位置越靠前的物品折损越小。</a:t>
            </a: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计算累积增益，即用户对推荐列表中每个物品的相关性得分之和。相关性得分可以根据实际情况确定，例如点击率、评分等。</a:t>
            </a: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将累积增益归一化，得到归一化的累积增益。</a:t>
            </a: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将归一化的累积增益除以理想情况下的归一化累积增益，得到归一化折损累计增益（NDCG）。</a:t>
            </a: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711835" y="1637030"/>
            <a:ext cx="23558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Precision 精确度</a:t>
            </a:r>
            <a:endParaRPr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rcRect l="9786" t="50432" r="26176"/>
          <a:stretch>
            <a:fillRect/>
          </a:stretch>
        </p:blipFill>
        <p:spPr>
          <a:xfrm>
            <a:off x="749935" y="5076825"/>
            <a:ext cx="2567940" cy="692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l="12108"/>
          <a:stretch>
            <a:fillRect/>
          </a:stretch>
        </p:blipFill>
        <p:spPr>
          <a:xfrm>
            <a:off x="6415405" y="4230370"/>
            <a:ext cx="4577715" cy="166560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l="15132"/>
          <a:stretch>
            <a:fillRect/>
          </a:stretch>
        </p:blipFill>
        <p:spPr>
          <a:xfrm>
            <a:off x="6727190" y="1501140"/>
            <a:ext cx="4048125" cy="17646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56058" y="1117600"/>
            <a:ext cx="10279884" cy="4889500"/>
            <a:chOff x="1025908" y="1358900"/>
            <a:chExt cx="10279884" cy="4889500"/>
          </a:xfrm>
        </p:grpSpPr>
        <p:sp>
          <p:nvSpPr>
            <p:cNvPr id="3" name="矩形 2"/>
            <p:cNvSpPr/>
            <p:nvPr/>
          </p:nvSpPr>
          <p:spPr>
            <a:xfrm>
              <a:off x="1025908" y="1358900"/>
              <a:ext cx="5092700" cy="2400300"/>
            </a:xfrm>
            <a:prstGeom prst="rect">
              <a:avLst/>
            </a:prstGeom>
            <a:noFill/>
            <a:ln w="25400" cap="flat" cmpd="sng" algn="ctr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213092" y="1358900"/>
              <a:ext cx="5092700" cy="2400300"/>
            </a:xfrm>
            <a:prstGeom prst="rect">
              <a:avLst/>
            </a:prstGeom>
            <a:noFill/>
            <a:ln w="25400" cap="flat" cmpd="sng" algn="ctr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025908" y="3848100"/>
              <a:ext cx="5092700" cy="2400300"/>
            </a:xfrm>
            <a:prstGeom prst="rect">
              <a:avLst/>
            </a:prstGeom>
            <a:noFill/>
            <a:ln w="25400" cap="flat" cmpd="sng" algn="ctr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213092" y="3848100"/>
              <a:ext cx="5092700" cy="2400300"/>
            </a:xfrm>
            <a:prstGeom prst="rect">
              <a:avLst/>
            </a:prstGeom>
            <a:noFill/>
            <a:ln w="25400" cap="flat" cmpd="sng" algn="ctr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7" name="任意多边形: 形状 6"/>
          <p:cNvSpPr/>
          <p:nvPr/>
        </p:nvSpPr>
        <p:spPr>
          <a:xfrm>
            <a:off x="5364202" y="2828458"/>
            <a:ext cx="684556" cy="689443"/>
          </a:xfrm>
          <a:custGeom>
            <a:avLst/>
            <a:gdLst>
              <a:gd name="connsiteX0" fmla="*/ 684556 w 684556"/>
              <a:gd name="connsiteY0" fmla="*/ 0 h 689443"/>
              <a:gd name="connsiteX1" fmla="*/ 684556 w 684556"/>
              <a:gd name="connsiteY1" fmla="*/ 689443 h 689443"/>
              <a:gd name="connsiteX2" fmla="*/ 0 w 684556"/>
              <a:gd name="connsiteY2" fmla="*/ 689443 h 689443"/>
              <a:gd name="connsiteX3" fmla="*/ 10478 w 684556"/>
              <a:gd name="connsiteY3" fmla="*/ 585507 h 689443"/>
              <a:gd name="connsiteX4" fmla="*/ 656518 w 684556"/>
              <a:gd name="connsiteY4" fmla="*/ 1415 h 68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8" name="任意多边形: 形状 7"/>
          <p:cNvSpPr/>
          <p:nvPr/>
        </p:nvSpPr>
        <p:spPr>
          <a:xfrm flipH="1">
            <a:off x="6143242" y="2828458"/>
            <a:ext cx="684556" cy="689443"/>
          </a:xfrm>
          <a:custGeom>
            <a:avLst/>
            <a:gdLst>
              <a:gd name="connsiteX0" fmla="*/ 684556 w 684556"/>
              <a:gd name="connsiteY0" fmla="*/ 0 h 689443"/>
              <a:gd name="connsiteX1" fmla="*/ 684556 w 684556"/>
              <a:gd name="connsiteY1" fmla="*/ 689443 h 689443"/>
              <a:gd name="connsiteX2" fmla="*/ 0 w 684556"/>
              <a:gd name="connsiteY2" fmla="*/ 689443 h 689443"/>
              <a:gd name="connsiteX3" fmla="*/ 10478 w 684556"/>
              <a:gd name="connsiteY3" fmla="*/ 585507 h 689443"/>
              <a:gd name="connsiteX4" fmla="*/ 656518 w 684556"/>
              <a:gd name="connsiteY4" fmla="*/ 1415 h 68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9" name="任意多边形: 形状 8"/>
          <p:cNvSpPr/>
          <p:nvPr/>
        </p:nvSpPr>
        <p:spPr>
          <a:xfrm flipV="1">
            <a:off x="5364202" y="3606799"/>
            <a:ext cx="684556" cy="689443"/>
          </a:xfrm>
          <a:custGeom>
            <a:avLst/>
            <a:gdLst>
              <a:gd name="connsiteX0" fmla="*/ 684556 w 684556"/>
              <a:gd name="connsiteY0" fmla="*/ 0 h 689443"/>
              <a:gd name="connsiteX1" fmla="*/ 684556 w 684556"/>
              <a:gd name="connsiteY1" fmla="*/ 689443 h 689443"/>
              <a:gd name="connsiteX2" fmla="*/ 0 w 684556"/>
              <a:gd name="connsiteY2" fmla="*/ 689443 h 689443"/>
              <a:gd name="connsiteX3" fmla="*/ 10478 w 684556"/>
              <a:gd name="connsiteY3" fmla="*/ 585507 h 689443"/>
              <a:gd name="connsiteX4" fmla="*/ 656518 w 684556"/>
              <a:gd name="connsiteY4" fmla="*/ 1415 h 68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任意多边形: 形状 9"/>
          <p:cNvSpPr/>
          <p:nvPr/>
        </p:nvSpPr>
        <p:spPr>
          <a:xfrm flipH="1" flipV="1">
            <a:off x="6143242" y="3606799"/>
            <a:ext cx="684556" cy="689443"/>
          </a:xfrm>
          <a:custGeom>
            <a:avLst/>
            <a:gdLst>
              <a:gd name="connsiteX0" fmla="*/ 684556 w 684556"/>
              <a:gd name="connsiteY0" fmla="*/ 0 h 689443"/>
              <a:gd name="connsiteX1" fmla="*/ 684556 w 684556"/>
              <a:gd name="connsiteY1" fmla="*/ 689443 h 689443"/>
              <a:gd name="connsiteX2" fmla="*/ 0 w 684556"/>
              <a:gd name="connsiteY2" fmla="*/ 689443 h 689443"/>
              <a:gd name="connsiteX3" fmla="*/ 10478 w 684556"/>
              <a:gd name="connsiteY3" fmla="*/ 585507 h 689443"/>
              <a:gd name="connsiteX4" fmla="*/ 656518 w 684556"/>
              <a:gd name="connsiteY4" fmla="*/ 1415 h 68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556" h="689443">
                <a:moveTo>
                  <a:pt x="684556" y="0"/>
                </a:moveTo>
                <a:lnTo>
                  <a:pt x="684556" y="689443"/>
                </a:lnTo>
                <a:lnTo>
                  <a:pt x="0" y="689443"/>
                </a:lnTo>
                <a:lnTo>
                  <a:pt x="10478" y="585507"/>
                </a:lnTo>
                <a:cubicBezTo>
                  <a:pt x="74229" y="273962"/>
                  <a:pt x="334748" y="34093"/>
                  <a:pt x="656518" y="1415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29670" y="2994681"/>
            <a:ext cx="298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1</a:t>
            </a:r>
            <a:endParaRPr lang="zh-CN" altLang="en-US" sz="2800" dirty="0">
              <a:solidFill>
                <a:prstClr val="white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63426" y="2994681"/>
            <a:ext cx="298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2</a:t>
            </a:r>
            <a:endParaRPr lang="zh-CN" altLang="en-US" sz="2800" dirty="0">
              <a:solidFill>
                <a:prstClr val="white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63426" y="3613148"/>
            <a:ext cx="2981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4</a:t>
            </a:r>
            <a:endParaRPr lang="zh-CN" altLang="en-US" sz="2800" dirty="0">
              <a:solidFill>
                <a:prstClr val="white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29670" y="3613148"/>
            <a:ext cx="2981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3</a:t>
            </a:r>
            <a:endParaRPr lang="zh-CN" altLang="en-US" sz="2800" dirty="0">
              <a:solidFill>
                <a:prstClr val="white"/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152291" y="1307892"/>
            <a:ext cx="1875390" cy="4396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数据集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9162816" y="1307892"/>
            <a:ext cx="1875390" cy="4396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均方误差损失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  <a:sym typeface="+mn-ea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152291" y="3804627"/>
            <a:ext cx="1875390" cy="4396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随机梯度下降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9162816" y="3804627"/>
            <a:ext cx="1875390" cy="4396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TopK</a:t>
            </a:r>
            <a:r>
              <a:rPr sz="2000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推荐</a:t>
            </a:r>
          </a:p>
        </p:txBody>
      </p:sp>
      <p:sp>
        <p:nvSpPr>
          <p:cNvPr id="19" name="椭圆 18"/>
          <p:cNvSpPr/>
          <p:nvPr/>
        </p:nvSpPr>
        <p:spPr>
          <a:xfrm>
            <a:off x="1198771" y="1941961"/>
            <a:ext cx="92992" cy="92992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03020" y="1798320"/>
            <a:ext cx="4784090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ovielens电影推荐数据集，包含多种大小数据集。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下载地址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https://grouplens.org/datasets/movielens/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88611" y="2612751"/>
            <a:ext cx="92992" cy="92992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09370" y="2451100"/>
            <a:ext cx="4007485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本次使用MovieLens 1M Dataset数据集，根据用户电影历史评分信息，预测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）会进行评分的电影。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47395" y="241935"/>
            <a:ext cx="1934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 dirty="0">
                <a:solidFill>
                  <a:srgbClr val="006D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案例代码</a:t>
            </a: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38860" y="4278630"/>
            <a:ext cx="4705350" cy="1680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0" t="1008" r="16790" b="-802"/>
          <a:stretch>
            <a:fillRect/>
          </a:stretch>
        </p:blipFill>
        <p:spPr>
          <a:xfrm>
            <a:off x="-186267" y="0"/>
            <a:ext cx="12564534" cy="7067550"/>
          </a:xfrm>
          <a:prstGeom prst="rect">
            <a:avLst/>
          </a:prstGeom>
          <a:gradFill>
            <a:gsLst>
              <a:gs pos="10000">
                <a:schemeClr val="accent6">
                  <a:lumMod val="90000"/>
                </a:schemeClr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</p:pic>
      <p:sp>
        <p:nvSpPr>
          <p:cNvPr id="5" name="矩形 4"/>
          <p:cNvSpPr/>
          <p:nvPr/>
        </p:nvSpPr>
        <p:spPr>
          <a:xfrm>
            <a:off x="-186266" y="0"/>
            <a:ext cx="12564533" cy="5676900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0"/>
                  <a:lumOff val="100000"/>
                  <a:alpha val="0"/>
                </a:srgbClr>
              </a:gs>
              <a:gs pos="26000">
                <a:schemeClr val="bg1">
                  <a:alpha val="70000"/>
                </a:schemeClr>
              </a:gs>
              <a:gs pos="79000">
                <a:schemeClr val="bg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0FC4-DD5C-4C24-B849-D8A0B2DC9874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220576" y="72762"/>
            <a:ext cx="12058933" cy="369449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5b831a2-4f6c-4257-9e9f-f22fe139516c"/>
  <p:tag name="COMMONDATA" val="eyJoZGlkIjoiNGVjYTBjNGM4MTEzM2I4NjQxNTA1MDQwYTU1NDk3Mm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9.8956692913386,&quot;left&quot;:70.3,&quot;top&quot;:92.2,&quot;width&quot;:765.7}"/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0762992125984,&quot;left&quot;:45.0283464566929,&quot;top&quot;:105.17125984251967,&quot;width&quot;:869.921653543307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423937007874,&quot;left&quot;:29.828740157480343,&quot;top&quot;:111.3,&quot;width&quot;:900.3425196850392}"/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23251968503934,&quot;left&quot;:0,&quot;top&quot;:120.36748031496067,&quot;width&quot;:96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814</Words>
  <Application>Microsoft Office PowerPoint</Application>
  <PresentationFormat>自定义</PresentationFormat>
  <Paragraphs>80</Paragraphs>
  <Slides>9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张伟崇 张伟崇</dc:creator>
  <cp:lastModifiedBy>C</cp:lastModifiedBy>
  <cp:revision>43</cp:revision>
  <dcterms:created xsi:type="dcterms:W3CDTF">2018-12-02T14:41:00Z</dcterms:created>
  <dcterms:modified xsi:type="dcterms:W3CDTF">2024-03-06T00:02:07Z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2019-04-13T11:11:07.3145489Z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9fae1650-fed4-4044-bd57-dbb3842a7978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50F9A136251A47C7B5EB6603F69D2D06</vt:lpwstr>
  </property>
  <property fmtid="{D5CDD505-2E9C-101B-9397-08002B2CF9AE}" pid="12" name="KSOProductBuildVer">
    <vt:lpwstr>2052-12.1.0.16250</vt:lpwstr>
  </property>
</Properties>
</file>