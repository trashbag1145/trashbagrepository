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21" autoAdjust="0"/>
  </p:normalViewPr>
  <p:slideViewPr>
    <p:cSldViewPr snapToGrid="0" snapToObjects="1">
      <p:cViewPr varScale="1">
        <p:scale>
          <a:sx n="104" d="100"/>
          <a:sy n="104" d="100"/>
        </p:scale>
        <p:origin x="960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我今天汇报的题目是基于 CoT 知识蒸馏的常识推理评测系统。我们的工作围绕 CCL 2026 任务十——SCoRE2026 展开，核心问题是：如何让一个受限的七B模型具备接近大模型的常识推理能力。</a:t>
            </a:r>
            <a:r>
              <a:rPr lang="zh-CN" altLang="en-US" dirty="0"/>
              <a:t>此项目</a:t>
            </a:r>
            <a:r>
              <a:rPr lang="zh-CN" dirty="0"/>
              <a:t>的答案是：用 DeepSeek-V3 的推理链训练 Qwen2.5-7B，实现从 Neuro-Symbolic 失败到 CoT 成功的路线演进。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首先介绍任务背景。SCoRE2026 是北京大学与华为联合主办的常识推理评测任务。它要求模型从自然语言描述的场景中进行多步逻辑推导，从四个候选项中选出所有正确答案。任务涵盖五大推理类型：时间、空间、社会、自然和融合推理。训练集包含三千六百道题目，测试集一千道，中英双语各占约一半。特别值得注意的是，百分之二十三点六的题目为不定项选择——这与传统的单选评测有本质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此项目</a:t>
            </a:r>
            <a:r>
              <a:rPr lang="zh-CN" dirty="0"/>
              <a:t>的方案设计面临四大核心挑战。第一是训练测试域偏移：训练集百分之九十七点二是单域题目，但测试集百分之六十七点五是融合域题目——模型必须在单域训练后泛化到跨域推理。第二是不定项选择：近四分之一的题目有多个正确答案。第三是中英双语：两种语言需要统一处理。第四是竞赛的模型规模限制——不超过八B参数，且禁止使用外部数据。这些约束直接决定了</a:t>
            </a:r>
            <a:r>
              <a:rPr lang="zh-CN" altLang="en-US" dirty="0"/>
              <a:t>此项目</a:t>
            </a:r>
            <a:r>
              <a:rPr lang="zh-CN" dirty="0"/>
              <a:t>的技术选型。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此项目</a:t>
            </a:r>
            <a:r>
              <a:rPr lang="zh-CN" dirty="0"/>
              <a:t>首先探索了 Neuro-Symbolic 混合架构。设计思路是将理解与推理分离：LLM 负责将自然语言转化为结构化约束的 JSON，确定性符号求解器负责推导答案。实现了完整的约束 Schema、五大领域符号求解器和端到端 Pipeline。但在验证阶段发现了一个致命问题：DeepSeek-V3 的约束 JSON 提取正确率仅为百分之三点六。失败根因包括实体名不一致、偏移量识别错误和约束遗漏，这些问题无法通过 prompt 工程有效解决。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这个发现</a:t>
            </a:r>
            <a:r>
              <a:rPr lang="zh-CN" altLang="en-US" dirty="0"/>
              <a:t>促使此项目进行</a:t>
            </a:r>
            <a:r>
              <a:rPr lang="zh-CN" dirty="0"/>
              <a:t>关键决策：放弃 Neuro-Symbolic 路线，转向 CoT 端到端推理。同一个 DeepSeek-V3 模型，在约束提取任务上只有百分之三点六，但在直接 CoT 推理上达到了百分之七十四点一——差距达二十倍。这个对比清楚地说明：精确结构化提取是当前 LLM 的弱项，而逐步推理是其强项。端到端方案避免了中间表示的精度损失。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此项目</a:t>
            </a:r>
            <a:r>
              <a:rPr lang="zh-CN" dirty="0"/>
              <a:t>设计的 CoT 知识蒸馏方案由三个阶段组成。第一阶段是 CoT 数据生成：用 DeepSeek-V3 在训练集上生成逐步推理链，按正确答案过滤后保留两千六百六十八条高质量数据。第二阶段是 LoRA 微调：用这些推理链训练 Qwen2.5-7B，仅百分之零点五三的参数可训练。第三阶段是推理提交：微调后的模型在测试集上生成推理链并输出标准化答案。整个架构遵循 Teacher-Student 知识蒸馏范式。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1 的数据生成是质量的关键。</a:t>
            </a:r>
            <a:r>
              <a:rPr lang="zh-CN" altLang="en-US" dirty="0"/>
              <a:t>此项目</a:t>
            </a:r>
            <a:r>
              <a:rPr lang="zh-CN" dirty="0"/>
              <a:t>设计了规范化的 System Prompt，要求模型按 Reasoning 和 Answer 两段格式输出，答案必须是 JSON 格式以支持多选。工程方面，我们使用五线程并发调用 API，实现了基于文件锁的断点续传，以及三层容错的答案提取策略——从 JSON 正则匹配到独立 JSON 解析，再到纯文本回退。最终全量三千六百条的生成耗时约两小时，API 成本约</a:t>
            </a:r>
            <a:r>
              <a:rPr lang="en-US" altLang="zh-CN" dirty="0"/>
              <a:t>15</a:t>
            </a:r>
            <a:r>
              <a:rPr lang="zh-CN" altLang="en-US" dirty="0"/>
              <a:t>元</a:t>
            </a:r>
            <a:r>
              <a:rPr lang="zh-CN" dirty="0"/>
              <a:t>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训练数据的质量决定了模型的上限。从分领域正确率来看，自然推理和时间推理表现最好，都超过了百分之八十五；但社会推理只有百分之六十三点四，空间推理百分之五十六点二，融合域更只有百分之五十三。这个差异揭示了不同推理类型的难度梯度：基于规则的时间自然推理对 LLM 相对容易，而需要空间想象和社会关系推导的任务仍然具有挑战性。这些低正确率领域正是未来改进的重点方向。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第二阶段是模型微调。我们选择 Qwen2.5-7B-Instruct 作为基座模型——它的中英双语能力强，且参数规模刚好满足竞赛的八B上限。LoRA 配置方面，秩设为十六，alpha 三十二，目标模块覆盖了所有注意力层和前馈网络的线性层。训练在 V100 三十二GB 上使用 bf16 混合精度运行约十四个小时，三个 epoch 后 eval loss 收敛至零点二五。最终产出的 LoRA adapter 仅一百六十一兆。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第三阶段的推理 Pipeline 中有三个关键决策值得一提。第一，</a:t>
            </a:r>
            <a:r>
              <a:rPr lang="zh-CN" altLang="en-US" dirty="0"/>
              <a:t>此项目</a:t>
            </a:r>
            <a:r>
              <a:rPr lang="zh-CN" dirty="0"/>
              <a:t>放弃了对 LoRA 做 merge_and_unload——因为实验发现 merge 后非空率从百分之十九点八骤降至百分之九点七，直接用 PeftModel 推理保持了格式质量。第二，由于 V100 不支持 bf16，</a:t>
            </a:r>
            <a:r>
              <a:rPr lang="zh-CN" altLang="en-US" dirty="0"/>
              <a:t>此项目</a:t>
            </a:r>
            <a:r>
              <a:rPr lang="zh-CN" dirty="0"/>
              <a:t>改用 fp16 利用 Tensor Core 加速。第三，max_new_tokens 从五百一十二逐步提升至一千零二十四，解决了答案 JSON 被截断的问题。最终在测试集上获得了一百九十八条非空预测，非空率为百分之十九点八。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消融实验全景展示了我们探索的完整路径。模板解析器基线约百分之五——纯规则方法的上限。Neuro-Symbolic 约束提取百分之三点六——比随机猜测还差。Teacher DeepSeek-V3 零样本达到百分之七十四点一——这是知识蒸馏的目标上界。Student Qwen2.5-7B 零样本为百分之零——模型完全不会输出 JSON 格式。而最终方案 Student 微调达到百分之十九点八——虽然距离 Teacher 仍有差距，但已显著超越所有基线，证明了知识蒸馏对推理格式能力的有效迁移。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看几个推理链样例。中文时间推理中，模型首先列出事件和时间关系——星期三打羽毛球、星期四整理宿舍，然后推导出约会和看论文的日期，最后回推答案。中文自然推理中，模型逐个应用五条约束，通过排除法锁定每个物品的位置。英文空间推理中，模型将六人圆桌问题转化为编号位置，逐步应用左右相邻约束。这三个例子展示了 CoT 推理链的共同模式：实体识别、约束列举、逐步推导、JSON 格式输出。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开发过程中我们遇到并解决了六个关键问题。从 merge 破坏输出格式到 V100 不支持 bf16，从训练推理 prompt 不一致到 pip 语法被 shell 错误解析，从 DataLoader 死锁到推理 token 不足导致截断。每个问题的解决都直接提升了最终模型的可用性，这些工程经验也是本项目的重要副产品。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总结四条核心结论。第一，精确结构化提取是当前 LLM 的弱项——百分之三点六的数据是铁证。第二，CoT 端到端推理是 LLM 的强项——百分之七十四点一是证明。第三，知识蒸馏能有效迁移推理能力——仅百分之零点五三的可训练参数就让七B模型获得了格式化的推理能力。第四，领域难度差异显著，为社会推理和空间推理指明了改进方向。从百分之三点六到百分之七十四点一，不是模型的胜利，而是路线选择的胜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本项目的创新贡献体现在三个维度。方法论上，</a:t>
            </a:r>
            <a:r>
              <a:rPr lang="zh-CN" altLang="en-US" dirty="0"/>
              <a:t>项目采用</a:t>
            </a:r>
            <a:r>
              <a:rPr lang="zh-CN" dirty="0"/>
              <a:t>了 N-S 到 CoT 的对比分析框架，用实验数据回答了结构化约束提取的可行性问题。工程上，我们构建了完整可复现的三阶段 Pipeline——多策略答案提取、断点续传、一键云训练。实验设计上，五组消融实验从模板基线到 Student 微调，构成了完整的性能对比证据链。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展望未来，四个方向值得继续探索。短期来看，多数投票和 self-consistency 等推理时增强可以在不修改模型的情况下提升准确率。中期目标是针对融合域仅占百分之二点八的不平衡问题，设计专项数据增强和课程学习策略。长期来看，升级 Teacher 模型到 DeepSeek-</a:t>
            </a:r>
            <a:r>
              <a:rPr lang="en-US" altLang="zh-CN" dirty="0"/>
              <a:t>V4 </a:t>
            </a:r>
            <a:r>
              <a:rPr lang="zh-CN" altLang="en-US" dirty="0"/>
              <a:t>等</a:t>
            </a:r>
            <a:r>
              <a:rPr lang="zh-CN" dirty="0"/>
              <a:t>，以及探索 CoT 粗推理加符号求解器精验证的混合架构，都有望进一步提升推理上限。硬件方面，在 A100 </a:t>
            </a:r>
            <a:r>
              <a:rPr lang="zh-CN" altLang="en-US" dirty="0"/>
              <a:t>等高性能</a:t>
            </a:r>
            <a:r>
              <a:rPr lang="en-US" altLang="zh-CN" dirty="0"/>
              <a:t>GPU</a:t>
            </a:r>
            <a:r>
              <a:rPr lang="zh-CN" dirty="0"/>
              <a:t>上训练可以尝试更大的 batch size 和更长的训练时间。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3A5C">
                    <a:alpha val="5000"/>
                  </a:srgbClr>
                </a:gs>
                <a:gs pos="100000">
                  <a:srgbClr val="1A3A5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2192000" cy="5462588"/>
            <a:chOff x="0" y="0"/>
            <a:chExt cx="12192000" cy="5462588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31358" y="1607820"/>
              <a:ext cx="912928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基于 CoT 知识蒸馏的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38934" y="2369820"/>
              <a:ext cx="791413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常识推理评测系统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191000" y="3238500"/>
              <a:ext cx="3810000" cy="14288"/>
            </a:xfrm>
            <a:prstGeom prst="rect">
              <a:avLst/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191000" y="4095750"/>
              <a:ext cx="3810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66023" y="4980519"/>
              <a:ext cx="125996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汇报人：陈佳伸</a:t>
              </a:r>
              <a:endPara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95968" y="4712018"/>
              <a:ext cx="64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en-US" sz="1350" dirty="0">
                <a:solidFill>
                  <a:srgbClr val="94A3B8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24988" y="5188268"/>
              <a:ext cx="1342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A6C7D"/>
                  </a:solidFill>
                  <a:latin typeface="Georgia"/>
                  <a:ea typeface="Microsoft YaHei"/>
                  <a:cs typeface="Georgia"/>
                </a:rPr>
                <a:t>2026 年 7 月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4615055" cy="687809"/>
            <a:chOff x="571500" y="441008"/>
            <a:chExt cx="14615055" cy="687809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448361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SCoRE2026：评估 LLM 在常识场景下的复杂逻辑推理能力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921068"/>
              <a:ext cx="13401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CCL 2026 任务十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381125"/>
            <a:ext cx="4953000" cy="1909763"/>
            <a:chOff x="571500" y="1381125"/>
            <a:chExt cx="4953000" cy="1909763"/>
          </a:xfrm>
        </p:grpSpPr>
        <p:sp>
          <p:nvSpPr>
            <p:cNvPr id="7" name="Rectangle 7"/>
            <p:cNvSpPr/>
            <p:nvPr/>
          </p:nvSpPr>
          <p:spPr>
            <a:xfrm>
              <a:off x="571500" y="1381125"/>
              <a:ext cx="4953000" cy="1143000"/>
            </a:xfrm>
            <a:prstGeom prst="roundRect">
              <a:avLst>
                <a:gd name="adj" fmla="val 333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6765" y="1472565"/>
              <a:ext cx="1121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任务定位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480" y="1806892"/>
              <a:ext cx="4297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评估大语言模型将自然语言场景转化为</a:t>
              </a:r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逻辑约束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480" y="2045018"/>
              <a:ext cx="37211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进行</a:t>
              </a:r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多步推导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后选出所有正确答案的能力。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667000"/>
              <a:ext cx="4953000" cy="571500"/>
            </a:xfrm>
            <a:prstGeom prst="roundRect">
              <a:avLst>
                <a:gd name="adj" fmla="val 6667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2480" y="2807018"/>
              <a:ext cx="4090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数据规模：训练集 </a:t>
              </a:r>
              <a:r>
                <a:rPr lang="en-US" sz="135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3,600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题 + 测试集 </a:t>
              </a:r>
              <a:r>
                <a:rPr lang="en-US" sz="135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1,000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2480" y="3016568"/>
              <a:ext cx="28090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中英双语：中文 58% + 英文 42%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78855" y="1235392"/>
            <a:ext cx="5541645" cy="2907983"/>
            <a:chOff x="6078855" y="1235392"/>
            <a:chExt cx="5541645" cy="2907983"/>
          </a:xfrm>
        </p:grpSpPr>
        <p:sp>
          <p:nvSpPr>
            <p:cNvPr id="15" name="TextBox 15"/>
            <p:cNvSpPr txBox="1"/>
            <p:nvPr/>
          </p:nvSpPr>
          <p:spPr>
            <a:xfrm>
              <a:off x="6078855" y="1235392"/>
              <a:ext cx="13507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五大推理类型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571625"/>
              <a:ext cx="2619375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286500" y="176212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150019" y="64294"/>
                  </a:moveTo>
                  <a:lnTo>
                    <a:pt x="150019" y="180327"/>
                  </a:lnTo>
                  <a:lnTo>
                    <a:pt x="220590" y="250898"/>
                  </a:lnTo>
                  <a:lnTo>
                    <a:pt x="250898" y="220590"/>
                  </a:lnTo>
                  <a:lnTo>
                    <a:pt x="192881" y="162573"/>
                  </a:lnTo>
                  <a:lnTo>
                    <a:pt x="192881" y="64294"/>
                  </a:lnTo>
                  <a:lnTo>
                    <a:pt x="150019" y="64294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3700" y="1743075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时间推理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9415" y="2029778"/>
              <a:ext cx="10721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事件时间线重建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58250" y="1571625"/>
              <a:ext cx="276225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091612" y="1762125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29552" y="219105"/>
                  </a:moveTo>
                  <a:lnTo>
                    <a:pt x="128588" y="342900"/>
                  </a:lnTo>
                  <a:lnTo>
                    <a:pt x="227623" y="219105"/>
                  </a:lnTo>
                  <a:cubicBezTo>
                    <a:pt x="246753" y="195193"/>
                    <a:pt x="257175" y="165482"/>
                    <a:pt x="257175" y="134860"/>
                  </a:cubicBezTo>
                  <a:lnTo>
                    <a:pt x="257175" y="128588"/>
                  </a:lnTo>
                  <a:cubicBezTo>
                    <a:pt x="257175" y="57571"/>
                    <a:pt x="199604" y="0"/>
                    <a:pt x="128588" y="0"/>
                  </a:cubicBezTo>
                  <a:cubicBezTo>
                    <a:pt x="57571" y="0"/>
                    <a:pt x="0" y="57571"/>
                    <a:pt x="0" y="128588"/>
                  </a:cubicBezTo>
                  <a:lnTo>
                    <a:pt x="0" y="134860"/>
                  </a:lnTo>
                  <a:cubicBezTo>
                    <a:pt x="0" y="165482"/>
                    <a:pt x="10422" y="195193"/>
                    <a:pt x="29552" y="219105"/>
                  </a:cubicBezTo>
                  <a:close/>
                  <a:moveTo>
                    <a:pt x="128588" y="171450"/>
                  </a:moveTo>
                  <a:cubicBezTo>
                    <a:pt x="152260" y="171450"/>
                    <a:pt x="171450" y="152260"/>
                    <a:pt x="171450" y="128588"/>
                  </a:cubicBezTo>
                  <a:cubicBezTo>
                    <a:pt x="171450" y="104915"/>
                    <a:pt x="152260" y="85725"/>
                    <a:pt x="128588" y="85725"/>
                  </a:cubicBezTo>
                  <a:cubicBezTo>
                    <a:pt x="104915" y="85725"/>
                    <a:pt x="85725" y="104915"/>
                    <a:pt x="85725" y="128588"/>
                  </a:cubicBezTo>
                  <a:cubicBezTo>
                    <a:pt x="85725" y="152260"/>
                    <a:pt x="104915" y="171450"/>
                    <a:pt x="128588" y="171450"/>
                  </a:cubicBez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05950" y="1743075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空间推理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11665" y="2029778"/>
              <a:ext cx="12214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多维空间布局推导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0" y="2476500"/>
              <a:ext cx="2619375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286500" y="2688431"/>
              <a:ext cx="342900" cy="300038"/>
              <a:chOff x="6286500" y="2688431"/>
              <a:chExt cx="342900" cy="3000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50794" y="268843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8"/>
                      <a:pt x="83168" y="107156"/>
                      <a:pt x="53578" y="107156"/>
                    </a:cubicBezTo>
                    <a:cubicBezTo>
                      <a:pt x="23988" y="107156"/>
                      <a:pt x="0" y="83168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8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286500" y="2838450"/>
                <a:ext cx="17145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0019">
                    <a:moveTo>
                      <a:pt x="64294" y="0"/>
                    </a:moveTo>
                    <a:cubicBezTo>
                      <a:pt x="28785" y="0"/>
                      <a:pt x="0" y="28785"/>
                      <a:pt x="0" y="64294"/>
                    </a:cubicBezTo>
                    <a:lnTo>
                      <a:pt x="0" y="150019"/>
                    </a:lnTo>
                    <a:lnTo>
                      <a:pt x="171450" y="150019"/>
                    </a:lnTo>
                    <a:lnTo>
                      <a:pt x="171450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00812" y="2838450"/>
                <a:ext cx="1285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50019">
                    <a:moveTo>
                      <a:pt x="64294" y="0"/>
                    </a:moveTo>
                    <a:lnTo>
                      <a:pt x="0" y="0"/>
                    </a:lnTo>
                    <a:lnTo>
                      <a:pt x="0" y="150019"/>
                    </a:lnTo>
                    <a:lnTo>
                      <a:pt x="128588" y="150019"/>
                    </a:lnTo>
                    <a:lnTo>
                      <a:pt x="128588" y="64294"/>
                    </a:lnTo>
                    <a:cubicBezTo>
                      <a:pt x="128588" y="28785"/>
                      <a:pt x="99803" y="0"/>
                      <a:pt x="64294" y="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00812" y="27098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42862" y="85725"/>
                    </a:move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  <a:cubicBezTo>
                      <a:pt x="0" y="66535"/>
                      <a:pt x="19190" y="85725"/>
                      <a:pt x="42862" y="85725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743700" y="2647950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社会推理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49415" y="2934652"/>
              <a:ext cx="13036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亲属/社交关系网络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858250" y="2476500"/>
              <a:ext cx="276225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1612" y="2688431"/>
              <a:ext cx="278606" cy="321469"/>
            </a:xfrm>
            <a:custGeom>
              <a:avLst/>
              <a:gdLst/>
              <a:ahLst/>
              <a:cxnLst/>
              <a:rect l="l" t="t" r="r" b="b"/>
              <a:pathLst>
                <a:path w="278606" h="321469">
                  <a:moveTo>
                    <a:pt x="214312" y="0"/>
                  </a:moveTo>
                  <a:cubicBezTo>
                    <a:pt x="95951" y="0"/>
                    <a:pt x="0" y="86356"/>
                    <a:pt x="0" y="192881"/>
                  </a:cubicBezTo>
                  <a:lnTo>
                    <a:pt x="0" y="321469"/>
                  </a:lnTo>
                  <a:lnTo>
                    <a:pt x="42862" y="321469"/>
                  </a:lnTo>
                  <a:lnTo>
                    <a:pt x="42862" y="205436"/>
                  </a:lnTo>
                  <a:lnTo>
                    <a:pt x="134864" y="113433"/>
                  </a:lnTo>
                  <a:lnTo>
                    <a:pt x="165173" y="143741"/>
                  </a:lnTo>
                  <a:lnTo>
                    <a:pt x="85725" y="223189"/>
                  </a:lnTo>
                  <a:lnTo>
                    <a:pt x="85725" y="277655"/>
                  </a:lnTo>
                  <a:cubicBezTo>
                    <a:pt x="194024" y="267976"/>
                    <a:pt x="278606" y="185741"/>
                    <a:pt x="278606" y="85725"/>
                  </a:cubicBezTo>
                  <a:lnTo>
                    <a:pt x="278606" y="0"/>
                  </a:lnTo>
                  <a:lnTo>
                    <a:pt x="214312" y="0"/>
                  </a:ln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05950" y="2647950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自然推理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1665" y="2934652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物体属性与分类排除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0" y="3381375"/>
              <a:ext cx="552450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318647" y="3571875"/>
              <a:ext cx="278606" cy="342900"/>
            </a:xfrm>
            <a:custGeom>
              <a:avLst/>
              <a:gdLst/>
              <a:ahLst/>
              <a:cxnLst/>
              <a:rect l="l" t="t" r="r" b="b"/>
              <a:pathLst>
                <a:path w="278606" h="342900">
                  <a:moveTo>
                    <a:pt x="78006" y="101276"/>
                  </a:moveTo>
                  <a:cubicBezTo>
                    <a:pt x="95314" y="92394"/>
                    <a:pt x="107156" y="74369"/>
                    <a:pt x="107156" y="53578"/>
                  </a:cubicBezTo>
                  <a:cubicBezTo>
                    <a:pt x="107156" y="23988"/>
                    <a:pt x="83168" y="0"/>
                    <a:pt x="53578" y="0"/>
                  </a:cubicBezTo>
                  <a:cubicBezTo>
                    <a:pt x="23988" y="0"/>
                    <a:pt x="0" y="23988"/>
                    <a:pt x="0" y="53578"/>
                  </a:cubicBezTo>
                  <a:cubicBezTo>
                    <a:pt x="0" y="75549"/>
                    <a:pt x="13224" y="94430"/>
                    <a:pt x="32147" y="102698"/>
                  </a:cubicBezTo>
                  <a:lnTo>
                    <a:pt x="32147" y="240201"/>
                  </a:lnTo>
                  <a:cubicBezTo>
                    <a:pt x="13224" y="248470"/>
                    <a:pt x="0" y="267351"/>
                    <a:pt x="0" y="289322"/>
                  </a:cubicBezTo>
                  <a:cubicBezTo>
                    <a:pt x="0" y="318912"/>
                    <a:pt x="23988" y="342900"/>
                    <a:pt x="53578" y="342900"/>
                  </a:cubicBezTo>
                  <a:cubicBezTo>
                    <a:pt x="83168" y="342900"/>
                    <a:pt x="107156" y="318912"/>
                    <a:pt x="107156" y="289322"/>
                  </a:cubicBezTo>
                  <a:cubicBezTo>
                    <a:pt x="107156" y="267351"/>
                    <a:pt x="93932" y="248470"/>
                    <a:pt x="75009" y="240201"/>
                  </a:cubicBezTo>
                  <a:lnTo>
                    <a:pt x="75009" y="158896"/>
                  </a:lnTo>
                  <a:lnTo>
                    <a:pt x="119710" y="203597"/>
                  </a:lnTo>
                  <a:lnTo>
                    <a:pt x="175908" y="203597"/>
                  </a:lnTo>
                  <a:cubicBezTo>
                    <a:pt x="184176" y="222521"/>
                    <a:pt x="203057" y="235744"/>
                    <a:pt x="225028" y="235744"/>
                  </a:cubicBezTo>
                  <a:cubicBezTo>
                    <a:pt x="254618" y="235744"/>
                    <a:pt x="278606" y="211756"/>
                    <a:pt x="278606" y="182166"/>
                  </a:cubicBezTo>
                  <a:cubicBezTo>
                    <a:pt x="278606" y="152575"/>
                    <a:pt x="254618" y="128588"/>
                    <a:pt x="225028" y="128588"/>
                  </a:cubicBezTo>
                  <a:cubicBezTo>
                    <a:pt x="203057" y="128588"/>
                    <a:pt x="184176" y="141812"/>
                    <a:pt x="175908" y="160734"/>
                  </a:cubicBezTo>
                  <a:lnTo>
                    <a:pt x="137465" y="160734"/>
                  </a:lnTo>
                  <a:lnTo>
                    <a:pt x="78006" y="101276"/>
                  </a:lnTo>
                  <a:close/>
                </a:path>
              </a:pathLst>
            </a:custGeom>
            <a:solidFill>
              <a:srgbClr val="C8943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43700" y="3552825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融合推理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9415" y="3839528"/>
              <a:ext cx="2752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跨域联合约束求解（测试集占比 67.5%）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4355" y="4476750"/>
            <a:ext cx="11066145" cy="1957388"/>
            <a:chOff x="554355" y="4476750"/>
            <a:chExt cx="11066145" cy="1957388"/>
          </a:xfrm>
        </p:grpSpPr>
        <p:sp>
          <p:nvSpPr>
            <p:cNvPr id="41" name="Rectangle 41"/>
            <p:cNvSpPr/>
            <p:nvPr/>
          </p:nvSpPr>
          <p:spPr>
            <a:xfrm>
              <a:off x="571500" y="4476750"/>
              <a:ext cx="11049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4355" y="4616768"/>
              <a:ext cx="7388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关键特征：23.6% 题目为不定项选择 · 训练-测试域偏移严重（单域 97.2% → 32.5%）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4355" y="5045392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数据分布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5334000"/>
              <a:ext cx="5524500" cy="285750"/>
            </a:xfrm>
            <a:prstGeom prst="roundRect">
              <a:avLst>
                <a:gd name="adj" fmla="val 6667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8212" y="5412581"/>
              <a:ext cx="364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领域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00681" y="5412581"/>
              <a:ext cx="532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训练集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99192" y="5412581"/>
              <a:ext cx="364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" y="5619750"/>
              <a:ext cx="5524500" cy="2667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9165" y="5687378"/>
              <a:ext cx="1594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time / space / nature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51227" y="5687378"/>
              <a:ext cx="6315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各 1,000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69461" y="5687378"/>
              <a:ext cx="624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中英各半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71500" y="5886450"/>
              <a:ext cx="55245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9165" y="5954078"/>
              <a:ext cx="4448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social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30450" y="5954078"/>
              <a:ext cx="2731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500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069461" y="5954078"/>
              <a:ext cx="624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中文为主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6153150"/>
              <a:ext cx="5524500" cy="2667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9165" y="6220778"/>
              <a:ext cx="1012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space+nature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30450" y="6220778"/>
              <a:ext cx="2731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69461" y="6220778"/>
              <a:ext cx="624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中文为主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6444488" cy="649709"/>
            <a:chOff x="571500" y="441008"/>
            <a:chExt cx="6444488" cy="649709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242374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四大核心挑战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629018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训练-测试域偏移、不定项选择、中英双语、模型规模限制迫使方案设计上做出权衡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333500"/>
            <a:ext cx="11049000" cy="5048250"/>
            <a:chOff x="571500" y="1333500"/>
            <a:chExt cx="11049000" cy="504825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5334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57250" y="1619250"/>
              <a:ext cx="381000" cy="357188"/>
            </a:xfrm>
            <a:custGeom>
              <a:avLst/>
              <a:gdLst/>
              <a:ahLst/>
              <a:cxnLst/>
              <a:rect l="l" t="t" r="r" b="b"/>
              <a:pathLst>
                <a:path w="381000" h="357188">
                  <a:moveTo>
                    <a:pt x="381000" y="357188"/>
                  </a:moveTo>
                  <a:lnTo>
                    <a:pt x="0" y="357188"/>
                  </a:lnTo>
                  <a:lnTo>
                    <a:pt x="0" y="285750"/>
                  </a:lnTo>
                  <a:lnTo>
                    <a:pt x="166688" y="0"/>
                  </a:lnTo>
                  <a:lnTo>
                    <a:pt x="214312" y="0"/>
                  </a:lnTo>
                  <a:lnTo>
                    <a:pt x="381000" y="285750"/>
                  </a:lnTo>
                  <a:lnTo>
                    <a:pt x="381000" y="357188"/>
                  </a:lnTo>
                  <a:close/>
                  <a:moveTo>
                    <a:pt x="166688" y="95250"/>
                  </a:moveTo>
                  <a:lnTo>
                    <a:pt x="214312" y="95250"/>
                  </a:lnTo>
                  <a:lnTo>
                    <a:pt x="214312" y="214312"/>
                  </a:lnTo>
                  <a:lnTo>
                    <a:pt x="166688" y="214312"/>
                  </a:lnTo>
                  <a:lnTo>
                    <a:pt x="166688" y="95250"/>
                  </a:lnTo>
                  <a:close/>
                  <a:moveTo>
                    <a:pt x="166688" y="261938"/>
                  </a:moveTo>
                  <a:lnTo>
                    <a:pt x="214312" y="261938"/>
                  </a:lnTo>
                  <a:lnTo>
                    <a:pt x="214312" y="309562"/>
                  </a:lnTo>
                  <a:lnTo>
                    <a:pt x="166688" y="309562"/>
                  </a:lnTo>
                  <a:lnTo>
                    <a:pt x="166688" y="261938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7795" y="1707832"/>
              <a:ext cx="19024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训练-测试域偏移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0105" y="2092642"/>
              <a:ext cx="22804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训练集 </a:t>
              </a:r>
              <a:r>
                <a:rPr lang="en-US" sz="135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97.2%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为单域题目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0105" y="2349818"/>
              <a:ext cx="2472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测试集 </a:t>
              </a:r>
              <a:r>
                <a:rPr lang="en-US" sz="135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67.5%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为融合域题目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0105" y="2664142"/>
              <a:ext cx="2953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要求推理方法具备</a:t>
              </a:r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跨域泛化</a:t>
              </a:r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能力，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0105" y="2921318"/>
              <a:ext cx="2722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单域训练不足以应对融合域测试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5334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1333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572250" y="16192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lose/>
                  <a:moveTo>
                    <a:pt x="302588" y="135901"/>
                  </a:moveTo>
                  <a:lnTo>
                    <a:pt x="268912" y="102224"/>
                  </a:lnTo>
                  <a:lnTo>
                    <a:pt x="154781" y="216355"/>
                  </a:lnTo>
                  <a:lnTo>
                    <a:pt x="112088" y="173662"/>
                  </a:lnTo>
                  <a:lnTo>
                    <a:pt x="78412" y="207338"/>
                  </a:lnTo>
                  <a:lnTo>
                    <a:pt x="154781" y="283707"/>
                  </a:lnTo>
                  <a:lnTo>
                    <a:pt x="302588" y="135901"/>
                  </a:lnTo>
                  <a:close/>
                </a:path>
              </a:pathLst>
            </a:custGeom>
            <a:solidFill>
              <a:srgbClr val="C8943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22795" y="1707832"/>
              <a:ext cx="12740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不定项选择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5105" y="2092642"/>
              <a:ext cx="2222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848 / 3600 题（</a:t>
              </a:r>
              <a:r>
                <a:rPr lang="en-US" sz="1350" b="1" dirty="0">
                  <a:solidFill>
                    <a:srgbClr val="C8943E"/>
                  </a:solidFill>
                  <a:latin typeface="Arial"/>
                  <a:ea typeface="Arial"/>
                  <a:cs typeface="Arial"/>
                </a:rPr>
                <a:t>23.6%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5105" y="234981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有多于一个正确答案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5105" y="2664142"/>
              <a:ext cx="23865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输出格式须支持</a:t>
              </a:r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多答案列表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5105" y="2921318"/>
              <a:ext cx="32698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例：{"answers": ["A", "B", "C"]}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4000500"/>
              <a:ext cx="5334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4000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57250" y="4310062"/>
              <a:ext cx="381000" cy="333376"/>
              <a:chOff x="857250" y="4310062"/>
              <a:chExt cx="381000" cy="33337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28688" y="431006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119062" y="59531"/>
                    </a:move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cubicBezTo>
                      <a:pt x="0" y="26653"/>
                      <a:pt x="26653" y="0"/>
                      <a:pt x="59531" y="0"/>
                    </a:cubicBezTo>
                    <a:cubicBezTo>
                      <a:pt x="92409" y="0"/>
                      <a:pt x="119062" y="26653"/>
                      <a:pt x="119062" y="59531"/>
                    </a:cubicBez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7250" y="4476750"/>
                <a:ext cx="190500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6668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lnTo>
                      <a:pt x="0" y="166688"/>
                    </a:lnTo>
                    <a:lnTo>
                      <a:pt x="190500" y="166688"/>
                    </a:lnTo>
                    <a:lnTo>
                      <a:pt x="190500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95375" y="4476750"/>
                <a:ext cx="1428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66688">
                    <a:moveTo>
                      <a:pt x="71438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142875" y="166688"/>
                    </a:lnTo>
                    <a:lnTo>
                      <a:pt x="142875" y="71438"/>
                    </a:lnTo>
                    <a:cubicBezTo>
                      <a:pt x="142875" y="31984"/>
                      <a:pt x="110892" y="0"/>
                      <a:pt x="71438" y="0"/>
                    </a:cubicBez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95375" y="4333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07795" y="437483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中英双语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105" y="4759642"/>
              <a:ext cx="1884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中文 </a:t>
              </a:r>
              <a:r>
                <a:rPr lang="en-US" sz="135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58%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+ 英文 </a:t>
              </a:r>
              <a:r>
                <a:rPr lang="en-US" sz="135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42%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105" y="5016818"/>
              <a:ext cx="2972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推理 prompt 需</a:t>
              </a:r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统一处理</a:t>
              </a:r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两种语言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0105" y="5273992"/>
              <a:ext cx="2684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不可按语言分模型或分 prompt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4000500"/>
              <a:ext cx="5334000" cy="2381250"/>
            </a:xfrm>
            <a:prstGeom prst="roundRect">
              <a:avLst>
                <a:gd name="adj" fmla="val 16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86500" y="4000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72250" y="4286250"/>
              <a:ext cx="381000" cy="381000"/>
              <a:chOff x="6572250" y="4286250"/>
              <a:chExt cx="381000" cy="381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715125" y="4429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0"/>
                    </a:ln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72250" y="428625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71438" y="47625"/>
                    </a:moveTo>
                    <a:lnTo>
                      <a:pt x="71438" y="0"/>
                    </a:lnTo>
                    <a:lnTo>
                      <a:pt x="119062" y="0"/>
                    </a:lnTo>
                    <a:lnTo>
                      <a:pt x="119062" y="47625"/>
                    </a:lnTo>
                    <a:lnTo>
                      <a:pt x="166688" y="47625"/>
                    </a:lnTo>
                    <a:lnTo>
                      <a:pt x="166688" y="0"/>
                    </a:lnTo>
                    <a:lnTo>
                      <a:pt x="214312" y="0"/>
                    </a:lnTo>
                    <a:lnTo>
                      <a:pt x="214312" y="47625"/>
                    </a:lnTo>
                    <a:lnTo>
                      <a:pt x="261938" y="47625"/>
                    </a:lnTo>
                    <a:lnTo>
                      <a:pt x="261938" y="0"/>
                    </a:lnTo>
                    <a:lnTo>
                      <a:pt x="309562" y="0"/>
                    </a:lnTo>
                    <a:lnTo>
                      <a:pt x="309562" y="47625"/>
                    </a:lnTo>
                    <a:lnTo>
                      <a:pt x="333375" y="47625"/>
                    </a:lnTo>
                    <a:lnTo>
                      <a:pt x="333375" y="71438"/>
                    </a:lnTo>
                    <a:lnTo>
                      <a:pt x="381000" y="71438"/>
                    </a:lnTo>
                    <a:lnTo>
                      <a:pt x="381000" y="119062"/>
                    </a:lnTo>
                    <a:lnTo>
                      <a:pt x="333375" y="119062"/>
                    </a:lnTo>
                    <a:lnTo>
                      <a:pt x="333375" y="166688"/>
                    </a:lnTo>
                    <a:lnTo>
                      <a:pt x="381000" y="166688"/>
                    </a:lnTo>
                    <a:lnTo>
                      <a:pt x="381000" y="214312"/>
                    </a:lnTo>
                    <a:lnTo>
                      <a:pt x="333375" y="214312"/>
                    </a:lnTo>
                    <a:lnTo>
                      <a:pt x="333375" y="261938"/>
                    </a:lnTo>
                    <a:lnTo>
                      <a:pt x="381000" y="261938"/>
                    </a:lnTo>
                    <a:lnTo>
                      <a:pt x="381000" y="309562"/>
                    </a:lnTo>
                    <a:lnTo>
                      <a:pt x="333375" y="309562"/>
                    </a:lnTo>
                    <a:lnTo>
                      <a:pt x="333375" y="333375"/>
                    </a:lnTo>
                    <a:lnTo>
                      <a:pt x="309562" y="333375"/>
                    </a:lnTo>
                    <a:lnTo>
                      <a:pt x="309562" y="381000"/>
                    </a:lnTo>
                    <a:lnTo>
                      <a:pt x="261938" y="381000"/>
                    </a:lnTo>
                    <a:lnTo>
                      <a:pt x="261938" y="333375"/>
                    </a:lnTo>
                    <a:lnTo>
                      <a:pt x="214312" y="333375"/>
                    </a:lnTo>
                    <a:lnTo>
                      <a:pt x="214312" y="381000"/>
                    </a:lnTo>
                    <a:lnTo>
                      <a:pt x="166688" y="381000"/>
                    </a:lnTo>
                    <a:lnTo>
                      <a:pt x="166688" y="333375"/>
                    </a:lnTo>
                    <a:lnTo>
                      <a:pt x="119062" y="333375"/>
                    </a:lnTo>
                    <a:lnTo>
                      <a:pt x="119062" y="381000"/>
                    </a:lnTo>
                    <a:lnTo>
                      <a:pt x="71438" y="381000"/>
                    </a:lnTo>
                    <a:lnTo>
                      <a:pt x="71438" y="333375"/>
                    </a:lnTo>
                    <a:lnTo>
                      <a:pt x="47625" y="333375"/>
                    </a:lnTo>
                    <a:lnTo>
                      <a:pt x="47625" y="309562"/>
                    </a:lnTo>
                    <a:lnTo>
                      <a:pt x="0" y="309562"/>
                    </a:lnTo>
                    <a:lnTo>
                      <a:pt x="0" y="261938"/>
                    </a:lnTo>
                    <a:lnTo>
                      <a:pt x="47625" y="261938"/>
                    </a:lnTo>
                    <a:lnTo>
                      <a:pt x="47625" y="214312"/>
                    </a:lnTo>
                    <a:lnTo>
                      <a:pt x="0" y="214312"/>
                    </a:lnTo>
                    <a:lnTo>
                      <a:pt x="0" y="166688"/>
                    </a:lnTo>
                    <a:lnTo>
                      <a:pt x="47625" y="166688"/>
                    </a:lnTo>
                    <a:lnTo>
                      <a:pt x="47625" y="119062"/>
                    </a:lnTo>
                    <a:lnTo>
                      <a:pt x="0" y="119062"/>
                    </a:lnTo>
                    <a:lnTo>
                      <a:pt x="0" y="71438"/>
                    </a:lnTo>
                    <a:lnTo>
                      <a:pt x="47625" y="71438"/>
                    </a:lnTo>
                    <a:lnTo>
                      <a:pt x="47625" y="47625"/>
                    </a:lnTo>
                    <a:lnTo>
                      <a:pt x="71438" y="47625"/>
                    </a:lnTo>
                    <a:close/>
                    <a:moveTo>
                      <a:pt x="95250" y="95250"/>
                    </a:moveTo>
                    <a:lnTo>
                      <a:pt x="95250" y="285750"/>
                    </a:lnTo>
                    <a:lnTo>
                      <a:pt x="285750" y="285750"/>
                    </a:lnTo>
                    <a:lnTo>
                      <a:pt x="285750" y="95250"/>
                    </a:lnTo>
                    <a:lnTo>
                      <a:pt x="95250" y="95250"/>
                    </a:ln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22795" y="437483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竞赛约束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5105" y="4759642"/>
              <a:ext cx="2598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模型规模 ≤ </a:t>
              </a:r>
              <a:r>
                <a:rPr lang="en-US" sz="135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8B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参数（Dense）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55105" y="501681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禁止使用外部数据集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5105" y="5273992"/>
              <a:ext cx="34523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选型：Qwen2.5-7B-Instruct（7.6B）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3083964" cy="716280"/>
            <a:chOff x="571500" y="441008"/>
            <a:chExt cx="13083964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2952519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Neuro-Symbolic 路线：理解与推理分离的混合架构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5516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设计思路：LLM 将 NL → 约束 JSON → 确定性符号求解器推导答案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476375"/>
            <a:ext cx="11049000" cy="666750"/>
            <a:chOff x="571500" y="1476375"/>
            <a:chExt cx="11049000" cy="666750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1905000" cy="666750"/>
            </a:xfrm>
            <a:prstGeom prst="roundRect">
              <a:avLst>
                <a:gd name="adj" fmla="val 5714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142" y="1616392"/>
              <a:ext cx="12037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约束 Schema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6881" y="1875949"/>
              <a:ext cx="1134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标准化 JSON 格式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76500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000375" y="1476375"/>
              <a:ext cx="1905000" cy="666750"/>
            </a:xfrm>
            <a:prstGeom prst="roundRect">
              <a:avLst>
                <a:gd name="adj" fmla="val 5714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15733" y="1616392"/>
              <a:ext cx="12742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约束提取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89224" y="1875949"/>
              <a:ext cx="11273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NL → 结构化 JSON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05375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0" y="1476375"/>
              <a:ext cx="1905000" cy="666750"/>
            </a:xfrm>
            <a:prstGeom prst="roundRect">
              <a:avLst>
                <a:gd name="adj" fmla="val 5714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60542" y="1616392"/>
              <a:ext cx="10424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符号求解器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97842" y="1875949"/>
              <a:ext cx="9678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CSP / 传递闭包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334250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58125" y="1476375"/>
              <a:ext cx="1905000" cy="666750"/>
            </a:xfrm>
            <a:prstGeom prst="roundRect">
              <a:avLst>
                <a:gd name="adj" fmla="val 5714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0230" y="1616392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答案验证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1532" y="1875949"/>
              <a:ext cx="7181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多题型匹配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763125" y="1809750"/>
              <a:ext cx="476250" cy="1"/>
            </a:xfrm>
            <a:prstGeom prst="line">
              <a:avLst/>
            </a:pr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287000" y="1476375"/>
              <a:ext cx="1333500" cy="66675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665866" y="1647825"/>
              <a:ext cx="5757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3.6%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2450" y="2409825"/>
            <a:ext cx="11068050" cy="828675"/>
            <a:chOff x="552450" y="2409825"/>
            <a:chExt cx="11068050" cy="828675"/>
          </a:xfrm>
        </p:grpSpPr>
        <p:sp>
          <p:nvSpPr>
            <p:cNvPr id="26" name="TextBox 26"/>
            <p:cNvSpPr txBox="1"/>
            <p:nvPr/>
          </p:nvSpPr>
          <p:spPr>
            <a:xfrm>
              <a:off x="552450" y="2409825"/>
              <a:ext cx="20543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五大领域符号求解器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2762250"/>
              <a:ext cx="20955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135" y="2918460"/>
              <a:ext cx="204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时间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约束传播+拓扑排序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09875" y="2762250"/>
              <a:ext cx="20955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37510" y="2918460"/>
              <a:ext cx="16008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空间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CSP 回溯搜索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48250" y="2762250"/>
              <a:ext cx="20955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75885" y="2918460"/>
              <a:ext cx="18739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社会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关系图+传递闭包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86625" y="2762250"/>
              <a:ext cx="20955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14260" y="2918460"/>
              <a:ext cx="18739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自然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属性矩阵+排除法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0" y="2762250"/>
              <a:ext cx="20955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52635" y="2918460"/>
              <a:ext cx="1780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融合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分阶段信息注入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8640" y="3571875"/>
            <a:ext cx="11071860" cy="1619250"/>
            <a:chOff x="548640" y="3571875"/>
            <a:chExt cx="11071860" cy="1619250"/>
          </a:xfrm>
        </p:grpSpPr>
        <p:sp>
          <p:nvSpPr>
            <p:cNvPr id="38" name="Rectangle 38"/>
            <p:cNvSpPr/>
            <p:nvPr/>
          </p:nvSpPr>
          <p:spPr>
            <a:xfrm>
              <a:off x="571500" y="3571875"/>
              <a:ext cx="11049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640" y="3663315"/>
              <a:ext cx="19899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Microsoft YaHei"/>
                  <a:cs typeface="Georgia"/>
                </a:rPr>
                <a:t>失败根因分析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4048125"/>
              <a:ext cx="3524250" cy="1143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2480" y="4188142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实体名不一致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4385" y="4461510"/>
              <a:ext cx="1788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"跑步" vs "他跑步" ——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4385" y="4680585"/>
              <a:ext cx="19336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LLM 无法保持指代一致性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333875" y="4048125"/>
              <a:ext cx="3524250" cy="1143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54855" y="4188142"/>
              <a:ext cx="14456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偏移量识别错误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56760" y="4461510"/>
              <a:ext cx="18227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"after 2 days" 映射为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56760" y="4680585"/>
              <a:ext cx="13959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错误的相对偏移量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4048125"/>
              <a:ext cx="3524250" cy="1143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17230" y="4188142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约束遗漏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19135" y="4461510"/>
              <a:ext cx="15666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复杂场景中部分约束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19135" y="4680585"/>
              <a:ext cx="14727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被 LLM 忽略或省略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5476875"/>
            <a:ext cx="11049000" cy="571500"/>
            <a:chOff x="571500" y="5476875"/>
            <a:chExt cx="11049000" cy="571500"/>
          </a:xfrm>
        </p:grpSpPr>
        <p:sp>
          <p:nvSpPr>
            <p:cNvPr id="53" name="Rectangle 53"/>
            <p:cNvSpPr/>
            <p:nvPr/>
          </p:nvSpPr>
          <p:spPr>
            <a:xfrm>
              <a:off x="571500" y="5476875"/>
              <a:ext cx="11049000" cy="571500"/>
            </a:xfrm>
            <a:prstGeom prst="roundRect">
              <a:avLst>
                <a:gd name="adj" fmla="val 6667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3729" y="5651182"/>
              <a:ext cx="10304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Microsoft YaHei"/>
                  <a:cs typeface="Georgia"/>
                </a:rPr>
                <a:t>结论：LLM 精确结构化提取不可行 —— 正确率仅 3.6%，无法生成可用训练数据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4615055" cy="716280"/>
            <a:chOff x="571500" y="441008"/>
            <a:chExt cx="14615055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448361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同一个 DeepSeek-V3：约束提取 3.6% → CoT 推理 74.1%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59582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端到端推理比中间结构化表示更契合 LLM 的能力特点 —— 差距达 20 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51800" y="1714500"/>
            <a:ext cx="9787700" cy="4114800"/>
            <a:chOff x="1451800" y="1714500"/>
            <a:chExt cx="9787700" cy="4114800"/>
          </a:xfrm>
        </p:grpSpPr>
        <p:sp>
          <p:nvSpPr>
            <p:cNvPr id="7" name="Line 7"/>
            <p:cNvSpPr/>
            <p:nvPr/>
          </p:nvSpPr>
          <p:spPr>
            <a:xfrm>
              <a:off x="1905000" y="5429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1905000" y="45720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1905000" y="37147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28575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39812" y="5355431"/>
              <a:ext cx="236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1800" y="4498181"/>
              <a:ext cx="324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1800" y="3640931"/>
              <a:ext cx="324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40%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51800" y="2783681"/>
              <a:ext cx="324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60%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1800" y="1926431"/>
              <a:ext cx="324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80%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905000" y="1714500"/>
              <a:ext cx="9525" cy="3714750"/>
            </a:xfrm>
            <a:custGeom>
              <a:avLst/>
              <a:gdLst/>
              <a:ahLst/>
              <a:cxnLst/>
              <a:rect l="l" t="t" r="r" b="b"/>
              <a:pathLst>
                <a:path w="9525" h="3714750">
                  <a:moveTo>
                    <a:pt x="0" y="0"/>
                  </a:moveTo>
                  <a:lnTo>
                    <a:pt x="0" y="37147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905000" y="5429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74875" y="5585460"/>
              <a:ext cx="593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nature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238375" y="5372100"/>
              <a:ext cx="285750" cy="571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19375" y="2190750"/>
              <a:ext cx="285750" cy="323850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35081" y="2009299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87.5%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1270" y="5585460"/>
              <a:ext cx="3974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time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76625" y="5372100"/>
              <a:ext cx="285750" cy="571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57625" y="2238375"/>
              <a:ext cx="285750" cy="3190875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73331" y="2056924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86.1%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94047" y="5585460"/>
              <a:ext cx="5084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social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14875" y="5372100"/>
              <a:ext cx="285750" cy="571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95875" y="3095625"/>
              <a:ext cx="285750" cy="2333625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11581" y="2914174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63.4%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6564" y="5585460"/>
              <a:ext cx="499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space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5372100"/>
              <a:ext cx="285750" cy="571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34125" y="3333750"/>
              <a:ext cx="285750" cy="209550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9831" y="3152299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56.2%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46240" y="5585460"/>
              <a:ext cx="11570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space+nature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91375" y="5372100"/>
              <a:ext cx="285750" cy="5715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72375" y="3457575"/>
              <a:ext cx="285750" cy="1971675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8081" y="3276124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53.0%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324040" y="1537674"/>
            <a:ext cx="2646616" cy="230981"/>
            <a:chOff x="8572500" y="1524000"/>
            <a:chExt cx="2646616" cy="230981"/>
          </a:xfrm>
        </p:grpSpPr>
        <p:sp>
          <p:nvSpPr>
            <p:cNvPr id="40" name="Rectangle 40"/>
            <p:cNvSpPr/>
            <p:nvPr/>
          </p:nvSpPr>
          <p:spPr>
            <a:xfrm>
              <a:off x="8572500" y="1524000"/>
              <a:ext cx="152400" cy="152400"/>
            </a:xfrm>
            <a:prstGeom prst="roundRect">
              <a:avLst>
                <a:gd name="adj" fmla="val 12500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05205" y="1530950"/>
              <a:ext cx="144911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N-S 约束提取（平均 3.6%）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334625" y="1524000"/>
              <a:ext cx="152400" cy="152400"/>
            </a:xfrm>
            <a:prstGeom prst="roundRect">
              <a:avLst>
                <a:gd name="adj" fmla="val 12500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58462" y="1526381"/>
              <a:ext cx="660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CoT 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6048375"/>
            <a:ext cx="11049000" cy="523875"/>
            <a:chOff x="571500" y="6048375"/>
            <a:chExt cx="11049000" cy="523875"/>
          </a:xfrm>
        </p:grpSpPr>
        <p:sp>
          <p:nvSpPr>
            <p:cNvPr id="45" name="Rectangle 45"/>
            <p:cNvSpPr/>
            <p:nvPr/>
          </p:nvSpPr>
          <p:spPr>
            <a:xfrm>
              <a:off x="571500" y="6048375"/>
              <a:ext cx="11049000" cy="523875"/>
            </a:xfrm>
            <a:prstGeom prst="roundRect">
              <a:avLst>
                <a:gd name="adj" fmla="val 727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660398" y="6200775"/>
              <a:ext cx="8871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关键洞察：</a:t>
              </a:r>
              <a:r>
                <a:rPr lang="zh-CN" sz="1500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精确结构化提取是 LLM 弱项，CoT 逐步推理是其强项 —— Day 3 果断转向 CoT 路线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2658661" cy="716280"/>
            <a:chOff x="571500" y="441008"/>
            <a:chExt cx="12658661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25272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CoT 知识蒸馏：用强模型的推理能力训练受限模型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6611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DeepSeek-V3 (Teacher) → 推理链 → 过滤 → LoRA → Qwen2.5-7B (Student)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524000"/>
            <a:ext cx="11049000" cy="2286000"/>
            <a:chOff x="571500" y="1524000"/>
            <a:chExt cx="11049000" cy="22860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34290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524000"/>
              <a:ext cx="3429000" cy="457200"/>
            </a:xfrm>
            <a:prstGeom prst="roundRect">
              <a:avLst>
                <a:gd name="adj" fmla="val 833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28800"/>
              <a:ext cx="3429000" cy="152400"/>
            </a:xfrm>
            <a:prstGeom prst="rect">
              <a:avLst/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5896" y="1650682"/>
              <a:ext cx="3220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Phase 1 · CoT 数据生成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900112" y="2143125"/>
              <a:ext cx="257175" cy="342900"/>
              <a:chOff x="900112" y="2143125"/>
              <a:chExt cx="257175" cy="3429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00112" y="2280285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00112" y="2387441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0112" y="2143125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rgbClr val="1A3A5C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17308" y="2262664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训练集 3600 → DeepSeek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962" y="2593181"/>
              <a:ext cx="23168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并发调用 · 答案提取 · 质量过滤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2962" y="2831306"/>
              <a:ext cx="23008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保留正确推理链 → 2,668 条数据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4375" y="3143250"/>
              <a:ext cx="3143250" cy="342900"/>
            </a:xfrm>
            <a:prstGeom prst="roundRect">
              <a:avLst>
                <a:gd name="adj" fmla="val 11111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9566" y="3250406"/>
              <a:ext cx="23728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产出：cot_train_filtered.json</a:t>
              </a:r>
            </a:p>
          </p:txBody>
        </p:sp>
        <p:sp>
          <p:nvSpPr>
            <p:cNvPr id="20" name="Polygon 20"/>
            <p:cNvSpPr/>
            <p:nvPr/>
          </p:nvSpPr>
          <p:spPr>
            <a:xfrm rot="10800000">
              <a:off x="4095750" y="2476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0" y="19050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666750" y="95250"/>
                  </a:lnTo>
                  <a:lnTo>
                    <a:pt x="666750" y="285750"/>
                  </a:lnTo>
                  <a:lnTo>
                    <a:pt x="285750" y="285750"/>
                  </a:lnTo>
                  <a:lnTo>
                    <a:pt x="285750" y="381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57750" y="1524000"/>
              <a:ext cx="34290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7750" y="1524000"/>
              <a:ext cx="3429000" cy="457200"/>
            </a:xfrm>
            <a:prstGeom prst="roundRect">
              <a:avLst>
                <a:gd name="adj" fmla="val 8333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857750" y="1828800"/>
              <a:ext cx="3429000" cy="152400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77498" y="1650682"/>
              <a:ext cx="27895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Phase 2 · LoRA 微调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143500" y="2143125"/>
              <a:ext cx="342900" cy="342900"/>
              <a:chOff x="5143500" y="2143125"/>
              <a:chExt cx="342900" cy="342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272088" y="22717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0" y="0"/>
                    </a:ln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143500" y="2143125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64294" y="42862"/>
                    </a:moveTo>
                    <a:lnTo>
                      <a:pt x="64294" y="0"/>
                    </a:lnTo>
                    <a:lnTo>
                      <a:pt x="107156" y="0"/>
                    </a:lnTo>
                    <a:lnTo>
                      <a:pt x="107156" y="42862"/>
                    </a:lnTo>
                    <a:lnTo>
                      <a:pt x="150019" y="42862"/>
                    </a:lnTo>
                    <a:lnTo>
                      <a:pt x="150019" y="0"/>
                    </a:lnTo>
                    <a:lnTo>
                      <a:pt x="192881" y="0"/>
                    </a:lnTo>
                    <a:lnTo>
                      <a:pt x="192881" y="42862"/>
                    </a:lnTo>
                    <a:lnTo>
                      <a:pt x="235744" y="42862"/>
                    </a:lnTo>
                    <a:lnTo>
                      <a:pt x="235744" y="0"/>
                    </a:lnTo>
                    <a:lnTo>
                      <a:pt x="278606" y="0"/>
                    </a:lnTo>
                    <a:lnTo>
                      <a:pt x="278606" y="42862"/>
                    </a:lnTo>
                    <a:lnTo>
                      <a:pt x="300038" y="42862"/>
                    </a:lnTo>
                    <a:lnTo>
                      <a:pt x="300038" y="64294"/>
                    </a:lnTo>
                    <a:lnTo>
                      <a:pt x="342900" y="64294"/>
                    </a:lnTo>
                    <a:lnTo>
                      <a:pt x="342900" y="107156"/>
                    </a:lnTo>
                    <a:lnTo>
                      <a:pt x="300038" y="107156"/>
                    </a:lnTo>
                    <a:lnTo>
                      <a:pt x="300038" y="150019"/>
                    </a:lnTo>
                    <a:lnTo>
                      <a:pt x="342900" y="150019"/>
                    </a:lnTo>
                    <a:lnTo>
                      <a:pt x="342900" y="192881"/>
                    </a:lnTo>
                    <a:lnTo>
                      <a:pt x="300038" y="192881"/>
                    </a:lnTo>
                    <a:lnTo>
                      <a:pt x="300038" y="235744"/>
                    </a:lnTo>
                    <a:lnTo>
                      <a:pt x="342900" y="235744"/>
                    </a:lnTo>
                    <a:lnTo>
                      <a:pt x="342900" y="278606"/>
                    </a:lnTo>
                    <a:lnTo>
                      <a:pt x="300038" y="278606"/>
                    </a:lnTo>
                    <a:lnTo>
                      <a:pt x="300038" y="300038"/>
                    </a:lnTo>
                    <a:lnTo>
                      <a:pt x="278606" y="300038"/>
                    </a:lnTo>
                    <a:lnTo>
                      <a:pt x="278606" y="342900"/>
                    </a:lnTo>
                    <a:lnTo>
                      <a:pt x="235744" y="342900"/>
                    </a:lnTo>
                    <a:lnTo>
                      <a:pt x="235744" y="300038"/>
                    </a:lnTo>
                    <a:lnTo>
                      <a:pt x="192881" y="300038"/>
                    </a:lnTo>
                    <a:lnTo>
                      <a:pt x="192881" y="342900"/>
                    </a:lnTo>
                    <a:lnTo>
                      <a:pt x="150019" y="342900"/>
                    </a:lnTo>
                    <a:lnTo>
                      <a:pt x="150019" y="300038"/>
                    </a:lnTo>
                    <a:lnTo>
                      <a:pt x="107156" y="300038"/>
                    </a:lnTo>
                    <a:lnTo>
                      <a:pt x="107156" y="342900"/>
                    </a:lnTo>
                    <a:lnTo>
                      <a:pt x="64294" y="342900"/>
                    </a:lnTo>
                    <a:lnTo>
                      <a:pt x="64294" y="300038"/>
                    </a:lnTo>
                    <a:lnTo>
                      <a:pt x="42862" y="300038"/>
                    </a:lnTo>
                    <a:lnTo>
                      <a:pt x="42862" y="278606"/>
                    </a:lnTo>
                    <a:lnTo>
                      <a:pt x="0" y="278606"/>
                    </a:lnTo>
                    <a:lnTo>
                      <a:pt x="0" y="235744"/>
                    </a:lnTo>
                    <a:lnTo>
                      <a:pt x="42862" y="235744"/>
                    </a:lnTo>
                    <a:lnTo>
                      <a:pt x="42862" y="192881"/>
                    </a:lnTo>
                    <a:lnTo>
                      <a:pt x="0" y="192881"/>
                    </a:lnTo>
                    <a:lnTo>
                      <a:pt x="0" y="150019"/>
                    </a:lnTo>
                    <a:lnTo>
                      <a:pt x="42862" y="150019"/>
                    </a:lnTo>
                    <a:lnTo>
                      <a:pt x="42862" y="107156"/>
                    </a:lnTo>
                    <a:lnTo>
                      <a:pt x="0" y="107156"/>
                    </a:lnTo>
                    <a:lnTo>
                      <a:pt x="0" y="64294"/>
                    </a:lnTo>
                    <a:lnTo>
                      <a:pt x="42862" y="64294"/>
                    </a:lnTo>
                    <a:lnTo>
                      <a:pt x="42862" y="42862"/>
                    </a:lnTo>
                    <a:lnTo>
                      <a:pt x="64294" y="42862"/>
                    </a:lnTo>
                    <a:close/>
                    <a:moveTo>
                      <a:pt x="85725" y="85725"/>
                    </a:moveTo>
                    <a:lnTo>
                      <a:pt x="85725" y="257175"/>
                    </a:lnTo>
                    <a:lnTo>
                      <a:pt x="257175" y="257175"/>
                    </a:lnTo>
                    <a:lnTo>
                      <a:pt x="257175" y="85725"/>
                    </a:lnTo>
                    <a:lnTo>
                      <a:pt x="85725" y="85725"/>
                    </a:ln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603558" y="2262664"/>
              <a:ext cx="23628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Qwen2.5-7B + LoRA (r=16)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29212" y="2593181"/>
              <a:ext cx="2156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可训练参数：40.4M (0.53%)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9212" y="2831306"/>
              <a:ext cx="26529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V100 32GB · ~14h · eval_loss=0.25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00625" y="3143250"/>
              <a:ext cx="3143250" cy="342900"/>
            </a:xfrm>
            <a:prstGeom prst="roundRect">
              <a:avLst>
                <a:gd name="adj" fmla="val 11111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61826" y="3250406"/>
              <a:ext cx="2220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产出：LoRA adapter (161MB)</a:t>
              </a:r>
            </a:p>
          </p:txBody>
        </p:sp>
        <p:sp>
          <p:nvSpPr>
            <p:cNvPr id="33" name="Polygon 33"/>
            <p:cNvSpPr/>
            <p:nvPr/>
          </p:nvSpPr>
          <p:spPr>
            <a:xfrm rot="10800000">
              <a:off x="8382000" y="2476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0" y="19050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666750" y="95250"/>
                  </a:lnTo>
                  <a:lnTo>
                    <a:pt x="666750" y="285750"/>
                  </a:lnTo>
                  <a:lnTo>
                    <a:pt x="285750" y="285750"/>
                  </a:lnTo>
                  <a:lnTo>
                    <a:pt x="285750" y="381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144000" y="1524000"/>
              <a:ext cx="24765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4000" y="1524000"/>
              <a:ext cx="2476500" cy="457200"/>
            </a:xfrm>
            <a:prstGeom prst="roundRect">
              <a:avLst>
                <a:gd name="adj" fmla="val 8333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44000" y="1828800"/>
              <a:ext cx="2476500" cy="152400"/>
            </a:xfrm>
            <a:prstGeom prst="rect">
              <a:avLst/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26628" y="1650682"/>
              <a:ext cx="11112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Phase 3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451181" y="2143125"/>
              <a:ext cx="300038" cy="342900"/>
              <a:chOff x="9451181" y="2143125"/>
              <a:chExt cx="300038" cy="3429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515475" y="2143125"/>
                <a:ext cx="171450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35744">
                    <a:moveTo>
                      <a:pt x="0" y="107156"/>
                    </a:moveTo>
                    <a:lnTo>
                      <a:pt x="64294" y="107156"/>
                    </a:lnTo>
                    <a:lnTo>
                      <a:pt x="64294" y="235744"/>
                    </a:lnTo>
                    <a:lnTo>
                      <a:pt x="107156" y="235744"/>
                    </a:lnTo>
                    <a:lnTo>
                      <a:pt x="107156" y="107156"/>
                    </a:lnTo>
                    <a:lnTo>
                      <a:pt x="171450" y="107156"/>
                    </a:lnTo>
                    <a:lnTo>
                      <a:pt x="171450" y="85725"/>
                    </a:lnTo>
                    <a:lnTo>
                      <a:pt x="85725" y="0"/>
                    </a:lnTo>
                    <a:lnTo>
                      <a:pt x="0" y="85725"/>
                    </a:lnTo>
                    <a:lnTo>
                      <a:pt x="0" y="107156"/>
                    </a:ln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451181" y="2314575"/>
                <a:ext cx="30003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71450">
                    <a:moveTo>
                      <a:pt x="0" y="171450"/>
                    </a:moveTo>
                    <a:lnTo>
                      <a:pt x="300038" y="171450"/>
                    </a:lnTo>
                    <a:lnTo>
                      <a:pt x="300038" y="0"/>
                    </a:lnTo>
                    <a:lnTo>
                      <a:pt x="257175" y="0"/>
                    </a:lnTo>
                    <a:lnTo>
                      <a:pt x="257175" y="128588"/>
                    </a:lnTo>
                    <a:lnTo>
                      <a:pt x="42862" y="128588"/>
                    </a:lnTo>
                    <a:lnTo>
                      <a:pt x="42862" y="0"/>
                    </a:ln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889808" y="2262664"/>
              <a:ext cx="14016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测试集推理+提交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15462" y="2593181"/>
              <a:ext cx="1148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多策略答案提取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15462" y="2831306"/>
              <a:ext cx="14927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断点续传 · 格式校验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86875" y="3143250"/>
              <a:ext cx="2190750" cy="342900"/>
            </a:xfrm>
            <a:prstGeom prst="roundRect">
              <a:avLst>
                <a:gd name="adj" fmla="val 11111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11856" y="3250406"/>
              <a:ext cx="1740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产出：submission.json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4191000"/>
            <a:ext cx="11049000" cy="1905000"/>
            <a:chOff x="571500" y="4191000"/>
            <a:chExt cx="11049000" cy="1905000"/>
          </a:xfrm>
        </p:grpSpPr>
        <p:sp>
          <p:nvSpPr>
            <p:cNvPr id="47" name="Rectangle 47"/>
            <p:cNvSpPr/>
            <p:nvPr/>
          </p:nvSpPr>
          <p:spPr>
            <a:xfrm>
              <a:off x="571500" y="4191000"/>
              <a:ext cx="11049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43896" y="4362450"/>
              <a:ext cx="41042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核心架构：Teacher → Student 知识蒸馏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95625" y="4748183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32390" y="4833908"/>
              <a:ext cx="13934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DeepSeek-V3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75685" y="5092035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Teacher · 零样本 74.1%</a:t>
              </a:r>
            </a:p>
          </p:txBody>
        </p:sp>
        <p:sp>
          <p:nvSpPr>
            <p:cNvPr id="52" name="Polygon 52"/>
            <p:cNvSpPr/>
            <p:nvPr/>
          </p:nvSpPr>
          <p:spPr>
            <a:xfrm rot="10800000">
              <a:off x="5857875" y="4843433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0" y="190500"/>
                  </a:moveTo>
                  <a:lnTo>
                    <a:pt x="381000" y="0"/>
                  </a:lnTo>
                  <a:lnTo>
                    <a:pt x="381000" y="95250"/>
                  </a:lnTo>
                  <a:lnTo>
                    <a:pt x="666750" y="95250"/>
                  </a:lnTo>
                  <a:lnTo>
                    <a:pt x="666750" y="285750"/>
                  </a:lnTo>
                  <a:lnTo>
                    <a:pt x="381000" y="28575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C8943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79211" y="4634835"/>
              <a:ext cx="624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知识蒸馏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19875" y="4748183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73442" y="4833908"/>
              <a:ext cx="13598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Qwen2.5-7B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87921" y="5092035"/>
              <a:ext cx="19309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Student · LoRA 微调 19.8%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1500" y="5619750"/>
              <a:ext cx="110490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312822" y="5795010"/>
              <a:ext cx="75663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输出格式：## Reasoning [逐步推理] + ## Answer {"answers": ["A", "B"]} · ChatML 格式统一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4189752" cy="716280"/>
            <a:chOff x="571500" y="441008"/>
            <a:chExt cx="14189752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405830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Phase 1：精心设计的 CoT Prompt 是推理链质量的保障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4230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全量 3,600 条生成仅需 2 小时 · API 成本约 $2-3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0545" y="1298258"/>
            <a:ext cx="5545455" cy="2654617"/>
            <a:chOff x="550545" y="1298258"/>
            <a:chExt cx="5545455" cy="2654617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298258"/>
              <a:ext cx="24076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System Prompt 设计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666875"/>
              <a:ext cx="55245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66875"/>
              <a:ext cx="552450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4385" y="1870710"/>
              <a:ext cx="1105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输出格式要求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5338" y="2145506"/>
              <a:ext cx="10046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D3436"/>
                  </a:solidFill>
                  <a:latin typeface="Consolas"/>
                  <a:ea typeface="Consolas"/>
                  <a:cs typeface="Consolas"/>
                </a:rPr>
                <a:t>## Reasoning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5838" y="2374106"/>
              <a:ext cx="31169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逐步推理：实体识别 → 约束分析 → 逐项验证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2659856"/>
              <a:ext cx="8126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D3436"/>
                  </a:solidFill>
                  <a:latin typeface="Consolas"/>
                  <a:ea typeface="Consolas"/>
                  <a:cs typeface="Consolas"/>
                </a:rPr>
                <a:t>## Answer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5838" y="2888456"/>
              <a:ext cx="2004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D3436"/>
                  </a:solidFill>
                  <a:latin typeface="Consolas"/>
                  <a:ea typeface="Consolas"/>
                  <a:cs typeface="Consolas"/>
                </a:rPr>
                <a:t>{"answers": ["A", "B"]}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3185160"/>
              <a:ext cx="7473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关键要求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338" y="3450431"/>
              <a:ext cx="29569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明确多选支持 · 中英双语 · 三种题型兼容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56045" y="1298258"/>
            <a:ext cx="5164455" cy="2676048"/>
            <a:chOff x="6456045" y="1298258"/>
            <a:chExt cx="5164455" cy="2676048"/>
          </a:xfrm>
        </p:grpSpPr>
        <p:sp>
          <p:nvSpPr>
            <p:cNvPr id="18" name="TextBox 18"/>
            <p:cNvSpPr txBox="1"/>
            <p:nvPr/>
          </p:nvSpPr>
          <p:spPr>
            <a:xfrm>
              <a:off x="6456045" y="1298258"/>
              <a:ext cx="15204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工程实现细节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77000" y="1666875"/>
              <a:ext cx="51435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7000" y="1666875"/>
              <a:ext cx="514350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47510" y="1889760"/>
              <a:ext cx="7473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并发架构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48462" y="2145506"/>
              <a:ext cx="30369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ThreadPoolExecutor 5 线程并发 API 调用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47510" y="2423160"/>
              <a:ext cx="7473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断点续传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48462" y="2678906"/>
              <a:ext cx="24368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RLock 文件缓存，中断后自动恢复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47510" y="2956560"/>
              <a:ext cx="1464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三层容错答案提取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8462" y="3212306"/>
              <a:ext cx="30689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JSON 正则 → 独立 JSON 解析 → 纯文本回退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7510" y="3489960"/>
              <a:ext cx="7473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质量过滤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48462" y="3745706"/>
              <a:ext cx="27489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仅保留预测正确的推理链作为训练数据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50545" y="4286250"/>
            <a:ext cx="11069955" cy="1095375"/>
            <a:chOff x="550545" y="4286250"/>
            <a:chExt cx="11069955" cy="1095375"/>
          </a:xfrm>
        </p:grpSpPr>
        <p:sp>
          <p:nvSpPr>
            <p:cNvPr id="30" name="Rectangle 30"/>
            <p:cNvSpPr/>
            <p:nvPr/>
          </p:nvSpPr>
          <p:spPr>
            <a:xfrm>
              <a:off x="571500" y="4286250"/>
              <a:ext cx="11049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0545" y="4441508"/>
              <a:ext cx="7812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数据流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4857750"/>
              <a:ext cx="1714500" cy="523875"/>
            </a:xfrm>
            <a:prstGeom prst="roundRect">
              <a:avLst>
                <a:gd name="adj" fmla="val 727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1314" y="5024914"/>
              <a:ext cx="13748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3,600 训练样本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55545" y="498443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62250" y="4857750"/>
              <a:ext cx="1714500" cy="523875"/>
            </a:xfrm>
            <a:prstGeom prst="roundRect">
              <a:avLst>
                <a:gd name="adj" fmla="val 7273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22515" y="4910614"/>
              <a:ext cx="11939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DeepSeek API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63214" y="5160645"/>
              <a:ext cx="9125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CoT 推理链生成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6295" y="498443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53000" y="4857750"/>
              <a:ext cx="1714500" cy="523875"/>
            </a:xfrm>
            <a:prstGeom prst="roundRect">
              <a:avLst>
                <a:gd name="adj" fmla="val 7273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13210" y="4910614"/>
              <a:ext cx="7940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答案比对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02758" y="5160645"/>
              <a:ext cx="1014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vs ground truth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37045" y="498443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43750" y="4857750"/>
              <a:ext cx="1714500" cy="523875"/>
            </a:xfrm>
            <a:prstGeom prst="roundRect">
              <a:avLst>
                <a:gd name="adj" fmla="val 7273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03960" y="4910614"/>
              <a:ext cx="7940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质量过滤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69530" y="5160645"/>
              <a:ext cx="6629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仅保留正确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27795" y="498443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334500" y="4857750"/>
              <a:ext cx="2286000" cy="523875"/>
            </a:xfrm>
            <a:prstGeom prst="roundRect">
              <a:avLst>
                <a:gd name="adj" fmla="val 7273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94852" y="4910614"/>
              <a:ext cx="1565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2,668 条训练数据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66020" y="5160645"/>
              <a:ext cx="8229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4ED"/>
                  </a:solidFill>
                  <a:latin typeface="Arial"/>
                  <a:ea typeface="Microsoft YaHei"/>
                  <a:cs typeface="Arial"/>
                </a:rPr>
                <a:t>74.1% 正确率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9851660" cy="716280"/>
            <a:chOff x="571500" y="441008"/>
            <a:chExt cx="9851660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972021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分领域正确率揭示推理难度的显著差异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52573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nature/time 超过 85%，但 social/space/融合域仅 50-63%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38408" y="1428750"/>
            <a:ext cx="10201092" cy="4148138"/>
            <a:chOff x="1038408" y="1428750"/>
            <a:chExt cx="10201092" cy="4148138"/>
          </a:xfrm>
        </p:grpSpPr>
        <p:sp>
          <p:nvSpPr>
            <p:cNvPr id="7" name="Line 7"/>
            <p:cNvSpPr/>
            <p:nvPr/>
          </p:nvSpPr>
          <p:spPr>
            <a:xfrm>
              <a:off x="2667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4381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7810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56586" y="5363528"/>
              <a:ext cx="220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30014" y="536352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4514" y="536352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40%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59014" y="536352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60%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3514" y="536352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80%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667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667000" y="52387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8408" y="1680210"/>
              <a:ext cx="1500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nature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自然推理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67000" y="1619250"/>
              <a:ext cx="7505700" cy="28575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00796B"/>
                </a:gs>
                <a:gs pos="100000">
                  <a:srgbClr val="26A69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52710" y="1689735"/>
              <a:ext cx="5591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87.5%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4514" y="2204085"/>
              <a:ext cx="12948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time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时间推理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67000" y="2143125"/>
              <a:ext cx="7381875" cy="28575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00796B"/>
                </a:gs>
                <a:gs pos="100000">
                  <a:srgbClr val="26A69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28885" y="2213610"/>
              <a:ext cx="5591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86.1%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8019" y="2727960"/>
              <a:ext cx="1411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social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社会推理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67000" y="2667000"/>
              <a:ext cx="5438775" cy="28575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00796B"/>
                </a:gs>
                <a:gs pos="100000">
                  <a:srgbClr val="26A69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85785" y="2737485"/>
              <a:ext cx="5591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943E"/>
                  </a:solidFill>
                  <a:latin typeface="Arial"/>
                  <a:ea typeface="Arial"/>
                  <a:cs typeface="Arial"/>
                </a:rPr>
                <a:t>63.4%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6980" y="3251835"/>
              <a:ext cx="14023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space</a:t>
              </a:r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空间推理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67000" y="3190875"/>
              <a:ext cx="4819650" cy="28575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00796B"/>
                </a:gs>
                <a:gs pos="100000">
                  <a:srgbClr val="26A69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0" y="3261360"/>
              <a:ext cx="5591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943E"/>
                  </a:solidFill>
                  <a:latin typeface="Arial"/>
                  <a:ea typeface="Arial"/>
                  <a:cs typeface="Arial"/>
                </a:rPr>
                <a:t>56.2%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6017" y="3775710"/>
              <a:ext cx="12133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space+nature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667000" y="3714750"/>
              <a:ext cx="4543425" cy="285750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00796B"/>
                </a:gs>
                <a:gs pos="100000">
                  <a:srgbClr val="26A69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90435" y="3785235"/>
              <a:ext cx="5591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8943E"/>
                  </a:solidFill>
                  <a:latin typeface="Arial"/>
                  <a:ea typeface="Arial"/>
                  <a:cs typeface="Arial"/>
                </a:rPr>
                <a:t>53.0%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667000" y="4286250"/>
              <a:ext cx="6353175" cy="342900"/>
            </a:xfrm>
            <a:prstGeom prst="roundRect">
              <a:avLst>
                <a:gd name="adj" fmla="val 11111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41308" y="4377214"/>
              <a:ext cx="4132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07413" y="4305316"/>
              <a:ext cx="20794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74.1% · 2,668 / 3,600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5762625"/>
            <a:ext cx="11049000" cy="809625"/>
            <a:chOff x="571500" y="5762625"/>
            <a:chExt cx="11049000" cy="809625"/>
          </a:xfrm>
        </p:grpSpPr>
        <p:sp>
          <p:nvSpPr>
            <p:cNvPr id="38" name="Rectangle 38"/>
            <p:cNvSpPr/>
            <p:nvPr/>
          </p:nvSpPr>
          <p:spPr>
            <a:xfrm>
              <a:off x="571500" y="5762625"/>
              <a:ext cx="11049000" cy="809625"/>
            </a:xfrm>
            <a:prstGeom prst="roundRect">
              <a:avLst>
                <a:gd name="adj" fmla="val 4706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0105" y="5902642"/>
              <a:ext cx="437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010" y="6176010"/>
              <a:ext cx="98194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时间/自然类推理对 LLM 相对容易（规则明确、答案可枚举）；社会关系与空间布局需要更强的</a:t>
              </a:r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想象与推导能力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，是未来改进重点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2431832" cy="716280"/>
            <a:chOff x="571500" y="441008"/>
            <a:chExt cx="12431832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230038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仅 0.53% 可训练参数，实现推理能力的有效迁移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4892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LoRA r=16 · V100 32GB · ~14h · eval_loss 收敛至 0.25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1314450"/>
            <a:ext cx="4972050" cy="3740944"/>
            <a:chOff x="552450" y="1314450"/>
            <a:chExt cx="4972050" cy="3740944"/>
          </a:xfrm>
        </p:grpSpPr>
        <p:sp>
          <p:nvSpPr>
            <p:cNvPr id="7" name="TextBox 7"/>
            <p:cNvSpPr txBox="1"/>
            <p:nvPr/>
          </p:nvSpPr>
          <p:spPr>
            <a:xfrm>
              <a:off x="552450" y="1314450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训练配置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4953000" cy="342900"/>
            </a:xfrm>
            <a:prstGeom prst="roundRect">
              <a:avLst>
                <a:gd name="adj" fmla="val 5556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7260" y="1718310"/>
              <a:ext cx="3889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参数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4649" y="1718310"/>
              <a:ext cx="209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值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962150"/>
              <a:ext cx="495300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8212" y="2040731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基座模型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14701" y="2040731"/>
              <a:ext cx="18095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Qwen2.5-7B-Instruct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266950"/>
              <a:ext cx="4953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8212" y="2345531"/>
              <a:ext cx="788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LoRA r / 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23777" y="2345531"/>
              <a:ext cx="5914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16 / 32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495300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8212" y="2650331"/>
              <a:ext cx="8286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可训练参数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01287" y="2650331"/>
              <a:ext cx="2036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40.4M / 7,656M (0.53%)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2876550"/>
              <a:ext cx="4953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8212" y="2955131"/>
              <a:ext cx="5566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Epochs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9007" y="2955131"/>
              <a:ext cx="12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3181350"/>
              <a:ext cx="495300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212" y="3259931"/>
              <a:ext cx="1196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有效 Batch Size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02100" y="3259931"/>
              <a:ext cx="18348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16 (2×8 accumulation)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3486150"/>
              <a:ext cx="4953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8212" y="3564731"/>
              <a:ext cx="5086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学习率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20389" y="3564731"/>
              <a:ext cx="398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2e-4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790950"/>
              <a:ext cx="495300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8212" y="3869531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最大长度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0389" y="3869531"/>
              <a:ext cx="398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2048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4095750"/>
              <a:ext cx="4953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8212" y="4174331"/>
              <a:ext cx="2926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GPU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06300" y="4174331"/>
              <a:ext cx="1826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Tesla V100-SXM2-32GB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4400550"/>
              <a:ext cx="4953000" cy="3048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8212" y="4479131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训练时间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0389" y="4479131"/>
              <a:ext cx="398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~14h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1500" y="4705350"/>
              <a:ext cx="4953000" cy="342900"/>
            </a:xfrm>
            <a:prstGeom prst="roundRect">
              <a:avLst>
                <a:gd name="adj" fmla="val 5556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8212" y="4812506"/>
              <a:ext cx="7762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Eval Loss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89108" y="4796314"/>
              <a:ext cx="6607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0.2478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76950" y="1314450"/>
            <a:ext cx="5543550" cy="2843212"/>
            <a:chOff x="6076950" y="1314450"/>
            <a:chExt cx="5543550" cy="2843212"/>
          </a:xfrm>
        </p:grpSpPr>
        <p:sp>
          <p:nvSpPr>
            <p:cNvPr id="42" name="TextBox 42"/>
            <p:cNvSpPr txBox="1"/>
            <p:nvPr/>
          </p:nvSpPr>
          <p:spPr>
            <a:xfrm>
              <a:off x="6076950" y="1314450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关键技术决策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0" y="1619250"/>
              <a:ext cx="5524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66510" y="1727835"/>
              <a:ext cx="1464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目标模块全面覆盖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8415" y="1944052"/>
              <a:ext cx="41263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Q/K/V/O + Up/Down/Gate —— 所有 attention 和 FFN 线性层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0" y="2286000"/>
              <a:ext cx="5524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66510" y="2394585"/>
              <a:ext cx="7473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显存优化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68415" y="2610802"/>
              <a:ext cx="34692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bf16 混合精度 + gradient checkpointing 节省显存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96000" y="2952750"/>
              <a:ext cx="5524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66510" y="3061335"/>
              <a:ext cx="12043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训练/验证分割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68415" y="3277552"/>
              <a:ext cx="3095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90/10 训练验证集分割，best model 自动保存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96000" y="3619500"/>
              <a:ext cx="5524500" cy="52387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66510" y="3728085"/>
              <a:ext cx="9265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云平台兼容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68415" y="3944302"/>
              <a:ext cx="2968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ModelScope / HuggingFace 双通道模型下载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334000"/>
            <a:ext cx="11049000" cy="602456"/>
            <a:chOff x="571500" y="5334000"/>
            <a:chExt cx="11049000" cy="602456"/>
          </a:xfrm>
        </p:grpSpPr>
        <p:sp>
          <p:nvSpPr>
            <p:cNvPr id="56" name="Rectangle 56"/>
            <p:cNvSpPr/>
            <p:nvPr/>
          </p:nvSpPr>
          <p:spPr>
            <a:xfrm>
              <a:off x="571500" y="5334000"/>
              <a:ext cx="11049000" cy="571500"/>
            </a:xfrm>
            <a:prstGeom prst="roundRect">
              <a:avLst>
                <a:gd name="adj" fmla="val 6667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768636" y="5454968"/>
              <a:ext cx="86547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预训练权重</a:t>
              </a:r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冻结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W ∈ R^{d×k} + 低秩增量</a:t>
              </a:r>
              <a:r>
                <a:rPr lang="en-US" sz="135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 ΔW = BA</a:t>
              </a:r>
              <a:r>
                <a:rPr lang="en-US" sz="13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 · B ∈ R^{d×r}, A ∈ R^{r×k} · r = 16 ≪ min(d,k)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813429" y="5707856"/>
              <a:ext cx="4565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输出：checkpoints/cot_model/final/ · LoRA adapter 161MB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5437308" cy="716280"/>
            <a:chOff x="571500" y="441008"/>
            <a:chExt cx="15437308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530586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Phase 3：多策略答案提取 + 格式兼容性 = 可靠推理 Pipeline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51133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测试集 1,000 题 → 微调模型 → CoT 推理 → submission.json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2450" y="1362075"/>
            <a:ext cx="5353050" cy="3057525"/>
            <a:chOff x="552450" y="1362075"/>
            <a:chExt cx="5353050" cy="3057525"/>
          </a:xfrm>
        </p:grpSpPr>
        <p:sp>
          <p:nvSpPr>
            <p:cNvPr id="7" name="TextBox 7"/>
            <p:cNvSpPr txBox="1"/>
            <p:nvPr/>
          </p:nvSpPr>
          <p:spPr>
            <a:xfrm>
              <a:off x="552450" y="1362075"/>
              <a:ext cx="9342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推理流程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5334000" cy="419100"/>
            </a:xfrm>
            <a:prstGeom prst="roundRect">
              <a:avLst>
                <a:gd name="adj" fmla="val 9091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51634" y="1851660"/>
              <a:ext cx="2573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加载 LoRA adapter（不 merge）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53004" y="214598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476500"/>
              <a:ext cx="5334000" cy="419100"/>
            </a:xfrm>
            <a:prstGeom prst="roundRect">
              <a:avLst>
                <a:gd name="adj" fmla="val 9091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1255" y="2613660"/>
              <a:ext cx="43744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ChatML Prompt → model.generate (do_sample=False)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53004" y="294608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38500"/>
              <a:ext cx="5334000" cy="419100"/>
            </a:xfrm>
            <a:prstGeom prst="roundRect">
              <a:avLst>
                <a:gd name="adj" fmla="val 9091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48663" y="3375660"/>
              <a:ext cx="3179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多策略答案提取（JSON → regex → 回退）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53004" y="370808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4000500"/>
              <a:ext cx="5334000" cy="419100"/>
            </a:xfrm>
            <a:prstGeom prst="roundRect">
              <a:avLst>
                <a:gd name="adj" fmla="val 9091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3887" y="4137660"/>
              <a:ext cx="4929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submission.json · [{"id": "...", "answers": ["A", "B"]}]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57950" y="1362075"/>
            <a:ext cx="5162550" cy="3638550"/>
            <a:chOff x="6457950" y="1362075"/>
            <a:chExt cx="5162550" cy="3638550"/>
          </a:xfrm>
        </p:grpSpPr>
        <p:sp>
          <p:nvSpPr>
            <p:cNvPr id="20" name="TextBox 20"/>
            <p:cNvSpPr txBox="1"/>
            <p:nvPr/>
          </p:nvSpPr>
          <p:spPr>
            <a:xfrm>
              <a:off x="6457950" y="136207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三个关键决策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714500"/>
              <a:ext cx="5143500" cy="714375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7000" y="1714500"/>
              <a:ext cx="38100" cy="714375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52260" y="1851660"/>
              <a:ext cx="2208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放弃 merge_and_unload()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4165" y="2096452"/>
              <a:ext cx="4230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merge 后非空率从 19.8% 降至 9.7% → 直接用 PeftModel 推理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571750"/>
              <a:ext cx="5143500" cy="714375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7000" y="2571750"/>
              <a:ext cx="38100" cy="714375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2260" y="2708910"/>
              <a:ext cx="12850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fp16 替代 bf16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4165" y="2953702"/>
              <a:ext cx="41711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V100 不支持 bf16 → 改用 fp16 利用 Tensor Core 原生加速 2×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429000"/>
              <a:ext cx="5143500" cy="714375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7000" y="3429000"/>
              <a:ext cx="38100" cy="714375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2260" y="3566160"/>
              <a:ext cx="22528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逐步提升 max_new_tokens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4165" y="3810952"/>
              <a:ext cx="3133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512 → 768 → 1024，解决答案 JSON 被截断问题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4286250"/>
              <a:ext cx="5143500" cy="714375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7000" y="4286250"/>
              <a:ext cx="38100" cy="714375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2260" y="4423410"/>
              <a:ext cx="1105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断点续传推理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4165" y="4668202"/>
              <a:ext cx="29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每 100 条保存 checkpoint，意外中断可恢复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5286375"/>
            <a:ext cx="11049000" cy="523875"/>
            <a:chOff x="571500" y="5286375"/>
            <a:chExt cx="11049000" cy="523875"/>
          </a:xfrm>
        </p:grpSpPr>
        <p:sp>
          <p:nvSpPr>
            <p:cNvPr id="38" name="Rectangle 38"/>
            <p:cNvSpPr/>
            <p:nvPr/>
          </p:nvSpPr>
          <p:spPr>
            <a:xfrm>
              <a:off x="571500" y="5286375"/>
              <a:ext cx="11049000" cy="523875"/>
            </a:xfrm>
            <a:prstGeom prst="roundRect">
              <a:avLst>
                <a:gd name="adj" fmla="val 727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62821" y="5454968"/>
              <a:ext cx="82663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推理结果：</a:t>
              </a:r>
              <a:r>
                <a:rPr lang="en-US" sz="1350" b="1" dirty="0">
                  <a:solidFill>
                    <a:srgbClr val="1A3A5C"/>
                  </a:solidFill>
                  <a:latin typeface="Arial"/>
                  <a:ea typeface="Arial"/>
                  <a:cs typeface="Arial"/>
                </a:rPr>
                <a:t>1,000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条测试样本 → </a:t>
              </a:r>
              <a:r>
                <a:rPr lang="en-US" sz="135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198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条非空预测 (19.8%) · 答案分布均匀 A:90 B:78 C:92 D:92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0957448" cy="716280"/>
            <a:chOff x="571500" y="441008"/>
            <a:chExt cx="10957448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082600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消融实验全景：CoT 知识蒸馏路线全面领先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6035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Student 微调模型（19.8%）虽低于 Teacher，但已显著超越所有基线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62989" y="1685449"/>
            <a:ext cx="9195511" cy="3986689"/>
            <a:chOff x="1662989" y="1685449"/>
            <a:chExt cx="9195511" cy="3986689"/>
          </a:xfrm>
        </p:grpSpPr>
        <p:sp>
          <p:nvSpPr>
            <p:cNvPr id="7" name="Line 7"/>
            <p:cNvSpPr/>
            <p:nvPr/>
          </p:nvSpPr>
          <p:spPr>
            <a:xfrm>
              <a:off x="2095500" y="53340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2095500" y="447675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2095500" y="3619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2095500" y="276225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2095500" y="19050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9525">
              <a:solidFill>
                <a:srgbClr val="DDE4ED"/>
              </a:solidFill>
              <a:prstDash val="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45132" y="5268278"/>
              <a:ext cx="220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2989" y="441102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2989" y="355377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40%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2989" y="269652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60%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2989" y="1839278"/>
              <a:ext cx="302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80%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0955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095500" y="53340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80285" y="5458778"/>
              <a:ext cx="773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模板解析器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33625" y="5045868"/>
              <a:ext cx="333375" cy="288131"/>
            </a:xfrm>
            <a:prstGeom prst="roundRect">
              <a:avLst>
                <a:gd name="adj" fmla="val 8571"/>
              </a:avLst>
            </a:prstGeom>
            <a:gradFill>
              <a:gsLst>
                <a:gs pos="0">
                  <a:srgbClr val="90A4AE"/>
                </a:gs>
                <a:gs pos="100000">
                  <a:srgbClr val="546E7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393578" y="4867275"/>
              <a:ext cx="2941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46E7A"/>
                  </a:solidFill>
                  <a:latin typeface="Arial"/>
                  <a:ea typeface="Arial"/>
                  <a:cs typeface="Arial"/>
                </a:rPr>
                <a:t>~5%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5746" y="5458778"/>
              <a:ext cx="8705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N-S约束提取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57625" y="5200650"/>
              <a:ext cx="333375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EF5350"/>
                </a:gs>
                <a:gs pos="100000">
                  <a:srgbClr val="C6282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32426" y="5019199"/>
              <a:ext cx="3742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62828"/>
                  </a:solidFill>
                  <a:latin typeface="Arial"/>
                  <a:ea typeface="Arial"/>
                  <a:cs typeface="Arial"/>
                </a:rPr>
                <a:t>3.6%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0134" y="5458778"/>
              <a:ext cx="1049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Teacher零样本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81625" y="1866900"/>
              <a:ext cx="333375" cy="3467100"/>
            </a:xfrm>
            <a:prstGeom prst="roundRect">
              <a:avLst>
                <a:gd name="adj" fmla="val 8571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16381" y="1685449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74.1%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4134" y="5458778"/>
              <a:ext cx="1049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Student零样本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0516" y="5181124"/>
              <a:ext cx="214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46E7A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2810" y="5458778"/>
              <a:ext cx="900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Student微调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429625" y="4667250"/>
              <a:ext cx="333375" cy="666750"/>
            </a:xfrm>
            <a:prstGeom prst="roundRect">
              <a:avLst>
                <a:gd name="adj" fmla="val 8571"/>
              </a:avLst>
            </a:prstGeom>
            <a:gradFill>
              <a:gsLst>
                <a:gs pos="0">
                  <a:srgbClr val="26A69A"/>
                </a:gs>
                <a:gs pos="100000">
                  <a:srgbClr val="00796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64381" y="4485799"/>
              <a:ext cx="45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19.8%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5810250"/>
            <a:ext cx="11049000" cy="809625"/>
            <a:chOff x="571500" y="5810250"/>
            <a:chExt cx="11049000" cy="809625"/>
          </a:xfrm>
        </p:grpSpPr>
        <p:sp>
          <p:nvSpPr>
            <p:cNvPr id="34" name="Rectangle 34"/>
            <p:cNvSpPr/>
            <p:nvPr/>
          </p:nvSpPr>
          <p:spPr>
            <a:xfrm>
              <a:off x="571500" y="5810250"/>
              <a:ext cx="11049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1500" y="5953125"/>
              <a:ext cx="11049000" cy="666750"/>
            </a:xfrm>
            <a:prstGeom prst="roundRect">
              <a:avLst>
                <a:gd name="adj" fmla="val 5714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479891" y="6072664"/>
              <a:ext cx="72322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关键发现：</a:t>
              </a:r>
              <a:r>
                <a:rPr lang="zh-CN" sz="128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Student 零样本完全不会输出 JSON 格式（0%），微调后格式正确率大幅提升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65336" y="6336506"/>
              <a:ext cx="60613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非空率 19.8% 表明模型学会了选择性作答 · 知识蒸馏实现了推理格式能力的有效迁移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10985802" cy="716280"/>
            <a:chOff x="571500" y="441008"/>
            <a:chExt cx="10985802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08543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模型输出的推理链展现了逐步逻辑推导能力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76864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从时间线的"星期几"推算到空间的"圆桌座位"排列 —— CoT 将复杂问题分解为可管理子步骤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171" y="1428750"/>
            <a:ext cx="3562579" cy="4381500"/>
            <a:chOff x="533171" y="1428750"/>
            <a:chExt cx="3562579" cy="43815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3524250" cy="4381500"/>
            </a:xfrm>
            <a:prstGeom prst="roundRect">
              <a:avLst>
                <a:gd name="adj" fmla="val 1081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11604" y="156876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中文时间推理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886902"/>
              <a:ext cx="15201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列出事件和时间关系：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6290" y="21250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星期三：打羽毛球、开组会、跑步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6290" y="2344102"/>
              <a:ext cx="12214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星期四：整理宿舍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6290" y="2563178"/>
              <a:ext cx="21773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打羽毛球之后 2 天 → 约会(周五)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6290" y="2782252"/>
              <a:ext cx="20279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约会之后 1 天 → 看论文(周六)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14375" y="3095625"/>
              <a:ext cx="32385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665" y="3220402"/>
              <a:ext cx="1721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回答：在</a:t>
              </a:r>
              <a:r>
                <a:rPr lang="zh-CN" sz="10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跑步</a:t>
              </a:r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之前 2 天——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6290" y="3458528"/>
              <a:ext cx="19906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跑步 = 周三，2 天前 = 周一。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6290" y="3677602"/>
              <a:ext cx="12364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周一：检查选项——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6290" y="3896678"/>
              <a:ext cx="1915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在循环周中匹配对应事件...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" y="4238625"/>
              <a:ext cx="32385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4381500"/>
              <a:ext cx="1238250" cy="266700"/>
            </a:xfrm>
            <a:prstGeom prst="roundRect">
              <a:avLst>
                <a:gd name="adj" fmla="val 14286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3171" y="4466749"/>
              <a:ext cx="1695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{"answers": ["B","C"]}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33875" y="1428750"/>
            <a:ext cx="3524250" cy="4381500"/>
            <a:chOff x="4333875" y="1428750"/>
            <a:chExt cx="3524250" cy="4381500"/>
          </a:xfrm>
        </p:grpSpPr>
        <p:sp>
          <p:nvSpPr>
            <p:cNvPr id="24" name="Rectangle 24"/>
            <p:cNvSpPr/>
            <p:nvPr/>
          </p:nvSpPr>
          <p:spPr>
            <a:xfrm>
              <a:off x="4333875" y="1428750"/>
              <a:ext cx="3524250" cy="4381500"/>
            </a:xfrm>
            <a:prstGeom prst="roundRect">
              <a:avLst>
                <a:gd name="adj" fmla="val 1081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33875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73979" y="156876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中文自然推理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1040" y="1886902"/>
              <a:ext cx="2565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四个物品：鳕鱼、喇叭花、吐司、围巾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1040" y="2125028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四个位置：1, 2, 3, 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8665" y="2410778"/>
              <a:ext cx="19234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约束 1：1 号不属于加工食品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01540" y="2629852"/>
              <a:ext cx="900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→ 1 号 ≠ 吐司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8665" y="2915602"/>
              <a:ext cx="26926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约束 2：4 号不属于花草 → 4 号 ≠ 喇叭花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58665" y="3201352"/>
              <a:ext cx="25432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约束 3：1 号不属于活鱼 → 1 号 ≠ 鳕鱼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8665" y="3487102"/>
              <a:ext cx="25432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约束 4：2 号不属于服饰 → 2 号 ≠ 围巾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8665" y="3772852"/>
              <a:ext cx="17740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约束 5：3 号属于变温动物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1540" y="3991928"/>
              <a:ext cx="21175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→ 鳕鱼是变温动物 → 3 号 = 鳕鱼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6750" y="4333875"/>
              <a:ext cx="32385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24375" y="4476750"/>
              <a:ext cx="1238250" cy="266700"/>
            </a:xfrm>
            <a:prstGeom prst="roundRect">
              <a:avLst>
                <a:gd name="adj" fmla="val 14286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48099" y="4561999"/>
              <a:ext cx="1390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{"answers": ["A"]}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96250" y="1428750"/>
            <a:ext cx="3524250" cy="4381500"/>
            <a:chOff x="8096250" y="1428750"/>
            <a:chExt cx="3524250" cy="4381500"/>
          </a:xfrm>
        </p:grpSpPr>
        <p:sp>
          <p:nvSpPr>
            <p:cNvPr id="40" name="Rectangle 40"/>
            <p:cNvSpPr/>
            <p:nvPr/>
          </p:nvSpPr>
          <p:spPr>
            <a:xfrm>
              <a:off x="8096250" y="1428750"/>
              <a:ext cx="3524250" cy="4381500"/>
            </a:xfrm>
            <a:prstGeom prst="roundRect">
              <a:avLst>
                <a:gd name="adj" fmla="val 1081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9625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36354" y="1568768"/>
              <a:ext cx="12440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英文空间推理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73415" y="1886902"/>
              <a:ext cx="25432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Six people sitting in a circle facing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73415" y="2105978"/>
              <a:ext cx="2281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outward. Number positions 1-6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73415" y="2325052"/>
              <a:ext cx="1826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clockwise. "Left" means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73415" y="2544128"/>
              <a:ext cx="19906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counterclockwise from the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3415" y="2763202"/>
              <a:ext cx="1677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person's perspective.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286750" y="3048000"/>
              <a:ext cx="314325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73415" y="3201352"/>
              <a:ext cx="12662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Key constraints: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8665" y="3429952"/>
              <a:ext cx="1915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· A is 2 positions left of 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68665" y="3649028"/>
              <a:ext cx="21922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· C is D's right-hand neighbor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68665" y="3868102"/>
              <a:ext cx="2147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· E &amp; F separated by 1 person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86750" y="4191000"/>
              <a:ext cx="314325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73415" y="4315778"/>
              <a:ext cx="25357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Through systematic elimination...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286750" y="4572000"/>
              <a:ext cx="1428750" cy="266700"/>
            </a:xfrm>
            <a:prstGeom prst="roundRect">
              <a:avLst>
                <a:gd name="adj" fmla="val 14286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153171" y="4657249"/>
              <a:ext cx="1695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{"answers": ["C","D"]}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6048375"/>
            <a:ext cx="11049000" cy="523875"/>
            <a:chOff x="571500" y="6048375"/>
            <a:chExt cx="11049000" cy="523875"/>
          </a:xfrm>
        </p:grpSpPr>
        <p:sp>
          <p:nvSpPr>
            <p:cNvPr id="58" name="Rectangle 58"/>
            <p:cNvSpPr/>
            <p:nvPr/>
          </p:nvSpPr>
          <p:spPr>
            <a:xfrm>
              <a:off x="571500" y="6048375"/>
              <a:ext cx="11049000" cy="523875"/>
            </a:xfrm>
            <a:prstGeom prst="roundRect">
              <a:avLst>
                <a:gd name="adj" fmla="val 727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311824" y="6216968"/>
              <a:ext cx="7568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推理链共同特征：</a:t>
              </a:r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实体识别</a:t>
              </a:r>
              <a:r>
                <a:rPr lang="en-US" sz="13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 → </a:t>
              </a:r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约束列举</a:t>
              </a:r>
              <a:r>
                <a:rPr lang="en-US" sz="13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 → </a:t>
              </a:r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逐步推导</a:t>
              </a:r>
              <a:r>
                <a:rPr lang="en-US" sz="1350" dirty="0">
                  <a:solidFill>
                    <a:srgbClr val="2D3436"/>
                  </a:solidFill>
                  <a:latin typeface="Arial"/>
                  <a:ea typeface="Arial"/>
                  <a:cs typeface="Arial"/>
                </a:rPr>
                <a:t> → </a:t>
              </a:r>
              <a:r>
                <a:rPr lang="zh-CN" sz="135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JSON 格式答案</a:t>
              </a:r>
              <a:r>
                <a:rPr lang="zh-CN" sz="135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· 中英文统一范式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4978926" cy="716280"/>
            <a:chOff x="571500" y="441008"/>
            <a:chExt cx="4978926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4847481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六个关键问题的发现与解决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46428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每个问题的解决都直接提升了最终模型的可用性与性能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1381125"/>
            <a:ext cx="11049000" cy="5143500"/>
            <a:chOff x="571500" y="1381125"/>
            <a:chExt cx="11049000" cy="5143500"/>
          </a:xfrm>
        </p:grpSpPr>
        <p:sp>
          <p:nvSpPr>
            <p:cNvPr id="7" name="Rectangle 7"/>
            <p:cNvSpPr/>
            <p:nvPr/>
          </p:nvSpPr>
          <p:spPr>
            <a:xfrm>
              <a:off x="571500" y="1381125"/>
              <a:ext cx="533400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81125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4385" y="1537335"/>
              <a:ext cx="29249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merge_and_unload() 破坏输出格式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6290" y="1791652"/>
              <a:ext cx="14903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非空率 19.8% → 9.7%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5545" y="1488758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572250" y="1381125"/>
              <a:ext cx="5048250" cy="762000"/>
            </a:xfrm>
            <a:prstGeom prst="roundRect">
              <a:avLst>
                <a:gd name="adj" fmla="val 5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572250" y="1381125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95135" y="1537335"/>
              <a:ext cx="30324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去掉 merge，直接用 PeftModel 推理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7040" y="1791652"/>
              <a:ext cx="1960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保持 LoRA adapter 独立加载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286000"/>
              <a:ext cx="533400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286000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4385" y="2442210"/>
              <a:ext cx="1464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V100 不支持 bf16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6290" y="2696528"/>
              <a:ext cx="1094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推理速度慢 2 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65545" y="239363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2286000"/>
              <a:ext cx="5048250" cy="762000"/>
            </a:xfrm>
            <a:prstGeom prst="roundRect">
              <a:avLst>
                <a:gd name="adj" fmla="val 5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572250" y="2286000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5135" y="2442210"/>
              <a:ext cx="31131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改用 fp16 利用 Tensor Core 原生加速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0" y="2696528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速度恢复至正常水平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190875"/>
              <a:ext cx="533400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3190875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4385" y="3347085"/>
              <a:ext cx="21184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训练/推理 prompt 不一致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6290" y="3601402"/>
              <a:ext cx="12214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模型输出格式混乱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65545" y="3298508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72250" y="3190875"/>
              <a:ext cx="5048250" cy="762000"/>
            </a:xfrm>
            <a:prstGeom prst="roundRect">
              <a:avLst>
                <a:gd name="adj" fmla="val 5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572250" y="3190875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5135" y="3347085"/>
              <a:ext cx="30234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统一 ChatML 模板和 System Prompt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7040" y="3601402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训练和推理完全一致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095750"/>
              <a:ext cx="533400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1500" y="4095750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4385" y="4251960"/>
              <a:ext cx="23514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pip &gt;= 被 shell 解析为重定向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4506278"/>
              <a:ext cx="131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生成空文件 =2.1.0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65545" y="420338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72250" y="4095750"/>
              <a:ext cx="5048250" cy="762000"/>
            </a:xfrm>
            <a:prstGeom prst="roundRect">
              <a:avLst>
                <a:gd name="adj" fmla="val 5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572250" y="4095750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5135" y="4251960"/>
              <a:ext cx="20019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包名加引号，一次性安装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97040" y="4506278"/>
              <a:ext cx="1632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C7D"/>
                  </a:solidFill>
                  <a:latin typeface="Arial"/>
                  <a:ea typeface="Arial"/>
                  <a:cs typeface="Arial"/>
                </a:rPr>
                <a:t>"accelerate&gt;=0.20.0"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5000625"/>
              <a:ext cx="5334000" cy="762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1500" y="5000625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4385" y="5156835"/>
              <a:ext cx="3166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DataLoader 多进程 + tokenizers 死锁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6290" y="5411152"/>
              <a:ext cx="624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训练卡死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65545" y="5108258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72250" y="5000625"/>
              <a:ext cx="5048250" cy="762000"/>
            </a:xfrm>
            <a:prstGeom prst="roundRect">
              <a:avLst>
                <a:gd name="adj" fmla="val 5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572250" y="5000625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5135" y="5156835"/>
              <a:ext cx="28353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设置 dataloader_num_workers=0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7040" y="5411152"/>
              <a:ext cx="1669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单进程数据加载避免死锁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71500" y="5905500"/>
              <a:ext cx="5334000" cy="619125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1500" y="5905500"/>
              <a:ext cx="38100" cy="619125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4385" y="6042660"/>
              <a:ext cx="239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推理 token 不足 → JSON 截断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6290" y="6268402"/>
              <a:ext cx="773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答案不完整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65545" y="5994082"/>
              <a:ext cx="1709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572250" y="5905500"/>
              <a:ext cx="5048250" cy="619125"/>
            </a:xfrm>
            <a:prstGeom prst="roundRect">
              <a:avLst>
                <a:gd name="adj" fmla="val 6154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72250" y="5905500"/>
              <a:ext cx="38100" cy="61912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95135" y="6042660"/>
              <a:ext cx="2933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max_new_tokens 512 → 768 → 1024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97040" y="6268402"/>
              <a:ext cx="1669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逐步提升确保完整推理链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2555185" cy="649709"/>
            <a:chOff x="571500" y="441008"/>
            <a:chExt cx="2555185" cy="649709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242374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四条核心结论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137537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从 3.6% 到 74.1%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381125"/>
            <a:ext cx="11049000" cy="4905375"/>
            <a:chOff x="571500" y="1381125"/>
            <a:chExt cx="11049000" cy="4905375"/>
          </a:xfrm>
        </p:grpSpPr>
        <p:sp>
          <p:nvSpPr>
            <p:cNvPr id="7" name="Rectangle 7"/>
            <p:cNvSpPr/>
            <p:nvPr/>
          </p:nvSpPr>
          <p:spPr>
            <a:xfrm>
              <a:off x="571500" y="1381125"/>
              <a:ext cx="53340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8112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42950" y="1552575"/>
              <a:ext cx="419100" cy="419100"/>
            </a:xfrm>
            <a:prstGeom prst="ellipse">
              <a:avLst/>
            </a:prstGeom>
            <a:solidFill>
              <a:srgbClr val="C62828">
                <a:alpha val="12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529" y="163449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62828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2545" y="1650682"/>
              <a:ext cx="2617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结构化提取是 LLM 弱项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2013585"/>
              <a:ext cx="43062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Neuro-Symbolic 路线 3.6% 证明：即使是 DeepSeek-V3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2270760"/>
              <a:ext cx="31711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级别的模型，仍无法可靠完成"自然语言 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2527935"/>
              <a:ext cx="31967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精确结构化约束"这一任务。该发现对同类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010" y="2785110"/>
              <a:ext cx="19421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系统设计具有</a:t>
              </a:r>
              <a:r>
                <a:rPr lang="zh-CN" sz="12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参考意义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048000" y="3143250"/>
              <a:ext cx="2667000" cy="285750"/>
            </a:xfrm>
            <a:prstGeom prst="roundRect">
              <a:avLst>
                <a:gd name="adj" fmla="val 13333"/>
              </a:avLst>
            </a:prstGeom>
            <a:solidFill>
              <a:srgbClr val="FFF5F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6110" y="3229928"/>
              <a:ext cx="2190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250 条测试验证 · 3.6% 正确率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1381125"/>
              <a:ext cx="53340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0" y="1381125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457950" y="1552575"/>
              <a:ext cx="419100" cy="419100"/>
            </a:xfrm>
            <a:prstGeom prst="ellipse">
              <a:avLst/>
            </a:prstGeom>
            <a:solidFill>
              <a:srgbClr val="2E7D3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55529" y="1634490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E7D32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27545" y="1650682"/>
              <a:ext cx="3097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CoT 端到端推理是 LLM 强项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57010" y="2013585"/>
              <a:ext cx="29663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同一模型的 CoT 推理表现（74.1%）是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7010" y="2270760"/>
              <a:ext cx="3222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约束提取的 20 倍以上。端到端推理避免了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7010" y="2527935"/>
              <a:ext cx="22835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中间结构化表示的</a:t>
              </a:r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精度损失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0" y="3143250"/>
              <a:ext cx="2667000" cy="285750"/>
            </a:xfrm>
            <a:prstGeom prst="roundRect">
              <a:avLst>
                <a:gd name="adj" fmla="val 13333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30486" y="3229928"/>
              <a:ext cx="193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3,600 条全量测试 · 74.1%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4000500"/>
              <a:ext cx="53340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" y="4000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42950" y="4171950"/>
              <a:ext cx="419100" cy="419100"/>
            </a:xfrm>
            <a:prstGeom prst="ellipse">
              <a:avLst/>
            </a:prstGeom>
            <a:solidFill>
              <a:srgbClr val="00796B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529" y="4253865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796B"/>
                  </a:solidFill>
                  <a:latin typeface="Georgia"/>
                  <a:ea typeface="Georgia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2545" y="4270058"/>
              <a:ext cx="29990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知识蒸馏有效迁移推理能力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010" y="4632960"/>
              <a:ext cx="3273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仅 0.53% 可训练参数（161MB LoRA），让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010" y="4890135"/>
              <a:ext cx="30431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7B 模型在满足竞赛 ≤8B 约束的前提下，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010" y="5147310"/>
              <a:ext cx="2633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获得</a:t>
              </a:r>
              <a:r>
                <a:rPr lang="zh-CN" sz="12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接近大模型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的推理格式能力。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5762625"/>
              <a:ext cx="2667000" cy="285750"/>
            </a:xfrm>
            <a:prstGeom prst="roundRect">
              <a:avLst>
                <a:gd name="adj" fmla="val 13333"/>
              </a:avLst>
            </a:prstGeom>
            <a:solidFill>
              <a:srgbClr val="E0F2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37131" y="5849302"/>
              <a:ext cx="2488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Student 微调 19.8% vs 零样本 0%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86500" y="4000500"/>
              <a:ext cx="5334000" cy="2286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86500" y="40005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457950" y="4171950"/>
              <a:ext cx="419100" cy="419100"/>
            </a:xfrm>
            <a:prstGeom prst="ellipse">
              <a:avLst/>
            </a:prstGeom>
            <a:solidFill>
              <a:srgbClr val="C8943E">
                <a:alpha val="12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5529" y="4253865"/>
              <a:ext cx="223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8943E"/>
                  </a:solidFill>
                  <a:latin typeface="Georgia"/>
                  <a:ea typeface="Georgia"/>
                  <a:cs typeface="Georgia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7545" y="4270058"/>
              <a:ext cx="20133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领域难度差异显著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010" y="4632960"/>
              <a:ext cx="33418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time/nature 超过 85%，但 social/space/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7010" y="4890135"/>
              <a:ext cx="2727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融合域仅 50-63%，反映社会关系与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7010" y="5147310"/>
              <a:ext cx="2974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空间布局需要更强的</a:t>
              </a:r>
              <a:r>
                <a:rPr lang="zh-CN" sz="120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想象与推导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能力。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763000" y="5762625"/>
              <a:ext cx="2667000" cy="285750"/>
            </a:xfrm>
            <a:prstGeom prst="roundRect">
              <a:avLst>
                <a:gd name="adj" fmla="val 13333"/>
              </a:avLst>
            </a:prstGeom>
            <a:solidFill>
              <a:srgbClr val="FFF8E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46223" y="5849302"/>
              <a:ext cx="23005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social 仅 63.4% · 重点改进方向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4193872" cy="649709"/>
            <a:chOff x="571500" y="441008"/>
            <a:chExt cx="4193872" cy="649709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28276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三个维度的贡献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40395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方法论 · 工程 · 实验设计 —— 构成完整的技术贡献链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1428750"/>
            <a:ext cx="11049000" cy="3714750"/>
            <a:chOff x="571500" y="1428750"/>
            <a:chExt cx="11049000" cy="37147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3524250" cy="3714750"/>
            </a:xfrm>
            <a:prstGeom prst="roundRect">
              <a:avLst>
                <a:gd name="adj" fmla="val 1081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97858" y="1857375"/>
              <a:ext cx="452485" cy="430337"/>
            </a:xfrm>
            <a:custGeom>
              <a:avLst/>
              <a:gdLst/>
              <a:ahLst/>
              <a:cxnLst/>
              <a:rect l="l" t="t" r="r" b="b"/>
              <a:pathLst>
                <a:path w="452485" h="430337">
                  <a:moveTo>
                    <a:pt x="254817" y="0"/>
                  </a:moveTo>
                  <a:lnTo>
                    <a:pt x="197667" y="0"/>
                  </a:lnTo>
                  <a:lnTo>
                    <a:pt x="155174" y="130782"/>
                  </a:lnTo>
                  <a:lnTo>
                    <a:pt x="17660" y="130783"/>
                  </a:lnTo>
                  <a:lnTo>
                    <a:pt x="0" y="185135"/>
                  </a:lnTo>
                  <a:lnTo>
                    <a:pt x="111251" y="265964"/>
                  </a:lnTo>
                  <a:lnTo>
                    <a:pt x="68757" y="396744"/>
                  </a:lnTo>
                  <a:lnTo>
                    <a:pt x="114993" y="430337"/>
                  </a:lnTo>
                  <a:lnTo>
                    <a:pt x="226243" y="349509"/>
                  </a:lnTo>
                  <a:lnTo>
                    <a:pt x="337493" y="430337"/>
                  </a:lnTo>
                  <a:lnTo>
                    <a:pt x="383727" y="396744"/>
                  </a:lnTo>
                  <a:lnTo>
                    <a:pt x="341234" y="265963"/>
                  </a:lnTo>
                  <a:lnTo>
                    <a:pt x="452485" y="185135"/>
                  </a:lnTo>
                  <a:lnTo>
                    <a:pt x="434822" y="130782"/>
                  </a:lnTo>
                  <a:lnTo>
                    <a:pt x="297311" y="130782"/>
                  </a:lnTo>
                  <a:lnTo>
                    <a:pt x="254817" y="0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87376" y="2396490"/>
              <a:ext cx="6924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方法论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9625" y="2762250"/>
              <a:ext cx="3048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4385" y="2918460"/>
              <a:ext cx="84798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sz="120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N-S → CoT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385" y="3156585"/>
              <a:ext cx="13959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路线对比分析框架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5338" y="3498056"/>
              <a:ext cx="20768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用实验数据证明"NL → 结构化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5338" y="3736181"/>
              <a:ext cx="2004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约束"在 2026 年仍不可行，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338" y="3974306"/>
              <a:ext cx="1788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为同类系统设计提供参考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" y="4381500"/>
              <a:ext cx="3048000" cy="4762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9597" y="4553902"/>
              <a:ext cx="25880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核心实验：3.6% vs 74.1% · 20× 差距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33875" y="1428750"/>
              <a:ext cx="3524250" cy="3714750"/>
            </a:xfrm>
            <a:prstGeom prst="roundRect">
              <a:avLst>
                <a:gd name="adj" fmla="val 1081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857875" y="1857375"/>
              <a:ext cx="457200" cy="457200"/>
              <a:chOff x="5857875" y="1857375"/>
              <a:chExt cx="457200" cy="457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029325" y="202882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114300"/>
                    </a:moveTo>
                    <a:lnTo>
                      <a:pt x="0" y="0"/>
                    </a:ln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857875" y="1857375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85725" y="57150"/>
                    </a:moveTo>
                    <a:lnTo>
                      <a:pt x="85725" y="0"/>
                    </a:lnTo>
                    <a:lnTo>
                      <a:pt x="142875" y="0"/>
                    </a:lnTo>
                    <a:lnTo>
                      <a:pt x="142875" y="57150"/>
                    </a:lnTo>
                    <a:lnTo>
                      <a:pt x="200025" y="57150"/>
                    </a:lnTo>
                    <a:lnTo>
                      <a:pt x="200025" y="0"/>
                    </a:lnTo>
                    <a:lnTo>
                      <a:pt x="257175" y="0"/>
                    </a:lnTo>
                    <a:lnTo>
                      <a:pt x="257175" y="57150"/>
                    </a:lnTo>
                    <a:lnTo>
                      <a:pt x="314325" y="57150"/>
                    </a:lnTo>
                    <a:lnTo>
                      <a:pt x="314325" y="0"/>
                    </a:lnTo>
                    <a:lnTo>
                      <a:pt x="371475" y="0"/>
                    </a:lnTo>
                    <a:lnTo>
                      <a:pt x="371475" y="57150"/>
                    </a:lnTo>
                    <a:lnTo>
                      <a:pt x="400050" y="57150"/>
                    </a:lnTo>
                    <a:lnTo>
                      <a:pt x="400050" y="85725"/>
                    </a:lnTo>
                    <a:lnTo>
                      <a:pt x="457200" y="85725"/>
                    </a:lnTo>
                    <a:lnTo>
                      <a:pt x="457200" y="142875"/>
                    </a:lnTo>
                    <a:lnTo>
                      <a:pt x="400050" y="142875"/>
                    </a:lnTo>
                    <a:lnTo>
                      <a:pt x="400050" y="200025"/>
                    </a:lnTo>
                    <a:lnTo>
                      <a:pt x="457200" y="200025"/>
                    </a:lnTo>
                    <a:lnTo>
                      <a:pt x="457200" y="257175"/>
                    </a:lnTo>
                    <a:lnTo>
                      <a:pt x="400050" y="257175"/>
                    </a:lnTo>
                    <a:lnTo>
                      <a:pt x="400050" y="314325"/>
                    </a:lnTo>
                    <a:lnTo>
                      <a:pt x="457200" y="314325"/>
                    </a:lnTo>
                    <a:lnTo>
                      <a:pt x="457200" y="371475"/>
                    </a:lnTo>
                    <a:lnTo>
                      <a:pt x="400050" y="371475"/>
                    </a:lnTo>
                    <a:lnTo>
                      <a:pt x="400050" y="400050"/>
                    </a:lnTo>
                    <a:lnTo>
                      <a:pt x="371475" y="400050"/>
                    </a:lnTo>
                    <a:lnTo>
                      <a:pt x="371475" y="457200"/>
                    </a:lnTo>
                    <a:lnTo>
                      <a:pt x="314325" y="457200"/>
                    </a:lnTo>
                    <a:lnTo>
                      <a:pt x="314325" y="400050"/>
                    </a:lnTo>
                    <a:lnTo>
                      <a:pt x="257175" y="400050"/>
                    </a:lnTo>
                    <a:lnTo>
                      <a:pt x="257175" y="457200"/>
                    </a:lnTo>
                    <a:lnTo>
                      <a:pt x="200025" y="457200"/>
                    </a:lnTo>
                    <a:lnTo>
                      <a:pt x="200025" y="400050"/>
                    </a:lnTo>
                    <a:lnTo>
                      <a:pt x="142875" y="400050"/>
                    </a:lnTo>
                    <a:lnTo>
                      <a:pt x="142875" y="457200"/>
                    </a:lnTo>
                    <a:lnTo>
                      <a:pt x="85725" y="457200"/>
                    </a:lnTo>
                    <a:lnTo>
                      <a:pt x="85725" y="400050"/>
                    </a:lnTo>
                    <a:lnTo>
                      <a:pt x="57150" y="400050"/>
                    </a:lnTo>
                    <a:lnTo>
                      <a:pt x="57150" y="371475"/>
                    </a:lnTo>
                    <a:lnTo>
                      <a:pt x="0" y="371475"/>
                    </a:lnTo>
                    <a:lnTo>
                      <a:pt x="0" y="314325"/>
                    </a:lnTo>
                    <a:lnTo>
                      <a:pt x="57150" y="314325"/>
                    </a:lnTo>
                    <a:lnTo>
                      <a:pt x="57150" y="257175"/>
                    </a:lnTo>
                    <a:lnTo>
                      <a:pt x="0" y="257175"/>
                    </a:lnTo>
                    <a:lnTo>
                      <a:pt x="0" y="200025"/>
                    </a:lnTo>
                    <a:lnTo>
                      <a:pt x="57150" y="200025"/>
                    </a:lnTo>
                    <a:lnTo>
                      <a:pt x="57150" y="142875"/>
                    </a:lnTo>
                    <a:lnTo>
                      <a:pt x="0" y="142875"/>
                    </a:lnTo>
                    <a:lnTo>
                      <a:pt x="0" y="85725"/>
                    </a:lnTo>
                    <a:lnTo>
                      <a:pt x="57150" y="85725"/>
                    </a:lnTo>
                    <a:lnTo>
                      <a:pt x="57150" y="57150"/>
                    </a:lnTo>
                    <a:lnTo>
                      <a:pt x="85725" y="57150"/>
                    </a:lnTo>
                    <a:close/>
                    <a:moveTo>
                      <a:pt x="114300" y="114300"/>
                    </a:moveTo>
                    <a:lnTo>
                      <a:pt x="114300" y="342900"/>
                    </a:lnTo>
                    <a:lnTo>
                      <a:pt x="342900" y="342900"/>
                    </a:lnTo>
                    <a:lnTo>
                      <a:pt x="342900" y="114300"/>
                    </a:lnTo>
                    <a:lnTo>
                      <a:pt x="114300" y="114300"/>
                    </a:lnTo>
                    <a:close/>
                  </a:path>
                </a:pathLst>
              </a:custGeom>
              <a:solidFill>
                <a:srgbClr val="00796B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865167" y="2396490"/>
              <a:ext cx="4616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工程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0" y="2762250"/>
              <a:ext cx="3048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6760" y="2918460"/>
              <a:ext cx="1759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完整可复现的 </a:t>
              </a:r>
              <a:r>
                <a:rPr lang="en-US" sz="1200" b="1" dirty="0">
                  <a:solidFill>
                    <a:srgbClr val="00796B"/>
                  </a:solidFill>
                  <a:latin typeface="Arial"/>
                  <a:ea typeface="Arial"/>
                  <a:cs typeface="Arial"/>
                </a:rPr>
                <a:t>Pipeline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7712" y="3231356"/>
              <a:ext cx="19248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· 多策略答案提取三层容错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7712" y="3498056"/>
              <a:ext cx="1292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· RLock 断点续传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7712" y="3764756"/>
              <a:ext cx="1284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· 一键云训练脚本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7712" y="4031456"/>
              <a:ext cx="1284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· 双通道模型下载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7712" y="4298156"/>
              <a:ext cx="1644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· fp16/bf16 自动适配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96250" y="1428750"/>
              <a:ext cx="3524250" cy="3714750"/>
            </a:xfrm>
            <a:prstGeom prst="roundRect">
              <a:avLst>
                <a:gd name="adj" fmla="val 1081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9625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620250" y="1885950"/>
              <a:ext cx="457200" cy="400050"/>
              <a:chOff x="9620250" y="1885950"/>
              <a:chExt cx="457200" cy="4000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963150" y="1885950"/>
                <a:ext cx="1143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00050">
                    <a:moveTo>
                      <a:pt x="114300" y="0"/>
                    </a:moveTo>
                    <a:lnTo>
                      <a:pt x="0" y="0"/>
                    </a:lnTo>
                    <a:lnTo>
                      <a:pt x="0" y="400050"/>
                    </a:lnTo>
                    <a:lnTo>
                      <a:pt x="114300" y="40005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91700" y="2000250"/>
                <a:ext cx="1143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8575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285750"/>
                    </a:lnTo>
                    <a:lnTo>
                      <a:pt x="0" y="2857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620250" y="211455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71450"/>
                    </a:lnTo>
                    <a:lnTo>
                      <a:pt x="0" y="1714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396710" y="239649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实验设计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34375" y="2762250"/>
              <a:ext cx="3048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19135" y="2918460"/>
              <a:ext cx="10546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五组消融实验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9135" y="3156585"/>
              <a:ext cx="15666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构成完整对比证据链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0088" y="3498056"/>
              <a:ext cx="1972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模板/N-S/Teacher零样本/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0088" y="3736181"/>
              <a:ext cx="21488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Student零样本/Student微调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0088" y="3974306"/>
              <a:ext cx="14687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覆盖全部路线与阶段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34375" y="4381500"/>
              <a:ext cx="3048000" cy="476250"/>
            </a:xfrm>
            <a:prstGeom prst="roundRect">
              <a:avLst>
                <a:gd name="adj" fmla="val 8000"/>
              </a:avLst>
            </a:prstGeom>
            <a:solidFill>
              <a:srgbClr val="FFF8E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96655" y="4553902"/>
              <a:ext cx="19234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5 组实验 · 从 ~5% 到 74.1%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41008"/>
            <a:ext cx="3645027" cy="716280"/>
            <a:chOff x="571500" y="441008"/>
            <a:chExt cx="3645027" cy="71628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38100" cy="400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3A5C"/>
                </a:gs>
                <a:gs pos="100000">
                  <a:srgbClr val="00796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2945" y="441008"/>
              <a:ext cx="161582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A3A5C"/>
                  </a:solidFill>
                  <a:latin typeface="Georgia"/>
                  <a:ea typeface="Microsoft YaHei"/>
                  <a:cs typeface="Georgia"/>
                </a:rPr>
                <a:t>改进方向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5805" y="882968"/>
              <a:ext cx="34907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每个方向都有明确的预期收益和可行路径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428750"/>
            <a:ext cx="11068355" cy="2381250"/>
            <a:chOff x="571500" y="1428750"/>
            <a:chExt cx="11068355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5524500" cy="1095375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38100" cy="1095375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62830" y="1771650"/>
              <a:ext cx="299220" cy="184920"/>
            </a:xfrm>
            <a:custGeom>
              <a:avLst/>
              <a:gdLst/>
              <a:ahLst/>
              <a:cxnLst/>
              <a:rect l="l" t="t" r="r" b="b"/>
              <a:pathLst>
                <a:path w="299220" h="184920">
                  <a:moveTo>
                    <a:pt x="184920" y="0"/>
                  </a:moveTo>
                  <a:lnTo>
                    <a:pt x="165870" y="19050"/>
                  </a:lnTo>
                  <a:lnTo>
                    <a:pt x="209550" y="62730"/>
                  </a:lnTo>
                  <a:lnTo>
                    <a:pt x="156345" y="115934"/>
                  </a:lnTo>
                  <a:lnTo>
                    <a:pt x="99195" y="58784"/>
                  </a:lnTo>
                  <a:lnTo>
                    <a:pt x="0" y="157980"/>
                  </a:lnTo>
                  <a:lnTo>
                    <a:pt x="26941" y="184920"/>
                  </a:lnTo>
                  <a:lnTo>
                    <a:pt x="99195" y="112666"/>
                  </a:lnTo>
                  <a:lnTo>
                    <a:pt x="156345" y="169816"/>
                  </a:lnTo>
                  <a:lnTo>
                    <a:pt x="236490" y="89670"/>
                  </a:lnTo>
                  <a:lnTo>
                    <a:pt x="280170" y="133350"/>
                  </a:lnTo>
                  <a:lnTo>
                    <a:pt x="299220" y="114300"/>
                  </a:lnTo>
                  <a:lnTo>
                    <a:pt x="299220" y="0"/>
                  </a:lnTo>
                  <a:lnTo>
                    <a:pt x="184920" y="0"/>
                  </a:lnTo>
                  <a:close/>
                </a:path>
              </a:pathLst>
            </a:custGeom>
            <a:solidFill>
              <a:srgbClr val="1A3A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4450" y="1695450"/>
              <a:ext cx="21551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更强的 Teacher 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2010" y="2013585"/>
              <a:ext cx="343639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尝试 DeepSeek-</a:t>
              </a:r>
              <a:r>
                <a:rPr lang="en-US" alt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V4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 / GPT-</a:t>
              </a:r>
              <a:r>
                <a:rPr lang="en-US" alt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5.5</a:t>
              </a:r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 生成更高质量推理链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2267902"/>
              <a:ext cx="45221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预期收益：Teacher 正确率 74.1% → 85%+ · 训练数据质量显著提升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428750"/>
              <a:ext cx="5334000" cy="1095375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428750"/>
              <a:ext cx="38100" cy="1095375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600825" y="171450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69339" y="90023"/>
                  </a:moveTo>
                  <a:cubicBezTo>
                    <a:pt x="84723" y="82128"/>
                    <a:pt x="95250" y="66106"/>
                    <a:pt x="95250" y="47625"/>
                  </a:cubicBezTo>
                  <a:cubicBezTo>
                    <a:pt x="95250" y="21322"/>
                    <a:pt x="73928" y="0"/>
                    <a:pt x="47625" y="0"/>
                  </a:cubicBezTo>
                  <a:cubicBezTo>
                    <a:pt x="21322" y="0"/>
                    <a:pt x="0" y="21322"/>
                    <a:pt x="0" y="47625"/>
                  </a:cubicBezTo>
                  <a:cubicBezTo>
                    <a:pt x="0" y="67154"/>
                    <a:pt x="11755" y="83938"/>
                    <a:pt x="28575" y="91287"/>
                  </a:cubicBezTo>
                  <a:lnTo>
                    <a:pt x="28575" y="213512"/>
                  </a:lnTo>
                  <a:cubicBezTo>
                    <a:pt x="11755" y="220862"/>
                    <a:pt x="0" y="237645"/>
                    <a:pt x="0" y="257175"/>
                  </a:cubicBezTo>
                  <a:cubicBezTo>
                    <a:pt x="0" y="283477"/>
                    <a:pt x="21322" y="304800"/>
                    <a:pt x="47625" y="304800"/>
                  </a:cubicBezTo>
                  <a:cubicBezTo>
                    <a:pt x="73928" y="304800"/>
                    <a:pt x="95250" y="283477"/>
                    <a:pt x="95250" y="257175"/>
                  </a:cubicBezTo>
                  <a:cubicBezTo>
                    <a:pt x="95250" y="237645"/>
                    <a:pt x="83495" y="220862"/>
                    <a:pt x="66675" y="213512"/>
                  </a:cubicBezTo>
                  <a:lnTo>
                    <a:pt x="66675" y="141241"/>
                  </a:lnTo>
                  <a:lnTo>
                    <a:pt x="106409" y="180975"/>
                  </a:lnTo>
                  <a:lnTo>
                    <a:pt x="156363" y="180975"/>
                  </a:lnTo>
                  <a:cubicBezTo>
                    <a:pt x="163712" y="197796"/>
                    <a:pt x="180495" y="209550"/>
                    <a:pt x="200025" y="209550"/>
                  </a:cubicBezTo>
                  <a:cubicBezTo>
                    <a:pt x="226327" y="209550"/>
                    <a:pt x="247650" y="188228"/>
                    <a:pt x="247650" y="161925"/>
                  </a:cubicBezTo>
                  <a:cubicBezTo>
                    <a:pt x="247650" y="135622"/>
                    <a:pt x="226327" y="114300"/>
                    <a:pt x="200025" y="114300"/>
                  </a:cubicBezTo>
                  <a:cubicBezTo>
                    <a:pt x="180495" y="114300"/>
                    <a:pt x="163712" y="126055"/>
                    <a:pt x="156363" y="142875"/>
                  </a:cubicBezTo>
                  <a:lnTo>
                    <a:pt x="122191" y="142875"/>
                  </a:lnTo>
                  <a:lnTo>
                    <a:pt x="69339" y="90023"/>
                  </a:ln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29450" y="1695450"/>
              <a:ext cx="26816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CoT + 符号求解器混合方案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57010" y="2013585"/>
              <a:ext cx="50231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CoT 做"粗推理"，符号求解器做"精验证"——取两者之长，互补短板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8915" y="2267902"/>
              <a:ext cx="28344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预期收益：融合域准确率有望提升 10-15%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2714625"/>
              <a:ext cx="5524500" cy="1095375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714625"/>
              <a:ext cx="38100" cy="1095375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95350" y="3000375"/>
              <a:ext cx="228600" cy="304800"/>
              <a:chOff x="895350" y="3000375"/>
              <a:chExt cx="228600" cy="304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95350" y="3122295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212162" y="9719"/>
                    </a:moveTo>
                    <a:cubicBezTo>
                      <a:pt x="217521" y="7039"/>
                      <a:pt x="223119" y="3806"/>
                      <a:pt x="228600" y="0"/>
                    </a:cubicBezTo>
                    <a:lnTo>
                      <a:pt x="228600" y="30480"/>
                    </a:lnTo>
                    <a:cubicBezTo>
                      <a:pt x="228600" y="62043"/>
                      <a:pt x="177426" y="87630"/>
                      <a:pt x="114300" y="87630"/>
                    </a:cubicBezTo>
                    <a:cubicBezTo>
                      <a:pt x="51174" y="87630"/>
                      <a:pt x="0" y="62043"/>
                      <a:pt x="0" y="30480"/>
                    </a:cubicBezTo>
                    <a:lnTo>
                      <a:pt x="0" y="0"/>
                    </a:lnTo>
                    <a:cubicBezTo>
                      <a:pt x="5481" y="3806"/>
                      <a:pt x="11079" y="7039"/>
                      <a:pt x="16439" y="9719"/>
                    </a:cubicBezTo>
                    <a:cubicBezTo>
                      <a:pt x="43452" y="23225"/>
                      <a:pt x="78105" y="30480"/>
                      <a:pt x="114300" y="30480"/>
                    </a:cubicBezTo>
                    <a:cubicBezTo>
                      <a:pt x="150495" y="30480"/>
                      <a:pt x="185147" y="23225"/>
                      <a:pt x="212162" y="9719"/>
                    </a:cubicBez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95350" y="3217545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0" y="0"/>
                    </a:moveTo>
                    <a:lnTo>
                      <a:pt x="0" y="30480"/>
                    </a:lnTo>
                    <a:cubicBezTo>
                      <a:pt x="0" y="62044"/>
                      <a:pt x="51174" y="87630"/>
                      <a:pt x="114300" y="87630"/>
                    </a:cubicBezTo>
                    <a:cubicBezTo>
                      <a:pt x="177426" y="87630"/>
                      <a:pt x="228600" y="62044"/>
                      <a:pt x="228600" y="30480"/>
                    </a:cubicBezTo>
                    <a:lnTo>
                      <a:pt x="228600" y="0"/>
                    </a:lnTo>
                    <a:cubicBezTo>
                      <a:pt x="223119" y="3806"/>
                      <a:pt x="217521" y="7039"/>
                      <a:pt x="212162" y="9719"/>
                    </a:cubicBezTo>
                    <a:cubicBezTo>
                      <a:pt x="185147" y="23226"/>
                      <a:pt x="150495" y="30480"/>
                      <a:pt x="114300" y="30480"/>
                    </a:cubicBezTo>
                    <a:cubicBezTo>
                      <a:pt x="78105" y="30480"/>
                      <a:pt x="43452" y="23226"/>
                      <a:pt x="16439" y="9719"/>
                    </a:cubicBezTo>
                    <a:cubicBezTo>
                      <a:pt x="11079" y="7039"/>
                      <a:pt x="5481" y="3806"/>
                      <a:pt x="0" y="0"/>
                    </a:cubicBez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5350" y="30003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cubicBezTo>
                      <a:pt x="177426" y="0"/>
                      <a:pt x="228600" y="25587"/>
                      <a:pt x="228600" y="57150"/>
                    </a:cubicBezTo>
                    <a:cubicBezTo>
                      <a:pt x="228600" y="88713"/>
                      <a:pt x="177426" y="114300"/>
                      <a:pt x="114300" y="114300"/>
                    </a:cubicBezTo>
                    <a:cubicBezTo>
                      <a:pt x="51174" y="114300"/>
                      <a:pt x="0" y="88713"/>
                      <a:pt x="0" y="57150"/>
                    </a:cubicBez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C8943E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314450" y="2981325"/>
              <a:ext cx="20543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943E"/>
                  </a:solidFill>
                  <a:latin typeface="Arial"/>
                  <a:ea typeface="Microsoft YaHei"/>
                  <a:cs typeface="Arial"/>
                </a:rPr>
                <a:t>融合域专项数据增强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010" y="3299460"/>
              <a:ext cx="58594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针对训练集融合域仅占 2.8% 的结构性不平衡，设计课程学习 + 数据增强策略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915" y="3553778"/>
              <a:ext cx="416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预期收益：融合域推理能力大幅提升 · 缩小训练-测试分布差距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86500" y="2714625"/>
              <a:ext cx="5334000" cy="1095375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DDE4ED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2714625"/>
              <a:ext cx="381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572250" y="3000375"/>
              <a:ext cx="304800" cy="304800"/>
              <a:chOff x="6572250" y="3000375"/>
              <a:chExt cx="304800" cy="304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648450" y="30765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cubicBezTo>
                      <a:pt x="34116" y="0"/>
                      <a:pt x="0" y="34116"/>
                      <a:pt x="0" y="76200"/>
                    </a:cubicBezTo>
                    <a:cubicBezTo>
                      <a:pt x="0" y="118283"/>
                      <a:pt x="34116" y="152400"/>
                      <a:pt x="76200" y="152400"/>
                    </a:cubicBezTo>
                    <a:cubicBezTo>
                      <a:pt x="118283" y="152400"/>
                      <a:pt x="152400" y="118283"/>
                      <a:pt x="152400" y="76200"/>
                    </a:cubicBezTo>
                    <a:cubicBezTo>
                      <a:pt x="152400" y="34116"/>
                      <a:pt x="118283" y="0"/>
                      <a:pt x="76200" y="0"/>
                    </a:cubicBezTo>
                    <a:close/>
                    <a:moveTo>
                      <a:pt x="38100" y="76200"/>
                    </a:moveTo>
                    <a:cubicBezTo>
                      <a:pt x="38100" y="55158"/>
                      <a:pt x="55158" y="38100"/>
                      <a:pt x="76200" y="38100"/>
                    </a:cubicBezTo>
                    <a:cubicBezTo>
                      <a:pt x="97242" y="38100"/>
                      <a:pt x="114300" y="55158"/>
                      <a:pt x="114300" y="76200"/>
                    </a:cubicBezTo>
                    <a:cubicBezTo>
                      <a:pt x="114300" y="97242"/>
                      <a:pt x="97242" y="114300"/>
                      <a:pt x="76200" y="114300"/>
                    </a:cubicBezTo>
                    <a:cubicBezTo>
                      <a:pt x="55158" y="114300"/>
                      <a:pt x="38100" y="97242"/>
                      <a:pt x="38100" y="76200"/>
                    </a:cubicBez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2250" y="300037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2400" y="0"/>
                    </a:moveTo>
                    <a:cubicBezTo>
                      <a:pt x="68232" y="0"/>
                      <a:pt x="0" y="68232"/>
                      <a:pt x="0" y="152400"/>
                    </a:cubicBezTo>
                    <a:cubicBezTo>
                      <a:pt x="0" y="236569"/>
                      <a:pt x="68232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2"/>
                      <a:pt x="236569" y="0"/>
                      <a:pt x="152400" y="0"/>
                    </a:cubicBezTo>
                    <a:close/>
                    <a:moveTo>
                      <a:pt x="38100" y="152400"/>
                    </a:moveTo>
                    <a:cubicBezTo>
                      <a:pt x="38100" y="89274"/>
                      <a:pt x="89274" y="38100"/>
                      <a:pt x="152400" y="38100"/>
                    </a:cubicBezTo>
                    <a:cubicBezTo>
                      <a:pt x="215526" y="38100"/>
                      <a:pt x="266700" y="89274"/>
                      <a:pt x="266700" y="152400"/>
                    </a:cubicBezTo>
                    <a:cubicBezTo>
                      <a:pt x="266700" y="215526"/>
                      <a:pt x="215526" y="266700"/>
                      <a:pt x="152400" y="266700"/>
                    </a:cubicBezTo>
                    <a:cubicBezTo>
                      <a:pt x="89274" y="266700"/>
                      <a:pt x="38100" y="215526"/>
                      <a:pt x="38100" y="152400"/>
                    </a:cubicBezTo>
                    <a:close/>
                  </a:path>
                </a:pathLst>
              </a:custGeom>
              <a:solidFill>
                <a:srgbClr val="2E7D32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029450" y="2981325"/>
              <a:ext cx="7694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 dirty="0">
                  <a:solidFill>
                    <a:srgbClr val="2E7D32"/>
                  </a:solidFill>
                  <a:latin typeface="Arial"/>
                  <a:ea typeface="Arial"/>
                  <a:cs typeface="Arial"/>
                </a:rPr>
                <a:t>推理阶段</a:t>
              </a:r>
              <a:endParaRPr lang="en-US" sz="1500" b="1" dirty="0">
                <a:solidFill>
                  <a:srgbClr val="2E7D32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010" y="3299460"/>
              <a:ext cx="50828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多数投票、self-consistency 等推理时增强策略进一步提升准确率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8915" y="3553778"/>
              <a:ext cx="35439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预期收益：不修改模型即可获得 5-15% 的准确率提升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52450" y="4191000"/>
            <a:ext cx="11068050" cy="1752600"/>
            <a:chOff x="552450" y="4191000"/>
            <a:chExt cx="11068050" cy="1752600"/>
          </a:xfrm>
        </p:grpSpPr>
        <p:sp>
          <p:nvSpPr>
            <p:cNvPr id="37" name="Rectangle 37"/>
            <p:cNvSpPr/>
            <p:nvPr/>
          </p:nvSpPr>
          <p:spPr>
            <a:xfrm>
              <a:off x="571500" y="4191000"/>
              <a:ext cx="11049000" cy="9525"/>
            </a:xfrm>
            <a:prstGeom prst="rect">
              <a:avLst/>
            </a:prstGeom>
            <a:solidFill>
              <a:srgbClr val="DDE4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2450" y="4410075"/>
              <a:ext cx="11582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改进路线图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23010" y="4775835"/>
              <a:ext cx="3718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短期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762125" y="4791075"/>
              <a:ext cx="2095500" cy="2286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84141" y="4849178"/>
              <a:ext cx="18514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Inference Scaling</a:t>
              </a:r>
              <a:r>
                <a:rPr lang="zh-CN" alt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（推理拓展）</a:t>
              </a:r>
              <a:endParaRPr lang="en-US" sz="1050" dirty="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80510" y="4775835"/>
              <a:ext cx="1243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13885" y="4775835"/>
              <a:ext cx="3718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中期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953000" y="4791075"/>
              <a:ext cx="2095500" cy="2286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14035" y="4849178"/>
              <a:ext cx="773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融合域增强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71385" y="4775835"/>
              <a:ext cx="1243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4760" y="4775835"/>
              <a:ext cx="3718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长期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43875" y="4791075"/>
              <a:ext cx="2286000" cy="228600"/>
            </a:xfrm>
            <a:prstGeom prst="roundRect">
              <a:avLst>
                <a:gd name="adj" fmla="val 50000"/>
              </a:avLst>
            </a:prstGeom>
            <a:solidFill>
              <a:srgbClr val="C8943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74507" y="4849178"/>
              <a:ext cx="16247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Teacher 升级+混合架构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5334000"/>
              <a:ext cx="11049000" cy="603885"/>
            </a:xfrm>
            <a:prstGeom prst="roundRect">
              <a:avLst>
                <a:gd name="adj" fmla="val 7273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2010" y="5452356"/>
              <a:ext cx="86758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硬件升级方向：在 A100 等更高性能 GPU 上训练，尝试更大的 batch size 和更长的训练时间，进一步提升微调效果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2010" y="5699760"/>
              <a:ext cx="67470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C7D"/>
                  </a:solidFill>
                  <a:latin typeface="Arial"/>
                  <a:ea typeface="Microsoft YaHei"/>
                  <a:cs typeface="Arial"/>
                </a:rPr>
                <a:t>架构探索：尝试全量微调 vs LoRA · 不同 LoRA rank · 更长的推理链 · 推理链一致性约束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4343</Words>
  <Application>Microsoft Office PowerPoint</Application>
  <PresentationFormat>宽屏</PresentationFormat>
  <Paragraphs>433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trAshbaG Smile</dc:creator>
  <cp:keywords/>
  <dc:description/>
  <cp:lastModifiedBy>trAshbaG Smile</cp:lastModifiedBy>
  <cp:revision>3</cp:revision>
  <dcterms:created xsi:type="dcterms:W3CDTF">2026-07-08T12:04:42Z</dcterms:created>
  <dcterms:modified xsi:type="dcterms:W3CDTF">2026-07-08T12:51:03Z</dcterms:modified>
  <cp:category/>
  <cp:contentStatus/>
  <dc:language/>
</cp:coreProperties>
</file>