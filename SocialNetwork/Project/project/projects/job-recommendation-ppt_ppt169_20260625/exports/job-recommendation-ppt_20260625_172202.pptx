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  <Relationship Id="rId2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。我们今天汇报的题目是"社交网络数据分析与处理课程项目——职业关系图谱与智能推荐系统"。这个项目面向就业场景，将岗位、公司、技能、学历、经验等信息组织成知识图谱，结合推荐和大语言模型问答，帮助用户理解职业要求和发展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汇报分为四个部分。首先是项目概述与技术架构，介绍系统定位、团队分工、整体架构和技术栈。第二部分是核心功能演示，通过系统截图展示知识图谱、职业推荐、时间线分析、AI问答和简历分析六大功能。第三部分深入推荐算法流程和大模型集成方案。最后总结项目亮点与成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来看项目定位。这是一个面向就业场景的关系网络分析与职业推荐系统。核心思路是将招聘岗位信息转化为知识图谱：从数据中抽取职位、公司、技能、学历、经验、城市六类实体和五种关系，存储在Neo4j图数据库中。在此基础上提供知识图谱浏览、职业推荐、AI问答和简历分析等功能。数据方面我们使用了八百零三条岗位样本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这是我们小组的分工。陈佳伸同学负责参考项目查阅、项目进度管理以及PPT的制作和汇报。黄泰同学负责项目的实现改进、功能测试和数据库的设计与优化。两人协作完成了整个项目的复现、调试和演示准备。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来看系统整体架构。我们采用了三服务协作架构：最上层是Vue 3前端展示层，负责页面路由、图谱可视化和用户交互。中间是Flask AI分析引擎，负责知识图谱查询、推荐算法、AI问答和时间线分析，并调用DeepSeek-V3大模型。下面是Spring Boot业务服务层，处理用户管理、职位卡片和JWT鉴权。最底层是数据存储层，包括MySQL业务数据库、Neo4j图数据库和Redis缓存。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技术栈方面，前端使用Vue 3加Element Plus加ECharts 5，构建单页应用和图谱可视化。后端使用Spring Boot 3.4加MyBatis-Plus，负责业务接口和JWT认证。AI服务使用Flask加Neo4j，通过SiliconFlow平台调用DeepSeek-V3大模型。整体是一个从前端到业务后端到AI引擎的完整链路。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数据源和知识图谱建模。我们使用项目内置的招聘岗位样本数据，共八百零三条记录，包含职位、城市、公司、学历、经验、技能、薪资等十个以上字段。导入Neo4j后形成六类实体节点：Job岗位、Company公司、City城市、Skill技能、Degree学历和Experience经验。主要关系包括：岗位需要技能、岗位要求学历、岗位要求经验、岗位属于公司、公司位于城市。所有数据均为课程演示用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接下来进入第二部分——核心功能演示。我们将通过系统截图展示六个主要功能模块的实际运行效果。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系统入口和主界面。左侧是仪表盘主界面，展示了登录后的完整布局：左侧深色导航栏按功能分组，包括主页、知识图谱、推荐系统、AI问答和简历分析等模块。右上角是登录页面，系统支持用户注册和登录，使用JWT Token认证，支持求职者和企业方两种角色。登录后看到的主界面是后台管理式的信息架构，方便快速进入各功能。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图谱可视化是系统的核心功能之一。我们使用ECharts力导向图渲染岗位、技能、学历、经验、公司和城市之间的六类实体关系网络。节点按实体类型着色，直观区分；支持交互拖拽和按条件筛选子图。相比传统表格，图谱更适合解释岗位要求之间的关联——你可以一眼看到某个岗位要求哪些技能、什么学历和经验，属于哪家公司、位于哪个城市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职业推荐是系统的关键功能。看左侧的五步流程：用户先用自然语言描述自己的技能和背景，系统通过NLP提取技能和学历关键词，再到Neo4j中查询满足条件的岗位，然后按照多维匹配评分计算——技能命中占百分之四十、学历匹配百分之二十五、经验匹配百分之二十五、薪资匹配百分之十，最后按Top-K排序输出推荐结果。右侧截图展示的是推荐结果表格和关系图谱同步呈现的效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职业时间线分析是AI模块的应用之一。输入职业名称后，AI模型自动生成四个发展阶段：初级阶段零到两年，入门技能掌握；发展阶段二到五年，专业技术深化；成熟阶段五到十年，团队管理和技术决策；专家阶段十年以上，行业影响力建设。每个阶段包含背景、关键事件和技能要求，通过时间线组件直观展示职业成长路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智能问答模块提供自然语言交互入口。我们使用了六个维度的设计：自然语言交互，用户用日常语言提问；Markdown渲染回答，支持代码高亮和公式；SSE流式响应，逐字实时输出；上下文理解，支持多轮对话；职业领域专长，针对职业发展优化；大模型驱动，接入DeepSeek-V3保证回答质量。截图展示了聊天界面的实际交互效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简历上传与智能分析功能。上方两张截图展示了上传入口和分析结果。处理流程是：上传简历、自动识别格式、提取文本内容、AI模型分析、生成职业匹配建议。支持三种格式：PDF通过PyMuPDF提取，Word通过python-docx提取，图片通过pytesseract OCR识别。分析结果以卡片形式展示职业名称、匹配概率、市场状况和发展行情。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接下来进入第三部分——推荐算法与大模型。我们将深入解析推荐引擎的工作原理和大语言模型的集成方案。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算法流程包含五个步骤。第一步用户输入自我描述，包含技能、学历、经验等自然语言。第二步NLP关键词提取，识别和提取技能、学历、经验实体。第三步Neo4j图数据库查询，找到满足条件的岗位。第四步多维匹配评分计算，我们设计了四个维度的权重：技能命中占四成，学历匹配占两成半，经验匹配占两成半，薪资匹配占一成。第五步Top-K排序输出，返回推荐结果并生成图谱可视化解释。这个算法的核心优势是可解释性强——每个推荐都有关系依据，不是黑盒模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语言模型方面，我们通过OpenAI兼容接口接入SiliconFlow平台的DeepSeek-V3模型。三个功能模块使用不同的Prompt模板：AI职业问答使用SSE流式响应和Markdown渲染，职业时间线根据职业名自动生成四阶段分析，简历智能匹配支持多格式文本提取和AI职业匹配。AI返回的Markdown由前端渲染成时间线、问答卡片和分析报告，实现AI与传统图谱查询的互补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最后进入第四部分——总结。回顾一下我们在这个项目中取得的成果。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四个核心亮点。第一，完整演示闭环：从注册登录到知识图谱展示、职业推荐、时间线分析、AI问答到简历分析，全流程本地可运行。第二，可解释推荐：基于图谱匹配而非黑盒模型，推荐结果可追溯、可解释，每个推荐都有关系依据。第三，AI增强分析：大语言模型补充了传统图谱查询的不足，AI生成职业发展解释、问答和简历分析建议。第四，多维度可视化：ECharts力导向图、Element Plus表格、时间线和卡片多组件协同呈现数据洞察。感谢各位老师和同学的聆听！谢谢。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6c62131270d9a95.png"/>
  <Relationship Id="rId3" Type="http://schemas.openxmlformats.org/officeDocument/2006/relationships/image" Target="../media/image_9da78095a669bbcf.pn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02baa83e4d18a41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0f3d99966a0b4f0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502cea34ab1b7d8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a3c7408e8f82d1a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38f1f536a978fa6.png"/>
  <Relationship Id="rId3" Type="http://schemas.openxmlformats.org/officeDocument/2006/relationships/image" Target="../media/image_cd8082e4ce875f4a.pn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F5E9"/>
              </a:gs>
              <a:gs pos="50000">
                <a:srgbClr val="FFFFFF"/>
              </a:gs>
              <a:gs pos="100000">
                <a:srgbClr val="C8E6C9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gradFill>
            <a:gsLst>
              <a:gs pos="0">
                <a:srgbClr val="2E7D32">
                  <a:alpha val="12000"/>
                </a:srgbClr>
              </a:gs>
              <a:gs pos="100000">
                <a:srgbClr val="2E7D3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gradFill>
            <a:gsLst>
              <a:gs pos="0">
                <a:srgbClr val="1B5E20">
                  <a:alpha val="0"/>
                </a:srgbClr>
              </a:gs>
              <a:gs pos="100000">
                <a:srgbClr val="1B5E20">
                  <a:alpha val="1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0" scaled="1"/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143000" y="1714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81C784">
                <a:alpha val="40000"/>
              </a:srgbClr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591666" y="2084070"/>
            <a:ext cx="9008669" cy="2883218"/>
            <a:chOff x="1591666" y="2084070"/>
            <a:chExt cx="9008669" cy="2883218"/>
          </a:xfrm>
        </p:grpSpPr>
        <p:sp>
          <p:nvSpPr>
            <p:cNvPr id="7" name="TextBox 7"/>
            <p:cNvSpPr txBox="1"/>
            <p:nvPr/>
          </p:nvSpPr>
          <p:spPr>
            <a:xfrm>
              <a:off x="1591666" y="2084070"/>
              <a:ext cx="900866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社交网络数据分析与处理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38599" y="2947035"/>
              <a:ext cx="291480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spc="6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课程项目汇报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0" y="3524250"/>
              <a:ext cx="3810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32"/>
                </a:gs>
                <a:gs pos="100000">
                  <a:srgbClr val="81C7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55443" y="3897630"/>
              <a:ext cx="708111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职业关系图谱与智能推荐系统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9839" y="4632008"/>
              <a:ext cx="8672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225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Job Relationship Graph &amp; Intelligent Recommendation System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6615" y="6298882"/>
            <a:ext cx="2658770" cy="335280"/>
            <a:chOff x="4766615" y="6298882"/>
            <a:chExt cx="2658770" cy="335280"/>
          </a:xfrm>
        </p:grpSpPr>
        <p:sp>
          <p:nvSpPr>
            <p:cNvPr id="13" name="TextBox 13"/>
            <p:cNvSpPr txBox="1"/>
            <p:nvPr/>
          </p:nvSpPr>
          <p:spPr>
            <a:xfrm>
              <a:off x="4766615" y="6298882"/>
              <a:ext cx="2658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华中农业大学 · 信息学院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666750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0"/>
                </a:moveTo>
                <a:lnTo>
                  <a:pt x="5715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2E7D32">
              <a:alpha val="15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1620500" y="666750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571500" y="0"/>
                </a:moveTo>
                <a:lnTo>
                  <a:pt x="0" y="190500"/>
                </a:lnTo>
                <a:lnTo>
                  <a:pt x="571500" y="190500"/>
                </a:lnTo>
                <a:close/>
              </a:path>
            </a:pathLst>
          </a:custGeom>
          <a:solidFill>
            <a:srgbClr val="2E7D32">
              <a:alpha val="15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43500" y="373380"/>
            <a:ext cx="1905000" cy="931545"/>
            <a:chOff x="5143500" y="373380"/>
            <a:chExt cx="1905000" cy="931545"/>
          </a:xfrm>
        </p:grpSpPr>
        <p:sp>
          <p:nvSpPr>
            <p:cNvPr id="4" name="TextBox 4"/>
            <p:cNvSpPr txBox="1"/>
            <p:nvPr/>
          </p:nvSpPr>
          <p:spPr>
            <a:xfrm>
              <a:off x="5431963" y="373380"/>
              <a:ext cx="13280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目 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11216" y="964882"/>
              <a:ext cx="15695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43500" y="1285875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62000" y="1666875"/>
            <a:ext cx="12601423" cy="4619625"/>
            <a:chOff x="762000" y="1666875"/>
            <a:chExt cx="12601423" cy="4619625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666875"/>
              <a:ext cx="6746977" cy="2143125"/>
              <a:chOff x="762000" y="1666875"/>
              <a:chExt cx="6746977" cy="21431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6668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971550" y="18764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39078" y="19831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84020" y="1836420"/>
                <a:ext cx="3286963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项目概述与技术架构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93545" y="2203132"/>
                <a:ext cx="581543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系统定位 · 团队分工 · 整体架构 · 技术栈 · 数据与图谱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1733550" y="2488882"/>
                <a:ext cx="4017950" cy="659130"/>
                <a:chOff x="1733550" y="2488882"/>
                <a:chExt cx="4017950" cy="659130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1733550" y="25908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84045" y="2488882"/>
                  <a:ext cx="215417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系统定位与团队分工</a:t>
                  </a:r>
                </a:p>
              </p:txBody>
            </p:sp>
            <p:sp>
              <p:nvSpPr>
                <p:cNvPr id="15" name="Ellipse 15"/>
                <p:cNvSpPr/>
                <p:nvPr/>
              </p:nvSpPr>
              <p:spPr>
                <a:xfrm>
                  <a:off x="1733550" y="29146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884045" y="2812732"/>
                  <a:ext cx="386745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整体架构 · 技术栈 · 数据与图谱建模</a:t>
                  </a:r>
                </a:p>
              </p:txBody>
            </p:sp>
          </p:grpSp>
        </p:grpSp>
        <p:grpSp>
          <p:nvGrpSpPr>
            <p:cNvPr id="29" name="Group 29"/>
            <p:cNvGrpSpPr/>
            <p:nvPr/>
          </p:nvGrpSpPr>
          <p:grpSpPr>
            <a:xfrm>
              <a:off x="6381750" y="1666875"/>
              <a:ext cx="6981673" cy="2143125"/>
              <a:chOff x="6381750" y="1666875"/>
              <a:chExt cx="6981673" cy="21431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381750" y="16668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591300" y="18764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658828" y="19831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03770" y="1836420"/>
                <a:ext cx="221162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核心功能演示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13295" y="2203132"/>
                <a:ext cx="605012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系统入口 · 知识图谱 · 推荐 · 时间线 · AI问答 · 简历分析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7353300" y="2488882"/>
                <a:ext cx="4252646" cy="659130"/>
                <a:chOff x="7353300" y="2488882"/>
                <a:chExt cx="4252646" cy="659130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7353300" y="25908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503795" y="2488882"/>
                  <a:ext cx="336285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登录与主界面 · 知识图谱可视化</a:t>
                  </a:r>
                </a:p>
              </p:txBody>
            </p:sp>
            <p:sp>
              <p:nvSpPr>
                <p:cNvPr id="26" name="Ellipse 26"/>
                <p:cNvSpPr/>
                <p:nvPr/>
              </p:nvSpPr>
              <p:spPr>
                <a:xfrm>
                  <a:off x="7353300" y="29146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503795" y="2812732"/>
                  <a:ext cx="410215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职业推荐 · 时间线 · AI问答 · 简历分析</a:t>
                  </a:r>
                </a:p>
              </p:txBody>
            </p:sp>
          </p:grpSp>
        </p:grpSp>
        <p:grpSp>
          <p:nvGrpSpPr>
            <p:cNvPr id="40" name="Group 40"/>
            <p:cNvGrpSpPr/>
            <p:nvPr/>
          </p:nvGrpSpPr>
          <p:grpSpPr>
            <a:xfrm>
              <a:off x="762000" y="4143375"/>
              <a:ext cx="5048250" cy="2143125"/>
              <a:chOff x="762000" y="4143375"/>
              <a:chExt cx="504825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41433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71550" y="43529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39078" y="44596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84020" y="4312920"/>
                <a:ext cx="292851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推荐算法与大模型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93545" y="4679632"/>
                <a:ext cx="41021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推荐流程 · 匹配评分 · 大语言模型集成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733550" y="4965382"/>
                <a:ext cx="3712845" cy="659130"/>
                <a:chOff x="1733550" y="4965382"/>
                <a:chExt cx="3712845" cy="659130"/>
              </a:xfrm>
            </p:grpSpPr>
            <p:sp>
              <p:nvSpPr>
                <p:cNvPr id="35" name="Ellipse 35"/>
                <p:cNvSpPr/>
                <p:nvPr/>
              </p:nvSpPr>
              <p:spPr>
                <a:xfrm>
                  <a:off x="1733550" y="50673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884045" y="4965382"/>
                  <a:ext cx="356235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五步推荐算法流程与匹配评分权重</a:t>
                  </a:r>
                </a:p>
              </p:txBody>
            </p:sp>
            <p:sp>
              <p:nvSpPr>
                <p:cNvPr id="37" name="Ellipse 37"/>
                <p:cNvSpPr/>
                <p:nvPr/>
              </p:nvSpPr>
              <p:spPr>
                <a:xfrm>
                  <a:off x="1733550" y="53911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884045" y="5289232"/>
                  <a:ext cx="310469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DeepSeek-V3大模型集成方案</a:t>
                  </a:r>
                </a:p>
              </p:txBody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6381750" y="4143375"/>
              <a:ext cx="5048250" cy="2143125"/>
              <a:chOff x="6381750" y="4143375"/>
              <a:chExt cx="5048250" cy="2143125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381750" y="41433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591300" y="43529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58828" y="44596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303770" y="4312920"/>
                <a:ext cx="777850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13295" y="4679632"/>
                <a:ext cx="168478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项目亮点与成果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7353300" y="4965382"/>
                <a:ext cx="3043961" cy="659130"/>
                <a:chOff x="7353300" y="4965382"/>
                <a:chExt cx="3043961" cy="659130"/>
              </a:xfrm>
            </p:grpSpPr>
            <p:sp>
              <p:nvSpPr>
                <p:cNvPr id="46" name="Ellipse 46"/>
                <p:cNvSpPr/>
                <p:nvPr/>
              </p:nvSpPr>
              <p:spPr>
                <a:xfrm>
                  <a:off x="7353300" y="50673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503795" y="4965382"/>
                  <a:ext cx="289346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完整演示闭环 · 可解释推荐</a:t>
                  </a:r>
                </a:p>
              </p:txBody>
            </p:sp>
            <p:sp>
              <p:nvSpPr>
                <p:cNvPr id="48" name="Ellipse 48"/>
                <p:cNvSpPr/>
                <p:nvPr/>
              </p:nvSpPr>
              <p:spPr>
                <a:xfrm>
                  <a:off x="7353300" y="53911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503795" y="5289232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AI增强分析 · 多维度可视化</a:t>
                  </a:r>
                </a:p>
              </p:txBody>
            </p:sp>
          </p:grpSp>
        </p:grpSp>
      </p:grpSp>
      <p:sp>
        <p:nvSpPr>
          <p:cNvPr id="53" name="TextBox 53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317443" cy="831533"/>
            <a:chOff x="525780" y="230505"/>
            <a:chExt cx="3317443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课程项目定位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1687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PROJECT POSITIONING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550545" y="1298258"/>
            <a:ext cx="1051941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6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面向就业场景的关系网络分析与职业推荐系统。将岗位、公司、城市、技能、学历、经验等信息组织成知识图谱，</a:t>
            </a:r>
            <a:r>
              <a:rPr lang="zh-CN" sz="16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结合检索、推荐和大语言模型问答，帮助用户理解职业要求和发展路径。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571500" y="2381250"/>
            <a:ext cx="11049000" cy="3619500"/>
            <a:chOff x="571500" y="2381250"/>
            <a:chExt cx="11049000" cy="3619500"/>
          </a:xfrm>
        </p:grpSpPr>
        <p:grpSp>
          <p:nvGrpSpPr>
            <p:cNvPr id="23" name="Group 23"/>
            <p:cNvGrpSpPr/>
            <p:nvPr/>
          </p:nvGrpSpPr>
          <p:grpSpPr>
            <a:xfrm>
              <a:off x="571500" y="2381250"/>
              <a:ext cx="3494989" cy="3619500"/>
              <a:chOff x="571500" y="2381250"/>
              <a:chExt cx="3494989" cy="3619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21055" y="2787968"/>
                <a:ext cx="3245434" cy="2141220"/>
                <a:chOff x="821055" y="2787968"/>
                <a:chExt cx="3245434" cy="2141220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933450" y="2838450"/>
                  <a:ext cx="304800" cy="304800"/>
                  <a:chOff x="933450" y="2838450"/>
                  <a:chExt cx="304800" cy="304800"/>
                </a:xfrm>
              </p:grpSpPr>
              <p:sp>
                <p:nvSpPr>
                  <p:cNvPr id="10" name="Freeform 10"/>
                  <p:cNvSpPr/>
                  <p:nvPr/>
                </p:nvSpPr>
                <p:spPr>
                  <a:xfrm>
                    <a:off x="933450" y="2838450"/>
                    <a:ext cx="304800" cy="30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800" h="304800">
                        <a:moveTo>
                          <a:pt x="0" y="266700"/>
                        </a:move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lnTo>
                          <a:pt x="266700" y="0"/>
                        </a:lnTo>
                        <a:cubicBezTo>
                          <a:pt x="287742" y="0"/>
                          <a:pt x="304800" y="17058"/>
                          <a:pt x="304800" y="38100"/>
                        </a:cubicBezTo>
                        <a:lnTo>
                          <a:pt x="304800" y="266700"/>
                        </a:lnTo>
                        <a:cubicBezTo>
                          <a:pt x="304800" y="287742"/>
                          <a:pt x="287742" y="304800"/>
                          <a:pt x="266700" y="304800"/>
                        </a:cubicBezTo>
                        <a:lnTo>
                          <a:pt x="38100" y="304800"/>
                        </a:lnTo>
                        <a:cubicBezTo>
                          <a:pt x="17058" y="304800"/>
                          <a:pt x="0" y="287742"/>
                          <a:pt x="0" y="266700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11" name="Freeform 11"/>
                  <p:cNvSpPr/>
                  <p:nvPr/>
                </p:nvSpPr>
                <p:spPr>
                  <a:xfrm>
                    <a:off x="990600" y="2952750"/>
                    <a:ext cx="1905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0" h="76200">
                        <a:moveTo>
                          <a:pt x="0" y="76200"/>
                        </a:moveTo>
                        <a:lnTo>
                          <a:pt x="57150" y="19050"/>
                        </a:lnTo>
                        <a:lnTo>
                          <a:pt x="95250" y="57150"/>
                        </a:lnTo>
                        <a:lnTo>
                          <a:pt x="152400" y="0"/>
                        </a:lnTo>
                        <a:lnTo>
                          <a:pt x="190500" y="3810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13" name="TextBox 13"/>
                <p:cNvSpPr txBox="1"/>
                <p:nvPr/>
              </p:nvSpPr>
              <p:spPr>
                <a:xfrm>
                  <a:off x="1440180" y="2787968"/>
                  <a:ext cx="2626309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知识图谱构建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36295" y="3298508"/>
                  <a:ext cx="297561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Neo4j图数据库存储实体关系</a:t>
                  </a:r>
                </a:p>
              </p:txBody>
            </p:sp>
            <p:grpSp>
              <p:nvGrpSpPr>
                <p:cNvPr id="21" name="Group 21"/>
                <p:cNvGrpSpPr/>
                <p:nvPr/>
              </p:nvGrpSpPr>
              <p:grpSpPr>
                <a:xfrm>
                  <a:off x="821055" y="3549968"/>
                  <a:ext cx="2278380" cy="1379220"/>
                  <a:chOff x="821055" y="3549968"/>
                  <a:chExt cx="2278380" cy="1379220"/>
                </a:xfrm>
              </p:grpSpPr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21055" y="3549968"/>
                    <a:ext cx="774718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803</a:t>
                    </a:r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1884045" y="367950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条岗位数据</a:t>
                    </a:r>
                  </a:p>
                </p:txBody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21055" y="3950018"/>
                    <a:ext cx="306499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6</a:t>
                    </a:r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1217295" y="407955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类实体节点</a:t>
                    </a:r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821055" y="4350068"/>
                    <a:ext cx="306499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5</a:t>
                    </a: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1217295" y="447960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种关系类型</a:t>
                    </a:r>
                  </a:p>
                </p:txBody>
              </p:sp>
            </p:grpSp>
          </p:grpSp>
        </p:grpSp>
        <p:grpSp>
          <p:nvGrpSpPr>
            <p:cNvPr id="43" name="Group 43"/>
            <p:cNvGrpSpPr/>
            <p:nvPr/>
          </p:nvGrpSpPr>
          <p:grpSpPr>
            <a:xfrm>
              <a:off x="4381500" y="2381250"/>
              <a:ext cx="3494989" cy="3619500"/>
              <a:chOff x="4381500" y="2381250"/>
              <a:chExt cx="3494989" cy="3619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8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8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4646295" y="2787968"/>
                <a:ext cx="3230194" cy="2798444"/>
                <a:chOff x="4646295" y="2787968"/>
                <a:chExt cx="3230194" cy="2798444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4724400" y="2819400"/>
                  <a:ext cx="342900" cy="342900"/>
                  <a:chOff x="4724400" y="2819400"/>
                  <a:chExt cx="342900" cy="342900"/>
                </a:xfrm>
              </p:grpSpPr>
              <p:sp>
                <p:nvSpPr>
                  <p:cNvPr id="26" name="Freeform 26"/>
                  <p:cNvSpPr/>
                  <p:nvPr/>
                </p:nvSpPr>
                <p:spPr>
                  <a:xfrm>
                    <a:off x="4895850" y="3009900"/>
                    <a:ext cx="133350" cy="152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52400">
                        <a:moveTo>
                          <a:pt x="66675" y="0"/>
                        </a:moveTo>
                        <a:cubicBezTo>
                          <a:pt x="29851" y="0"/>
                          <a:pt x="0" y="29851"/>
                          <a:pt x="0" y="66675"/>
                        </a:cubicBezTo>
                        <a:lnTo>
                          <a:pt x="0" y="85725"/>
                        </a:lnTo>
                        <a:cubicBezTo>
                          <a:pt x="0" y="122549"/>
                          <a:pt x="29851" y="152400"/>
                          <a:pt x="66675" y="152400"/>
                        </a:cubicBezTo>
                        <a:cubicBezTo>
                          <a:pt x="103499" y="152400"/>
                          <a:pt x="133350" y="122549"/>
                          <a:pt x="133350" y="85725"/>
                        </a:cubicBezTo>
                        <a:lnTo>
                          <a:pt x="133350" y="5143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4762500" y="3009900"/>
                    <a:ext cx="133350" cy="152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52400">
                        <a:moveTo>
                          <a:pt x="66675" y="0"/>
                        </a:moveTo>
                        <a:cubicBezTo>
                          <a:pt x="103499" y="0"/>
                          <a:pt x="133350" y="29851"/>
                          <a:pt x="133350" y="66675"/>
                        </a:cubicBezTo>
                        <a:lnTo>
                          <a:pt x="133350" y="85725"/>
                        </a:lnTo>
                        <a:cubicBezTo>
                          <a:pt x="133350" y="122549"/>
                          <a:pt x="103499" y="152400"/>
                          <a:pt x="66675" y="152400"/>
                        </a:cubicBezTo>
                        <a:cubicBezTo>
                          <a:pt x="29851" y="152400"/>
                          <a:pt x="0" y="122549"/>
                          <a:pt x="0" y="85725"/>
                        </a:cubicBezTo>
                        <a:lnTo>
                          <a:pt x="0" y="5143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8" name="Freeform 28"/>
                  <p:cNvSpPr/>
                  <p:nvPr/>
                </p:nvSpPr>
                <p:spPr>
                  <a:xfrm>
                    <a:off x="4991100" y="2933700"/>
                    <a:ext cx="76200" cy="13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33350">
                        <a:moveTo>
                          <a:pt x="9525" y="133350"/>
                        </a:moveTo>
                        <a:cubicBezTo>
                          <a:pt x="46349" y="133350"/>
                          <a:pt x="76200" y="103499"/>
                          <a:pt x="76200" y="66675"/>
                        </a:cubicBezTo>
                        <a:cubicBezTo>
                          <a:pt x="76200" y="29851"/>
                          <a:pt x="46349" y="0"/>
                          <a:pt x="9525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9" name="Freeform 29"/>
                  <p:cNvSpPr/>
                  <p:nvPr/>
                </p:nvSpPr>
                <p:spPr>
                  <a:xfrm>
                    <a:off x="4895850" y="2819400"/>
                    <a:ext cx="133350" cy="1200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20015">
                        <a:moveTo>
                          <a:pt x="133350" y="120015"/>
                        </a:moveTo>
                        <a:lnTo>
                          <a:pt x="133350" y="66675"/>
                        </a:lnTo>
                        <a:cubicBezTo>
                          <a:pt x="133350" y="29851"/>
                          <a:pt x="103499" y="0"/>
                          <a:pt x="66675" y="0"/>
                        </a:cubicBezTo>
                        <a:cubicBezTo>
                          <a:pt x="29851" y="0"/>
                          <a:pt x="0" y="29851"/>
                          <a:pt x="0" y="666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0" name="Freeform 30"/>
                  <p:cNvSpPr/>
                  <p:nvPr/>
                </p:nvSpPr>
                <p:spPr>
                  <a:xfrm>
                    <a:off x="4724400" y="2933700"/>
                    <a:ext cx="76200" cy="13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33350">
                        <a:moveTo>
                          <a:pt x="66675" y="133350"/>
                        </a:moveTo>
                        <a:cubicBezTo>
                          <a:pt x="29851" y="133350"/>
                          <a:pt x="0" y="103499"/>
                          <a:pt x="0" y="66675"/>
                        </a:cubicBezTo>
                        <a:cubicBezTo>
                          <a:pt x="0" y="29851"/>
                          <a:pt x="29851" y="0"/>
                          <a:pt x="66675" y="0"/>
                        </a:cubicBezTo>
                        <a:lnTo>
                          <a:pt x="762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1" name="Freeform 31"/>
                  <p:cNvSpPr/>
                  <p:nvPr/>
                </p:nvSpPr>
                <p:spPr>
                  <a:xfrm>
                    <a:off x="4762500" y="2819400"/>
                    <a:ext cx="133350" cy="257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257175">
                        <a:moveTo>
                          <a:pt x="0" y="120015"/>
                        </a:moveTo>
                        <a:lnTo>
                          <a:pt x="0" y="66675"/>
                        </a:lnTo>
                        <a:cubicBezTo>
                          <a:pt x="0" y="29851"/>
                          <a:pt x="29851" y="0"/>
                          <a:pt x="66675" y="0"/>
                        </a:cubicBezTo>
                        <a:cubicBezTo>
                          <a:pt x="103499" y="0"/>
                          <a:pt x="133350" y="29851"/>
                          <a:pt x="133350" y="66675"/>
                        </a:cubicBezTo>
                        <a:lnTo>
                          <a:pt x="133350" y="2571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33" name="TextBox 33"/>
                <p:cNvSpPr txBox="1"/>
                <p:nvPr/>
              </p:nvSpPr>
              <p:spPr>
                <a:xfrm>
                  <a:off x="5250180" y="2787968"/>
                  <a:ext cx="2626309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智能推荐引擎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4646295" y="3298508"/>
                  <a:ext cx="279958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多维匹配评分与Top-K排序</a:t>
                  </a:r>
                </a:p>
              </p:txBody>
            </p:sp>
            <p:grpSp>
              <p:nvGrpSpPr>
                <p:cNvPr id="37" name="Group 37"/>
                <p:cNvGrpSpPr/>
                <p:nvPr/>
              </p:nvGrpSpPr>
              <p:grpSpPr>
                <a:xfrm>
                  <a:off x="4667250" y="3905250"/>
                  <a:ext cx="2857500" cy="533400"/>
                  <a:chOff x="4667250" y="3905250"/>
                  <a:chExt cx="2857500" cy="533400"/>
                </a:xfrm>
              </p:grpSpPr>
              <p:sp>
                <p:nvSpPr>
                  <p:cNvPr id="35" name="Rectangle 35"/>
                  <p:cNvSpPr/>
                  <p:nvPr/>
                </p:nvSpPr>
                <p:spPr>
                  <a:xfrm>
                    <a:off x="4667250" y="390525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5001311" y="4070032"/>
                    <a:ext cx="218937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技能命中 + 学历匹配</a:t>
                    </a:r>
                  </a:p>
                </p:txBody>
              </p:sp>
            </p:grpSp>
            <p:grpSp>
              <p:nvGrpSpPr>
                <p:cNvPr id="40" name="Group 40"/>
                <p:cNvGrpSpPr/>
                <p:nvPr/>
              </p:nvGrpSpPr>
              <p:grpSpPr>
                <a:xfrm>
                  <a:off x="4667250" y="4533900"/>
                  <a:ext cx="2857500" cy="533400"/>
                  <a:chOff x="4667250" y="4533900"/>
                  <a:chExt cx="2857500" cy="533400"/>
                </a:xfrm>
              </p:grpSpPr>
              <p:sp>
                <p:nvSpPr>
                  <p:cNvPr id="38" name="Rectangle 38"/>
                  <p:cNvSpPr/>
                  <p:nvPr/>
                </p:nvSpPr>
                <p:spPr>
                  <a:xfrm>
                    <a:off x="4667250" y="453390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5001311" y="4698682"/>
                    <a:ext cx="218937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经验匹配 + 薪资匹配</a:t>
                    </a:r>
                  </a:p>
                </p:txBody>
              </p:sp>
            </p:grpSp>
            <p:sp>
              <p:nvSpPr>
                <p:cNvPr id="41" name="TextBox 41"/>
                <p:cNvSpPr txBox="1"/>
                <p:nvPr/>
              </p:nvSpPr>
              <p:spPr>
                <a:xfrm>
                  <a:off x="4646295" y="5251132"/>
                  <a:ext cx="123709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AI驱动推荐</a:t>
                  </a:r>
                </a:p>
              </p:txBody>
            </p:sp>
          </p:grpSp>
        </p:grpSp>
        <p:grpSp>
          <p:nvGrpSpPr>
            <p:cNvPr id="57" name="Group 57"/>
            <p:cNvGrpSpPr/>
            <p:nvPr/>
          </p:nvGrpSpPr>
          <p:grpSpPr>
            <a:xfrm>
              <a:off x="8191500" y="2381250"/>
              <a:ext cx="3429000" cy="3619500"/>
              <a:chOff x="8191500" y="2381250"/>
              <a:chExt cx="3429000" cy="3619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9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9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456295" y="2787968"/>
                <a:ext cx="2896438" cy="2798444"/>
                <a:chOff x="8456295" y="2787968"/>
                <a:chExt cx="2896438" cy="279844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514893" y="2823686"/>
                  <a:ext cx="380314" cy="337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314" h="337128">
                      <a:moveTo>
                        <a:pt x="19507" y="319564"/>
                      </a:moveTo>
                      <a:lnTo>
                        <a:pt x="44272" y="245269"/>
                      </a:lnTo>
                      <a:cubicBezTo>
                        <a:pt x="0" y="179794"/>
                        <a:pt x="17107" y="95307"/>
                        <a:pt x="84277" y="47644"/>
                      </a:cubicBezTo>
                      <a:cubicBezTo>
                        <a:pt x="151447" y="0"/>
                        <a:pt x="247917" y="3905"/>
                        <a:pt x="309924" y="56788"/>
                      </a:cubicBezTo>
                      <a:cubicBezTo>
                        <a:pt x="371932" y="109690"/>
                        <a:pt x="380314" y="195205"/>
                        <a:pt x="329527" y="256832"/>
                      </a:cubicBezTo>
                      <a:cubicBezTo>
                        <a:pt x="278740" y="318459"/>
                        <a:pt x="184461" y="337128"/>
                        <a:pt x="109042" y="300514"/>
                      </a:cubicBezTo>
                      <a:lnTo>
                        <a:pt x="19507" y="319564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9060180" y="2787968"/>
                  <a:ext cx="2136808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AI辅助分析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456295" y="3298508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大模型驱动问答与简历解析</a:t>
                  </a:r>
                </a:p>
              </p:txBody>
            </p:sp>
            <p:grpSp>
              <p:nvGrpSpPr>
                <p:cNvPr id="51" name="Group 51"/>
                <p:cNvGrpSpPr/>
                <p:nvPr/>
              </p:nvGrpSpPr>
              <p:grpSpPr>
                <a:xfrm>
                  <a:off x="8477250" y="3905250"/>
                  <a:ext cx="2857500" cy="533400"/>
                  <a:chOff x="8477250" y="3905250"/>
                  <a:chExt cx="2857500" cy="533400"/>
                </a:xfrm>
              </p:grpSpPr>
              <p:sp>
                <p:nvSpPr>
                  <p:cNvPr id="49" name="Rectangle 49"/>
                  <p:cNvSpPr/>
                  <p:nvPr/>
                </p:nvSpPr>
                <p:spPr>
                  <a:xfrm>
                    <a:off x="8477250" y="390525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8517941" y="4070032"/>
                    <a:ext cx="277611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AI职业问答 · SSE流式响应</a:t>
                    </a:r>
                  </a:p>
                </p:txBody>
              </p:sp>
            </p:grpSp>
            <p:grpSp>
              <p:nvGrpSpPr>
                <p:cNvPr id="54" name="Group 54"/>
                <p:cNvGrpSpPr/>
                <p:nvPr/>
              </p:nvGrpSpPr>
              <p:grpSpPr>
                <a:xfrm>
                  <a:off x="8459267" y="4533900"/>
                  <a:ext cx="2893466" cy="533400"/>
                  <a:chOff x="8459267" y="4533900"/>
                  <a:chExt cx="2893466" cy="533400"/>
                </a:xfrm>
              </p:grpSpPr>
              <p:sp>
                <p:nvSpPr>
                  <p:cNvPr id="52" name="Rectangle 52"/>
                  <p:cNvSpPr/>
                  <p:nvPr/>
                </p:nvSpPr>
                <p:spPr>
                  <a:xfrm>
                    <a:off x="8477250" y="453390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8459267" y="4698682"/>
                    <a:ext cx="2893466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简历解析 · 职业时间线分析</a:t>
                    </a:r>
                  </a:p>
                </p:txBody>
              </p:sp>
            </p:grpSp>
            <p:sp>
              <p:nvSpPr>
                <p:cNvPr id="55" name="TextBox 55"/>
                <p:cNvSpPr txBox="1"/>
                <p:nvPr/>
              </p:nvSpPr>
              <p:spPr>
                <a:xfrm>
                  <a:off x="8456295" y="5251132"/>
                  <a:ext cx="276497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DeepSeek-V3大模型驱动</a:t>
                  </a:r>
                </a:p>
              </p:txBody>
            </p:sp>
          </p:grpSp>
        </p:grp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696995" cy="831533"/>
            <a:chOff x="525780" y="230505"/>
            <a:chExt cx="3696995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22421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团队分工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6722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TEAM WORK DISTRIBUTION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333500" y="1714500"/>
            <a:ext cx="9525000" cy="4000500"/>
            <a:chOff x="1333500" y="1714500"/>
            <a:chExt cx="9525000" cy="4000500"/>
          </a:xfrm>
        </p:grpSpPr>
        <p:grpSp>
          <p:nvGrpSpPr>
            <p:cNvPr id="23" name="Group 23"/>
            <p:cNvGrpSpPr/>
            <p:nvPr/>
          </p:nvGrpSpPr>
          <p:grpSpPr>
            <a:xfrm>
              <a:off x="1333500" y="1714500"/>
              <a:ext cx="4191000" cy="4000500"/>
              <a:chOff x="1333500" y="1714500"/>
              <a:chExt cx="4191000" cy="4000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333500" y="1714500"/>
                <a:ext cx="4191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E8F5E9"/>
              </a:solidFill>
              <a:ln w="14288">
                <a:solidFill>
                  <a:srgbClr val="C8E6C9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2905125" y="1952625"/>
                <a:ext cx="1047750" cy="104775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3236119" y="2283619"/>
                <a:ext cx="385763" cy="385763"/>
                <a:chOff x="3236119" y="2283619"/>
                <a:chExt cx="385763" cy="385763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3278981" y="2283619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3236119" y="2540794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0" y="128588"/>
                      </a:moveTo>
                      <a:lnTo>
                        <a:pt x="0" y="85725"/>
                      </a:lnTo>
                      <a:cubicBezTo>
                        <a:pt x="0" y="38380"/>
                        <a:pt x="38380" y="0"/>
                        <a:pt x="85725" y="0"/>
                      </a:cubicBezTo>
                      <a:lnTo>
                        <a:pt x="171450" y="0"/>
                      </a:lnTo>
                      <a:cubicBezTo>
                        <a:pt x="218795" y="0"/>
                        <a:pt x="257175" y="38380"/>
                        <a:pt x="257175" y="85725"/>
                      </a:cubicBezTo>
                      <a:lnTo>
                        <a:pt x="257175" y="1285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3514725" y="2286405"/>
                  <a:ext cx="64462" cy="166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62" h="166092">
                      <a:moveTo>
                        <a:pt x="0" y="0"/>
                      </a:moveTo>
                      <a:cubicBezTo>
                        <a:pt x="37931" y="9712"/>
                        <a:pt x="64462" y="43891"/>
                        <a:pt x="64462" y="83046"/>
                      </a:cubicBezTo>
                      <a:cubicBezTo>
                        <a:pt x="64462" y="122201"/>
                        <a:pt x="37931" y="156380"/>
                        <a:pt x="0" y="16609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3557588" y="2544008"/>
                  <a:ext cx="64294" cy="125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125373">
                      <a:moveTo>
                        <a:pt x="64294" y="125373"/>
                      </a:moveTo>
                      <a:lnTo>
                        <a:pt x="64294" y="82510"/>
                      </a:lnTo>
                      <a:cubicBezTo>
                        <a:pt x="64070" y="43603"/>
                        <a:pt x="37672" y="9726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2754325" y="3073718"/>
                <a:ext cx="134935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陈佳伸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095500" y="3619500"/>
                <a:ext cx="2667000" cy="19050"/>
              </a:xfrm>
              <a:prstGeom prst="roundRect">
                <a:avLst>
                  <a:gd name="adj" fmla="val 50000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924050" y="3936682"/>
                <a:ext cx="1742770" cy="1230630"/>
                <a:chOff x="1924050" y="3936682"/>
                <a:chExt cx="1742770" cy="1230630"/>
              </a:xfrm>
            </p:grpSpPr>
            <p:sp>
              <p:nvSpPr>
                <p:cNvPr id="16" name="Ellipse 16"/>
                <p:cNvSpPr/>
                <p:nvPr/>
              </p:nvSpPr>
              <p:spPr>
                <a:xfrm>
                  <a:off x="1924050" y="399097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169795" y="3936682"/>
                  <a:ext cx="145008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参考项目查阅</a:t>
                  </a:r>
                </a:p>
              </p:txBody>
            </p:sp>
            <p:sp>
              <p:nvSpPr>
                <p:cNvPr id="18" name="Ellipse 18"/>
                <p:cNvSpPr/>
                <p:nvPr/>
              </p:nvSpPr>
              <p:spPr>
                <a:xfrm>
                  <a:off x="1924050" y="4438650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169795" y="4384358"/>
                  <a:ext cx="145008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项目进度管理</a:t>
                  </a:r>
                </a:p>
              </p:txBody>
            </p:sp>
            <p:sp>
              <p:nvSpPr>
                <p:cNvPr id="20" name="Ellipse 20"/>
                <p:cNvSpPr/>
                <p:nvPr/>
              </p:nvSpPr>
              <p:spPr>
                <a:xfrm>
                  <a:off x="1924050" y="488632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169795" y="4832032"/>
                  <a:ext cx="149702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PPT制作/汇报</a:t>
                  </a:r>
                </a:p>
              </p:txBody>
            </p:sp>
          </p:grpSp>
        </p:grpSp>
        <p:grpSp>
          <p:nvGrpSpPr>
            <p:cNvPr id="39" name="Group 39"/>
            <p:cNvGrpSpPr/>
            <p:nvPr/>
          </p:nvGrpSpPr>
          <p:grpSpPr>
            <a:xfrm>
              <a:off x="6667500" y="1714500"/>
              <a:ext cx="4191000" cy="4000500"/>
              <a:chOff x="6667500" y="1714500"/>
              <a:chExt cx="4191000" cy="4000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667500" y="1714500"/>
                <a:ext cx="4191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E8F5E9"/>
              </a:solidFill>
              <a:ln w="14288">
                <a:solidFill>
                  <a:srgbClr val="C8E6C9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239125" y="1952625"/>
                <a:ext cx="1047750" cy="104775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570119" y="2305050"/>
                <a:ext cx="385762" cy="342900"/>
                <a:chOff x="8570119" y="2305050"/>
                <a:chExt cx="385762" cy="3429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570119" y="2390775"/>
                  <a:ext cx="857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71450">
                      <a:moveTo>
                        <a:pt x="85725" y="0"/>
                      </a:moveTo>
                      <a:lnTo>
                        <a:pt x="0" y="85725"/>
                      </a:lnTo>
                      <a:lnTo>
                        <a:pt x="85725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870156" y="2390775"/>
                  <a:ext cx="857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71450">
                      <a:moveTo>
                        <a:pt x="0" y="0"/>
                      </a:moveTo>
                      <a:lnTo>
                        <a:pt x="85725" y="85725"/>
                      </a:ln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720138" y="2305050"/>
                  <a:ext cx="8572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342900">
                      <a:moveTo>
                        <a:pt x="85725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301152" y="3073718"/>
                <a:ext cx="923696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黄泰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429500" y="3619500"/>
                <a:ext cx="2667000" cy="19050"/>
              </a:xfrm>
              <a:prstGeom prst="roundRect">
                <a:avLst>
                  <a:gd name="adj" fmla="val 50000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258050" y="3936682"/>
                <a:ext cx="2165223" cy="1230630"/>
                <a:chOff x="7258050" y="3936682"/>
                <a:chExt cx="2165223" cy="1230630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7258050" y="399097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503795" y="3936682"/>
                  <a:ext cx="157916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项目实现/改进</a:t>
                  </a:r>
                </a:p>
              </p:txBody>
            </p:sp>
            <p:sp>
              <p:nvSpPr>
                <p:cNvPr id="34" name="Ellipse 34"/>
                <p:cNvSpPr/>
                <p:nvPr/>
              </p:nvSpPr>
              <p:spPr>
                <a:xfrm>
                  <a:off x="7258050" y="4438650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503795" y="4384358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功能测试</a:t>
                  </a:r>
                </a:p>
              </p:txBody>
            </p:sp>
            <p:sp>
              <p:nvSpPr>
                <p:cNvPr id="36" name="Ellipse 36"/>
                <p:cNvSpPr/>
                <p:nvPr/>
              </p:nvSpPr>
              <p:spPr>
                <a:xfrm>
                  <a:off x="7258050" y="488632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503795" y="4832032"/>
                  <a:ext cx="191947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数据库设计与优化</a:t>
                  </a:r>
                </a:p>
              </p:txBody>
            </p:sp>
          </p:grpSp>
        </p:grpSp>
      </p:grpSp>
      <p:sp>
        <p:nvSpPr>
          <p:cNvPr id="41" name="TextBox 41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317443" cy="831533"/>
            <a:chOff x="525780" y="230505"/>
            <a:chExt cx="3317443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系统整体架构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192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SYSTEM ARCHITECTURE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61025" y="1381125"/>
            <a:ext cx="11395161" cy="5314950"/>
            <a:chOff x="761025" y="1381125"/>
            <a:chExt cx="11395161" cy="531495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381125"/>
              <a:ext cx="11194694" cy="1095375"/>
              <a:chOff x="762000" y="1381125"/>
              <a:chExt cx="11194694" cy="10953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3811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3811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2533650" y="1381125"/>
                <a:ext cx="133350" cy="1095375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90625" y="1714500"/>
                <a:ext cx="285751" cy="285750"/>
                <a:chOff x="1190625" y="1714500"/>
                <a:chExt cx="285751" cy="2857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90625" y="1714500"/>
                  <a:ext cx="28575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42875">
                      <a:moveTo>
                        <a:pt x="31750" y="142875"/>
                      </a:moveTo>
                      <a:lnTo>
                        <a:pt x="0" y="142875"/>
                      </a:lnTo>
                      <a:lnTo>
                        <a:pt x="142875" y="0"/>
                      </a:lnTo>
                      <a:lnTo>
                        <a:pt x="285751" y="142875"/>
                      </a:lnTo>
                      <a:lnTo>
                        <a:pt x="254001" y="1428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22375" y="1857375"/>
                  <a:ext cx="2222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42875">
                      <a:moveTo>
                        <a:pt x="0" y="0"/>
                      </a:moveTo>
                      <a:lnTo>
                        <a:pt x="0" y="111125"/>
                      </a:lnTo>
                      <a:cubicBezTo>
                        <a:pt x="0" y="128660"/>
                        <a:pt x="14215" y="142875"/>
                        <a:pt x="31750" y="142875"/>
                      </a:cubicBezTo>
                      <a:lnTo>
                        <a:pt x="190500" y="142875"/>
                      </a:lnTo>
                      <a:cubicBezTo>
                        <a:pt x="208035" y="142875"/>
                        <a:pt x="222250" y="128660"/>
                        <a:pt x="222250" y="111125"/>
                      </a:cubicBezTo>
                      <a:lnTo>
                        <a:pt x="222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85875" y="1873250"/>
                  <a:ext cx="9525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7000">
                      <a:moveTo>
                        <a:pt x="0" y="127000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787908" y="16935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前端展示层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55700" y="2073592"/>
                <a:ext cx="917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FRONTEND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931795" y="1726882"/>
                <a:ext cx="90248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Vue 3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 xml:space="preserve"> · Element Plus · ECharts 5 — 单页应用 · 动态路由 · 图谱可视化 · 响应式布局</a:t>
                </a:r>
              </a:p>
            </p:txBody>
          </p:sp>
        </p:grpSp>
        <p:sp>
          <p:nvSpPr>
            <p:cNvPr id="18" name="Polygon 18"/>
            <p:cNvSpPr/>
            <p:nvPr/>
          </p:nvSpPr>
          <p:spPr>
            <a:xfrm>
              <a:off x="5905500" y="38576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61025" y="2714625"/>
              <a:ext cx="10668975" cy="1095375"/>
              <a:chOff x="761025" y="2714625"/>
              <a:chExt cx="10668975" cy="10953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7146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27146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533650" y="2714625"/>
                <a:ext cx="133350" cy="1095375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190625" y="3048000"/>
                <a:ext cx="285751" cy="285750"/>
                <a:chOff x="1190625" y="3048000"/>
                <a:chExt cx="285751" cy="285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1333500" y="32067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3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222375" y="32067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3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412876" y="31432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8" y="111125"/>
                      </a:moveTo>
                      <a:cubicBezTo>
                        <a:pt x="38624" y="111125"/>
                        <a:pt x="63500" y="86249"/>
                        <a:pt x="63500" y="55563"/>
                      </a:cubicBezTo>
                      <a:cubicBezTo>
                        <a:pt x="63500" y="24876"/>
                        <a:pt x="38624" y="0"/>
                        <a:pt x="793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333500" y="3048000"/>
                  <a:ext cx="11112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3">
                      <a:moveTo>
                        <a:pt x="111125" y="100013"/>
                      </a:moveTo>
                      <a:lnTo>
                        <a:pt x="111125" y="55563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190625" y="31432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222375" y="3048000"/>
                  <a:ext cx="111125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3">
                      <a:moveTo>
                        <a:pt x="0" y="100013"/>
                      </a:moveTo>
                      <a:lnTo>
                        <a:pt x="0" y="55563"/>
                      </a:lnTo>
                      <a:cubicBezTo>
                        <a:pt x="0" y="24876"/>
                        <a:pt x="24876" y="0"/>
                        <a:pt x="55563" y="0"/>
                      </a:cubicBez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214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61025" y="3027045"/>
                <a:ext cx="190695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 分析引擎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41298" y="3407092"/>
                <a:ext cx="9464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AI SERVICE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31795" y="3060382"/>
                <a:ext cx="800397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Flask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 xml:space="preserve"> · DeepSeek-V3 · Neo4j — 推荐引擎 · 简历解析 · AI问答 · 时间线分析</a:t>
                </a:r>
              </a:p>
            </p:txBody>
          </p:sp>
        </p:grpSp>
        <p:sp>
          <p:nvSpPr>
            <p:cNvPr id="33" name="Polygon 33"/>
            <p:cNvSpPr/>
            <p:nvPr/>
          </p:nvSpPr>
          <p:spPr>
            <a:xfrm>
              <a:off x="5905500" y="51911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62000" y="4048125"/>
              <a:ext cx="11394186" cy="1095375"/>
              <a:chOff x="762000" y="4048125"/>
              <a:chExt cx="11394186" cy="109537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62000" y="40481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762000" y="40481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533650" y="4048125"/>
                <a:ext cx="133350" cy="1095375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190625" y="4397375"/>
                <a:ext cx="285751" cy="254000"/>
                <a:chOff x="1190625" y="4397375"/>
                <a:chExt cx="285751" cy="2540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1190625" y="4397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90625" y="4524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254125" y="44608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254125" y="4587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87908" y="43605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业务服务层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327709" y="4740592"/>
                <a:ext cx="773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BACKEND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931795" y="4393882"/>
                <a:ext cx="922439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Spring Boot 3.4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 xml:space="preserve"> · MyBatis-Plus · JWT — 用户管理 · 职位CRUD · 鉴权拦截 · 缓存加速</a:t>
                </a:r>
              </a:p>
            </p:txBody>
          </p:sp>
        </p:grpSp>
        <p:sp>
          <p:nvSpPr>
            <p:cNvPr id="46" name="Polygon 46"/>
            <p:cNvSpPr/>
            <p:nvPr/>
          </p:nvSpPr>
          <p:spPr>
            <a:xfrm>
              <a:off x="5905500" y="65246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62000" y="5381625"/>
              <a:ext cx="10668000" cy="1095375"/>
              <a:chOff x="762000" y="5381625"/>
              <a:chExt cx="10668000" cy="109537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62000" y="53816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762000" y="53816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2533650" y="5381625"/>
                <a:ext cx="133350" cy="1095375"/>
              </a:xfrm>
              <a:prstGeom prst="rect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1206500" y="5715000"/>
                <a:ext cx="254001" cy="285750"/>
                <a:chOff x="1206500" y="5715000"/>
                <a:chExt cx="254001" cy="28575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206500" y="5715000"/>
                  <a:ext cx="254001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95250">
                      <a:moveTo>
                        <a:pt x="0" y="47625"/>
                      </a:moveTo>
                      <a:cubicBezTo>
                        <a:pt x="0" y="73928"/>
                        <a:pt x="56860" y="95250"/>
                        <a:pt x="127000" y="95250"/>
                      </a:cubicBezTo>
                      <a:cubicBezTo>
                        <a:pt x="197141" y="95250"/>
                        <a:pt x="254001" y="73928"/>
                        <a:pt x="254001" y="47625"/>
                      </a:cubicBezTo>
                      <a:cubicBezTo>
                        <a:pt x="254001" y="21322"/>
                        <a:pt x="197141" y="0"/>
                        <a:pt x="127000" y="0"/>
                      </a:cubicBezTo>
                      <a:cubicBezTo>
                        <a:pt x="56860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206500" y="5762625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206500" y="5857875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787908" y="56940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数据存储层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93292" y="6074092"/>
                <a:ext cx="10424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E8F5E9"/>
                    </a:solidFill>
                    <a:latin typeface="Arial"/>
                    <a:ea typeface="Arial"/>
                    <a:cs typeface="Arial"/>
                  </a:rPr>
                  <a:t>DATA LAYER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2931795" y="5727382"/>
                <a:ext cx="66380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MySQL 8.0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 xml:space="preserve"> · Neo4j · Redis — 业务数据 · 图数据库 · 会话缓存</a:t>
                </a:r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2807284" cy="831533"/>
            <a:chOff x="525780" y="230505"/>
            <a:chExt cx="2807284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277977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技术栈总览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27825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TECHNOLOGY STACK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571500" y="1476375"/>
            <a:ext cx="11823245" cy="4667250"/>
            <a:chOff x="571500" y="1476375"/>
            <a:chExt cx="11823245" cy="4667250"/>
          </a:xfrm>
        </p:grpSpPr>
        <p:grpSp>
          <p:nvGrpSpPr>
            <p:cNvPr id="28" name="Group 28"/>
            <p:cNvGrpSpPr/>
            <p:nvPr/>
          </p:nvGrpSpPr>
          <p:grpSpPr>
            <a:xfrm>
              <a:off x="571500" y="1476375"/>
              <a:ext cx="4127754" cy="4667250"/>
              <a:chOff x="571500" y="1476375"/>
              <a:chExt cx="4127754" cy="4667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105025"/>
                <a:ext cx="3524250" cy="13335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04875" y="1730375"/>
                <a:ext cx="285751" cy="254001"/>
                <a:chOff x="904875" y="1730375"/>
                <a:chExt cx="285751" cy="25400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904875" y="17938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63500" y="0"/>
                      </a:moveTo>
                      <a:lnTo>
                        <a:pt x="0" y="63500"/>
                      </a:lnTo>
                      <a:lnTo>
                        <a:pt x="6350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27126" y="17938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0" y="0"/>
                      </a:moveTo>
                      <a:lnTo>
                        <a:pt x="63500" y="63500"/>
                      </a:ln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16000" y="1730375"/>
                  <a:ext cx="63500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54001">
                      <a:moveTo>
                        <a:pt x="63500" y="0"/>
                      </a:moveTo>
                      <a:lnTo>
                        <a:pt x="0" y="25400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398270" y="1684020"/>
                <a:ext cx="149473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前端技术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800100" y="2476500"/>
                <a:ext cx="3899154" cy="3333750"/>
                <a:chOff x="800100" y="2476500"/>
                <a:chExt cx="3899154" cy="3333750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800100" y="2476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31545" y="2603182"/>
                  <a:ext cx="25707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Vue 3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渐进式前端框架</a:t>
                  </a:r>
                </a:p>
              </p:txBody>
            </p:sp>
            <p:sp>
              <p:nvSpPr>
                <p:cNvPr id="17" name="Rectangle 17"/>
                <p:cNvSpPr/>
                <p:nvPr/>
              </p:nvSpPr>
              <p:spPr>
                <a:xfrm>
                  <a:off x="800100" y="3048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31545" y="3174682"/>
                  <a:ext cx="270629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Element Plus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UI组件库</a:t>
                  </a:r>
                </a:p>
              </p:txBody>
            </p:sp>
            <p:sp>
              <p:nvSpPr>
                <p:cNvPr id="19" name="Rectangle 19"/>
                <p:cNvSpPr/>
                <p:nvPr/>
              </p:nvSpPr>
              <p:spPr>
                <a:xfrm>
                  <a:off x="800100" y="3619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31545" y="3746182"/>
                  <a:ext cx="3112907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ECharts 5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数据可视化图表</a:t>
                  </a:r>
                </a:p>
              </p:txBody>
            </p:sp>
            <p:sp>
              <p:nvSpPr>
                <p:cNvPr id="21" name="Rectangle 21"/>
                <p:cNvSpPr/>
                <p:nvPr/>
              </p:nvSpPr>
              <p:spPr>
                <a:xfrm>
                  <a:off x="800100" y="4191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31545" y="4317682"/>
                  <a:ext cx="2148307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Axios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HTTP客户端</a:t>
                  </a:r>
                </a:p>
              </p:txBody>
            </p:sp>
            <p:sp>
              <p:nvSpPr>
                <p:cNvPr id="23" name="Rectangle 23"/>
                <p:cNvSpPr/>
                <p:nvPr/>
              </p:nvSpPr>
              <p:spPr>
                <a:xfrm>
                  <a:off x="800100" y="4762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931545" y="4889182"/>
                  <a:ext cx="282599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Pinia</a:t>
                  </a:r>
                  <a:r>
                    <a:rPr lang="en-US" sz="1650" dirty="0">
                      <a:solidFill>
                        <a:srgbClr val="333333"/>
                      </a:solidFill>
                      <a:latin typeface="Arial"/>
                      <a:ea typeface="Arial"/>
                      <a:cs typeface="Arial"/>
                    </a:rPr>
                    <a:t xml:space="preserve"> · Vue Router · Vite</a:t>
                  </a:r>
                </a:p>
              </p:txBody>
            </p:sp>
            <p:sp>
              <p:nvSpPr>
                <p:cNvPr id="25" name="Rectangle 25"/>
                <p:cNvSpPr/>
                <p:nvPr/>
              </p:nvSpPr>
              <p:spPr>
                <a:xfrm>
                  <a:off x="800100" y="5334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31545" y="5460682"/>
                  <a:ext cx="376770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marked</a:t>
                  </a:r>
                  <a:r>
                    <a:rPr lang="en-US" sz="1650" dirty="0">
                      <a:solidFill>
                        <a:srgbClr val="333333"/>
                      </a:solidFill>
                      <a:latin typeface="Arial"/>
                      <a:ea typeface="Arial"/>
                      <a:cs typeface="Arial"/>
                    </a:rPr>
                    <a:t xml:space="preserve"> · mammoth · jwt-decode</a:t>
                  </a:r>
                </a:p>
              </p:txBody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4333875" y="1476375"/>
              <a:ext cx="3975202" cy="4667250"/>
              <a:chOff x="4333875" y="1476375"/>
              <a:chExt cx="3975202" cy="466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333875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333875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333875" y="2105025"/>
                <a:ext cx="3524250" cy="133350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667250" y="1730375"/>
                <a:ext cx="285751" cy="254000"/>
                <a:chOff x="4667250" y="1730375"/>
                <a:chExt cx="285751" cy="2540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4667250" y="1730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67250" y="1857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30750" y="17938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30750" y="1920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5160645" y="1684020"/>
                <a:ext cx="149473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后端技术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4562475" y="2476500"/>
                <a:ext cx="3746602" cy="3333750"/>
                <a:chOff x="4562475" y="2476500"/>
                <a:chExt cx="3746602" cy="3333750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4562475" y="2476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693920" y="2603182"/>
                  <a:ext cx="3615157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Spring Boot 3.4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Java业务后端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4562475" y="3048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693920" y="3174682"/>
                  <a:ext cx="329538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MyBatis-Plus 3.5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ORM框架</a:t>
                  </a:r>
                </a:p>
              </p:txBody>
            </p:sp>
            <p:sp>
              <p:nvSpPr>
                <p:cNvPr id="42" name="Rectangle 42"/>
                <p:cNvSpPr/>
                <p:nvPr/>
              </p:nvSpPr>
              <p:spPr>
                <a:xfrm>
                  <a:off x="4562475" y="3619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693920" y="3746182"/>
                  <a:ext cx="350719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JWT + Argon2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认证与密码哈希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4562475" y="4191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4693920" y="4317682"/>
                  <a:ext cx="297678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MySQL 8.0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关系型数据库</a:t>
                  </a:r>
                </a:p>
              </p:txBody>
            </p:sp>
            <p:sp>
              <p:nvSpPr>
                <p:cNvPr id="46" name="Rectangle 46"/>
                <p:cNvSpPr/>
                <p:nvPr/>
              </p:nvSpPr>
              <p:spPr>
                <a:xfrm>
                  <a:off x="4562475" y="4762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4693920" y="4889182"/>
                  <a:ext cx="233606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Druid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数据库连接池</a:t>
                  </a:r>
                </a:p>
              </p:txBody>
            </p:sp>
            <p:sp>
              <p:nvSpPr>
                <p:cNvPr id="48" name="Rectangle 48"/>
                <p:cNvSpPr/>
                <p:nvPr/>
              </p:nvSpPr>
              <p:spPr>
                <a:xfrm>
                  <a:off x="4562475" y="5334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4693920" y="5460682"/>
                  <a:ext cx="272331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Redis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· Jedis — 缓存支持</a:t>
                  </a:r>
                </a:p>
              </p:txBody>
            </p:sp>
          </p:grpSp>
        </p:grpSp>
        <p:grpSp>
          <p:nvGrpSpPr>
            <p:cNvPr id="76" name="Group 76"/>
            <p:cNvGrpSpPr/>
            <p:nvPr/>
          </p:nvGrpSpPr>
          <p:grpSpPr>
            <a:xfrm>
              <a:off x="8096250" y="1476375"/>
              <a:ext cx="4298495" cy="4667250"/>
              <a:chOff x="8096250" y="1476375"/>
              <a:chExt cx="4298495" cy="46672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096250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8096250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096250" y="2105025"/>
                <a:ext cx="3524250" cy="133350"/>
              </a:xfrm>
              <a:prstGeom prst="rect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8429625" y="1714500"/>
                <a:ext cx="285751" cy="285750"/>
                <a:chOff x="8429625" y="1714500"/>
                <a:chExt cx="285751" cy="28575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572500" y="18732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3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461375" y="18732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3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651876" y="18097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8" y="111125"/>
                      </a:moveTo>
                      <a:cubicBezTo>
                        <a:pt x="38624" y="111125"/>
                        <a:pt x="63500" y="86249"/>
                        <a:pt x="63500" y="55563"/>
                      </a:cubicBezTo>
                      <a:cubicBezTo>
                        <a:pt x="63500" y="24876"/>
                        <a:pt x="38624" y="0"/>
                        <a:pt x="793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572500" y="1714500"/>
                  <a:ext cx="11112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3">
                      <a:moveTo>
                        <a:pt x="111125" y="100013"/>
                      </a:moveTo>
                      <a:lnTo>
                        <a:pt x="111125" y="55563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429625" y="18097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461375" y="1714500"/>
                  <a:ext cx="111125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3">
                      <a:moveTo>
                        <a:pt x="0" y="100013"/>
                      </a:moveTo>
                      <a:lnTo>
                        <a:pt x="0" y="55563"/>
                      </a:lnTo>
                      <a:cubicBezTo>
                        <a:pt x="0" y="24876"/>
                        <a:pt x="24876" y="0"/>
                        <a:pt x="55563" y="0"/>
                      </a:cubicBez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214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8923020" y="1684020"/>
                <a:ext cx="144097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AI与数据</a:t>
                </a: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8324850" y="2476500"/>
                <a:ext cx="4069895" cy="3333750"/>
                <a:chOff x="8324850" y="2476500"/>
                <a:chExt cx="4069895" cy="3333750"/>
              </a:xfrm>
            </p:grpSpPr>
            <p:sp>
              <p:nvSpPr>
                <p:cNvPr id="63" name="Rectangle 63"/>
                <p:cNvSpPr/>
                <p:nvPr/>
              </p:nvSpPr>
              <p:spPr>
                <a:xfrm>
                  <a:off x="8324850" y="2476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8456295" y="2603182"/>
                  <a:ext cx="23008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Flask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AI微服务框架</a:t>
                  </a:r>
                </a:p>
              </p:txBody>
            </p:sp>
            <p:sp>
              <p:nvSpPr>
                <p:cNvPr id="65" name="Rectangle 65"/>
                <p:cNvSpPr/>
                <p:nvPr/>
              </p:nvSpPr>
              <p:spPr>
                <a:xfrm>
                  <a:off x="8324850" y="3048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456295" y="3174682"/>
                  <a:ext cx="186667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Neo4j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图数据库</a:t>
                  </a:r>
                </a:p>
              </p:txBody>
            </p:sp>
            <p:sp>
              <p:nvSpPr>
                <p:cNvPr id="67" name="Rectangle 67"/>
                <p:cNvSpPr/>
                <p:nvPr/>
              </p:nvSpPr>
              <p:spPr>
                <a:xfrm>
                  <a:off x="8324850" y="3619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456295" y="3746182"/>
                  <a:ext cx="319798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SiliconFlow API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大模型调用</a:t>
                  </a:r>
                </a:p>
              </p:txBody>
            </p:sp>
            <p:sp>
              <p:nvSpPr>
                <p:cNvPr id="69" name="Rectangle 69"/>
                <p:cNvSpPr/>
                <p:nvPr/>
              </p:nvSpPr>
              <p:spPr>
                <a:xfrm>
                  <a:off x="8324850" y="4191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456295" y="4317682"/>
                  <a:ext cx="302607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py2neo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— Neo4j Python驱动</a:t>
                  </a:r>
                </a:p>
              </p:txBody>
            </p:sp>
            <p:sp>
              <p:nvSpPr>
                <p:cNvPr id="71" name="Rectangle 71"/>
                <p:cNvSpPr/>
                <p:nvPr/>
              </p:nvSpPr>
              <p:spPr>
                <a:xfrm>
                  <a:off x="8324850" y="47625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456295" y="4889182"/>
                  <a:ext cx="393845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PyMuPDF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 xml:space="preserve"> · python-docx — 文档解析</a:t>
                  </a:r>
                </a:p>
              </p:txBody>
            </p:sp>
            <p:sp>
              <p:nvSpPr>
                <p:cNvPr id="73" name="Rectangle 73"/>
                <p:cNvSpPr/>
                <p:nvPr/>
              </p:nvSpPr>
              <p:spPr>
                <a:xfrm>
                  <a:off x="8324850" y="5334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456295" y="5460682"/>
                  <a:ext cx="3460257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pandas</a:t>
                  </a:r>
                  <a:r>
                    <a:rPr lang="en-US" sz="1650" dirty="0">
                      <a:solidFill>
                        <a:srgbClr val="333333"/>
                      </a:solidFill>
                      <a:latin typeface="Arial"/>
                      <a:ea typeface="Arial"/>
                      <a:cs typeface="Arial"/>
                    </a:rPr>
                    <a:t xml:space="preserve"> · pytesseract · Pillow</a:t>
                  </a:r>
                </a:p>
              </p:txBody>
            </p:sp>
          </p:grpSp>
        </p:grpSp>
      </p:grpSp>
      <p:sp>
        <p:nvSpPr>
          <p:cNvPr id="78" name="TextBox 7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6433337" cy="831533"/>
            <a:chOff x="525780" y="230505"/>
            <a:chExt cx="6433337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546811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数据源与知识图谱建模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64085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DATA SOURCE &amp; KNOWLEDGE GRAPH MODELING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71500" y="1381125"/>
            <a:ext cx="11001375" cy="952500"/>
            <a:chOff x="571500" y="1381125"/>
            <a:chExt cx="11001375" cy="9525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381125"/>
              <a:ext cx="2571750" cy="952500"/>
              <a:chOff x="571500" y="1381125"/>
              <a:chExt cx="2571750" cy="952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68080" y="1392555"/>
                <a:ext cx="978591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803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2332" y="19459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岗位数据记录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381375" y="1381125"/>
              <a:ext cx="2571750" cy="952500"/>
              <a:chOff x="3381375" y="1381125"/>
              <a:chExt cx="2571750" cy="952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381375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73672" y="1392555"/>
                <a:ext cx="387157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42207" y="19459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实体节点类型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191250" y="1381125"/>
              <a:ext cx="2571750" cy="952500"/>
              <a:chOff x="6191250" y="1381125"/>
              <a:chExt cx="2571750" cy="952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191250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283547" y="1392555"/>
                <a:ext cx="387157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986778" y="194595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关系类型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001125" y="1381125"/>
              <a:ext cx="2571750" cy="952500"/>
              <a:chOff x="9001125" y="1381125"/>
              <a:chExt cx="257175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001125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797705" y="1392555"/>
                <a:ext cx="978591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10+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96653" y="194595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数据字段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571500" y="2619375"/>
            <a:ext cx="13132841" cy="785813"/>
            <a:chOff x="571500" y="2619375"/>
            <a:chExt cx="13132841" cy="785813"/>
          </a:xfrm>
        </p:grpSpPr>
        <p:sp>
          <p:nvSpPr>
            <p:cNvPr id="24" name="Rectangle 24"/>
            <p:cNvSpPr/>
            <p:nvPr/>
          </p:nvSpPr>
          <p:spPr>
            <a:xfrm>
              <a:off x="571500" y="2619375"/>
              <a:ext cx="11049000" cy="762000"/>
            </a:xfrm>
            <a:prstGeom prst="roundRect">
              <a:avLst>
                <a:gd name="adj" fmla="val 17500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6295" y="2765108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数据来源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6295" y="3069908"/>
              <a:ext cx="128680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项目内置招聘岗位样本数据，共803条记录。字段：职位、城市、公司、学历、经验、技能、薪资、福利、工作描述、行业。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0545" y="3346132"/>
            <a:ext cx="11087737" cy="1702118"/>
            <a:chOff x="550545" y="3346132"/>
            <a:chExt cx="11087737" cy="1702118"/>
          </a:xfrm>
        </p:grpSpPr>
        <p:sp>
          <p:nvSpPr>
            <p:cNvPr id="28" name="TextBox 28"/>
            <p:cNvSpPr txBox="1"/>
            <p:nvPr/>
          </p:nvSpPr>
          <p:spPr>
            <a:xfrm>
              <a:off x="550545" y="3346132"/>
              <a:ext cx="17669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图谱实体与关系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71500" y="3905250"/>
              <a:ext cx="1571625" cy="495300"/>
              <a:chOff x="571500" y="3905250"/>
              <a:chExt cx="1571625" cy="4953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3905250"/>
                <a:ext cx="157162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4894" y="4050982"/>
                <a:ext cx="10153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Job 岗位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381250" y="3905250"/>
              <a:ext cx="1762125" cy="495300"/>
              <a:chOff x="2381250" y="3905250"/>
              <a:chExt cx="1762125" cy="4953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381250" y="3905250"/>
                <a:ext cx="176212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454177" y="4050982"/>
                <a:ext cx="160674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Company 公司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381500" y="3905250"/>
              <a:ext cx="1476375" cy="495300"/>
              <a:chOff x="4381500" y="3905250"/>
              <a:chExt cx="1476375" cy="495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381500" y="3905250"/>
                <a:ext cx="1476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570305" y="4050982"/>
                <a:ext cx="10892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City 城市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096000" y="3905250"/>
              <a:ext cx="1476375" cy="495300"/>
              <a:chOff x="6096000" y="3905250"/>
              <a:chExt cx="1476375" cy="4953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3905250"/>
                <a:ext cx="1476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278644" y="4050982"/>
                <a:ext cx="11015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Skill 技能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810500" y="3905250"/>
              <a:ext cx="1714500" cy="495300"/>
              <a:chOff x="7810500" y="3905250"/>
              <a:chExt cx="1714500" cy="4953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810500" y="3905250"/>
                <a:ext cx="171450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956789" y="4050982"/>
                <a:ext cx="14219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Degree 学历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735819" y="3905250"/>
              <a:ext cx="1902463" cy="495300"/>
              <a:chOff x="9735819" y="3905250"/>
              <a:chExt cx="1902463" cy="4953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9763125" y="3905250"/>
                <a:ext cx="1857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735819" y="4050982"/>
                <a:ext cx="19024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Experience 经验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550545" y="4679632"/>
              <a:ext cx="7459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关系：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333500" y="4667250"/>
              <a:ext cx="1905000" cy="381000"/>
              <a:chOff x="1333500" y="4667250"/>
              <a:chExt cx="1905000" cy="3810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1333500" y="4667250"/>
                <a:ext cx="1905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376172" y="4743450"/>
                <a:ext cx="181965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REQUIRES（需要）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01568" y="4667250"/>
              <a:ext cx="2150364" cy="381000"/>
              <a:chOff x="3401568" y="4667250"/>
              <a:chExt cx="2150364" cy="3810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3429000" y="4667250"/>
                <a:ext cx="20955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401568" y="4743450"/>
                <a:ext cx="215036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BELONGS_TO（属于）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715000" y="4667250"/>
              <a:ext cx="2190750" cy="381000"/>
              <a:chOff x="5715000" y="4667250"/>
              <a:chExt cx="2190750" cy="381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715000" y="4667250"/>
                <a:ext cx="219075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5783199" y="4743450"/>
                <a:ext cx="20543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LOCATED_IN（位于）</a:t>
                </a:r>
              </a:p>
            </p:txBody>
          </p:sp>
        </p:grpSp>
      </p:grpSp>
      <p:sp>
        <p:nvSpPr>
          <p:cNvPr id="58" name="TextBox 5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3494456" y="2407920"/>
            <a:ext cx="5203088" cy="2035492"/>
            <a:chOff x="3494456" y="2407920"/>
            <a:chExt cx="5203088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40792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295275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160825" y="3261360"/>
              <a:ext cx="3870350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核心功能演示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94456" y="4108132"/>
              <a:ext cx="52030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CORE FEATURES DEMONSTRATION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392778" cy="812482"/>
            <a:chOff x="525780" y="182880"/>
            <a:chExt cx="4392778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43927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系统入口与主界面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0392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SYSTEM ENTRY &amp; DASHBOARD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6477000" cy="4891088"/>
            <a:chOff x="571500" y="1047750"/>
            <a:chExt cx="6477000" cy="4891088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6477000" cy="4524375"/>
            </a:xfrm>
            <a:prstGeom prst="roundRect">
              <a:avLst>
                <a:gd name="adj" fmla="val 2947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047750"/>
              <a:ext cx="6477000" cy="4524375"/>
            </a:xfrm>
            <a:prstGeom prst="roundRect">
              <a:avLst>
                <a:gd name="adj" fmla="val 2947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818333" y="5664518"/>
              <a:ext cx="1983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主界面 — 登录后仪表盘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29500" y="1047750"/>
            <a:ext cx="4191000" cy="2814638"/>
            <a:chOff x="7429500" y="1047750"/>
            <a:chExt cx="4191000" cy="2814638"/>
          </a:xfrm>
        </p:grpSpPr>
        <p:sp>
          <p:nvSpPr>
            <p:cNvPr id="10" name="Rectangle 10"/>
            <p:cNvSpPr/>
            <p:nvPr/>
          </p:nvSpPr>
          <p:spPr>
            <a:xfrm>
              <a:off x="7429500" y="1047750"/>
              <a:ext cx="4191000" cy="2476500"/>
            </a:xfrm>
            <a:prstGeom prst="roundRect">
              <a:avLst>
                <a:gd name="adj" fmla="val 5385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9500" y="1047750"/>
              <a:ext cx="4191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123807" y="3588068"/>
              <a:ext cx="8023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登录入口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29500" y="4000500"/>
            <a:ext cx="5811393" cy="2214562"/>
            <a:chOff x="7429500" y="4000500"/>
            <a:chExt cx="5811393" cy="2214562"/>
          </a:xfrm>
        </p:grpSpPr>
        <p:sp>
          <p:nvSpPr>
            <p:cNvPr id="14" name="Rectangle 14"/>
            <p:cNvSpPr/>
            <p:nvPr/>
          </p:nvSpPr>
          <p:spPr>
            <a:xfrm>
              <a:off x="7429500" y="4000500"/>
              <a:ext cx="4191000" cy="2190750"/>
            </a:xfrm>
            <a:prstGeom prst="roundRect">
              <a:avLst>
                <a:gd name="adj" fmla="val 6087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713663" y="4260532"/>
              <a:ext cx="5527230" cy="1954530"/>
              <a:chOff x="7713663" y="4260532"/>
              <a:chExt cx="5527230" cy="195453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713663" y="43068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018145" y="4260532"/>
                <a:ext cx="343326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用户注册/登录，JWT Token认证</a:t>
                </a: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7713663" y="474503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018145" y="4698682"/>
                <a:ext cx="31281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角色选择（求职者 / 企业方）</a:t>
                </a: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7713663" y="51831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018145" y="5136832"/>
                <a:ext cx="28582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左侧深色导航栏按功能分组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7713663" y="562133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018145" y="5574982"/>
                <a:ext cx="26587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顶部工具栏 · 中央内容区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21955" y="5940742"/>
                <a:ext cx="52189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注意：首页统计面板数字为模板展示，尚未接入真实业务统计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852340" cy="812482"/>
            <a:chOff x="525780" y="182880"/>
            <a:chExt cx="485234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知识图谱可视化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8275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KNOWLEDGE GRAPH VISUALIZATION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0545" y="1375410"/>
            <a:ext cx="4831080" cy="4201478"/>
            <a:chOff x="550545" y="1375410"/>
            <a:chExt cx="4831080" cy="4201478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1375410"/>
              <a:ext cx="1476375" cy="672465"/>
              <a:chOff x="571500" y="1375410"/>
              <a:chExt cx="1476375" cy="67246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159741" y="1375410"/>
                <a:ext cx="29036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03732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实体类型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238375" y="1375410"/>
              <a:ext cx="1476375" cy="672465"/>
              <a:chOff x="2238375" y="1375410"/>
              <a:chExt cx="1476375" cy="67246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2238375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826616" y="1375410"/>
                <a:ext cx="29036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70607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关系类型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905250" y="1375410"/>
              <a:ext cx="1476375" cy="672465"/>
              <a:chOff x="3905250" y="1375410"/>
              <a:chExt cx="1476375" cy="67246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905250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271703" y="1375410"/>
                <a:ext cx="733943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803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37482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岗位数据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550545" y="2250758"/>
              <a:ext cx="47358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将招聘数据转化为图结构，展示岗位与技能、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0545" y="2555558"/>
              <a:ext cx="45011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学历、经验、公司、城市之间的连接关系。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545" y="2860358"/>
              <a:ext cx="47358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节点颜色代表不同实体类型，连线表示关系。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550545" y="3603308"/>
              <a:ext cx="4377538" cy="1973580"/>
              <a:chOff x="550545" y="3603308"/>
              <a:chExt cx="4377538" cy="19735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27063" y="364966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31545" y="3603308"/>
                <a:ext cx="399653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ECharts力导向图渲染，支持交互拖拽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627063" y="408781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31545" y="4041458"/>
                <a:ext cx="33276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节点按实体类型着色，直观区分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627063" y="452596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31545" y="4479608"/>
                <a:ext cx="215417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支持按条件筛选子图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50545" y="4936808"/>
                <a:ext cx="34919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相比传统表格，图谱更适合直观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50545" y="5241608"/>
                <a:ext cx="29990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解释岗位要求之间的关联。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81747" y="5378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知识图谱可视化界面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423486" cy="812482"/>
            <a:chOff x="525780" y="182880"/>
            <a:chExt cx="4423486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职业推荐系统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3987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JOB RECOMMENDATION SYSTEM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" y="1390650"/>
            <a:ext cx="3638550" cy="4276725"/>
            <a:chOff x="628650" y="1390650"/>
            <a:chExt cx="3638550" cy="4276725"/>
          </a:xfrm>
        </p:grpSpPr>
        <p:grpSp>
          <p:nvGrpSpPr>
            <p:cNvPr id="10" name="Group 10"/>
            <p:cNvGrpSpPr/>
            <p:nvPr/>
          </p:nvGrpSpPr>
          <p:grpSpPr>
            <a:xfrm>
              <a:off x="628650" y="1390650"/>
              <a:ext cx="3638550" cy="619125"/>
              <a:chOff x="628650" y="1390650"/>
              <a:chExt cx="3638550" cy="61912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628650" y="13906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08458" y="14544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4890" y="14058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用户输入描述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8700" y="1704975"/>
                <a:ext cx="3238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输入技能、学历、经验等自然语言</a:t>
                </a:r>
              </a:p>
            </p:txBody>
          </p:sp>
        </p:grpSp>
        <p:sp>
          <p:nvSpPr>
            <p:cNvPr id="11" name="Polygon 11"/>
            <p:cNvSpPr/>
            <p:nvPr/>
          </p:nvSpPr>
          <p:spPr>
            <a:xfrm>
              <a:off x="781050" y="20193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28650" y="2305050"/>
              <a:ext cx="2806446" cy="619125"/>
              <a:chOff x="628650" y="2305050"/>
              <a:chExt cx="2806446" cy="61912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628650" y="23050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08458" y="23688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4890" y="2320290"/>
                <a:ext cx="18334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NLP关键词提取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8700" y="2619375"/>
                <a:ext cx="240639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技能/学历/经验实体识别</a:t>
                </a:r>
              </a:p>
            </p:txBody>
          </p:sp>
        </p:grpSp>
        <p:sp>
          <p:nvSpPr>
            <p:cNvPr id="17" name="Polygon 17"/>
            <p:cNvSpPr/>
            <p:nvPr/>
          </p:nvSpPr>
          <p:spPr>
            <a:xfrm>
              <a:off x="781050" y="29337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28650" y="3219450"/>
              <a:ext cx="2891790" cy="619125"/>
              <a:chOff x="628650" y="3219450"/>
              <a:chExt cx="2891790" cy="61912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628650" y="32194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8458" y="32832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4890" y="3234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图谱条件匹配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8700" y="3533775"/>
                <a:ext cx="249174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Neo4j查询满足条件的岗位</a:t>
                </a:r>
              </a:p>
            </p:txBody>
          </p:sp>
        </p:grpSp>
        <p:sp>
          <p:nvSpPr>
            <p:cNvPr id="23" name="Polygon 23"/>
            <p:cNvSpPr/>
            <p:nvPr/>
          </p:nvSpPr>
          <p:spPr>
            <a:xfrm>
              <a:off x="781050" y="38481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28650" y="4133850"/>
              <a:ext cx="2592629" cy="381000"/>
              <a:chOff x="628650" y="4133850"/>
              <a:chExt cx="2592629" cy="3810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28650" y="41338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08458" y="41976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24890" y="4149090"/>
                <a:ext cx="21963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多维匹配评分计算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781050" y="47625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8650" y="5048250"/>
              <a:ext cx="3030474" cy="619125"/>
              <a:chOff x="628650" y="5048250"/>
              <a:chExt cx="3030474" cy="61912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28650" y="5048250"/>
                <a:ext cx="304800" cy="3048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08458" y="51120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24890" y="5063490"/>
                <a:ext cx="186034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Top-K排序输出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28700" y="5362575"/>
                <a:ext cx="26304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推荐结果 + 图谱可视化解释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05500" y="952500"/>
            <a:ext cx="6265164" cy="4762500"/>
            <a:chOff x="5905500" y="952500"/>
            <a:chExt cx="6265164" cy="4762500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05500" y="952500"/>
              <a:ext cx="5715000" cy="3810000"/>
            </a:xfrm>
            <a:prstGeom prst="roundRect">
              <a:avLst>
                <a:gd name="adj" fmla="val 3500"/>
              </a:avLst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5905500" y="952500"/>
              <a:ext cx="5715000" cy="3810000"/>
            </a:xfrm>
            <a:prstGeom prst="roundRect">
              <a:avLst>
                <a:gd name="adj" fmla="val 3500"/>
              </a:avLst>
            </a:prstGeom>
            <a:noFill/>
            <a:ln w="9525">
              <a:solidFill>
                <a:srgbClr val="C8E6C9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905500" y="4953000"/>
              <a:ext cx="1238250" cy="762000"/>
              <a:chOff x="5905500" y="4953000"/>
              <a:chExt cx="1238250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90550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20783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40%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2343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技能命中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334250" y="4953000"/>
              <a:ext cx="1238250" cy="762000"/>
              <a:chOff x="7334250" y="4953000"/>
              <a:chExt cx="1238250" cy="762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33425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3658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25%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5218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学历匹配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763000" y="4953000"/>
              <a:ext cx="1238250" cy="762000"/>
              <a:chOff x="8763000" y="4953000"/>
              <a:chExt cx="1238250" cy="762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76300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06533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25%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98093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经验匹配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0191750" y="4953000"/>
              <a:ext cx="1238250" cy="762000"/>
              <a:chOff x="10191750" y="4953000"/>
              <a:chExt cx="1238250" cy="762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1019175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49408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10%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40968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薪资匹配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0984230" y="4854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推荐结果界面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99687" cy="812482"/>
            <a:chOff x="525780" y="182880"/>
            <a:chExt cx="3899687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职业时间线分析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38749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CAREER TIMELINE 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0545" y="1383030"/>
            <a:ext cx="5081420" cy="4251008"/>
            <a:chOff x="550545" y="1383030"/>
            <a:chExt cx="5081420" cy="4251008"/>
          </a:xfrm>
        </p:grpSpPr>
        <p:grpSp>
          <p:nvGrpSpPr>
            <p:cNvPr id="9" name="Group 9"/>
            <p:cNvGrpSpPr/>
            <p:nvPr/>
          </p:nvGrpSpPr>
          <p:grpSpPr>
            <a:xfrm>
              <a:off x="590550" y="1383030"/>
              <a:ext cx="4487418" cy="636270"/>
              <a:chOff x="590550" y="1383030"/>
              <a:chExt cx="4487418" cy="63627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590550" y="1400175"/>
                <a:ext cx="266700" cy="266700"/>
              </a:xfrm>
              <a:prstGeom prst="ellipse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1080" y="138303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初级阶段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8700" y="1714500"/>
                <a:ext cx="40492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0-2年 · 入门技能掌握，基础项目经验积累</a:t>
                </a:r>
              </a:p>
            </p:txBody>
          </p:sp>
        </p:grpSp>
        <p:sp>
          <p:nvSpPr>
            <p:cNvPr id="10" name="Rectangle 10"/>
            <p:cNvSpPr/>
            <p:nvPr/>
          </p:nvSpPr>
          <p:spPr>
            <a:xfrm>
              <a:off x="704850" y="18002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90550" y="2125980"/>
              <a:ext cx="4487418" cy="636270"/>
              <a:chOff x="590550" y="2125980"/>
              <a:chExt cx="4487418" cy="63627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590550" y="2143125"/>
                <a:ext cx="266700" cy="2667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21080" y="212598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发展阶段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8700" y="2457450"/>
                <a:ext cx="40492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2-5年 · 专业技术深化，独立负责项目模块</a:t>
                </a:r>
              </a:p>
            </p:txBody>
          </p:sp>
        </p:grpSp>
        <p:sp>
          <p:nvSpPr>
            <p:cNvPr id="15" name="Rectangle 15"/>
            <p:cNvSpPr/>
            <p:nvPr/>
          </p:nvSpPr>
          <p:spPr>
            <a:xfrm>
              <a:off x="704850" y="254317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90550" y="2868930"/>
              <a:ext cx="4604766" cy="636270"/>
              <a:chOff x="590550" y="2868930"/>
              <a:chExt cx="4604766" cy="63627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590550" y="2886075"/>
                <a:ext cx="266700" cy="2667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1080" y="286893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成熟阶段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8700" y="3200400"/>
                <a:ext cx="4166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5-10年 · 团队管理与跨领域协作，技术决策</a:t>
                </a:r>
              </a:p>
            </p:txBody>
          </p:sp>
        </p:grpSp>
        <p:sp>
          <p:nvSpPr>
            <p:cNvPr id="20" name="Rectangle 20"/>
            <p:cNvSpPr/>
            <p:nvPr/>
          </p:nvSpPr>
          <p:spPr>
            <a:xfrm>
              <a:off x="704850" y="32861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90550" y="3611880"/>
              <a:ext cx="4274058" cy="636270"/>
              <a:chOff x="590550" y="3611880"/>
              <a:chExt cx="4274058" cy="63627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590550" y="3629025"/>
                <a:ext cx="266700" cy="2667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21080" y="361188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专家阶段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28700" y="3943350"/>
                <a:ext cx="383590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10年+ · 行业影响力建设，技术战略规划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550545" y="4251008"/>
              <a:ext cx="28230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AI模型根据职业名自动生成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0545" y="4574858"/>
              <a:ext cx="30929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四阶段发展路径，时间线组件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545" y="4898708"/>
              <a:ext cx="26235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直观展示职业成长轨迹。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0545" y="5298758"/>
              <a:ext cx="50814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包含：阶段名称 · 背景 · 关键事件 · 技能要求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1747" y="5378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职业时间线分析界面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2869159" cy="812482"/>
            <a:chOff x="525780" y="182880"/>
            <a:chExt cx="2869159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286042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AI 智能问答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8443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AI INTELLIGENT Q&amp;A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238250"/>
            <a:ext cx="6137834" cy="4381500"/>
            <a:chOff x="571500" y="1238250"/>
            <a:chExt cx="6137834" cy="43815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238250"/>
              <a:ext cx="3693795" cy="1333500"/>
              <a:chOff x="571500" y="1238250"/>
              <a:chExt cx="3693795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238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8995" y="1431607"/>
                <a:ext cx="253542" cy="224751"/>
              </a:xfrm>
              <a:custGeom>
                <a:avLst/>
                <a:gdLst/>
                <a:ahLst/>
                <a:cxnLst/>
                <a:rect l="l" t="t" r="r" b="b"/>
                <a:pathLst>
                  <a:path w="253542" h="224751">
                    <a:moveTo>
                      <a:pt x="13005" y="213042"/>
                    </a:moveTo>
                    <a:lnTo>
                      <a:pt x="29515" y="163512"/>
                    </a:lnTo>
                    <a:cubicBezTo>
                      <a:pt x="0" y="119862"/>
                      <a:pt x="11405" y="63538"/>
                      <a:pt x="56185" y="31763"/>
                    </a:cubicBezTo>
                    <a:cubicBezTo>
                      <a:pt x="100965" y="0"/>
                      <a:pt x="165277" y="2603"/>
                      <a:pt x="206616" y="37859"/>
                    </a:cubicBezTo>
                    <a:cubicBezTo>
                      <a:pt x="247954" y="73126"/>
                      <a:pt x="253542" y="130137"/>
                      <a:pt x="219684" y="171221"/>
                    </a:cubicBezTo>
                    <a:cubicBezTo>
                      <a:pt x="185826" y="212305"/>
                      <a:pt x="122974" y="224751"/>
                      <a:pt x="72695" y="200342"/>
                    </a:cubicBezTo>
                    <a:lnTo>
                      <a:pt x="13005" y="213042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01040" y="1710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自然语言交互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02945" y="2012632"/>
                <a:ext cx="35623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日常语言提问职业发展和技能学习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238500" y="1238250"/>
              <a:ext cx="3224403" cy="1333500"/>
              <a:chOff x="3238500" y="1238250"/>
              <a:chExt cx="3224403" cy="1333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238500" y="1238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3454400" y="1428750"/>
                <a:ext cx="177800" cy="228599"/>
                <a:chOff x="3454400" y="1428750"/>
                <a:chExt cx="177800" cy="228599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3568700" y="14287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3454400" y="142875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505200" y="150495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505200" y="15557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505200" y="16065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3368040" y="1710690"/>
                <a:ext cx="18737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Markdown渲染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69945" y="2012632"/>
                <a:ext cx="309295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支持代码高亮和公式渲染回答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2762250"/>
              <a:ext cx="3846347" cy="1333500"/>
              <a:chOff x="571500" y="2762250"/>
              <a:chExt cx="3846347" cy="1333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2762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787400" y="2990850"/>
                <a:ext cx="177800" cy="152400"/>
                <a:chOff x="787400" y="2990850"/>
                <a:chExt cx="177800" cy="1524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87400" y="3067050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89000" y="30670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89000" y="29908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701040" y="3234690"/>
                <a:ext cx="15646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SSE流式响应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02945" y="3536632"/>
                <a:ext cx="371490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Server-Sent Events逐字实时输出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238500" y="2762250"/>
              <a:ext cx="2755011" cy="1333500"/>
              <a:chOff x="3238500" y="2762250"/>
              <a:chExt cx="2755011" cy="1333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3238500" y="2762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3429000" y="2952750"/>
                <a:ext cx="228599" cy="228600"/>
                <a:chOff x="3429000" y="2952750"/>
                <a:chExt cx="228599" cy="2286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3543300" y="307975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19901" y="0"/>
                        <a:pt x="0" y="19901"/>
                        <a:pt x="0" y="44450"/>
                      </a:cubicBezTo>
                      <a:lnTo>
                        <a:pt x="0" y="57150"/>
                      </a:lnTo>
                      <a:cubicBezTo>
                        <a:pt x="0" y="81699"/>
                        <a:pt x="19901" y="101600"/>
                        <a:pt x="44450" y="101600"/>
                      </a:cubicBezTo>
                      <a:cubicBezTo>
                        <a:pt x="68999" y="101600"/>
                        <a:pt x="88900" y="81699"/>
                        <a:pt x="88900" y="57150"/>
                      </a:cubicBezTo>
                      <a:lnTo>
                        <a:pt x="88900" y="3429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454400" y="307975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57150"/>
                      </a:lnTo>
                      <a:cubicBezTo>
                        <a:pt x="88900" y="81699"/>
                        <a:pt x="68999" y="101600"/>
                        <a:pt x="44450" y="101600"/>
                      </a:cubicBezTo>
                      <a:cubicBezTo>
                        <a:pt x="19901" y="101600"/>
                        <a:pt x="0" y="81699"/>
                        <a:pt x="0" y="57150"/>
                      </a:cubicBezTo>
                      <a:lnTo>
                        <a:pt x="0" y="3429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606799" y="302895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6350" y="88900"/>
                      </a:moveTo>
                      <a:cubicBezTo>
                        <a:pt x="30899" y="88900"/>
                        <a:pt x="50800" y="68999"/>
                        <a:pt x="50800" y="44450"/>
                      </a:cubicBezTo>
                      <a:cubicBezTo>
                        <a:pt x="50800" y="19901"/>
                        <a:pt x="30899" y="0"/>
                        <a:pt x="635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543300" y="2952750"/>
                  <a:ext cx="8890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0010">
                      <a:moveTo>
                        <a:pt x="88900" y="80010"/>
                      </a:moveTo>
                      <a:lnTo>
                        <a:pt x="88900" y="44450"/>
                      </a:ln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429000" y="302895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44450" y="88900"/>
                      </a:move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454400" y="2952750"/>
                  <a:ext cx="889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71450">
                      <a:moveTo>
                        <a:pt x="0" y="8001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17145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3368040" y="3234690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上下文理解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369945" y="3536632"/>
                <a:ext cx="262356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支持多轮对话，意图理解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4286250"/>
              <a:ext cx="3224403" cy="1333500"/>
              <a:chOff x="571500" y="4286250"/>
              <a:chExt cx="3224403" cy="1333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4286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9389" y="4464075"/>
                <a:ext cx="253644" cy="241210"/>
              </a:xfrm>
              <a:custGeom>
                <a:avLst/>
                <a:gdLst/>
                <a:ahLst/>
                <a:cxnLst/>
                <a:rect l="l" t="t" r="r" b="b"/>
                <a:pathLst>
                  <a:path w="253644" h="241210">
                    <a:moveTo>
                      <a:pt x="126911" y="199999"/>
                    </a:moveTo>
                    <a:lnTo>
                      <a:pt x="48527" y="241210"/>
                    </a:lnTo>
                    <a:lnTo>
                      <a:pt x="63500" y="153924"/>
                    </a:lnTo>
                    <a:lnTo>
                      <a:pt x="0" y="92113"/>
                    </a:lnTo>
                    <a:lnTo>
                      <a:pt x="87630" y="79413"/>
                    </a:lnTo>
                    <a:lnTo>
                      <a:pt x="126822" y="0"/>
                    </a:lnTo>
                    <a:lnTo>
                      <a:pt x="166014" y="79413"/>
                    </a:lnTo>
                    <a:lnTo>
                      <a:pt x="253644" y="92113"/>
                    </a:lnTo>
                    <a:lnTo>
                      <a:pt x="190144" y="153924"/>
                    </a:lnTo>
                    <a:lnTo>
                      <a:pt x="205117" y="241210"/>
                    </a:lnTo>
                    <a:lnTo>
                      <a:pt x="126911" y="19999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01040" y="4758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职业领域专长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2945" y="5060632"/>
                <a:ext cx="309295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针对职业发展、技能学习优化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238500" y="4286250"/>
              <a:ext cx="3470834" cy="1333500"/>
              <a:chOff x="3238500" y="4286250"/>
              <a:chExt cx="3470834" cy="13335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238500" y="4286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3429000" y="4489450"/>
                <a:ext cx="228599" cy="203200"/>
                <a:chOff x="3429000" y="4489450"/>
                <a:chExt cx="228599" cy="2032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3429000" y="44894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3429000" y="4591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3479800" y="45402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3479800" y="46418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3368040" y="4758690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369945" y="5060632"/>
                <a:ext cx="333938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接入DeepSeek-V3，回答质量高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56" name="Rectangle 56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88173" y="5378768"/>
              <a:ext cx="13496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AI智能问答界面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930445" cy="812482"/>
            <a:chOff x="525780" y="182880"/>
            <a:chExt cx="4930445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493044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简历上传与智能分析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39805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RESUME UPLOAD &amp; ANALYSIS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952500"/>
            <a:ext cx="11049000" cy="2624138"/>
            <a:chOff x="571500" y="952500"/>
            <a:chExt cx="11049000" cy="262413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952500"/>
              <a:ext cx="5334000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571500" y="952500"/>
              <a:ext cx="5334000" cy="2286000"/>
            </a:xfrm>
            <a:prstGeom prst="roundRect">
              <a:avLst>
                <a:gd name="adj" fmla="val 5833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45283" y="33023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简历上传入口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952500"/>
              <a:ext cx="5524500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0" y="952500"/>
              <a:ext cx="5524500" cy="2286000"/>
            </a:xfrm>
            <a:prstGeom prst="roundRect">
              <a:avLst>
                <a:gd name="adj" fmla="val 5833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65033" y="33023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简历分析结果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3810000"/>
            <a:ext cx="11049000" cy="533400"/>
            <a:chOff x="571500" y="3810000"/>
            <a:chExt cx="11049000" cy="533400"/>
          </a:xfrm>
        </p:grpSpPr>
        <p:sp>
          <p:nvSpPr>
            <p:cNvPr id="13" name="Rectangle 13"/>
            <p:cNvSpPr/>
            <p:nvPr/>
          </p:nvSpPr>
          <p:spPr>
            <a:xfrm>
              <a:off x="571500" y="3810000"/>
              <a:ext cx="11049000" cy="533400"/>
            </a:xfrm>
            <a:prstGeom prst="roundRect">
              <a:avLst>
                <a:gd name="adj" fmla="val 25000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2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上传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93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简历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2667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27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98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格式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4572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32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提取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03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文本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6477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37045" y="3974782"/>
              <a:ext cx="7442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AI分析</a:t>
              </a:r>
            </a:p>
          </p:txBody>
        </p:sp>
        <p:sp>
          <p:nvSpPr>
            <p:cNvPr id="24" name="Polygon 24"/>
            <p:cNvSpPr/>
            <p:nvPr/>
          </p:nvSpPr>
          <p:spPr>
            <a:xfrm>
              <a:off x="8382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42045" y="3974782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匹配建议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4619625"/>
            <a:ext cx="11049000" cy="1766887"/>
            <a:chOff x="571500" y="4619625"/>
            <a:chExt cx="11049000" cy="1766887"/>
          </a:xfrm>
        </p:grpSpPr>
        <p:grpSp>
          <p:nvGrpSpPr>
            <p:cNvPr id="35" name="Group 35"/>
            <p:cNvGrpSpPr/>
            <p:nvPr/>
          </p:nvGrpSpPr>
          <p:grpSpPr>
            <a:xfrm>
              <a:off x="571500" y="4619625"/>
              <a:ext cx="5238750" cy="1766887"/>
              <a:chOff x="571500" y="4619625"/>
              <a:chExt cx="5238750" cy="1766887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4619625"/>
                <a:ext cx="523875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77240" y="4787265"/>
                <a:ext cx="19275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支持格式与解析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800100" y="5248275"/>
                <a:ext cx="4304005" cy="1138237"/>
                <a:chOff x="800100" y="5248275"/>
                <a:chExt cx="4304005" cy="1138237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800100" y="5248275"/>
                  <a:ext cx="1428750" cy="419100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290215" y="5346382"/>
                  <a:ext cx="44852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rgbClr val="333333"/>
                      </a:solidFill>
                      <a:latin typeface="Arial"/>
                      <a:ea typeface="Arial"/>
                      <a:cs typeface="Arial"/>
                    </a:rPr>
                    <a:t>PDF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398395" y="5346382"/>
                  <a:ext cx="177866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dirty="0">
                      <a:solidFill>
                        <a:srgbClr val="666666"/>
                      </a:solidFill>
                      <a:latin typeface="Arial"/>
                      <a:ea typeface="Arial"/>
                      <a:cs typeface="Arial"/>
                    </a:rPr>
                    <a:t>PyMuPDF (fitz)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398395" y="5698808"/>
                  <a:ext cx="229499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dirty="0">
                      <a:solidFill>
                        <a:srgbClr val="666666"/>
                      </a:solidFill>
                      <a:latin typeface="Arial"/>
                      <a:ea typeface="Arial"/>
                      <a:cs typeface="Arial"/>
                    </a:rPr>
                    <a:t>Word · python-docx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398395" y="6051232"/>
                  <a:ext cx="270571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图片 · pytesseract OCR</a:t>
                  </a:r>
                </a:p>
              </p:txBody>
            </p:sp>
          </p:grpSp>
        </p:grpSp>
        <p:grpSp>
          <p:nvGrpSpPr>
            <p:cNvPr id="47" name="Group 47"/>
            <p:cNvGrpSpPr/>
            <p:nvPr/>
          </p:nvGrpSpPr>
          <p:grpSpPr>
            <a:xfrm>
              <a:off x="6096000" y="4619625"/>
              <a:ext cx="5524500" cy="1619250"/>
              <a:chOff x="6096000" y="4619625"/>
              <a:chExt cx="5524500" cy="1619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096000" y="4619625"/>
                <a:ext cx="552450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01740" y="4787265"/>
                <a:ext cx="13495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AI分析输出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6324600" y="5248275"/>
                <a:ext cx="5109972" cy="395287"/>
                <a:chOff x="6324600" y="5248275"/>
                <a:chExt cx="5109972" cy="395287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405753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职业名称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6324600" y="5248275"/>
                  <a:ext cx="13335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786878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匹配概率</a:t>
                  </a:r>
                </a:p>
              </p:txBody>
            </p:sp>
            <p:sp>
              <p:nvSpPr>
                <p:cNvPr id="42" name="Rectangle 42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168003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市场状况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0453878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发展行情</a:t>
                  </a:r>
                </a:p>
              </p:txBody>
            </p:sp>
          </p:grpSp>
        </p:grpSp>
      </p:grpSp>
      <p:sp>
        <p:nvSpPr>
          <p:cNvPr id="49" name="TextBox 4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3533546" y="2407920"/>
            <a:ext cx="5124907" cy="2035492"/>
            <a:chOff x="3533546" y="2407920"/>
            <a:chExt cx="5124907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40792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295275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533546" y="3261360"/>
              <a:ext cx="512490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推荐算法与大模型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82467" y="4108132"/>
              <a:ext cx="50270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ALGORITHM &amp; LLM INTEGRATION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5145710" cy="812482"/>
            <a:chOff x="525780" y="182880"/>
            <a:chExt cx="51457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推荐算法流程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51209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RECOMMENDATION ALGORITHM FLOW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223010"/>
            <a:ext cx="8639175" cy="1120140"/>
            <a:chOff x="571500" y="1223010"/>
            <a:chExt cx="8639175" cy="112014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226695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C8E6C9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39624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65785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C8E6C9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533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78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用户输入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559" y="18897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自我描述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12139" y="1644968"/>
              <a:ext cx="3669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B5E20"/>
                  </a:solidFill>
                  <a:latin typeface="Arial"/>
                  <a:ea typeface="Arial"/>
                  <a:cs typeface="Arial"/>
                </a:rPr>
                <a:t>NLP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3665" y="1889760"/>
              <a:ext cx="883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关键词提取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068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图谱匹配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1787" y="1889760"/>
              <a:ext cx="7985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Neo4j查询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613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多维评分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29909" y="18897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权重计算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81220" y="1644968"/>
              <a:ext cx="992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Top-K输出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3670" y="1889760"/>
              <a:ext cx="807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8E6C9"/>
                  </a:solidFill>
                  <a:latin typeface="Arial"/>
                  <a:ea typeface="Microsoft YaHei"/>
                  <a:cs typeface="Arial"/>
                </a:rPr>
                <a:t>结果+图谱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67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221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376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3311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5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8640" y="2853690"/>
            <a:ext cx="4880991" cy="2613660"/>
            <a:chOff x="548640" y="2853690"/>
            <a:chExt cx="4880991" cy="2613660"/>
          </a:xfrm>
        </p:grpSpPr>
        <p:sp>
          <p:nvSpPr>
            <p:cNvPr id="27" name="TextBox 27"/>
            <p:cNvSpPr txBox="1"/>
            <p:nvPr/>
          </p:nvSpPr>
          <p:spPr>
            <a:xfrm>
              <a:off x="548640" y="2853690"/>
              <a:ext cx="16587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匹配评分权重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" y="3333750"/>
              <a:ext cx="4858131" cy="466725"/>
              <a:chOff x="571500" y="3333750"/>
              <a:chExt cx="4858131" cy="46672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33337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3333750"/>
                <a:ext cx="19050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103227" y="3434715"/>
                <a:ext cx="169904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技能命中 40%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979545" y="345090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核心匹配维度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71500" y="3905250"/>
              <a:ext cx="4762500" cy="466725"/>
              <a:chOff x="571500" y="3905250"/>
              <a:chExt cx="4762500" cy="4667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39052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71500" y="3905250"/>
                <a:ext cx="1190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81360" y="4006215"/>
                <a:ext cx="11613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25% 学历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455545" y="402240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学历要求匹配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71500" y="4457700"/>
              <a:ext cx="4762500" cy="466725"/>
              <a:chOff x="571500" y="4457700"/>
              <a:chExt cx="4762500" cy="46672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445770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71500" y="4457700"/>
                <a:ext cx="1190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81360" y="4558665"/>
                <a:ext cx="11613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25% 经验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455545" y="45748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工作年限匹配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60722" y="5010150"/>
              <a:ext cx="4773278" cy="457200"/>
              <a:chOff x="560722" y="5010150"/>
              <a:chExt cx="4773278" cy="4572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50101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71500" y="5010150"/>
                <a:ext cx="4762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60722" y="5127308"/>
                <a:ext cx="49780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666666"/>
                    </a:solidFill>
                    <a:latin typeface="Arial"/>
                    <a:ea typeface="Arial"/>
                    <a:cs typeface="Arial"/>
                  </a:rPr>
                  <a:t>10%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693545" y="512730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薪资匹配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073140" y="2853690"/>
            <a:ext cx="3710559" cy="2275522"/>
            <a:chOff x="6073140" y="2853690"/>
            <a:chExt cx="3710559" cy="2275522"/>
          </a:xfrm>
        </p:grpSpPr>
        <p:sp>
          <p:nvSpPr>
            <p:cNvPr id="49" name="TextBox 49"/>
            <p:cNvSpPr txBox="1"/>
            <p:nvPr/>
          </p:nvSpPr>
          <p:spPr>
            <a:xfrm>
              <a:off x="6073140" y="2853690"/>
              <a:ext cx="1121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算法特点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6151563" y="3422332"/>
              <a:ext cx="3632136" cy="1706880"/>
              <a:chOff x="6151563" y="3422332"/>
              <a:chExt cx="3632136" cy="170688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151563" y="34686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456045" y="3422332"/>
                <a:ext cx="28582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基于图谱匹配，可解释性强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151563" y="39258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456045" y="3879532"/>
                <a:ext cx="33276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多维度综合评分，避免单一指标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6151563" y="43830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456045" y="4336732"/>
                <a:ext cx="27995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Top-K排序，结果精简高效</a:t>
                </a:r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6151563" y="48402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456045" y="4793932"/>
                <a:ext cx="23888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每个推荐都有关系依据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55110" cy="812482"/>
            <a:chOff x="525780" y="182880"/>
            <a:chExt cx="38551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大语言模型集成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4934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LLM INTEGRATION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1381125"/>
            <a:ext cx="11049000" cy="2667000"/>
            <a:chOff x="571500" y="1381125"/>
            <a:chExt cx="11049000" cy="26670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381125"/>
              <a:ext cx="3429000" cy="2667000"/>
              <a:chOff x="571500" y="1381125"/>
              <a:chExt cx="3429000" cy="2667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7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800100" y="1706880"/>
                <a:ext cx="2971800" cy="2188845"/>
                <a:chOff x="800100" y="1706880"/>
                <a:chExt cx="2971800" cy="218884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828332" y="1712952"/>
                  <a:ext cx="285236" cy="25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236" h="252846">
                      <a:moveTo>
                        <a:pt x="14630" y="239673"/>
                      </a:moveTo>
                      <a:lnTo>
                        <a:pt x="33204" y="183952"/>
                      </a:lnTo>
                      <a:cubicBezTo>
                        <a:pt x="0" y="134845"/>
                        <a:pt x="12830" y="71480"/>
                        <a:pt x="63208" y="35733"/>
                      </a:cubicBezTo>
                      <a:cubicBezTo>
                        <a:pt x="113586" y="0"/>
                        <a:pt x="185938" y="2929"/>
                        <a:pt x="232443" y="42591"/>
                      </a:cubicBezTo>
                      <a:cubicBezTo>
                        <a:pt x="278949" y="82267"/>
                        <a:pt x="285236" y="146404"/>
                        <a:pt x="247145" y="192624"/>
                      </a:cubicBezTo>
                      <a:cubicBezTo>
                        <a:pt x="209055" y="238844"/>
                        <a:pt x="138346" y="252846"/>
                        <a:pt x="81782" y="225385"/>
                      </a:cubicBezTo>
                      <a:lnTo>
                        <a:pt x="14630" y="239673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268730" y="1706880"/>
                  <a:ext cx="1668582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 职业问答</a:t>
                  </a:r>
                </a:p>
              </p:txBody>
            </p:sp>
            <p:grpSp>
              <p:nvGrpSpPr>
                <p:cNvPr id="18" name="Group 18"/>
                <p:cNvGrpSpPr/>
                <p:nvPr/>
              </p:nvGrpSpPr>
              <p:grpSpPr>
                <a:xfrm>
                  <a:off x="800100" y="2200275"/>
                  <a:ext cx="2971800" cy="1695450"/>
                  <a:chOff x="800100" y="2200275"/>
                  <a:chExt cx="2971800" cy="1695450"/>
                </a:xfrm>
              </p:grpSpPr>
              <p:sp>
                <p:nvSpPr>
                  <p:cNvPr id="10" name="Rectangle 10"/>
                  <p:cNvSpPr/>
                  <p:nvPr/>
                </p:nvSpPr>
                <p:spPr>
                  <a:xfrm>
                    <a:off x="80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895350" y="2276475"/>
                    <a:ext cx="2737104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SSE流式响应，实时逐字输出</a:t>
                    </a:r>
                  </a:p>
                </p:txBody>
              </p:sp>
              <p:sp>
                <p:nvSpPr>
                  <p:cNvPr id="12" name="Rectangle 12"/>
                  <p:cNvSpPr/>
                  <p:nvPr/>
                </p:nvSpPr>
                <p:spPr>
                  <a:xfrm>
                    <a:off x="80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895350" y="2714625"/>
                    <a:ext cx="234238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Markdown格式渲染回答</a:t>
                    </a:r>
                  </a:p>
                </p:txBody>
              </p:sp>
              <p:sp>
                <p:nvSpPr>
                  <p:cNvPr id="14" name="Rectangle 14"/>
                  <p:cNvSpPr/>
                  <p:nvPr/>
                </p:nvSpPr>
                <p:spPr>
                  <a:xfrm>
                    <a:off x="80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95350" y="31527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支持代码高亮和公式</a:t>
                    </a:r>
                  </a:p>
                </p:txBody>
              </p:sp>
              <p:sp>
                <p:nvSpPr>
                  <p:cNvPr id="16" name="Rectangle 16"/>
                  <p:cNvSpPr/>
                  <p:nvPr/>
                </p:nvSpPr>
                <p:spPr>
                  <a:xfrm>
                    <a:off x="80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9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多轮对话上下文理解</a:t>
                    </a:r>
                  </a:p>
                </p:txBody>
              </p:sp>
            </p:grpSp>
          </p:grpSp>
        </p:grpSp>
        <p:grpSp>
          <p:nvGrpSpPr>
            <p:cNvPr id="40" name="Group 40"/>
            <p:cNvGrpSpPr/>
            <p:nvPr/>
          </p:nvGrpSpPr>
          <p:grpSpPr>
            <a:xfrm>
              <a:off x="4381500" y="1381125"/>
              <a:ext cx="3429000" cy="2667000"/>
              <a:chOff x="4381500" y="1381125"/>
              <a:chExt cx="3429000" cy="2667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38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8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4610100" y="1706880"/>
                <a:ext cx="2971800" cy="2188845"/>
                <a:chOff x="4610100" y="1706880"/>
                <a:chExt cx="2971800" cy="2188845"/>
              </a:xfrm>
            </p:grpSpPr>
            <p:grpSp>
              <p:nvGrpSpPr>
                <p:cNvPr id="28" name="Group 28"/>
                <p:cNvGrpSpPr/>
                <p:nvPr/>
              </p:nvGrpSpPr>
              <p:grpSpPr>
                <a:xfrm>
                  <a:off x="4652962" y="1766888"/>
                  <a:ext cx="257175" cy="142875"/>
                  <a:chOff x="4652962" y="1766888"/>
                  <a:chExt cx="257175" cy="142875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4667250" y="1781175"/>
                    <a:ext cx="2286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600" h="114300">
                        <a:moveTo>
                          <a:pt x="0" y="114300"/>
                        </a:moveTo>
                        <a:lnTo>
                          <a:pt x="85725" y="14288"/>
                        </a:lnTo>
                        <a:lnTo>
                          <a:pt x="157162" y="85725"/>
                        </a:lnTo>
                        <a:lnTo>
                          <a:pt x="2286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4810125" y="1852612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4738688" y="1781175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4652962" y="1881188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4881562" y="1766888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29" name="TextBox 29"/>
                <p:cNvSpPr txBox="1"/>
                <p:nvPr/>
              </p:nvSpPr>
              <p:spPr>
                <a:xfrm>
                  <a:off x="5078730" y="1706880"/>
                  <a:ext cx="1621536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职业时间线</a:t>
                  </a:r>
                </a:p>
              </p:txBody>
            </p:sp>
            <p:grpSp>
              <p:nvGrpSpPr>
                <p:cNvPr id="38" name="Group 38"/>
                <p:cNvGrpSpPr/>
                <p:nvPr/>
              </p:nvGrpSpPr>
              <p:grpSpPr>
                <a:xfrm>
                  <a:off x="4610100" y="2200275"/>
                  <a:ext cx="2971800" cy="1695450"/>
                  <a:chOff x="4610100" y="2200275"/>
                  <a:chExt cx="2971800" cy="1695450"/>
                </a:xfrm>
              </p:grpSpPr>
              <p:sp>
                <p:nvSpPr>
                  <p:cNvPr id="30" name="Rectangle 30"/>
                  <p:cNvSpPr/>
                  <p:nvPr/>
                </p:nvSpPr>
                <p:spPr>
                  <a:xfrm>
                    <a:off x="461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4705350" y="2276475"/>
                    <a:ext cx="238506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根据职业名自动生成阶段</a:t>
                    </a:r>
                  </a:p>
                </p:txBody>
              </p:sp>
              <p:sp>
                <p:nvSpPr>
                  <p:cNvPr id="32" name="Rectangle 32"/>
                  <p:cNvSpPr/>
                  <p:nvPr/>
                </p:nvSpPr>
                <p:spPr>
                  <a:xfrm>
                    <a:off x="461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4705350" y="27146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包含背景和关键事件</a:t>
                    </a:r>
                  </a:p>
                </p:txBody>
              </p:sp>
              <p:sp>
                <p:nvSpPr>
                  <p:cNvPr id="34" name="Rectangle 34"/>
                  <p:cNvSpPr/>
                  <p:nvPr/>
                </p:nvSpPr>
                <p:spPr>
                  <a:xfrm>
                    <a:off x="461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4705350" y="31527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技能要求随阶段变化</a:t>
                    </a:r>
                  </a:p>
                </p:txBody>
              </p:sp>
              <p:sp>
                <p:nvSpPr>
                  <p:cNvPr id="36" name="Rectangle 36"/>
                  <p:cNvSpPr/>
                  <p:nvPr/>
                </p:nvSpPr>
                <p:spPr>
                  <a:xfrm>
                    <a:off x="461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470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时间线组件直观展示</a:t>
                    </a:r>
                  </a:p>
                </p:txBody>
              </p:sp>
            </p:grpSp>
          </p:grpSp>
        </p:grpSp>
        <p:grpSp>
          <p:nvGrpSpPr>
            <p:cNvPr id="60" name="Group 60"/>
            <p:cNvGrpSpPr/>
            <p:nvPr/>
          </p:nvGrpSpPr>
          <p:grpSpPr>
            <a:xfrm>
              <a:off x="8191500" y="1381125"/>
              <a:ext cx="3429000" cy="2667000"/>
              <a:chOff x="8191500" y="1381125"/>
              <a:chExt cx="3429000" cy="2667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19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19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8420100" y="1706880"/>
                <a:ext cx="2971800" cy="2188845"/>
                <a:chOff x="8420100" y="1706880"/>
                <a:chExt cx="2971800" cy="2188845"/>
              </a:xfrm>
            </p:grpSpPr>
            <p:grpSp>
              <p:nvGrpSpPr>
                <p:cNvPr id="48" name="Group 48"/>
                <p:cNvGrpSpPr/>
                <p:nvPr/>
              </p:nvGrpSpPr>
              <p:grpSpPr>
                <a:xfrm>
                  <a:off x="8491538" y="1709738"/>
                  <a:ext cx="200025" cy="257175"/>
                  <a:chOff x="8491538" y="1709738"/>
                  <a:chExt cx="200025" cy="257175"/>
                </a:xfrm>
              </p:grpSpPr>
              <p:sp>
                <p:nvSpPr>
                  <p:cNvPr id="43" name="Freeform 43"/>
                  <p:cNvSpPr/>
                  <p:nvPr/>
                </p:nvSpPr>
                <p:spPr>
                  <a:xfrm>
                    <a:off x="8620125" y="1709738"/>
                    <a:ext cx="71438" cy="71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438" h="71438">
                        <a:moveTo>
                          <a:pt x="0" y="0"/>
                        </a:moveTo>
                        <a:lnTo>
                          <a:pt x="0" y="57150"/>
                        </a:lnTo>
                        <a:cubicBezTo>
                          <a:pt x="0" y="65041"/>
                          <a:pt x="6397" y="71438"/>
                          <a:pt x="14288" y="71438"/>
                        </a:cubicBezTo>
                        <a:lnTo>
                          <a:pt x="71438" y="71438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4" name="Freeform 44"/>
                  <p:cNvSpPr/>
                  <p:nvPr/>
                </p:nvSpPr>
                <p:spPr>
                  <a:xfrm>
                    <a:off x="8491538" y="1709738"/>
                    <a:ext cx="200025" cy="257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25" h="257175">
                        <a:moveTo>
                          <a:pt x="171450" y="257175"/>
                        </a:moveTo>
                        <a:lnTo>
                          <a:pt x="28575" y="257175"/>
                        </a:lnTo>
                        <a:cubicBezTo>
                          <a:pt x="12793" y="257175"/>
                          <a:pt x="0" y="244382"/>
                          <a:pt x="0" y="228600"/>
                        </a:cubicBezTo>
                        <a:lnTo>
                          <a:pt x="0" y="28575"/>
                        </a:lnTo>
                        <a:cubicBezTo>
                          <a:pt x="0" y="12793"/>
                          <a:pt x="12793" y="0"/>
                          <a:pt x="28575" y="0"/>
                        </a:cubicBezTo>
                        <a:lnTo>
                          <a:pt x="128588" y="0"/>
                        </a:lnTo>
                        <a:lnTo>
                          <a:pt x="200025" y="71438"/>
                        </a:lnTo>
                        <a:lnTo>
                          <a:pt x="200025" y="228600"/>
                        </a:lnTo>
                        <a:cubicBezTo>
                          <a:pt x="200025" y="244382"/>
                          <a:pt x="187232" y="257175"/>
                          <a:pt x="171450" y="2571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5" name="Freeform 45"/>
                  <p:cNvSpPr/>
                  <p:nvPr/>
                </p:nvSpPr>
                <p:spPr>
                  <a:xfrm>
                    <a:off x="8548688" y="1795462"/>
                    <a:ext cx="1428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8" h="9525">
                        <a:moveTo>
                          <a:pt x="0" y="0"/>
                        </a:moveTo>
                        <a:lnTo>
                          <a:pt x="14288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6" name="Freeform 46"/>
                  <p:cNvSpPr/>
                  <p:nvPr/>
                </p:nvSpPr>
                <p:spPr>
                  <a:xfrm>
                    <a:off x="8548688" y="1852612"/>
                    <a:ext cx="857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25" h="9525">
                        <a:moveTo>
                          <a:pt x="0" y="0"/>
                        </a:moveTo>
                        <a:lnTo>
                          <a:pt x="857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7" name="Freeform 47"/>
                  <p:cNvSpPr/>
                  <p:nvPr/>
                </p:nvSpPr>
                <p:spPr>
                  <a:xfrm>
                    <a:off x="8548688" y="1909762"/>
                    <a:ext cx="857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25" h="9525">
                        <a:moveTo>
                          <a:pt x="0" y="0"/>
                        </a:moveTo>
                        <a:lnTo>
                          <a:pt x="857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49" name="TextBox 49"/>
                <p:cNvSpPr txBox="1"/>
                <p:nvPr/>
              </p:nvSpPr>
              <p:spPr>
                <a:xfrm>
                  <a:off x="8888730" y="1706880"/>
                  <a:ext cx="193517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简历智能匹配</a:t>
                  </a:r>
                </a:p>
              </p:txBody>
            </p:sp>
            <p:grpSp>
              <p:nvGrpSpPr>
                <p:cNvPr id="58" name="Group 58"/>
                <p:cNvGrpSpPr/>
                <p:nvPr/>
              </p:nvGrpSpPr>
              <p:grpSpPr>
                <a:xfrm>
                  <a:off x="8420100" y="2200275"/>
                  <a:ext cx="2971800" cy="1695450"/>
                  <a:chOff x="8420100" y="2200275"/>
                  <a:chExt cx="2971800" cy="1695450"/>
                </a:xfrm>
              </p:grpSpPr>
              <p:sp>
                <p:nvSpPr>
                  <p:cNvPr id="50" name="Rectangle 50"/>
                  <p:cNvSpPr/>
                  <p:nvPr/>
                </p:nvSpPr>
                <p:spPr>
                  <a:xfrm>
                    <a:off x="842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8515350" y="22764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多格式简历文本提取</a:t>
                    </a:r>
                  </a:p>
                </p:txBody>
              </p:sp>
              <p:sp>
                <p:nvSpPr>
                  <p:cNvPr id="52" name="Rectangle 52"/>
                  <p:cNvSpPr/>
                  <p:nvPr/>
                </p:nvSpPr>
                <p:spPr>
                  <a:xfrm>
                    <a:off x="842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8515350" y="2714625"/>
                    <a:ext cx="1926336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AI生成职业匹配分析</a:t>
                    </a:r>
                  </a:p>
                </p:txBody>
              </p:sp>
              <p:sp>
                <p:nvSpPr>
                  <p:cNvPr id="54" name="Rectangle 54"/>
                  <p:cNvSpPr/>
                  <p:nvPr/>
                </p:nvSpPr>
                <p:spPr>
                  <a:xfrm>
                    <a:off x="842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8515350" y="3152775"/>
                    <a:ext cx="174498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匹配概率量化评估</a:t>
                    </a:r>
                  </a:p>
                </p:txBody>
              </p:sp>
              <p:sp>
                <p:nvSpPr>
                  <p:cNvPr id="56" name="Rectangle 56"/>
                  <p:cNvSpPr/>
                  <p:nvPr/>
                </p:nvSpPr>
                <p:spPr>
                  <a:xfrm>
                    <a:off x="842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851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市场行情与前景预测</a:t>
                    </a:r>
                  </a:p>
                </p:txBody>
              </p:sp>
            </p:grpSp>
          </p:grpSp>
        </p:grpSp>
      </p:grpSp>
      <p:grpSp>
        <p:nvGrpSpPr>
          <p:cNvPr id="66" name="Group 66"/>
          <p:cNvGrpSpPr/>
          <p:nvPr/>
        </p:nvGrpSpPr>
        <p:grpSpPr>
          <a:xfrm>
            <a:off x="571500" y="4381500"/>
            <a:ext cx="11049000" cy="1238250"/>
            <a:chOff x="571500" y="4381500"/>
            <a:chExt cx="11049000" cy="1238250"/>
          </a:xfrm>
        </p:grpSpPr>
        <p:sp>
          <p:nvSpPr>
            <p:cNvPr id="62" name="Rectangle 62"/>
            <p:cNvSpPr/>
            <p:nvPr/>
          </p:nvSpPr>
          <p:spPr>
            <a:xfrm>
              <a:off x="571500" y="4381500"/>
              <a:ext cx="11049000" cy="1238250"/>
            </a:xfrm>
            <a:prstGeom prst="roundRect">
              <a:avLst>
                <a:gd name="adj" fmla="val 10769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7240" y="4549140"/>
              <a:ext cx="16587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技术实现说明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9145" y="4889182"/>
              <a:ext cx="95588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通过OpenAI兼容接口接入第三方大模型服务（SiliconFlow平台），调用DeepSeek-V3模型。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9145" y="5213032"/>
              <a:ext cx="92302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不同功能模块使用不同Prompt模板组织输入和输出格式，AI返回Markdown由前端渲染。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143500" y="2693670"/>
            <a:ext cx="1905000" cy="2035492"/>
            <a:chOff x="5143500" y="2693670"/>
            <a:chExt cx="1905000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69367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323850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415382" y="3547110"/>
              <a:ext cx="136123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84292" y="4393882"/>
              <a:ext cx="14234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55110" cy="812482"/>
            <a:chOff x="525780" y="182880"/>
            <a:chExt cx="38551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项目亮点与成果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9617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PROJECT HIGHLIGHTS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333500"/>
            <a:ext cx="11165967" cy="4667250"/>
            <a:chOff x="571500" y="1333500"/>
            <a:chExt cx="11165967" cy="4667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333500"/>
              <a:ext cx="5334000" cy="2190750"/>
              <a:chOff x="571500" y="1333500"/>
              <a:chExt cx="5334000" cy="2190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335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817245" y="1626870"/>
                <a:ext cx="4031742" cy="1054418"/>
                <a:chOff x="817245" y="1626870"/>
                <a:chExt cx="4031742" cy="1054418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17575" y="1711325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0" y="79375"/>
                      </a:moveTo>
                      <a:lnTo>
                        <a:pt x="79375" y="158750"/>
                      </a:lnTo>
                      <a:lnTo>
                        <a:pt x="238125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379220" y="1626870"/>
                  <a:ext cx="2211629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完整演示闭环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817245" y="2041208"/>
                  <a:ext cx="39026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注册登录 → 知识图谱 → 推荐 → 时间线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817245" y="2346008"/>
                  <a:ext cx="403174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→ 问答 → 简历分析，全流程本地可运行</a:t>
                  </a:r>
                </a:p>
              </p:txBody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6286500" y="1333500"/>
              <a:ext cx="5450967" cy="2190750"/>
              <a:chOff x="6286500" y="1333500"/>
              <a:chExt cx="5450967" cy="2190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3335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532245" y="1626870"/>
                <a:ext cx="5205222" cy="1054418"/>
                <a:chOff x="6532245" y="1626870"/>
                <a:chExt cx="5205222" cy="1054418"/>
              </a:xfrm>
            </p:grpSpPr>
            <p:grpSp>
              <p:nvGrpSpPr>
                <p:cNvPr id="16" name="Group 16"/>
                <p:cNvGrpSpPr/>
                <p:nvPr/>
              </p:nvGrpSpPr>
              <p:grpSpPr>
                <a:xfrm>
                  <a:off x="6600825" y="1647825"/>
                  <a:ext cx="285750" cy="285750"/>
                  <a:chOff x="6600825" y="1647825"/>
                  <a:chExt cx="285750" cy="285750"/>
                </a:xfrm>
              </p:grpSpPr>
              <p:sp>
                <p:nvSpPr>
                  <p:cNvPr id="14" name="Freeform 14"/>
                  <p:cNvSpPr/>
                  <p:nvPr/>
                </p:nvSpPr>
                <p:spPr>
                  <a:xfrm>
                    <a:off x="6600825" y="1647825"/>
                    <a:ext cx="222250" cy="222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250" h="222250">
                        <a:moveTo>
                          <a:pt x="0" y="111125"/>
                        </a:moveTo>
                        <a:cubicBezTo>
                          <a:pt x="0" y="172498"/>
                          <a:pt x="49752" y="222250"/>
                          <a:pt x="111125" y="222250"/>
                        </a:cubicBezTo>
                        <a:cubicBezTo>
                          <a:pt x="172498" y="222250"/>
                          <a:pt x="222250" y="172498"/>
                          <a:pt x="222250" y="111125"/>
                        </a:cubicBezTo>
                        <a:cubicBezTo>
                          <a:pt x="222250" y="49752"/>
                          <a:pt x="172498" y="0"/>
                          <a:pt x="111125" y="0"/>
                        </a:cubicBezTo>
                        <a:cubicBezTo>
                          <a:pt x="49752" y="0"/>
                          <a:pt x="0" y="49752"/>
                          <a:pt x="0" y="11112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6791325" y="1838325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>
                        <a:moveTo>
                          <a:pt x="95250" y="952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17" name="TextBox 17"/>
                <p:cNvSpPr txBox="1"/>
                <p:nvPr/>
              </p:nvSpPr>
              <p:spPr>
                <a:xfrm>
                  <a:off x="7094220" y="1626870"/>
                  <a:ext cx="1853184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可解释推荐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532245" y="2041208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基于图谱匹配而非黑盒模型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532245" y="2346008"/>
                  <a:ext cx="520522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推荐结果可追溯、可解释，每个推荐都有关系依据</a:t>
                  </a:r>
                </a:p>
              </p:txBody>
            </p:sp>
          </p:grpSp>
        </p:grpSp>
        <p:grpSp>
          <p:nvGrpSpPr>
            <p:cNvPr id="34" name="Group 34"/>
            <p:cNvGrpSpPr/>
            <p:nvPr/>
          </p:nvGrpSpPr>
          <p:grpSpPr>
            <a:xfrm>
              <a:off x="571500" y="3810000"/>
              <a:ext cx="5334000" cy="2190750"/>
              <a:chOff x="571500" y="3810000"/>
              <a:chExt cx="5334000" cy="2190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8100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17245" y="4103370"/>
                <a:ext cx="4465930" cy="1054418"/>
                <a:chOff x="817245" y="4103370"/>
                <a:chExt cx="4465930" cy="1054418"/>
              </a:xfrm>
            </p:grpSpPr>
            <p:grpSp>
              <p:nvGrpSpPr>
                <p:cNvPr id="29" name="Group 29"/>
                <p:cNvGrpSpPr/>
                <p:nvPr/>
              </p:nvGrpSpPr>
              <p:grpSpPr>
                <a:xfrm>
                  <a:off x="885825" y="4124325"/>
                  <a:ext cx="285751" cy="285750"/>
                  <a:chOff x="885825" y="4124325"/>
                  <a:chExt cx="285751" cy="285750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1028700" y="4283075"/>
                    <a:ext cx="111125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27000">
                        <a:moveTo>
                          <a:pt x="55563" y="0"/>
                        </a:moveTo>
                        <a:cubicBezTo>
                          <a:pt x="24876" y="0"/>
                          <a:pt x="0" y="24876"/>
                          <a:pt x="0" y="55563"/>
                        </a:cubicBezTo>
                        <a:lnTo>
                          <a:pt x="0" y="71438"/>
                        </a:lnTo>
                        <a:cubicBezTo>
                          <a:pt x="0" y="102124"/>
                          <a:pt x="24876" y="127000"/>
                          <a:pt x="55563" y="127000"/>
                        </a:cubicBezTo>
                        <a:cubicBezTo>
                          <a:pt x="86249" y="127000"/>
                          <a:pt x="111125" y="102124"/>
                          <a:pt x="111125" y="71438"/>
                        </a:cubicBezTo>
                        <a:lnTo>
                          <a:pt x="111125" y="4286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917575" y="4283075"/>
                    <a:ext cx="111125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27000">
                        <a:moveTo>
                          <a:pt x="55563" y="0"/>
                        </a:moveTo>
                        <a:cubicBezTo>
                          <a:pt x="86249" y="0"/>
                          <a:pt x="111125" y="24876"/>
                          <a:pt x="111125" y="55563"/>
                        </a:cubicBezTo>
                        <a:lnTo>
                          <a:pt x="111125" y="71438"/>
                        </a:lnTo>
                        <a:cubicBezTo>
                          <a:pt x="111125" y="102124"/>
                          <a:pt x="86249" y="127000"/>
                          <a:pt x="55563" y="127000"/>
                        </a:cubicBezTo>
                        <a:cubicBezTo>
                          <a:pt x="24876" y="127000"/>
                          <a:pt x="0" y="102124"/>
                          <a:pt x="0" y="71438"/>
                        </a:cubicBezTo>
                        <a:lnTo>
                          <a:pt x="0" y="4286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1108076" y="4219575"/>
                    <a:ext cx="63500" cy="111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111125">
                        <a:moveTo>
                          <a:pt x="7938" y="111125"/>
                        </a:moveTo>
                        <a:cubicBezTo>
                          <a:pt x="38624" y="111125"/>
                          <a:pt x="63500" y="86249"/>
                          <a:pt x="63500" y="55563"/>
                        </a:cubicBezTo>
                        <a:cubicBezTo>
                          <a:pt x="63500" y="24876"/>
                          <a:pt x="38624" y="0"/>
                          <a:pt x="7938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1028700" y="4124325"/>
                    <a:ext cx="111125" cy="10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00013">
                        <a:moveTo>
                          <a:pt x="111125" y="100013"/>
                        </a:moveTo>
                        <a:lnTo>
                          <a:pt x="111125" y="55563"/>
                        </a:lnTo>
                        <a:cubicBezTo>
                          <a:pt x="111125" y="24876"/>
                          <a:pt x="86249" y="0"/>
                          <a:pt x="55563" y="0"/>
                        </a:cubicBezTo>
                        <a:cubicBezTo>
                          <a:pt x="24876" y="0"/>
                          <a:pt x="0" y="24876"/>
                          <a:pt x="0" y="55563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885825" y="4219575"/>
                    <a:ext cx="63500" cy="111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111125">
                        <a:moveTo>
                          <a:pt x="55563" y="111125"/>
                        </a:moveTo>
                        <a:cubicBezTo>
                          <a:pt x="24876" y="111125"/>
                          <a:pt x="0" y="86249"/>
                          <a:pt x="0" y="55563"/>
                        </a:cubicBezTo>
                        <a:cubicBezTo>
                          <a:pt x="0" y="24876"/>
                          <a:pt x="24876" y="0"/>
                          <a:pt x="55563" y="0"/>
                        </a:cubicBezTo>
                        <a:lnTo>
                          <a:pt x="635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8" name="Freeform 28"/>
                  <p:cNvSpPr/>
                  <p:nvPr/>
                </p:nvSpPr>
                <p:spPr>
                  <a:xfrm>
                    <a:off x="917575" y="4124325"/>
                    <a:ext cx="111125" cy="214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214313">
                        <a:moveTo>
                          <a:pt x="0" y="100013"/>
                        </a:moveTo>
                        <a:lnTo>
                          <a:pt x="0" y="55563"/>
                        </a:lnTo>
                        <a:cubicBezTo>
                          <a:pt x="0" y="24876"/>
                          <a:pt x="24876" y="0"/>
                          <a:pt x="55563" y="0"/>
                        </a:cubicBezTo>
                        <a:cubicBezTo>
                          <a:pt x="86249" y="0"/>
                          <a:pt x="111125" y="24876"/>
                          <a:pt x="111125" y="55563"/>
                        </a:cubicBezTo>
                        <a:lnTo>
                          <a:pt x="111125" y="21431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30" name="TextBox 30"/>
                <p:cNvSpPr txBox="1"/>
                <p:nvPr/>
              </p:nvSpPr>
              <p:spPr>
                <a:xfrm>
                  <a:off x="1379220" y="4103370"/>
                  <a:ext cx="1799417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AI增强分析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17245" y="4517708"/>
                  <a:ext cx="356235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大语言模型补充传统图谱查询不足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817245" y="4822508"/>
                  <a:ext cx="446593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AI生成职业发展解释、问答和简历分析建议</a:t>
                  </a:r>
                </a:p>
              </p:txBody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6286500" y="3810000"/>
              <a:ext cx="5334000" cy="2190750"/>
              <a:chOff x="6286500" y="3810000"/>
              <a:chExt cx="5334000" cy="2190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286500" y="38100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6532245" y="4103370"/>
                <a:ext cx="4172560" cy="1054418"/>
                <a:chOff x="6532245" y="4103370"/>
                <a:chExt cx="4172560" cy="1054418"/>
              </a:xfrm>
            </p:grpSpPr>
            <p:grpSp>
              <p:nvGrpSpPr>
                <p:cNvPr id="40" name="Group 40"/>
                <p:cNvGrpSpPr/>
                <p:nvPr/>
              </p:nvGrpSpPr>
              <p:grpSpPr>
                <a:xfrm>
                  <a:off x="6600825" y="4140200"/>
                  <a:ext cx="285750" cy="263526"/>
                  <a:chOff x="6600825" y="4140200"/>
                  <a:chExt cx="285750" cy="263526"/>
                </a:xfrm>
              </p:grpSpPr>
              <p:sp>
                <p:nvSpPr>
                  <p:cNvPr id="36" name="Freeform 36"/>
                  <p:cNvSpPr/>
                  <p:nvPr/>
                </p:nvSpPr>
                <p:spPr>
                  <a:xfrm>
                    <a:off x="6600825" y="4267200"/>
                    <a:ext cx="95250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127000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111125"/>
                        </a:lnTo>
                        <a:cubicBezTo>
                          <a:pt x="95250" y="119893"/>
                          <a:pt x="88143" y="127000"/>
                          <a:pt x="79375" y="127000"/>
                        </a:cubicBezTo>
                        <a:lnTo>
                          <a:pt x="15875" y="127000"/>
                        </a:lnTo>
                        <a:cubicBezTo>
                          <a:pt x="7107" y="127000"/>
                          <a:pt x="0" y="119893"/>
                          <a:pt x="0" y="1111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7" name="Freeform 37"/>
                  <p:cNvSpPr/>
                  <p:nvPr/>
                </p:nvSpPr>
                <p:spPr>
                  <a:xfrm>
                    <a:off x="6791325" y="4203700"/>
                    <a:ext cx="9525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190500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174625"/>
                        </a:lnTo>
                        <a:cubicBezTo>
                          <a:pt x="95250" y="183393"/>
                          <a:pt x="88143" y="190500"/>
                          <a:pt x="79375" y="190500"/>
                        </a:cubicBezTo>
                        <a:lnTo>
                          <a:pt x="15875" y="190500"/>
                        </a:lnTo>
                        <a:cubicBezTo>
                          <a:pt x="7107" y="190500"/>
                          <a:pt x="0" y="183393"/>
                          <a:pt x="0" y="1746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8" name="Freeform 38"/>
                  <p:cNvSpPr/>
                  <p:nvPr/>
                </p:nvSpPr>
                <p:spPr>
                  <a:xfrm>
                    <a:off x="6696075" y="4140200"/>
                    <a:ext cx="95250" cy="2540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254001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238125"/>
                        </a:lnTo>
                        <a:cubicBezTo>
                          <a:pt x="95250" y="246893"/>
                          <a:pt x="88143" y="254001"/>
                          <a:pt x="79375" y="254001"/>
                        </a:cubicBezTo>
                        <a:lnTo>
                          <a:pt x="15875" y="254001"/>
                        </a:lnTo>
                        <a:cubicBezTo>
                          <a:pt x="7107" y="254001"/>
                          <a:pt x="0" y="246893"/>
                          <a:pt x="0" y="2381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9" name="Freeform 39"/>
                  <p:cNvSpPr/>
                  <p:nvPr/>
                </p:nvSpPr>
                <p:spPr>
                  <a:xfrm>
                    <a:off x="6616700" y="4394201"/>
                    <a:ext cx="22225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250" h="9525">
                        <a:moveTo>
                          <a:pt x="0" y="0"/>
                        </a:moveTo>
                        <a:lnTo>
                          <a:pt x="22225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41" name="TextBox 41"/>
                <p:cNvSpPr txBox="1"/>
                <p:nvPr/>
              </p:nvSpPr>
              <p:spPr>
                <a:xfrm>
                  <a:off x="7094220" y="4103370"/>
                  <a:ext cx="2211629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多维度可视化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532245" y="4517708"/>
                  <a:ext cx="417256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ECharts力导向图 + Element Plus表格/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532245" y="4822508"/>
                  <a:ext cx="416082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时间线/卡片，多组件协同呈现数据洞察</a:t>
                  </a:r>
                </a:p>
              </p:txBody>
            </p:sp>
          </p:grpSp>
        </p:grpSp>
      </p:grpSp>
      <p:sp>
        <p:nvSpPr>
          <p:cNvPr id="47" name="TextBox 47"/>
          <p:cNvSpPr txBox="1"/>
          <p:nvPr/>
        </p:nvSpPr>
        <p:spPr>
          <a:xfrm>
            <a:off x="5171465" y="6394132"/>
            <a:ext cx="18490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谢谢！Thank You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7760" y="644271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2026-06-25T09:22:02Z</dcterms:created>
  <dcterms:modified xsi:type="dcterms:W3CDTF">2026-06-25T09:22:02Z</dcterms:modified>
  <cp:category/>
  <cp:contentStatus/>
</cp:coreProperties>
</file>