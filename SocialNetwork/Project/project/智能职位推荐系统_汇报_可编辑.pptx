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5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291840"/>
          </a:xfrm>
          <a:prstGeom prst="rect">
            <a:avLst/>
          </a:prstGeom>
          <a:solidFill>
            <a:srgbClr val="0D3B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3291840"/>
          </a:xfrm>
          <a:prstGeom prst="rect">
            <a:avLst/>
          </a:prstGeom>
          <a:solidFill>
            <a:srgbClr val="0D3B1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3246120"/>
            <a:ext cx="12161520" cy="0"/>
          </a:xfrm>
          <a:prstGeom prst="line">
            <a:avLst/>
          </a:prstGeom>
          <a:noFill/>
          <a:ln w="63500">
            <a:solidFill>
              <a:srgbClr val="2E7D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3337560"/>
            <a:ext cx="12161520" cy="0"/>
          </a:xfrm>
          <a:prstGeom prst="line">
            <a:avLst/>
          </a:prstGeom>
          <a:noFill/>
          <a:ln w="38100">
            <a:solidFill>
              <a:srgbClr val="81C78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383280"/>
            <a:ext cx="12161520" cy="3474720"/>
          </a:xfrm>
          <a:prstGeom prst="rect">
            <a:avLst/>
          </a:prstGeom>
          <a:solidFill>
            <a:srgbClr val="F5F5F0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56616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spc="400" kern="0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社交网络数据分析与处理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914400" y="411480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spc="300" kern="0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课程项目汇报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486400" y="4754880"/>
            <a:ext cx="1188720" cy="0"/>
          </a:xfrm>
          <a:prstGeom prst="line">
            <a:avLst/>
          </a:prstGeom>
          <a:noFill/>
          <a:ln w="38100">
            <a:solidFill>
              <a:srgbClr val="81C78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9377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spc="400" kern="0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职业关系图谱与智能推荐系统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14400" y="534924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Job Relationship Graph &amp; Intelligent Recommendation System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626364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华中农业大学 · 信息学院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7432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spc="6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 录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874520" y="3383280"/>
            <a:ext cx="457200" cy="0"/>
          </a:xfrm>
          <a:prstGeom prst="line">
            <a:avLst/>
          </a:prstGeom>
          <a:noFill/>
          <a:ln w="38100">
            <a:solidFill>
              <a:srgbClr val="81C78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35204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300" kern="0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663440" y="1371600"/>
            <a:ext cx="411480" cy="41148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7" name="Text 5"/>
          <p:cNvSpPr/>
          <p:nvPr/>
        </p:nvSpPr>
        <p:spPr>
          <a:xfrm>
            <a:off x="466344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212080" y="13533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项目概述与技术架构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212080" y="16276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系统定位 · 团队分工 · 整体架构 · 技术栈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965960"/>
            <a:ext cx="5943600" cy="0"/>
          </a:xfrm>
          <a:prstGeom prst="line">
            <a:avLst/>
          </a:prstGeom>
          <a:noFill/>
          <a:ln w="12700">
            <a:solidFill>
              <a:srgbClr val="E8F5E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2560320"/>
            <a:ext cx="411480" cy="41148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2560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212080" y="2542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核心功能演示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212080" y="28163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知识图谱 · 职业推荐 · 时间线分析 · AI问答 · 简历分析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3154680"/>
            <a:ext cx="5943600" cy="0"/>
          </a:xfrm>
          <a:prstGeom prst="line">
            <a:avLst/>
          </a:prstGeom>
          <a:noFill/>
          <a:ln w="12700">
            <a:solidFill>
              <a:srgbClr val="E8F5E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3749040"/>
            <a:ext cx="411480" cy="41148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7" name="Text 15"/>
          <p:cNvSpPr/>
          <p:nvPr/>
        </p:nvSpPr>
        <p:spPr>
          <a:xfrm>
            <a:off x="4663440" y="3749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212080" y="37307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推荐算法与大模型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212080" y="40050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推荐流程 · 匹配评分 · 大语言模型集成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4343400"/>
            <a:ext cx="5943600" cy="0"/>
          </a:xfrm>
          <a:prstGeom prst="line">
            <a:avLst/>
          </a:prstGeom>
          <a:noFill/>
          <a:ln w="12700">
            <a:solidFill>
              <a:srgbClr val="E8F5E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3440" y="4937760"/>
            <a:ext cx="411480" cy="41148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2" name="Text 20"/>
          <p:cNvSpPr/>
          <p:nvPr/>
        </p:nvSpPr>
        <p:spPr>
          <a:xfrm>
            <a:off x="4663440" y="4937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212080" y="49194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总结与展望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5212080" y="519379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项目亮点 · 不足分析 · 改进方向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5895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3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课程项目定位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FFFFFF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PROJECT POSITIONING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758952"/>
            <a:ext cx="12161520" cy="6099048"/>
          </a:xfrm>
          <a:prstGeom prst="rect">
            <a:avLst/>
          </a:prstGeom>
          <a:solidFill>
            <a:srgbClr val="F5F5F0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6217920" cy="5029200"/>
          </a:xfrm>
          <a:prstGeom prst="rect">
            <a:avLst>
              <a:gd name="adj" fmla="val 7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188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项目背景与目标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1645920"/>
            <a:ext cx="5669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8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面向就业场景的关系网络分析与职业推荐系统。将岗位、公司、城市、技能、学历、经验等信息组织成知识图谱，结合检索、推荐和大语言模型问答，帮助用户理解职业要求和发展路径。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4663440"/>
            <a:ext cx="2651760" cy="320040"/>
          </a:xfrm>
          <a:prstGeom prst="rect">
            <a:avLst>
              <a:gd name="adj" fmla="val 8571"/>
            </a:avLst>
          </a:prstGeom>
          <a:solidFill>
            <a:srgbClr val="E8F5E9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46634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803条岗位数据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566160" y="4663440"/>
            <a:ext cx="2651760" cy="320040"/>
          </a:xfrm>
          <a:prstGeom prst="rect">
            <a:avLst>
              <a:gd name="adj" fmla="val 8571"/>
            </a:avLst>
          </a:prstGeom>
          <a:solidFill>
            <a:srgbClr val="E8F5E9"/>
          </a:solidFill>
          <a:ln/>
        </p:spPr>
      </p:sp>
      <p:sp>
        <p:nvSpPr>
          <p:cNvPr id="13" name="Text 11"/>
          <p:cNvSpPr/>
          <p:nvPr/>
        </p:nvSpPr>
        <p:spPr>
          <a:xfrm>
            <a:off x="3566160" y="46634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6类实体节点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5074920"/>
            <a:ext cx="2651760" cy="320040"/>
          </a:xfrm>
          <a:prstGeom prst="rect">
            <a:avLst>
              <a:gd name="adj" fmla="val 8571"/>
            </a:avLst>
          </a:prstGeom>
          <a:solidFill>
            <a:srgbClr val="E8F5E9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50749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5种关系类型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566160" y="5074920"/>
            <a:ext cx="2651760" cy="320040"/>
          </a:xfrm>
          <a:prstGeom prst="rect">
            <a:avLst>
              <a:gd name="adj" fmla="val 8571"/>
            </a:avLst>
          </a:prstGeom>
          <a:solidFill>
            <a:srgbClr val="E8F5E9"/>
          </a:solidFill>
          <a:ln/>
        </p:spPr>
      </p:sp>
      <p:sp>
        <p:nvSpPr>
          <p:cNvPr id="17" name="Text 15"/>
          <p:cNvSpPr/>
          <p:nvPr/>
        </p:nvSpPr>
        <p:spPr>
          <a:xfrm>
            <a:off x="3566160" y="50749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AI驱动推荐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58000" y="1188720"/>
            <a:ext cx="493776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132320" y="1600200"/>
            <a:ext cx="411480" cy="411480"/>
          </a:xfrm>
          <a:prstGeom prst="ellipse">
            <a:avLst/>
          </a:prstGeom>
          <a:solidFill>
            <a:srgbClr val="E8F5E9"/>
          </a:solidFill>
          <a:ln/>
        </p:spPr>
      </p:sp>
      <p:sp>
        <p:nvSpPr>
          <p:cNvPr id="20" name="Text 18"/>
          <p:cNvSpPr/>
          <p:nvPr/>
        </p:nvSpPr>
        <p:spPr>
          <a:xfrm>
            <a:off x="7132320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◇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68096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知识图谱构建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680960" y="17373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Neo4j图数据库存储实体关系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858000" y="2834640"/>
            <a:ext cx="493776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4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132320" y="3246120"/>
            <a:ext cx="411480" cy="411480"/>
          </a:xfrm>
          <a:prstGeom prst="ellipse">
            <a:avLst/>
          </a:prstGeom>
          <a:solidFill>
            <a:srgbClr val="E8F5E9"/>
          </a:solidFill>
          <a:ln/>
        </p:spPr>
      </p:sp>
      <p:sp>
        <p:nvSpPr>
          <p:cNvPr id="25" name="Text 23"/>
          <p:cNvSpPr/>
          <p:nvPr/>
        </p:nvSpPr>
        <p:spPr>
          <a:xfrm>
            <a:off x="7132320" y="3246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680960" y="3063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智能推荐引擎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680960" y="33832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多维匹配评分与Top-K排序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858000" y="4480560"/>
            <a:ext cx="493776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4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132320" y="4892040"/>
            <a:ext cx="411480" cy="411480"/>
          </a:xfrm>
          <a:prstGeom prst="ellipse">
            <a:avLst/>
          </a:prstGeom>
          <a:solidFill>
            <a:srgbClr val="E8F5E9"/>
          </a:solidFill>
          <a:ln/>
        </p:spPr>
      </p:sp>
      <p:sp>
        <p:nvSpPr>
          <p:cNvPr id="30" name="Text 28"/>
          <p:cNvSpPr/>
          <p:nvPr/>
        </p:nvSpPr>
        <p:spPr>
          <a:xfrm>
            <a:off x="7132320" y="4892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△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680960" y="4709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AI辅助分析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680960" y="50292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大模型驱动问答与简历解析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5895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3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团队分工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FFFFFF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TEAM WORK DISTRIBUTION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758952"/>
            <a:ext cx="12161520" cy="6099048"/>
          </a:xfrm>
          <a:prstGeom prst="rect">
            <a:avLst/>
          </a:prstGeom>
          <a:solidFill>
            <a:srgbClr val="F5F5F0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2103120" cy="5120640"/>
          </a:xfrm>
          <a:prstGeom prst="rect">
            <a:avLst>
              <a:gd name="adj" fmla="val 17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60120" y="1371600"/>
            <a:ext cx="914400" cy="914400"/>
          </a:xfrm>
          <a:prstGeom prst="ellipse">
            <a:avLst/>
          </a:prstGeom>
          <a:solidFill>
            <a:srgbClr val="E8F5E9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1371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02920" y="2468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成员一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2788920"/>
            <a:ext cx="1371600" cy="274320"/>
          </a:xfrm>
          <a:prstGeom prst="rect">
            <a:avLst>
              <a:gd name="adj" fmla="val 10000"/>
            </a:avLst>
          </a:prstGeom>
          <a:solidFill>
            <a:srgbClr val="E8F5E9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788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项目统筹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3291840"/>
            <a:ext cx="1737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整体架构设计</a:t>
            </a:r>
            <a:endParaRPr lang="en-US" sz="1100" dirty="0"/>
          </a:p>
          <a:p>
            <a:pPr algn="ctr" indent="0" marL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项目进度管理</a:t>
            </a:r>
            <a:endParaRPr lang="en-US" sz="1100" dirty="0"/>
          </a:p>
          <a:p>
            <a:pPr algn="ctr" indent="0" marL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文档撰写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651760" y="1097280"/>
            <a:ext cx="2103120" cy="5120640"/>
          </a:xfrm>
          <a:prstGeom prst="rect">
            <a:avLst>
              <a:gd name="adj" fmla="val 17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46120" y="1371600"/>
            <a:ext cx="914400" cy="914400"/>
          </a:xfrm>
          <a:prstGeom prst="ellipse">
            <a:avLst/>
          </a:prstGeom>
          <a:solidFill>
            <a:srgbClr val="E8F5E9"/>
          </a:solidFill>
          <a:ln/>
        </p:spPr>
      </p:sp>
      <p:sp>
        <p:nvSpPr>
          <p:cNvPr id="16" name="Text 14"/>
          <p:cNvSpPr/>
          <p:nvPr/>
        </p:nvSpPr>
        <p:spPr>
          <a:xfrm>
            <a:off x="3246120" y="1371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788920" y="2468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成员二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017520" y="2788920"/>
            <a:ext cx="1371600" cy="274320"/>
          </a:xfrm>
          <a:prstGeom prst="rect">
            <a:avLst>
              <a:gd name="adj" fmla="val 10000"/>
            </a:avLst>
          </a:prstGeom>
          <a:solidFill>
            <a:srgbClr val="E8F5E9"/>
          </a:solidFill>
          <a:ln/>
        </p:spPr>
      </p:sp>
      <p:sp>
        <p:nvSpPr>
          <p:cNvPr id="19" name="Text 17"/>
          <p:cNvSpPr/>
          <p:nvPr/>
        </p:nvSpPr>
        <p:spPr>
          <a:xfrm>
            <a:off x="3017520" y="2788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后端开发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834640" y="3291840"/>
            <a:ext cx="1737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Spring Boot架构搭建</a:t>
            </a:r>
            <a:endParaRPr lang="en-US" sz="1100" dirty="0"/>
          </a:p>
          <a:p>
            <a:pPr algn="ctr" indent="0" marL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JWT鉴权实现</a:t>
            </a:r>
            <a:endParaRPr lang="en-US" sz="1100" dirty="0"/>
          </a:p>
          <a:p>
            <a:pPr algn="ctr" indent="0" marL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数据库设计与优化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937760" y="1097280"/>
            <a:ext cx="2103120" cy="5120640"/>
          </a:xfrm>
          <a:prstGeom prst="rect">
            <a:avLst>
              <a:gd name="adj" fmla="val 17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532120" y="1371600"/>
            <a:ext cx="914400" cy="914400"/>
          </a:xfrm>
          <a:prstGeom prst="ellipse">
            <a:avLst/>
          </a:prstGeom>
          <a:solidFill>
            <a:srgbClr val="E8F5E9"/>
          </a:solidFill>
          <a:ln/>
        </p:spPr>
      </p:sp>
      <p:sp>
        <p:nvSpPr>
          <p:cNvPr id="23" name="Text 21"/>
          <p:cNvSpPr/>
          <p:nvPr/>
        </p:nvSpPr>
        <p:spPr>
          <a:xfrm>
            <a:off x="5532120" y="1371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074920" y="2468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成员三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303520" y="2788920"/>
            <a:ext cx="1371600" cy="274320"/>
          </a:xfrm>
          <a:prstGeom prst="rect">
            <a:avLst>
              <a:gd name="adj" fmla="val 10000"/>
            </a:avLst>
          </a:prstGeom>
          <a:solidFill>
            <a:srgbClr val="E8F5E9"/>
          </a:solidFill>
          <a:ln/>
        </p:spPr>
      </p:sp>
      <p:sp>
        <p:nvSpPr>
          <p:cNvPr id="26" name="Text 24"/>
          <p:cNvSpPr/>
          <p:nvPr/>
        </p:nvSpPr>
        <p:spPr>
          <a:xfrm>
            <a:off x="5303520" y="2788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前端开发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120640" y="3291840"/>
            <a:ext cx="1737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 3页面开发</a:t>
            </a:r>
            <a:endParaRPr lang="en-US" sz="1100" dirty="0"/>
          </a:p>
          <a:p>
            <a:pPr algn="ctr" indent="0" marL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ECharts图谱集成</a:t>
            </a:r>
            <a:endParaRPr lang="en-US" sz="1100" dirty="0"/>
          </a:p>
          <a:p>
            <a:pPr algn="ctr" indent="0" marL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Element Plus组件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223760" y="1097280"/>
            <a:ext cx="2103120" cy="5120640"/>
          </a:xfrm>
          <a:prstGeom prst="rect">
            <a:avLst>
              <a:gd name="adj" fmla="val 17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4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818120" y="1371600"/>
            <a:ext cx="914400" cy="914400"/>
          </a:xfrm>
          <a:prstGeom prst="ellipse">
            <a:avLst/>
          </a:prstGeom>
          <a:solidFill>
            <a:srgbClr val="E8F5E9"/>
          </a:solidFill>
          <a:ln/>
        </p:spPr>
      </p:sp>
      <p:sp>
        <p:nvSpPr>
          <p:cNvPr id="30" name="Text 28"/>
          <p:cNvSpPr/>
          <p:nvPr/>
        </p:nvSpPr>
        <p:spPr>
          <a:xfrm>
            <a:off x="7818120" y="1371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360920" y="2468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成员四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589520" y="2788920"/>
            <a:ext cx="1371600" cy="274320"/>
          </a:xfrm>
          <a:prstGeom prst="rect">
            <a:avLst>
              <a:gd name="adj" fmla="val 10000"/>
            </a:avLst>
          </a:prstGeom>
          <a:solidFill>
            <a:srgbClr val="E8F5E9"/>
          </a:solidFill>
          <a:ln/>
        </p:spPr>
      </p:sp>
      <p:sp>
        <p:nvSpPr>
          <p:cNvPr id="33" name="Text 31"/>
          <p:cNvSpPr/>
          <p:nvPr/>
        </p:nvSpPr>
        <p:spPr>
          <a:xfrm>
            <a:off x="7589520" y="2788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AI服务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406640" y="3291840"/>
            <a:ext cx="1737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Flask接口开发</a:t>
            </a:r>
            <a:endParaRPr lang="en-US" sz="1100" dirty="0"/>
          </a:p>
          <a:p>
            <a:pPr algn="ctr" indent="0" marL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大模型API集成</a:t>
            </a:r>
            <a:endParaRPr lang="en-US" sz="1100" dirty="0"/>
          </a:p>
          <a:p>
            <a:pPr algn="ctr" indent="0" marL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Neo4j数据建模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9509760" y="1097280"/>
            <a:ext cx="2103120" cy="5120640"/>
          </a:xfrm>
          <a:prstGeom prst="rect">
            <a:avLst>
              <a:gd name="adj" fmla="val 17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4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10104120" y="1371600"/>
            <a:ext cx="914400" cy="914400"/>
          </a:xfrm>
          <a:prstGeom prst="ellipse">
            <a:avLst/>
          </a:prstGeom>
          <a:solidFill>
            <a:srgbClr val="E8F5E9"/>
          </a:solidFill>
          <a:ln/>
        </p:spPr>
      </p:sp>
      <p:sp>
        <p:nvSpPr>
          <p:cNvPr id="37" name="Text 35"/>
          <p:cNvSpPr/>
          <p:nvPr/>
        </p:nvSpPr>
        <p:spPr>
          <a:xfrm>
            <a:off x="10104120" y="1371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9646920" y="2468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成员五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9875520" y="2788920"/>
            <a:ext cx="1371600" cy="274320"/>
          </a:xfrm>
          <a:prstGeom prst="rect">
            <a:avLst>
              <a:gd name="adj" fmla="val 10000"/>
            </a:avLst>
          </a:prstGeom>
          <a:solidFill>
            <a:srgbClr val="E8F5E9"/>
          </a:solidFill>
          <a:ln/>
        </p:spPr>
      </p:sp>
      <p:sp>
        <p:nvSpPr>
          <p:cNvPr id="40" name="Text 38"/>
          <p:cNvSpPr/>
          <p:nvPr/>
        </p:nvSpPr>
        <p:spPr>
          <a:xfrm>
            <a:off x="9875520" y="2788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数据与测试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9692640" y="3291840"/>
            <a:ext cx="1737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岗位数据清洗</a:t>
            </a:r>
            <a:endParaRPr lang="en-US" sz="1100" dirty="0"/>
          </a:p>
          <a:p>
            <a:pPr algn="ctr" indent="0" marL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知识图谱构建</a:t>
            </a:r>
            <a:endParaRPr lang="en-US" sz="1100" dirty="0"/>
          </a:p>
          <a:p>
            <a:pPr algn="ctr" indent="0" marL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系统测试验证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5895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3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系统整体架构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FFFFFF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SYSTEM ARCHITECTURE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758952"/>
            <a:ext cx="12161520" cy="6099048"/>
          </a:xfrm>
          <a:prstGeom prst="rect">
            <a:avLst/>
          </a:prstGeom>
          <a:solidFill>
            <a:srgbClr val="F5F5F0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1645920" cy="1005840"/>
          </a:xfrm>
          <a:prstGeom prst="rect">
            <a:avLst>
              <a:gd name="adj" fmla="val 3636"/>
            </a:avLst>
          </a:prstGeom>
          <a:solidFill>
            <a:srgbClr val="2E7D32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097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前端展示层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4630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FRONTEND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103120" y="1005840"/>
            <a:ext cx="9692640" cy="1005840"/>
          </a:xfrm>
          <a:prstGeom prst="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86000" y="1188720"/>
            <a:ext cx="1097280" cy="365760"/>
          </a:xfrm>
          <a:prstGeom prst="rect">
            <a:avLst>
              <a:gd name="adj" fmla="val 7500"/>
            </a:avLst>
          </a:prstGeom>
          <a:solidFill>
            <a:srgbClr val="E8F5E9"/>
          </a:solidFill>
          <a:ln/>
        </p:spPr>
      </p:sp>
      <p:sp>
        <p:nvSpPr>
          <p:cNvPr id="12" name="Text 10"/>
          <p:cNvSpPr/>
          <p:nvPr/>
        </p:nvSpPr>
        <p:spPr>
          <a:xfrm>
            <a:off x="2286000" y="11887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 3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520440" y="1188720"/>
            <a:ext cx="2249424" cy="365760"/>
          </a:xfrm>
          <a:prstGeom prst="rect">
            <a:avLst>
              <a:gd name="adj" fmla="val 7500"/>
            </a:avLst>
          </a:prstGeom>
          <a:solidFill>
            <a:srgbClr val="E8F5E9"/>
          </a:solidFill>
          <a:ln/>
        </p:spPr>
      </p:sp>
      <p:sp>
        <p:nvSpPr>
          <p:cNvPr id="14" name="Text 12"/>
          <p:cNvSpPr/>
          <p:nvPr/>
        </p:nvSpPr>
        <p:spPr>
          <a:xfrm>
            <a:off x="3520440" y="1188720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Element Plus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07024" y="1188720"/>
            <a:ext cx="1755648" cy="365760"/>
          </a:xfrm>
          <a:prstGeom prst="rect">
            <a:avLst>
              <a:gd name="adj" fmla="val 7500"/>
            </a:avLst>
          </a:prstGeom>
          <a:solidFill>
            <a:srgbClr val="E8F5E9"/>
          </a:solidFill>
          <a:ln/>
        </p:spPr>
      </p:sp>
      <p:sp>
        <p:nvSpPr>
          <p:cNvPr id="16" name="Text 14"/>
          <p:cNvSpPr/>
          <p:nvPr/>
        </p:nvSpPr>
        <p:spPr>
          <a:xfrm>
            <a:off x="5907024" y="118872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ECharts 5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799832" y="1188720"/>
            <a:ext cx="1261872" cy="365760"/>
          </a:xfrm>
          <a:prstGeom prst="rect">
            <a:avLst>
              <a:gd name="adj" fmla="val 7500"/>
            </a:avLst>
          </a:prstGeom>
          <a:solidFill>
            <a:srgbClr val="E8F5E9"/>
          </a:solidFill>
          <a:ln/>
        </p:spPr>
      </p:sp>
      <p:sp>
        <p:nvSpPr>
          <p:cNvPr id="18" name="Text 16"/>
          <p:cNvSpPr/>
          <p:nvPr/>
        </p:nvSpPr>
        <p:spPr>
          <a:xfrm>
            <a:off x="7799832" y="1188720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Vite 6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198864" y="1188720"/>
            <a:ext cx="1097280" cy="365760"/>
          </a:xfrm>
          <a:prstGeom prst="rect">
            <a:avLst>
              <a:gd name="adj" fmla="val 7500"/>
            </a:avLst>
          </a:prstGeom>
          <a:solidFill>
            <a:srgbClr val="E8F5E9"/>
          </a:solidFill>
          <a:ln/>
        </p:spPr>
      </p:sp>
      <p:sp>
        <p:nvSpPr>
          <p:cNvPr id="20" name="Text 18"/>
          <p:cNvSpPr/>
          <p:nvPr/>
        </p:nvSpPr>
        <p:spPr>
          <a:xfrm>
            <a:off x="9198864" y="11887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Pinia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286000" y="16642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单页应用 · 动态路由 · 图谱可视化 · 响应式布局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14400" y="20574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1C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▼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65760" y="2377440"/>
            <a:ext cx="1645920" cy="1005840"/>
          </a:xfrm>
          <a:prstGeom prst="rect">
            <a:avLst>
              <a:gd name="adj" fmla="val 3636"/>
            </a:avLst>
          </a:prstGeom>
          <a:solidFill>
            <a:srgbClr val="388E3C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24688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分析引擎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65760" y="28346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SERVICE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103120" y="2377440"/>
            <a:ext cx="9692640" cy="1005840"/>
          </a:xfrm>
          <a:prstGeom prst="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3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286000" y="2560320"/>
            <a:ext cx="1097280" cy="365760"/>
          </a:xfrm>
          <a:prstGeom prst="rect">
            <a:avLst>
              <a:gd name="adj" fmla="val 7500"/>
            </a:avLst>
          </a:prstGeom>
          <a:solidFill>
            <a:srgbClr val="E8F5E9"/>
          </a:solidFill>
          <a:ln/>
        </p:spPr>
      </p:sp>
      <p:sp>
        <p:nvSpPr>
          <p:cNvPr id="28" name="Text 26"/>
          <p:cNvSpPr/>
          <p:nvPr/>
        </p:nvSpPr>
        <p:spPr>
          <a:xfrm>
            <a:off x="2286000" y="25603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Flask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520440" y="2560320"/>
            <a:ext cx="2084832" cy="365760"/>
          </a:xfrm>
          <a:prstGeom prst="rect">
            <a:avLst>
              <a:gd name="adj" fmla="val 7500"/>
            </a:avLst>
          </a:prstGeom>
          <a:solidFill>
            <a:srgbClr val="E8F5E9"/>
          </a:solidFill>
          <a:ln/>
        </p:spPr>
      </p:sp>
      <p:sp>
        <p:nvSpPr>
          <p:cNvPr id="30" name="Text 28"/>
          <p:cNvSpPr/>
          <p:nvPr/>
        </p:nvSpPr>
        <p:spPr>
          <a:xfrm>
            <a:off x="3520440" y="256032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DeepSeek-V3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742432" y="2560320"/>
            <a:ext cx="1097280" cy="365760"/>
          </a:xfrm>
          <a:prstGeom prst="rect">
            <a:avLst>
              <a:gd name="adj" fmla="val 7500"/>
            </a:avLst>
          </a:prstGeom>
          <a:solidFill>
            <a:srgbClr val="E8F5E9"/>
          </a:solidFill>
          <a:ln/>
        </p:spPr>
      </p:sp>
      <p:sp>
        <p:nvSpPr>
          <p:cNvPr id="32" name="Text 30"/>
          <p:cNvSpPr/>
          <p:nvPr/>
        </p:nvSpPr>
        <p:spPr>
          <a:xfrm>
            <a:off x="5742432" y="25603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Neo4j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976872" y="2560320"/>
            <a:ext cx="2249424" cy="365760"/>
          </a:xfrm>
          <a:prstGeom prst="rect">
            <a:avLst>
              <a:gd name="adj" fmla="val 7500"/>
            </a:avLst>
          </a:prstGeom>
          <a:solidFill>
            <a:srgbClr val="E8F5E9"/>
          </a:solidFill>
          <a:ln/>
        </p:spPr>
      </p:sp>
      <p:sp>
        <p:nvSpPr>
          <p:cNvPr id="34" name="Text 32"/>
          <p:cNvSpPr/>
          <p:nvPr/>
        </p:nvSpPr>
        <p:spPr>
          <a:xfrm>
            <a:off x="6976872" y="2560320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scikit-learn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286000" y="30358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推荐引擎 · 简历解析 · AI问答 · 时间线分析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14400" y="34290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1C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▼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365760" y="3749040"/>
            <a:ext cx="1645920" cy="1005840"/>
          </a:xfrm>
          <a:prstGeom prst="rect">
            <a:avLst>
              <a:gd name="adj" fmla="val 3636"/>
            </a:avLst>
          </a:prstGeom>
          <a:solidFill>
            <a:srgbClr val="43A047"/>
          </a:solidFill>
          <a:ln/>
        </p:spPr>
      </p:sp>
      <p:sp>
        <p:nvSpPr>
          <p:cNvPr id="38" name="Text 36"/>
          <p:cNvSpPr/>
          <p:nvPr/>
        </p:nvSpPr>
        <p:spPr>
          <a:xfrm>
            <a:off x="365760" y="38404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业务服务层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365760" y="42062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BACKEND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103120" y="3749040"/>
            <a:ext cx="9692640" cy="1005840"/>
          </a:xfrm>
          <a:prstGeom prst="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3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2286000" y="3931920"/>
            <a:ext cx="2743200" cy="365760"/>
          </a:xfrm>
          <a:prstGeom prst="rect">
            <a:avLst>
              <a:gd name="adj" fmla="val 7500"/>
            </a:avLst>
          </a:prstGeom>
          <a:solidFill>
            <a:srgbClr val="E8F5E9"/>
          </a:solidFill>
          <a:ln/>
        </p:spPr>
      </p:sp>
      <p:sp>
        <p:nvSpPr>
          <p:cNvPr id="42" name="Text 40"/>
          <p:cNvSpPr/>
          <p:nvPr/>
        </p:nvSpPr>
        <p:spPr>
          <a:xfrm>
            <a:off x="2286000" y="3931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Spring Boot 3.4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166360" y="3931920"/>
            <a:ext cx="2249424" cy="365760"/>
          </a:xfrm>
          <a:prstGeom prst="rect">
            <a:avLst>
              <a:gd name="adj" fmla="val 7500"/>
            </a:avLst>
          </a:prstGeom>
          <a:solidFill>
            <a:srgbClr val="E8F5E9"/>
          </a:solidFill>
          <a:ln/>
        </p:spPr>
      </p:sp>
      <p:sp>
        <p:nvSpPr>
          <p:cNvPr id="44" name="Text 42"/>
          <p:cNvSpPr/>
          <p:nvPr/>
        </p:nvSpPr>
        <p:spPr>
          <a:xfrm>
            <a:off x="5166360" y="3931920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MyBatis-Plus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552944" y="3931920"/>
            <a:ext cx="768096" cy="365760"/>
          </a:xfrm>
          <a:prstGeom prst="rect">
            <a:avLst>
              <a:gd name="adj" fmla="val 7500"/>
            </a:avLst>
          </a:prstGeom>
          <a:solidFill>
            <a:srgbClr val="E8F5E9"/>
          </a:solidFill>
          <a:ln/>
        </p:spPr>
      </p:sp>
      <p:sp>
        <p:nvSpPr>
          <p:cNvPr id="46" name="Text 44"/>
          <p:cNvSpPr/>
          <p:nvPr/>
        </p:nvSpPr>
        <p:spPr>
          <a:xfrm>
            <a:off x="7552944" y="3931920"/>
            <a:ext cx="768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JWT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458200" y="3931920"/>
            <a:ext cx="1097280" cy="365760"/>
          </a:xfrm>
          <a:prstGeom prst="rect">
            <a:avLst>
              <a:gd name="adj" fmla="val 7500"/>
            </a:avLst>
          </a:prstGeom>
          <a:solidFill>
            <a:srgbClr val="E8F5E9"/>
          </a:solidFill>
          <a:ln/>
        </p:spPr>
      </p:sp>
      <p:sp>
        <p:nvSpPr>
          <p:cNvPr id="48" name="Text 46"/>
          <p:cNvSpPr/>
          <p:nvPr/>
        </p:nvSpPr>
        <p:spPr>
          <a:xfrm>
            <a:off x="8458200" y="39319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Redis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2286000" y="44074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用户管理 · 职位CRUD · 鉴权拦截 · 缓存加速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9144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1C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▼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365760" y="5120640"/>
            <a:ext cx="1645920" cy="1005840"/>
          </a:xfrm>
          <a:prstGeom prst="rect">
            <a:avLst>
              <a:gd name="adj" fmla="val 3636"/>
            </a:avLst>
          </a:prstGeom>
          <a:solidFill>
            <a:srgbClr val="66BB6A"/>
          </a:solidFill>
          <a:ln/>
        </p:spPr>
      </p:sp>
      <p:sp>
        <p:nvSpPr>
          <p:cNvPr id="52" name="Text 50"/>
          <p:cNvSpPr/>
          <p:nvPr/>
        </p:nvSpPr>
        <p:spPr>
          <a:xfrm>
            <a:off x="365760" y="52120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数据存储层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365760" y="55778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 LAYER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2103120" y="5120640"/>
            <a:ext cx="9692640" cy="1005840"/>
          </a:xfrm>
          <a:prstGeom prst="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3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2286000" y="5303520"/>
            <a:ext cx="1755648" cy="365760"/>
          </a:xfrm>
          <a:prstGeom prst="rect">
            <a:avLst>
              <a:gd name="adj" fmla="val 7500"/>
            </a:avLst>
          </a:prstGeom>
          <a:solidFill>
            <a:srgbClr val="E8F5E9"/>
          </a:solidFill>
          <a:ln/>
        </p:spPr>
      </p:sp>
      <p:sp>
        <p:nvSpPr>
          <p:cNvPr id="56" name="Text 54"/>
          <p:cNvSpPr/>
          <p:nvPr/>
        </p:nvSpPr>
        <p:spPr>
          <a:xfrm>
            <a:off x="2286000" y="530352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 8.0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4178808" y="5303520"/>
            <a:ext cx="1097280" cy="365760"/>
          </a:xfrm>
          <a:prstGeom prst="rect">
            <a:avLst>
              <a:gd name="adj" fmla="val 7500"/>
            </a:avLst>
          </a:prstGeom>
          <a:solidFill>
            <a:srgbClr val="E8F5E9"/>
          </a:solidFill>
          <a:ln/>
        </p:spPr>
      </p:sp>
      <p:sp>
        <p:nvSpPr>
          <p:cNvPr id="58" name="Text 56"/>
          <p:cNvSpPr/>
          <p:nvPr/>
        </p:nvSpPr>
        <p:spPr>
          <a:xfrm>
            <a:off x="4178808" y="53035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Redis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5413248" y="5303520"/>
            <a:ext cx="1097280" cy="365760"/>
          </a:xfrm>
          <a:prstGeom prst="rect">
            <a:avLst>
              <a:gd name="adj" fmla="val 7500"/>
            </a:avLst>
          </a:prstGeom>
          <a:solidFill>
            <a:srgbClr val="E8F5E9"/>
          </a:solidFill>
          <a:ln/>
        </p:spPr>
      </p:sp>
      <p:sp>
        <p:nvSpPr>
          <p:cNvPr id="60" name="Text 58"/>
          <p:cNvSpPr/>
          <p:nvPr/>
        </p:nvSpPr>
        <p:spPr>
          <a:xfrm>
            <a:off x="5413248" y="53035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Neo4j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2286000" y="57790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业务数据 · 会话缓存 · 图数据库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5895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3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技术栈总览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FFFFFF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TECHNOLOGY STACK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758952"/>
            <a:ext cx="12161520" cy="6099048"/>
          </a:xfrm>
          <a:prstGeom prst="rect">
            <a:avLst/>
          </a:prstGeom>
          <a:solidFill>
            <a:srgbClr val="F5F5F0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3566160" cy="457200"/>
          </a:xfrm>
          <a:prstGeom prst="rect">
            <a:avLst>
              <a:gd name="adj" fmla="val 8000"/>
            </a:avLst>
          </a:prstGeom>
          <a:solidFill>
            <a:srgbClr val="2E7D32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0058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前端技术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645920"/>
            <a:ext cx="3566160" cy="640080"/>
          </a:xfrm>
          <a:prstGeom prst="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17190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 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19933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渐进式前端框架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423160"/>
            <a:ext cx="3566160" cy="640080"/>
          </a:xfrm>
          <a:prstGeom prst="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24963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Vite 6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277063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快速构建工具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200400"/>
            <a:ext cx="3566160" cy="640080"/>
          </a:xfrm>
          <a:prstGeom prst="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2920" y="32735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Element Plus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35478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UI组件库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977640"/>
            <a:ext cx="3566160" cy="640080"/>
          </a:xfrm>
          <a:prstGeom prst="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2920" y="40507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ECharts 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" y="43251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数据可视化图表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4754880"/>
            <a:ext cx="3566160" cy="640080"/>
          </a:xfrm>
          <a:prstGeom prst="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3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02920" y="48280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Pinia 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510235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状态管理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5532120"/>
            <a:ext cx="3566160" cy="640080"/>
          </a:xfrm>
          <a:prstGeom prst="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02920" y="56052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Axios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02920" y="58795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HTTP客户端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206240" y="1005840"/>
            <a:ext cx="3566160" cy="457200"/>
          </a:xfrm>
          <a:prstGeom prst="rect">
            <a:avLst>
              <a:gd name="adj" fmla="val 8000"/>
            </a:avLst>
          </a:prstGeom>
          <a:solidFill>
            <a:srgbClr val="2E7D32"/>
          </a:solidFill>
          <a:ln/>
        </p:spPr>
      </p:sp>
      <p:sp>
        <p:nvSpPr>
          <p:cNvPr id="28" name="Text 26"/>
          <p:cNvSpPr/>
          <p:nvPr/>
        </p:nvSpPr>
        <p:spPr>
          <a:xfrm>
            <a:off x="4206240" y="10058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后端技术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4206240" y="1645920"/>
            <a:ext cx="3566160" cy="640080"/>
          </a:xfrm>
          <a:prstGeom prst="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3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343400" y="17190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Spring Boot 3.4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343400" y="19933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Java业务后端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206240" y="2423160"/>
            <a:ext cx="3566160" cy="640080"/>
          </a:xfrm>
          <a:prstGeom prst="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3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343400" y="24963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MyBatis-Plus 3.5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343400" y="277063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ORM框架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206240" y="3200400"/>
            <a:ext cx="3566160" cy="640080"/>
          </a:xfrm>
          <a:prstGeom prst="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3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343400" y="32735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JWT + Argon2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343400" y="35478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认证与密码哈希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206240" y="3977640"/>
            <a:ext cx="3566160" cy="640080"/>
          </a:xfrm>
          <a:prstGeom prst="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3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343400" y="40507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Druid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343400" y="43251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数据库连接池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206240" y="4754880"/>
            <a:ext cx="3566160" cy="640080"/>
          </a:xfrm>
          <a:prstGeom prst="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3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343400" y="48280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Redis (Jedis)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4343400" y="510235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缓存与会话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206240" y="5532120"/>
            <a:ext cx="3566160" cy="640080"/>
          </a:xfrm>
          <a:prstGeom prst="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3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4343400" y="56052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 8.0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4343400" y="58795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关系型数据库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8046720" y="1005840"/>
            <a:ext cx="3566160" cy="457200"/>
          </a:xfrm>
          <a:prstGeom prst="rect">
            <a:avLst>
              <a:gd name="adj" fmla="val 8000"/>
            </a:avLst>
          </a:prstGeom>
          <a:solidFill>
            <a:srgbClr val="2E7D32"/>
          </a:solidFill>
          <a:ln/>
        </p:spPr>
      </p:sp>
      <p:sp>
        <p:nvSpPr>
          <p:cNvPr id="48" name="Text 46"/>
          <p:cNvSpPr/>
          <p:nvPr/>
        </p:nvSpPr>
        <p:spPr>
          <a:xfrm>
            <a:off x="8046720" y="10058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AI与数据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8046720" y="1645920"/>
            <a:ext cx="3566160" cy="640080"/>
          </a:xfrm>
          <a:prstGeom prst="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3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8183880" y="17190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Flask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8183880" y="19933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AI微服务框架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8046720" y="2423160"/>
            <a:ext cx="3566160" cy="640080"/>
          </a:xfrm>
          <a:prstGeom prst="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3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8183880" y="24963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Neo4j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8183880" y="277063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图数据库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8046720" y="3200400"/>
            <a:ext cx="3566160" cy="640080"/>
          </a:xfrm>
          <a:prstGeom prst="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3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8183880" y="32735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SiliconFlow API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8183880" y="35478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大模型调用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8046720" y="3977640"/>
            <a:ext cx="3566160" cy="640080"/>
          </a:xfrm>
          <a:prstGeom prst="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3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8183880" y="40507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PyMuPDF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8183880" y="43251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PDF文本提取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8046720" y="4754880"/>
            <a:ext cx="3566160" cy="640080"/>
          </a:xfrm>
          <a:prstGeom prst="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3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8183880" y="48280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python-docx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8183880" y="510235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Word文本提取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8046720" y="5532120"/>
            <a:ext cx="3566160" cy="640080"/>
          </a:xfrm>
          <a:prstGeom prst="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3000"/>
              </a:srgbClr>
            </a:outerShdw>
          </a:effectLst>
        </p:spPr>
      </p:sp>
      <p:sp>
        <p:nvSpPr>
          <p:cNvPr id="65" name="Text 63"/>
          <p:cNvSpPr/>
          <p:nvPr/>
        </p:nvSpPr>
        <p:spPr>
          <a:xfrm>
            <a:off x="8183880" y="56052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pandas</a:t>
            </a:r>
            <a:endParaRPr lang="en-US" sz="1300" dirty="0"/>
          </a:p>
        </p:txBody>
      </p:sp>
      <p:sp>
        <p:nvSpPr>
          <p:cNvPr id="66" name="Text 64"/>
          <p:cNvSpPr/>
          <p:nvPr/>
        </p:nvSpPr>
        <p:spPr>
          <a:xfrm>
            <a:off x="8183880" y="58795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数据处理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5895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3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数据源与知识图谱建模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FFFFFF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 SOURCE &amp; KNOWLEDGE GRAPH MODELING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758952"/>
            <a:ext cx="12161520" cy="6099048"/>
          </a:xfrm>
          <a:prstGeom prst="rect">
            <a:avLst/>
          </a:prstGeom>
          <a:solidFill>
            <a:srgbClr val="F5F5F0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2651760" cy="1097280"/>
          </a:xfrm>
          <a:prstGeom prst="rect">
            <a:avLst>
              <a:gd name="adj" fmla="val 3333"/>
            </a:avLst>
          </a:prstGeom>
          <a:solidFill>
            <a:srgbClr val="2E7D32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0515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803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65760" y="16916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岗位数据记录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005840"/>
            <a:ext cx="2651760" cy="1097280"/>
          </a:xfrm>
          <a:prstGeom prst="rect">
            <a:avLst>
              <a:gd name="adj" fmla="val 3333"/>
            </a:avLst>
          </a:prstGeom>
          <a:solidFill>
            <a:srgbClr val="388E3C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10515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291840" y="16916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实体节点类型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1005840"/>
            <a:ext cx="2651760" cy="1097280"/>
          </a:xfrm>
          <a:prstGeom prst="rect">
            <a:avLst>
              <a:gd name="adj" fmla="val 3333"/>
            </a:avLst>
          </a:prstGeom>
          <a:solidFill>
            <a:srgbClr val="43A047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10515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217920" y="16916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关系类型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144000" y="1005840"/>
            <a:ext cx="2651760" cy="1097280"/>
          </a:xfrm>
          <a:prstGeom prst="rect">
            <a:avLst>
              <a:gd name="adj" fmla="val 3333"/>
            </a:avLst>
          </a:prstGeom>
          <a:solidFill>
            <a:srgbClr val="66BB6A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0" y="10515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10+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9144000" y="16916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数据字段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331720"/>
            <a:ext cx="5852160" cy="3200400"/>
          </a:xfrm>
          <a:prstGeom prst="rect">
            <a:avLst>
              <a:gd name="adj" fmla="val 1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0080" y="2468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0080" y="2834640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8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项目内置招聘岗位样本数据，共803条记录。数据字段包括：职位、城市、公司、学历、经验、技能、薪资、福利、工作描述和行业。数据用于课程项目演示与知识图谱建模。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4480560"/>
            <a:ext cx="960120" cy="292608"/>
          </a:xfrm>
          <a:prstGeom prst="rect">
            <a:avLst>
              <a:gd name="adj" fmla="val 9375"/>
            </a:avLst>
          </a:prstGeom>
          <a:solidFill>
            <a:srgbClr val="E8F5E9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48056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职位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737360" y="4480560"/>
            <a:ext cx="960120" cy="292608"/>
          </a:xfrm>
          <a:prstGeom prst="rect">
            <a:avLst>
              <a:gd name="adj" fmla="val 9375"/>
            </a:avLst>
          </a:prstGeom>
          <a:solidFill>
            <a:srgbClr val="E8F5E9"/>
          </a:solidFill>
          <a:ln/>
        </p:spPr>
      </p:sp>
      <p:sp>
        <p:nvSpPr>
          <p:cNvPr id="25" name="Text 23"/>
          <p:cNvSpPr/>
          <p:nvPr/>
        </p:nvSpPr>
        <p:spPr>
          <a:xfrm>
            <a:off x="1737360" y="448056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城市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834640" y="4480560"/>
            <a:ext cx="960120" cy="292608"/>
          </a:xfrm>
          <a:prstGeom prst="rect">
            <a:avLst>
              <a:gd name="adj" fmla="val 9375"/>
            </a:avLst>
          </a:prstGeom>
          <a:solidFill>
            <a:srgbClr val="E8F5E9"/>
          </a:solidFill>
          <a:ln/>
        </p:spPr>
      </p:sp>
      <p:sp>
        <p:nvSpPr>
          <p:cNvPr id="27" name="Text 25"/>
          <p:cNvSpPr/>
          <p:nvPr/>
        </p:nvSpPr>
        <p:spPr>
          <a:xfrm>
            <a:off x="2834640" y="448056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公司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931920" y="4480560"/>
            <a:ext cx="960120" cy="292608"/>
          </a:xfrm>
          <a:prstGeom prst="rect">
            <a:avLst>
              <a:gd name="adj" fmla="val 9375"/>
            </a:avLst>
          </a:prstGeom>
          <a:solidFill>
            <a:srgbClr val="E8F5E9"/>
          </a:solidFill>
          <a:ln/>
        </p:spPr>
      </p:sp>
      <p:sp>
        <p:nvSpPr>
          <p:cNvPr id="29" name="Text 27"/>
          <p:cNvSpPr/>
          <p:nvPr/>
        </p:nvSpPr>
        <p:spPr>
          <a:xfrm>
            <a:off x="3931920" y="448056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学历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029200" y="4480560"/>
            <a:ext cx="960120" cy="292608"/>
          </a:xfrm>
          <a:prstGeom prst="rect">
            <a:avLst>
              <a:gd name="adj" fmla="val 9375"/>
            </a:avLst>
          </a:prstGeom>
          <a:solidFill>
            <a:srgbClr val="E8F5E9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0" y="448056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40080" y="4846320"/>
            <a:ext cx="960120" cy="292608"/>
          </a:xfrm>
          <a:prstGeom prst="rect">
            <a:avLst>
              <a:gd name="adj" fmla="val 9375"/>
            </a:avLst>
          </a:prstGeom>
          <a:solidFill>
            <a:srgbClr val="E8F5E9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484632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737360" y="4846320"/>
            <a:ext cx="960120" cy="292608"/>
          </a:xfrm>
          <a:prstGeom prst="rect">
            <a:avLst>
              <a:gd name="adj" fmla="val 9375"/>
            </a:avLst>
          </a:prstGeom>
          <a:solidFill>
            <a:srgbClr val="E8F5E9"/>
          </a:solidFill>
          <a:ln/>
        </p:spPr>
      </p:sp>
      <p:sp>
        <p:nvSpPr>
          <p:cNvPr id="35" name="Text 33"/>
          <p:cNvSpPr/>
          <p:nvPr/>
        </p:nvSpPr>
        <p:spPr>
          <a:xfrm>
            <a:off x="1737360" y="484632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薪资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834640" y="4846320"/>
            <a:ext cx="960120" cy="292608"/>
          </a:xfrm>
          <a:prstGeom prst="rect">
            <a:avLst>
              <a:gd name="adj" fmla="val 9375"/>
            </a:avLst>
          </a:prstGeom>
          <a:solidFill>
            <a:srgbClr val="E8F5E9"/>
          </a:solidFill>
          <a:ln/>
        </p:spPr>
      </p:sp>
      <p:sp>
        <p:nvSpPr>
          <p:cNvPr id="37" name="Text 35"/>
          <p:cNvSpPr/>
          <p:nvPr/>
        </p:nvSpPr>
        <p:spPr>
          <a:xfrm>
            <a:off x="2834640" y="484632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福利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931920" y="4846320"/>
            <a:ext cx="960120" cy="292608"/>
          </a:xfrm>
          <a:prstGeom prst="rect">
            <a:avLst>
              <a:gd name="adj" fmla="val 9375"/>
            </a:avLst>
          </a:prstGeom>
          <a:solidFill>
            <a:srgbClr val="E8F5E9"/>
          </a:solidFill>
          <a:ln/>
        </p:spPr>
      </p:sp>
      <p:sp>
        <p:nvSpPr>
          <p:cNvPr id="39" name="Text 37"/>
          <p:cNvSpPr/>
          <p:nvPr/>
        </p:nvSpPr>
        <p:spPr>
          <a:xfrm>
            <a:off x="3931920" y="484632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工作描述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029200" y="4846320"/>
            <a:ext cx="960120" cy="292608"/>
          </a:xfrm>
          <a:prstGeom prst="rect">
            <a:avLst>
              <a:gd name="adj" fmla="val 9375"/>
            </a:avLst>
          </a:prstGeom>
          <a:solidFill>
            <a:srgbClr val="E8F5E9"/>
          </a:solidFill>
          <a:ln/>
        </p:spPr>
      </p:sp>
      <p:sp>
        <p:nvSpPr>
          <p:cNvPr id="41" name="Text 39"/>
          <p:cNvSpPr/>
          <p:nvPr/>
        </p:nvSpPr>
        <p:spPr>
          <a:xfrm>
            <a:off x="5029200" y="484632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492240" y="2331720"/>
            <a:ext cx="5303520" cy="3200400"/>
          </a:xfrm>
          <a:prstGeom prst="rect">
            <a:avLst>
              <a:gd name="adj" fmla="val 1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4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6675120" y="2468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图谱实体与关系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6675120" y="2880360"/>
            <a:ext cx="2240280" cy="320040"/>
          </a:xfrm>
          <a:prstGeom prst="rect">
            <a:avLst>
              <a:gd name="adj" fmla="val 8571"/>
            </a:avLst>
          </a:prstGeom>
          <a:solidFill>
            <a:srgbClr val="E8F5E9"/>
          </a:solidFill>
          <a:ln/>
        </p:spPr>
      </p:sp>
      <p:sp>
        <p:nvSpPr>
          <p:cNvPr id="45" name="Text 43"/>
          <p:cNvSpPr/>
          <p:nvPr/>
        </p:nvSpPr>
        <p:spPr>
          <a:xfrm>
            <a:off x="6675120" y="28803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Job 岗位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9144000" y="2880360"/>
            <a:ext cx="2240280" cy="320040"/>
          </a:xfrm>
          <a:prstGeom prst="rect">
            <a:avLst>
              <a:gd name="adj" fmla="val 8571"/>
            </a:avLst>
          </a:prstGeom>
          <a:solidFill>
            <a:srgbClr val="E8F5E9"/>
          </a:solidFill>
          <a:ln/>
        </p:spPr>
      </p:sp>
      <p:sp>
        <p:nvSpPr>
          <p:cNvPr id="47" name="Text 45"/>
          <p:cNvSpPr/>
          <p:nvPr/>
        </p:nvSpPr>
        <p:spPr>
          <a:xfrm>
            <a:off x="9144000" y="28803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Company 公司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675120" y="3337560"/>
            <a:ext cx="2240280" cy="320040"/>
          </a:xfrm>
          <a:prstGeom prst="rect">
            <a:avLst>
              <a:gd name="adj" fmla="val 8571"/>
            </a:avLst>
          </a:prstGeom>
          <a:solidFill>
            <a:srgbClr val="E8F5E9"/>
          </a:solidFill>
          <a:ln/>
        </p:spPr>
      </p:sp>
      <p:sp>
        <p:nvSpPr>
          <p:cNvPr id="49" name="Text 47"/>
          <p:cNvSpPr/>
          <p:nvPr/>
        </p:nvSpPr>
        <p:spPr>
          <a:xfrm>
            <a:off x="6675120" y="33375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City 城市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9144000" y="3337560"/>
            <a:ext cx="2240280" cy="320040"/>
          </a:xfrm>
          <a:prstGeom prst="rect">
            <a:avLst>
              <a:gd name="adj" fmla="val 8571"/>
            </a:avLst>
          </a:prstGeom>
          <a:solidFill>
            <a:srgbClr val="E8F5E9"/>
          </a:solidFill>
          <a:ln/>
        </p:spPr>
      </p:sp>
      <p:sp>
        <p:nvSpPr>
          <p:cNvPr id="51" name="Text 49"/>
          <p:cNvSpPr/>
          <p:nvPr/>
        </p:nvSpPr>
        <p:spPr>
          <a:xfrm>
            <a:off x="9144000" y="33375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技能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675120" y="3794760"/>
            <a:ext cx="2240280" cy="320040"/>
          </a:xfrm>
          <a:prstGeom prst="rect">
            <a:avLst>
              <a:gd name="adj" fmla="val 8571"/>
            </a:avLst>
          </a:prstGeom>
          <a:solidFill>
            <a:srgbClr val="E8F5E9"/>
          </a:solidFill>
          <a:ln/>
        </p:spPr>
      </p:sp>
      <p:sp>
        <p:nvSpPr>
          <p:cNvPr id="53" name="Text 51"/>
          <p:cNvSpPr/>
          <p:nvPr/>
        </p:nvSpPr>
        <p:spPr>
          <a:xfrm>
            <a:off x="6675120" y="37947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Degree 学历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9144000" y="3794760"/>
            <a:ext cx="2240280" cy="320040"/>
          </a:xfrm>
          <a:prstGeom prst="rect">
            <a:avLst>
              <a:gd name="adj" fmla="val 8571"/>
            </a:avLst>
          </a:prstGeom>
          <a:solidFill>
            <a:srgbClr val="E8F5E9"/>
          </a:solidFill>
          <a:ln/>
        </p:spPr>
      </p:sp>
      <p:sp>
        <p:nvSpPr>
          <p:cNvPr id="55" name="Text 53"/>
          <p:cNvSpPr/>
          <p:nvPr/>
        </p:nvSpPr>
        <p:spPr>
          <a:xfrm>
            <a:off x="9144000" y="37947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Experience 经验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6675120" y="448056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关系：REQUIRES（需要）· BELONGS_TO（属于）· LOCATED_IN（位于）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5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286000"/>
            <a:ext cx="1216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spc="600" kern="0" dirty="0">
                <a:solidFill>
                  <a:srgbClr val="81C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02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166360" y="2926080"/>
            <a:ext cx="1828800" cy="0"/>
          </a:xfrm>
          <a:prstGeom prst="line">
            <a:avLst/>
          </a:prstGeom>
          <a:noFill/>
          <a:ln w="38100">
            <a:solidFill>
              <a:srgbClr val="81C78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3063240"/>
            <a:ext cx="1216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spc="6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核心功能演示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0" y="379476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300" kern="0" dirty="0">
                <a:solidFill>
                  <a:srgbClr val="FFFFFF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CORE FEATURES DEMONSTRATION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5895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3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知识图谱可视化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FFFFFF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KNOWLEDGE GRAPH VISUALIZATION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758952"/>
            <a:ext cx="12161520" cy="6099048"/>
          </a:xfrm>
          <a:prstGeom prst="rect">
            <a:avLst/>
          </a:prstGeom>
          <a:solidFill>
            <a:srgbClr val="F5F5F0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2651760" cy="914400"/>
          </a:xfrm>
          <a:prstGeom prst="rect">
            <a:avLst>
              <a:gd name="adj" fmla="val 4000"/>
            </a:avLst>
          </a:prstGeom>
          <a:solidFill>
            <a:srgbClr val="2E7D32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0058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65760" y="15544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实体节点类型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1005840"/>
            <a:ext cx="2651760" cy="914400"/>
          </a:xfrm>
          <a:prstGeom prst="rect">
            <a:avLst>
              <a:gd name="adj" fmla="val 4000"/>
            </a:avLst>
          </a:prstGeom>
          <a:solidFill>
            <a:srgbClr val="388E3C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10058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291840" y="15544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关系类型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1005840"/>
            <a:ext cx="2651760" cy="914400"/>
          </a:xfrm>
          <a:prstGeom prst="rect">
            <a:avLst>
              <a:gd name="adj" fmla="val 4000"/>
            </a:avLst>
          </a:prstGeom>
          <a:solidFill>
            <a:srgbClr val="43A047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10058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217920" y="15544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岗位数据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144000" y="1005840"/>
            <a:ext cx="2651760" cy="914400"/>
          </a:xfrm>
          <a:prstGeom prst="rect">
            <a:avLst>
              <a:gd name="adj" fmla="val 4000"/>
            </a:avLst>
          </a:prstGeom>
          <a:solidFill>
            <a:srgbClr val="66BB6A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0" y="10058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ECharts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144000" y="15544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力导向图渲染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2148840"/>
            <a:ext cx="5669280" cy="4206240"/>
          </a:xfrm>
          <a:prstGeom prst="rect">
            <a:avLst>
              <a:gd name="adj" fmla="val 8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0080" y="2286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图谱功能说明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0080" y="2697480"/>
            <a:ext cx="5120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9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将招聘数据转化为图结构，展示岗位与技能、学历、经验、公司、城市之间的连接关系。节点颜色代表不同实体类型，连线表示实体间关系。相比传统表格，图谱更适合直观解释岗位要求之间的关联。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493776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核心特性：</a:t>
            </a:r>
            <a:endParaRPr lang="en-US" sz="11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√ ECharts力导向图渲染，支持交互拖拽</a:t>
            </a:r>
            <a:endParaRPr lang="en-US" sz="11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√ 节点按实体类型着色，直观区分</a:t>
            </a:r>
            <a:endParaRPr lang="en-US" sz="11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√ 支持按条件筛选子图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309360" y="2148840"/>
            <a:ext cx="5486400" cy="4206240"/>
          </a:xfrm>
          <a:prstGeom prst="rect">
            <a:avLst>
              <a:gd name="adj" fmla="val 870"/>
            </a:avLst>
          </a:prstGeom>
          <a:solidFill>
            <a:srgbClr val="E8F5E9"/>
          </a:solidFill>
          <a:ln/>
        </p:spPr>
      </p:sp>
      <p:sp>
        <p:nvSpPr>
          <p:cNvPr id="24" name="Text 22"/>
          <p:cNvSpPr/>
          <p:nvPr/>
        </p:nvSpPr>
        <p:spPr>
          <a:xfrm>
            <a:off x="6309360" y="3200400"/>
            <a:ext cx="5486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知识图谱截图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（02-knowledge-graph.png）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5895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3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职业推荐系统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FFFFFF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JOB RECOMMENDATION SYSTEM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758952"/>
            <a:ext cx="12161520" cy="6099048"/>
          </a:xfrm>
          <a:prstGeom prst="rect">
            <a:avLst/>
          </a:prstGeom>
          <a:solidFill>
            <a:srgbClr val="F5F5F0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548640" cy="822960"/>
          </a:xfrm>
          <a:prstGeom prst="rect">
            <a:avLst>
              <a:gd name="adj" fmla="val 10000"/>
            </a:avLst>
          </a:prstGeom>
          <a:solidFill>
            <a:srgbClr val="2E7D32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00584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051560" y="1005840"/>
            <a:ext cx="5029200" cy="822960"/>
          </a:xfrm>
          <a:prstGeom prst="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188720" y="1097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用户输入描述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88720" y="14447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输入技能、学历、经验等自然语言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60320" y="1828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1C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▼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057400"/>
            <a:ext cx="548640" cy="822960"/>
          </a:xfrm>
          <a:prstGeom prst="rect">
            <a:avLst>
              <a:gd name="adj" fmla="val 10000"/>
            </a:avLst>
          </a:prstGeom>
          <a:solidFill>
            <a:srgbClr val="388E3C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05740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051560" y="2057400"/>
            <a:ext cx="5029200" cy="822960"/>
          </a:xfrm>
          <a:prstGeom prst="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188720" y="2148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NLP关键词提取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88720" y="24963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技能/学历/经验实体识别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560320" y="28803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1C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▼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108960"/>
            <a:ext cx="548640" cy="822960"/>
          </a:xfrm>
          <a:prstGeom prst="rect">
            <a:avLst>
              <a:gd name="adj" fmla="val 10000"/>
            </a:avLst>
          </a:prstGeom>
          <a:solidFill>
            <a:srgbClr val="43A047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10896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051560" y="3108960"/>
            <a:ext cx="5029200" cy="822960"/>
          </a:xfrm>
          <a:prstGeom prst="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3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188720" y="3200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图谱条件匹配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88720" y="35478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Neo4j查询满足条件的岗位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560320" y="39319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1C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▼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4160520"/>
            <a:ext cx="548640" cy="822960"/>
          </a:xfrm>
          <a:prstGeom prst="rect">
            <a:avLst>
              <a:gd name="adj" fmla="val 10000"/>
            </a:avLst>
          </a:prstGeom>
          <a:solidFill>
            <a:srgbClr val="66BB6A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416052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051560" y="4160520"/>
            <a:ext cx="5029200" cy="822960"/>
          </a:xfrm>
          <a:prstGeom prst="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3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1188720" y="4251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匹配评分计算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88720" y="45994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技能命中+学历+经验+薪资匹配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560320" y="49834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1C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▼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5212080"/>
            <a:ext cx="548640" cy="822960"/>
          </a:xfrm>
          <a:prstGeom prst="rect">
            <a:avLst>
              <a:gd name="adj" fmla="val 10000"/>
            </a:avLst>
          </a:prstGeom>
          <a:solidFill>
            <a:srgbClr val="81C784"/>
          </a:solidFill>
          <a:ln/>
        </p:spPr>
      </p:sp>
      <p:sp>
        <p:nvSpPr>
          <p:cNvPr id="32" name="Text 30"/>
          <p:cNvSpPr/>
          <p:nvPr/>
        </p:nvSpPr>
        <p:spPr>
          <a:xfrm>
            <a:off x="365760" y="521208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051560" y="5212080"/>
            <a:ext cx="5029200" cy="822960"/>
          </a:xfrm>
          <a:prstGeom prst="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3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1188720" y="5303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Top-K排序输出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188720" y="56509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推荐结果+图谱可视化解释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309360" y="1005840"/>
            <a:ext cx="5486400" cy="3200400"/>
          </a:xfrm>
          <a:prstGeom prst="rect">
            <a:avLst>
              <a:gd name="adj" fmla="val 1143"/>
            </a:avLst>
          </a:prstGeom>
          <a:solidFill>
            <a:srgbClr val="E8F5E9"/>
          </a:solidFill>
          <a:ln/>
        </p:spPr>
      </p:sp>
      <p:sp>
        <p:nvSpPr>
          <p:cNvPr id="37" name="Text 35"/>
          <p:cNvSpPr/>
          <p:nvPr/>
        </p:nvSpPr>
        <p:spPr>
          <a:xfrm>
            <a:off x="6309360" y="182880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推荐结果截图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（03-career-recommendation.png）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309360" y="4434840"/>
            <a:ext cx="5486400" cy="1920240"/>
          </a:xfrm>
          <a:prstGeom prst="rect">
            <a:avLst>
              <a:gd name="adj" fmla="val 19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4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492240" y="4526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匹配评分权重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492240" y="49194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技能命中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601200" y="49194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40%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492240" y="5175504"/>
            <a:ext cx="5029200" cy="73152"/>
          </a:xfrm>
          <a:prstGeom prst="rect">
            <a:avLst>
              <a:gd name="adj" fmla="val 25000"/>
            </a:avLst>
          </a:prstGeom>
          <a:solidFill>
            <a:srgbClr val="E8F5E9"/>
          </a:solidFill>
          <a:ln/>
        </p:spPr>
      </p:sp>
      <p:sp>
        <p:nvSpPr>
          <p:cNvPr id="43" name="Shape 41"/>
          <p:cNvSpPr/>
          <p:nvPr/>
        </p:nvSpPr>
        <p:spPr>
          <a:xfrm>
            <a:off x="6492240" y="5175504"/>
            <a:ext cx="2011680" cy="73152"/>
          </a:xfrm>
          <a:prstGeom prst="rect">
            <a:avLst>
              <a:gd name="adj" fmla="val 25000"/>
            </a:avLst>
          </a:prstGeom>
          <a:solidFill>
            <a:srgbClr val="2E7D32"/>
          </a:solidFill>
          <a:ln/>
        </p:spPr>
      </p:sp>
      <p:sp>
        <p:nvSpPr>
          <p:cNvPr id="44" name="Text 42"/>
          <p:cNvSpPr/>
          <p:nvPr/>
        </p:nvSpPr>
        <p:spPr>
          <a:xfrm>
            <a:off x="6492240" y="526694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学历匹配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9601200" y="526694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25%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492240" y="5522976"/>
            <a:ext cx="5029200" cy="73152"/>
          </a:xfrm>
          <a:prstGeom prst="rect">
            <a:avLst>
              <a:gd name="adj" fmla="val 25000"/>
            </a:avLst>
          </a:prstGeom>
          <a:solidFill>
            <a:srgbClr val="E8F5E9"/>
          </a:solidFill>
          <a:ln/>
        </p:spPr>
      </p:sp>
      <p:sp>
        <p:nvSpPr>
          <p:cNvPr id="47" name="Shape 45"/>
          <p:cNvSpPr/>
          <p:nvPr/>
        </p:nvSpPr>
        <p:spPr>
          <a:xfrm>
            <a:off x="6492240" y="5522976"/>
            <a:ext cx="1257300" cy="73152"/>
          </a:xfrm>
          <a:prstGeom prst="rect">
            <a:avLst>
              <a:gd name="adj" fmla="val 25000"/>
            </a:avLst>
          </a:prstGeom>
          <a:solidFill>
            <a:srgbClr val="388E3C"/>
          </a:solidFill>
          <a:ln/>
        </p:spPr>
      </p:sp>
      <p:sp>
        <p:nvSpPr>
          <p:cNvPr id="48" name="Text 46"/>
          <p:cNvSpPr/>
          <p:nvPr/>
        </p:nvSpPr>
        <p:spPr>
          <a:xfrm>
            <a:off x="6492240" y="561441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经验匹配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9601200" y="561441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25%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492240" y="5870448"/>
            <a:ext cx="5029200" cy="73152"/>
          </a:xfrm>
          <a:prstGeom prst="rect">
            <a:avLst>
              <a:gd name="adj" fmla="val 25000"/>
            </a:avLst>
          </a:prstGeom>
          <a:solidFill>
            <a:srgbClr val="E8F5E9"/>
          </a:solidFill>
          <a:ln/>
        </p:spPr>
      </p:sp>
      <p:sp>
        <p:nvSpPr>
          <p:cNvPr id="51" name="Shape 49"/>
          <p:cNvSpPr/>
          <p:nvPr/>
        </p:nvSpPr>
        <p:spPr>
          <a:xfrm>
            <a:off x="6492240" y="5870448"/>
            <a:ext cx="1257300" cy="73152"/>
          </a:xfrm>
          <a:prstGeom prst="rect">
            <a:avLst>
              <a:gd name="adj" fmla="val 25000"/>
            </a:avLst>
          </a:prstGeom>
          <a:solidFill>
            <a:srgbClr val="43A047"/>
          </a:solidFill>
          <a:ln/>
        </p:spPr>
      </p:sp>
      <p:sp>
        <p:nvSpPr>
          <p:cNvPr id="52" name="Text 50"/>
          <p:cNvSpPr/>
          <p:nvPr/>
        </p:nvSpPr>
        <p:spPr>
          <a:xfrm>
            <a:off x="6492240" y="59618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薪资匹配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9601200" y="59618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10%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492240" y="6217920"/>
            <a:ext cx="5029200" cy="73152"/>
          </a:xfrm>
          <a:prstGeom prst="rect">
            <a:avLst>
              <a:gd name="adj" fmla="val 25000"/>
            </a:avLst>
          </a:prstGeom>
          <a:solidFill>
            <a:srgbClr val="E8F5E9"/>
          </a:solidFill>
          <a:ln/>
        </p:spPr>
      </p:sp>
      <p:sp>
        <p:nvSpPr>
          <p:cNvPr id="55" name="Shape 53"/>
          <p:cNvSpPr/>
          <p:nvPr/>
        </p:nvSpPr>
        <p:spPr>
          <a:xfrm>
            <a:off x="6492240" y="6217920"/>
            <a:ext cx="502920" cy="73152"/>
          </a:xfrm>
          <a:prstGeom prst="rect">
            <a:avLst>
              <a:gd name="adj" fmla="val 25000"/>
            </a:avLst>
          </a:prstGeom>
          <a:solidFill>
            <a:srgbClr val="66BB6A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5895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3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职业时间线分析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FFFFFF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CAREER TIMELINE ANALYSIS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758952"/>
            <a:ext cx="12161520" cy="6099048"/>
          </a:xfrm>
          <a:prstGeom prst="rect">
            <a:avLst/>
          </a:prstGeom>
          <a:solidFill>
            <a:srgbClr val="F5F5F0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11430000" cy="1097280"/>
          </a:xfrm>
          <a:prstGeom prst="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0972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8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AI模型根据职业名自动生成发展阶段分析，包括阶段名称、背景、关键事件和技能要求，以时间线组件直观展示职业成长路径。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05840" y="2606040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0" name="Shape 8"/>
          <p:cNvSpPr/>
          <p:nvPr/>
        </p:nvSpPr>
        <p:spPr>
          <a:xfrm>
            <a:off x="1115568" y="2880360"/>
            <a:ext cx="0" cy="777240"/>
          </a:xfrm>
          <a:prstGeom prst="line">
            <a:avLst/>
          </a:prstGeom>
          <a:noFill/>
          <a:ln w="25400">
            <a:solidFill>
              <a:srgbClr val="E8F5E9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1554480" y="2377440"/>
            <a:ext cx="5029200" cy="868680"/>
          </a:xfrm>
          <a:prstGeom prst="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737360" y="2450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初级阶段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0" y="2487168"/>
            <a:ext cx="1097280" cy="228600"/>
          </a:xfrm>
          <a:prstGeom prst="rect">
            <a:avLst>
              <a:gd name="adj" fmla="val 12000"/>
            </a:avLst>
          </a:prstGeom>
          <a:solidFill>
            <a:srgbClr val="E8F5E9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0" y="24871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0-2年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37360" y="27889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入门技能掌握，基础项目经验积累，在指导下完成工作任务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05840" y="3657600"/>
            <a:ext cx="274320" cy="274320"/>
          </a:xfrm>
          <a:prstGeom prst="ellipse">
            <a:avLst/>
          </a:prstGeom>
          <a:solidFill>
            <a:srgbClr val="388E3C"/>
          </a:solidFill>
          <a:ln/>
        </p:spPr>
      </p:sp>
      <p:sp>
        <p:nvSpPr>
          <p:cNvPr id="17" name="Shape 15"/>
          <p:cNvSpPr/>
          <p:nvPr/>
        </p:nvSpPr>
        <p:spPr>
          <a:xfrm>
            <a:off x="1115568" y="3931920"/>
            <a:ext cx="0" cy="777240"/>
          </a:xfrm>
          <a:prstGeom prst="line">
            <a:avLst/>
          </a:prstGeom>
          <a:noFill/>
          <a:ln w="25400">
            <a:solidFill>
              <a:srgbClr val="E8F5E9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1554480" y="3429000"/>
            <a:ext cx="5029200" cy="868680"/>
          </a:xfrm>
          <a:prstGeom prst="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737360" y="35021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发展阶段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0" y="3538728"/>
            <a:ext cx="1097280" cy="228600"/>
          </a:xfrm>
          <a:prstGeom prst="rect">
            <a:avLst>
              <a:gd name="adj" fmla="val 12000"/>
            </a:avLst>
          </a:prstGeom>
          <a:solidFill>
            <a:srgbClr val="E8F5E9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0" y="353872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2-5年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8404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专业技术深化，独立负责项目模块，开始指导初级成员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005840" y="4709160"/>
            <a:ext cx="274320" cy="274320"/>
          </a:xfrm>
          <a:prstGeom prst="ellipse">
            <a:avLst/>
          </a:prstGeom>
          <a:solidFill>
            <a:srgbClr val="43A047"/>
          </a:solidFill>
          <a:ln/>
        </p:spPr>
      </p:sp>
      <p:sp>
        <p:nvSpPr>
          <p:cNvPr id="24" name="Shape 22"/>
          <p:cNvSpPr/>
          <p:nvPr/>
        </p:nvSpPr>
        <p:spPr>
          <a:xfrm>
            <a:off x="1115568" y="4983480"/>
            <a:ext cx="0" cy="777240"/>
          </a:xfrm>
          <a:prstGeom prst="line">
            <a:avLst/>
          </a:prstGeom>
          <a:noFill/>
          <a:ln w="25400">
            <a:solidFill>
              <a:srgbClr val="E8F5E9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1554480" y="4480560"/>
            <a:ext cx="5029200" cy="868680"/>
          </a:xfrm>
          <a:prstGeom prst="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3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737360" y="45537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成熟阶段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572000" y="4590288"/>
            <a:ext cx="1097280" cy="228600"/>
          </a:xfrm>
          <a:prstGeom prst="rect">
            <a:avLst>
              <a:gd name="adj" fmla="val 12000"/>
            </a:avLst>
          </a:prstGeom>
          <a:solidFill>
            <a:srgbClr val="E8F5E9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0" y="459028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5-10年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737360" y="48920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团队管理与跨领域协作，承担技术决策与架构设计职责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005840" y="5760720"/>
            <a:ext cx="274320" cy="274320"/>
          </a:xfrm>
          <a:prstGeom prst="ellipse">
            <a:avLst/>
          </a:prstGeom>
          <a:solidFill>
            <a:srgbClr val="66BB6A"/>
          </a:solidFill>
          <a:ln/>
        </p:spPr>
      </p:sp>
      <p:sp>
        <p:nvSpPr>
          <p:cNvPr id="31" name="Shape 29"/>
          <p:cNvSpPr/>
          <p:nvPr/>
        </p:nvSpPr>
        <p:spPr>
          <a:xfrm>
            <a:off x="1554480" y="5532120"/>
            <a:ext cx="5029200" cy="868680"/>
          </a:xfrm>
          <a:prstGeom prst="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3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1737360" y="56052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专家阶段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572000" y="5641848"/>
            <a:ext cx="1097280" cy="228600"/>
          </a:xfrm>
          <a:prstGeom prst="rect">
            <a:avLst>
              <a:gd name="adj" fmla="val 12000"/>
            </a:avLst>
          </a:prstGeom>
          <a:solidFill>
            <a:srgbClr val="E8F5E9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0" y="564184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10年+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737360" y="59436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行业影响力建设，技术战略规划，跨团队技术领导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858000" y="2377440"/>
            <a:ext cx="4937760" cy="3840480"/>
          </a:xfrm>
          <a:prstGeom prst="rect">
            <a:avLst>
              <a:gd name="adj" fmla="val 952"/>
            </a:avLst>
          </a:prstGeom>
          <a:solidFill>
            <a:srgbClr val="E8F5E9"/>
          </a:solidFill>
          <a:ln/>
        </p:spPr>
      </p:sp>
      <p:sp>
        <p:nvSpPr>
          <p:cNvPr id="37" name="Text 35"/>
          <p:cNvSpPr/>
          <p:nvPr/>
        </p:nvSpPr>
        <p:spPr>
          <a:xfrm>
            <a:off x="6858000" y="365760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时间线截图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（04-career-timeline.png）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5895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3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智能问答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FFFFFF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INTELLIGENT Q&amp;A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758952"/>
            <a:ext cx="12161520" cy="6099048"/>
          </a:xfrm>
          <a:prstGeom prst="rect">
            <a:avLst/>
          </a:prstGeom>
          <a:solidFill>
            <a:srgbClr val="F5F5F0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3566160" cy="2560320"/>
          </a:xfrm>
          <a:prstGeom prst="rect">
            <a:avLst>
              <a:gd name="adj" fmla="val 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783080" y="1280160"/>
            <a:ext cx="731520" cy="731520"/>
          </a:xfrm>
          <a:prstGeom prst="ellipse">
            <a:avLst/>
          </a:prstGeom>
          <a:solidFill>
            <a:srgbClr val="E8F5E9"/>
          </a:solidFill>
          <a:ln/>
        </p:spPr>
      </p:sp>
      <p:sp>
        <p:nvSpPr>
          <p:cNvPr id="9" name="Text 7"/>
          <p:cNvSpPr/>
          <p:nvPr/>
        </p:nvSpPr>
        <p:spPr>
          <a:xfrm>
            <a:off x="1783080" y="1280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💬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48640" y="21945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自然语言交互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26060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用户使用日常语言提问职业发展和技能学习相关问题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06240" y="1005840"/>
            <a:ext cx="3566160" cy="2560320"/>
          </a:xfrm>
          <a:prstGeom prst="rect">
            <a:avLst>
              <a:gd name="adj" fmla="val 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623560" y="1280160"/>
            <a:ext cx="731520" cy="731520"/>
          </a:xfrm>
          <a:prstGeom prst="ellipse">
            <a:avLst/>
          </a:prstGeom>
          <a:solidFill>
            <a:srgbClr val="E8F5E9"/>
          </a:solidFill>
          <a:ln/>
        </p:spPr>
      </p:sp>
      <p:sp>
        <p:nvSpPr>
          <p:cNvPr id="14" name="Text 12"/>
          <p:cNvSpPr/>
          <p:nvPr/>
        </p:nvSpPr>
        <p:spPr>
          <a:xfrm>
            <a:off x="5623560" y="1280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📝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389120" y="21945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Markdown渲染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480560" y="26060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AI回答以Markdown格式输出，支持代码高亮和公式渲染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46720" y="1005840"/>
            <a:ext cx="3566160" cy="2560320"/>
          </a:xfrm>
          <a:prstGeom prst="rect">
            <a:avLst>
              <a:gd name="adj" fmla="val 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464040" y="1280160"/>
            <a:ext cx="731520" cy="731520"/>
          </a:xfrm>
          <a:prstGeom prst="ellipse">
            <a:avLst/>
          </a:prstGeom>
          <a:solidFill>
            <a:srgbClr val="E8F5E9"/>
          </a:solidFill>
          <a:ln/>
        </p:spPr>
      </p:sp>
      <p:sp>
        <p:nvSpPr>
          <p:cNvPr id="19" name="Text 17"/>
          <p:cNvSpPr/>
          <p:nvPr/>
        </p:nvSpPr>
        <p:spPr>
          <a:xfrm>
            <a:off x="9464040" y="1280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⚡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229600" y="21945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SSE流式响应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321040" y="26060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Server-Sent Events实现逐字实时输出，交互体验流畅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840480"/>
            <a:ext cx="3566160" cy="2560320"/>
          </a:xfrm>
          <a:prstGeom prst="rect">
            <a:avLst>
              <a:gd name="adj" fmla="val 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4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783080" y="4114800"/>
            <a:ext cx="731520" cy="731520"/>
          </a:xfrm>
          <a:prstGeom prst="ellipse">
            <a:avLst/>
          </a:prstGeom>
          <a:solidFill>
            <a:srgbClr val="E8F5E9"/>
          </a:solidFill>
          <a:ln/>
        </p:spPr>
      </p:sp>
      <p:sp>
        <p:nvSpPr>
          <p:cNvPr id="24" name="Text 22"/>
          <p:cNvSpPr/>
          <p:nvPr/>
        </p:nvSpPr>
        <p:spPr>
          <a:xfrm>
            <a:off x="1783080" y="4114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🧠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548640" y="5029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上下文理解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40080" y="54406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支持多轮对话，理解用户意图并给出针对性建议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206240" y="3840480"/>
            <a:ext cx="3566160" cy="2560320"/>
          </a:xfrm>
          <a:prstGeom prst="rect">
            <a:avLst>
              <a:gd name="adj" fmla="val 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4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623560" y="4114800"/>
            <a:ext cx="731520" cy="731520"/>
          </a:xfrm>
          <a:prstGeom prst="ellipse">
            <a:avLst/>
          </a:prstGeom>
          <a:solidFill>
            <a:srgbClr val="E8F5E9"/>
          </a:solidFill>
          <a:ln/>
        </p:spPr>
      </p:sp>
      <p:sp>
        <p:nvSpPr>
          <p:cNvPr id="29" name="Text 27"/>
          <p:cNvSpPr/>
          <p:nvPr/>
        </p:nvSpPr>
        <p:spPr>
          <a:xfrm>
            <a:off x="5623560" y="4114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4389120" y="5029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职业领域专长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480560" y="54406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针对职业发展、技能学习路径等领域进行优化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046720" y="3840480"/>
            <a:ext cx="3566160" cy="2560320"/>
          </a:xfrm>
          <a:prstGeom prst="rect">
            <a:avLst>
              <a:gd name="adj" fmla="val 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4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9464040" y="4114800"/>
            <a:ext cx="731520" cy="731520"/>
          </a:xfrm>
          <a:prstGeom prst="ellipse">
            <a:avLst/>
          </a:prstGeom>
          <a:solidFill>
            <a:srgbClr val="E8F5E9"/>
          </a:solidFill>
          <a:ln/>
        </p:spPr>
      </p:sp>
      <p:sp>
        <p:nvSpPr>
          <p:cNvPr id="34" name="Text 32"/>
          <p:cNvSpPr/>
          <p:nvPr/>
        </p:nvSpPr>
        <p:spPr>
          <a:xfrm>
            <a:off x="9464040" y="4114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🤖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8229600" y="5029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大模型驱动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8321040" y="54406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接入DeepSeek-V3等先进模型，回答质量高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5895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3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简历智能分析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FFFFFF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RESUME INTELLIGENT ANALYSIS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758952"/>
            <a:ext cx="12161520" cy="6099048"/>
          </a:xfrm>
          <a:prstGeom prst="rect">
            <a:avLst/>
          </a:prstGeom>
          <a:solidFill>
            <a:srgbClr val="F5F5F0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5669280" cy="5303520"/>
          </a:xfrm>
          <a:prstGeom prst="rect">
            <a:avLst>
              <a:gd name="adj" fmla="val 6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143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简历上传与解析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1645920"/>
            <a:ext cx="5120640" cy="868680"/>
          </a:xfrm>
          <a:prstGeom prst="rect">
            <a:avLst>
              <a:gd name="adj" fmla="val 4211"/>
            </a:avLst>
          </a:prstGeom>
          <a:solidFill>
            <a:srgbClr val="E8F5E9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737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PDF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20574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PyMuPDF (fitz) 提取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743200"/>
            <a:ext cx="5120640" cy="868680"/>
          </a:xfrm>
          <a:prstGeom prst="rect">
            <a:avLst>
              <a:gd name="adj" fmla="val 4211"/>
            </a:avLst>
          </a:prstGeom>
          <a:solidFill>
            <a:srgbClr val="E8F5E9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834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31546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python-docx 提取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840480"/>
            <a:ext cx="5120640" cy="868680"/>
          </a:xfrm>
          <a:prstGeom prst="rect">
            <a:avLst>
              <a:gd name="adj" fmla="val 4211"/>
            </a:avLst>
          </a:prstGeom>
          <a:solidFill>
            <a:srgbClr val="E8F5E9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931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2519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pytesseract OCR识别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502920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上传简历 → 自动识别格式 → 提取文本内容 → AI模型分析 → 生成职业匹配建议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09360" y="1005840"/>
            <a:ext cx="5486400" cy="5303520"/>
          </a:xfrm>
          <a:prstGeom prst="rect">
            <a:avLst>
              <a:gd name="adj" fmla="val 6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92240" y="1143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AI分析输出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492240" y="1645920"/>
            <a:ext cx="5029200" cy="868680"/>
          </a:xfrm>
          <a:prstGeom prst="rect">
            <a:avLst>
              <a:gd name="adj" fmla="val 4211"/>
            </a:avLst>
          </a:prstGeom>
          <a:solidFill>
            <a:srgbClr val="E8F5E9"/>
          </a:solidFill>
          <a:ln/>
        </p:spPr>
      </p:sp>
      <p:sp>
        <p:nvSpPr>
          <p:cNvPr id="22" name="Text 20"/>
          <p:cNvSpPr/>
          <p:nvPr/>
        </p:nvSpPr>
        <p:spPr>
          <a:xfrm>
            <a:off x="6675120" y="1737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职业名称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675120" y="20574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匹配度最高的职业方向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92240" y="2697480"/>
            <a:ext cx="5029200" cy="868680"/>
          </a:xfrm>
          <a:prstGeom prst="rect">
            <a:avLst>
              <a:gd name="adj" fmla="val 4211"/>
            </a:avLst>
          </a:prstGeom>
          <a:solidFill>
            <a:srgbClr val="E8F5E9"/>
          </a:solidFill>
          <a:ln/>
        </p:spPr>
      </p:sp>
      <p:sp>
        <p:nvSpPr>
          <p:cNvPr id="25" name="Text 23"/>
          <p:cNvSpPr/>
          <p:nvPr/>
        </p:nvSpPr>
        <p:spPr>
          <a:xfrm>
            <a:off x="6675120" y="2788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匹配概率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675120" y="31089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基于简历内容的匹配评分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92240" y="3749040"/>
            <a:ext cx="5029200" cy="868680"/>
          </a:xfrm>
          <a:prstGeom prst="rect">
            <a:avLst>
              <a:gd name="adj" fmla="val 4211"/>
            </a:avLst>
          </a:prstGeom>
          <a:solidFill>
            <a:srgbClr val="E8F5E9"/>
          </a:solidFill>
          <a:ln/>
        </p:spPr>
      </p:sp>
      <p:sp>
        <p:nvSpPr>
          <p:cNvPr id="28" name="Text 26"/>
          <p:cNvSpPr/>
          <p:nvPr/>
        </p:nvSpPr>
        <p:spPr>
          <a:xfrm>
            <a:off x="6675120" y="3840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市场状况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675120" y="4160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该职业当前市场需求分析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92240" y="4800600"/>
            <a:ext cx="5029200" cy="868680"/>
          </a:xfrm>
          <a:prstGeom prst="rect">
            <a:avLst>
              <a:gd name="adj" fmla="val 4211"/>
            </a:avLst>
          </a:prstGeom>
          <a:solidFill>
            <a:srgbClr val="E8F5E9"/>
          </a:solidFill>
          <a:ln/>
        </p:spPr>
      </p:sp>
      <p:sp>
        <p:nvSpPr>
          <p:cNvPr id="31" name="Text 29"/>
          <p:cNvSpPr/>
          <p:nvPr/>
        </p:nvSpPr>
        <p:spPr>
          <a:xfrm>
            <a:off x="6675120" y="4892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发展行情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675120" y="52120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职业发展前景与薪资趋势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5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286000"/>
            <a:ext cx="1216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spc="600" kern="0" dirty="0">
                <a:solidFill>
                  <a:srgbClr val="81C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03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166360" y="2926080"/>
            <a:ext cx="1828800" cy="0"/>
          </a:xfrm>
          <a:prstGeom prst="line">
            <a:avLst/>
          </a:prstGeom>
          <a:noFill/>
          <a:ln w="38100">
            <a:solidFill>
              <a:srgbClr val="81C78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3063240"/>
            <a:ext cx="1216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spc="6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推荐算法与大模型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0" y="379476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300" kern="0" dirty="0">
                <a:solidFill>
                  <a:srgbClr val="FFFFFF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ALGORITHM &amp; LLM INTEGRATION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5895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3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推荐算法流程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FFFFFF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RECOMMENDATION ALGORITHM FLOW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758952"/>
            <a:ext cx="12161520" cy="6099048"/>
          </a:xfrm>
          <a:prstGeom prst="rect">
            <a:avLst/>
          </a:prstGeom>
          <a:solidFill>
            <a:srgbClr val="F5F5F0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640080" cy="822960"/>
          </a:xfrm>
          <a:prstGeom prst="rect">
            <a:avLst>
              <a:gd name="adj" fmla="val 8571"/>
            </a:avLst>
          </a:prstGeom>
          <a:solidFill>
            <a:srgbClr val="2E7D32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0515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5760" y="13258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143000" y="1005840"/>
            <a:ext cx="6126480" cy="822960"/>
          </a:xfrm>
          <a:prstGeom prst="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280160" y="107899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用户输入自我描述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80160" y="1463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用户输入技能、学历、经验等自然语言描述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83280" y="1828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1C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▼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057400"/>
            <a:ext cx="640080" cy="822960"/>
          </a:xfrm>
          <a:prstGeom prst="rect">
            <a:avLst>
              <a:gd name="adj" fmla="val 8571"/>
            </a:avLst>
          </a:prstGeom>
          <a:solidFill>
            <a:srgbClr val="388E3C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1031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5760" y="23774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143000" y="2057400"/>
            <a:ext cx="6126480" cy="822960"/>
          </a:xfrm>
          <a:prstGeom prst="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280160" y="213055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NLP关键词提取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80160" y="2514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技能/学历/经验实体识别与提取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83280" y="28803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1C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▼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3108960"/>
            <a:ext cx="640080" cy="822960"/>
          </a:xfrm>
          <a:prstGeom prst="rect">
            <a:avLst>
              <a:gd name="adj" fmla="val 8571"/>
            </a:avLst>
          </a:prstGeom>
          <a:solidFill>
            <a:srgbClr val="43A047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31546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65760" y="34290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143000" y="3108960"/>
            <a:ext cx="6126480" cy="822960"/>
          </a:xfrm>
          <a:prstGeom prst="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280160" y="318211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Neo4j图数据库查询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28016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条件查询与匹配岗位数据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383280" y="39319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1C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▼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4160520"/>
            <a:ext cx="640080" cy="822960"/>
          </a:xfrm>
          <a:prstGeom prst="rect">
            <a:avLst>
              <a:gd name="adj" fmla="val 8571"/>
            </a:avLst>
          </a:prstGeom>
          <a:solidFill>
            <a:srgbClr val="66BB6A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" y="420624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65760" y="44805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143000" y="4160520"/>
            <a:ext cx="6126480" cy="822960"/>
          </a:xfrm>
          <a:prstGeom prst="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3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1280160" y="423367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多维匹配评分计算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280160" y="4617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技能命中 + 学历匹配 + 经验匹配 + 薪资匹配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383280" y="49834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1C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▼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5212080"/>
            <a:ext cx="640080" cy="822960"/>
          </a:xfrm>
          <a:prstGeom prst="rect">
            <a:avLst>
              <a:gd name="adj" fmla="val 8571"/>
            </a:avLst>
          </a:prstGeom>
          <a:solidFill>
            <a:srgbClr val="81C784"/>
          </a:solidFill>
          <a:ln/>
        </p:spPr>
      </p:sp>
      <p:sp>
        <p:nvSpPr>
          <p:cNvPr id="36" name="Text 34"/>
          <p:cNvSpPr/>
          <p:nvPr/>
        </p:nvSpPr>
        <p:spPr>
          <a:xfrm>
            <a:off x="365760" y="52578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65760" y="55321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1143000" y="5212080"/>
            <a:ext cx="6126480" cy="822960"/>
          </a:xfrm>
          <a:prstGeom prst="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3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1280160" y="528523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Top-K排序输出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280160" y="5669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推荐结果 + 图谱解释可视化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589520" y="1005840"/>
            <a:ext cx="4206240" cy="2926080"/>
          </a:xfrm>
          <a:prstGeom prst="rect">
            <a:avLst>
              <a:gd name="adj" fmla="val 1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4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7772400" y="1143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评分权重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7772400" y="15544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技能命中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0515600" y="15544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40%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7772400" y="1828800"/>
            <a:ext cx="3840480" cy="91440"/>
          </a:xfrm>
          <a:prstGeom prst="rect">
            <a:avLst>
              <a:gd name="adj" fmla="val 20000"/>
            </a:avLst>
          </a:prstGeom>
          <a:solidFill>
            <a:srgbClr val="E8F5E9"/>
          </a:solidFill>
          <a:ln/>
        </p:spPr>
      </p:sp>
      <p:sp>
        <p:nvSpPr>
          <p:cNvPr id="46" name="Shape 44"/>
          <p:cNvSpPr/>
          <p:nvPr/>
        </p:nvSpPr>
        <p:spPr>
          <a:xfrm>
            <a:off x="7772400" y="1828800"/>
            <a:ext cx="1536192" cy="91440"/>
          </a:xfrm>
          <a:prstGeom prst="rect">
            <a:avLst>
              <a:gd name="adj" fmla="val 20000"/>
            </a:avLst>
          </a:prstGeom>
          <a:solidFill>
            <a:srgbClr val="2E7D32"/>
          </a:solidFill>
          <a:ln/>
        </p:spPr>
      </p:sp>
      <p:sp>
        <p:nvSpPr>
          <p:cNvPr id="47" name="Text 45"/>
          <p:cNvSpPr/>
          <p:nvPr/>
        </p:nvSpPr>
        <p:spPr>
          <a:xfrm>
            <a:off x="7772400" y="20574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学历匹配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10515600" y="20574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25%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7772400" y="2331720"/>
            <a:ext cx="3840480" cy="91440"/>
          </a:xfrm>
          <a:prstGeom prst="rect">
            <a:avLst>
              <a:gd name="adj" fmla="val 20000"/>
            </a:avLst>
          </a:prstGeom>
          <a:solidFill>
            <a:srgbClr val="E8F5E9"/>
          </a:solidFill>
          <a:ln/>
        </p:spPr>
      </p:sp>
      <p:sp>
        <p:nvSpPr>
          <p:cNvPr id="50" name="Shape 48"/>
          <p:cNvSpPr/>
          <p:nvPr/>
        </p:nvSpPr>
        <p:spPr>
          <a:xfrm>
            <a:off x="7772400" y="2331720"/>
            <a:ext cx="960120" cy="91440"/>
          </a:xfrm>
          <a:prstGeom prst="rect">
            <a:avLst>
              <a:gd name="adj" fmla="val 20000"/>
            </a:avLst>
          </a:prstGeom>
          <a:solidFill>
            <a:srgbClr val="388E3C"/>
          </a:solidFill>
          <a:ln/>
        </p:spPr>
      </p:sp>
      <p:sp>
        <p:nvSpPr>
          <p:cNvPr id="51" name="Text 49"/>
          <p:cNvSpPr/>
          <p:nvPr/>
        </p:nvSpPr>
        <p:spPr>
          <a:xfrm>
            <a:off x="7772400" y="25603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经验匹配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10515600" y="2560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25%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7772400" y="2834640"/>
            <a:ext cx="3840480" cy="91440"/>
          </a:xfrm>
          <a:prstGeom prst="rect">
            <a:avLst>
              <a:gd name="adj" fmla="val 20000"/>
            </a:avLst>
          </a:prstGeom>
          <a:solidFill>
            <a:srgbClr val="E8F5E9"/>
          </a:solidFill>
          <a:ln/>
        </p:spPr>
      </p:sp>
      <p:sp>
        <p:nvSpPr>
          <p:cNvPr id="54" name="Shape 52"/>
          <p:cNvSpPr/>
          <p:nvPr/>
        </p:nvSpPr>
        <p:spPr>
          <a:xfrm>
            <a:off x="7772400" y="2834640"/>
            <a:ext cx="960120" cy="91440"/>
          </a:xfrm>
          <a:prstGeom prst="rect">
            <a:avLst>
              <a:gd name="adj" fmla="val 20000"/>
            </a:avLst>
          </a:prstGeom>
          <a:solidFill>
            <a:srgbClr val="43A047"/>
          </a:solidFill>
          <a:ln/>
        </p:spPr>
      </p:sp>
      <p:sp>
        <p:nvSpPr>
          <p:cNvPr id="55" name="Text 53"/>
          <p:cNvSpPr/>
          <p:nvPr/>
        </p:nvSpPr>
        <p:spPr>
          <a:xfrm>
            <a:off x="7772400" y="30632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薪资匹配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10515600" y="3063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10%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7772400" y="3337560"/>
            <a:ext cx="3840480" cy="91440"/>
          </a:xfrm>
          <a:prstGeom prst="rect">
            <a:avLst>
              <a:gd name="adj" fmla="val 20000"/>
            </a:avLst>
          </a:prstGeom>
          <a:solidFill>
            <a:srgbClr val="E8F5E9"/>
          </a:solidFill>
          <a:ln/>
        </p:spPr>
      </p:sp>
      <p:sp>
        <p:nvSpPr>
          <p:cNvPr id="58" name="Shape 56"/>
          <p:cNvSpPr/>
          <p:nvPr/>
        </p:nvSpPr>
        <p:spPr>
          <a:xfrm>
            <a:off x="7772400" y="3337560"/>
            <a:ext cx="384048" cy="91440"/>
          </a:xfrm>
          <a:prstGeom prst="rect">
            <a:avLst>
              <a:gd name="adj" fmla="val 20000"/>
            </a:avLst>
          </a:prstGeom>
          <a:solidFill>
            <a:srgbClr val="66BB6A"/>
          </a:solidFill>
          <a:ln/>
        </p:spPr>
      </p:sp>
      <p:sp>
        <p:nvSpPr>
          <p:cNvPr id="59" name="Shape 57"/>
          <p:cNvSpPr/>
          <p:nvPr/>
        </p:nvSpPr>
        <p:spPr>
          <a:xfrm>
            <a:off x="7589520" y="4206240"/>
            <a:ext cx="4206240" cy="2103120"/>
          </a:xfrm>
          <a:prstGeom prst="rect">
            <a:avLst>
              <a:gd name="adj" fmla="val 1739"/>
            </a:avLst>
          </a:prstGeom>
          <a:solidFill>
            <a:srgbClr val="2E7D32"/>
          </a:solidFill>
          <a:ln/>
        </p:spPr>
      </p:sp>
      <p:sp>
        <p:nvSpPr>
          <p:cNvPr id="60" name="Text 58"/>
          <p:cNvSpPr/>
          <p:nvPr/>
        </p:nvSpPr>
        <p:spPr>
          <a:xfrm>
            <a:off x="7772400" y="4343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算法特点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7772400" y="470916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80000"/>
              </a:lnSpc>
              <a:buNone/>
            </a:pPr>
            <a:r>
              <a:rPr lang="en-US" sz="1100" dirty="0">
                <a:solidFill>
                  <a:srgbClr val="FFFFFF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√ 基于图谱匹配，可解释性强</a:t>
            </a:r>
            <a:endParaRPr lang="en-US" sz="11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100" dirty="0">
                <a:solidFill>
                  <a:srgbClr val="FFFFFF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√ 多维度综合评分，避免单一指标</a:t>
            </a:r>
            <a:endParaRPr lang="en-US" sz="11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100" dirty="0">
                <a:solidFill>
                  <a:srgbClr val="FFFFFF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√ Top-K排序，结果精简高效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5895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3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大语言模型集成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FFFFFF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INTEGRATION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758952"/>
            <a:ext cx="12161520" cy="6099048"/>
          </a:xfrm>
          <a:prstGeom prst="rect">
            <a:avLst/>
          </a:prstGeom>
          <a:solidFill>
            <a:srgbClr val="F5F5F0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3566160" cy="502920"/>
          </a:xfrm>
          <a:prstGeom prst="rect">
            <a:avLst>
              <a:gd name="adj" fmla="val 7273"/>
            </a:avLst>
          </a:prstGeom>
          <a:solidFill>
            <a:srgbClr val="2E7D32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0058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职业问答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645920"/>
            <a:ext cx="3566160" cy="2926080"/>
          </a:xfrm>
          <a:prstGeom prst="rect">
            <a:avLst>
              <a:gd name="adj" fmla="val 1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828800"/>
            <a:ext cx="109728" cy="109728"/>
          </a:xfrm>
          <a:prstGeom prst="ellipse">
            <a:avLst/>
          </a:prstGeom>
          <a:solidFill>
            <a:srgbClr val="81C784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171907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SSE流式响应，实时逐字输出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468880"/>
            <a:ext cx="109728" cy="109728"/>
          </a:xfrm>
          <a:prstGeom prst="ellipse">
            <a:avLst/>
          </a:prstGeom>
          <a:solidFill>
            <a:srgbClr val="81C784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35915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Markdown格式渲染回答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108960"/>
            <a:ext cx="109728" cy="109728"/>
          </a:xfrm>
          <a:prstGeom prst="ellipse">
            <a:avLst/>
          </a:prstGeom>
          <a:solidFill>
            <a:srgbClr val="81C784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299923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支持代码高亮和公式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749040"/>
            <a:ext cx="109728" cy="109728"/>
          </a:xfrm>
          <a:prstGeom prst="ellipse">
            <a:avLst/>
          </a:prstGeom>
          <a:solidFill>
            <a:srgbClr val="81C784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63931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多轮对话上下文理解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206240" y="1005840"/>
            <a:ext cx="3566160" cy="502920"/>
          </a:xfrm>
          <a:prstGeom prst="rect">
            <a:avLst>
              <a:gd name="adj" fmla="val 7273"/>
            </a:avLst>
          </a:prstGeom>
          <a:solidFill>
            <a:srgbClr val="388E3C"/>
          </a:solidFill>
          <a:ln/>
        </p:spPr>
      </p:sp>
      <p:sp>
        <p:nvSpPr>
          <p:cNvPr id="19" name="Text 17"/>
          <p:cNvSpPr/>
          <p:nvPr/>
        </p:nvSpPr>
        <p:spPr>
          <a:xfrm>
            <a:off x="4206240" y="10058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职业时间线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206240" y="1645920"/>
            <a:ext cx="3566160" cy="2926080"/>
          </a:xfrm>
          <a:prstGeom prst="rect">
            <a:avLst>
              <a:gd name="adj" fmla="val 1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389120" y="1828800"/>
            <a:ext cx="109728" cy="109728"/>
          </a:xfrm>
          <a:prstGeom prst="ellipse">
            <a:avLst/>
          </a:prstGeom>
          <a:solidFill>
            <a:srgbClr val="81C784"/>
          </a:solidFill>
          <a:ln/>
        </p:spPr>
      </p:sp>
      <p:sp>
        <p:nvSpPr>
          <p:cNvPr id="22" name="Text 20"/>
          <p:cNvSpPr/>
          <p:nvPr/>
        </p:nvSpPr>
        <p:spPr>
          <a:xfrm>
            <a:off x="4617720" y="171907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根据职业名自动生成阶段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389120" y="2468880"/>
            <a:ext cx="109728" cy="109728"/>
          </a:xfrm>
          <a:prstGeom prst="ellipse">
            <a:avLst/>
          </a:prstGeom>
          <a:solidFill>
            <a:srgbClr val="81C784"/>
          </a:solidFill>
          <a:ln/>
        </p:spPr>
      </p:sp>
      <p:sp>
        <p:nvSpPr>
          <p:cNvPr id="24" name="Text 22"/>
          <p:cNvSpPr/>
          <p:nvPr/>
        </p:nvSpPr>
        <p:spPr>
          <a:xfrm>
            <a:off x="4617720" y="235915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包含背景和关键事件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389120" y="3108960"/>
            <a:ext cx="109728" cy="109728"/>
          </a:xfrm>
          <a:prstGeom prst="ellipse">
            <a:avLst/>
          </a:prstGeom>
          <a:solidFill>
            <a:srgbClr val="81C784"/>
          </a:solidFill>
          <a:ln/>
        </p:spPr>
      </p:sp>
      <p:sp>
        <p:nvSpPr>
          <p:cNvPr id="26" name="Text 24"/>
          <p:cNvSpPr/>
          <p:nvPr/>
        </p:nvSpPr>
        <p:spPr>
          <a:xfrm>
            <a:off x="4617720" y="299923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技能要求随阶段变化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389120" y="3749040"/>
            <a:ext cx="109728" cy="109728"/>
          </a:xfrm>
          <a:prstGeom prst="ellipse">
            <a:avLst/>
          </a:prstGeom>
          <a:solidFill>
            <a:srgbClr val="81C784"/>
          </a:solidFill>
          <a:ln/>
        </p:spPr>
      </p:sp>
      <p:sp>
        <p:nvSpPr>
          <p:cNvPr id="28" name="Text 26"/>
          <p:cNvSpPr/>
          <p:nvPr/>
        </p:nvSpPr>
        <p:spPr>
          <a:xfrm>
            <a:off x="4617720" y="363931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时间线组件直观展示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046720" y="1005840"/>
            <a:ext cx="3566160" cy="502920"/>
          </a:xfrm>
          <a:prstGeom prst="rect">
            <a:avLst>
              <a:gd name="adj" fmla="val 7273"/>
            </a:avLst>
          </a:prstGeom>
          <a:solidFill>
            <a:srgbClr val="43A047"/>
          </a:solidFill>
          <a:ln/>
        </p:spPr>
      </p:sp>
      <p:sp>
        <p:nvSpPr>
          <p:cNvPr id="30" name="Text 28"/>
          <p:cNvSpPr/>
          <p:nvPr/>
        </p:nvSpPr>
        <p:spPr>
          <a:xfrm>
            <a:off x="8046720" y="10058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简历智能匹配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8046720" y="1645920"/>
            <a:ext cx="3566160" cy="2926080"/>
          </a:xfrm>
          <a:prstGeom prst="rect">
            <a:avLst>
              <a:gd name="adj" fmla="val 1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4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229600" y="1828800"/>
            <a:ext cx="109728" cy="109728"/>
          </a:xfrm>
          <a:prstGeom prst="ellipse">
            <a:avLst/>
          </a:prstGeom>
          <a:solidFill>
            <a:srgbClr val="81C784"/>
          </a:solidFill>
          <a:ln/>
        </p:spPr>
      </p:sp>
      <p:sp>
        <p:nvSpPr>
          <p:cNvPr id="33" name="Text 31"/>
          <p:cNvSpPr/>
          <p:nvPr/>
        </p:nvSpPr>
        <p:spPr>
          <a:xfrm>
            <a:off x="8458200" y="171907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多格式简历文本提取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229600" y="2468880"/>
            <a:ext cx="109728" cy="109728"/>
          </a:xfrm>
          <a:prstGeom prst="ellipse">
            <a:avLst/>
          </a:prstGeom>
          <a:solidFill>
            <a:srgbClr val="81C784"/>
          </a:solidFill>
          <a:ln/>
        </p:spPr>
      </p:sp>
      <p:sp>
        <p:nvSpPr>
          <p:cNvPr id="35" name="Text 33"/>
          <p:cNvSpPr/>
          <p:nvPr/>
        </p:nvSpPr>
        <p:spPr>
          <a:xfrm>
            <a:off x="8458200" y="235915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AI生成职业匹配分析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229600" y="3108960"/>
            <a:ext cx="109728" cy="109728"/>
          </a:xfrm>
          <a:prstGeom prst="ellipse">
            <a:avLst/>
          </a:prstGeom>
          <a:solidFill>
            <a:srgbClr val="81C784"/>
          </a:solidFill>
          <a:ln/>
        </p:spPr>
      </p:sp>
      <p:sp>
        <p:nvSpPr>
          <p:cNvPr id="37" name="Text 35"/>
          <p:cNvSpPr/>
          <p:nvPr/>
        </p:nvSpPr>
        <p:spPr>
          <a:xfrm>
            <a:off x="8458200" y="299923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匹配概率量化评估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229600" y="3749040"/>
            <a:ext cx="109728" cy="109728"/>
          </a:xfrm>
          <a:prstGeom prst="ellipse">
            <a:avLst/>
          </a:prstGeom>
          <a:solidFill>
            <a:srgbClr val="81C784"/>
          </a:solidFill>
          <a:ln/>
        </p:spPr>
      </p:sp>
      <p:sp>
        <p:nvSpPr>
          <p:cNvPr id="39" name="Text 37"/>
          <p:cNvSpPr/>
          <p:nvPr/>
        </p:nvSpPr>
        <p:spPr>
          <a:xfrm>
            <a:off x="8458200" y="363931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市场行情与前景预测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65760" y="4846320"/>
            <a:ext cx="11430000" cy="1371600"/>
          </a:xfrm>
          <a:prstGeom prst="rect">
            <a:avLst>
              <a:gd name="adj" fmla="val 2667"/>
            </a:avLst>
          </a:prstGeom>
          <a:solidFill>
            <a:srgbClr val="E8F5E9"/>
          </a:solidFill>
          <a:ln/>
        </p:spPr>
      </p:sp>
      <p:sp>
        <p:nvSpPr>
          <p:cNvPr id="41" name="Text 39"/>
          <p:cNvSpPr/>
          <p:nvPr/>
        </p:nvSpPr>
        <p:spPr>
          <a:xfrm>
            <a:off x="640080" y="4937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技术实现说明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40080" y="530352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本项目通过 OpenAI 兼容接口接入第三方大模型服务（当前使用 SiliconFlow 平台），调用 DeepSeek-V3 模型。不同功能模块使用不同的 Prompt 模板组织输入和输出格式，AI 返回 Markdown 格式内容，由前端渲染成时间线、问答卡片和分析报告。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5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286000"/>
            <a:ext cx="1216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spc="600" kern="0" dirty="0">
                <a:solidFill>
                  <a:srgbClr val="81C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04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166360" y="2926080"/>
            <a:ext cx="1828800" cy="0"/>
          </a:xfrm>
          <a:prstGeom prst="line">
            <a:avLst/>
          </a:prstGeom>
          <a:noFill/>
          <a:ln w="38100">
            <a:solidFill>
              <a:srgbClr val="81C78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3063240"/>
            <a:ext cx="1216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spc="6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总结与展望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0" y="379476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300" kern="0" dirty="0">
                <a:solidFill>
                  <a:srgbClr val="FFFFFF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SUMMARY &amp; OUTLOOK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5895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3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项目亮点与成果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FFFFFF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PROJECT HIGHLIGHTS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758952"/>
            <a:ext cx="12161520" cy="6099048"/>
          </a:xfrm>
          <a:prstGeom prst="rect">
            <a:avLst/>
          </a:prstGeom>
          <a:solidFill>
            <a:srgbClr val="F5F5F0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5577840" cy="2560320"/>
          </a:xfrm>
          <a:prstGeom prst="rect">
            <a:avLst>
              <a:gd name="adj" fmla="val 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280160"/>
            <a:ext cx="548640" cy="54864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71600" y="13258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完整演示闭环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31520" y="210312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8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注册登录 → 知识图谱 → 推荐 → 时间线 → 问答 → 简历分析，全流程本地可运行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72200" y="1005840"/>
            <a:ext cx="5577840" cy="2560320"/>
          </a:xfrm>
          <a:prstGeom prst="rect">
            <a:avLst>
              <a:gd name="adj" fmla="val 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46520" y="1280160"/>
            <a:ext cx="548640" cy="54864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178040" y="13258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可解释推荐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537960" y="210312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8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基于图谱匹配而非黑盒模型，推荐结果可追溯、可解释，每个推荐都有关系依据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3840480"/>
            <a:ext cx="5577840" cy="2560320"/>
          </a:xfrm>
          <a:prstGeom prst="rect">
            <a:avLst>
              <a:gd name="adj" fmla="val 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4114800"/>
            <a:ext cx="548640" cy="54864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114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371600" y="4160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AI增强分析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31520" y="493776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8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大语言模型补充传统图谱查询不足，AI生成职业发展解释、问答和简历分析建议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172200" y="3840480"/>
            <a:ext cx="5577840" cy="2560320"/>
          </a:xfrm>
          <a:prstGeom prst="rect">
            <a:avLst>
              <a:gd name="adj" fmla="val 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4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46520" y="4114800"/>
            <a:ext cx="548640" cy="54864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4" name="Text 22"/>
          <p:cNvSpPr/>
          <p:nvPr/>
        </p:nvSpPr>
        <p:spPr>
          <a:xfrm>
            <a:off x="6446520" y="4114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178040" y="4160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多维度可视化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6537960" y="493776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8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ECharts力导向图 + Element Plus表格/时间线/卡片，多组件协同呈现数据洞察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5895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3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不足与改进方向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FFFFFF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IMPROVEMENTS &amp; FUTURE WORK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758952"/>
            <a:ext cx="12161520" cy="6099048"/>
          </a:xfrm>
          <a:prstGeom prst="rect">
            <a:avLst/>
          </a:prstGeom>
          <a:solidFill>
            <a:srgbClr val="F5F5F0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3566160" cy="502920"/>
          </a:xfrm>
          <a:prstGeom prst="rect">
            <a:avLst>
              <a:gd name="adj" fmla="val 7273"/>
            </a:avLst>
          </a:prstGeom>
          <a:solidFill>
            <a:srgbClr val="2E7D32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0058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当前不足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1691640"/>
            <a:ext cx="3383280" cy="594360"/>
          </a:xfrm>
          <a:prstGeom prst="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94360" y="1828800"/>
            <a:ext cx="292608" cy="292608"/>
          </a:xfrm>
          <a:prstGeom prst="ellipse">
            <a:avLst/>
          </a:prstGeom>
          <a:solidFill>
            <a:srgbClr val="E8F5E9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828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05840" y="17830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数据规模偏小（803条岗位）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468880"/>
            <a:ext cx="3383280" cy="594360"/>
          </a:xfrm>
          <a:prstGeom prst="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4360" y="2606040"/>
            <a:ext cx="292608" cy="292608"/>
          </a:xfrm>
          <a:prstGeom prst="ellipse">
            <a:avLst/>
          </a:prstGeom>
          <a:solidFill>
            <a:srgbClr val="E8F5E9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606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05840" y="25603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推荐算法偏关键词匹配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246120"/>
            <a:ext cx="3383280" cy="594360"/>
          </a:xfrm>
          <a:prstGeom prst="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4360" y="3383280"/>
            <a:ext cx="292608" cy="292608"/>
          </a:xfrm>
          <a:prstGeom prst="ellipse">
            <a:avLst/>
          </a:prstGeom>
          <a:solidFill>
            <a:srgbClr val="E8F5E9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3383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05840" y="33375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首页统计未接入真实指标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023360"/>
            <a:ext cx="3383280" cy="594360"/>
          </a:xfrm>
          <a:prstGeom prst="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94360" y="4160520"/>
            <a:ext cx="292608" cy="292608"/>
          </a:xfrm>
          <a:prstGeom prst="ellipse">
            <a:avLst/>
          </a:prstGeom>
          <a:solidFill>
            <a:srgbClr val="E8F5E9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4160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05840" y="41148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AI接口依赖外部服务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4800600"/>
            <a:ext cx="3383280" cy="594360"/>
          </a:xfrm>
          <a:prstGeom prst="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94360" y="4937760"/>
            <a:ext cx="292608" cy="292608"/>
          </a:xfrm>
          <a:prstGeom prst="ellipse">
            <a:avLst/>
          </a:prstGeom>
          <a:solidFill>
            <a:srgbClr val="E8F5E9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49377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05840" y="48920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本地运行依赖多服务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206240" y="1005840"/>
            <a:ext cx="3566160" cy="502920"/>
          </a:xfrm>
          <a:prstGeom prst="rect">
            <a:avLst>
              <a:gd name="adj" fmla="val 7273"/>
            </a:avLst>
          </a:prstGeom>
          <a:solidFill>
            <a:srgbClr val="388E3C"/>
          </a:solidFill>
          <a:ln/>
        </p:spPr>
      </p:sp>
      <p:sp>
        <p:nvSpPr>
          <p:cNvPr id="30" name="Text 28"/>
          <p:cNvSpPr/>
          <p:nvPr/>
        </p:nvSpPr>
        <p:spPr>
          <a:xfrm>
            <a:off x="4206240" y="10058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短期改进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297680" y="1691640"/>
            <a:ext cx="3383280" cy="594360"/>
          </a:xfrm>
          <a:prstGeom prst="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3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434840" y="1828800"/>
            <a:ext cx="292608" cy="292608"/>
          </a:xfrm>
          <a:prstGeom prst="ellipse">
            <a:avLst/>
          </a:prstGeom>
          <a:solidFill>
            <a:srgbClr val="E8F5E9"/>
          </a:solidFill>
          <a:ln/>
        </p:spPr>
      </p:sp>
      <p:sp>
        <p:nvSpPr>
          <p:cNvPr id="33" name="Text 31"/>
          <p:cNvSpPr/>
          <p:nvPr/>
        </p:nvSpPr>
        <p:spPr>
          <a:xfrm>
            <a:off x="4434840" y="1828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46320" y="17830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扩充岗位数据源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297680" y="2468880"/>
            <a:ext cx="3383280" cy="594360"/>
          </a:xfrm>
          <a:prstGeom prst="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3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434840" y="2606040"/>
            <a:ext cx="292608" cy="292608"/>
          </a:xfrm>
          <a:prstGeom prst="ellipse">
            <a:avLst/>
          </a:prstGeom>
          <a:solidFill>
            <a:srgbClr val="E8F5E9"/>
          </a:solidFill>
          <a:ln/>
        </p:spPr>
      </p:sp>
      <p:sp>
        <p:nvSpPr>
          <p:cNvPr id="37" name="Text 35"/>
          <p:cNvSpPr/>
          <p:nvPr/>
        </p:nvSpPr>
        <p:spPr>
          <a:xfrm>
            <a:off x="4434840" y="2606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846320" y="25603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增加匹配评分机制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297680" y="3246120"/>
            <a:ext cx="3383280" cy="594360"/>
          </a:xfrm>
          <a:prstGeom prst="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3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434840" y="3383280"/>
            <a:ext cx="292608" cy="292608"/>
          </a:xfrm>
          <a:prstGeom prst="ellipse">
            <a:avLst/>
          </a:prstGeom>
          <a:solidFill>
            <a:srgbClr val="E8F5E9"/>
          </a:solidFill>
          <a:ln/>
        </p:spPr>
      </p:sp>
      <p:sp>
        <p:nvSpPr>
          <p:cNvPr id="41" name="Text 39"/>
          <p:cNvSpPr/>
          <p:nvPr/>
        </p:nvSpPr>
        <p:spPr>
          <a:xfrm>
            <a:off x="4434840" y="3383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846320" y="33375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技能同义词清洗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297680" y="4023360"/>
            <a:ext cx="3383280" cy="594360"/>
          </a:xfrm>
          <a:prstGeom prst="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3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434840" y="4160520"/>
            <a:ext cx="292608" cy="292608"/>
          </a:xfrm>
          <a:prstGeom prst="ellipse">
            <a:avLst/>
          </a:prstGeom>
          <a:solidFill>
            <a:srgbClr val="E8F5E9"/>
          </a:solidFill>
          <a:ln/>
        </p:spPr>
      </p:sp>
      <p:sp>
        <p:nvSpPr>
          <p:cNvPr id="45" name="Text 43"/>
          <p:cNvSpPr/>
          <p:nvPr/>
        </p:nvSpPr>
        <p:spPr>
          <a:xfrm>
            <a:off x="4434840" y="4160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846320" y="41148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首页接入真实统计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4297680" y="4800600"/>
            <a:ext cx="3383280" cy="594360"/>
          </a:xfrm>
          <a:prstGeom prst="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3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434840" y="4937760"/>
            <a:ext cx="292608" cy="292608"/>
          </a:xfrm>
          <a:prstGeom prst="ellipse">
            <a:avLst/>
          </a:prstGeom>
          <a:solidFill>
            <a:srgbClr val="E8F5E9"/>
          </a:solidFill>
          <a:ln/>
        </p:spPr>
      </p:sp>
      <p:sp>
        <p:nvSpPr>
          <p:cNvPr id="49" name="Text 47"/>
          <p:cNvSpPr/>
          <p:nvPr/>
        </p:nvSpPr>
        <p:spPr>
          <a:xfrm>
            <a:off x="4434840" y="49377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846320" y="48920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完善Neo4j导入脚本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8046720" y="1005840"/>
            <a:ext cx="3566160" cy="502920"/>
          </a:xfrm>
          <a:prstGeom prst="rect">
            <a:avLst>
              <a:gd name="adj" fmla="val 7273"/>
            </a:avLst>
          </a:prstGeom>
          <a:solidFill>
            <a:srgbClr val="66BB6A"/>
          </a:solidFill>
          <a:ln/>
        </p:spPr>
      </p:sp>
      <p:sp>
        <p:nvSpPr>
          <p:cNvPr id="52" name="Text 50"/>
          <p:cNvSpPr/>
          <p:nvPr/>
        </p:nvSpPr>
        <p:spPr>
          <a:xfrm>
            <a:off x="8046720" y="10058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长期规划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138160" y="1691640"/>
            <a:ext cx="3383280" cy="594360"/>
          </a:xfrm>
          <a:prstGeom prst="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3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8275320" y="1828800"/>
            <a:ext cx="292608" cy="292608"/>
          </a:xfrm>
          <a:prstGeom prst="ellipse">
            <a:avLst/>
          </a:prstGeom>
          <a:solidFill>
            <a:srgbClr val="E8F5E9"/>
          </a:solidFill>
          <a:ln/>
        </p:spPr>
      </p:sp>
      <p:sp>
        <p:nvSpPr>
          <p:cNvPr id="55" name="Text 53"/>
          <p:cNvSpPr/>
          <p:nvPr/>
        </p:nvSpPr>
        <p:spPr>
          <a:xfrm>
            <a:off x="8275320" y="1828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8686800" y="17830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 Key迁移环境变量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8138160" y="2468880"/>
            <a:ext cx="3383280" cy="594360"/>
          </a:xfrm>
          <a:prstGeom prst="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3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8275320" y="2606040"/>
            <a:ext cx="292608" cy="292608"/>
          </a:xfrm>
          <a:prstGeom prst="ellipse">
            <a:avLst/>
          </a:prstGeom>
          <a:solidFill>
            <a:srgbClr val="E8F5E9"/>
          </a:solidFill>
          <a:ln/>
        </p:spPr>
      </p:sp>
      <p:sp>
        <p:nvSpPr>
          <p:cNvPr id="59" name="Text 57"/>
          <p:cNvSpPr/>
          <p:nvPr/>
        </p:nvSpPr>
        <p:spPr>
          <a:xfrm>
            <a:off x="8275320" y="2606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8686800" y="25603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收紧后端鉴权机制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8138160" y="3246120"/>
            <a:ext cx="3383280" cy="594360"/>
          </a:xfrm>
          <a:prstGeom prst="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3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8275320" y="3383280"/>
            <a:ext cx="292608" cy="292608"/>
          </a:xfrm>
          <a:prstGeom prst="ellipse">
            <a:avLst/>
          </a:prstGeom>
          <a:solidFill>
            <a:srgbClr val="E8F5E9"/>
          </a:solidFill>
          <a:ln/>
        </p:spPr>
      </p:sp>
      <p:sp>
        <p:nvSpPr>
          <p:cNvPr id="63" name="Text 61"/>
          <p:cNvSpPr/>
          <p:nvPr/>
        </p:nvSpPr>
        <p:spPr>
          <a:xfrm>
            <a:off x="8275320" y="3383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8686800" y="33375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修复上传安全边界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8138160" y="4023360"/>
            <a:ext cx="3383280" cy="594360"/>
          </a:xfrm>
          <a:prstGeom prst="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3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8275320" y="4160520"/>
            <a:ext cx="292608" cy="292608"/>
          </a:xfrm>
          <a:prstGeom prst="ellipse">
            <a:avLst/>
          </a:prstGeom>
          <a:solidFill>
            <a:srgbClr val="E8F5E9"/>
          </a:solidFill>
          <a:ln/>
        </p:spPr>
      </p:sp>
      <p:sp>
        <p:nvSpPr>
          <p:cNvPr id="67" name="Text 65"/>
          <p:cNvSpPr/>
          <p:nvPr/>
        </p:nvSpPr>
        <p:spPr>
          <a:xfrm>
            <a:off x="8275320" y="4160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8686800" y="41148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Docker一键部署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8138160" y="4800600"/>
            <a:ext cx="3383280" cy="594360"/>
          </a:xfrm>
          <a:prstGeom prst="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3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8275320" y="4937760"/>
            <a:ext cx="292608" cy="292608"/>
          </a:xfrm>
          <a:prstGeom prst="ellipse">
            <a:avLst/>
          </a:prstGeom>
          <a:solidFill>
            <a:srgbClr val="E8F5E9"/>
          </a:solidFill>
          <a:ln/>
        </p:spPr>
      </p:sp>
      <p:sp>
        <p:nvSpPr>
          <p:cNvPr id="71" name="Text 69"/>
          <p:cNvSpPr/>
          <p:nvPr/>
        </p:nvSpPr>
        <p:spPr>
          <a:xfrm>
            <a:off x="8275320" y="49377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8686800" y="48920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语义匹配模型优化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5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103120"/>
            <a:ext cx="1216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spc="10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感谢聆听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0" y="301752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spc="400" kern="0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THANK YOU FOR LISTENING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166360" y="3657600"/>
            <a:ext cx="1828800" cy="0"/>
          </a:xfrm>
          <a:prstGeom prst="line">
            <a:avLst/>
          </a:prstGeom>
          <a:noFill/>
          <a:ln w="38100">
            <a:solidFill>
              <a:srgbClr val="81C78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393192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FFFFFF">
                    <a:alpha val="8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华中农业大学 · 信息学院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0" y="434340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社交网络数据分析与处理 · 课程项目汇报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社交网络数据分析与处理 - 课程项目汇报</dc:title>
  <dc:subject>PptxGenJS Presentation</dc:subject>
  <dc:creator>课程项目小组</dc:creator>
  <cp:lastModifiedBy>课程项目小组</cp:lastModifiedBy>
  <cp:revision>1</cp:revision>
  <dcterms:created xsi:type="dcterms:W3CDTF">2026-06-23T16:36:56Z</dcterms:created>
  <dcterms:modified xsi:type="dcterms:W3CDTF">2026-06-23T16:36:56Z</dcterms:modified>
</cp:coreProperties>
</file>